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开场问题：机器人关节里的电机控制芯片，最基本的单元是什么？它的电平、速度、功耗由什么决定？
Opening question: what is the most basic cell in a robot joint’s motor-control chip, and what sets its levels, speed and power?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芯片设计同样靠模型：先用简单模型估算，再用仿真和工艺库校准。本章每节从一个机器人问题出发，最后回到这个问题。
Chip design also runs on models: estimate with a simple model, then calibrate with simulation and the process library. Each lesson starts from a robot problem and returns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先让学生估一估、讨论 2 分钟，不急于给答案。本节最后回到这一页。
Let students estimate and discuss for two minutes; return to this problem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讲清公式中每个量的意义和模型的适用条件，再进入动画。
Explain each quantity and the model’s conditions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课堂投屏演示机器人任务，其余任务课后完成，并按实验指导书写实验报告。
Demonstrate the robot task in class; students finish the rest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对照五步讲解，强调第⑤步：模型在哪里失效。实验报告第六部分按这五步写。数值为示意参数下的结果，以后按 SKY130 校准。
Walk through the five steps, stressing step ⑤. Section 6 of the lab report follows them. Numbers use illustrative parameters, to be calibrated to SKY130.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先让学生估一估、讨论 2 分钟，不急于给答案。本节最后回到这一页。
Let students estimate and discuss for two minutes; return to this problem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讲清公式中每个量的意义和模型的适用条件，再进入动画。
Explain each quantity and the model’s conditions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课堂投屏演示机器人任务，其余任务课后完成，并按实验指导书写实验报告。
Demonstrate the robot task in class; students finish the rest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对照五步讲解，强调第⑤步：模型在哪里失效。实验报告第六部分按这五步写。数值为示意参数下的结果，以后按 SKY130 校准。
Walk through the five steps, stressing step ⑤. Section 6 of the lab report follows them. Numbers use illustrative parameters, to be calibrated to SKY130.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先让学生估一估、讨论 2 分钟，不急于给答案。本节最后回到这一页。
Let students estimate and discuss for two minutes; return to this problem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讲清公式中每个量的意义和模型的适用条件，再进入动画。
Explain each quantity and the model’s conditions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课堂投屏演示机器人任务，其余任务课后完成，并按实验指导书写实验报告。
Demonstrate the robot task in class; students finish the rest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对照五步讲解，强调第⑤步：模型在哪里失效。实验报告第六部分按这五步写。数值为示意参数下的结果，以后按 SKY130 校准。
Walk through the five steps, stressing step ⑤. Section 6 of the lab report follows them. Numbers use illustrative parameters, to be calibrated to SKY130.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先让学生估一估、讨论 2 分钟，不急于给答案。本节最后回到这一页。
Let students estimate and discuss for two minutes; return to this problem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讲清公式中每个量的意义和模型的适用条件，再进入动画。
Explain each quantity and the model’s conditions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课堂投屏演示机器人任务，其余任务课后完成，并按实验指导书写实验报告。
Demonstrate the robot task in class; students finish the rest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对照五步讲解，强调第⑤步：模型在哪里失效。实验报告第六部分按这五步写。数值为示意参数下的结果，以后按 SKY130 校准。
Walk through the five steps, stressing step ⑤. Section 6 of the lab report follows them. Numbers use illustrative parameters, to be calibrated to SKY130.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先让学生估一估、讨论 2 分钟，不急于给答案。本节最后回到这一页。
Let students estimate and discuss for two minutes; return to this problem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讲清公式中每个量的意义和模型的适用条件，再进入动画。
Explain each quantity and the model’s conditions before the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播放动画，在关键画面暂停提问。
Play the clip and pause at the key frame to ask the question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课堂投屏演示机器人任务，其余任务课后完成，并按实验指导书写实验报告。
Demonstrate the robot task in class; students finish the rest and the lab report after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对照五步讲解，强调第⑤步：模型在哪里失效。实验报告第六部分按这五步写。数值为示意参数下的结果，以后按 SKY130 校准。
Walk through the five steps, stressing step ⑤. Section 6 of the lab report follows them. Numbers use illustrative parameters, to be calibrated to SKY130.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先让学生独立算 3 分钟，再展开；最后在虚拟实验 1.3 中设 Wp/Wn = 2.25、FO4 对照。
Give students three minutes, then work through it and check in lab 1.3 with Wp/Wn = 2.25 at FO4.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回顾本章：一个反相器就包含了电平、速度、功耗三件事。后面的门电路、时序和版图都建立在这里。
Review: one inverter already contains levels, speed and power; the gates, timing and layout that follow build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&#34394;&#25311;&#23454;&#39564;/&#31532;1&#31456;&#34394;&#25311;&#23454;&#39564;&#65288;&#20013;&#33521;&#65289;.html" TargetMode="External"/><Relationship Id="rId3" Type="http://schemas.openxmlformats.org/officeDocument/2006/relationships/hyperlink" Target="&#34394;&#25311;&#23454;&#39564;/&#31532;1&#31456;&#34394;&#25311;&#23454;&#39564;&#65288;&#20013;&#33521;&#65289;.html" TargetMode="External"/><Relationship Id="rId4" Type="http://schemas.openxmlformats.org/officeDocument/2006/relationships/hyperlink" Target="&#34394;&#25311;&#23454;&#39564;/&#31532;1&#31456;&#34394;&#25311;&#23454;&#39564;&#65288;&#20013;&#33521;&#65289;.html" TargetMode="Externa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&#34394;&#25311;&#23454;&#39564;/&#31532;1&#31456;&#34394;&#25311;&#23454;&#39564;&#65288;&#20013;&#33521;&#65289;.html" TargetMode="External"/><Relationship Id="rId3" Type="http://schemas.openxmlformats.org/officeDocument/2006/relationships/hyperlink" Target="&#34394;&#25311;&#23454;&#39564;/&#31532;1&#31456;&#34394;&#25311;&#23454;&#39564;&#65288;&#20013;&#33521;&#65289;.html" TargetMode="External"/><Relationship Id="rId4" Type="http://schemas.openxmlformats.org/officeDocument/2006/relationships/hyperlink" Target="&#34394;&#25311;&#23454;&#39564;/&#31532;1&#31456;&#34394;&#25311;&#23454;&#39564;&#65288;&#20013;&#33521;&#65289;.html" TargetMode="External"/><Relationship Id="rId1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&#34394;&#25311;&#23454;&#39564;/&#31532;1&#31456;&#34394;&#25311;&#23454;&#39564;&#65288;&#20013;&#33521;&#65289;.html" TargetMode="External"/><Relationship Id="rId3" Type="http://schemas.openxmlformats.org/officeDocument/2006/relationships/hyperlink" Target="&#34394;&#25311;&#23454;&#39564;/&#31532;1&#31456;&#34394;&#25311;&#23454;&#39564;&#65288;&#20013;&#33521;&#65289;.html" TargetMode="External"/><Relationship Id="rId4" Type="http://schemas.openxmlformats.org/officeDocument/2006/relationships/hyperlink" Target="&#34394;&#25311;&#23454;&#39564;/&#31532;1&#31456;&#34394;&#25311;&#23454;&#39564;&#65288;&#20013;&#33521;&#65289;.html" TargetMode="External"/><Relationship Id="rId1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0-1.mp4"/><Relationship Id="rId2" Type="http://schemas.microsoft.com/office/2007/relationships/media" Target="../media/media-20-1.mp4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&#34394;&#25311;&#23454;&#39564;/&#31532;1&#31456;&#34394;&#25311;&#23454;&#39564;&#65288;&#20013;&#33521;&#65289;.html" TargetMode="External"/><Relationship Id="rId3" Type="http://schemas.openxmlformats.org/officeDocument/2006/relationships/hyperlink" Target="&#34394;&#25311;&#23454;&#39564;/&#31532;1&#31456;&#34394;&#25311;&#23454;&#39564;&#65288;&#20013;&#33521;&#65289;.html" TargetMode="External"/><Relationship Id="rId4" Type="http://schemas.openxmlformats.org/officeDocument/2006/relationships/hyperlink" Target="&#34394;&#25311;&#23454;&#39564;/&#31532;1&#31456;&#34394;&#25311;&#23454;&#39564;&#65288;&#20013;&#33521;&#65289;.html" TargetMode="External"/><Relationship Id="rId1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5-1.mp4"/><Relationship Id="rId2" Type="http://schemas.microsoft.com/office/2007/relationships/media" Target="../media/media-25-1.mp4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&#34394;&#25311;&#23454;&#39564;/&#31532;1&#31456;&#34394;&#25311;&#23454;&#39564;&#65288;&#20013;&#33521;&#65289;.html" TargetMode="External"/><Relationship Id="rId3" Type="http://schemas.openxmlformats.org/officeDocument/2006/relationships/hyperlink" Target="&#34394;&#25311;&#23454;&#39564;/&#31532;1&#31456;&#34394;&#25311;&#23454;&#39564;&#65288;&#20013;&#33521;&#65289;.html" TargetMode="External"/><Relationship Id="rId4" Type="http://schemas.openxmlformats.org/officeDocument/2006/relationships/hyperlink" Target="&#34394;&#25311;&#23454;&#39564;/&#31532;1&#31456;&#34394;&#25311;&#23454;&#39564;&#65288;&#20013;&#33521;&#65289;.html" TargetMode="External"/><Relationship Id="rId1" Type="http://schemas.openxmlformats.org/officeDocument/2006/relationships/image" Target="../media/image-2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  Chapter 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CMOS 反相器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CMOS Inverter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从一个晶体管开关出发，理解数字芯片的电平、速度与功耗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transistor switch to the levels, speed and power of digital chips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数字集成电路设计 Digital Integrated Circuit Design  ·  问渠 WenQuest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本章内容与每节课的结构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map and how each lesson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6362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MOSFET 开关与 CMOS 反相器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 switches and the CMOS inverter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56362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机器人问题：关节驱动板的光耦输入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Optocoupler input on a joint driver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43230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电压传输特性与噪声容限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transfer characteristic and noise margins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43230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机器人问题：编码器信号的抗干扰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Noise immunity of an encoder signal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30098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尺寸与对称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and symmetry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30098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机器人问题：电机控制芯片的时钟缓冲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The clock buffer of a motor-control chip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6966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传播延时与反相器链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delay and the inverter chain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16966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机器人问题：驱动板上的栅极驱动器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Driving the gate driver on the 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3834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功耗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03834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机器人问题：巡线小车控制芯片的功耗预算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Power budget of a line-following car controller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98932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每节课：实际问题 → 概念 → 动画 → 虚拟实验 → 建模求解    Each lesson: problem → concept → animation → virtual lab → modelling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关节驱动板的光耦输入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Optocoupler input on a joint driver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关节驱动板用光耦隔离控制芯片与功率电路。芯片输出管脚要吸收 1 mA 点亮光耦，低电平不能超过 0.2 V。输出级的 NMOS 至少要多宽？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joint driver isolates the control chip from the power stage with an optocoupler. The output pin must sink 1 mA with a low level of at most 0.2 V. How wide must the output NMOS be?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负载电流 I = 1 mA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current I = 1 mA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 ≤ 0.2 V，VDD = 1.8 V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≤ 0.2 V, VDD = 1.8 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0.15 μm，k′n = 90 μA/V²（示意值）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0.15 μm, k′n = 90 μA/V² (illustrative)</a:t>
            </a:r>
            <a:endParaRPr lang="en-US" sz="1400" dirty="0"/>
          </a:p>
        </p:txBody>
      </p:sp>
      <p:pic>
        <p:nvPicPr>
          <p:cNvPr id="8" name="Image 0" descr="/home/claude/wenquest/samples/数字集成电路设计/生成脚本/fig/media/robot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开关模型与互补结构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 and complementary structure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MOSFET 是电压控制的开关：VGS &gt; VT 导通，VGS &lt; VT 截止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MOSFET is a voltage-controlled switch: on for VGS &gt; VT, off below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CMOS 反相器：PMOS 上拉、NMOS 下拉，栅极接在一起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inverter: PMOS pull-up, NMOS pull-down, gates tied together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稳态时总有一个管子截止：没有静态直流通路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transistor is always off in steady state: no static DC path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导通的管子工作在线性区，相当于电阻 Ron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 transistor sits in the linear region and acts as a resistor Ron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线性区 ID = k′n(W/L)[(VGS−VT)VDS − VDS²/2]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Ron ≈ 1 / [k′n(W/L)(VDD − VT)]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输入从 0 变到 1，电流走哪条路？稳态时还有电流吗？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input goes from 0 to 1, where does the current flow? Is there any current in steady state?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动手试一试：MOSFET 开关与 CMOS 反相器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MOSFET switches and the CMOS inverter</a:t>
            </a:r>
            <a:endParaRPr lang="en-US" sz="1400" dirty="0"/>
          </a:p>
        </p:txBody>
      </p:sp>
      <p:pic>
        <p:nvPicPr>
          <p:cNvPr id="5" name="Image 0" descr="/home/claude/wenquest/samples/数字集成电路设计/生成脚本/fig/media/lab_1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切换输入高低，观察哪个管子导通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input and see which transistor conducts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光耦 1 mA：找出 VOL ≤ 0.2 V 的最小 Wn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Optocoupler 1 mA: find the smallest Wn with VOL ≤ 0.2 V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负载加到 2 mA，VOL 正好翻倍吗？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 mA, does VOL exactly double?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实验台中选“1.1”选项卡 · 课后按实验指导书完成实验报告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tab 1.1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建模求解：关节驱动板的光耦输入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Optocoupler input on a joint driver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关节驱动板用光耦隔离控制芯片与功率电路。芯片输出管脚要吸收 1 mA 点亮光耦，低电平不能超过 0.2 V。输出级的 NMOS 至少要多宽？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joint driver isolates the control chip from the power stage with an optocoupler. The output pin must sink 1 mA with a low level of at most 0.2 V. How wide must the output NMOS be?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输入为高，NMOS 栅压 1.8 V，工作在线性区；平方律模型，忽略沟道长度调制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high, NMOS gate at 1.8 V in the linear region; square law, no channel-length modulation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 ≥ I·L / {k′n[(VDD−VT)VOL − VOL²/2]} = 6.67 μm（W/L ≈ 44）；2 mA 时 VOL ≈ 0.44 V，不止翻倍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≥ I·L / {k′n[(VDD−VT)VOL − VOL²/2]} = 6.67 μm (W/L ≈ 44); at 2 mA VOL ≈ 0.44 V, more than double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1.1：负载 1 mA，调 Wn 读 VOL；负载线与输出特性的交点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1.1: load 1 mA, adjust Wn and read VOL where the load line meets the curve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实际要按 SKY130 模型和温度、工艺角留余量；电流更大时改用专门的输出驱动或外接三极管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SKY130 models with margin for temperature and corners; for larger currents use a dedicated driver or an external transistor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楼梯间双控开关：两个开关互补，灯只有亮、灭两种状态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stair switches are complementary: the light is either on or off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芯片设计也靠模型：先用简单模型估算，再用仿真和工艺库校准，最后指出模型的局限。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design runs on models: estimate simply, calibrate with simulation and the process library, then name the limits.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编码器信号的抗干扰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immunity of an encoder signal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关节编码器的信号经 2 m 电缆进入控制芯片，电机工作时叠加约 ±0.3 V 干扰。接收端的反相器会不会误翻转？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joint encoder signal travels 2 m of cable into the control chip and picks up about ±0.3 V of motor noise. Will the receiving inverter switch falsely?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干扰幅度 ±0.3 V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±0.3 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VDD = 1.8 V，|VT| = 0.45 V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 = 1.8 V, |VT| = 0.45 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迁移率比 r = k′n/k′p = 2.25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ratio r = k′n/k′p = 2.25</a:t>
            </a:r>
            <a:endParaRPr lang="en-US" sz="1400" dirty="0"/>
          </a:p>
        </p:txBody>
      </p:sp>
      <p:pic>
        <p:nvPicPr>
          <p:cNvPr id="8" name="Image 0" descr="/home/claude/wenquest/samples/数字集成电路设计/生成脚本/fig/media/robot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传输特性：阈值与噪声容限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curve: threshold and noise margins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两管电流相等决定输出电压，逐点画出 Vout(Vin)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currents set Vout; plot Vout(Vin) point by point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两管都饱和处曲线最陡：开关阈值 VM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is steepest where both saturate: the threshold VM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斜率为 −1 的两点定出 VIL、VIH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slope = −1 points define VIL and VIH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NML = VIL − VOL，NMH = VOH − VIH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NML = VIL − VOL, NMH = VOH − VIH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VM = [VTn + r′(VDD − |VTp|)] / (1 + r′)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r′ = √(k′pWp / k′nWn)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输入慢慢增大，两个管子的工作区怎样变化？曲线为什么在中间几乎竖直？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input rises, how do the two transistors change region? Why is the curve almost vertical in the middle?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动手试一试：电压传输特性与噪声容限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Voltage transfer characteristic and noise margins</a:t>
            </a:r>
            <a:endParaRPr lang="en-US" sz="1400" dirty="0"/>
          </a:p>
        </p:txBody>
      </p:sp>
      <p:pic>
        <p:nvPicPr>
          <p:cNvPr id="5" name="Image 0" descr="/home/claude/wenquest/samples/数字集成电路设计/生成脚本/fig/media/lab_2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调尺寸比使 VM = 0.90 V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ratio until VM = 0.90 V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尺寸比 1：读出 NML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1: read NML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 0.30 V：两个容限都 ≥ 0.6 V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0.30 V: both margins ≥ 0.6 V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实验台中选“1.2”选项卡 · 课后按实验指导书完成实验报告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tab 1.2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建模求解：编码器信号的抗干扰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Noise immunity of an encoder signal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关节编码器的信号经 2 m 电缆进入控制芯片，电机工作时叠加约 ±0.3 V 干扰。接收端的反相器会不会误翻转？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joint encoder signal travels 2 m of cable into the control chip and picks up about ±0.3 V of motor noise. Will the receiving inverter switch falsely?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接收端为最小反相器；干扰叠加在输入电平上；容限至少为干扰的 2 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receiver is a minimum inverter; noise adds to the input level; margins should be at least twice the noise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Wp/Wn = 1：VM ≈ 0.81 V，NML ≈ 0.55、NMH ≈ 0.82 V；Wp/Wn = 2.25：VM = 0.90 V，NML = NMH ≈ 0.675 V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Wp/Wn = 1: VM ≈ 0.81 V, NML ≈ 0.55, NMH ≈ 0.82 V; Wp/Wn = 2.25: VM = 0.90 V, NML = NMH ≈ 0.675 V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1.2：干扰幅度设为 0.30 V，比较不同尺寸比下的两个容限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1.2: set the noise to 0.30 V and compare both margins for different ratios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干扰更大时用施密特触发器（有回差）或差分信号（如 RS-422 编码器接口）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larger noise use a Schmitt trigger (hysteresis) or differential signalling (e.g. an RS-422 encoder interface)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声控楼道灯的阈值：太低会被杂音触发，太高叫不亮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sound-activated stair light: too low a threshold triggers on noise, too high won’t respond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芯片设计也靠模型：先用简单模型估算，再用仿真和工艺库校准，最后指出模型的局限。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design runs on models: estimate simply, calibrate with simulation and the process library, then name the limits.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电机控制芯片的时钟缓冲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buffer of a motor-control chip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电机控制芯片的时钟经缓冲器分发到 PWM 计数器。缓冲器上升、下降延时不同，时钟占空比就会走样。尺寸比怎样取才能让两种延时接近？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motor-control chip distributes its clock through buffers to the PWM counter. Unequal rise and fall delays distort the duty cycle. Which size ratio matches them?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负载：4 个相同反相器（FO4）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four identical inverters (FO4)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Wn = 0.42 μm（最小）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 = 0.42 μm (minimum)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 ≈ ¾·VDD/IDSAT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≈ ¾·VDD/IDSAT</a:t>
            </a:r>
            <a:endParaRPr lang="en-US" sz="1400" dirty="0"/>
          </a:p>
        </p:txBody>
      </p:sp>
      <p:pic>
        <p:nvPicPr>
          <p:cNvPr id="8" name="Image 0" descr="/home/claude/wenquest/samples/数字集成电路设计/生成脚本/fig/media/robot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 延时与对称尺寸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delay and symmetric sizing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导通管看成等效电阻 Req，负载看成电容 CL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on transistor as Req and the load as CL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tPHL = 0.69·Req,n·CL，tPLH = 0.69·Req,p·CL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tPHL = 0.69·Req,n·CL, tPLH = 0.69·Req,p·CL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PMOS 迁移率低：同尺寸时 Req,p ≈ 2.25 × Req,n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PMOS mobility: at equal size Req,p ≈ 2.25 × Req,n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Wp/Wn = r：上升下降相等；Wp/Wn ≈ √r：平均延时最小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Wp/Wn = r equalises edges; Wp/Wn ≈ √r minimises average delay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tp = (tPHL + tPLH) / 2 = 0.69 · CL · (Req,n + Req,p) / 2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加宽 PMOS 以后，传输特性和输出波形各发生了什么变化？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widening the PMOS, what changes in the transfer curve and the output waveform?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动手试一试：尺寸与对称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Sizing and symmetry</a:t>
            </a:r>
            <a:endParaRPr lang="en-US" sz="1400" dirty="0"/>
          </a:p>
        </p:txBody>
      </p:sp>
      <p:pic>
        <p:nvPicPr>
          <p:cNvPr id="5" name="Image 0" descr="/home/claude/wenquest/samples/数字集成电路设计/生成脚本/fig/media/lab_3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FO4：使上升下降相差 ≤ 5%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FO4: make rise and fall differ by ≤ 5%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FO4：找出平均延时最小的尺寸比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FO4: find the ratio with the smallest average delay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Wp/Wn = 1 时延时差多少？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the mismatch at Wp/Wn = 1?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实验台中选“1.3”选项卡 · 课后按实验指导书完成实验报告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tab 1.3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建模求解：电机控制芯片的时钟缓冲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The clock buffer of a motor-control chip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电机控制芯片的时钟经缓冲器分发到 PWM 计数器。缓冲器上升、下降延时不同，时钟占空比就会走样。尺寸比怎样取才能让两种延时接近？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motor-control chip distributes its clock through buffers to the PWM counter. Unequal rise and fall delays distort the duty cycle. Which size ratio matches them?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一阶 RC 模型；负载 = 4 × 输入电容 + 自载；忽略输入边沿斜率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First-order RC model; load = 4 × input capacitance + self-load; input slope ignored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Wp/Wn = 1：tPHL ≈ 29、tPLH ≈ 64 ps（差 77%）；Wp/Wn = 2.25：两者 ≈ 47 ps；Wp/Wn ≈ 1.50：tp ≈ 45 ps 最小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Wp/Wn = 1: tPHL ≈ 29, tPLH ≈ 64 ps (77% apart); Wp/Wn = 2.25: both ≈ 47 ps; Wp/Wn ≈ 1.50: smallest tp ≈ 45 ps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1.3：FO4 下扫描尺寸比，读波形和下方延时曲线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1.3: sweep the ratio at FO4, read the waveform and the delay plot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时钟缓冲选对称尺寸；普通逻辑取 √r 附近省面积；实际还要考虑输入斜率和工艺角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symmetric sizing for clock buffers and about √r for ordinary logic; real designs also account for input slope and corners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跷跷板两边体重不同，要挪支点才能平衡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seesaw with unequal weights, move the pivot to balance 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芯片设计也靠模型：先用简单模型估算，再用仿真和工艺库校准，最后指出模型的局限。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design runs on models: estimate simply, calibrate with simulation and the process library, then name the limits.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驱动板上的栅极驱动器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the gate driver on the board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芯片的 PWM 输出要经焊盘、走线驱动电路板上的栅极驱动器输入，总负载约 10 pF。最小反相器直接驱动要几十纳秒，PWM 边沿被拖慢。插几级缓冲最快？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chip’s PWM output drives pad, trace and gate-driver input, about 10 pF in all. A minimum inverter takes tens of nanoseconds, smearing the PWM edges. How many buffer stages are fastest?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 CL = 10 pF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 = 10 pF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第一级输入电容 Cin ≈ 2.46 fF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first-stage Cin ≈ 2.46 fF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边沿延时要求 &lt; 0.3 ns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delay must be &lt; 0.3 ns</a:t>
            </a:r>
            <a:endParaRPr lang="en-US" sz="1400" dirty="0"/>
          </a:p>
        </p:txBody>
      </p:sp>
      <p:pic>
        <p:nvPicPr>
          <p:cNvPr id="8" name="Image 0" descr="/home/claude/wenquest/samples/数字集成电路设计/生成脚本/fig/media/robot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反相器链：逐级放大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chain: grow stage by stage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总扇出 F = CL / Cin，N 级等比链每级扇出 f = F^(1/N)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fan-out F = CL / Cin; each of N stages has f = F^(1/N)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总延时 t = N · tp0 · (γ + f)，γ 为自载与输入电容之比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delay t = N · tp0 · (γ + f), γ = self-load / input capacitance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 f 满足 f(ln f − 1) = γ：γ = 0 时 e ≈ 2.7；工程上常取 4，本模型 γ ≈ 0.67，最优 f ≈ 3.3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optimum satisfies f(ln f − 1) = γ: e ≈ 2.7 for γ = 0; engineers often use 4; here γ ≈ 0.67 gives f ≈ 3.3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级数奇偶决定输出是否反相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odd or even number of stages decides whether the output is inverted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经验公式 N ≈ ln F / ln 4    最优 f(ln f − 1) = γ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Rule of thumb N ≈ ln F / ln 4    optimum f(ln f − 1) = γ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一级驱动和六级驱动，延时为什么能差一百多倍？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one stage and six stages differ in delay by more than a hundred times?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动手试一试：传播延时与反相器链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Propagation delay and the inverter chain</a:t>
            </a:r>
            <a:endParaRPr lang="en-US" sz="1400" dirty="0"/>
          </a:p>
        </p:txBody>
      </p:sp>
      <p:pic>
        <p:nvPicPr>
          <p:cNvPr id="5" name="Image 0" descr="/home/claude/wenquest/samples/数字集成电路设计/生成脚本/fig/media/lab_4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 = 10 pF：找出延时真正最小的级数（与 ln F / ln 4 比较）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= 10 pF: find the truly fastest N (compare with ln F / ln 4)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级时每级扇出 f 是多少？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 with 6 stages?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 &lt; 0.3 ns 的最少级数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stages for a delay under 0.3 ns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实验台中选“1.4”选项卡 · 课后按实验指导书完成实验报告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tab 1.4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建模求解：驱动板上的栅极驱动器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Driving the gate driver on the board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芯片的 PWM 输出要经焊盘、走线驱动电路板上的栅极驱动器输入，总负载约 10 pF。最小反相器直接驱动要几十纳秒，PWM 边沿被拖慢。插几级缓冲最快？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chip’s PWM output drives pad, trace and gate-driver input, about 10 pF in all. A minimum inverter takes tens of nanoseconds, smearing the PWM edges. How many buffer stages are fastest?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等比反相器链，第一级为最小对称反相器；负载集中为 10 pF；每级 RC 模型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Tapered chain starting from a minimum symmetric inverter; 10 pF lumped load; RC model per stage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 ≈ 4070，ln F / ln 4 ≈ 6.00；单级 ≈ 41 ns；6 级 f ≈ 4.0、t ≈ 279 ps；真正最快为 7 级（f ≈ 3.3，275 ps），只快 1%；5 级 296 ps 即满足 &lt; 0.3 ns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≈ 4070, ln F / ln 4 ≈ 6.00; one stage ≈ 41 ns; 6 stages f ≈ 4.0, t ≈ 279 ps; truly fastest is 7 stages (f ≈ 3.3, 275 ps), only 1% better; 5 stages (296 ps) already meet &lt; 0.3 ns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1.4：CL = 10 pF，级数 1–10 扫描，对照 0.3 ns 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1.4: CL = 10 pF, sweep 1–10 stages against the 0.3 ns line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最优附近曲线很平：可少用一级省面积和功耗；要同相输出取偶数级；焊盘和走线电感还会带来振铃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optimum is flat: drop a stage to save area and power; use an even count for a non-inverted output; pad and trace inductance add ringing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搬重物接力：一人搬太慢，分几段逐级加人更快，但人太多交接也费时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carrying: one person is slow, adding people stage by stage is faster, but too many hand-offs waste time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芯片设计也靠模型：先用简单模型估算，再用仿真和工艺库校准，最后指出模型的局限。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design runs on models: estimate simply, calibrate with simulation and the process library, then name the limits.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机器人问题  Robot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巡线小车控制芯片的功耗预算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 of a line-following car controller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巡线小车的控制芯片约 1 万个门，平均每个时钟有 10% 的门发生 0→1 翻转，时钟 100 MHz。动态功耗多大？把电压从 1.8 V 降到 1.2 V 能省多少，又要付出什么代价？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line-following car’s controller has about 10 000 gates, 10% making a 0→1 transition each cycle at 100 MHz. What is the dynamic power? How much does dropping from 1.8 V to 1.2 V save, and at what cost?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  Given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门数 N = 10 000，0→1 翻转率 α = 0.1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10 000 gates, 0→1 activity α = 0.1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时钟 f = 100 MHz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f = 100 MHz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每门负载 C = 5 fF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per gate C = 5 fF</a:t>
            </a:r>
            <a:endParaRPr lang="en-US" sz="1400" dirty="0"/>
          </a:p>
        </p:txBody>
      </p:sp>
      <p:pic>
        <p:nvPicPr>
          <p:cNvPr id="8" name="Image 0" descr="/home/claude/wenquest/samples/数字集成电路设计/生成脚本/fig/media/robot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760720" cy="3600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645920"/>
            <a:ext cx="5760720" cy="3600450"/>
          </a:xfrm>
          <a:prstGeom prst="rect">
            <a:avLst/>
          </a:prstGeom>
          <a:ln w="12700">
            <a:solidFill>
              <a:srgbClr val="D9C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538353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本节结束时，我们用建立的模型回答这个问题。  We will answer it with this lesson’s model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概念 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动态功耗：每次翻转的能量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power: the energy per transition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0→1：电源送出 CV²，一半存进电容，一半在 PMOS 上变成热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0→1: the supply delivers CV², half stored, half burnt in the PMOS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1→0：电容里的 ½CV² 在 NMOS 上变成热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1→0: the stored ½CV² is burnt in the NMOS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动态功耗与电压平方成正比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power scales with the square of the supply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降压使电流变小、门变慢：tp ∝ VDD / (VDD − VT)²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supply means less current and slower gates: tp ∝ VDD / (VDD − VT)²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α · C · VDD² · f · N    （α：每个时钟 0→1 翻转的概率）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 = probability of a 0→1 transition per cycle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动画  Animation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电容充一次电、放一次电，电源一共送出多少能量？都去哪里了？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charge and one discharge: how much energy does the supply deliver, and where does it go?</a:t>
            </a:r>
            <a:endParaRPr lang="en-US" sz="19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843888" y="1463040"/>
            <a:ext cx="8503920" cy="47834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43888" y="631964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点击画面播放 · 中英字幕 · Click to play · bilingual captions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虚拟实验  Virtual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动手试一试：功耗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Power</a:t>
            </a:r>
            <a:endParaRPr lang="en-US" sz="1400" dirty="0"/>
          </a:p>
        </p:txBody>
      </p:sp>
      <p:pic>
        <p:nvPicPr>
          <p:cNvPr id="5" name="Image 0" descr="/home/claude/wenquest/samples/数字集成电路设计/生成脚本/fig/media/lab_5.png">
            <a:hlinkClick r:id="rId2" tooltip="打开虚拟实验 Open the virtual lab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675120" cy="4171950"/>
          </a:xfrm>
          <a:prstGeom prst="rect">
            <a:avLst/>
          </a:prstGeom>
          <a:ln w="12700">
            <a:solidFill>
              <a:srgbClr val="C9D3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 Tasks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读出默认设置下的动态功耗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dynamic power at the default settings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电压降到 1.20 V，功耗降多少？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supply to 1.20 V: how much is saved?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FO4 ≤ 100 ps 的最低电压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supply with FO4 ≤ 100 ps</a:t>
            </a:r>
            <a:endParaRPr lang="en-US" sz="1400" dirty="0"/>
          </a:p>
        </p:txBody>
      </p:sp>
      <p:sp>
        <p:nvSpPr>
          <p:cNvPr id="9" name="Shape 6">
            <a:hlinkClick r:id="rId3" tooltip="打开虚拟实验"/>
          </p:cNvPr>
          <p:cNvSpPr/>
          <p:nvPr/>
        </p:nvSpPr>
        <p:spPr>
          <a:xfrm>
            <a:off x="7680960" y="489204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4892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打开虚拟实验  Open lab ▶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577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实验台中选“1.5”选项卡 · 课后按实验指导书完成实验报告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tab 1.5 · write the lab report using the lab guide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 回到实际问题  Back to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建模求解：巡线小车控制芯片的功耗预算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Modelling: Power budget of a line-following car controller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46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 Step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 What we do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问题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Problem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巡线小车的控制芯片约 1 万个门，平均每个时钟有 10% 的门发生 0→1 翻转，时钟 100 MHz。动态功耗多大？把电压从 1.8 V 降到 1.2 V 能省多少，又要付出什么代价？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line-following car’s controller has about 10 000 gates, 10% making a 0→1 transition each cycle at 100 MHz. What is the dynamic power? How much does dropping from 1.8 V to 1.2 V save, and at what cost?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建模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Model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只计动态功耗，不计漏电与短路电流；所有门负载相同；翻转率取平均值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power only, no leakage or short-circuit current; identical gate loads; average activity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求解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Solve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= 0.1 × 5 fF × 1.8² × 100 MHz × 10⁴ = 1.62 mW；1.2 V 时 0.72 mW（降 56%）；FO4 ≤ 100 ps 要求 VDD 约 1.21 V（1.20 V 时 100.5 ps，刚好超标）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0.1 × 5 fF × 1.8² × 100 MHz × 10⁴ = 1.62 mW; at 1.2 V 0.72 mW (56% less); FO4 ≤ 100 ps needs about 1.21 V (100.5 ps at 1.20 V, just over)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检验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Check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虚拟实验 1.5：改电压、频率、翻转率，对照功耗曲线和 FO4 延时曲线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1.5: vary supply, clock and activity against the power and FO4 delay plots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修正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D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低电压、高温时漏电不能忽略；小车上电机耗电远大于芯片，芯片省电主要延长待机和传感器节点的电池寿命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matters at low voltage and high temperature; on the car the motors dominate, so chip savings mainly extend standby and sensor-node battery life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95360" y="1600200"/>
            <a:ext cx="3017520" cy="3291840"/>
          </a:xfrm>
          <a:prstGeom prst="roundRect">
            <a:avLst>
              <a:gd name="adj" fmla="val 3636"/>
            </a:avLst>
          </a:prstGeom>
          <a:solidFill>
            <a:srgbClr val="FFF6DA"/>
          </a:solidFill>
          <a:ln w="12700">
            <a:solidFill>
              <a:srgbClr val="FFF6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7373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生活中的例子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</a:t>
            </a:r>
            <a:endParaRPr lang="en-US" sz="15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手机省电模式：降频、降压，代价是变慢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power-saving mode lowers clock and voltage, at the cost of speed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50292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芯片设计也靠模型：先用简单模型估算，再用仿真和工艺库校准，最后指出模型的局限。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Chip design runs on models: estimate simply, calibrate with simulation and the process library, then name the limits.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  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对称反相器 Wn = 0.42 μm、Wp = 0.94 μm，驱动 4 个相同反相器（FO4）。求 tPHL。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symmetric inverter, Wn = 0.42 μm and Wp = 0.94 μm, drives four identical inverters (FO4). Find tPHL.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72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IDSAT,n = ½k′n(W/L)(VDD − VT)² = 230 μA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IDSAT,n = ½k′n(W/L)(VDD − VT)² = 230 μA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Req,n ≈ ¾·VDD / IDSAT = 5.88 kΩ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Req,n ≈ ¾·VDD / IDSAT = 5.88 kΩ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Cin = (Wn + Wp)·Cg = 2.46 fF；自载 (Wn + Wp)·Cd = 1.64 fF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= (Wn + Wp)·Cg = 2.46 fF; self-load (Wn + Wp)·Cd = 1.64 fF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D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 = 4·Cin + 自载 = 11.47 fF；tPHL = 0.69·Req,n·CL ≈ 46.5 ps（虚拟实验 1.3 中验证）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= 4·Cin + self-load = 11.47 fF; tPHL = 0.69·Req,n·CL ≈ 46.5 ps (check it in lab 1.3)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互补结构：稳态无直流通路；导通管相当于电阻 Ron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structure: no static DC path; the on transistor acts as Ron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传输特性：VM 由两管强弱比决定，噪声容限保证抗干扰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curve: VM set by the strength ratio; noise margins give immunity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延时：tp = 0.69·Req·CL；Wp/Wn = r 对称，≈ √r 最快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Delay: tp = 0.69·Req·CL; Wp/Wn = r is symmetric, ≈ √r is fastest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大负载：等比反相器链，每级扇出约 3–4（经验取 4）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loads: a tapered chain with fan-out about 3–4 per stage (rule of thumb 4)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6E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功耗：P = αCV²fN，降压最省电，但门会变慢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P = αCV²fN; lowering VDD saves most, but slows the gates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课后：5 个虚拟实验任务 ＋ 实验报告（任选一个机器人问题）；预习第 2 章 组合逻辑门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B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class: the five virtual labs + one lab report on a robot problem; preview Chapter 2, combinational gates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CMOS反相器 Chapter 1 The CMOS Inverter</dc:title>
  <dc:subject>PptxGenJS Presentation</dc:subject>
  <dc:creator>PptxGenJS</dc:creator>
  <cp:lastModifiedBy>PptxGenJS</cp:lastModifiedBy>
  <cp:revision>1</cp:revision>
  <dcterms:created xsi:type="dcterms:W3CDTF">2026-10-04T16:38:53Z</dcterms:created>
  <dcterms:modified xsi:type="dcterms:W3CDTF">2026-10-04T16:38:53Z</dcterms:modified>
</cp:coreProperties>
</file>