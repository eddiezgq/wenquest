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98" r:id="rId2"/>
    <p:sldId id="454" r:id="rId3"/>
    <p:sldId id="481" r:id="rId4"/>
    <p:sldId id="482" r:id="rId5"/>
    <p:sldId id="483" r:id="rId6"/>
    <p:sldId id="484" r:id="rId7"/>
    <p:sldId id="491" r:id="rId8"/>
    <p:sldId id="486" r:id="rId9"/>
    <p:sldId id="492" r:id="rId10"/>
    <p:sldId id="487" r:id="rId11"/>
    <p:sldId id="493" r:id="rId12"/>
    <p:sldId id="494" r:id="rId13"/>
    <p:sldId id="488" r:id="rId14"/>
    <p:sldId id="489" r:id="rId15"/>
    <p:sldId id="495" r:id="rId16"/>
    <p:sldId id="498" r:id="rId17"/>
    <p:sldId id="496" r:id="rId18"/>
    <p:sldId id="502" r:id="rId19"/>
    <p:sldId id="499" r:id="rId20"/>
    <p:sldId id="500" r:id="rId21"/>
    <p:sldId id="501" r:id="rId22"/>
    <p:sldId id="503" r:id="rId23"/>
    <p:sldId id="507" r:id="rId24"/>
    <p:sldId id="508" r:id="rId25"/>
    <p:sldId id="504" r:id="rId26"/>
    <p:sldId id="509" r:id="rId27"/>
    <p:sldId id="505" r:id="rId28"/>
    <p:sldId id="506" r:id="rId29"/>
    <p:sldId id="497" r:id="rId30"/>
    <p:sldId id="490" r:id="rId31"/>
    <p:sldId id="36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008000"/>
    <a:srgbClr val="F1DBB7"/>
    <a:srgbClr val="FFE3BD"/>
    <a:srgbClr val="003399"/>
    <a:srgbClr val="0000CC"/>
    <a:srgbClr val="3B124D"/>
    <a:srgbClr val="3611D3"/>
    <a:srgbClr val="A5002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87" autoAdjust="0"/>
    <p:restoredTop sz="94270" autoAdjust="0"/>
  </p:normalViewPr>
  <p:slideViewPr>
    <p:cSldViewPr snapToGrid="0">
      <p:cViewPr varScale="1">
        <p:scale>
          <a:sx n="81" d="100"/>
          <a:sy n="81" d="100"/>
        </p:scale>
        <p:origin x="643"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png"/><Relationship Id="rId4" Type="http://schemas.openxmlformats.org/officeDocument/2006/relationships/image" Target="../media/image14.gif"/></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hyperlink" Target="https://www.youtube.com/watch?v=sPZ2bjW53c8&amp;ab_channel=NASAJohnson"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23.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4.png"/><Relationship Id="rId7" Type="http://schemas.openxmlformats.org/officeDocument/2006/relationships/image" Target="../media/image6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2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4.png"/><Relationship Id="rId7" Type="http://schemas.openxmlformats.org/officeDocument/2006/relationships/image" Target="../media/image6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6.png"/><Relationship Id="rId5" Type="http://schemas.openxmlformats.org/officeDocument/2006/relationships/image" Target="../media/image67.png"/><Relationship Id="rId10" Type="http://schemas.openxmlformats.org/officeDocument/2006/relationships/image" Target="../media/image75.png"/><Relationship Id="rId4" Type="http://schemas.openxmlformats.org/officeDocument/2006/relationships/image" Target="../media/image66.png"/><Relationship Id="rId9"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2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81.png"/><Relationship Id="rId4" Type="http://schemas.openxmlformats.org/officeDocument/2006/relationships/image" Target="../media/image79.png"/></Relationships>
</file>

<file path=ppt/slides/_rels/slide2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820.png"/></Relationships>
</file>

<file path=ppt/slides/_rels/slide2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3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31.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6930203" y="5074270"/>
            <a:ext cx="3801498" cy="158764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t>Chapter 5 </a:t>
            </a:r>
          </a:p>
          <a:p>
            <a:pPr>
              <a:spcAft>
                <a:spcPts val="600"/>
              </a:spcAft>
            </a:pPr>
            <a:r>
              <a:rPr lang="en-US" altLang="en-US" sz="3200" dirty="0"/>
              <a:t>Newton’s Laws of Motion</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690534" y="89044"/>
            <a:ext cx="5653622" cy="523220"/>
          </a:xfrm>
          <a:prstGeom prst="rect">
            <a:avLst/>
          </a:prstGeom>
        </p:spPr>
        <p:txBody>
          <a:bodyPr wrap="square">
            <a:spAutoFit/>
          </a:bodyPr>
          <a:lstStyle/>
          <a:p>
            <a:r>
              <a:rPr lang="en-US" sz="2800">
                <a:solidFill>
                  <a:srgbClr val="C00000"/>
                </a:solidFill>
                <a:latin typeface="NewBaskervilleStd-Roman"/>
              </a:rPr>
              <a:t>Forces </a:t>
            </a:r>
            <a:endParaRPr lang="en-US" sz="2800" dirty="0">
              <a:solidFill>
                <a:srgbClr val="C00000"/>
              </a:solidFill>
              <a:latin typeface="NewBaskervilleStd-Roman"/>
            </a:endParaRPr>
          </a:p>
        </p:txBody>
      </p:sp>
      <p:sp>
        <p:nvSpPr>
          <p:cNvPr id="2" name="Rectangle 1">
            <a:extLst>
              <a:ext uri="{FF2B5EF4-FFF2-40B4-BE49-F238E27FC236}">
                <a16:creationId xmlns:a16="http://schemas.microsoft.com/office/drawing/2014/main" id="{FE2E323C-A7D0-F040-9F36-ECA4A9594F07}"/>
              </a:ext>
            </a:extLst>
          </p:cNvPr>
          <p:cNvSpPr/>
          <p:nvPr/>
        </p:nvSpPr>
        <p:spPr>
          <a:xfrm>
            <a:off x="660399" y="514728"/>
            <a:ext cx="10414149" cy="2123658"/>
          </a:xfrm>
          <a:prstGeom prst="rect">
            <a:avLst/>
          </a:prstGeom>
        </p:spPr>
        <p:txBody>
          <a:bodyPr wrap="square">
            <a:spAutoFit/>
          </a:bodyPr>
          <a:lstStyle/>
          <a:p>
            <a:r>
              <a:rPr lang="en-US" sz="2200" dirty="0">
                <a:solidFill>
                  <a:srgbClr val="000066"/>
                </a:solidFill>
                <a:latin typeface="LiberationSerif"/>
              </a:rPr>
              <a:t>Kinematics only describes the way objects move—their velocity and their acceleration. </a:t>
            </a:r>
            <a:r>
              <a:rPr lang="en-US" sz="2200" b="1" dirty="0">
                <a:solidFill>
                  <a:srgbClr val="C00000"/>
                </a:solidFill>
                <a:latin typeface="LiberationSerif"/>
              </a:rPr>
              <a:t>Dynamics</a:t>
            </a:r>
            <a:r>
              <a:rPr lang="en-US" sz="2200" b="1" dirty="0">
                <a:solidFill>
                  <a:srgbClr val="000066"/>
                </a:solidFill>
                <a:latin typeface="LiberationSerif"/>
              </a:rPr>
              <a:t> </a:t>
            </a:r>
            <a:r>
              <a:rPr lang="en-US" sz="2200" dirty="0">
                <a:solidFill>
                  <a:srgbClr val="000066"/>
                </a:solidFill>
                <a:latin typeface="LiberationSerif"/>
              </a:rPr>
              <a:t>is the study of how forces affect the motion of objects and systems. </a:t>
            </a:r>
          </a:p>
          <a:p>
            <a:r>
              <a:rPr lang="en-US" sz="2200" dirty="0">
                <a:solidFill>
                  <a:srgbClr val="000066"/>
                </a:solidFill>
                <a:latin typeface="LiberationSerif"/>
              </a:rPr>
              <a:t>Forces are vectors and should be treated accordingly. Forces can change the velocity of an object. </a:t>
            </a:r>
            <a:r>
              <a:rPr lang="en-US" sz="2200" dirty="0">
                <a:solidFill>
                  <a:srgbClr val="008000"/>
                </a:solidFill>
                <a:latin typeface="LiberationSerif"/>
              </a:rPr>
              <a:t>Forces are the push or pull on an object with a specific magnitude and direction. </a:t>
            </a:r>
          </a:p>
          <a:p>
            <a:endParaRPr lang="en-US" sz="2200" dirty="0">
              <a:solidFill>
                <a:srgbClr val="000066"/>
              </a:solidFill>
              <a:latin typeface="LiberationSerif"/>
            </a:endParaRPr>
          </a:p>
          <a:p>
            <a:endParaRPr lang="en-US" sz="2200" dirty="0">
              <a:solidFill>
                <a:srgbClr val="000066"/>
              </a:solidFill>
            </a:endParaRPr>
          </a:p>
        </p:txBody>
      </p:sp>
      <p:pic>
        <p:nvPicPr>
          <p:cNvPr id="21" name="Picture Placeholder 1" descr="A portrait of Isaac Newton.">
            <a:extLst>
              <a:ext uri="{FF2B5EF4-FFF2-40B4-BE49-F238E27FC236}">
                <a16:creationId xmlns:a16="http://schemas.microsoft.com/office/drawing/2014/main" id="{3A7AAAAB-B2F4-C249-A816-1D12D69B9B95}"/>
              </a:ext>
            </a:extLst>
          </p:cNvPr>
          <p:cNvPicPr>
            <a:picLocks noChangeAspect="1"/>
          </p:cNvPicPr>
          <p:nvPr/>
        </p:nvPicPr>
        <p:blipFill>
          <a:blip r:embed="rId3">
            <a:extLst>
              <a:ext uri="{28A0092B-C50C-407E-A947-70E740481C1C}">
                <a14:useLocalDpi xmlns:a14="http://schemas.microsoft.com/office/drawing/2010/main" val="0"/>
              </a:ext>
            </a:extLst>
          </a:blip>
          <a:srcRect t="-3327" b="-3327"/>
          <a:stretch>
            <a:fillRect/>
          </a:stretch>
        </p:blipFill>
        <p:spPr>
          <a:xfrm>
            <a:off x="619813" y="1971675"/>
            <a:ext cx="2805890" cy="3657600"/>
          </a:xfrm>
          <a:prstGeom prst="rect">
            <a:avLst/>
          </a:prstGeom>
        </p:spPr>
      </p:pic>
      <p:sp>
        <p:nvSpPr>
          <p:cNvPr id="24" name="Text Placeholder 13">
            <a:extLst>
              <a:ext uri="{FF2B5EF4-FFF2-40B4-BE49-F238E27FC236}">
                <a16:creationId xmlns:a16="http://schemas.microsoft.com/office/drawing/2014/main" id="{2E3EA62B-7372-8A47-A475-C19DFA2967DD}"/>
              </a:ext>
            </a:extLst>
          </p:cNvPr>
          <p:cNvSpPr txBox="1">
            <a:spLocks/>
          </p:cNvSpPr>
          <p:nvPr/>
        </p:nvSpPr>
        <p:spPr>
          <a:xfrm>
            <a:off x="188839" y="5515119"/>
            <a:ext cx="4654094" cy="137674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Isaac Newton (1642–1727) published </a:t>
            </a:r>
            <a:r>
              <a:rPr lang="en-US" sz="1800" i="1" dirty="0" err="1">
                <a:solidFill>
                  <a:srgbClr val="000066"/>
                </a:solidFill>
              </a:rPr>
              <a:t>Philosophiae</a:t>
            </a:r>
            <a:r>
              <a:rPr lang="en-US" sz="1800" i="1" dirty="0">
                <a:solidFill>
                  <a:srgbClr val="000066"/>
                </a:solidFill>
              </a:rPr>
              <a:t> Naturalis Principia Mathematica</a:t>
            </a:r>
            <a:r>
              <a:rPr lang="en-US" sz="1800" dirty="0">
                <a:solidFill>
                  <a:srgbClr val="000066"/>
                </a:solidFill>
              </a:rPr>
              <a:t>, in 1687. It proposed scientific laws that still apply today to describe the motion of objects  		(the laws of motion).</a:t>
            </a:r>
          </a:p>
        </p:txBody>
      </p:sp>
      <p:sp>
        <p:nvSpPr>
          <p:cNvPr id="27" name="Text Placeholder 6">
            <a:extLst>
              <a:ext uri="{FF2B5EF4-FFF2-40B4-BE49-F238E27FC236}">
                <a16:creationId xmlns:a16="http://schemas.microsoft.com/office/drawing/2014/main" id="{5EDFA10A-7D4D-8E48-9C95-5B762AA0C179}"/>
              </a:ext>
            </a:extLst>
          </p:cNvPr>
          <p:cNvSpPr txBox="1">
            <a:spLocks/>
          </p:cNvSpPr>
          <p:nvPr/>
        </p:nvSpPr>
        <p:spPr>
          <a:xfrm>
            <a:off x="4792131" y="5568708"/>
            <a:ext cx="7312627" cy="11663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Tx/>
              <a:buAutoNum type="alphaLcParenBoth"/>
            </a:pPr>
            <a:r>
              <a:rPr lang="en-US" sz="1800" dirty="0"/>
              <a:t>An overhead view of two ice skaters pushing on a third skater. Forces are vectors and add like other vectors, so the total force on the third skater is in the direction shown. </a:t>
            </a:r>
          </a:p>
          <a:p>
            <a:pPr marL="342900" indent="-342900">
              <a:buFontTx/>
              <a:buAutoNum type="alphaLcParenBoth"/>
            </a:pPr>
            <a:r>
              <a:rPr lang="en-US" sz="1800" dirty="0"/>
              <a:t>A free-body diagram representing the forces acting on the third skater.</a:t>
            </a:r>
          </a:p>
        </p:txBody>
      </p:sp>
      <p:pic>
        <p:nvPicPr>
          <p:cNvPr id="10" name="Picture 9" descr="Diagram&#10;&#10;Description automatically generated">
            <a:extLst>
              <a:ext uri="{FF2B5EF4-FFF2-40B4-BE49-F238E27FC236}">
                <a16:creationId xmlns:a16="http://schemas.microsoft.com/office/drawing/2014/main" id="{C0C03A9C-24A5-7245-AB94-FCA6094801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2933" y="1914597"/>
            <a:ext cx="5877464" cy="3657600"/>
          </a:xfrm>
          <a:prstGeom prst="rect">
            <a:avLst/>
          </a:prstGeom>
        </p:spPr>
      </p:pic>
      <p:sp>
        <p:nvSpPr>
          <p:cNvPr id="8" name="Rectangle 7">
            <a:extLst>
              <a:ext uri="{FF2B5EF4-FFF2-40B4-BE49-F238E27FC236}">
                <a16:creationId xmlns:a16="http://schemas.microsoft.com/office/drawing/2014/main" id="{A7A6D33D-E4B8-8F4B-8184-4BE46ACD7D9B}"/>
              </a:ext>
            </a:extLst>
          </p:cNvPr>
          <p:cNvSpPr/>
          <p:nvPr/>
        </p:nvSpPr>
        <p:spPr>
          <a:xfrm>
            <a:off x="8728312" y="2228296"/>
            <a:ext cx="2994625" cy="923330"/>
          </a:xfrm>
          <a:prstGeom prst="rect">
            <a:avLst/>
          </a:prstGeom>
        </p:spPr>
        <p:txBody>
          <a:bodyPr wrap="square">
            <a:spAutoFit/>
          </a:bodyPr>
          <a:lstStyle/>
          <a:p>
            <a:r>
              <a:rPr lang="en-US" b="1" dirty="0">
                <a:solidFill>
                  <a:srgbClr val="C00000"/>
                </a:solidFill>
                <a:latin typeface="LiberationSerif"/>
              </a:rPr>
              <a:t>Free-body diagram</a:t>
            </a:r>
            <a:r>
              <a:rPr lang="en-US" dirty="0">
                <a:solidFill>
                  <a:srgbClr val="C00000"/>
                </a:solidFill>
                <a:latin typeface="LiberationSerif"/>
              </a:rPr>
              <a:t> </a:t>
            </a:r>
            <a:r>
              <a:rPr lang="en-US" dirty="0">
                <a:latin typeface="LiberationSerif"/>
              </a:rPr>
              <a:t>is a sketch showing all external forces acting on an object or system. </a:t>
            </a:r>
            <a:endParaRPr lang="en-US" dirty="0"/>
          </a:p>
        </p:txBody>
      </p:sp>
      <p:pic>
        <p:nvPicPr>
          <p:cNvPr id="4" name="Picture 3" descr="A white background with black text&#10;&#10;Description automatically generated with medium confidence">
            <a:extLst>
              <a:ext uri="{FF2B5EF4-FFF2-40B4-BE49-F238E27FC236}">
                <a16:creationId xmlns:a16="http://schemas.microsoft.com/office/drawing/2014/main" id="{C258EAF6-4982-5D47-A0B9-4471A7E5B0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95494" y="5111508"/>
            <a:ext cx="2410691" cy="457200"/>
          </a:xfrm>
          <a:prstGeom prst="rect">
            <a:avLst/>
          </a:prstGeom>
        </p:spPr>
      </p:pic>
    </p:spTree>
    <p:extLst>
      <p:ext uri="{BB962C8B-B14F-4D97-AF65-F5344CB8AC3E}">
        <p14:creationId xmlns:p14="http://schemas.microsoft.com/office/powerpoint/2010/main" val="32745285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690534" y="89044"/>
            <a:ext cx="5653622" cy="523220"/>
          </a:xfrm>
          <a:prstGeom prst="rect">
            <a:avLst/>
          </a:prstGeom>
        </p:spPr>
        <p:txBody>
          <a:bodyPr wrap="square">
            <a:spAutoFit/>
          </a:bodyPr>
          <a:lstStyle/>
          <a:p>
            <a:r>
              <a:rPr lang="en-US" sz="2800" dirty="0">
                <a:solidFill>
                  <a:srgbClr val="C00000"/>
                </a:solidFill>
                <a:latin typeface="NewBaskervilleStd-Roman"/>
              </a:rPr>
              <a:t>Forces </a:t>
            </a:r>
          </a:p>
        </p:txBody>
      </p:sp>
      <p:sp>
        <p:nvSpPr>
          <p:cNvPr id="7" name="Rectangle 6">
            <a:extLst>
              <a:ext uri="{FF2B5EF4-FFF2-40B4-BE49-F238E27FC236}">
                <a16:creationId xmlns:a16="http://schemas.microsoft.com/office/drawing/2014/main" id="{6886DDD1-EA7E-2544-A5E9-189D381378C6}"/>
              </a:ext>
            </a:extLst>
          </p:cNvPr>
          <p:cNvSpPr/>
          <p:nvPr/>
        </p:nvSpPr>
        <p:spPr>
          <a:xfrm>
            <a:off x="2758014" y="633654"/>
            <a:ext cx="9015723" cy="430887"/>
          </a:xfrm>
          <a:prstGeom prst="rect">
            <a:avLst/>
          </a:prstGeom>
        </p:spPr>
        <p:txBody>
          <a:bodyPr wrap="square">
            <a:spAutoFit/>
          </a:bodyPr>
          <a:lstStyle/>
          <a:p>
            <a:r>
              <a:rPr lang="en-US" sz="2200" dirty="0">
                <a:latin typeface="LiberationSerif"/>
              </a:rPr>
              <a:t>Other examples of </a:t>
            </a:r>
            <a:r>
              <a:rPr lang="en-US" sz="2200" b="1" dirty="0">
                <a:solidFill>
                  <a:srgbClr val="C00000"/>
                </a:solidFill>
                <a:latin typeface="LiberationSerif"/>
              </a:rPr>
              <a:t>Free-body diagrams. </a:t>
            </a:r>
            <a:r>
              <a:rPr lang="en-US" sz="2200" dirty="0">
                <a:solidFill>
                  <a:srgbClr val="C00000"/>
                </a:solidFill>
                <a:latin typeface="LiberationSerif"/>
              </a:rPr>
              <a:t> </a:t>
            </a:r>
            <a:endParaRPr lang="en-US" sz="2200" dirty="0"/>
          </a:p>
        </p:txBody>
      </p:sp>
      <p:pic>
        <p:nvPicPr>
          <p:cNvPr id="3" name="Picture 2" descr="Diagram&#10;&#10;Description automatically generated">
            <a:extLst>
              <a:ext uri="{FF2B5EF4-FFF2-40B4-BE49-F238E27FC236}">
                <a16:creationId xmlns:a16="http://schemas.microsoft.com/office/drawing/2014/main" id="{54FD97DC-3CD2-5241-B216-871C96E9F0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266" y="1163700"/>
            <a:ext cx="3568700" cy="1727200"/>
          </a:xfrm>
          <a:prstGeom prst="rect">
            <a:avLst/>
          </a:prstGeom>
        </p:spPr>
      </p:pic>
      <p:pic>
        <p:nvPicPr>
          <p:cNvPr id="9" name="Picture 8">
            <a:extLst>
              <a:ext uri="{FF2B5EF4-FFF2-40B4-BE49-F238E27FC236}">
                <a16:creationId xmlns:a16="http://schemas.microsoft.com/office/drawing/2014/main" id="{D1D8BC2F-1A17-E44F-8453-D98770B6C4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6086" y="1036700"/>
            <a:ext cx="3517900" cy="1854200"/>
          </a:xfrm>
          <a:prstGeom prst="rect">
            <a:avLst/>
          </a:prstGeom>
        </p:spPr>
      </p:pic>
      <p:pic>
        <p:nvPicPr>
          <p:cNvPr id="11" name="Picture 10" descr="A person sitting at a desk&#10;&#10;Description automatically generated with medium confidence">
            <a:extLst>
              <a:ext uri="{FF2B5EF4-FFF2-40B4-BE49-F238E27FC236}">
                <a16:creationId xmlns:a16="http://schemas.microsoft.com/office/drawing/2014/main" id="{31D8D139-0C6D-0F40-A040-8B1B7FECCA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8266" y="2954400"/>
            <a:ext cx="4005072" cy="3657600"/>
          </a:xfrm>
          <a:prstGeom prst="rect">
            <a:avLst/>
          </a:prstGeom>
        </p:spPr>
      </p:pic>
      <p:pic>
        <p:nvPicPr>
          <p:cNvPr id="13" name="Picture 12" descr="Diagram&#10;&#10;Description automatically generated">
            <a:extLst>
              <a:ext uri="{FF2B5EF4-FFF2-40B4-BE49-F238E27FC236}">
                <a16:creationId xmlns:a16="http://schemas.microsoft.com/office/drawing/2014/main" id="{7DB34BBB-382F-EE42-8F82-30873BE5D2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12107" y="2954400"/>
            <a:ext cx="4261683" cy="3657600"/>
          </a:xfrm>
          <a:prstGeom prst="rect">
            <a:avLst/>
          </a:prstGeom>
        </p:spPr>
      </p:pic>
    </p:spTree>
    <p:extLst>
      <p:ext uri="{BB962C8B-B14F-4D97-AF65-F5344CB8AC3E}">
        <p14:creationId xmlns:p14="http://schemas.microsoft.com/office/powerpoint/2010/main" val="3053317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34630" y="89044"/>
            <a:ext cx="5653622" cy="523220"/>
          </a:xfrm>
          <a:prstGeom prst="rect">
            <a:avLst/>
          </a:prstGeom>
        </p:spPr>
        <p:txBody>
          <a:bodyPr wrap="square">
            <a:spAutoFit/>
          </a:bodyPr>
          <a:lstStyle/>
          <a:p>
            <a:r>
              <a:rPr lang="en-US" sz="2800" dirty="0">
                <a:solidFill>
                  <a:srgbClr val="C00000"/>
                </a:solidFill>
                <a:latin typeface="NewBaskervilleStd-Roman"/>
              </a:rPr>
              <a:t>Newton's First Law </a:t>
            </a:r>
          </a:p>
        </p:txBody>
      </p:sp>
      <p:sp>
        <p:nvSpPr>
          <p:cNvPr id="2" name="Rectangle 1">
            <a:extLst>
              <a:ext uri="{FF2B5EF4-FFF2-40B4-BE49-F238E27FC236}">
                <a16:creationId xmlns:a16="http://schemas.microsoft.com/office/drawing/2014/main" id="{18FCE45F-4440-664C-9B67-2960545205E0}"/>
              </a:ext>
            </a:extLst>
          </p:cNvPr>
          <p:cNvSpPr/>
          <p:nvPr/>
        </p:nvSpPr>
        <p:spPr>
          <a:xfrm>
            <a:off x="357781" y="612264"/>
            <a:ext cx="10716768" cy="769441"/>
          </a:xfrm>
          <a:prstGeom prst="rect">
            <a:avLst/>
          </a:prstGeom>
        </p:spPr>
        <p:txBody>
          <a:bodyPr wrap="square">
            <a:spAutoFit/>
          </a:bodyPr>
          <a:lstStyle/>
          <a:p>
            <a:r>
              <a:rPr lang="en-US" sz="2200" dirty="0">
                <a:solidFill>
                  <a:srgbClr val="008000"/>
                </a:solidFill>
                <a:latin typeface="LiberationSerif"/>
              </a:rPr>
              <a:t>A body at rest remains at rest or, if in motion, remains in motion at constant velocity unless acted on by a net external force. </a:t>
            </a:r>
            <a:endParaRPr lang="en-US" sz="2200" dirty="0">
              <a:solidFill>
                <a:srgbClr val="008000"/>
              </a:solidFill>
              <a:effectLst/>
            </a:endParaRPr>
          </a:p>
        </p:txBody>
      </p:sp>
      <p:pic>
        <p:nvPicPr>
          <p:cNvPr id="7" name="Picture Placeholder 1" descr="Figure a shows a hockey stick and a puck. Figure b indicates motion of the stick and the puck.">
            <a:extLst>
              <a:ext uri="{FF2B5EF4-FFF2-40B4-BE49-F238E27FC236}">
                <a16:creationId xmlns:a16="http://schemas.microsoft.com/office/drawing/2014/main" id="{8FE04CBC-1DEF-2940-94B0-B121078299F1}"/>
              </a:ext>
            </a:extLst>
          </p:cNvPr>
          <p:cNvPicPr>
            <a:picLocks noChangeAspect="1"/>
          </p:cNvPicPr>
          <p:nvPr/>
        </p:nvPicPr>
        <p:blipFill>
          <a:blip r:embed="rId3">
            <a:extLst>
              <a:ext uri="{28A0092B-C50C-407E-A947-70E740481C1C}">
                <a14:useLocalDpi xmlns:a14="http://schemas.microsoft.com/office/drawing/2010/main" val="0"/>
              </a:ext>
            </a:extLst>
          </a:blip>
          <a:srcRect l="-15072" r="-15072"/>
          <a:stretch>
            <a:fillRect/>
          </a:stretch>
        </p:blipFill>
        <p:spPr>
          <a:xfrm>
            <a:off x="357781" y="1561298"/>
            <a:ext cx="5266126" cy="2286000"/>
          </a:xfrm>
          <a:prstGeom prst="rect">
            <a:avLst/>
          </a:prstGeom>
        </p:spPr>
      </p:pic>
      <p:sp>
        <p:nvSpPr>
          <p:cNvPr id="8" name="Text Placeholder 6">
            <a:extLst>
              <a:ext uri="{FF2B5EF4-FFF2-40B4-BE49-F238E27FC236}">
                <a16:creationId xmlns:a16="http://schemas.microsoft.com/office/drawing/2014/main" id="{1C3564BA-D373-654E-912A-BF1D7E63312E}"/>
              </a:ext>
            </a:extLst>
          </p:cNvPr>
          <p:cNvSpPr txBox="1">
            <a:spLocks/>
          </p:cNvSpPr>
          <p:nvPr/>
        </p:nvSpPr>
        <p:spPr>
          <a:xfrm>
            <a:off x="577913" y="3933416"/>
            <a:ext cx="4874619" cy="272657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AutoNum type="alphaLcParenBoth"/>
            </a:pPr>
            <a:r>
              <a:rPr lang="en-US" sz="2000" dirty="0">
                <a:solidFill>
                  <a:srgbClr val="000066"/>
                </a:solidFill>
              </a:rPr>
              <a:t>A hockey puck is shown at rest; it remains at rest until an outside force such as a hockey stick changes its state of rest;</a:t>
            </a:r>
          </a:p>
          <a:p>
            <a:pPr marL="342900" indent="-342900">
              <a:buFont typeface="Arial" panose="020B0604020202020204" pitchFamily="34" charset="0"/>
              <a:buAutoNum type="alphaLcParenBoth"/>
            </a:pPr>
            <a:r>
              <a:rPr lang="en-US" sz="2000" dirty="0">
                <a:solidFill>
                  <a:srgbClr val="000066"/>
                </a:solidFill>
              </a:rPr>
              <a:t>a hockey puck is shown in motion; it continues in motion in a straight line until an outside force causes it to change its state of motion. Although it is slick, an ice surface provides some friction that slows the puck.</a:t>
            </a:r>
          </a:p>
        </p:txBody>
      </p:sp>
      <p:pic>
        <p:nvPicPr>
          <p:cNvPr id="9" name="Picture Placeholder 1" descr="Figure shows the cross section of an air hockey table. There is a hole in the table surface from which air flows out. The puck is suspended above the table, with a layer of air between it and the table. A free-body diagram shows the upward force of air and downward weight to be of equal magnitude. Net vertical force is equal to 0 and therefore, the friction is equal to 0.">
            <a:extLst>
              <a:ext uri="{FF2B5EF4-FFF2-40B4-BE49-F238E27FC236}">
                <a16:creationId xmlns:a16="http://schemas.microsoft.com/office/drawing/2014/main" id="{1F9E6739-F714-284B-9C07-36FD3821A1A0}"/>
              </a:ext>
            </a:extLst>
          </p:cNvPr>
          <p:cNvPicPr>
            <a:picLocks noChangeAspect="1"/>
          </p:cNvPicPr>
          <p:nvPr/>
        </p:nvPicPr>
        <p:blipFill>
          <a:blip r:embed="rId4">
            <a:extLst>
              <a:ext uri="{28A0092B-C50C-407E-A947-70E740481C1C}">
                <a14:useLocalDpi xmlns:a14="http://schemas.microsoft.com/office/drawing/2010/main" val="0"/>
              </a:ext>
            </a:extLst>
          </a:blip>
          <a:srcRect t="-20883" b="-20883"/>
          <a:stretch>
            <a:fillRect/>
          </a:stretch>
        </p:blipFill>
        <p:spPr>
          <a:xfrm>
            <a:off x="5573108" y="1384763"/>
            <a:ext cx="6319353" cy="2743200"/>
          </a:xfrm>
          <a:prstGeom prst="rect">
            <a:avLst/>
          </a:prstGeom>
        </p:spPr>
      </p:pic>
      <p:sp>
        <p:nvSpPr>
          <p:cNvPr id="10" name="Text Placeholder 6">
            <a:extLst>
              <a:ext uri="{FF2B5EF4-FFF2-40B4-BE49-F238E27FC236}">
                <a16:creationId xmlns:a16="http://schemas.microsoft.com/office/drawing/2014/main" id="{F7137A56-88DE-4F41-A903-59E10A5EE7A2}"/>
              </a:ext>
            </a:extLst>
          </p:cNvPr>
          <p:cNvSpPr txBox="1">
            <a:spLocks/>
          </p:cNvSpPr>
          <p:nvPr/>
        </p:nvSpPr>
        <p:spPr>
          <a:xfrm>
            <a:off x="6231471" y="3933415"/>
            <a:ext cx="5508594" cy="16715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C00000"/>
                </a:solidFill>
              </a:rPr>
              <a:t>An air hockey table is useful in illustrating Newton’s laws. When the air is off, friction quickly slows the puck; but when the air is on, it minimizes contact between the puck and the hockey table, and the puck glides far down the table.</a:t>
            </a:r>
          </a:p>
        </p:txBody>
      </p:sp>
      <p:sp>
        <p:nvSpPr>
          <p:cNvPr id="3" name="Rectangle 2">
            <a:extLst>
              <a:ext uri="{FF2B5EF4-FFF2-40B4-BE49-F238E27FC236}">
                <a16:creationId xmlns:a16="http://schemas.microsoft.com/office/drawing/2014/main" id="{B2A9637A-D3A2-0C48-961D-3EF7E3CA7AE6}"/>
              </a:ext>
            </a:extLst>
          </p:cNvPr>
          <p:cNvSpPr/>
          <p:nvPr/>
        </p:nvSpPr>
        <p:spPr>
          <a:xfrm>
            <a:off x="6086646" y="5876404"/>
            <a:ext cx="6037678" cy="369332"/>
          </a:xfrm>
          <a:prstGeom prst="rect">
            <a:avLst/>
          </a:prstGeom>
        </p:spPr>
        <p:txBody>
          <a:bodyPr wrap="none">
            <a:spAutoFit/>
          </a:bodyPr>
          <a:lstStyle/>
          <a:p>
            <a:r>
              <a:rPr lang="en-US" u="sng" dirty="0">
                <a:solidFill>
                  <a:srgbClr val="0000CC"/>
                </a:solidFill>
                <a:latin typeface="RotisSemiSerifStd-Bold"/>
              </a:rPr>
              <a:t>If the net force on object is zero, it will have zero acceleration. </a:t>
            </a:r>
            <a:endParaRPr lang="en-US" dirty="0"/>
          </a:p>
        </p:txBody>
      </p:sp>
    </p:spTree>
    <p:extLst>
      <p:ext uri="{BB962C8B-B14F-4D97-AF65-F5344CB8AC3E}">
        <p14:creationId xmlns:p14="http://schemas.microsoft.com/office/powerpoint/2010/main" val="15524893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052E1C5-4AFD-1A45-8A6D-EDD9A76672B0}"/>
              </a:ext>
            </a:extLst>
          </p:cNvPr>
          <p:cNvSpPr/>
          <p:nvPr/>
        </p:nvSpPr>
        <p:spPr>
          <a:xfrm>
            <a:off x="3934630" y="89044"/>
            <a:ext cx="5653622" cy="523220"/>
          </a:xfrm>
          <a:prstGeom prst="rect">
            <a:avLst/>
          </a:prstGeom>
        </p:spPr>
        <p:txBody>
          <a:bodyPr wrap="square">
            <a:spAutoFit/>
          </a:bodyPr>
          <a:lstStyle/>
          <a:p>
            <a:r>
              <a:rPr lang="en-US" sz="2800" dirty="0">
                <a:solidFill>
                  <a:srgbClr val="C00000"/>
                </a:solidFill>
                <a:latin typeface="NewBaskervilleStd-Roman"/>
              </a:rPr>
              <a:t>Newton's First Law </a:t>
            </a:r>
          </a:p>
        </p:txBody>
      </p:sp>
      <p:sp>
        <p:nvSpPr>
          <p:cNvPr id="2" name="Rectangle 1">
            <a:extLst>
              <a:ext uri="{FF2B5EF4-FFF2-40B4-BE49-F238E27FC236}">
                <a16:creationId xmlns:a16="http://schemas.microsoft.com/office/drawing/2014/main" id="{72AAB0BE-32AA-694D-818C-BEBD6287E342}"/>
              </a:ext>
            </a:extLst>
          </p:cNvPr>
          <p:cNvSpPr/>
          <p:nvPr/>
        </p:nvSpPr>
        <p:spPr>
          <a:xfrm>
            <a:off x="626533" y="612264"/>
            <a:ext cx="10075334" cy="4154984"/>
          </a:xfrm>
          <a:prstGeom prst="rect">
            <a:avLst/>
          </a:prstGeom>
        </p:spPr>
        <p:txBody>
          <a:bodyPr wrap="square">
            <a:spAutoFit/>
          </a:bodyPr>
          <a:lstStyle/>
          <a:p>
            <a:r>
              <a:rPr lang="en-US" sz="2200" i="1" dirty="0">
                <a:solidFill>
                  <a:srgbClr val="000066"/>
                </a:solidFill>
                <a:latin typeface="LiberationSerif"/>
              </a:rPr>
              <a:t>Some definitions</a:t>
            </a:r>
          </a:p>
          <a:p>
            <a:pPr marL="342900" indent="-342900">
              <a:buFont typeface="Arial" panose="020B0604020202020204" pitchFamily="34" charset="0"/>
              <a:buChar char="•"/>
            </a:pPr>
            <a:r>
              <a:rPr lang="en-US" sz="2200" i="1" dirty="0">
                <a:solidFill>
                  <a:schemeClr val="accent6">
                    <a:lumMod val="50000"/>
                  </a:schemeClr>
                </a:solidFill>
                <a:latin typeface="LiberationSerif"/>
              </a:rPr>
              <a:t>Mass</a:t>
            </a:r>
            <a:r>
              <a:rPr lang="en-US" sz="2200" i="1" dirty="0">
                <a:solidFill>
                  <a:srgbClr val="008000"/>
                </a:solidFill>
                <a:latin typeface="LiberationSerif"/>
              </a:rPr>
              <a:t> </a:t>
            </a:r>
            <a:r>
              <a:rPr lang="en-US" sz="2200" dirty="0">
                <a:solidFill>
                  <a:srgbClr val="000066"/>
                </a:solidFill>
                <a:latin typeface="LiberationSerif"/>
              </a:rPr>
              <a:t>is a measure of the amount of matter in something. </a:t>
            </a:r>
          </a:p>
          <a:p>
            <a:endParaRPr lang="en-US" sz="2200" dirty="0">
              <a:solidFill>
                <a:srgbClr val="000066"/>
              </a:solidFill>
              <a:latin typeface="LiberationSerif"/>
            </a:endParaRPr>
          </a:p>
          <a:p>
            <a:pPr marL="342900" indent="-342900">
              <a:buFont typeface="Arial" panose="020B0604020202020204" pitchFamily="34" charset="0"/>
              <a:buChar char="•"/>
            </a:pPr>
            <a:r>
              <a:rPr lang="en-US" sz="2200" i="1" dirty="0">
                <a:solidFill>
                  <a:srgbClr val="C00000"/>
                </a:solidFill>
                <a:latin typeface="LiberationSerif"/>
              </a:rPr>
              <a:t>Gravitation</a:t>
            </a:r>
            <a:r>
              <a:rPr lang="en-US" sz="2200" i="1" dirty="0">
                <a:solidFill>
                  <a:srgbClr val="000066"/>
                </a:solidFill>
                <a:latin typeface="LiberationSerif"/>
              </a:rPr>
              <a:t> </a:t>
            </a:r>
            <a:r>
              <a:rPr lang="en-US" sz="2200" dirty="0">
                <a:solidFill>
                  <a:srgbClr val="000066"/>
                </a:solidFill>
                <a:latin typeface="LiberationSerif"/>
              </a:rPr>
              <a:t>is the attraction of one mass to another.</a:t>
            </a:r>
          </a:p>
          <a:p>
            <a:pPr marL="342900" indent="-342900">
              <a:buFont typeface="Arial" panose="020B0604020202020204" pitchFamily="34" charset="0"/>
              <a:buChar char="•"/>
            </a:pPr>
            <a:endParaRPr lang="en-US" sz="2200" dirty="0">
              <a:solidFill>
                <a:srgbClr val="000066"/>
              </a:solidFill>
              <a:latin typeface="LiberationSerif"/>
            </a:endParaRPr>
          </a:p>
          <a:p>
            <a:pPr marL="342900" indent="-342900">
              <a:buFont typeface="Arial" panose="020B0604020202020204" pitchFamily="34" charset="0"/>
              <a:buChar char="•"/>
            </a:pPr>
            <a:r>
              <a:rPr lang="en-US" sz="2200" dirty="0">
                <a:solidFill>
                  <a:srgbClr val="000066"/>
                </a:solidFill>
              </a:rPr>
              <a:t>Mass is also related to </a:t>
            </a:r>
            <a:r>
              <a:rPr lang="en-US" sz="2200" dirty="0">
                <a:solidFill>
                  <a:srgbClr val="0000CC"/>
                </a:solidFill>
              </a:rPr>
              <a:t>inertia</a:t>
            </a:r>
            <a:r>
              <a:rPr lang="en-US" sz="2200" dirty="0">
                <a:solidFill>
                  <a:srgbClr val="000066"/>
                </a:solidFill>
              </a:rPr>
              <a:t>, the ability of an object to resist changes in its motion. </a:t>
            </a:r>
            <a:r>
              <a:rPr lang="en-US" dirty="0"/>
              <a:t>Thus, inertia is the tendency of an object to resist any attempt to change its velocity.</a:t>
            </a:r>
          </a:p>
          <a:p>
            <a:pPr marL="342900" indent="-342900">
              <a:buFont typeface="Arial" panose="020B0604020202020204" pitchFamily="34" charset="0"/>
              <a:buChar char="•"/>
            </a:pPr>
            <a:r>
              <a:rPr lang="en-US" sz="2200" dirty="0">
                <a:solidFill>
                  <a:srgbClr val="000066"/>
                </a:solidFill>
              </a:rPr>
              <a:t>Any reference frame that is at rest or that moves with constant velocity is </a:t>
            </a:r>
            <a:r>
              <a:rPr lang="en-US" sz="2200" dirty="0">
                <a:solidFill>
                  <a:srgbClr val="008000"/>
                </a:solidFill>
              </a:rPr>
              <a:t>inertial reference frame</a:t>
            </a:r>
            <a:r>
              <a:rPr lang="en-US" sz="2200" dirty="0">
                <a:solidFill>
                  <a:srgbClr val="000066"/>
                </a:solidFill>
              </a:rPr>
              <a:t>. A </a:t>
            </a:r>
            <a:r>
              <a:rPr lang="en-US" sz="2200" dirty="0">
                <a:solidFill>
                  <a:srgbClr val="002060"/>
                </a:solidFill>
              </a:rPr>
              <a:t>reference frame </a:t>
            </a:r>
            <a:r>
              <a:rPr lang="en-US" sz="2200" dirty="0">
                <a:solidFill>
                  <a:srgbClr val="000066"/>
                </a:solidFill>
              </a:rPr>
              <a:t>moving at constant velocity relative to an inertial frame is also inertial. A reference frame </a:t>
            </a:r>
            <a:r>
              <a:rPr lang="en-US" sz="2200" dirty="0">
                <a:solidFill>
                  <a:srgbClr val="FF0000"/>
                </a:solidFill>
              </a:rPr>
              <a:t>accelerating</a:t>
            </a:r>
            <a:r>
              <a:rPr lang="en-US" sz="2200" dirty="0">
                <a:solidFill>
                  <a:srgbClr val="000066"/>
                </a:solidFill>
              </a:rPr>
              <a:t> relative to an inertial frame is </a:t>
            </a:r>
            <a:r>
              <a:rPr lang="en-US" sz="2200" dirty="0">
                <a:solidFill>
                  <a:srgbClr val="FF0000"/>
                </a:solidFill>
              </a:rPr>
              <a:t>not inertial</a:t>
            </a:r>
            <a:r>
              <a:rPr lang="en-US" sz="2200" dirty="0">
                <a:solidFill>
                  <a:srgbClr val="000066"/>
                </a:solidFill>
              </a:rPr>
              <a:t>. This includes rotating reference frames</a:t>
            </a:r>
            <a:r>
              <a:rPr lang="en-US" dirty="0">
                <a:solidFill>
                  <a:srgbClr val="FF0000"/>
                </a:solidFill>
              </a:rPr>
              <a:t> (centripetal acceleration!).</a:t>
            </a:r>
            <a:r>
              <a:rPr lang="en-US" sz="2200" dirty="0">
                <a:solidFill>
                  <a:srgbClr val="000066"/>
                </a:solidFill>
              </a:rPr>
              <a:t> </a:t>
            </a:r>
          </a:p>
          <a:p>
            <a:pPr marL="342900" indent="-342900">
              <a:buFont typeface="Arial" panose="020B0604020202020204" pitchFamily="34" charset="0"/>
              <a:buChar char="•"/>
            </a:pPr>
            <a:endParaRPr lang="en-US" sz="2200" dirty="0">
              <a:solidFill>
                <a:srgbClr val="000066"/>
              </a:solidFill>
            </a:endParaRPr>
          </a:p>
        </p:txBody>
      </p:sp>
      <p:pic>
        <p:nvPicPr>
          <p:cNvPr id="1026" name="Picture 2">
            <a:extLst>
              <a:ext uri="{FF2B5EF4-FFF2-40B4-BE49-F238E27FC236}">
                <a16:creationId xmlns:a16="http://schemas.microsoft.com/office/drawing/2014/main" id="{7530A81B-5F44-924E-A8C0-3334ED1D69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7193" y="6979"/>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0DDE45F-E48A-774B-B77E-B50EE196F3B7}"/>
              </a:ext>
            </a:extLst>
          </p:cNvPr>
          <p:cNvSpPr/>
          <p:nvPr/>
        </p:nvSpPr>
        <p:spPr>
          <a:xfrm>
            <a:off x="7689107" y="1305472"/>
            <a:ext cx="1672253" cy="215444"/>
          </a:xfrm>
          <a:prstGeom prst="rect">
            <a:avLst/>
          </a:prstGeom>
        </p:spPr>
        <p:txBody>
          <a:bodyPr wrap="none">
            <a:spAutoFit/>
          </a:bodyPr>
          <a:lstStyle/>
          <a:p>
            <a:r>
              <a:rPr lang="en-US" sz="800" dirty="0"/>
              <a:t>https://</a:t>
            </a:r>
            <a:r>
              <a:rPr lang="en-US" sz="800" dirty="0" err="1"/>
              <a:t>en.wikipedia.org</a:t>
            </a:r>
            <a:r>
              <a:rPr lang="en-US" sz="800" dirty="0"/>
              <a:t>/wiki/Mass</a:t>
            </a:r>
          </a:p>
        </p:txBody>
      </p:sp>
      <p:pic>
        <p:nvPicPr>
          <p:cNvPr id="1030" name="Picture 6">
            <a:extLst>
              <a:ext uri="{FF2B5EF4-FFF2-40B4-BE49-F238E27FC236}">
                <a16:creationId xmlns:a16="http://schemas.microsoft.com/office/drawing/2014/main" id="{D343605F-2FF5-F940-B396-49509B687C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6009" y="1574944"/>
            <a:ext cx="2398447" cy="6858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C6933CF-94FD-514E-AB41-66C49146D915}"/>
              </a:ext>
            </a:extLst>
          </p:cNvPr>
          <p:cNvSpPr/>
          <p:nvPr/>
        </p:nvSpPr>
        <p:spPr>
          <a:xfrm>
            <a:off x="7482012" y="2088519"/>
            <a:ext cx="1754006" cy="215444"/>
          </a:xfrm>
          <a:prstGeom prst="rect">
            <a:avLst/>
          </a:prstGeom>
        </p:spPr>
        <p:txBody>
          <a:bodyPr wrap="none">
            <a:spAutoFit/>
          </a:bodyPr>
          <a:lstStyle/>
          <a:p>
            <a:r>
              <a:rPr lang="en-US" sz="800" dirty="0"/>
              <a:t>https://</a:t>
            </a:r>
            <a:r>
              <a:rPr lang="en-US" sz="800" dirty="0" err="1"/>
              <a:t>en.wikipedia.org</a:t>
            </a:r>
            <a:r>
              <a:rPr lang="en-US" sz="800" dirty="0"/>
              <a:t>/wiki/Gravity</a:t>
            </a:r>
          </a:p>
        </p:txBody>
      </p:sp>
      <p:pic>
        <p:nvPicPr>
          <p:cNvPr id="1032" name="Picture 8">
            <a:extLst>
              <a:ext uri="{FF2B5EF4-FFF2-40B4-BE49-F238E27FC236}">
                <a16:creationId xmlns:a16="http://schemas.microsoft.com/office/drawing/2014/main" id="{85BBB40B-4115-1C41-A5F5-3ADD03B9FF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3440" y="4279754"/>
            <a:ext cx="2273036" cy="25146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13ABD0B-4248-AB4B-BE27-E96488579130}"/>
              </a:ext>
            </a:extLst>
          </p:cNvPr>
          <p:cNvSpPr/>
          <p:nvPr/>
        </p:nvSpPr>
        <p:spPr>
          <a:xfrm>
            <a:off x="7689107" y="6553512"/>
            <a:ext cx="2648482" cy="215444"/>
          </a:xfrm>
          <a:prstGeom prst="rect">
            <a:avLst/>
          </a:prstGeom>
        </p:spPr>
        <p:txBody>
          <a:bodyPr wrap="none">
            <a:spAutoFit/>
          </a:bodyPr>
          <a:lstStyle/>
          <a:p>
            <a:r>
              <a:rPr lang="en-US" sz="800" dirty="0"/>
              <a:t>https://</a:t>
            </a:r>
            <a:r>
              <a:rPr lang="en-US" sz="800" dirty="0" err="1"/>
              <a:t>en.wikipedia.org</a:t>
            </a:r>
            <a:r>
              <a:rPr lang="en-US" sz="800" dirty="0"/>
              <a:t>/wiki/</a:t>
            </a:r>
            <a:r>
              <a:rPr lang="en-US" sz="800" dirty="0" err="1"/>
              <a:t>Inertial_frame_of_reference</a:t>
            </a:r>
            <a:endParaRPr lang="en-US" sz="800" dirty="0"/>
          </a:p>
        </p:txBody>
      </p:sp>
      <p:sp>
        <p:nvSpPr>
          <p:cNvPr id="9" name="Rectangle 9">
            <a:extLst>
              <a:ext uri="{FF2B5EF4-FFF2-40B4-BE49-F238E27FC236}">
                <a16:creationId xmlns:a16="http://schemas.microsoft.com/office/drawing/2014/main" id="{B53E969F-134E-AF4D-8809-91E805823EFB}"/>
              </a:ext>
            </a:extLst>
          </p:cNvPr>
          <p:cNvSpPr>
            <a:spLocks noChangeArrowheads="1"/>
          </p:cNvSpPr>
          <p:nvPr/>
        </p:nvSpPr>
        <p:spPr bwMode="auto">
          <a:xfrm>
            <a:off x="8589956" y="4935691"/>
            <a:ext cx="365343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02122"/>
                </a:solidFill>
                <a:effectLst/>
                <a:latin typeface="Arial" panose="020B0604020202020204" pitchFamily="34" charset="0"/>
              </a:rPr>
              <a:t>Two inertial reference frames moving with relative velocity </a:t>
            </a:r>
            <a:r>
              <a:rPr kumimoji="0" lang="en-US" altLang="en-US" b="1" i="0" u="none" strike="noStrike" cap="none" normalizeH="0" baseline="0" dirty="0">
                <a:ln>
                  <a:noFill/>
                </a:ln>
                <a:solidFill>
                  <a:srgbClr val="202122"/>
                </a:solidFill>
                <a:effectLst/>
                <a:latin typeface="Arial" panose="020B0604020202020204" pitchFamily="34" charset="0"/>
              </a:rPr>
              <a:t>v</a:t>
            </a:r>
            <a:r>
              <a:rPr kumimoji="0" lang="en-US" altLang="en-US" b="0" i="0" u="none" strike="noStrike" cap="none" normalizeH="0" baseline="0" dirty="0">
                <a:ln>
                  <a:noFill/>
                </a:ln>
                <a:solidFill>
                  <a:srgbClr val="202122"/>
                </a:solidFill>
                <a:effectLst/>
                <a:latin typeface="Arial" panose="020B0604020202020204" pitchFamily="34" charset="0"/>
              </a:rPr>
              <a:t> with respect to each other.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0" name="AutoShape 10" descr="\stackrel{\vec v}{}">
            <a:extLst>
              <a:ext uri="{FF2B5EF4-FFF2-40B4-BE49-F238E27FC236}">
                <a16:creationId xmlns:a16="http://schemas.microsoft.com/office/drawing/2014/main" id="{70FC41E4-DB21-6948-A87C-99EB92F9B5FB}"/>
              </a:ext>
            </a:extLst>
          </p:cNvPr>
          <p:cNvSpPr>
            <a:spLocks noChangeAspect="1" noChangeArrowheads="1"/>
          </p:cNvSpPr>
          <p:nvPr/>
        </p:nvSpPr>
        <p:spPr bwMode="auto">
          <a:xfrm>
            <a:off x="10701867" y="5443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Placeholder 1" descr="Figure a shows a car at rest, with v equal to 0 and F net equal to 0. Figure b indicates that the car is in motion. Here, v is equal to 50 kilometers per hour and F net is unknown.">
            <a:extLst>
              <a:ext uri="{FF2B5EF4-FFF2-40B4-BE49-F238E27FC236}">
                <a16:creationId xmlns:a16="http://schemas.microsoft.com/office/drawing/2014/main" id="{C963C7A5-B461-224D-8557-0650DC5999E6}"/>
              </a:ext>
            </a:extLst>
          </p:cNvPr>
          <p:cNvPicPr>
            <a:picLocks noChangeAspect="1"/>
          </p:cNvPicPr>
          <p:nvPr/>
        </p:nvPicPr>
        <p:blipFill>
          <a:blip r:embed="rId6">
            <a:extLst>
              <a:ext uri="{28A0092B-C50C-407E-A947-70E740481C1C}">
                <a14:useLocalDpi xmlns:a14="http://schemas.microsoft.com/office/drawing/2010/main" val="0"/>
              </a:ext>
            </a:extLst>
          </a:blip>
          <a:srcRect t="-14351" b="-14351"/>
          <a:stretch>
            <a:fillRect/>
          </a:stretch>
        </p:blipFill>
        <p:spPr>
          <a:xfrm>
            <a:off x="994719" y="4257534"/>
            <a:ext cx="4212902" cy="1828800"/>
          </a:xfrm>
          <a:prstGeom prst="rect">
            <a:avLst/>
          </a:prstGeom>
        </p:spPr>
      </p:pic>
      <p:sp>
        <p:nvSpPr>
          <p:cNvPr id="11" name="Rectangle 10">
            <a:extLst>
              <a:ext uri="{FF2B5EF4-FFF2-40B4-BE49-F238E27FC236}">
                <a16:creationId xmlns:a16="http://schemas.microsoft.com/office/drawing/2014/main" id="{32DBB625-B53E-3C42-A2E3-34D10352346A}"/>
              </a:ext>
            </a:extLst>
          </p:cNvPr>
          <p:cNvSpPr/>
          <p:nvPr/>
        </p:nvSpPr>
        <p:spPr>
          <a:xfrm>
            <a:off x="318030" y="5859021"/>
            <a:ext cx="6007094" cy="584775"/>
          </a:xfrm>
          <a:prstGeom prst="rect">
            <a:avLst/>
          </a:prstGeom>
        </p:spPr>
        <p:txBody>
          <a:bodyPr wrap="none">
            <a:spAutoFit/>
          </a:bodyPr>
          <a:lstStyle/>
          <a:p>
            <a:pPr marL="342900" indent="-342900">
              <a:buAutoNum type="alphaLcParenR"/>
            </a:pPr>
            <a:r>
              <a:rPr lang="en-US" sz="1600" dirty="0">
                <a:latin typeface="LiberationSerif"/>
              </a:rPr>
              <a:t>all forces on the car must be balanced; the vector sum is 0 N</a:t>
            </a:r>
          </a:p>
          <a:p>
            <a:pPr marL="342900" indent="-342900">
              <a:buAutoNum type="alphaLcParenR"/>
            </a:pPr>
            <a:r>
              <a:rPr lang="en-US" sz="1600" dirty="0">
                <a:latin typeface="LiberationSerif"/>
              </a:rPr>
              <a:t>the net force must also be zero, car moves with constant velocity. </a:t>
            </a:r>
            <a:endParaRPr lang="en-US" sz="1600" dirty="0">
              <a:latin typeface="LiberationSans"/>
            </a:endParaRPr>
          </a:p>
        </p:txBody>
      </p:sp>
    </p:spTree>
    <p:extLst>
      <p:ext uri="{BB962C8B-B14F-4D97-AF65-F5344CB8AC3E}">
        <p14:creationId xmlns:p14="http://schemas.microsoft.com/office/powerpoint/2010/main" val="42822561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Newton's Second Law </a:t>
            </a:r>
          </a:p>
        </p:txBody>
      </p:sp>
      <p:sp>
        <p:nvSpPr>
          <p:cNvPr id="2" name="Rectangle 1">
            <a:extLst>
              <a:ext uri="{FF2B5EF4-FFF2-40B4-BE49-F238E27FC236}">
                <a16:creationId xmlns:a16="http://schemas.microsoft.com/office/drawing/2014/main" id="{C6079308-D883-6448-9ED8-CCBF22BC90C5}"/>
              </a:ext>
            </a:extLst>
          </p:cNvPr>
          <p:cNvSpPr/>
          <p:nvPr/>
        </p:nvSpPr>
        <p:spPr>
          <a:xfrm>
            <a:off x="440415" y="802276"/>
            <a:ext cx="10634134" cy="3816429"/>
          </a:xfrm>
          <a:prstGeom prst="rect">
            <a:avLst/>
          </a:prstGeom>
        </p:spPr>
        <p:txBody>
          <a:bodyPr wrap="square">
            <a:spAutoFit/>
          </a:bodyPr>
          <a:lstStyle/>
          <a:p>
            <a:r>
              <a:rPr lang="en-US" sz="2200" dirty="0">
                <a:solidFill>
                  <a:srgbClr val="000066"/>
                </a:solidFill>
                <a:latin typeface="LiberationSerif"/>
              </a:rPr>
              <a:t>The acceleration of a system is directly proportional to the net external force acting on the system and is inversely proportional to its mass. </a:t>
            </a:r>
          </a:p>
          <a:p>
            <a:endParaRPr lang="en-US" sz="2200" dirty="0">
              <a:solidFill>
                <a:srgbClr val="000066"/>
              </a:solidFill>
              <a:latin typeface="LiberationSerif"/>
            </a:endParaRPr>
          </a:p>
          <a:p>
            <a:endParaRPr lang="en-US" sz="2200" dirty="0">
              <a:solidFill>
                <a:srgbClr val="000066"/>
              </a:solidFill>
              <a:latin typeface="LiberationSerif"/>
            </a:endParaRPr>
          </a:p>
          <a:p>
            <a:endParaRPr lang="en-US" sz="2200" dirty="0">
              <a:solidFill>
                <a:srgbClr val="000066"/>
              </a:solidFill>
              <a:latin typeface="LiberationSerif"/>
            </a:endParaRPr>
          </a:p>
          <a:p>
            <a:r>
              <a:rPr lang="en-US" sz="2200" dirty="0">
                <a:solidFill>
                  <a:srgbClr val="000066"/>
                </a:solidFill>
                <a:effectLst/>
                <a:latin typeface="LiberationSerif"/>
              </a:rPr>
              <a:t>Acceleration is </a:t>
            </a:r>
            <a:r>
              <a:rPr lang="en-US" sz="2200" dirty="0">
                <a:solidFill>
                  <a:srgbClr val="000066"/>
                </a:solidFill>
                <a:latin typeface="LiberationSerif"/>
              </a:rPr>
              <a:t>in the same direction as the net external force. We can also write</a:t>
            </a:r>
          </a:p>
          <a:p>
            <a:endParaRPr lang="en-US" sz="2200" dirty="0">
              <a:solidFill>
                <a:srgbClr val="000066"/>
              </a:solidFill>
              <a:effectLst/>
              <a:latin typeface="LiberationSerif"/>
            </a:endParaRPr>
          </a:p>
          <a:p>
            <a:endParaRPr lang="en-US" sz="2200" dirty="0">
              <a:solidFill>
                <a:srgbClr val="000066"/>
              </a:solidFill>
              <a:latin typeface="LiberationSerif"/>
            </a:endParaRPr>
          </a:p>
          <a:p>
            <a:endParaRPr lang="en-US" sz="2200" dirty="0">
              <a:solidFill>
                <a:srgbClr val="000066"/>
              </a:solidFill>
              <a:effectLst/>
              <a:latin typeface="LiberationSerif"/>
            </a:endParaRPr>
          </a:p>
          <a:p>
            <a:r>
              <a:rPr lang="en-US" sz="2200" dirty="0">
                <a:solidFill>
                  <a:srgbClr val="000066"/>
                </a:solidFill>
                <a:effectLst/>
                <a:latin typeface="LiberationSerif"/>
              </a:rPr>
              <a:t>or, if </a:t>
            </a:r>
            <a:r>
              <a:rPr lang="en-US" sz="2200" dirty="0">
                <a:solidFill>
                  <a:srgbClr val="000066"/>
                </a:solidFill>
                <a:latin typeface="LiberationSerif"/>
              </a:rPr>
              <a:t>only the magnitude of force and acceleration are considered,</a:t>
            </a:r>
          </a:p>
          <a:p>
            <a:endParaRPr lang="en-US" sz="2200" dirty="0">
              <a:solidFill>
                <a:srgbClr val="000066"/>
              </a:solidFill>
              <a:effectLst/>
            </a:endParaRPr>
          </a:p>
        </p:txBody>
      </p:sp>
      <p:pic>
        <p:nvPicPr>
          <p:cNvPr id="4" name="Picture 3" descr="Diagram&#10;&#10;Description automatically generated with medium confidence">
            <a:extLst>
              <a:ext uri="{FF2B5EF4-FFF2-40B4-BE49-F238E27FC236}">
                <a16:creationId xmlns:a16="http://schemas.microsoft.com/office/drawing/2014/main" id="{63736C96-CD96-5045-AACC-51323BC1C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0015" y="1528233"/>
            <a:ext cx="1794933" cy="914400"/>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556BE1C9-2B50-4241-9F46-750A9DA380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8700" y="2968267"/>
            <a:ext cx="2951922" cy="685800"/>
          </a:xfrm>
          <a:prstGeom prst="rect">
            <a:avLst/>
          </a:prstGeom>
        </p:spPr>
      </p:pic>
      <p:pic>
        <p:nvPicPr>
          <p:cNvPr id="10" name="Picture 9" descr="Text&#10;&#10;Description automatically generated">
            <a:extLst>
              <a:ext uri="{FF2B5EF4-FFF2-40B4-BE49-F238E27FC236}">
                <a16:creationId xmlns:a16="http://schemas.microsoft.com/office/drawing/2014/main" id="{0441C250-C9B2-E744-B330-9569B06721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39751" y="3690103"/>
            <a:ext cx="1708785" cy="594360"/>
          </a:xfrm>
          <a:prstGeom prst="rect">
            <a:avLst/>
          </a:prstGeom>
        </p:spPr>
      </p:pic>
      <p:pic>
        <p:nvPicPr>
          <p:cNvPr id="7" name="Picture 6" descr="A picture containing transport, car&#10;&#10;Description automatically generated">
            <a:extLst>
              <a:ext uri="{FF2B5EF4-FFF2-40B4-BE49-F238E27FC236}">
                <a16:creationId xmlns:a16="http://schemas.microsoft.com/office/drawing/2014/main" id="{323BEAC7-7B7D-B842-AC62-A5CC7956E3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07513" y="1290912"/>
            <a:ext cx="4544072" cy="1188720"/>
          </a:xfrm>
          <a:prstGeom prst="rect">
            <a:avLst/>
          </a:prstGeom>
        </p:spPr>
      </p:pic>
      <p:sp>
        <p:nvSpPr>
          <p:cNvPr id="11" name="Rectangle 10">
            <a:extLst>
              <a:ext uri="{FF2B5EF4-FFF2-40B4-BE49-F238E27FC236}">
                <a16:creationId xmlns:a16="http://schemas.microsoft.com/office/drawing/2014/main" id="{DEF292B0-DF2B-3D47-B433-617B7F2ECF14}"/>
              </a:ext>
            </a:extLst>
          </p:cNvPr>
          <p:cNvSpPr/>
          <p:nvPr/>
        </p:nvSpPr>
        <p:spPr>
          <a:xfrm>
            <a:off x="396169" y="4284463"/>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12" name="Picture 11" descr="Diagram&#10;&#10;Description automatically generated">
            <a:extLst>
              <a:ext uri="{FF2B5EF4-FFF2-40B4-BE49-F238E27FC236}">
                <a16:creationId xmlns:a16="http://schemas.microsoft.com/office/drawing/2014/main" id="{8F0F3E81-6B43-8545-9E03-A73E2A3D8FA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50751" y="4391250"/>
            <a:ext cx="3789000" cy="2286000"/>
          </a:xfrm>
          <a:prstGeom prst="rect">
            <a:avLst/>
          </a:prstGeom>
        </p:spPr>
      </p:pic>
      <p:sp>
        <p:nvSpPr>
          <p:cNvPr id="13" name="Rectangle 12">
            <a:extLst>
              <a:ext uri="{FF2B5EF4-FFF2-40B4-BE49-F238E27FC236}">
                <a16:creationId xmlns:a16="http://schemas.microsoft.com/office/drawing/2014/main" id="{DA323529-A0F5-F241-98B8-0949D9DE1D6F}"/>
              </a:ext>
            </a:extLst>
          </p:cNvPr>
          <p:cNvSpPr/>
          <p:nvPr/>
        </p:nvSpPr>
        <p:spPr>
          <a:xfrm>
            <a:off x="396169" y="4618705"/>
            <a:ext cx="3954606" cy="1631216"/>
          </a:xfrm>
          <a:prstGeom prst="rect">
            <a:avLst/>
          </a:prstGeom>
        </p:spPr>
        <p:txBody>
          <a:bodyPr wrap="square">
            <a:spAutoFit/>
          </a:bodyPr>
          <a:lstStyle/>
          <a:p>
            <a:r>
              <a:rPr lang="en-US" sz="2000" dirty="0">
                <a:latin typeface="LiberationSerif"/>
              </a:rPr>
              <a:t>Suppose that the net external force (push minus friction) exerted on a lawn mower is 51 N parallel to the ground. The mass of the mower is 24 kg. What is its acceleration? </a:t>
            </a:r>
            <a:endParaRPr lang="en-US" sz="2000" dirty="0"/>
          </a:p>
        </p:txBody>
      </p:sp>
      <p:pic>
        <p:nvPicPr>
          <p:cNvPr id="15" name="Picture 14" descr="Text&#10;&#10;Description automatically generated">
            <a:extLst>
              <a:ext uri="{FF2B5EF4-FFF2-40B4-BE49-F238E27FC236}">
                <a16:creationId xmlns:a16="http://schemas.microsoft.com/office/drawing/2014/main" id="{11CE4C60-D36B-4F45-AB09-6B9F10609D6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79793" y="5191308"/>
            <a:ext cx="1069848" cy="594360"/>
          </a:xfrm>
          <a:prstGeom prst="rect">
            <a:avLst/>
          </a:prstGeom>
        </p:spPr>
      </p:pic>
      <p:pic>
        <p:nvPicPr>
          <p:cNvPr id="17" name="Picture 16" descr="Text&#10;&#10;Description automatically generated">
            <a:extLst>
              <a:ext uri="{FF2B5EF4-FFF2-40B4-BE49-F238E27FC236}">
                <a16:creationId xmlns:a16="http://schemas.microsoft.com/office/drawing/2014/main" id="{6235F31D-8B6F-8F40-BD5E-8841F1CB7AE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424081" y="5193356"/>
            <a:ext cx="2451100" cy="596900"/>
          </a:xfrm>
          <a:prstGeom prst="rect">
            <a:avLst/>
          </a:prstGeom>
        </p:spPr>
      </p:pic>
      <p:pic>
        <p:nvPicPr>
          <p:cNvPr id="18" name="Picture 17" descr="Text&#10;&#10;Description automatically generated">
            <a:extLst>
              <a:ext uri="{FF2B5EF4-FFF2-40B4-BE49-F238E27FC236}">
                <a16:creationId xmlns:a16="http://schemas.microsoft.com/office/drawing/2014/main" id="{011D5F5B-1656-3C47-8447-786B0ED653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81748" y="4637584"/>
            <a:ext cx="1051560" cy="365760"/>
          </a:xfrm>
          <a:prstGeom prst="rect">
            <a:avLst/>
          </a:prstGeom>
        </p:spPr>
      </p:pic>
      <p:cxnSp>
        <p:nvCxnSpPr>
          <p:cNvPr id="20" name="Straight Arrow Connector 19">
            <a:extLst>
              <a:ext uri="{FF2B5EF4-FFF2-40B4-BE49-F238E27FC236}">
                <a16:creationId xmlns:a16="http://schemas.microsoft.com/office/drawing/2014/main" id="{54824930-791B-B94E-BD42-6FBE1C7B413E}"/>
              </a:ext>
            </a:extLst>
          </p:cNvPr>
          <p:cNvCxnSpPr>
            <a:cxnSpLocks/>
          </p:cNvCxnSpPr>
          <p:nvPr/>
        </p:nvCxnSpPr>
        <p:spPr>
          <a:xfrm flipV="1">
            <a:off x="9281748" y="4910880"/>
            <a:ext cx="142333" cy="339420"/>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CAC2306-8988-AC4C-A6D8-46A9AE4ED6F2}"/>
              </a:ext>
            </a:extLst>
          </p:cNvPr>
          <p:cNvCxnSpPr>
            <a:cxnSpLocks/>
          </p:cNvCxnSpPr>
          <p:nvPr/>
        </p:nvCxnSpPr>
        <p:spPr>
          <a:xfrm flipH="1" flipV="1">
            <a:off x="9999406" y="4912868"/>
            <a:ext cx="106456" cy="404321"/>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5DF504F-6DAB-FE48-93D3-18FA9AC89CDE}"/>
              </a:ext>
            </a:extLst>
          </p:cNvPr>
          <p:cNvCxnSpPr>
            <a:cxnSpLocks/>
          </p:cNvCxnSpPr>
          <p:nvPr/>
        </p:nvCxnSpPr>
        <p:spPr>
          <a:xfrm flipH="1" flipV="1">
            <a:off x="10166357" y="4910880"/>
            <a:ext cx="280674" cy="371871"/>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712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Newton's Second Law </a:t>
            </a:r>
          </a:p>
        </p:txBody>
      </p:sp>
      <p:sp>
        <p:nvSpPr>
          <p:cNvPr id="2" name="Rectangle 1">
            <a:extLst>
              <a:ext uri="{FF2B5EF4-FFF2-40B4-BE49-F238E27FC236}">
                <a16:creationId xmlns:a16="http://schemas.microsoft.com/office/drawing/2014/main" id="{C6079308-D883-6448-9ED8-CCBF22BC90C5}"/>
              </a:ext>
            </a:extLst>
          </p:cNvPr>
          <p:cNvSpPr/>
          <p:nvPr/>
        </p:nvSpPr>
        <p:spPr>
          <a:xfrm>
            <a:off x="440415" y="802276"/>
            <a:ext cx="10634134" cy="3816429"/>
          </a:xfrm>
          <a:prstGeom prst="rect">
            <a:avLst/>
          </a:prstGeom>
        </p:spPr>
        <p:txBody>
          <a:bodyPr wrap="square">
            <a:spAutoFit/>
          </a:bodyPr>
          <a:lstStyle/>
          <a:p>
            <a:r>
              <a:rPr lang="en-US" sz="2200" dirty="0">
                <a:solidFill>
                  <a:srgbClr val="000066"/>
                </a:solidFill>
                <a:latin typeface="LiberationSerif"/>
              </a:rPr>
              <a:t>The acceleration of a system is directly proportional to the net external force acting on the system and is inversely proportional to its mass. </a:t>
            </a:r>
          </a:p>
          <a:p>
            <a:endParaRPr lang="en-US" sz="2200" dirty="0">
              <a:solidFill>
                <a:srgbClr val="000066"/>
              </a:solidFill>
              <a:latin typeface="LiberationSerif"/>
            </a:endParaRPr>
          </a:p>
          <a:p>
            <a:endParaRPr lang="en-US" sz="2200" dirty="0">
              <a:solidFill>
                <a:srgbClr val="000066"/>
              </a:solidFill>
              <a:latin typeface="LiberationSerif"/>
            </a:endParaRPr>
          </a:p>
          <a:p>
            <a:endParaRPr lang="en-US" sz="2200" dirty="0">
              <a:solidFill>
                <a:srgbClr val="000066"/>
              </a:solidFill>
              <a:latin typeface="LiberationSerif"/>
            </a:endParaRPr>
          </a:p>
          <a:p>
            <a:r>
              <a:rPr lang="en-US" sz="2200" dirty="0">
                <a:solidFill>
                  <a:srgbClr val="000066"/>
                </a:solidFill>
                <a:effectLst/>
                <a:latin typeface="LiberationSerif"/>
              </a:rPr>
              <a:t>Acceleration is </a:t>
            </a:r>
            <a:r>
              <a:rPr lang="en-US" sz="2200" dirty="0">
                <a:solidFill>
                  <a:srgbClr val="000066"/>
                </a:solidFill>
                <a:latin typeface="LiberationSerif"/>
              </a:rPr>
              <a:t>in the same direction as the net external force. We can also write</a:t>
            </a:r>
          </a:p>
          <a:p>
            <a:endParaRPr lang="en-US" sz="2200" dirty="0">
              <a:solidFill>
                <a:srgbClr val="000066"/>
              </a:solidFill>
              <a:effectLst/>
              <a:latin typeface="LiberationSerif"/>
            </a:endParaRPr>
          </a:p>
          <a:p>
            <a:endParaRPr lang="en-US" sz="2200" dirty="0">
              <a:solidFill>
                <a:srgbClr val="000066"/>
              </a:solidFill>
              <a:latin typeface="LiberationSerif"/>
            </a:endParaRPr>
          </a:p>
          <a:p>
            <a:endParaRPr lang="en-US" sz="2200" dirty="0">
              <a:solidFill>
                <a:srgbClr val="000066"/>
              </a:solidFill>
              <a:effectLst/>
              <a:latin typeface="LiberationSerif"/>
            </a:endParaRPr>
          </a:p>
          <a:p>
            <a:r>
              <a:rPr lang="en-US" sz="2200" dirty="0">
                <a:solidFill>
                  <a:srgbClr val="000066"/>
                </a:solidFill>
                <a:effectLst/>
                <a:latin typeface="LiberationSerif"/>
              </a:rPr>
              <a:t>or, if </a:t>
            </a:r>
            <a:r>
              <a:rPr lang="en-US" sz="2200" dirty="0">
                <a:solidFill>
                  <a:srgbClr val="000066"/>
                </a:solidFill>
                <a:latin typeface="LiberationSerif"/>
              </a:rPr>
              <a:t>only the magnitude of force and acceleration are considered,</a:t>
            </a:r>
          </a:p>
          <a:p>
            <a:endParaRPr lang="en-US" sz="2200" dirty="0">
              <a:solidFill>
                <a:srgbClr val="000066"/>
              </a:solidFill>
              <a:effectLst/>
            </a:endParaRPr>
          </a:p>
        </p:txBody>
      </p:sp>
      <p:pic>
        <p:nvPicPr>
          <p:cNvPr id="4" name="Picture 3" descr="Diagram&#10;&#10;Description automatically generated with medium confidence">
            <a:extLst>
              <a:ext uri="{FF2B5EF4-FFF2-40B4-BE49-F238E27FC236}">
                <a16:creationId xmlns:a16="http://schemas.microsoft.com/office/drawing/2014/main" id="{63736C96-CD96-5045-AACC-51323BC1C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0015" y="1528233"/>
            <a:ext cx="1794933" cy="914400"/>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556BE1C9-2B50-4241-9F46-750A9DA380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8700" y="2968267"/>
            <a:ext cx="2951922" cy="685800"/>
          </a:xfrm>
          <a:prstGeom prst="rect">
            <a:avLst/>
          </a:prstGeom>
        </p:spPr>
      </p:pic>
      <p:pic>
        <p:nvPicPr>
          <p:cNvPr id="10" name="Picture 9" descr="Text&#10;&#10;Description automatically generated">
            <a:extLst>
              <a:ext uri="{FF2B5EF4-FFF2-40B4-BE49-F238E27FC236}">
                <a16:creationId xmlns:a16="http://schemas.microsoft.com/office/drawing/2014/main" id="{0441C250-C9B2-E744-B330-9569B06721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39751" y="3690103"/>
            <a:ext cx="1708785" cy="594360"/>
          </a:xfrm>
          <a:prstGeom prst="rect">
            <a:avLst/>
          </a:prstGeom>
        </p:spPr>
      </p:pic>
      <p:pic>
        <p:nvPicPr>
          <p:cNvPr id="7" name="Picture 6" descr="A picture containing transport, car&#10;&#10;Description automatically generated">
            <a:extLst>
              <a:ext uri="{FF2B5EF4-FFF2-40B4-BE49-F238E27FC236}">
                <a16:creationId xmlns:a16="http://schemas.microsoft.com/office/drawing/2014/main" id="{323BEAC7-7B7D-B842-AC62-A5CC7956E3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07513" y="1290912"/>
            <a:ext cx="4544072" cy="1188720"/>
          </a:xfrm>
          <a:prstGeom prst="rect">
            <a:avLst/>
          </a:prstGeom>
        </p:spPr>
      </p:pic>
      <p:sp>
        <p:nvSpPr>
          <p:cNvPr id="19" name="Rectangle 18">
            <a:extLst>
              <a:ext uri="{FF2B5EF4-FFF2-40B4-BE49-F238E27FC236}">
                <a16:creationId xmlns:a16="http://schemas.microsoft.com/office/drawing/2014/main" id="{3F4B8E48-EF04-4743-853F-5529A2AA61CF}"/>
              </a:ext>
            </a:extLst>
          </p:cNvPr>
          <p:cNvSpPr/>
          <p:nvPr/>
        </p:nvSpPr>
        <p:spPr>
          <a:xfrm>
            <a:off x="561595" y="4454693"/>
            <a:ext cx="5195886" cy="430887"/>
          </a:xfrm>
          <a:prstGeom prst="rect">
            <a:avLst/>
          </a:prstGeom>
        </p:spPr>
        <p:txBody>
          <a:bodyPr wrap="square">
            <a:spAutoFit/>
          </a:bodyPr>
          <a:lstStyle/>
          <a:p>
            <a:r>
              <a:rPr lang="en-US" sz="2200" dirty="0">
                <a:solidFill>
                  <a:srgbClr val="0000CC"/>
                </a:solidFill>
              </a:rPr>
              <a:t>Assignment 1</a:t>
            </a:r>
          </a:p>
        </p:txBody>
      </p:sp>
      <p:sp>
        <p:nvSpPr>
          <p:cNvPr id="3" name="Rectangle 2">
            <a:extLst>
              <a:ext uri="{FF2B5EF4-FFF2-40B4-BE49-F238E27FC236}">
                <a16:creationId xmlns:a16="http://schemas.microsoft.com/office/drawing/2014/main" id="{AC772291-DC41-384D-8586-5A5451392280}"/>
              </a:ext>
            </a:extLst>
          </p:cNvPr>
          <p:cNvSpPr/>
          <p:nvPr/>
        </p:nvSpPr>
        <p:spPr>
          <a:xfrm>
            <a:off x="561595" y="4830450"/>
            <a:ext cx="11505779" cy="1631216"/>
          </a:xfrm>
          <a:prstGeom prst="rect">
            <a:avLst/>
          </a:prstGeom>
        </p:spPr>
        <p:txBody>
          <a:bodyPr wrap="square">
            <a:spAutoFit/>
          </a:bodyPr>
          <a:lstStyle/>
          <a:p>
            <a:r>
              <a:rPr lang="en-US" sz="2000" dirty="0">
                <a:latin typeface="LiberationSerif"/>
              </a:rPr>
              <a:t>Astronauts in orbit are apparently weightless. This means that a clever method of measuring the mass of astronauts is needed to monitor their mass gains or losses and adjust their diet. </a:t>
            </a:r>
            <a:r>
              <a:rPr lang="en-US" sz="2000" dirty="0">
                <a:solidFill>
                  <a:srgbClr val="C00000"/>
                </a:solidFill>
                <a:latin typeface="LiberationSerif"/>
                <a:hlinkClick r:id="rId7">
                  <a:extLst>
                    <a:ext uri="{A12FA001-AC4F-418D-AE19-62706E023703}">
                      <ahyp:hlinkClr xmlns:ahyp="http://schemas.microsoft.com/office/drawing/2018/hyperlinkcolor" val="tx"/>
                    </a:ext>
                  </a:extLst>
                </a:hlinkClick>
              </a:rPr>
              <a:t>One way to do this is to exert a known force on an astronaut and measure the acceleration produced. </a:t>
            </a:r>
            <a:endParaRPr lang="en-US" sz="2000" dirty="0">
              <a:solidFill>
                <a:srgbClr val="C00000"/>
              </a:solidFill>
              <a:latin typeface="LiberationSerif"/>
            </a:endParaRPr>
          </a:p>
          <a:p>
            <a:r>
              <a:rPr lang="en-US" sz="2000" dirty="0">
                <a:solidFill>
                  <a:srgbClr val="000066"/>
                </a:solidFill>
                <a:latin typeface="LiberationSerif"/>
              </a:rPr>
              <a:t>Suppose a net external force of 50.0 N is exerted, and an astronaut’s acceleration is measured to be </a:t>
            </a:r>
            <a:endParaRPr lang="en-US" sz="2000" dirty="0">
              <a:solidFill>
                <a:srgbClr val="000066"/>
              </a:solidFill>
            </a:endParaRPr>
          </a:p>
          <a:p>
            <a:r>
              <a:rPr lang="en-US" sz="2000" dirty="0">
                <a:solidFill>
                  <a:srgbClr val="000066"/>
                </a:solidFill>
                <a:latin typeface="STIXGeneral" pitchFamily="2" charset="2"/>
              </a:rPr>
              <a:t>0.893 m/s</a:t>
            </a:r>
            <a:r>
              <a:rPr lang="en-US" sz="2000" baseline="30000" dirty="0">
                <a:solidFill>
                  <a:srgbClr val="000066"/>
                </a:solidFill>
                <a:latin typeface="STIXGeneral" pitchFamily="2" charset="2"/>
              </a:rPr>
              <a:t>2</a:t>
            </a:r>
            <a:r>
              <a:rPr lang="en-US" sz="2000" dirty="0">
                <a:solidFill>
                  <a:srgbClr val="000066"/>
                </a:solidFill>
                <a:latin typeface="STIXGeneral" pitchFamily="2" charset="2"/>
              </a:rPr>
              <a:t>.</a:t>
            </a:r>
            <a:r>
              <a:rPr lang="en-US" sz="2000" dirty="0">
                <a:solidFill>
                  <a:srgbClr val="000066"/>
                </a:solidFill>
                <a:latin typeface="LiberationSerif"/>
              </a:rPr>
              <a:t> Calculate her mass. </a:t>
            </a:r>
            <a:endParaRPr lang="en-US" sz="2000" dirty="0">
              <a:solidFill>
                <a:srgbClr val="000066"/>
              </a:solidFill>
            </a:endParaRPr>
          </a:p>
        </p:txBody>
      </p:sp>
    </p:spTree>
    <p:extLst>
      <p:ext uri="{BB962C8B-B14F-4D97-AF65-F5344CB8AC3E}">
        <p14:creationId xmlns:p14="http://schemas.microsoft.com/office/powerpoint/2010/main" val="14881592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Newton's Second Law </a:t>
            </a:r>
          </a:p>
        </p:txBody>
      </p:sp>
      <p:sp>
        <p:nvSpPr>
          <p:cNvPr id="2" name="Rectangle 1">
            <a:extLst>
              <a:ext uri="{FF2B5EF4-FFF2-40B4-BE49-F238E27FC236}">
                <a16:creationId xmlns:a16="http://schemas.microsoft.com/office/drawing/2014/main" id="{D214062D-ADEB-2D44-8B3F-D483BDA855F9}"/>
              </a:ext>
            </a:extLst>
          </p:cNvPr>
          <p:cNvSpPr/>
          <p:nvPr/>
        </p:nvSpPr>
        <p:spPr>
          <a:xfrm>
            <a:off x="560438" y="612264"/>
            <a:ext cx="10235381" cy="1015663"/>
          </a:xfrm>
          <a:prstGeom prst="rect">
            <a:avLst/>
          </a:prstGeom>
        </p:spPr>
        <p:txBody>
          <a:bodyPr wrap="square">
            <a:spAutoFit/>
          </a:bodyPr>
          <a:lstStyle/>
          <a:p>
            <a:r>
              <a:rPr lang="en-US" sz="2000" dirty="0">
                <a:solidFill>
                  <a:srgbClr val="000066"/>
                </a:solidFill>
                <a:latin typeface="LiberationSerif"/>
              </a:rPr>
              <a:t>Before manned space flights, rocket sleds were used to test aircraft, missile equipment, and physiological effects on human subjects at high speeds. They consisted of a platform that was mounted on one or two rails and propelled by several rockets. </a:t>
            </a:r>
            <a:endParaRPr lang="en-US" sz="2000" dirty="0">
              <a:solidFill>
                <a:srgbClr val="000066"/>
              </a:solidFill>
            </a:endParaRPr>
          </a:p>
        </p:txBody>
      </p:sp>
      <p:sp>
        <p:nvSpPr>
          <p:cNvPr id="3" name="Rectangle 2">
            <a:extLst>
              <a:ext uri="{FF2B5EF4-FFF2-40B4-BE49-F238E27FC236}">
                <a16:creationId xmlns:a16="http://schemas.microsoft.com/office/drawing/2014/main" id="{23396357-9F7A-9C42-B54D-AA4DB98A9C4C}"/>
              </a:ext>
            </a:extLst>
          </p:cNvPr>
          <p:cNvSpPr/>
          <p:nvPr/>
        </p:nvSpPr>
        <p:spPr>
          <a:xfrm>
            <a:off x="506361" y="1661578"/>
            <a:ext cx="11179278" cy="1015663"/>
          </a:xfrm>
          <a:prstGeom prst="rect">
            <a:avLst/>
          </a:prstGeom>
        </p:spPr>
        <p:txBody>
          <a:bodyPr wrap="square">
            <a:spAutoFit/>
          </a:bodyPr>
          <a:lstStyle/>
          <a:p>
            <a:r>
              <a:rPr lang="en-US" sz="2000" dirty="0">
                <a:latin typeface="LiberationSerif"/>
              </a:rPr>
              <a:t>Calculate the magnitude of force exerted by each rocket, called its thrust </a:t>
            </a:r>
            <a:r>
              <a:rPr lang="en-US" sz="2000" i="1" dirty="0">
                <a:latin typeface="LiberationSerif"/>
              </a:rPr>
              <a:t>T</a:t>
            </a:r>
            <a:r>
              <a:rPr lang="en-US" sz="2000" dirty="0">
                <a:latin typeface="LiberationSerif"/>
              </a:rPr>
              <a:t>, for the four-rocket propulsion system shown in </a:t>
            </a:r>
            <a:r>
              <a:rPr lang="en-US" sz="2000" dirty="0">
                <a:latin typeface="LiberationSans"/>
              </a:rPr>
              <a:t>Figure</a:t>
            </a:r>
            <a:r>
              <a:rPr lang="en-US" sz="2000" dirty="0">
                <a:latin typeface="LiberationSerif"/>
              </a:rPr>
              <a:t>. The sled’s initial acceleration is </a:t>
            </a:r>
            <a:r>
              <a:rPr lang="en-US" sz="2000" dirty="0">
                <a:latin typeface="STIXGeneral" pitchFamily="2" charset="2"/>
              </a:rPr>
              <a:t>49 m/s</a:t>
            </a:r>
            <a:r>
              <a:rPr lang="en-US" sz="2000" baseline="30000" dirty="0">
                <a:latin typeface="STIXGeneral" pitchFamily="2" charset="2"/>
              </a:rPr>
              <a:t>2</a:t>
            </a:r>
            <a:r>
              <a:rPr lang="en-US" sz="2000" dirty="0">
                <a:latin typeface="STIXGeneral" pitchFamily="2" charset="2"/>
              </a:rPr>
              <a:t> </a:t>
            </a:r>
            <a:r>
              <a:rPr lang="en-US" sz="2000" dirty="0">
                <a:latin typeface="LiberationSerif"/>
              </a:rPr>
              <a:t>, the mass of the system is 2100 kg, and the force of friction opposing the motion is 650 N. </a:t>
            </a:r>
            <a:endParaRPr lang="en-US" sz="2000" dirty="0"/>
          </a:p>
        </p:txBody>
      </p:sp>
      <p:pic>
        <p:nvPicPr>
          <p:cNvPr id="7" name="Picture 6" descr="Diagram&#10;&#10;Description automatically generated">
            <a:extLst>
              <a:ext uri="{FF2B5EF4-FFF2-40B4-BE49-F238E27FC236}">
                <a16:creationId xmlns:a16="http://schemas.microsoft.com/office/drawing/2014/main" id="{719DB3C1-73A3-254D-A706-2CD6AE9BBA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376" y="2696144"/>
            <a:ext cx="4493679" cy="3886200"/>
          </a:xfrm>
          <a:prstGeom prst="rect">
            <a:avLst/>
          </a:prstGeom>
        </p:spPr>
      </p:pic>
      <p:pic>
        <p:nvPicPr>
          <p:cNvPr id="10" name="Picture 9" descr="Text&#10;&#10;Description automatically generated">
            <a:extLst>
              <a:ext uri="{FF2B5EF4-FFF2-40B4-BE49-F238E27FC236}">
                <a16:creationId xmlns:a16="http://schemas.microsoft.com/office/drawing/2014/main" id="{82253EC2-2112-DA40-841C-DE8D265C26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4388" y="3443748"/>
            <a:ext cx="2468880" cy="457200"/>
          </a:xfrm>
          <a:prstGeom prst="rect">
            <a:avLst/>
          </a:prstGeom>
        </p:spPr>
      </p:pic>
      <p:pic>
        <p:nvPicPr>
          <p:cNvPr id="12" name="Picture 11">
            <a:extLst>
              <a:ext uri="{FF2B5EF4-FFF2-40B4-BE49-F238E27FC236}">
                <a16:creationId xmlns:a16="http://schemas.microsoft.com/office/drawing/2014/main" id="{B7EAF987-D9BF-6F42-8813-18F3E6DF6C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60947" y="4327506"/>
            <a:ext cx="4698711" cy="502920"/>
          </a:xfrm>
          <a:prstGeom prst="rect">
            <a:avLst/>
          </a:prstGeom>
        </p:spPr>
      </p:pic>
      <p:pic>
        <p:nvPicPr>
          <p:cNvPr id="14" name="Picture 13" descr="Black text on a white background&#10;&#10;Description automatically generated with medium confidence">
            <a:extLst>
              <a:ext uri="{FF2B5EF4-FFF2-40B4-BE49-F238E27FC236}">
                <a16:creationId xmlns:a16="http://schemas.microsoft.com/office/drawing/2014/main" id="{8554A5EC-5420-5341-964B-69BC285F38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60947" y="4980522"/>
            <a:ext cx="2159598" cy="502920"/>
          </a:xfrm>
          <a:prstGeom prst="rect">
            <a:avLst/>
          </a:prstGeom>
        </p:spPr>
      </p:pic>
      <p:pic>
        <p:nvPicPr>
          <p:cNvPr id="16" name="Picture 15" descr="Text&#10;&#10;Description automatically generated">
            <a:extLst>
              <a:ext uri="{FF2B5EF4-FFF2-40B4-BE49-F238E27FC236}">
                <a16:creationId xmlns:a16="http://schemas.microsoft.com/office/drawing/2014/main" id="{693848CB-70C0-7F40-B62C-A212CE45FAC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60947" y="5633538"/>
            <a:ext cx="3374136" cy="685800"/>
          </a:xfrm>
          <a:prstGeom prst="rect">
            <a:avLst/>
          </a:prstGeom>
        </p:spPr>
      </p:pic>
      <p:sp>
        <p:nvSpPr>
          <p:cNvPr id="17" name="Rectangle 16">
            <a:extLst>
              <a:ext uri="{FF2B5EF4-FFF2-40B4-BE49-F238E27FC236}">
                <a16:creationId xmlns:a16="http://schemas.microsoft.com/office/drawing/2014/main" id="{5E7EDED1-CEE4-6E4C-8166-D62FAC562319}"/>
              </a:ext>
            </a:extLst>
          </p:cNvPr>
          <p:cNvSpPr/>
          <p:nvPr/>
        </p:nvSpPr>
        <p:spPr>
          <a:xfrm>
            <a:off x="560438" y="277571"/>
            <a:ext cx="1152623" cy="430887"/>
          </a:xfrm>
          <a:prstGeom prst="rect">
            <a:avLst/>
          </a:prstGeom>
        </p:spPr>
        <p:txBody>
          <a:bodyPr wrap="none">
            <a:spAutoFit/>
          </a:bodyPr>
          <a:lstStyle/>
          <a:p>
            <a:r>
              <a:rPr lang="en-US" sz="2200" dirty="0">
                <a:solidFill>
                  <a:srgbClr val="008000"/>
                </a:solidFill>
              </a:rPr>
              <a:t>Example</a:t>
            </a:r>
            <a:endParaRPr lang="en-US" sz="2200" dirty="0"/>
          </a:p>
        </p:txBody>
      </p:sp>
    </p:spTree>
    <p:extLst>
      <p:ext uri="{BB962C8B-B14F-4D97-AF65-F5344CB8AC3E}">
        <p14:creationId xmlns:p14="http://schemas.microsoft.com/office/powerpoint/2010/main" val="3949791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Newton's Second Law </a:t>
            </a:r>
          </a:p>
        </p:txBody>
      </p:sp>
      <p:sp>
        <p:nvSpPr>
          <p:cNvPr id="2" name="Rectangle 1">
            <a:extLst>
              <a:ext uri="{FF2B5EF4-FFF2-40B4-BE49-F238E27FC236}">
                <a16:creationId xmlns:a16="http://schemas.microsoft.com/office/drawing/2014/main" id="{D214062D-ADEB-2D44-8B3F-D483BDA855F9}"/>
              </a:ext>
            </a:extLst>
          </p:cNvPr>
          <p:cNvSpPr/>
          <p:nvPr/>
        </p:nvSpPr>
        <p:spPr>
          <a:xfrm>
            <a:off x="560438" y="612264"/>
            <a:ext cx="10235381" cy="1015663"/>
          </a:xfrm>
          <a:prstGeom prst="rect">
            <a:avLst/>
          </a:prstGeom>
        </p:spPr>
        <p:txBody>
          <a:bodyPr wrap="square">
            <a:spAutoFit/>
          </a:bodyPr>
          <a:lstStyle/>
          <a:p>
            <a:r>
              <a:rPr lang="en-US" sz="2000" dirty="0">
                <a:solidFill>
                  <a:srgbClr val="000066"/>
                </a:solidFill>
                <a:latin typeface="LiberationSerif"/>
              </a:rPr>
              <a:t>Before manned space flights, rocket sleds were used to test aircraft, missile equipment, and physiological effects on human subjects at high speeds. They consisted of a platform that was mounted on one or two rails and propelled by several rockets. </a:t>
            </a:r>
            <a:endParaRPr lang="en-US" sz="2000" dirty="0">
              <a:solidFill>
                <a:srgbClr val="000066"/>
              </a:solidFill>
            </a:endParaRPr>
          </a:p>
        </p:txBody>
      </p:sp>
      <p:pic>
        <p:nvPicPr>
          <p:cNvPr id="7" name="Picture 6" descr="Diagram&#10;&#10;Description automatically generated">
            <a:extLst>
              <a:ext uri="{FF2B5EF4-FFF2-40B4-BE49-F238E27FC236}">
                <a16:creationId xmlns:a16="http://schemas.microsoft.com/office/drawing/2014/main" id="{719DB3C1-73A3-254D-A706-2CD6AE9BBA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376" y="2696144"/>
            <a:ext cx="4493679" cy="3886200"/>
          </a:xfrm>
          <a:prstGeom prst="rect">
            <a:avLst/>
          </a:prstGeom>
        </p:spPr>
      </p:pic>
      <p:sp>
        <p:nvSpPr>
          <p:cNvPr id="11" name="Rectangle 10">
            <a:extLst>
              <a:ext uri="{FF2B5EF4-FFF2-40B4-BE49-F238E27FC236}">
                <a16:creationId xmlns:a16="http://schemas.microsoft.com/office/drawing/2014/main" id="{5F085EFC-8262-394D-BA19-151135C0DAE8}"/>
              </a:ext>
            </a:extLst>
          </p:cNvPr>
          <p:cNvSpPr/>
          <p:nvPr/>
        </p:nvSpPr>
        <p:spPr>
          <a:xfrm>
            <a:off x="5704094" y="2204146"/>
            <a:ext cx="5195886" cy="430887"/>
          </a:xfrm>
          <a:prstGeom prst="rect">
            <a:avLst/>
          </a:prstGeom>
        </p:spPr>
        <p:txBody>
          <a:bodyPr wrap="square">
            <a:spAutoFit/>
          </a:bodyPr>
          <a:lstStyle/>
          <a:p>
            <a:r>
              <a:rPr lang="en-US" sz="2200" dirty="0">
                <a:solidFill>
                  <a:srgbClr val="0000CC"/>
                </a:solidFill>
              </a:rPr>
              <a:t>Assignment 2</a:t>
            </a:r>
          </a:p>
        </p:txBody>
      </p:sp>
      <p:pic>
        <p:nvPicPr>
          <p:cNvPr id="8" name="Picture 7" descr="A blue and white airplane&#10;&#10;Description automatically generated with low confidence">
            <a:extLst>
              <a:ext uri="{FF2B5EF4-FFF2-40B4-BE49-F238E27FC236}">
                <a16:creationId xmlns:a16="http://schemas.microsoft.com/office/drawing/2014/main" id="{92F6A298-1BA1-514F-92DF-7D997B41B0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8128" y="2696144"/>
            <a:ext cx="6100601" cy="3886200"/>
          </a:xfrm>
          <a:prstGeom prst="rect">
            <a:avLst/>
          </a:prstGeom>
        </p:spPr>
      </p:pic>
      <p:pic>
        <p:nvPicPr>
          <p:cNvPr id="15" name="Picture 14" descr="Text&#10;&#10;Description automatically generated">
            <a:extLst>
              <a:ext uri="{FF2B5EF4-FFF2-40B4-BE49-F238E27FC236}">
                <a16:creationId xmlns:a16="http://schemas.microsoft.com/office/drawing/2014/main" id="{E13A6036-03EC-C340-9F1C-2F618774F2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02037" y="1609786"/>
            <a:ext cx="1708785" cy="594360"/>
          </a:xfrm>
          <a:prstGeom prst="rect">
            <a:avLst/>
          </a:prstGeom>
        </p:spPr>
      </p:pic>
    </p:spTree>
    <p:extLst>
      <p:ext uri="{BB962C8B-B14F-4D97-AF65-F5344CB8AC3E}">
        <p14:creationId xmlns:p14="http://schemas.microsoft.com/office/powerpoint/2010/main" val="16266110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861187" y="89044"/>
            <a:ext cx="7207666" cy="523220"/>
          </a:xfrm>
          <a:prstGeom prst="rect">
            <a:avLst/>
          </a:prstGeom>
        </p:spPr>
        <p:txBody>
          <a:bodyPr wrap="square">
            <a:spAutoFit/>
          </a:bodyPr>
          <a:lstStyle/>
          <a:p>
            <a:r>
              <a:rPr lang="en-US" sz="2800" dirty="0">
                <a:solidFill>
                  <a:srgbClr val="C00000"/>
                </a:solidFill>
                <a:latin typeface="NewBaskervilleStd-Roman"/>
              </a:rPr>
              <a:t>Component Form of Newton’s Second Law </a:t>
            </a:r>
          </a:p>
        </p:txBody>
      </p:sp>
      <p:sp>
        <p:nvSpPr>
          <p:cNvPr id="2" name="Rectangle 1">
            <a:extLst>
              <a:ext uri="{FF2B5EF4-FFF2-40B4-BE49-F238E27FC236}">
                <a16:creationId xmlns:a16="http://schemas.microsoft.com/office/drawing/2014/main" id="{8594C872-BBA1-F84A-BF5E-46E9B1FEBEE1}"/>
              </a:ext>
            </a:extLst>
          </p:cNvPr>
          <p:cNvSpPr/>
          <p:nvPr/>
        </p:nvSpPr>
        <p:spPr>
          <a:xfrm>
            <a:off x="589935" y="663776"/>
            <a:ext cx="8037871" cy="769441"/>
          </a:xfrm>
          <a:prstGeom prst="rect">
            <a:avLst/>
          </a:prstGeom>
        </p:spPr>
        <p:txBody>
          <a:bodyPr wrap="square">
            <a:spAutoFit/>
          </a:bodyPr>
          <a:lstStyle/>
          <a:p>
            <a:r>
              <a:rPr lang="en-US" sz="2200" dirty="0">
                <a:solidFill>
                  <a:srgbClr val="000066"/>
                </a:solidFill>
                <a:latin typeface="LiberationSerif"/>
              </a:rPr>
              <a:t>Newton’s second law is as a vector equation and can be written as three component equations: </a:t>
            </a:r>
            <a:endParaRPr lang="en-US" sz="2200" dirty="0">
              <a:solidFill>
                <a:srgbClr val="000066"/>
              </a:solidFill>
            </a:endParaRPr>
          </a:p>
        </p:txBody>
      </p:sp>
      <p:pic>
        <p:nvPicPr>
          <p:cNvPr id="4" name="Picture 3">
            <a:extLst>
              <a:ext uri="{FF2B5EF4-FFF2-40B4-BE49-F238E27FC236}">
                <a16:creationId xmlns:a16="http://schemas.microsoft.com/office/drawing/2014/main" id="{BFA1E67A-8A47-274B-9A8A-3B22DFD696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0020" y="1484729"/>
            <a:ext cx="6419088" cy="685800"/>
          </a:xfrm>
          <a:prstGeom prst="rect">
            <a:avLst/>
          </a:prstGeom>
        </p:spPr>
      </p:pic>
      <p:sp>
        <p:nvSpPr>
          <p:cNvPr id="7" name="Rectangle 6">
            <a:extLst>
              <a:ext uri="{FF2B5EF4-FFF2-40B4-BE49-F238E27FC236}">
                <a16:creationId xmlns:a16="http://schemas.microsoft.com/office/drawing/2014/main" id="{BCCBF315-56BC-8441-B536-286E9797BE34}"/>
              </a:ext>
            </a:extLst>
          </p:cNvPr>
          <p:cNvSpPr/>
          <p:nvPr/>
        </p:nvSpPr>
        <p:spPr>
          <a:xfrm>
            <a:off x="538315" y="2386591"/>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9" name="Picture 8">
            <a:extLst>
              <a:ext uri="{FF2B5EF4-FFF2-40B4-BE49-F238E27FC236}">
                <a16:creationId xmlns:a16="http://schemas.microsoft.com/office/drawing/2014/main" id="{7BB89EA9-05A4-9142-A8D5-4B25665319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935" y="2794970"/>
            <a:ext cx="10972800" cy="1297555"/>
          </a:xfrm>
          <a:prstGeom prst="rect">
            <a:avLst/>
          </a:prstGeom>
        </p:spPr>
      </p:pic>
      <p:pic>
        <p:nvPicPr>
          <p:cNvPr id="11" name="Picture 10">
            <a:extLst>
              <a:ext uri="{FF2B5EF4-FFF2-40B4-BE49-F238E27FC236}">
                <a16:creationId xmlns:a16="http://schemas.microsoft.com/office/drawing/2014/main" id="{E9DE9E42-47C1-9D49-B783-1B88FD3A99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0020" y="4454245"/>
            <a:ext cx="6731000" cy="647700"/>
          </a:xfrm>
          <a:prstGeom prst="rect">
            <a:avLst/>
          </a:prstGeom>
        </p:spPr>
      </p:pic>
      <p:pic>
        <p:nvPicPr>
          <p:cNvPr id="13" name="Picture 12">
            <a:extLst>
              <a:ext uri="{FF2B5EF4-FFF2-40B4-BE49-F238E27FC236}">
                <a16:creationId xmlns:a16="http://schemas.microsoft.com/office/drawing/2014/main" id="{BBD0DA7B-6B3E-BC48-B0CC-FE08DC8DF0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90020" y="5495724"/>
            <a:ext cx="6515100" cy="698500"/>
          </a:xfrm>
          <a:prstGeom prst="rect">
            <a:avLst/>
          </a:prstGeom>
        </p:spPr>
      </p:pic>
    </p:spTree>
    <p:extLst>
      <p:ext uri="{BB962C8B-B14F-4D97-AF65-F5344CB8AC3E}">
        <p14:creationId xmlns:p14="http://schemas.microsoft.com/office/powerpoint/2010/main" val="17465715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861187" y="89044"/>
            <a:ext cx="7207666" cy="523220"/>
          </a:xfrm>
          <a:prstGeom prst="rect">
            <a:avLst/>
          </a:prstGeom>
        </p:spPr>
        <p:txBody>
          <a:bodyPr wrap="square">
            <a:spAutoFit/>
          </a:bodyPr>
          <a:lstStyle/>
          <a:p>
            <a:r>
              <a:rPr lang="en-US" sz="2800" dirty="0">
                <a:solidFill>
                  <a:srgbClr val="C00000"/>
                </a:solidFill>
                <a:latin typeface="NewBaskervilleStd-Roman"/>
              </a:rPr>
              <a:t>Component Form of Newton’s Second Law </a:t>
            </a:r>
          </a:p>
        </p:txBody>
      </p:sp>
      <p:sp>
        <p:nvSpPr>
          <p:cNvPr id="2" name="Rectangle 1">
            <a:extLst>
              <a:ext uri="{FF2B5EF4-FFF2-40B4-BE49-F238E27FC236}">
                <a16:creationId xmlns:a16="http://schemas.microsoft.com/office/drawing/2014/main" id="{8594C872-BBA1-F84A-BF5E-46E9B1FEBEE1}"/>
              </a:ext>
            </a:extLst>
          </p:cNvPr>
          <p:cNvSpPr/>
          <p:nvPr/>
        </p:nvSpPr>
        <p:spPr>
          <a:xfrm>
            <a:off x="589935" y="663776"/>
            <a:ext cx="8037871" cy="769441"/>
          </a:xfrm>
          <a:prstGeom prst="rect">
            <a:avLst/>
          </a:prstGeom>
        </p:spPr>
        <p:txBody>
          <a:bodyPr wrap="square">
            <a:spAutoFit/>
          </a:bodyPr>
          <a:lstStyle/>
          <a:p>
            <a:r>
              <a:rPr lang="en-US" sz="2200" dirty="0">
                <a:solidFill>
                  <a:srgbClr val="000066"/>
                </a:solidFill>
                <a:latin typeface="LiberationSerif"/>
              </a:rPr>
              <a:t>Newton’s second law is as a vector equation and can be written as three component equations: </a:t>
            </a:r>
            <a:endParaRPr lang="en-US" sz="2200" dirty="0">
              <a:solidFill>
                <a:srgbClr val="000066"/>
              </a:solidFill>
            </a:endParaRPr>
          </a:p>
        </p:txBody>
      </p:sp>
      <p:pic>
        <p:nvPicPr>
          <p:cNvPr id="4" name="Picture 3">
            <a:extLst>
              <a:ext uri="{FF2B5EF4-FFF2-40B4-BE49-F238E27FC236}">
                <a16:creationId xmlns:a16="http://schemas.microsoft.com/office/drawing/2014/main" id="{BFA1E67A-8A47-274B-9A8A-3B22DFD696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0020" y="1484729"/>
            <a:ext cx="6419088" cy="685800"/>
          </a:xfrm>
          <a:prstGeom prst="rect">
            <a:avLst/>
          </a:prstGeom>
        </p:spPr>
      </p:pic>
      <p:sp>
        <p:nvSpPr>
          <p:cNvPr id="7" name="Rectangle 6">
            <a:extLst>
              <a:ext uri="{FF2B5EF4-FFF2-40B4-BE49-F238E27FC236}">
                <a16:creationId xmlns:a16="http://schemas.microsoft.com/office/drawing/2014/main" id="{BCCBF315-56BC-8441-B536-286E9797BE34}"/>
              </a:ext>
            </a:extLst>
          </p:cNvPr>
          <p:cNvSpPr/>
          <p:nvPr/>
        </p:nvSpPr>
        <p:spPr>
          <a:xfrm>
            <a:off x="538315" y="2386591"/>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8" name="Picture 7" descr="Chart, radar chart&#10;&#10;Description automatically generated">
            <a:extLst>
              <a:ext uri="{FF2B5EF4-FFF2-40B4-BE49-F238E27FC236}">
                <a16:creationId xmlns:a16="http://schemas.microsoft.com/office/drawing/2014/main" id="{F46CC036-D354-EE41-9988-668ADCD323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0938" y="2305682"/>
            <a:ext cx="9225852" cy="4572000"/>
          </a:xfrm>
          <a:prstGeom prst="rect">
            <a:avLst/>
          </a:prstGeom>
        </p:spPr>
      </p:pic>
    </p:spTree>
    <p:extLst>
      <p:ext uri="{BB962C8B-B14F-4D97-AF65-F5344CB8AC3E}">
        <p14:creationId xmlns:p14="http://schemas.microsoft.com/office/powerpoint/2010/main" val="36052228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861187" y="89044"/>
            <a:ext cx="7207666" cy="523220"/>
          </a:xfrm>
          <a:prstGeom prst="rect">
            <a:avLst/>
          </a:prstGeom>
        </p:spPr>
        <p:txBody>
          <a:bodyPr wrap="square">
            <a:spAutoFit/>
          </a:bodyPr>
          <a:lstStyle/>
          <a:p>
            <a:r>
              <a:rPr lang="en-US" sz="2800" dirty="0">
                <a:solidFill>
                  <a:srgbClr val="C00000"/>
                </a:solidFill>
                <a:latin typeface="NewBaskervilleStd-Roman"/>
              </a:rPr>
              <a:t>Component Form of Newton’s Second Law </a:t>
            </a:r>
          </a:p>
        </p:txBody>
      </p:sp>
      <p:sp>
        <p:nvSpPr>
          <p:cNvPr id="2" name="Rectangle 1">
            <a:extLst>
              <a:ext uri="{FF2B5EF4-FFF2-40B4-BE49-F238E27FC236}">
                <a16:creationId xmlns:a16="http://schemas.microsoft.com/office/drawing/2014/main" id="{8594C872-BBA1-F84A-BF5E-46E9B1FEBEE1}"/>
              </a:ext>
            </a:extLst>
          </p:cNvPr>
          <p:cNvSpPr/>
          <p:nvPr/>
        </p:nvSpPr>
        <p:spPr>
          <a:xfrm>
            <a:off x="589935" y="663776"/>
            <a:ext cx="8037871" cy="769441"/>
          </a:xfrm>
          <a:prstGeom prst="rect">
            <a:avLst/>
          </a:prstGeom>
        </p:spPr>
        <p:txBody>
          <a:bodyPr wrap="square">
            <a:spAutoFit/>
          </a:bodyPr>
          <a:lstStyle/>
          <a:p>
            <a:r>
              <a:rPr lang="en-US" sz="2200" dirty="0">
                <a:solidFill>
                  <a:srgbClr val="000066"/>
                </a:solidFill>
                <a:latin typeface="LiberationSerif"/>
              </a:rPr>
              <a:t>Newton’s second law is as a vector equation and can be written as three component equations: </a:t>
            </a:r>
            <a:endParaRPr lang="en-US" sz="2200" dirty="0">
              <a:solidFill>
                <a:srgbClr val="000066"/>
              </a:solidFill>
            </a:endParaRPr>
          </a:p>
        </p:txBody>
      </p:sp>
      <p:pic>
        <p:nvPicPr>
          <p:cNvPr id="4" name="Picture 3">
            <a:extLst>
              <a:ext uri="{FF2B5EF4-FFF2-40B4-BE49-F238E27FC236}">
                <a16:creationId xmlns:a16="http://schemas.microsoft.com/office/drawing/2014/main" id="{BFA1E67A-8A47-274B-9A8A-3B22DFD696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0020" y="1484729"/>
            <a:ext cx="6419088" cy="685800"/>
          </a:xfrm>
          <a:prstGeom prst="rect">
            <a:avLst/>
          </a:prstGeom>
        </p:spPr>
      </p:pic>
      <p:sp>
        <p:nvSpPr>
          <p:cNvPr id="9" name="Rectangle 8">
            <a:extLst>
              <a:ext uri="{FF2B5EF4-FFF2-40B4-BE49-F238E27FC236}">
                <a16:creationId xmlns:a16="http://schemas.microsoft.com/office/drawing/2014/main" id="{36FA6C3F-C8C6-E349-A409-4C2778807E14}"/>
              </a:ext>
            </a:extLst>
          </p:cNvPr>
          <p:cNvSpPr/>
          <p:nvPr/>
        </p:nvSpPr>
        <p:spPr>
          <a:xfrm>
            <a:off x="589935" y="2757072"/>
            <a:ext cx="5195886" cy="430887"/>
          </a:xfrm>
          <a:prstGeom prst="rect">
            <a:avLst/>
          </a:prstGeom>
        </p:spPr>
        <p:txBody>
          <a:bodyPr wrap="square">
            <a:spAutoFit/>
          </a:bodyPr>
          <a:lstStyle/>
          <a:p>
            <a:r>
              <a:rPr lang="en-US" sz="2200" dirty="0">
                <a:solidFill>
                  <a:srgbClr val="0000CC"/>
                </a:solidFill>
              </a:rPr>
              <a:t>Assignment 3</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C2B52E5-D5E8-3F41-B195-8D01C26C75B3}"/>
                  </a:ext>
                </a:extLst>
              </p:cNvPr>
              <p:cNvSpPr/>
              <p:nvPr/>
            </p:nvSpPr>
            <p:spPr>
              <a:xfrm>
                <a:off x="587385" y="3107417"/>
                <a:ext cx="8089860" cy="2814617"/>
              </a:xfrm>
              <a:prstGeom prst="rect">
                <a:avLst/>
              </a:prstGeom>
            </p:spPr>
            <p:txBody>
              <a:bodyPr wrap="square">
                <a:spAutoFit/>
              </a:bodyPr>
              <a:lstStyle/>
              <a:p>
                <a:pPr>
                  <a:lnSpc>
                    <a:spcPct val="150000"/>
                  </a:lnSpc>
                </a:pPr>
                <a:r>
                  <a:rPr lang="en-US" sz="2000" dirty="0">
                    <a:solidFill>
                      <a:srgbClr val="000066"/>
                    </a:solidFill>
                    <a:latin typeface="LiberationSerif"/>
                  </a:rPr>
                  <a:t>A sailboat is in a wide river that exerts a force of 150 N in the direction</a:t>
                </a:r>
              </a:p>
              <a:p>
                <a:pPr>
                  <a:lnSpc>
                    <a:spcPct val="150000"/>
                  </a:lnSpc>
                </a:pPr>
                <a14:m>
                  <m:oMath xmlns:m="http://schemas.openxmlformats.org/officeDocument/2006/math">
                    <m:r>
                      <a:rPr lang="en-US" sz="2000" i="1">
                        <a:solidFill>
                          <a:srgbClr val="000066"/>
                        </a:solidFill>
                        <a:latin typeface="Cambria Math" panose="02040503050406030204" pitchFamily="18" charset="0"/>
                      </a:rPr>
                      <m:t>1</m:t>
                    </m:r>
                    <m:r>
                      <a:rPr lang="en-US" sz="2000" b="0" i="1" smtClean="0">
                        <a:solidFill>
                          <a:srgbClr val="000066"/>
                        </a:solidFill>
                        <a:latin typeface="Cambria Math" panose="02040503050406030204" pitchFamily="18" charset="0"/>
                      </a:rPr>
                      <m:t>5</m:t>
                    </m:r>
                    <m:r>
                      <a:rPr lang="en-US" sz="2000" b="0" i="1" smtClean="0">
                        <a:solidFill>
                          <a:srgbClr val="000066"/>
                        </a:solidFill>
                        <a:latin typeface="Cambria Math" panose="02040503050406030204" pitchFamily="18" charset="0"/>
                        <a:ea typeface="Cambria Math" panose="02040503050406030204" pitchFamily="18" charset="0"/>
                      </a:rPr>
                      <m:t>°</m:t>
                    </m:r>
                  </m:oMath>
                </a14:m>
                <a:r>
                  <a:rPr lang="en-US" sz="2000" dirty="0">
                    <a:solidFill>
                      <a:srgbClr val="000066"/>
                    </a:solidFill>
                  </a:rPr>
                  <a:t> west of south. </a:t>
                </a:r>
              </a:p>
              <a:p>
                <a:pPr>
                  <a:lnSpc>
                    <a:spcPct val="150000"/>
                  </a:lnSpc>
                </a:pPr>
                <a:r>
                  <a:rPr lang="en-US" sz="2000" dirty="0">
                    <a:solidFill>
                      <a:srgbClr val="000066"/>
                    </a:solidFill>
                  </a:rPr>
                  <a:t>The wind is exerting 320 N force on the sails of the sailboat in the direction </a:t>
                </a:r>
                <a14:m>
                  <m:oMath xmlns:m="http://schemas.openxmlformats.org/officeDocument/2006/math">
                    <m:r>
                      <a:rPr lang="en-US" sz="2000" i="1" dirty="0" smtClean="0">
                        <a:solidFill>
                          <a:srgbClr val="000066"/>
                        </a:solidFill>
                        <a:latin typeface="Cambria Math" panose="02040503050406030204" pitchFamily="18" charset="0"/>
                      </a:rPr>
                      <m:t>6</m:t>
                    </m:r>
                    <m:r>
                      <a:rPr lang="en-US" sz="2000" i="1">
                        <a:solidFill>
                          <a:srgbClr val="000066"/>
                        </a:solidFill>
                        <a:latin typeface="Cambria Math" panose="02040503050406030204" pitchFamily="18" charset="0"/>
                      </a:rPr>
                      <m:t>5</m:t>
                    </m:r>
                    <m:r>
                      <a:rPr lang="en-US" sz="2000" i="1">
                        <a:solidFill>
                          <a:srgbClr val="000066"/>
                        </a:solidFill>
                        <a:latin typeface="Cambria Math" panose="02040503050406030204" pitchFamily="18" charset="0"/>
                        <a:ea typeface="Cambria Math" panose="02040503050406030204" pitchFamily="18" charset="0"/>
                      </a:rPr>
                      <m:t>°</m:t>
                    </m:r>
                  </m:oMath>
                </a14:m>
                <a:r>
                  <a:rPr lang="en-US" sz="2000" dirty="0">
                    <a:solidFill>
                      <a:srgbClr val="000066"/>
                    </a:solidFill>
                  </a:rPr>
                  <a:t> east of north. </a:t>
                </a:r>
              </a:p>
              <a:p>
                <a:pPr>
                  <a:lnSpc>
                    <a:spcPct val="150000"/>
                  </a:lnSpc>
                </a:pPr>
                <a:r>
                  <a:rPr lang="en-US" sz="2000" dirty="0">
                    <a:solidFill>
                      <a:srgbClr val="000066"/>
                    </a:solidFill>
                  </a:rPr>
                  <a:t>If the mass of the sailboat is 250 kg, what is the magnitude and direction </a:t>
                </a:r>
              </a:p>
              <a:p>
                <a:pPr>
                  <a:lnSpc>
                    <a:spcPct val="150000"/>
                  </a:lnSpc>
                </a:pPr>
                <a:r>
                  <a:rPr lang="en-US" sz="2000" dirty="0">
                    <a:solidFill>
                      <a:srgbClr val="000066"/>
                    </a:solidFill>
                  </a:rPr>
                  <a:t>of its acceleration? </a:t>
                </a:r>
              </a:p>
            </p:txBody>
          </p:sp>
        </mc:Choice>
        <mc:Fallback xmlns="">
          <p:sp>
            <p:nvSpPr>
              <p:cNvPr id="3" name="Rectangle 2">
                <a:extLst>
                  <a:ext uri="{FF2B5EF4-FFF2-40B4-BE49-F238E27FC236}">
                    <a16:creationId xmlns:a16="http://schemas.microsoft.com/office/drawing/2014/main" id="{1C2B52E5-D5E8-3F41-B195-8D01C26C75B3}"/>
                  </a:ext>
                </a:extLst>
              </p:cNvPr>
              <p:cNvSpPr>
                <a:spLocks noRot="1" noChangeAspect="1" noMove="1" noResize="1" noEditPoints="1" noAdjustHandles="1" noChangeArrowheads="1" noChangeShapeType="1" noTextEdit="1"/>
              </p:cNvSpPr>
              <p:nvPr/>
            </p:nvSpPr>
            <p:spPr>
              <a:xfrm>
                <a:off x="587385" y="3107417"/>
                <a:ext cx="8089860" cy="2814617"/>
              </a:xfrm>
              <a:prstGeom prst="rect">
                <a:avLst/>
              </a:prstGeom>
              <a:blipFill>
                <a:blip r:embed="rId4"/>
                <a:stretch>
                  <a:fillRect l="-784" b="-2691"/>
                </a:stretch>
              </a:blipFill>
            </p:spPr>
            <p:txBody>
              <a:bodyPr/>
              <a:lstStyle/>
              <a:p>
                <a:r>
                  <a:rPr lang="en-US">
                    <a:noFill/>
                  </a:rPr>
                  <a:t> </a:t>
                </a:r>
              </a:p>
            </p:txBody>
          </p:sp>
        </mc:Fallback>
      </mc:AlternateContent>
      <p:pic>
        <p:nvPicPr>
          <p:cNvPr id="11" name="Picture 10" descr="Table&#10;&#10;Description automatically generated">
            <a:extLst>
              <a:ext uri="{FF2B5EF4-FFF2-40B4-BE49-F238E27FC236}">
                <a16:creationId xmlns:a16="http://schemas.microsoft.com/office/drawing/2014/main" id="{AD90C3C8-35AD-AD43-A2EF-EE160F837C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77245" y="2757072"/>
            <a:ext cx="3136900" cy="3860800"/>
          </a:xfrm>
          <a:prstGeom prst="rect">
            <a:avLst/>
          </a:prstGeom>
        </p:spPr>
      </p:pic>
    </p:spTree>
    <p:extLst>
      <p:ext uri="{BB962C8B-B14F-4D97-AF65-F5344CB8AC3E}">
        <p14:creationId xmlns:p14="http://schemas.microsoft.com/office/powerpoint/2010/main" val="8789640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718816" y="89044"/>
            <a:ext cx="6863340" cy="523220"/>
          </a:xfrm>
          <a:prstGeom prst="rect">
            <a:avLst/>
          </a:prstGeom>
        </p:spPr>
        <p:txBody>
          <a:bodyPr wrap="square">
            <a:spAutoFit/>
          </a:bodyPr>
          <a:lstStyle/>
          <a:p>
            <a:r>
              <a:rPr lang="en-US" sz="2800" dirty="0">
                <a:solidFill>
                  <a:srgbClr val="C00000"/>
                </a:solidFill>
                <a:latin typeface="NewBaskervilleStd-Roman"/>
              </a:rPr>
              <a:t>Newton’s Second Law and Momentum </a:t>
            </a:r>
          </a:p>
        </p:txBody>
      </p:sp>
      <p:sp>
        <p:nvSpPr>
          <p:cNvPr id="2" name="Rectangle 1">
            <a:extLst>
              <a:ext uri="{FF2B5EF4-FFF2-40B4-BE49-F238E27FC236}">
                <a16:creationId xmlns:a16="http://schemas.microsoft.com/office/drawing/2014/main" id="{8051906F-F8BC-7D4D-A36B-09FECD8420E8}"/>
              </a:ext>
            </a:extLst>
          </p:cNvPr>
          <p:cNvSpPr/>
          <p:nvPr/>
        </p:nvSpPr>
        <p:spPr>
          <a:xfrm>
            <a:off x="292608" y="612264"/>
            <a:ext cx="10326624" cy="1446550"/>
          </a:xfrm>
          <a:prstGeom prst="rect">
            <a:avLst/>
          </a:prstGeom>
        </p:spPr>
        <p:txBody>
          <a:bodyPr wrap="square">
            <a:spAutoFit/>
          </a:bodyPr>
          <a:lstStyle/>
          <a:p>
            <a:r>
              <a:rPr lang="en-US" sz="2200" dirty="0">
                <a:latin typeface="LiberationSerif"/>
              </a:rPr>
              <a:t>Newton stated his second law in terms of momentum:</a:t>
            </a:r>
          </a:p>
          <a:p>
            <a:endParaRPr lang="en-US" sz="2200" dirty="0">
              <a:latin typeface="LiberationSerif"/>
            </a:endParaRPr>
          </a:p>
          <a:p>
            <a:r>
              <a:rPr lang="en-US" sz="2200" dirty="0">
                <a:solidFill>
                  <a:srgbClr val="000066"/>
                </a:solidFill>
                <a:latin typeface="LiberationSerif"/>
              </a:rPr>
              <a:t> “The instantaneous rate at which a body’s momentum changes is equal to the net force acting on the body.” </a:t>
            </a:r>
            <a:endParaRPr lang="en-US" sz="2200" dirty="0">
              <a:solidFill>
                <a:srgbClr val="000066"/>
              </a:solidFill>
            </a:endParaRPr>
          </a:p>
        </p:txBody>
      </p:sp>
      <p:sp>
        <p:nvSpPr>
          <p:cNvPr id="3" name="Rectangle 2">
            <a:extLst>
              <a:ext uri="{FF2B5EF4-FFF2-40B4-BE49-F238E27FC236}">
                <a16:creationId xmlns:a16="http://schemas.microsoft.com/office/drawing/2014/main" id="{989AD20E-0BB3-8A47-91AB-2169663C0411}"/>
              </a:ext>
            </a:extLst>
          </p:cNvPr>
          <p:cNvSpPr/>
          <p:nvPr/>
        </p:nvSpPr>
        <p:spPr>
          <a:xfrm>
            <a:off x="1900041" y="3059668"/>
            <a:ext cx="2288960" cy="369332"/>
          </a:xfrm>
          <a:prstGeom prst="rect">
            <a:avLst/>
          </a:prstGeom>
        </p:spPr>
        <p:txBody>
          <a:bodyPr wrap="none">
            <a:spAutoFit/>
          </a:bodyPr>
          <a:lstStyle/>
          <a:p>
            <a:r>
              <a:rPr lang="en-US" dirty="0">
                <a:solidFill>
                  <a:srgbClr val="000066"/>
                </a:solidFill>
                <a:latin typeface="LiberationSerif"/>
              </a:rPr>
              <a:t>where the </a:t>
            </a:r>
            <a:r>
              <a:rPr lang="en-US" i="1" dirty="0">
                <a:solidFill>
                  <a:srgbClr val="C00000"/>
                </a:solidFill>
                <a:latin typeface="LiberationSerif"/>
              </a:rPr>
              <a:t>momentum</a:t>
            </a:r>
            <a:endParaRPr lang="en-US" dirty="0">
              <a:solidFill>
                <a:srgbClr val="C00000"/>
              </a:solidFill>
            </a:endParaRPr>
          </a:p>
        </p:txBody>
      </p:sp>
      <p:pic>
        <p:nvPicPr>
          <p:cNvPr id="7" name="Picture 6" descr="A picture containing text&#10;&#10;Description automatically generated">
            <a:extLst>
              <a:ext uri="{FF2B5EF4-FFF2-40B4-BE49-F238E27FC236}">
                <a16:creationId xmlns:a16="http://schemas.microsoft.com/office/drawing/2014/main" id="{BA05FAC6-6619-3A43-9F76-7F9DBB4546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251" y="2058814"/>
            <a:ext cx="1587500" cy="762000"/>
          </a:xfrm>
          <a:prstGeom prst="rect">
            <a:avLst/>
          </a:prstGeom>
        </p:spPr>
      </p:pic>
      <p:sp>
        <p:nvSpPr>
          <p:cNvPr id="8" name="Rectangle 7">
            <a:extLst>
              <a:ext uri="{FF2B5EF4-FFF2-40B4-BE49-F238E27FC236}">
                <a16:creationId xmlns:a16="http://schemas.microsoft.com/office/drawing/2014/main" id="{B34064E0-E700-0D48-8233-1418108CE754}"/>
              </a:ext>
            </a:extLst>
          </p:cNvPr>
          <p:cNvSpPr/>
          <p:nvPr/>
        </p:nvSpPr>
        <p:spPr>
          <a:xfrm>
            <a:off x="3877056" y="3708782"/>
            <a:ext cx="6096000" cy="646331"/>
          </a:xfrm>
          <a:prstGeom prst="rect">
            <a:avLst/>
          </a:prstGeom>
        </p:spPr>
        <p:txBody>
          <a:bodyPr>
            <a:spAutoFit/>
          </a:bodyPr>
          <a:lstStyle/>
          <a:p>
            <a:r>
              <a:rPr lang="en-US" dirty="0">
                <a:solidFill>
                  <a:srgbClr val="000066"/>
                </a:solidFill>
                <a:latin typeface="LiberationSerif"/>
              </a:rPr>
              <a:t>The substitution gives</a:t>
            </a:r>
            <a:br>
              <a:rPr lang="en-US" dirty="0">
                <a:solidFill>
                  <a:srgbClr val="000066"/>
                </a:solidFill>
                <a:latin typeface="LiberationSerif"/>
              </a:rPr>
            </a:br>
            <a:endParaRPr lang="en-US" dirty="0">
              <a:solidFill>
                <a:srgbClr val="000066"/>
              </a:solidFill>
            </a:endParaRPr>
          </a:p>
        </p:txBody>
      </p:sp>
      <p:pic>
        <p:nvPicPr>
          <p:cNvPr id="10" name="Picture 9" descr="Text&#10;&#10;Description automatically generated with low confidence">
            <a:extLst>
              <a:ext uri="{FF2B5EF4-FFF2-40B4-BE49-F238E27FC236}">
                <a16:creationId xmlns:a16="http://schemas.microsoft.com/office/drawing/2014/main" id="{1E1A88B8-A9EA-984D-98AE-A1898C1BEF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8036" y="2946782"/>
            <a:ext cx="1333500" cy="533400"/>
          </a:xfrm>
          <a:prstGeom prst="rect">
            <a:avLst/>
          </a:prstGeom>
        </p:spPr>
      </p:pic>
      <p:pic>
        <p:nvPicPr>
          <p:cNvPr id="12" name="Picture 11" descr="A picture containing schematic&#10;&#10;Description automatically generated">
            <a:extLst>
              <a:ext uri="{FF2B5EF4-FFF2-40B4-BE49-F238E27FC236}">
                <a16:creationId xmlns:a16="http://schemas.microsoft.com/office/drawing/2014/main" id="{E9C6F111-893C-C648-91EF-FBBE7E7571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0486" y="3480182"/>
            <a:ext cx="2463800" cy="736600"/>
          </a:xfrm>
          <a:prstGeom prst="rect">
            <a:avLst/>
          </a:prstGeom>
        </p:spPr>
      </p:pic>
      <p:pic>
        <p:nvPicPr>
          <p:cNvPr id="14" name="Picture 13" descr="Diagram&#10;&#10;Description automatically generated">
            <a:extLst>
              <a:ext uri="{FF2B5EF4-FFF2-40B4-BE49-F238E27FC236}">
                <a16:creationId xmlns:a16="http://schemas.microsoft.com/office/drawing/2014/main" id="{D5C718C1-DC98-8241-A3C3-97C8702B87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02094" y="3524632"/>
            <a:ext cx="1752600" cy="647700"/>
          </a:xfrm>
          <a:prstGeom prst="rect">
            <a:avLst/>
          </a:prstGeom>
        </p:spPr>
      </p:pic>
      <p:sp>
        <p:nvSpPr>
          <p:cNvPr id="15" name="Rectangle 14">
            <a:extLst>
              <a:ext uri="{FF2B5EF4-FFF2-40B4-BE49-F238E27FC236}">
                <a16:creationId xmlns:a16="http://schemas.microsoft.com/office/drawing/2014/main" id="{4B75D299-610A-CA45-85E5-14A9534666BC}"/>
              </a:ext>
            </a:extLst>
          </p:cNvPr>
          <p:cNvSpPr/>
          <p:nvPr/>
        </p:nvSpPr>
        <p:spPr>
          <a:xfrm>
            <a:off x="9135637" y="4128948"/>
            <a:ext cx="2463799" cy="584775"/>
          </a:xfrm>
          <a:prstGeom prst="rect">
            <a:avLst/>
          </a:prstGeom>
        </p:spPr>
        <p:txBody>
          <a:bodyPr wrap="square">
            <a:spAutoFit/>
          </a:bodyPr>
          <a:lstStyle/>
          <a:p>
            <a:r>
              <a:rPr lang="en-US" sz="1600" dirty="0">
                <a:solidFill>
                  <a:srgbClr val="000066"/>
                </a:solidFill>
                <a:latin typeface="LiberationSerif"/>
              </a:rPr>
              <a:t>Which is the familiar Newton’s Second Law</a:t>
            </a:r>
            <a:endParaRPr lang="en-US" sz="1600" dirty="0"/>
          </a:p>
        </p:txBody>
      </p:sp>
      <p:pic>
        <p:nvPicPr>
          <p:cNvPr id="16" name="Picture Placeholder 1" descr="A portrait of Isaac Newton.">
            <a:extLst>
              <a:ext uri="{FF2B5EF4-FFF2-40B4-BE49-F238E27FC236}">
                <a16:creationId xmlns:a16="http://schemas.microsoft.com/office/drawing/2014/main" id="{4D9DF6CE-BA89-7B45-82BD-6C6AAF061138}"/>
              </a:ext>
            </a:extLst>
          </p:cNvPr>
          <p:cNvPicPr>
            <a:picLocks noChangeAspect="1"/>
          </p:cNvPicPr>
          <p:nvPr/>
        </p:nvPicPr>
        <p:blipFill>
          <a:blip r:embed="rId7">
            <a:extLst>
              <a:ext uri="{28A0092B-C50C-407E-A947-70E740481C1C}">
                <a14:useLocalDpi xmlns:a14="http://schemas.microsoft.com/office/drawing/2010/main" val="0"/>
              </a:ext>
            </a:extLst>
          </a:blip>
          <a:srcRect t="-3327" b="-3327"/>
          <a:stretch>
            <a:fillRect/>
          </a:stretch>
        </p:blipFill>
        <p:spPr>
          <a:xfrm>
            <a:off x="1227963" y="3877978"/>
            <a:ext cx="2104418" cy="2743200"/>
          </a:xfrm>
          <a:prstGeom prst="rect">
            <a:avLst/>
          </a:prstGeom>
        </p:spPr>
      </p:pic>
      <p:sp>
        <p:nvSpPr>
          <p:cNvPr id="17" name="Rounded Rectangular Callout 16">
            <a:extLst>
              <a:ext uri="{FF2B5EF4-FFF2-40B4-BE49-F238E27FC236}">
                <a16:creationId xmlns:a16="http://schemas.microsoft.com/office/drawing/2014/main" id="{F2C3ED0B-4BBB-2842-8AA1-4CC01365C596}"/>
              </a:ext>
            </a:extLst>
          </p:cNvPr>
          <p:cNvSpPr/>
          <p:nvPr/>
        </p:nvSpPr>
        <p:spPr>
          <a:xfrm>
            <a:off x="4189001" y="5156697"/>
            <a:ext cx="3048000" cy="1138807"/>
          </a:xfrm>
          <a:prstGeom prst="wedgeRoundRectCallout">
            <a:avLst>
              <a:gd name="adj1" fmla="val -101156"/>
              <a:gd name="adj2" fmla="val -82548"/>
              <a:gd name="adj3" fmla="val 16667"/>
            </a:avLst>
          </a:prstGeom>
          <a:solidFill>
            <a:srgbClr val="F1DBB7"/>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picture containing text&#10;&#10;Description automatically generated">
            <a:extLst>
              <a:ext uri="{FF2B5EF4-FFF2-40B4-BE49-F238E27FC236}">
                <a16:creationId xmlns:a16="http://schemas.microsoft.com/office/drawing/2014/main" id="{72D7C8C4-6447-7A49-99E9-ED60AAE39D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9251" y="5345100"/>
            <a:ext cx="1587500" cy="762000"/>
          </a:xfrm>
          <a:prstGeom prst="rect">
            <a:avLst/>
          </a:prstGeom>
        </p:spPr>
      </p:pic>
    </p:spTree>
    <p:extLst>
      <p:ext uri="{BB962C8B-B14F-4D97-AF65-F5344CB8AC3E}">
        <p14:creationId xmlns:p14="http://schemas.microsoft.com/office/powerpoint/2010/main" val="313511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Mass and Weight </a:t>
            </a:r>
          </a:p>
        </p:txBody>
      </p:sp>
      <p:sp>
        <p:nvSpPr>
          <p:cNvPr id="2" name="Rectangle 1">
            <a:extLst>
              <a:ext uri="{FF2B5EF4-FFF2-40B4-BE49-F238E27FC236}">
                <a16:creationId xmlns:a16="http://schemas.microsoft.com/office/drawing/2014/main" id="{2065331A-E78B-1F42-B26E-D1560DEEC0E0}"/>
              </a:ext>
            </a:extLst>
          </p:cNvPr>
          <p:cNvSpPr/>
          <p:nvPr/>
        </p:nvSpPr>
        <p:spPr>
          <a:xfrm>
            <a:off x="609205" y="551556"/>
            <a:ext cx="5922712" cy="430887"/>
          </a:xfrm>
          <a:prstGeom prst="rect">
            <a:avLst/>
          </a:prstGeom>
        </p:spPr>
        <p:txBody>
          <a:bodyPr wrap="none">
            <a:spAutoFit/>
          </a:bodyPr>
          <a:lstStyle/>
          <a:p>
            <a:r>
              <a:rPr lang="en-US" sz="2200" dirty="0">
                <a:solidFill>
                  <a:srgbClr val="000066"/>
                </a:solidFill>
                <a:latin typeface="LiberationSerif"/>
              </a:rPr>
              <a:t>The SI unit of force is the newton. Since </a:t>
            </a:r>
            <a:r>
              <a:rPr lang="en-US" sz="2200" i="1" dirty="0" err="1">
                <a:solidFill>
                  <a:srgbClr val="000066"/>
                </a:solidFill>
                <a:latin typeface="STIXGeneral" pitchFamily="2" charset="2"/>
              </a:rPr>
              <a:t>F</a:t>
            </a:r>
            <a:r>
              <a:rPr lang="en-US" sz="2200" baseline="-25000" dirty="0" err="1">
                <a:solidFill>
                  <a:srgbClr val="000066"/>
                </a:solidFill>
                <a:latin typeface="STIXGeneral" pitchFamily="2" charset="2"/>
              </a:rPr>
              <a:t>net</a:t>
            </a:r>
            <a:r>
              <a:rPr lang="en-US" sz="2200" dirty="0">
                <a:solidFill>
                  <a:srgbClr val="000066"/>
                </a:solidFill>
                <a:latin typeface="STIXGeneral" pitchFamily="2" charset="2"/>
              </a:rPr>
              <a:t> = </a:t>
            </a:r>
            <a:r>
              <a:rPr lang="en-US" sz="2200" i="1" dirty="0">
                <a:solidFill>
                  <a:srgbClr val="000066"/>
                </a:solidFill>
                <a:latin typeface="STIXGeneral" pitchFamily="2" charset="2"/>
              </a:rPr>
              <a:t>ma</a:t>
            </a:r>
            <a:endParaRPr lang="en-US" sz="2200" dirty="0">
              <a:solidFill>
                <a:srgbClr val="000066"/>
              </a:solidFill>
            </a:endParaRPr>
          </a:p>
        </p:txBody>
      </p:sp>
      <p:pic>
        <p:nvPicPr>
          <p:cNvPr id="7" name="Picture 6" descr="Text&#10;&#10;Description automatically generated with medium confidence">
            <a:extLst>
              <a:ext uri="{FF2B5EF4-FFF2-40B4-BE49-F238E27FC236}">
                <a16:creationId xmlns:a16="http://schemas.microsoft.com/office/drawing/2014/main" id="{0317828D-D5C7-6148-97F1-F828EBB9F1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2127" y="910057"/>
            <a:ext cx="2118360" cy="594360"/>
          </a:xfrm>
          <a:prstGeom prst="rect">
            <a:avLst/>
          </a:prstGeom>
        </p:spPr>
      </p:pic>
      <p:sp>
        <p:nvSpPr>
          <p:cNvPr id="8" name="Rectangle 7">
            <a:extLst>
              <a:ext uri="{FF2B5EF4-FFF2-40B4-BE49-F238E27FC236}">
                <a16:creationId xmlns:a16="http://schemas.microsoft.com/office/drawing/2014/main" id="{205197AA-4C10-3B4C-8984-1452B8CB99E8}"/>
              </a:ext>
            </a:extLst>
          </p:cNvPr>
          <p:cNvSpPr/>
          <p:nvPr/>
        </p:nvSpPr>
        <p:spPr>
          <a:xfrm>
            <a:off x="535465" y="1415929"/>
            <a:ext cx="11046542" cy="769441"/>
          </a:xfrm>
          <a:prstGeom prst="rect">
            <a:avLst/>
          </a:prstGeom>
        </p:spPr>
        <p:txBody>
          <a:bodyPr wrap="square">
            <a:spAutoFit/>
          </a:bodyPr>
          <a:lstStyle/>
          <a:p>
            <a:r>
              <a:rPr lang="en-US" sz="2200" dirty="0">
                <a:solidFill>
                  <a:srgbClr val="000066"/>
                </a:solidFill>
                <a:latin typeface="LiberationSerif"/>
              </a:rPr>
              <a:t>When an object is dropped, it accelerates toward the center of Earth due to gravitational force, which we call weight. </a:t>
            </a:r>
            <a:endParaRPr lang="en-US" sz="2200" dirty="0">
              <a:solidFill>
                <a:srgbClr val="000066"/>
              </a:solidFill>
            </a:endParaRPr>
          </a:p>
        </p:txBody>
      </p:sp>
      <p:sp>
        <p:nvSpPr>
          <p:cNvPr id="9" name="Rectangle 8">
            <a:extLst>
              <a:ext uri="{FF2B5EF4-FFF2-40B4-BE49-F238E27FC236}">
                <a16:creationId xmlns:a16="http://schemas.microsoft.com/office/drawing/2014/main" id="{2078BBF3-10F0-4048-AEA8-591090BBC964}"/>
              </a:ext>
            </a:extLst>
          </p:cNvPr>
          <p:cNvSpPr/>
          <p:nvPr/>
        </p:nvSpPr>
        <p:spPr>
          <a:xfrm>
            <a:off x="2295833" y="2207936"/>
            <a:ext cx="7733071" cy="701731"/>
          </a:xfrm>
          <a:prstGeom prst="rect">
            <a:avLst/>
          </a:prstGeom>
        </p:spPr>
        <p:txBody>
          <a:bodyPr wrap="square">
            <a:spAutoFit/>
          </a:bodyPr>
          <a:lstStyle/>
          <a:p>
            <a:pPr lvl="1">
              <a:lnSpc>
                <a:spcPct val="90000"/>
              </a:lnSpc>
            </a:pPr>
            <a:r>
              <a:rPr lang="en-US" altLang="en-US" sz="2200" i="1" dirty="0" err="1">
                <a:solidFill>
                  <a:srgbClr val="0000CC"/>
                </a:solidFill>
              </a:rPr>
              <a:t>F</a:t>
            </a:r>
            <a:r>
              <a:rPr lang="en-US" altLang="en-US" sz="2200" i="1" baseline="-25000" dirty="0" err="1">
                <a:solidFill>
                  <a:srgbClr val="0000CC"/>
                </a:solidFill>
              </a:rPr>
              <a:t>g</a:t>
            </a:r>
            <a:r>
              <a:rPr lang="en-US" altLang="en-US" sz="2200" i="1" baseline="-25000" dirty="0">
                <a:solidFill>
                  <a:srgbClr val="0000CC"/>
                </a:solidFill>
              </a:rPr>
              <a:t> </a:t>
            </a:r>
            <a:r>
              <a:rPr lang="en-US" altLang="en-US" sz="2200" i="1" dirty="0">
                <a:solidFill>
                  <a:srgbClr val="0000CC"/>
                </a:solidFill>
              </a:rPr>
              <a:t>= </a:t>
            </a:r>
            <a:r>
              <a:rPr lang="en-US" altLang="en-US" sz="2200" i="1" dirty="0">
                <a:solidFill>
                  <a:srgbClr val="FF0000"/>
                </a:solidFill>
              </a:rPr>
              <a:t>w</a:t>
            </a:r>
            <a:r>
              <a:rPr lang="en-US" altLang="en-US" sz="2200" i="1" dirty="0">
                <a:solidFill>
                  <a:srgbClr val="0000CC"/>
                </a:solidFill>
              </a:rPr>
              <a:t> = m g</a:t>
            </a:r>
            <a:r>
              <a:rPr lang="en-US" altLang="en-US" sz="2200" dirty="0">
                <a:solidFill>
                  <a:srgbClr val="0000CC"/>
                </a:solidFill>
              </a:rPr>
              <a:t> is a special case of Newton’s Second Law</a:t>
            </a:r>
          </a:p>
          <a:p>
            <a:pPr lvl="2">
              <a:lnSpc>
                <a:spcPct val="90000"/>
              </a:lnSpc>
            </a:pPr>
            <a:r>
              <a:rPr lang="en-US" altLang="en-US" sz="2200" i="1" dirty="0">
                <a:solidFill>
                  <a:schemeClr val="accent6">
                    <a:lumMod val="75000"/>
                  </a:schemeClr>
                </a:solidFill>
              </a:rPr>
              <a:t>g</a:t>
            </a:r>
            <a:r>
              <a:rPr lang="en-US" altLang="en-US" sz="2200" dirty="0">
                <a:solidFill>
                  <a:schemeClr val="accent6">
                    <a:lumMod val="75000"/>
                  </a:schemeClr>
                </a:solidFill>
              </a:rPr>
              <a:t> is the acceleration due to gravity</a:t>
            </a:r>
            <a:endParaRPr lang="en-US" altLang="en-US" sz="2200" i="1" dirty="0">
              <a:solidFill>
                <a:schemeClr val="accent6">
                  <a:lumMod val="75000"/>
                </a:schemeClr>
              </a:solidFill>
            </a:endParaRPr>
          </a:p>
        </p:txBody>
      </p:sp>
      <p:sp>
        <p:nvSpPr>
          <p:cNvPr id="10" name="Rectangle 9">
            <a:extLst>
              <a:ext uri="{FF2B5EF4-FFF2-40B4-BE49-F238E27FC236}">
                <a16:creationId xmlns:a16="http://schemas.microsoft.com/office/drawing/2014/main" id="{DB7AEA45-6727-1445-9336-D171FAD55DFE}"/>
              </a:ext>
            </a:extLst>
          </p:cNvPr>
          <p:cNvSpPr/>
          <p:nvPr/>
        </p:nvSpPr>
        <p:spPr>
          <a:xfrm>
            <a:off x="585605" y="2881326"/>
            <a:ext cx="11046542" cy="769441"/>
          </a:xfrm>
          <a:prstGeom prst="rect">
            <a:avLst/>
          </a:prstGeom>
        </p:spPr>
        <p:txBody>
          <a:bodyPr wrap="square">
            <a:spAutoFit/>
          </a:bodyPr>
          <a:lstStyle/>
          <a:p>
            <a:r>
              <a:rPr lang="en-US" sz="2200" dirty="0">
                <a:latin typeface="LiberationSerif"/>
              </a:rPr>
              <a:t>Weight can be denoted as a </a:t>
            </a:r>
            <a:r>
              <a:rPr lang="en-US" sz="2200" dirty="0">
                <a:solidFill>
                  <a:srgbClr val="C00000"/>
                </a:solidFill>
                <a:latin typeface="LiberationSerif"/>
              </a:rPr>
              <a:t>vector</a:t>
            </a:r>
            <a:r>
              <a:rPr lang="en-US" sz="2200" dirty="0">
                <a:latin typeface="LiberationSerif"/>
              </a:rPr>
              <a:t> because it has a direction; </a:t>
            </a:r>
            <a:r>
              <a:rPr lang="en-US" sz="2200" i="1" dirty="0">
                <a:solidFill>
                  <a:srgbClr val="C00000"/>
                </a:solidFill>
                <a:latin typeface="LiberationSerif"/>
              </a:rPr>
              <a:t>down</a:t>
            </a:r>
            <a:r>
              <a:rPr lang="en-US" sz="2200" i="1" dirty="0">
                <a:latin typeface="LiberationSerif"/>
              </a:rPr>
              <a:t> </a:t>
            </a:r>
            <a:r>
              <a:rPr lang="en-US" sz="2200" dirty="0">
                <a:latin typeface="LiberationSerif"/>
              </a:rPr>
              <a:t>is, by definition, the direction of gravity, and hence, weight is a downward force. </a:t>
            </a:r>
            <a:endParaRPr lang="en-US" sz="2200" dirty="0"/>
          </a:p>
        </p:txBody>
      </p:sp>
      <p:pic>
        <p:nvPicPr>
          <p:cNvPr id="12" name="Picture 11">
            <a:extLst>
              <a:ext uri="{FF2B5EF4-FFF2-40B4-BE49-F238E27FC236}">
                <a16:creationId xmlns:a16="http://schemas.microsoft.com/office/drawing/2014/main" id="{540DDF41-0639-3A47-8660-33DEAD3272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465" y="3650767"/>
            <a:ext cx="11430000" cy="1206110"/>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4F513F5D-75BD-9E47-8DE4-4B10A1B557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464" y="4834754"/>
            <a:ext cx="6029608" cy="1371600"/>
          </a:xfrm>
          <a:prstGeom prst="rect">
            <a:avLst/>
          </a:prstGeom>
        </p:spPr>
      </p:pic>
      <p:pic>
        <p:nvPicPr>
          <p:cNvPr id="16" name="Picture 15" descr="A picture containing text&#10;&#10;Description automatically generated">
            <a:extLst>
              <a:ext uri="{FF2B5EF4-FFF2-40B4-BE49-F238E27FC236}">
                <a16:creationId xmlns:a16="http://schemas.microsoft.com/office/drawing/2014/main" id="{1433BCAA-EC63-B146-A000-71CC678C10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71469" y="2464274"/>
            <a:ext cx="1003300" cy="431800"/>
          </a:xfrm>
          <a:prstGeom prst="rect">
            <a:avLst/>
          </a:prstGeom>
        </p:spPr>
      </p:pic>
      <p:pic>
        <p:nvPicPr>
          <p:cNvPr id="18" name="Picture 17" descr="A picture containing text&#10;&#10;Description automatically generated">
            <a:extLst>
              <a:ext uri="{FF2B5EF4-FFF2-40B4-BE49-F238E27FC236}">
                <a16:creationId xmlns:a16="http://schemas.microsoft.com/office/drawing/2014/main" id="{5473DBFA-8A88-FE46-8598-BA81C06603F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96994" y="1986779"/>
            <a:ext cx="1371600" cy="444500"/>
          </a:xfrm>
          <a:prstGeom prst="rect">
            <a:avLst/>
          </a:prstGeom>
        </p:spPr>
      </p:pic>
      <p:cxnSp>
        <p:nvCxnSpPr>
          <p:cNvPr id="20" name="Straight Arrow Connector 19">
            <a:extLst>
              <a:ext uri="{FF2B5EF4-FFF2-40B4-BE49-F238E27FC236}">
                <a16:creationId xmlns:a16="http://schemas.microsoft.com/office/drawing/2014/main" id="{61721371-3250-5345-B202-0F61B9697BDF}"/>
              </a:ext>
            </a:extLst>
          </p:cNvPr>
          <p:cNvCxnSpPr/>
          <p:nvPr/>
        </p:nvCxnSpPr>
        <p:spPr>
          <a:xfrm flipV="1">
            <a:off x="10102648" y="2315502"/>
            <a:ext cx="196731" cy="243299"/>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45D54CD-3B4D-3B44-9603-9D4BA81B8899}"/>
              </a:ext>
            </a:extLst>
          </p:cNvPr>
          <p:cNvSpPr/>
          <p:nvPr/>
        </p:nvSpPr>
        <p:spPr>
          <a:xfrm>
            <a:off x="7235618" y="4917170"/>
            <a:ext cx="4545595" cy="646331"/>
          </a:xfrm>
          <a:prstGeom prst="rect">
            <a:avLst/>
          </a:prstGeom>
        </p:spPr>
        <p:txBody>
          <a:bodyPr wrap="square">
            <a:spAutoFit/>
          </a:bodyPr>
          <a:lstStyle/>
          <a:p>
            <a:r>
              <a:rPr lang="en-US" dirty="0">
                <a:solidFill>
                  <a:srgbClr val="C00000"/>
                </a:solidFill>
                <a:latin typeface="LiberationSerif"/>
              </a:rPr>
              <a:t>Since </a:t>
            </a:r>
            <a:r>
              <a:rPr lang="en-US" i="1" dirty="0">
                <a:solidFill>
                  <a:srgbClr val="C00000"/>
                </a:solidFill>
                <a:latin typeface="STIXGeneral" pitchFamily="2" charset="2"/>
              </a:rPr>
              <a:t>g </a:t>
            </a:r>
            <a:r>
              <a:rPr lang="en-US" dirty="0">
                <a:solidFill>
                  <a:srgbClr val="C00000"/>
                </a:solidFill>
                <a:latin typeface="STIXGeneral" pitchFamily="2" charset="2"/>
              </a:rPr>
              <a:t>= 9.80 m/s</a:t>
            </a:r>
            <a:r>
              <a:rPr lang="en-US" baseline="30000" dirty="0">
                <a:solidFill>
                  <a:srgbClr val="C00000"/>
                </a:solidFill>
                <a:latin typeface="STIXGeneral" pitchFamily="2" charset="2"/>
              </a:rPr>
              <a:t>2</a:t>
            </a:r>
            <a:r>
              <a:rPr lang="en-US" sz="1400" dirty="0">
                <a:solidFill>
                  <a:srgbClr val="C00000"/>
                </a:solidFill>
                <a:latin typeface="STIXGeneral" pitchFamily="2" charset="2"/>
              </a:rPr>
              <a:t> </a:t>
            </a:r>
            <a:r>
              <a:rPr lang="en-US" dirty="0">
                <a:solidFill>
                  <a:srgbClr val="C00000"/>
                </a:solidFill>
                <a:latin typeface="LiberationSerif"/>
              </a:rPr>
              <a:t>on Earth, the weight of a 1.00-kg object on Earth is 9.80 N: </a:t>
            </a:r>
            <a:endParaRPr lang="en-US" dirty="0">
              <a:solidFill>
                <a:srgbClr val="C00000"/>
              </a:solidFill>
            </a:endParaRPr>
          </a:p>
        </p:txBody>
      </p:sp>
      <p:pic>
        <p:nvPicPr>
          <p:cNvPr id="23" name="Picture 22">
            <a:extLst>
              <a:ext uri="{FF2B5EF4-FFF2-40B4-BE49-F238E27FC236}">
                <a16:creationId xmlns:a16="http://schemas.microsoft.com/office/drawing/2014/main" id="{2CD1221C-55B9-7041-9249-F0CE013FC5F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56697" y="5563501"/>
            <a:ext cx="4424516" cy="457200"/>
          </a:xfrm>
          <a:prstGeom prst="rect">
            <a:avLst/>
          </a:prstGeom>
        </p:spPr>
      </p:pic>
      <p:sp>
        <p:nvSpPr>
          <p:cNvPr id="25" name="Rectangle 24">
            <a:extLst>
              <a:ext uri="{FF2B5EF4-FFF2-40B4-BE49-F238E27FC236}">
                <a16:creationId xmlns:a16="http://schemas.microsoft.com/office/drawing/2014/main" id="{A5401B1C-C474-EF4A-8659-C07D54A6B0A9}"/>
              </a:ext>
            </a:extLst>
          </p:cNvPr>
          <p:cNvSpPr/>
          <p:nvPr/>
        </p:nvSpPr>
        <p:spPr>
          <a:xfrm>
            <a:off x="263307" y="6156358"/>
            <a:ext cx="11928693" cy="384721"/>
          </a:xfrm>
          <a:prstGeom prst="rect">
            <a:avLst/>
          </a:prstGeom>
        </p:spPr>
        <p:txBody>
          <a:bodyPr wrap="square">
            <a:spAutoFit/>
          </a:bodyPr>
          <a:lstStyle/>
          <a:p>
            <a:r>
              <a:rPr lang="en-US" altLang="en-US" sz="1900" dirty="0">
                <a:solidFill>
                  <a:srgbClr val="000066"/>
                </a:solidFill>
              </a:rPr>
              <a:t>Note:</a:t>
            </a:r>
            <a:r>
              <a:rPr lang="en-US" altLang="en-US" sz="1900" dirty="0">
                <a:solidFill>
                  <a:srgbClr val="FF0000"/>
                </a:solidFill>
              </a:rPr>
              <a:t> Weight is </a:t>
            </a:r>
            <a:r>
              <a:rPr lang="en-US" altLang="en-US" sz="1900" b="1" dirty="0">
                <a:solidFill>
                  <a:srgbClr val="FF0000"/>
                </a:solidFill>
              </a:rPr>
              <a:t>not</a:t>
            </a:r>
            <a:r>
              <a:rPr lang="en-US" altLang="en-US" sz="1900" dirty="0">
                <a:solidFill>
                  <a:srgbClr val="FF0000"/>
                </a:solidFill>
              </a:rPr>
              <a:t> </a:t>
            </a:r>
            <a:r>
              <a:rPr lang="en-US" altLang="en-US" sz="1900" dirty="0">
                <a:solidFill>
                  <a:schemeClr val="accent6">
                    <a:lumMod val="75000"/>
                  </a:schemeClr>
                </a:solidFill>
              </a:rPr>
              <a:t>an inherent property of an object. </a:t>
            </a:r>
            <a:r>
              <a:rPr lang="en-US" altLang="en-US" sz="1900" dirty="0">
                <a:solidFill>
                  <a:srgbClr val="0000CC"/>
                </a:solidFill>
              </a:rPr>
              <a:t>Mass </a:t>
            </a:r>
            <a:r>
              <a:rPr lang="en-US" altLang="en-US" sz="1900" b="1" dirty="0">
                <a:solidFill>
                  <a:srgbClr val="0000CC"/>
                </a:solidFill>
              </a:rPr>
              <a:t>is</a:t>
            </a:r>
            <a:r>
              <a:rPr lang="en-US" altLang="en-US" sz="1900" dirty="0">
                <a:solidFill>
                  <a:srgbClr val="0000CC"/>
                </a:solidFill>
              </a:rPr>
              <a:t> </a:t>
            </a:r>
            <a:r>
              <a:rPr lang="en-US" altLang="en-US" sz="1900" dirty="0">
                <a:solidFill>
                  <a:schemeClr val="accent6">
                    <a:lumMod val="75000"/>
                  </a:schemeClr>
                </a:solidFill>
              </a:rPr>
              <a:t>an inherent property. </a:t>
            </a:r>
            <a:r>
              <a:rPr lang="en-US" altLang="en-US" sz="1900" dirty="0">
                <a:solidFill>
                  <a:srgbClr val="FF0000"/>
                </a:solidFill>
              </a:rPr>
              <a:t>Weight depends upon location.</a:t>
            </a:r>
          </a:p>
        </p:txBody>
      </p:sp>
    </p:spTree>
    <p:extLst>
      <p:ext uri="{BB962C8B-B14F-4D97-AF65-F5344CB8AC3E}">
        <p14:creationId xmlns:p14="http://schemas.microsoft.com/office/powerpoint/2010/main" val="14868055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Mass and Weight </a:t>
            </a:r>
          </a:p>
        </p:txBody>
      </p:sp>
      <p:sp>
        <p:nvSpPr>
          <p:cNvPr id="4" name="Rectangle 3">
            <a:extLst>
              <a:ext uri="{FF2B5EF4-FFF2-40B4-BE49-F238E27FC236}">
                <a16:creationId xmlns:a16="http://schemas.microsoft.com/office/drawing/2014/main" id="{B65794D4-A0BF-1A41-BD37-4F6B65444263}"/>
              </a:ext>
            </a:extLst>
          </p:cNvPr>
          <p:cNvSpPr/>
          <p:nvPr/>
        </p:nvSpPr>
        <p:spPr>
          <a:xfrm>
            <a:off x="759540" y="802276"/>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2" name="Rectangle 1">
            <a:extLst>
              <a:ext uri="{FF2B5EF4-FFF2-40B4-BE49-F238E27FC236}">
                <a16:creationId xmlns:a16="http://schemas.microsoft.com/office/drawing/2014/main" id="{99B1DD81-C97C-614C-9FB7-D22452DDA4D6}"/>
              </a:ext>
            </a:extLst>
          </p:cNvPr>
          <p:cNvSpPr/>
          <p:nvPr/>
        </p:nvSpPr>
        <p:spPr>
          <a:xfrm>
            <a:off x="759540" y="1233163"/>
            <a:ext cx="10315009" cy="1107996"/>
          </a:xfrm>
          <a:prstGeom prst="rect">
            <a:avLst/>
          </a:prstGeom>
        </p:spPr>
        <p:txBody>
          <a:bodyPr wrap="square">
            <a:spAutoFit/>
          </a:bodyPr>
          <a:lstStyle/>
          <a:p>
            <a:r>
              <a:rPr lang="en-US" sz="2200" dirty="0">
                <a:latin typeface="LiberationSerif"/>
              </a:rPr>
              <a:t>A farmer is lifting some moderately heavy rocks from a field to plant crops. He lifts a stone that weighs 40.0 lb. (about 180 N). What force does he apply if the stone accelerates at a rate of </a:t>
            </a:r>
            <a:r>
              <a:rPr lang="en-US" sz="2200" dirty="0">
                <a:latin typeface="STIXGeneral" pitchFamily="2" charset="2"/>
              </a:rPr>
              <a:t>1.5 m/s</a:t>
            </a:r>
            <a:r>
              <a:rPr lang="en-US" sz="2200" baseline="30000" dirty="0">
                <a:latin typeface="STIXGeneral" pitchFamily="2" charset="2"/>
              </a:rPr>
              <a:t>2 </a:t>
            </a:r>
            <a:r>
              <a:rPr lang="en-US" sz="2200" dirty="0">
                <a:latin typeface="STIXGeneral" pitchFamily="2" charset="2"/>
              </a:rPr>
              <a:t>? </a:t>
            </a:r>
            <a:endParaRPr lang="en-US" sz="2200" dirty="0"/>
          </a:p>
        </p:txBody>
      </p:sp>
      <p:pic>
        <p:nvPicPr>
          <p:cNvPr id="7" name="Picture 6" descr="Graphical user interface&#10;&#10;Description automatically generated with medium confidence">
            <a:extLst>
              <a:ext uri="{FF2B5EF4-FFF2-40B4-BE49-F238E27FC236}">
                <a16:creationId xmlns:a16="http://schemas.microsoft.com/office/drawing/2014/main" id="{C97D5448-E95D-AA45-A42E-7A5585EB9F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540" y="2425700"/>
            <a:ext cx="3657600" cy="2006600"/>
          </a:xfrm>
          <a:prstGeom prst="rect">
            <a:avLst/>
          </a:prstGeom>
        </p:spPr>
      </p:pic>
      <p:pic>
        <p:nvPicPr>
          <p:cNvPr id="9" name="Picture 8" descr="Text, table&#10;&#10;Description automatically generated">
            <a:extLst>
              <a:ext uri="{FF2B5EF4-FFF2-40B4-BE49-F238E27FC236}">
                <a16:creationId xmlns:a16="http://schemas.microsoft.com/office/drawing/2014/main" id="{23F05C56-81F8-D149-9CBA-463377426F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1076" y="2425700"/>
            <a:ext cx="3905344" cy="2743200"/>
          </a:xfrm>
          <a:prstGeom prst="rect">
            <a:avLst/>
          </a:prstGeom>
        </p:spPr>
      </p:pic>
      <p:sp>
        <p:nvSpPr>
          <p:cNvPr id="10" name="Rectangle 9">
            <a:extLst>
              <a:ext uri="{FF2B5EF4-FFF2-40B4-BE49-F238E27FC236}">
                <a16:creationId xmlns:a16="http://schemas.microsoft.com/office/drawing/2014/main" id="{1EC70B51-6074-874F-87A5-1E60B118C8B7}"/>
              </a:ext>
            </a:extLst>
          </p:cNvPr>
          <p:cNvSpPr/>
          <p:nvPr/>
        </p:nvSpPr>
        <p:spPr>
          <a:xfrm>
            <a:off x="7992795" y="4921397"/>
            <a:ext cx="1646861" cy="276999"/>
          </a:xfrm>
          <a:prstGeom prst="rect">
            <a:avLst/>
          </a:prstGeom>
        </p:spPr>
        <p:txBody>
          <a:bodyPr wrap="none">
            <a:spAutoFit/>
          </a:bodyPr>
          <a:lstStyle/>
          <a:p>
            <a:r>
              <a:rPr lang="en-US" sz="1200" dirty="0">
                <a:solidFill>
                  <a:srgbClr val="C00000"/>
                </a:solidFill>
                <a:latin typeface="LiberationSerif"/>
              </a:rPr>
              <a:t>(two significant figures)</a:t>
            </a:r>
            <a:endParaRPr lang="en-US" sz="1200" dirty="0">
              <a:solidFill>
                <a:srgbClr val="C00000"/>
              </a:solidFill>
            </a:endParaRPr>
          </a:p>
        </p:txBody>
      </p:sp>
    </p:spTree>
    <p:extLst>
      <p:ext uri="{BB962C8B-B14F-4D97-AF65-F5344CB8AC3E}">
        <p14:creationId xmlns:p14="http://schemas.microsoft.com/office/powerpoint/2010/main" val="14682281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Mass and Weight </a:t>
            </a:r>
          </a:p>
        </p:txBody>
      </p:sp>
      <p:sp>
        <p:nvSpPr>
          <p:cNvPr id="4" name="Rectangle 3">
            <a:extLst>
              <a:ext uri="{FF2B5EF4-FFF2-40B4-BE49-F238E27FC236}">
                <a16:creationId xmlns:a16="http://schemas.microsoft.com/office/drawing/2014/main" id="{B65794D4-A0BF-1A41-BD37-4F6B65444263}"/>
              </a:ext>
            </a:extLst>
          </p:cNvPr>
          <p:cNvSpPr/>
          <p:nvPr/>
        </p:nvSpPr>
        <p:spPr>
          <a:xfrm>
            <a:off x="759540" y="802276"/>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2" name="Rectangle 1">
            <a:extLst>
              <a:ext uri="{FF2B5EF4-FFF2-40B4-BE49-F238E27FC236}">
                <a16:creationId xmlns:a16="http://schemas.microsoft.com/office/drawing/2014/main" id="{99B1DD81-C97C-614C-9FB7-D22452DDA4D6}"/>
              </a:ext>
            </a:extLst>
          </p:cNvPr>
          <p:cNvSpPr/>
          <p:nvPr/>
        </p:nvSpPr>
        <p:spPr>
          <a:xfrm>
            <a:off x="759540" y="1233163"/>
            <a:ext cx="10315009" cy="1107996"/>
          </a:xfrm>
          <a:prstGeom prst="rect">
            <a:avLst/>
          </a:prstGeom>
        </p:spPr>
        <p:txBody>
          <a:bodyPr wrap="square">
            <a:spAutoFit/>
          </a:bodyPr>
          <a:lstStyle/>
          <a:p>
            <a:r>
              <a:rPr lang="en-US" sz="2200" dirty="0">
                <a:latin typeface="LiberationSerif"/>
              </a:rPr>
              <a:t>A farmer is lifting some moderately heavy rocks from a field to plant crops. He lifts a stone that weighs 40.0 lb. (about 180 N). What force does he apply if the stone accelerates at a rate of </a:t>
            </a:r>
            <a:r>
              <a:rPr lang="en-US" sz="2200" dirty="0">
                <a:latin typeface="STIXGeneral" pitchFamily="2" charset="2"/>
              </a:rPr>
              <a:t>1.5 m/s</a:t>
            </a:r>
            <a:r>
              <a:rPr lang="en-US" sz="2200" baseline="30000" dirty="0">
                <a:latin typeface="STIXGeneral" pitchFamily="2" charset="2"/>
              </a:rPr>
              <a:t>2 </a:t>
            </a:r>
            <a:r>
              <a:rPr lang="en-US" sz="2200" dirty="0">
                <a:latin typeface="STIXGeneral" pitchFamily="2" charset="2"/>
              </a:rPr>
              <a:t>? </a:t>
            </a:r>
            <a:endParaRPr lang="en-US" sz="2200" dirty="0"/>
          </a:p>
        </p:txBody>
      </p:sp>
      <p:pic>
        <p:nvPicPr>
          <p:cNvPr id="7" name="Picture 6" descr="Graphical user interface&#10;&#10;Description automatically generated with medium confidence">
            <a:extLst>
              <a:ext uri="{FF2B5EF4-FFF2-40B4-BE49-F238E27FC236}">
                <a16:creationId xmlns:a16="http://schemas.microsoft.com/office/drawing/2014/main" id="{C97D5448-E95D-AA45-A42E-7A5585EB9F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540" y="2425700"/>
            <a:ext cx="3657600" cy="2006600"/>
          </a:xfrm>
          <a:prstGeom prst="rect">
            <a:avLst/>
          </a:prstGeom>
        </p:spPr>
      </p:pic>
      <p:pic>
        <p:nvPicPr>
          <p:cNvPr id="9" name="Picture 8" descr="Text, table&#10;&#10;Description automatically generated">
            <a:extLst>
              <a:ext uri="{FF2B5EF4-FFF2-40B4-BE49-F238E27FC236}">
                <a16:creationId xmlns:a16="http://schemas.microsoft.com/office/drawing/2014/main" id="{23F05C56-81F8-D149-9CBA-463377426F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1076" y="2425700"/>
            <a:ext cx="3905344" cy="2743200"/>
          </a:xfrm>
          <a:prstGeom prst="rect">
            <a:avLst/>
          </a:prstGeom>
        </p:spPr>
      </p:pic>
      <p:sp>
        <p:nvSpPr>
          <p:cNvPr id="10" name="Rectangle 9">
            <a:extLst>
              <a:ext uri="{FF2B5EF4-FFF2-40B4-BE49-F238E27FC236}">
                <a16:creationId xmlns:a16="http://schemas.microsoft.com/office/drawing/2014/main" id="{1EC70B51-6074-874F-87A5-1E60B118C8B7}"/>
              </a:ext>
            </a:extLst>
          </p:cNvPr>
          <p:cNvSpPr/>
          <p:nvPr/>
        </p:nvSpPr>
        <p:spPr>
          <a:xfrm>
            <a:off x="7992795" y="4921397"/>
            <a:ext cx="1646861" cy="276999"/>
          </a:xfrm>
          <a:prstGeom prst="rect">
            <a:avLst/>
          </a:prstGeom>
        </p:spPr>
        <p:txBody>
          <a:bodyPr wrap="none">
            <a:spAutoFit/>
          </a:bodyPr>
          <a:lstStyle/>
          <a:p>
            <a:r>
              <a:rPr lang="en-US" sz="1200" dirty="0">
                <a:solidFill>
                  <a:srgbClr val="C00000"/>
                </a:solidFill>
                <a:latin typeface="LiberationSerif"/>
              </a:rPr>
              <a:t>(two significant figures)</a:t>
            </a:r>
            <a:endParaRPr lang="en-US" sz="1200" dirty="0">
              <a:solidFill>
                <a:srgbClr val="C00000"/>
              </a:solidFill>
            </a:endParaRPr>
          </a:p>
        </p:txBody>
      </p:sp>
      <p:sp>
        <p:nvSpPr>
          <p:cNvPr id="11" name="Rectangle 10">
            <a:extLst>
              <a:ext uri="{FF2B5EF4-FFF2-40B4-BE49-F238E27FC236}">
                <a16:creationId xmlns:a16="http://schemas.microsoft.com/office/drawing/2014/main" id="{3A49AB2B-FD60-6440-B832-47EFEE52C70E}"/>
              </a:ext>
            </a:extLst>
          </p:cNvPr>
          <p:cNvSpPr/>
          <p:nvPr/>
        </p:nvSpPr>
        <p:spPr>
          <a:xfrm>
            <a:off x="721158" y="5515020"/>
            <a:ext cx="9558468" cy="1107996"/>
          </a:xfrm>
          <a:prstGeom prst="rect">
            <a:avLst/>
          </a:prstGeom>
        </p:spPr>
        <p:txBody>
          <a:bodyPr wrap="square">
            <a:spAutoFit/>
          </a:bodyPr>
          <a:lstStyle/>
          <a:p>
            <a:r>
              <a:rPr lang="en-US" sz="2200" dirty="0">
                <a:solidFill>
                  <a:srgbClr val="0000CC"/>
                </a:solidFill>
              </a:rPr>
              <a:t>Assignment 4</a:t>
            </a:r>
          </a:p>
          <a:p>
            <a:r>
              <a:rPr lang="en-US" sz="2200" dirty="0"/>
              <a:t>Find the acceleration when the farmer’s applied force is 230.0 N. </a:t>
            </a:r>
          </a:p>
          <a:p>
            <a:endParaRPr lang="en-US" sz="2200" dirty="0">
              <a:solidFill>
                <a:srgbClr val="0000CC"/>
              </a:solidFill>
            </a:endParaRPr>
          </a:p>
        </p:txBody>
      </p:sp>
    </p:spTree>
    <p:extLst>
      <p:ext uri="{BB962C8B-B14F-4D97-AF65-F5344CB8AC3E}">
        <p14:creationId xmlns:p14="http://schemas.microsoft.com/office/powerpoint/2010/main" val="36904144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Newton’s Third Law </a:t>
            </a:r>
          </a:p>
        </p:txBody>
      </p:sp>
      <p:sp>
        <p:nvSpPr>
          <p:cNvPr id="2" name="Rectangle 1">
            <a:extLst>
              <a:ext uri="{FF2B5EF4-FFF2-40B4-BE49-F238E27FC236}">
                <a16:creationId xmlns:a16="http://schemas.microsoft.com/office/drawing/2014/main" id="{80437572-3D94-964E-A5BC-96AC7A8FBD1B}"/>
              </a:ext>
            </a:extLst>
          </p:cNvPr>
          <p:cNvSpPr/>
          <p:nvPr/>
        </p:nvSpPr>
        <p:spPr>
          <a:xfrm>
            <a:off x="428571" y="720575"/>
            <a:ext cx="10265664" cy="646331"/>
          </a:xfrm>
          <a:prstGeom prst="rect">
            <a:avLst/>
          </a:prstGeom>
        </p:spPr>
        <p:txBody>
          <a:bodyPr wrap="square">
            <a:spAutoFit/>
          </a:bodyPr>
          <a:lstStyle/>
          <a:p>
            <a:r>
              <a:rPr lang="en-US" dirty="0">
                <a:solidFill>
                  <a:srgbClr val="000066"/>
                </a:solidFill>
                <a:latin typeface="LiberationSerif"/>
              </a:rPr>
              <a:t>Whenever one body exerts a force on a second body, the first body experiences a force that is equal in magnitude and opposite in direction to the force that it exerts. </a:t>
            </a:r>
            <a:endParaRPr lang="en-US" dirty="0">
              <a:solidFill>
                <a:srgbClr val="000066"/>
              </a:solidFill>
              <a:effectLst/>
            </a:endParaRPr>
          </a:p>
        </p:txBody>
      </p:sp>
      <p:pic>
        <p:nvPicPr>
          <p:cNvPr id="7" name="Picture 6">
            <a:extLst>
              <a:ext uri="{FF2B5EF4-FFF2-40B4-BE49-F238E27FC236}">
                <a16:creationId xmlns:a16="http://schemas.microsoft.com/office/drawing/2014/main" id="{5B03EACF-3CB0-4445-BD56-1459881A1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583528"/>
            <a:ext cx="6858000" cy="515423"/>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355C02B0-FE46-8A43-BD72-6BC3BFC551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8400" y="2038480"/>
            <a:ext cx="6858000" cy="1069335"/>
          </a:xfrm>
          <a:prstGeom prst="rect">
            <a:avLst/>
          </a:prstGeom>
        </p:spPr>
      </p:pic>
      <p:pic>
        <p:nvPicPr>
          <p:cNvPr id="13" name="Picture 12" descr="Diagram&#10;&#10;Description automatically generated">
            <a:extLst>
              <a:ext uri="{FF2B5EF4-FFF2-40B4-BE49-F238E27FC236}">
                <a16:creationId xmlns:a16="http://schemas.microsoft.com/office/drawing/2014/main" id="{13ED7A7D-B1C4-B249-9FA4-C49A41BEA2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5251" y="3387450"/>
            <a:ext cx="7126565" cy="2743200"/>
          </a:xfrm>
          <a:prstGeom prst="rect">
            <a:avLst/>
          </a:prstGeom>
        </p:spPr>
      </p:pic>
      <p:sp>
        <p:nvSpPr>
          <p:cNvPr id="14" name="Rectangle 13">
            <a:extLst>
              <a:ext uri="{FF2B5EF4-FFF2-40B4-BE49-F238E27FC236}">
                <a16:creationId xmlns:a16="http://schemas.microsoft.com/office/drawing/2014/main" id="{72399B6B-3D67-5E4E-85DD-43A5A1E1DE66}"/>
              </a:ext>
            </a:extLst>
          </p:cNvPr>
          <p:cNvSpPr/>
          <p:nvPr/>
        </p:nvSpPr>
        <p:spPr>
          <a:xfrm>
            <a:off x="7748274" y="4175088"/>
            <a:ext cx="3932449" cy="1477328"/>
          </a:xfrm>
          <a:prstGeom prst="rect">
            <a:avLst/>
          </a:prstGeom>
        </p:spPr>
        <p:txBody>
          <a:bodyPr wrap="square">
            <a:spAutoFit/>
          </a:bodyPr>
          <a:lstStyle/>
          <a:p>
            <a:r>
              <a:rPr lang="en-US" dirty="0">
                <a:solidFill>
                  <a:srgbClr val="000066"/>
                </a:solidFill>
              </a:rPr>
              <a:t>When the swimmer exerts a force on the wall, she accelerates in the opposite direction; in other words, the net external force on her is in the direction opposite of </a:t>
            </a:r>
            <a:r>
              <a:rPr lang="en-US" b="1" i="1" dirty="0" err="1">
                <a:solidFill>
                  <a:srgbClr val="000066"/>
                </a:solidFill>
              </a:rPr>
              <a:t>F</a:t>
            </a:r>
            <a:r>
              <a:rPr lang="en-US" baseline="-25000" dirty="0" err="1">
                <a:solidFill>
                  <a:srgbClr val="000066"/>
                </a:solidFill>
              </a:rPr>
              <a:t>feet</a:t>
            </a:r>
            <a:r>
              <a:rPr lang="en-US" baseline="-25000" dirty="0">
                <a:solidFill>
                  <a:srgbClr val="000066"/>
                </a:solidFill>
              </a:rPr>
              <a:t> on wall</a:t>
            </a:r>
            <a:r>
              <a:rPr lang="en-US" dirty="0">
                <a:solidFill>
                  <a:srgbClr val="000066"/>
                </a:solidFill>
              </a:rPr>
              <a:t>. </a:t>
            </a:r>
          </a:p>
        </p:txBody>
      </p:sp>
    </p:spTree>
    <p:extLst>
      <p:ext uri="{BB962C8B-B14F-4D97-AF65-F5344CB8AC3E}">
        <p14:creationId xmlns:p14="http://schemas.microsoft.com/office/powerpoint/2010/main" val="20759725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Newton’s Third Law </a:t>
            </a:r>
          </a:p>
        </p:txBody>
      </p:sp>
      <p:sp>
        <p:nvSpPr>
          <p:cNvPr id="2" name="Rectangle 1">
            <a:extLst>
              <a:ext uri="{FF2B5EF4-FFF2-40B4-BE49-F238E27FC236}">
                <a16:creationId xmlns:a16="http://schemas.microsoft.com/office/drawing/2014/main" id="{80437572-3D94-964E-A5BC-96AC7A8FBD1B}"/>
              </a:ext>
            </a:extLst>
          </p:cNvPr>
          <p:cNvSpPr/>
          <p:nvPr/>
        </p:nvSpPr>
        <p:spPr>
          <a:xfrm>
            <a:off x="428571" y="720575"/>
            <a:ext cx="10265664" cy="646331"/>
          </a:xfrm>
          <a:prstGeom prst="rect">
            <a:avLst/>
          </a:prstGeom>
        </p:spPr>
        <p:txBody>
          <a:bodyPr wrap="square">
            <a:spAutoFit/>
          </a:bodyPr>
          <a:lstStyle/>
          <a:p>
            <a:r>
              <a:rPr lang="en-US" dirty="0">
                <a:solidFill>
                  <a:srgbClr val="000066"/>
                </a:solidFill>
                <a:latin typeface="LiberationSerif"/>
              </a:rPr>
              <a:t>Whenever one body exerts a force on a second body, the first body experiences a force that is equal in magnitude and opposite in direction to the force that it exerts. </a:t>
            </a:r>
            <a:endParaRPr lang="en-US" dirty="0">
              <a:solidFill>
                <a:srgbClr val="000066"/>
              </a:solidFill>
              <a:effectLst/>
            </a:endParaRPr>
          </a:p>
        </p:txBody>
      </p:sp>
      <p:pic>
        <p:nvPicPr>
          <p:cNvPr id="7" name="Picture 6">
            <a:extLst>
              <a:ext uri="{FF2B5EF4-FFF2-40B4-BE49-F238E27FC236}">
                <a16:creationId xmlns:a16="http://schemas.microsoft.com/office/drawing/2014/main" id="{5B03EACF-3CB0-4445-BD56-1459881A1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583528"/>
            <a:ext cx="6858000" cy="515423"/>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355C02B0-FE46-8A43-BD72-6BC3BFC551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8400" y="2038480"/>
            <a:ext cx="6858000" cy="1069335"/>
          </a:xfrm>
          <a:prstGeom prst="rect">
            <a:avLst/>
          </a:prstGeom>
        </p:spPr>
      </p:pic>
      <p:pic>
        <p:nvPicPr>
          <p:cNvPr id="4" name="Picture 3" descr="A picture containing text&#10;&#10;Description automatically generated">
            <a:extLst>
              <a:ext uri="{FF2B5EF4-FFF2-40B4-BE49-F238E27FC236}">
                <a16:creationId xmlns:a16="http://schemas.microsoft.com/office/drawing/2014/main" id="{FBD3B5BF-DA06-E344-9663-9B08C9D7C5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2027" y="3167260"/>
            <a:ext cx="5515387" cy="3200400"/>
          </a:xfrm>
          <a:prstGeom prst="rect">
            <a:avLst/>
          </a:prstGeom>
        </p:spPr>
      </p:pic>
      <p:pic>
        <p:nvPicPr>
          <p:cNvPr id="9" name="Picture 8" descr="A picture containing text, sport, athletic game&#10;&#10;Description automatically generated">
            <a:extLst>
              <a:ext uri="{FF2B5EF4-FFF2-40B4-BE49-F238E27FC236}">
                <a16:creationId xmlns:a16="http://schemas.microsoft.com/office/drawing/2014/main" id="{2D3640D7-87A3-6A49-8F1D-009726908D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44465" y="3167260"/>
            <a:ext cx="4607065" cy="3200400"/>
          </a:xfrm>
          <a:prstGeom prst="rect">
            <a:avLst/>
          </a:prstGeom>
        </p:spPr>
      </p:pic>
      <p:sp>
        <p:nvSpPr>
          <p:cNvPr id="10" name="Rectangle 9">
            <a:extLst>
              <a:ext uri="{FF2B5EF4-FFF2-40B4-BE49-F238E27FC236}">
                <a16:creationId xmlns:a16="http://schemas.microsoft.com/office/drawing/2014/main" id="{17278CFB-E7A3-664A-B300-B17CDD753332}"/>
              </a:ext>
            </a:extLst>
          </p:cNvPr>
          <p:cNvSpPr/>
          <p:nvPr/>
        </p:nvSpPr>
        <p:spPr>
          <a:xfrm>
            <a:off x="6644465" y="6345027"/>
            <a:ext cx="4890683" cy="276999"/>
          </a:xfrm>
          <a:prstGeom prst="rect">
            <a:avLst/>
          </a:prstGeom>
        </p:spPr>
        <p:txBody>
          <a:bodyPr wrap="square">
            <a:spAutoFit/>
          </a:bodyPr>
          <a:lstStyle/>
          <a:p>
            <a:r>
              <a:rPr lang="en-US" sz="1200" dirty="0">
                <a:latin typeface="LiberationSerif"/>
              </a:rPr>
              <a:t>credit "runner": modification of work by "Greenwich Photography"/Flickr </a:t>
            </a:r>
            <a:endParaRPr lang="en-US" sz="1200" dirty="0"/>
          </a:p>
        </p:txBody>
      </p:sp>
      <p:sp>
        <p:nvSpPr>
          <p:cNvPr id="12" name="TextBox 11">
            <a:extLst>
              <a:ext uri="{FF2B5EF4-FFF2-40B4-BE49-F238E27FC236}">
                <a16:creationId xmlns:a16="http://schemas.microsoft.com/office/drawing/2014/main" id="{2694A015-AEFB-8645-A7B7-1C56FABB0FBC}"/>
              </a:ext>
            </a:extLst>
          </p:cNvPr>
          <p:cNvSpPr txBox="1"/>
          <p:nvPr/>
        </p:nvSpPr>
        <p:spPr>
          <a:xfrm>
            <a:off x="3126658" y="6622026"/>
            <a:ext cx="184731" cy="369332"/>
          </a:xfrm>
          <a:prstGeom prst="rect">
            <a:avLst/>
          </a:prstGeom>
          <a:noFill/>
        </p:spPr>
        <p:txBody>
          <a:bodyPr wrap="none" rtlCol="0">
            <a:spAutoFit/>
          </a:bodyPr>
          <a:lstStyle/>
          <a:p>
            <a:endParaRPr lang="en-US" dirty="0"/>
          </a:p>
        </p:txBody>
      </p:sp>
      <p:sp>
        <p:nvSpPr>
          <p:cNvPr id="15" name="Rectangle 14">
            <a:extLst>
              <a:ext uri="{FF2B5EF4-FFF2-40B4-BE49-F238E27FC236}">
                <a16:creationId xmlns:a16="http://schemas.microsoft.com/office/drawing/2014/main" id="{D598669F-F40D-714D-9948-9C77CFC280A9}"/>
              </a:ext>
            </a:extLst>
          </p:cNvPr>
          <p:cNvSpPr/>
          <p:nvPr/>
        </p:nvSpPr>
        <p:spPr>
          <a:xfrm>
            <a:off x="812027" y="6346499"/>
            <a:ext cx="3330912" cy="276999"/>
          </a:xfrm>
          <a:prstGeom prst="rect">
            <a:avLst/>
          </a:prstGeom>
        </p:spPr>
        <p:txBody>
          <a:bodyPr wrap="none">
            <a:spAutoFit/>
          </a:bodyPr>
          <a:lstStyle/>
          <a:p>
            <a:r>
              <a:rPr lang="en-US" sz="1200" dirty="0">
                <a:latin typeface="LiberationSerif"/>
              </a:rPr>
              <a:t>credit left: modification of work by Cristian </a:t>
            </a:r>
            <a:r>
              <a:rPr lang="en-US" sz="1200" dirty="0" err="1">
                <a:latin typeface="LiberationSerif"/>
              </a:rPr>
              <a:t>Bortes</a:t>
            </a:r>
            <a:r>
              <a:rPr lang="en-US" sz="1200" dirty="0">
                <a:latin typeface="LiberationSerif"/>
              </a:rPr>
              <a:t> </a:t>
            </a:r>
            <a:endParaRPr lang="en-US" sz="1200" dirty="0">
              <a:effectLst/>
            </a:endParaRPr>
          </a:p>
        </p:txBody>
      </p:sp>
    </p:spTree>
    <p:extLst>
      <p:ext uri="{BB962C8B-B14F-4D97-AF65-F5344CB8AC3E}">
        <p14:creationId xmlns:p14="http://schemas.microsoft.com/office/powerpoint/2010/main" val="18764869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Newton’s Third Law </a:t>
            </a:r>
          </a:p>
        </p:txBody>
      </p:sp>
      <p:pic>
        <p:nvPicPr>
          <p:cNvPr id="3" name="Picture 2" descr="Diagram&#10;&#10;Description automatically generated">
            <a:extLst>
              <a:ext uri="{FF2B5EF4-FFF2-40B4-BE49-F238E27FC236}">
                <a16:creationId xmlns:a16="http://schemas.microsoft.com/office/drawing/2014/main" id="{BB53D322-DA4E-9F4B-8E39-EAB1F0BD5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795" y="2308880"/>
            <a:ext cx="5460581" cy="4114800"/>
          </a:xfrm>
          <a:prstGeom prst="rect">
            <a:avLst/>
          </a:prstGeom>
        </p:spPr>
      </p:pic>
      <p:pic>
        <p:nvPicPr>
          <p:cNvPr id="7" name="Picture 6" descr="Schematic&#10;&#10;Description automatically generated with medium confidence">
            <a:extLst>
              <a:ext uri="{FF2B5EF4-FFF2-40B4-BE49-F238E27FC236}">
                <a16:creationId xmlns:a16="http://schemas.microsoft.com/office/drawing/2014/main" id="{F93F0617-CB24-BE4A-BA35-428B4E807E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3947" y="2382620"/>
            <a:ext cx="1830897" cy="2057400"/>
          </a:xfrm>
          <a:prstGeom prst="rect">
            <a:avLst/>
          </a:prstGeom>
        </p:spPr>
      </p:pic>
      <p:sp>
        <p:nvSpPr>
          <p:cNvPr id="8" name="Rectangle 7">
            <a:extLst>
              <a:ext uri="{FF2B5EF4-FFF2-40B4-BE49-F238E27FC236}">
                <a16:creationId xmlns:a16="http://schemas.microsoft.com/office/drawing/2014/main" id="{F445ECE1-5E89-A646-927D-2307AE47A52A}"/>
              </a:ext>
            </a:extLst>
          </p:cNvPr>
          <p:cNvSpPr/>
          <p:nvPr/>
        </p:nvSpPr>
        <p:spPr>
          <a:xfrm>
            <a:off x="584795" y="523776"/>
            <a:ext cx="10270020" cy="1785104"/>
          </a:xfrm>
          <a:prstGeom prst="rect">
            <a:avLst/>
          </a:prstGeom>
        </p:spPr>
        <p:txBody>
          <a:bodyPr wrap="square">
            <a:spAutoFit/>
          </a:bodyPr>
          <a:lstStyle/>
          <a:p>
            <a:r>
              <a:rPr lang="en-US" sz="2200" dirty="0">
                <a:solidFill>
                  <a:srgbClr val="000066"/>
                </a:solidFill>
                <a:latin typeface="LiberationSerif"/>
              </a:rPr>
              <a:t>A physics professor pushes a cart of demonstration equipment to a lecture hall. Her mass is 65.0 kg, the cart’s mass is 12.0 kg, and the equipment’s mass is 7.0 kg. Calculate the acceleration produced when the professor exerts a backward force of 150 N on the floor. All forces opposing the motion, such as friction on the cart’s wheels and air resistance, total 24.0 N. </a:t>
            </a:r>
            <a:endParaRPr lang="en-US" sz="2200" dirty="0">
              <a:solidFill>
                <a:srgbClr val="000066"/>
              </a:solidFill>
            </a:endParaRPr>
          </a:p>
        </p:txBody>
      </p:sp>
      <p:pic>
        <p:nvPicPr>
          <p:cNvPr id="10" name="Picture 9" descr="Text&#10;&#10;Description automatically generated">
            <a:extLst>
              <a:ext uri="{FF2B5EF4-FFF2-40B4-BE49-F238E27FC236}">
                <a16:creationId xmlns:a16="http://schemas.microsoft.com/office/drawing/2014/main" id="{FF58F950-890D-B942-B112-A07D838F95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98503" y="4444056"/>
            <a:ext cx="1104900" cy="609600"/>
          </a:xfrm>
          <a:prstGeom prst="rect">
            <a:avLst/>
          </a:prstGeom>
        </p:spPr>
      </p:pic>
      <p:pic>
        <p:nvPicPr>
          <p:cNvPr id="12" name="Picture 11">
            <a:extLst>
              <a:ext uri="{FF2B5EF4-FFF2-40B4-BE49-F238E27FC236}">
                <a16:creationId xmlns:a16="http://schemas.microsoft.com/office/drawing/2014/main" id="{521E8788-9881-A948-B96C-EBC46AA19D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74463" y="3800578"/>
            <a:ext cx="4356100" cy="469900"/>
          </a:xfrm>
          <a:prstGeom prst="rect">
            <a:avLst/>
          </a:prstGeom>
        </p:spPr>
      </p:pic>
      <p:pic>
        <p:nvPicPr>
          <p:cNvPr id="14" name="Picture 13" descr="Logo&#10;&#10;Description automatically generated with low confidence">
            <a:extLst>
              <a:ext uri="{FF2B5EF4-FFF2-40B4-BE49-F238E27FC236}">
                <a16:creationId xmlns:a16="http://schemas.microsoft.com/office/drawing/2014/main" id="{C4CC0B70-0929-564D-9F84-E7F72145B5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74463" y="5247024"/>
            <a:ext cx="3467100" cy="558800"/>
          </a:xfrm>
          <a:prstGeom prst="rect">
            <a:avLst/>
          </a:prstGeom>
        </p:spPr>
      </p:pic>
      <p:pic>
        <p:nvPicPr>
          <p:cNvPr id="16" name="Picture 15" descr="Text&#10;&#10;Description automatically generated with medium confidence">
            <a:extLst>
              <a:ext uri="{FF2B5EF4-FFF2-40B4-BE49-F238E27FC236}">
                <a16:creationId xmlns:a16="http://schemas.microsoft.com/office/drawing/2014/main" id="{C12B8309-3A43-474D-A7B8-A1600ED8B0B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98503" y="5999192"/>
            <a:ext cx="2933700" cy="698500"/>
          </a:xfrm>
          <a:prstGeom prst="rect">
            <a:avLst/>
          </a:prstGeom>
        </p:spPr>
      </p:pic>
      <p:cxnSp>
        <p:nvCxnSpPr>
          <p:cNvPr id="18" name="Straight Arrow Connector 17">
            <a:extLst>
              <a:ext uri="{FF2B5EF4-FFF2-40B4-BE49-F238E27FC236}">
                <a16:creationId xmlns:a16="http://schemas.microsoft.com/office/drawing/2014/main" id="{214E707B-445B-4F45-9658-59F9FA6253A0}"/>
              </a:ext>
            </a:extLst>
          </p:cNvPr>
          <p:cNvCxnSpPr>
            <a:cxnSpLocks/>
          </p:cNvCxnSpPr>
          <p:nvPr/>
        </p:nvCxnSpPr>
        <p:spPr>
          <a:xfrm flipV="1">
            <a:off x="7565923" y="4137680"/>
            <a:ext cx="294967" cy="426884"/>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1177BEC-B4B5-4847-9BA7-D95AD06FB341}"/>
              </a:ext>
            </a:extLst>
          </p:cNvPr>
          <p:cNvCxnSpPr>
            <a:cxnSpLocks/>
          </p:cNvCxnSpPr>
          <p:nvPr/>
        </p:nvCxnSpPr>
        <p:spPr>
          <a:xfrm>
            <a:off x="7674463" y="5041396"/>
            <a:ext cx="112685" cy="362880"/>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359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Newton’s Third Law </a:t>
            </a:r>
          </a:p>
        </p:txBody>
      </p:sp>
      <p:sp>
        <p:nvSpPr>
          <p:cNvPr id="4" name="Rectangle 3">
            <a:extLst>
              <a:ext uri="{FF2B5EF4-FFF2-40B4-BE49-F238E27FC236}">
                <a16:creationId xmlns:a16="http://schemas.microsoft.com/office/drawing/2014/main" id="{44942BEE-9F37-4941-BBA6-E74E0BEBE5C5}"/>
              </a:ext>
            </a:extLst>
          </p:cNvPr>
          <p:cNvSpPr/>
          <p:nvPr/>
        </p:nvSpPr>
        <p:spPr>
          <a:xfrm>
            <a:off x="381000" y="1275886"/>
            <a:ext cx="1800816" cy="430887"/>
          </a:xfrm>
          <a:prstGeom prst="rect">
            <a:avLst/>
          </a:prstGeom>
        </p:spPr>
        <p:txBody>
          <a:bodyPr wrap="square">
            <a:spAutoFit/>
          </a:bodyPr>
          <a:lstStyle/>
          <a:p>
            <a:r>
              <a:rPr lang="en-US" sz="2200" dirty="0">
                <a:solidFill>
                  <a:srgbClr val="0000CC"/>
                </a:solidFill>
              </a:rPr>
              <a:t>Assignment 5</a:t>
            </a:r>
          </a:p>
        </p:txBody>
      </p:sp>
      <p:pic>
        <p:nvPicPr>
          <p:cNvPr id="3" name="Picture 2" descr="Chart&#10;&#10;Description automatically generated">
            <a:extLst>
              <a:ext uri="{FF2B5EF4-FFF2-40B4-BE49-F238E27FC236}">
                <a16:creationId xmlns:a16="http://schemas.microsoft.com/office/drawing/2014/main" id="{490FE482-9443-E848-916A-C438A7458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706773"/>
            <a:ext cx="11430000" cy="4630242"/>
          </a:xfrm>
          <a:prstGeom prst="rect">
            <a:avLst/>
          </a:prstGeom>
        </p:spPr>
      </p:pic>
      <p:sp>
        <p:nvSpPr>
          <p:cNvPr id="7" name="Rectangle 6">
            <a:extLst>
              <a:ext uri="{FF2B5EF4-FFF2-40B4-BE49-F238E27FC236}">
                <a16:creationId xmlns:a16="http://schemas.microsoft.com/office/drawing/2014/main" id="{B5E0E082-1E1B-E544-99F5-7F3BF49A64F2}"/>
              </a:ext>
            </a:extLst>
          </p:cNvPr>
          <p:cNvSpPr/>
          <p:nvPr/>
        </p:nvSpPr>
        <p:spPr>
          <a:xfrm>
            <a:off x="8984225" y="4230480"/>
            <a:ext cx="1800816" cy="769441"/>
          </a:xfrm>
          <a:prstGeom prst="rect">
            <a:avLst/>
          </a:prstGeom>
        </p:spPr>
        <p:txBody>
          <a:bodyPr wrap="square">
            <a:spAutoFit/>
          </a:bodyPr>
          <a:lstStyle/>
          <a:p>
            <a:pPr algn="ctr"/>
            <a:r>
              <a:rPr lang="en-US" sz="2200" dirty="0">
                <a:solidFill>
                  <a:srgbClr val="008000"/>
                </a:solidFill>
              </a:rPr>
              <a:t>Draw the force diagram</a:t>
            </a:r>
          </a:p>
        </p:txBody>
      </p:sp>
    </p:spTree>
    <p:extLst>
      <p:ext uri="{BB962C8B-B14F-4D97-AF65-F5344CB8AC3E}">
        <p14:creationId xmlns:p14="http://schemas.microsoft.com/office/powerpoint/2010/main" val="38964111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sp>
        <p:nvSpPr>
          <p:cNvPr id="3" name="Rectangle 2">
            <a:extLst>
              <a:ext uri="{FF2B5EF4-FFF2-40B4-BE49-F238E27FC236}">
                <a16:creationId xmlns:a16="http://schemas.microsoft.com/office/drawing/2014/main" id="{46EDD777-54C1-C94C-83B2-59659BAB064E}"/>
              </a:ext>
            </a:extLst>
          </p:cNvPr>
          <p:cNvSpPr/>
          <p:nvPr/>
        </p:nvSpPr>
        <p:spPr>
          <a:xfrm>
            <a:off x="867896" y="802276"/>
            <a:ext cx="1750416" cy="430887"/>
          </a:xfrm>
          <a:prstGeom prst="rect">
            <a:avLst/>
          </a:prstGeom>
        </p:spPr>
        <p:txBody>
          <a:bodyPr wrap="none">
            <a:spAutoFit/>
          </a:bodyPr>
          <a:lstStyle/>
          <a:p>
            <a:r>
              <a:rPr lang="en-US" sz="2200" dirty="0">
                <a:solidFill>
                  <a:srgbClr val="008000"/>
                </a:solidFill>
                <a:latin typeface="LiberationSans"/>
              </a:rPr>
              <a:t>Normal force </a:t>
            </a:r>
            <a:endParaRPr lang="en-US" sz="2200" dirty="0">
              <a:solidFill>
                <a:srgbClr val="008000"/>
              </a:solidFill>
            </a:endParaRPr>
          </a:p>
        </p:txBody>
      </p:sp>
      <mc:AlternateContent xmlns:mc="http://schemas.openxmlformats.org/markup-compatibility/2006" xmlns:a14="http://schemas.microsoft.com/office/drawing/2010/main">
        <mc:Choice Requires="a14">
          <p:sp>
            <p:nvSpPr>
              <p:cNvPr id="8" name="Text Placeholder 13">
                <a:extLst>
                  <a:ext uri="{FF2B5EF4-FFF2-40B4-BE49-F238E27FC236}">
                    <a16:creationId xmlns:a16="http://schemas.microsoft.com/office/drawing/2014/main" id="{F2A45424-6307-EE42-92B0-3FD890B694E2}"/>
                  </a:ext>
                </a:extLst>
              </p:cNvPr>
              <p:cNvSpPr txBox="1">
                <a:spLocks/>
              </p:cNvSpPr>
              <p:nvPr/>
            </p:nvSpPr>
            <p:spPr>
              <a:xfrm>
                <a:off x="707763" y="1470464"/>
                <a:ext cx="4367103" cy="45852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Tx/>
                  <a:buAutoNum type="alphaLcParenBoth"/>
                </a:pPr>
                <a:r>
                  <a:rPr lang="en-US" sz="2200" dirty="0">
                    <a:solidFill>
                      <a:srgbClr val="000066"/>
                    </a:solidFill>
                  </a:rPr>
                  <a:t>The person holding the bag of dog food must supply an upward force </a:t>
                </a:r>
                <a14:m>
                  <m:oMath xmlns:m="http://schemas.openxmlformats.org/officeDocument/2006/math">
                    <m:sSub>
                      <m:sSubPr>
                        <m:ctrlPr>
                          <a:rPr lang="en-US" sz="2200" i="1" smtClean="0">
                            <a:solidFill>
                              <a:srgbClr val="000066"/>
                            </a:solidFill>
                            <a:latin typeface="Cambria Math" panose="02040503050406030204" pitchFamily="18" charset="0"/>
                          </a:rPr>
                        </m:ctrlPr>
                      </m:sSubPr>
                      <m:e>
                        <m:acc>
                          <m:accPr>
                            <m:chr m:val="⃗"/>
                            <m:ctrlPr>
                              <a:rPr lang="en-US" sz="2200" b="1" i="1">
                                <a:solidFill>
                                  <a:srgbClr val="000066"/>
                                </a:solidFill>
                                <a:latin typeface="Cambria Math" panose="02040503050406030204" pitchFamily="18" charset="0"/>
                              </a:rPr>
                            </m:ctrlPr>
                          </m:accPr>
                          <m:e>
                            <m:r>
                              <a:rPr lang="en-US" sz="2200" b="1">
                                <a:solidFill>
                                  <a:srgbClr val="000066"/>
                                </a:solidFill>
                                <a:latin typeface="Cambria Math"/>
                              </a:rPr>
                              <m:t>𝐅</m:t>
                            </m:r>
                          </m:e>
                        </m:acc>
                      </m:e>
                      <m:sub>
                        <m:r>
                          <m:rPr>
                            <m:sty m:val="p"/>
                          </m:rPr>
                          <a:rPr lang="en-US" sz="2200" smtClean="0">
                            <a:solidFill>
                              <a:srgbClr val="000066"/>
                            </a:solidFill>
                            <a:latin typeface="Cambria Math"/>
                          </a:rPr>
                          <m:t>hand</m:t>
                        </m:r>
                      </m:sub>
                    </m:sSub>
                    <m:r>
                      <a:rPr lang="en-US" sz="2200" i="1">
                        <a:solidFill>
                          <a:srgbClr val="000066"/>
                        </a:solidFill>
                        <a:latin typeface="Cambria Math"/>
                      </a:rPr>
                      <m:t> </m:t>
                    </m:r>
                  </m:oMath>
                </a14:m>
                <a:r>
                  <a:rPr lang="en-US" sz="2200" dirty="0">
                    <a:solidFill>
                      <a:srgbClr val="000066"/>
                    </a:solidFill>
                  </a:rPr>
                  <a:t>equal in magnitude and opposite in direction to the weight of the food </a:t>
                </a:r>
                <a14:m>
                  <m:oMath xmlns:m="http://schemas.openxmlformats.org/officeDocument/2006/math">
                    <m:acc>
                      <m:accPr>
                        <m:chr m:val="⃗"/>
                        <m:ctrlPr>
                          <a:rPr lang="en-US" sz="2200" b="1" i="1">
                            <a:solidFill>
                              <a:srgbClr val="000066"/>
                            </a:solidFill>
                            <a:latin typeface="Cambria Math" panose="02040503050406030204" pitchFamily="18" charset="0"/>
                          </a:rPr>
                        </m:ctrlPr>
                      </m:accPr>
                      <m:e>
                        <m:r>
                          <a:rPr lang="en-US" sz="2200" b="1" smtClean="0">
                            <a:solidFill>
                              <a:srgbClr val="000066"/>
                            </a:solidFill>
                            <a:latin typeface="Cambria Math"/>
                          </a:rPr>
                          <m:t>𝐰</m:t>
                        </m:r>
                      </m:e>
                    </m:acc>
                  </m:oMath>
                </a14:m>
                <a:r>
                  <a:rPr lang="en-US" sz="2200" dirty="0">
                    <a:solidFill>
                      <a:srgbClr val="000066"/>
                    </a:solidFill>
                  </a:rPr>
                  <a:t> so that it doesn’t drop to the ground. </a:t>
                </a:r>
              </a:p>
              <a:p>
                <a:pPr marL="342900" indent="-342900">
                  <a:buFontTx/>
                  <a:buAutoNum type="alphaLcParenBoth"/>
                </a:pPr>
                <a:r>
                  <a:rPr lang="en-US" sz="2200" dirty="0">
                    <a:solidFill>
                      <a:srgbClr val="000066"/>
                    </a:solidFill>
                  </a:rPr>
                  <a:t>The card table sags when the dog food is placed on it, much like a stiff trampoline. Elastic restoring forces in the table grow as it sags until they supply a force </a:t>
                </a:r>
                <a14:m>
                  <m:oMath xmlns:m="http://schemas.openxmlformats.org/officeDocument/2006/math">
                    <m:acc>
                      <m:accPr>
                        <m:chr m:val="⃗"/>
                        <m:ctrlPr>
                          <a:rPr lang="en-US" sz="2200" b="1" i="1">
                            <a:solidFill>
                              <a:srgbClr val="000066"/>
                            </a:solidFill>
                            <a:latin typeface="Cambria Math" panose="02040503050406030204" pitchFamily="18" charset="0"/>
                          </a:rPr>
                        </m:ctrlPr>
                      </m:accPr>
                      <m:e>
                        <m:r>
                          <a:rPr lang="en-US" sz="2200" b="1" smtClean="0">
                            <a:solidFill>
                              <a:srgbClr val="000066"/>
                            </a:solidFill>
                            <a:latin typeface="Cambria Math"/>
                          </a:rPr>
                          <m:t>𝐍</m:t>
                        </m:r>
                      </m:e>
                    </m:acc>
                    <m:r>
                      <a:rPr lang="en-US" sz="2200" b="1" i="1">
                        <a:solidFill>
                          <a:srgbClr val="000066"/>
                        </a:solidFill>
                        <a:latin typeface="Cambria Math"/>
                      </a:rPr>
                      <m:t> </m:t>
                    </m:r>
                  </m:oMath>
                </a14:m>
                <a:r>
                  <a:rPr lang="en-US" sz="2200" dirty="0">
                    <a:solidFill>
                      <a:srgbClr val="000066"/>
                    </a:solidFill>
                  </a:rPr>
                  <a:t>equal in magnitude and opposite in direction to the weight of the load.</a:t>
                </a:r>
              </a:p>
              <a:p>
                <a:pPr marL="342900" indent="-342900">
                  <a:buFontTx/>
                  <a:buAutoNum type="alphaLcParenBoth"/>
                </a:pPr>
                <a:endParaRPr lang="en-US" sz="500" dirty="0">
                  <a:solidFill>
                    <a:srgbClr val="000066"/>
                  </a:solidFill>
                </a:endParaRPr>
              </a:p>
              <a:p>
                <a:pPr marL="0" indent="0">
                  <a:buNone/>
                </a:pPr>
                <a:r>
                  <a:rPr lang="en-US" sz="2200" dirty="0"/>
                  <a:t>In scalar form</a:t>
                </a:r>
              </a:p>
            </p:txBody>
          </p:sp>
        </mc:Choice>
        <mc:Fallback xmlns="">
          <p:sp>
            <p:nvSpPr>
              <p:cNvPr id="8" name="Text Placeholder 13">
                <a:extLst>
                  <a:ext uri="{FF2B5EF4-FFF2-40B4-BE49-F238E27FC236}">
                    <a16:creationId xmlns:a16="http://schemas.microsoft.com/office/drawing/2014/main" id="{F2A45424-6307-EE42-92B0-3FD890B694E2}"/>
                  </a:ext>
                </a:extLst>
              </p:cNvPr>
              <p:cNvSpPr txBox="1">
                <a:spLocks noRot="1" noChangeAspect="1" noMove="1" noResize="1" noEditPoints="1" noAdjustHandles="1" noChangeArrowheads="1" noChangeShapeType="1" noTextEdit="1"/>
              </p:cNvSpPr>
              <p:nvPr/>
            </p:nvSpPr>
            <p:spPr>
              <a:xfrm>
                <a:off x="707763" y="1470464"/>
                <a:ext cx="4367103" cy="4585260"/>
              </a:xfrm>
              <a:prstGeom prst="rect">
                <a:avLst/>
              </a:prstGeom>
              <a:blipFill>
                <a:blip r:embed="rId3"/>
                <a:stretch>
                  <a:fillRect l="-2029" t="-1657" r="-2029" b="-14917"/>
                </a:stretch>
              </a:blipFill>
            </p:spPr>
            <p:txBody>
              <a:bodyPr/>
              <a:lstStyle/>
              <a:p>
                <a:r>
                  <a:rPr lang="en-US">
                    <a:noFill/>
                  </a:rPr>
                  <a:t> </a:t>
                </a:r>
              </a:p>
            </p:txBody>
          </p:sp>
        </mc:Fallback>
      </mc:AlternateContent>
      <p:pic>
        <p:nvPicPr>
          <p:cNvPr id="9" name="Picture 8" descr="Diagram&#10;&#10;Description automatically generated">
            <a:extLst>
              <a:ext uri="{FF2B5EF4-FFF2-40B4-BE49-F238E27FC236}">
                <a16:creationId xmlns:a16="http://schemas.microsoft.com/office/drawing/2014/main" id="{2F2360BB-89AC-C54C-ADDC-1E8ED8613C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7149" y="597971"/>
            <a:ext cx="5435117" cy="5943600"/>
          </a:xfrm>
          <a:prstGeom prst="rect">
            <a:avLst/>
          </a:prstGeom>
        </p:spPr>
      </p:pic>
      <p:pic>
        <p:nvPicPr>
          <p:cNvPr id="11" name="Picture 10" descr="Logo&#10;&#10;Description automatically generated with medium confidence">
            <a:extLst>
              <a:ext uri="{FF2B5EF4-FFF2-40B4-BE49-F238E27FC236}">
                <a16:creationId xmlns:a16="http://schemas.microsoft.com/office/drawing/2014/main" id="{B391BBB5-FFAA-EC44-B72D-6220E20BE9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02364" y="5666752"/>
            <a:ext cx="1485900" cy="520700"/>
          </a:xfrm>
          <a:prstGeom prst="rect">
            <a:avLst/>
          </a:prstGeom>
        </p:spPr>
      </p:pic>
      <p:pic>
        <p:nvPicPr>
          <p:cNvPr id="13" name="Picture 12" descr="Text, logo&#10;&#10;Description automatically generated with medium confidence">
            <a:extLst>
              <a:ext uri="{FF2B5EF4-FFF2-40B4-BE49-F238E27FC236}">
                <a16:creationId xmlns:a16="http://schemas.microsoft.com/office/drawing/2014/main" id="{BAB52709-5BEE-7C4A-83B4-D7284590E2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02364" y="6187452"/>
            <a:ext cx="977900" cy="406400"/>
          </a:xfrm>
          <a:prstGeom prst="rect">
            <a:avLst/>
          </a:prstGeom>
        </p:spPr>
      </p:pic>
    </p:spTree>
    <p:extLst>
      <p:ext uri="{BB962C8B-B14F-4D97-AF65-F5344CB8AC3E}">
        <p14:creationId xmlns:p14="http://schemas.microsoft.com/office/powerpoint/2010/main" val="17575551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pic>
        <p:nvPicPr>
          <p:cNvPr id="4" name="Picture 3" descr="Text, logo&#10;&#10;Description automatically generated with medium confidence">
            <a:extLst>
              <a:ext uri="{FF2B5EF4-FFF2-40B4-BE49-F238E27FC236}">
                <a16:creationId xmlns:a16="http://schemas.microsoft.com/office/drawing/2014/main" id="{584BF650-5305-0742-BD6C-C100D24DDF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287" y="802276"/>
            <a:ext cx="977900" cy="406400"/>
          </a:xfrm>
          <a:prstGeom prst="rect">
            <a:avLst/>
          </a:prstGeom>
        </p:spPr>
      </p:pic>
      <p:sp>
        <p:nvSpPr>
          <p:cNvPr id="2" name="Rectangle 1">
            <a:extLst>
              <a:ext uri="{FF2B5EF4-FFF2-40B4-BE49-F238E27FC236}">
                <a16:creationId xmlns:a16="http://schemas.microsoft.com/office/drawing/2014/main" id="{01743330-C504-B643-9D2A-A80A01325ABD}"/>
              </a:ext>
            </a:extLst>
          </p:cNvPr>
          <p:cNvSpPr/>
          <p:nvPr/>
        </p:nvSpPr>
        <p:spPr>
          <a:xfrm>
            <a:off x="1743195" y="817024"/>
            <a:ext cx="9331354" cy="1107996"/>
          </a:xfrm>
          <a:prstGeom prst="rect">
            <a:avLst/>
          </a:prstGeom>
        </p:spPr>
        <p:txBody>
          <a:bodyPr wrap="square">
            <a:spAutoFit/>
          </a:bodyPr>
          <a:lstStyle/>
          <a:p>
            <a:r>
              <a:rPr lang="en-US" sz="2200" dirty="0">
                <a:solidFill>
                  <a:srgbClr val="000066"/>
                </a:solidFill>
              </a:rPr>
              <a:t>if the surface is horizontal. </a:t>
            </a:r>
            <a:r>
              <a:rPr lang="en-US" sz="2200" dirty="0">
                <a:solidFill>
                  <a:srgbClr val="C00000"/>
                </a:solidFill>
              </a:rPr>
              <a:t>The normal force can be less than the object’s weight if the object is on an incline. </a:t>
            </a:r>
          </a:p>
          <a:p>
            <a:endParaRPr lang="en-US" sz="2200" dirty="0">
              <a:solidFill>
                <a:srgbClr val="000066"/>
              </a:solidFill>
            </a:endParaRP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34795229-0B72-9F42-B7F3-FCC2F6B8C058}"/>
                  </a:ext>
                </a:extLst>
              </p:cNvPr>
              <p:cNvSpPr txBox="1">
                <a:spLocks/>
              </p:cNvSpPr>
              <p:nvPr/>
            </p:nvSpPr>
            <p:spPr>
              <a:xfrm>
                <a:off x="634181" y="5603963"/>
                <a:ext cx="11208773" cy="7132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The force </a:t>
                </a:r>
                <a14:m>
                  <m:oMath xmlns:m="http://schemas.openxmlformats.org/officeDocument/2006/math">
                    <m:acc>
                      <m:accPr>
                        <m:chr m:val="⃗"/>
                        <m:ctrlPr>
                          <a:rPr lang="en-US" sz="2200" b="1" i="1">
                            <a:latin typeface="Cambria Math" panose="02040503050406030204" pitchFamily="18" charset="0"/>
                          </a:rPr>
                        </m:ctrlPr>
                      </m:accPr>
                      <m:e>
                        <m:r>
                          <a:rPr lang="en-US" sz="2200" b="1">
                            <a:latin typeface="Cambria Math"/>
                          </a:rPr>
                          <m:t>𝐍</m:t>
                        </m:r>
                      </m:e>
                    </m:acc>
                    <m:r>
                      <a:rPr lang="en-US" sz="2200" b="1" i="1">
                        <a:latin typeface="Cambria Math"/>
                      </a:rPr>
                      <m:t> </m:t>
                    </m:r>
                  </m:oMath>
                </a14:m>
                <a:r>
                  <a:rPr lang="en-US" sz="2200" dirty="0"/>
                  <a:t>is equal in magnitude to </a:t>
                </a:r>
                <a:r>
                  <a:rPr lang="en-US" sz="2200" i="1" dirty="0"/>
                  <a:t>w</a:t>
                </a:r>
                <a:r>
                  <a:rPr lang="en-US" sz="2200" i="1" baseline="-25000" dirty="0"/>
                  <a:t>y</a:t>
                </a:r>
                <a:r>
                  <a:rPr lang="en-US" sz="2200" dirty="0"/>
                  <a:t>, so there is no acceleration perpendicular to the slope.    </a:t>
                </a:r>
                <a:r>
                  <a:rPr lang="en-US" sz="2200" i="1" dirty="0"/>
                  <a:t>f</a:t>
                </a:r>
                <a:r>
                  <a:rPr lang="en-US" sz="2200" dirty="0"/>
                  <a:t> is less than </a:t>
                </a:r>
                <a:r>
                  <a:rPr lang="en-US" sz="2200" i="1" dirty="0"/>
                  <a:t>w</a:t>
                </a:r>
                <a:r>
                  <a:rPr lang="en-US" sz="2200" i="1" baseline="-25000" dirty="0"/>
                  <a:t>x</a:t>
                </a:r>
                <a:r>
                  <a:rPr lang="en-US" sz="2200" dirty="0"/>
                  <a:t>, so there is a downslope acceleration (along the axis parallel to the slope).</a:t>
                </a:r>
              </a:p>
            </p:txBody>
          </p:sp>
        </mc:Choice>
        <mc:Fallback xmlns="">
          <p:sp>
            <p:nvSpPr>
              <p:cNvPr id="7" name="Text Placeholder 6">
                <a:extLst>
                  <a:ext uri="{FF2B5EF4-FFF2-40B4-BE49-F238E27FC236}">
                    <a16:creationId xmlns:a16="http://schemas.microsoft.com/office/drawing/2014/main" id="{34795229-0B72-9F42-B7F3-FCC2F6B8C058}"/>
                  </a:ext>
                </a:extLst>
              </p:cNvPr>
              <p:cNvSpPr txBox="1">
                <a:spLocks noRot="1" noChangeAspect="1" noMove="1" noResize="1" noEditPoints="1" noAdjustHandles="1" noChangeArrowheads="1" noChangeShapeType="1" noTextEdit="1"/>
              </p:cNvSpPr>
              <p:nvPr/>
            </p:nvSpPr>
            <p:spPr>
              <a:xfrm>
                <a:off x="634181" y="5603963"/>
                <a:ext cx="11208773" cy="713233"/>
              </a:xfrm>
              <a:prstGeom prst="rect">
                <a:avLst/>
              </a:prstGeom>
              <a:blipFill>
                <a:blip r:embed="rId4"/>
                <a:stretch>
                  <a:fillRect l="-679" t="-5263" b="-21053"/>
                </a:stretch>
              </a:blipFill>
            </p:spPr>
            <p:txBody>
              <a:bodyPr/>
              <a:lstStyle/>
              <a:p>
                <a:r>
                  <a:rPr lang="en-US">
                    <a:noFill/>
                  </a:rPr>
                  <a:t> </a:t>
                </a:r>
              </a:p>
            </p:txBody>
          </p:sp>
        </mc:Fallback>
      </mc:AlternateContent>
      <p:pic>
        <p:nvPicPr>
          <p:cNvPr id="8" name="Picture 7" descr="A picture containing text, sky, map&#10;&#10;Description automatically generated">
            <a:extLst>
              <a:ext uri="{FF2B5EF4-FFF2-40B4-BE49-F238E27FC236}">
                <a16:creationId xmlns:a16="http://schemas.microsoft.com/office/drawing/2014/main" id="{C089E3E7-A2B8-9E48-9DCA-D36CE107D9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181" y="1805088"/>
            <a:ext cx="7211237" cy="3657600"/>
          </a:xfrm>
          <a:prstGeom prst="rect">
            <a:avLst/>
          </a:prstGeom>
        </p:spPr>
      </p:pic>
      <p:sp>
        <p:nvSpPr>
          <p:cNvPr id="9" name="Rectangle 8">
            <a:extLst>
              <a:ext uri="{FF2B5EF4-FFF2-40B4-BE49-F238E27FC236}">
                <a16:creationId xmlns:a16="http://schemas.microsoft.com/office/drawing/2014/main" id="{7A0D4DE3-8EE9-9247-B2F5-366F8DA2C4EE}"/>
              </a:ext>
            </a:extLst>
          </p:cNvPr>
          <p:cNvSpPr/>
          <p:nvPr/>
        </p:nvSpPr>
        <p:spPr>
          <a:xfrm>
            <a:off x="7983792" y="1805088"/>
            <a:ext cx="3859162" cy="2123658"/>
          </a:xfrm>
          <a:prstGeom prst="rect">
            <a:avLst/>
          </a:prstGeom>
        </p:spPr>
        <p:txBody>
          <a:bodyPr wrap="square">
            <a:spAutoFit/>
          </a:bodyPr>
          <a:lstStyle/>
          <a:p>
            <a:r>
              <a:rPr lang="en-US" sz="2200" dirty="0">
                <a:solidFill>
                  <a:srgbClr val="000066"/>
                </a:solidFill>
                <a:latin typeface="LiberationSerif"/>
              </a:rPr>
              <a:t>Consider the skier on the slope in </a:t>
            </a:r>
            <a:r>
              <a:rPr lang="en-US" sz="2200" dirty="0">
                <a:solidFill>
                  <a:srgbClr val="000066"/>
                </a:solidFill>
                <a:latin typeface="LiberationSans"/>
              </a:rPr>
              <a:t>Figure</a:t>
            </a:r>
            <a:r>
              <a:rPr lang="en-US" sz="2200" dirty="0">
                <a:solidFill>
                  <a:srgbClr val="000066"/>
                </a:solidFill>
                <a:latin typeface="LiberationSerif"/>
              </a:rPr>
              <a:t>. Her mass including equipment is 60.0 kg. (a) What is her acceleration if friction is negligible? (b) What is her acceleration if friction is 45.0 N? </a:t>
            </a:r>
            <a:endParaRPr lang="en-US" sz="2200" dirty="0">
              <a:solidFill>
                <a:srgbClr val="000066"/>
              </a:solidFill>
            </a:endParaRPr>
          </a:p>
        </p:txBody>
      </p:sp>
      <p:sp>
        <p:nvSpPr>
          <p:cNvPr id="10" name="Rectangle 9">
            <a:extLst>
              <a:ext uri="{FF2B5EF4-FFF2-40B4-BE49-F238E27FC236}">
                <a16:creationId xmlns:a16="http://schemas.microsoft.com/office/drawing/2014/main" id="{CAB3B9A4-1A51-5946-BEFD-4434A576268F}"/>
              </a:ext>
            </a:extLst>
          </p:cNvPr>
          <p:cNvSpPr/>
          <p:nvPr/>
        </p:nvSpPr>
        <p:spPr>
          <a:xfrm>
            <a:off x="7983792" y="1508881"/>
            <a:ext cx="1152623" cy="430887"/>
          </a:xfrm>
          <a:prstGeom prst="rect">
            <a:avLst/>
          </a:prstGeom>
        </p:spPr>
        <p:txBody>
          <a:bodyPr wrap="none">
            <a:spAutoFit/>
          </a:bodyPr>
          <a:lstStyle/>
          <a:p>
            <a:r>
              <a:rPr lang="en-US" sz="2200" dirty="0">
                <a:solidFill>
                  <a:srgbClr val="008000"/>
                </a:solidFill>
              </a:rPr>
              <a:t>Example</a:t>
            </a:r>
            <a:endParaRPr lang="en-US" sz="2200" dirty="0"/>
          </a:p>
        </p:txBody>
      </p:sp>
    </p:spTree>
    <p:extLst>
      <p:ext uri="{BB962C8B-B14F-4D97-AF65-F5344CB8AC3E}">
        <p14:creationId xmlns:p14="http://schemas.microsoft.com/office/powerpoint/2010/main" val="16401271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pic>
        <p:nvPicPr>
          <p:cNvPr id="4" name="Picture 3" descr="Text, logo&#10;&#10;Description automatically generated with medium confidence">
            <a:extLst>
              <a:ext uri="{FF2B5EF4-FFF2-40B4-BE49-F238E27FC236}">
                <a16:creationId xmlns:a16="http://schemas.microsoft.com/office/drawing/2014/main" id="{584BF650-5305-0742-BD6C-C100D24DDF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287" y="802276"/>
            <a:ext cx="977900" cy="406400"/>
          </a:xfrm>
          <a:prstGeom prst="rect">
            <a:avLst/>
          </a:prstGeom>
        </p:spPr>
      </p:pic>
      <p:sp>
        <p:nvSpPr>
          <p:cNvPr id="2" name="Rectangle 1">
            <a:extLst>
              <a:ext uri="{FF2B5EF4-FFF2-40B4-BE49-F238E27FC236}">
                <a16:creationId xmlns:a16="http://schemas.microsoft.com/office/drawing/2014/main" id="{01743330-C504-B643-9D2A-A80A01325ABD}"/>
              </a:ext>
            </a:extLst>
          </p:cNvPr>
          <p:cNvSpPr/>
          <p:nvPr/>
        </p:nvSpPr>
        <p:spPr>
          <a:xfrm>
            <a:off x="1743195" y="817024"/>
            <a:ext cx="9331354" cy="1107996"/>
          </a:xfrm>
          <a:prstGeom prst="rect">
            <a:avLst/>
          </a:prstGeom>
        </p:spPr>
        <p:txBody>
          <a:bodyPr wrap="square">
            <a:spAutoFit/>
          </a:bodyPr>
          <a:lstStyle/>
          <a:p>
            <a:r>
              <a:rPr lang="en-US" sz="2200" dirty="0">
                <a:solidFill>
                  <a:srgbClr val="000066"/>
                </a:solidFill>
              </a:rPr>
              <a:t>if the surface is horizontal. </a:t>
            </a:r>
            <a:r>
              <a:rPr lang="en-US" sz="2200" dirty="0">
                <a:solidFill>
                  <a:srgbClr val="C00000"/>
                </a:solidFill>
              </a:rPr>
              <a:t>The normal force can be less than the object’s weight if the object is on an incline. </a:t>
            </a:r>
          </a:p>
          <a:p>
            <a:endParaRPr lang="en-US" sz="2200" dirty="0">
              <a:solidFill>
                <a:srgbClr val="000066"/>
              </a:solidFill>
            </a:endParaRPr>
          </a:p>
        </p:txBody>
      </p:sp>
      <p:pic>
        <p:nvPicPr>
          <p:cNvPr id="8" name="Picture 7" descr="A picture containing text, sky, map&#10;&#10;Description automatically generated">
            <a:extLst>
              <a:ext uri="{FF2B5EF4-FFF2-40B4-BE49-F238E27FC236}">
                <a16:creationId xmlns:a16="http://schemas.microsoft.com/office/drawing/2014/main" id="{C089E3E7-A2B8-9E48-9DCA-D36CE107D9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181" y="1805088"/>
            <a:ext cx="7211237" cy="3657600"/>
          </a:xfrm>
          <a:prstGeom prst="rect">
            <a:avLst/>
          </a:prstGeom>
        </p:spPr>
      </p:pic>
      <p:sp>
        <p:nvSpPr>
          <p:cNvPr id="9" name="Rectangle 8">
            <a:extLst>
              <a:ext uri="{FF2B5EF4-FFF2-40B4-BE49-F238E27FC236}">
                <a16:creationId xmlns:a16="http://schemas.microsoft.com/office/drawing/2014/main" id="{7A0D4DE3-8EE9-9247-B2F5-366F8DA2C4EE}"/>
              </a:ext>
            </a:extLst>
          </p:cNvPr>
          <p:cNvSpPr/>
          <p:nvPr/>
        </p:nvSpPr>
        <p:spPr>
          <a:xfrm>
            <a:off x="7983792" y="1805088"/>
            <a:ext cx="3859162" cy="2123658"/>
          </a:xfrm>
          <a:prstGeom prst="rect">
            <a:avLst/>
          </a:prstGeom>
        </p:spPr>
        <p:txBody>
          <a:bodyPr wrap="square">
            <a:spAutoFit/>
          </a:bodyPr>
          <a:lstStyle/>
          <a:p>
            <a:r>
              <a:rPr lang="en-US" sz="2200" dirty="0">
                <a:solidFill>
                  <a:srgbClr val="000066"/>
                </a:solidFill>
                <a:latin typeface="LiberationSerif"/>
              </a:rPr>
              <a:t>Consider the skier on the slope in </a:t>
            </a:r>
            <a:r>
              <a:rPr lang="en-US" sz="2200" dirty="0">
                <a:solidFill>
                  <a:srgbClr val="000066"/>
                </a:solidFill>
                <a:latin typeface="LiberationSans"/>
              </a:rPr>
              <a:t>Figure</a:t>
            </a:r>
            <a:r>
              <a:rPr lang="en-US" sz="2200" dirty="0">
                <a:solidFill>
                  <a:srgbClr val="000066"/>
                </a:solidFill>
                <a:latin typeface="LiberationSerif"/>
              </a:rPr>
              <a:t>. Her mass including equipment is 60.0 kg. (a) What is her acceleration if friction is negligible? (b) What is her acceleration if friction is 45.0 N? </a:t>
            </a:r>
            <a:endParaRPr lang="en-US" sz="2200" dirty="0">
              <a:solidFill>
                <a:srgbClr val="000066"/>
              </a:solidFill>
            </a:endParaRPr>
          </a:p>
        </p:txBody>
      </p:sp>
      <p:sp>
        <p:nvSpPr>
          <p:cNvPr id="10" name="Rectangle 9">
            <a:extLst>
              <a:ext uri="{FF2B5EF4-FFF2-40B4-BE49-F238E27FC236}">
                <a16:creationId xmlns:a16="http://schemas.microsoft.com/office/drawing/2014/main" id="{CAB3B9A4-1A51-5946-BEFD-4434A576268F}"/>
              </a:ext>
            </a:extLst>
          </p:cNvPr>
          <p:cNvSpPr/>
          <p:nvPr/>
        </p:nvSpPr>
        <p:spPr>
          <a:xfrm>
            <a:off x="7983792" y="1508881"/>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11" name="Picture 10" descr="Text&#10;&#10;Description automatically generated">
            <a:extLst>
              <a:ext uri="{FF2B5EF4-FFF2-40B4-BE49-F238E27FC236}">
                <a16:creationId xmlns:a16="http://schemas.microsoft.com/office/drawing/2014/main" id="{2CFCCC5E-AF51-3D49-A8A5-08CB0888E7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2723" y="4217580"/>
            <a:ext cx="2743200" cy="388307"/>
          </a:xfrm>
          <a:prstGeom prst="rect">
            <a:avLst/>
          </a:prstGeom>
        </p:spPr>
      </p:pic>
      <p:pic>
        <p:nvPicPr>
          <p:cNvPr id="13" name="Picture 12" descr="Text&#10;&#10;Description automatically generated">
            <a:extLst>
              <a:ext uri="{FF2B5EF4-FFF2-40B4-BE49-F238E27FC236}">
                <a16:creationId xmlns:a16="http://schemas.microsoft.com/office/drawing/2014/main" id="{8A28A70B-5AAA-B649-BC69-150796F24F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22723" y="4605725"/>
            <a:ext cx="2743200" cy="424832"/>
          </a:xfrm>
          <a:prstGeom prst="rect">
            <a:avLst/>
          </a:prstGeom>
        </p:spPr>
      </p:pic>
      <p:sp>
        <p:nvSpPr>
          <p:cNvPr id="14" name="Rectangle 13">
            <a:extLst>
              <a:ext uri="{FF2B5EF4-FFF2-40B4-BE49-F238E27FC236}">
                <a16:creationId xmlns:a16="http://schemas.microsoft.com/office/drawing/2014/main" id="{431AD698-AE48-EB41-B0A5-AB4925DA2454}"/>
              </a:ext>
            </a:extLst>
          </p:cNvPr>
          <p:cNvSpPr/>
          <p:nvPr/>
        </p:nvSpPr>
        <p:spPr>
          <a:xfrm>
            <a:off x="634181" y="5462688"/>
            <a:ext cx="4984698" cy="369332"/>
          </a:xfrm>
          <a:prstGeom prst="rect">
            <a:avLst/>
          </a:prstGeom>
        </p:spPr>
        <p:txBody>
          <a:bodyPr wrap="none">
            <a:spAutoFit/>
          </a:bodyPr>
          <a:lstStyle/>
          <a:p>
            <a:r>
              <a:rPr lang="en-US" dirty="0">
                <a:solidFill>
                  <a:srgbClr val="7030A0"/>
                </a:solidFill>
                <a:latin typeface="LiberationSerif"/>
              </a:rPr>
              <a:t>(a) What is her acceleration if friction is negligible? </a:t>
            </a:r>
            <a:endParaRPr lang="en-US" dirty="0">
              <a:solidFill>
                <a:srgbClr val="7030A0"/>
              </a:solidFill>
            </a:endParaRPr>
          </a:p>
        </p:txBody>
      </p:sp>
      <p:pic>
        <p:nvPicPr>
          <p:cNvPr id="16" name="Picture 15" descr="Text&#10;&#10;Description automatically generated">
            <a:extLst>
              <a:ext uri="{FF2B5EF4-FFF2-40B4-BE49-F238E27FC236}">
                <a16:creationId xmlns:a16="http://schemas.microsoft.com/office/drawing/2014/main" id="{5DD202AA-584F-534F-B68E-10183018074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24292" y="6032337"/>
            <a:ext cx="1346200" cy="584200"/>
          </a:xfrm>
          <a:prstGeom prst="rect">
            <a:avLst/>
          </a:prstGeom>
        </p:spPr>
      </p:pic>
      <p:pic>
        <p:nvPicPr>
          <p:cNvPr id="18" name="Picture 17" descr="Diagram&#10;&#10;Description automatically generated with medium confidence">
            <a:extLst>
              <a:ext uri="{FF2B5EF4-FFF2-40B4-BE49-F238E27FC236}">
                <a16:creationId xmlns:a16="http://schemas.microsoft.com/office/drawing/2014/main" id="{D8416785-28E5-6241-A823-05EA05D22E6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51492" y="5822787"/>
            <a:ext cx="2324100" cy="419100"/>
          </a:xfrm>
          <a:prstGeom prst="rect">
            <a:avLst/>
          </a:prstGeom>
        </p:spPr>
      </p:pic>
      <p:pic>
        <p:nvPicPr>
          <p:cNvPr id="20" name="Picture 19" descr="Text&#10;&#10;Description automatically generated">
            <a:extLst>
              <a:ext uri="{FF2B5EF4-FFF2-40B4-BE49-F238E27FC236}">
                <a16:creationId xmlns:a16="http://schemas.microsoft.com/office/drawing/2014/main" id="{90938D76-96BC-E44D-A942-29A386FC749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905111" y="5647354"/>
            <a:ext cx="3479800" cy="558800"/>
          </a:xfrm>
          <a:prstGeom prst="rect">
            <a:avLst/>
          </a:prstGeom>
        </p:spPr>
      </p:pic>
      <p:cxnSp>
        <p:nvCxnSpPr>
          <p:cNvPr id="22" name="Straight Arrow Connector 21">
            <a:extLst>
              <a:ext uri="{FF2B5EF4-FFF2-40B4-BE49-F238E27FC236}">
                <a16:creationId xmlns:a16="http://schemas.microsoft.com/office/drawing/2014/main" id="{79C48F47-D7F0-4842-A327-8D79EC4E55A8}"/>
              </a:ext>
            </a:extLst>
          </p:cNvPr>
          <p:cNvCxnSpPr>
            <a:stCxn id="18" idx="1"/>
          </p:cNvCxnSpPr>
          <p:nvPr/>
        </p:nvCxnSpPr>
        <p:spPr>
          <a:xfrm flipH="1">
            <a:off x="2728452" y="6032337"/>
            <a:ext cx="823040" cy="148897"/>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4" name="Picture 23" descr="A picture containing text&#10;&#10;Description automatically generated">
            <a:extLst>
              <a:ext uri="{FF2B5EF4-FFF2-40B4-BE49-F238E27FC236}">
                <a16:creationId xmlns:a16="http://schemas.microsoft.com/office/drawing/2014/main" id="{8E8D131F-9432-0640-96A4-D86F08CA886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021510" y="6260956"/>
            <a:ext cx="3048000" cy="508000"/>
          </a:xfrm>
          <a:prstGeom prst="rect">
            <a:avLst/>
          </a:prstGeom>
        </p:spPr>
      </p:pic>
      <p:sp>
        <p:nvSpPr>
          <p:cNvPr id="25" name="Rectangle 24">
            <a:extLst>
              <a:ext uri="{FF2B5EF4-FFF2-40B4-BE49-F238E27FC236}">
                <a16:creationId xmlns:a16="http://schemas.microsoft.com/office/drawing/2014/main" id="{6B680FA8-9CCB-7547-9CFF-DB0D2E1C40AB}"/>
              </a:ext>
            </a:extLst>
          </p:cNvPr>
          <p:cNvSpPr/>
          <p:nvPr/>
        </p:nvSpPr>
        <p:spPr>
          <a:xfrm>
            <a:off x="4644919" y="5891624"/>
            <a:ext cx="300082" cy="369332"/>
          </a:xfrm>
          <a:prstGeom prst="rect">
            <a:avLst/>
          </a:prstGeom>
        </p:spPr>
        <p:txBody>
          <a:bodyPr wrap="none">
            <a:spAutoFit/>
          </a:bodyPr>
          <a:lstStyle/>
          <a:p>
            <a:r>
              <a:rPr lang="en-US" dirty="0">
                <a:latin typeface="LiberationSerif"/>
              </a:rPr>
              <a:t>=</a:t>
            </a:r>
            <a:endParaRPr lang="en-US" dirty="0"/>
          </a:p>
        </p:txBody>
      </p:sp>
      <p:cxnSp>
        <p:nvCxnSpPr>
          <p:cNvPr id="27" name="Straight Arrow Connector 26">
            <a:extLst>
              <a:ext uri="{FF2B5EF4-FFF2-40B4-BE49-F238E27FC236}">
                <a16:creationId xmlns:a16="http://schemas.microsoft.com/office/drawing/2014/main" id="{2B41E8B3-4F1B-A743-ADEE-94305899456F}"/>
              </a:ext>
            </a:extLst>
          </p:cNvPr>
          <p:cNvCxnSpPr>
            <a:cxnSpLocks/>
          </p:cNvCxnSpPr>
          <p:nvPr/>
        </p:nvCxnSpPr>
        <p:spPr>
          <a:xfrm flipH="1">
            <a:off x="1344988" y="3725542"/>
            <a:ext cx="796413" cy="40640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4B7122D2-1081-BD4E-B239-00972A7393B3}"/>
              </a:ext>
            </a:extLst>
          </p:cNvPr>
          <p:cNvSpPr/>
          <p:nvPr/>
        </p:nvSpPr>
        <p:spPr>
          <a:xfrm rot="19728542">
            <a:off x="1288955" y="3742836"/>
            <a:ext cx="399468" cy="369332"/>
          </a:xfrm>
          <a:prstGeom prst="rect">
            <a:avLst/>
          </a:prstGeom>
        </p:spPr>
        <p:txBody>
          <a:bodyPr wrap="none">
            <a:spAutoFit/>
          </a:bodyPr>
          <a:lstStyle/>
          <a:p>
            <a:r>
              <a:rPr lang="en-US" dirty="0">
                <a:solidFill>
                  <a:srgbClr val="7030A0"/>
                </a:solidFill>
              </a:rPr>
              <a:t>+x</a:t>
            </a:r>
          </a:p>
        </p:txBody>
      </p:sp>
    </p:spTree>
    <p:extLst>
      <p:ext uri="{BB962C8B-B14F-4D97-AF65-F5344CB8AC3E}">
        <p14:creationId xmlns:p14="http://schemas.microsoft.com/office/powerpoint/2010/main" val="21014605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pic>
        <p:nvPicPr>
          <p:cNvPr id="4" name="Picture 3" descr="Text, logo&#10;&#10;Description automatically generated with medium confidence">
            <a:extLst>
              <a:ext uri="{FF2B5EF4-FFF2-40B4-BE49-F238E27FC236}">
                <a16:creationId xmlns:a16="http://schemas.microsoft.com/office/drawing/2014/main" id="{584BF650-5305-0742-BD6C-C100D24DDF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287" y="802276"/>
            <a:ext cx="977900" cy="406400"/>
          </a:xfrm>
          <a:prstGeom prst="rect">
            <a:avLst/>
          </a:prstGeom>
        </p:spPr>
      </p:pic>
      <p:sp>
        <p:nvSpPr>
          <p:cNvPr id="2" name="Rectangle 1">
            <a:extLst>
              <a:ext uri="{FF2B5EF4-FFF2-40B4-BE49-F238E27FC236}">
                <a16:creationId xmlns:a16="http://schemas.microsoft.com/office/drawing/2014/main" id="{01743330-C504-B643-9D2A-A80A01325ABD}"/>
              </a:ext>
            </a:extLst>
          </p:cNvPr>
          <p:cNvSpPr/>
          <p:nvPr/>
        </p:nvSpPr>
        <p:spPr>
          <a:xfrm>
            <a:off x="1743195" y="817024"/>
            <a:ext cx="9331354" cy="1107996"/>
          </a:xfrm>
          <a:prstGeom prst="rect">
            <a:avLst/>
          </a:prstGeom>
        </p:spPr>
        <p:txBody>
          <a:bodyPr wrap="square">
            <a:spAutoFit/>
          </a:bodyPr>
          <a:lstStyle/>
          <a:p>
            <a:r>
              <a:rPr lang="en-US" sz="2200" dirty="0">
                <a:solidFill>
                  <a:srgbClr val="000066"/>
                </a:solidFill>
              </a:rPr>
              <a:t>if the surface is horizontal. </a:t>
            </a:r>
            <a:r>
              <a:rPr lang="en-US" sz="2200" dirty="0">
                <a:solidFill>
                  <a:srgbClr val="C00000"/>
                </a:solidFill>
              </a:rPr>
              <a:t>The normal force can be less than the object’s weight if the object is on an incline. </a:t>
            </a:r>
          </a:p>
          <a:p>
            <a:endParaRPr lang="en-US" sz="2200" dirty="0">
              <a:solidFill>
                <a:srgbClr val="000066"/>
              </a:solidFill>
            </a:endParaRPr>
          </a:p>
        </p:txBody>
      </p:sp>
      <p:pic>
        <p:nvPicPr>
          <p:cNvPr id="8" name="Picture 7" descr="A picture containing text, sky, map&#10;&#10;Description automatically generated">
            <a:extLst>
              <a:ext uri="{FF2B5EF4-FFF2-40B4-BE49-F238E27FC236}">
                <a16:creationId xmlns:a16="http://schemas.microsoft.com/office/drawing/2014/main" id="{C089E3E7-A2B8-9E48-9DCA-D36CE107D9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181" y="1805088"/>
            <a:ext cx="7211237" cy="3657600"/>
          </a:xfrm>
          <a:prstGeom prst="rect">
            <a:avLst/>
          </a:prstGeom>
        </p:spPr>
      </p:pic>
      <p:sp>
        <p:nvSpPr>
          <p:cNvPr id="9" name="Rectangle 8">
            <a:extLst>
              <a:ext uri="{FF2B5EF4-FFF2-40B4-BE49-F238E27FC236}">
                <a16:creationId xmlns:a16="http://schemas.microsoft.com/office/drawing/2014/main" id="{7A0D4DE3-8EE9-9247-B2F5-366F8DA2C4EE}"/>
              </a:ext>
            </a:extLst>
          </p:cNvPr>
          <p:cNvSpPr/>
          <p:nvPr/>
        </p:nvSpPr>
        <p:spPr>
          <a:xfrm>
            <a:off x="7983792" y="1805088"/>
            <a:ext cx="3859162" cy="2123658"/>
          </a:xfrm>
          <a:prstGeom prst="rect">
            <a:avLst/>
          </a:prstGeom>
        </p:spPr>
        <p:txBody>
          <a:bodyPr wrap="square">
            <a:spAutoFit/>
          </a:bodyPr>
          <a:lstStyle/>
          <a:p>
            <a:r>
              <a:rPr lang="en-US" sz="2200" dirty="0">
                <a:solidFill>
                  <a:srgbClr val="000066"/>
                </a:solidFill>
                <a:latin typeface="LiberationSerif"/>
              </a:rPr>
              <a:t>Consider the skier on the slope in </a:t>
            </a:r>
            <a:r>
              <a:rPr lang="en-US" sz="2200" dirty="0">
                <a:solidFill>
                  <a:srgbClr val="000066"/>
                </a:solidFill>
                <a:latin typeface="LiberationSans"/>
              </a:rPr>
              <a:t>Figure</a:t>
            </a:r>
            <a:r>
              <a:rPr lang="en-US" sz="2200" dirty="0">
                <a:solidFill>
                  <a:srgbClr val="000066"/>
                </a:solidFill>
                <a:latin typeface="LiberationSerif"/>
              </a:rPr>
              <a:t>. Her mass including equipment is 60.0 kg. (a) What is her acceleration if friction is negligible? (b) What is her acceleration if friction is 45.0 N? </a:t>
            </a:r>
            <a:endParaRPr lang="en-US" sz="2200" dirty="0">
              <a:solidFill>
                <a:srgbClr val="000066"/>
              </a:solidFill>
            </a:endParaRPr>
          </a:p>
        </p:txBody>
      </p:sp>
      <p:sp>
        <p:nvSpPr>
          <p:cNvPr id="10" name="Rectangle 9">
            <a:extLst>
              <a:ext uri="{FF2B5EF4-FFF2-40B4-BE49-F238E27FC236}">
                <a16:creationId xmlns:a16="http://schemas.microsoft.com/office/drawing/2014/main" id="{CAB3B9A4-1A51-5946-BEFD-4434A576268F}"/>
              </a:ext>
            </a:extLst>
          </p:cNvPr>
          <p:cNvSpPr/>
          <p:nvPr/>
        </p:nvSpPr>
        <p:spPr>
          <a:xfrm>
            <a:off x="7983792" y="1508881"/>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11" name="Picture 10" descr="Text&#10;&#10;Description automatically generated">
            <a:extLst>
              <a:ext uri="{FF2B5EF4-FFF2-40B4-BE49-F238E27FC236}">
                <a16:creationId xmlns:a16="http://schemas.microsoft.com/office/drawing/2014/main" id="{2CFCCC5E-AF51-3D49-A8A5-08CB0888E7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2723" y="4217580"/>
            <a:ext cx="2743200" cy="388307"/>
          </a:xfrm>
          <a:prstGeom prst="rect">
            <a:avLst/>
          </a:prstGeom>
        </p:spPr>
      </p:pic>
      <p:pic>
        <p:nvPicPr>
          <p:cNvPr id="13" name="Picture 12" descr="Text&#10;&#10;Description automatically generated">
            <a:extLst>
              <a:ext uri="{FF2B5EF4-FFF2-40B4-BE49-F238E27FC236}">
                <a16:creationId xmlns:a16="http://schemas.microsoft.com/office/drawing/2014/main" id="{8A28A70B-5AAA-B649-BC69-150796F24F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22723" y="4605725"/>
            <a:ext cx="2743200" cy="424832"/>
          </a:xfrm>
          <a:prstGeom prst="rect">
            <a:avLst/>
          </a:prstGeom>
        </p:spPr>
      </p:pic>
      <p:sp>
        <p:nvSpPr>
          <p:cNvPr id="14" name="Rectangle 13">
            <a:extLst>
              <a:ext uri="{FF2B5EF4-FFF2-40B4-BE49-F238E27FC236}">
                <a16:creationId xmlns:a16="http://schemas.microsoft.com/office/drawing/2014/main" id="{431AD698-AE48-EB41-B0A5-AB4925DA2454}"/>
              </a:ext>
            </a:extLst>
          </p:cNvPr>
          <p:cNvSpPr/>
          <p:nvPr/>
        </p:nvSpPr>
        <p:spPr>
          <a:xfrm>
            <a:off x="634181" y="5462688"/>
            <a:ext cx="4649671" cy="369332"/>
          </a:xfrm>
          <a:prstGeom prst="rect">
            <a:avLst/>
          </a:prstGeom>
        </p:spPr>
        <p:txBody>
          <a:bodyPr wrap="none">
            <a:spAutoFit/>
          </a:bodyPr>
          <a:lstStyle/>
          <a:p>
            <a:r>
              <a:rPr lang="en-US" dirty="0">
                <a:solidFill>
                  <a:srgbClr val="7030A0"/>
                </a:solidFill>
                <a:latin typeface="LiberationSerif"/>
              </a:rPr>
              <a:t>(b) What is her acceleration if friction is 45.0 N?</a:t>
            </a:r>
            <a:endParaRPr lang="en-US" dirty="0">
              <a:solidFill>
                <a:srgbClr val="7030A0"/>
              </a:solidFill>
            </a:endParaRPr>
          </a:p>
        </p:txBody>
      </p:sp>
      <p:pic>
        <p:nvPicPr>
          <p:cNvPr id="16" name="Picture 15" descr="Text&#10;&#10;Description automatically generated">
            <a:extLst>
              <a:ext uri="{FF2B5EF4-FFF2-40B4-BE49-F238E27FC236}">
                <a16:creationId xmlns:a16="http://schemas.microsoft.com/office/drawing/2014/main" id="{5DD202AA-584F-534F-B68E-10183018074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24292" y="6032337"/>
            <a:ext cx="1346200" cy="584200"/>
          </a:xfrm>
          <a:prstGeom prst="rect">
            <a:avLst/>
          </a:prstGeom>
        </p:spPr>
      </p:pic>
      <p:cxnSp>
        <p:nvCxnSpPr>
          <p:cNvPr id="22" name="Straight Arrow Connector 21">
            <a:extLst>
              <a:ext uri="{FF2B5EF4-FFF2-40B4-BE49-F238E27FC236}">
                <a16:creationId xmlns:a16="http://schemas.microsoft.com/office/drawing/2014/main" id="{79C48F47-D7F0-4842-A327-8D79EC4E55A8}"/>
              </a:ext>
            </a:extLst>
          </p:cNvPr>
          <p:cNvCxnSpPr>
            <a:cxnSpLocks/>
          </p:cNvCxnSpPr>
          <p:nvPr/>
        </p:nvCxnSpPr>
        <p:spPr>
          <a:xfrm flipH="1">
            <a:off x="2728452" y="6032337"/>
            <a:ext cx="823040" cy="148897"/>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6AEA5A76-BF80-1C4F-9468-91B279E9CE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51492" y="5787074"/>
            <a:ext cx="1612900" cy="393700"/>
          </a:xfrm>
          <a:prstGeom prst="rect">
            <a:avLst/>
          </a:prstGeom>
        </p:spPr>
      </p:pic>
      <p:cxnSp>
        <p:nvCxnSpPr>
          <p:cNvPr id="19" name="Straight Arrow Connector 18">
            <a:extLst>
              <a:ext uri="{FF2B5EF4-FFF2-40B4-BE49-F238E27FC236}">
                <a16:creationId xmlns:a16="http://schemas.microsoft.com/office/drawing/2014/main" id="{80481C40-DBD7-FB45-BDAD-33F6228D8182}"/>
              </a:ext>
            </a:extLst>
          </p:cNvPr>
          <p:cNvCxnSpPr>
            <a:cxnSpLocks/>
          </p:cNvCxnSpPr>
          <p:nvPr/>
        </p:nvCxnSpPr>
        <p:spPr>
          <a:xfrm flipH="1">
            <a:off x="1344988" y="3725542"/>
            <a:ext cx="796413" cy="40640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D4A7ACAA-5AFC-6B49-8BEA-5B75A8C111AA}"/>
              </a:ext>
            </a:extLst>
          </p:cNvPr>
          <p:cNvSpPr/>
          <p:nvPr/>
        </p:nvSpPr>
        <p:spPr>
          <a:xfrm rot="19728542">
            <a:off x="1288955" y="3742836"/>
            <a:ext cx="399468" cy="369332"/>
          </a:xfrm>
          <a:prstGeom prst="rect">
            <a:avLst/>
          </a:prstGeom>
        </p:spPr>
        <p:txBody>
          <a:bodyPr wrap="none">
            <a:spAutoFit/>
          </a:bodyPr>
          <a:lstStyle/>
          <a:p>
            <a:r>
              <a:rPr lang="en-US" dirty="0">
                <a:solidFill>
                  <a:srgbClr val="7030A0"/>
                </a:solidFill>
              </a:rPr>
              <a:t>+x</a:t>
            </a:r>
          </a:p>
        </p:txBody>
      </p:sp>
      <p:pic>
        <p:nvPicPr>
          <p:cNvPr id="15" name="Picture 14" descr="A picture containing text, clock, gauge&#10;&#10;Description automatically generated">
            <a:extLst>
              <a:ext uri="{FF2B5EF4-FFF2-40B4-BE49-F238E27FC236}">
                <a16:creationId xmlns:a16="http://schemas.microsoft.com/office/drawing/2014/main" id="{CB53CCC4-E6F9-774B-A199-818CD302263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45392" y="5509077"/>
            <a:ext cx="3873500" cy="584200"/>
          </a:xfrm>
          <a:prstGeom prst="rect">
            <a:avLst/>
          </a:prstGeom>
        </p:spPr>
      </p:pic>
      <p:pic>
        <p:nvPicPr>
          <p:cNvPr id="23" name="Picture 22" descr="Text&#10;&#10;Description automatically generated">
            <a:extLst>
              <a:ext uri="{FF2B5EF4-FFF2-40B4-BE49-F238E27FC236}">
                <a16:creationId xmlns:a16="http://schemas.microsoft.com/office/drawing/2014/main" id="{E3564EEA-3B67-C34A-950F-E09AFE3BAC7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45392" y="6122600"/>
            <a:ext cx="4102100" cy="685800"/>
          </a:xfrm>
          <a:prstGeom prst="rect">
            <a:avLst/>
          </a:prstGeom>
        </p:spPr>
      </p:pic>
      <p:pic>
        <p:nvPicPr>
          <p:cNvPr id="26" name="Picture 25" descr="Black text on a white background&#10;&#10;Description automatically generated">
            <a:extLst>
              <a:ext uri="{FF2B5EF4-FFF2-40B4-BE49-F238E27FC236}">
                <a16:creationId xmlns:a16="http://schemas.microsoft.com/office/drawing/2014/main" id="{AD38B98F-E09D-964A-BE88-9214C1BD78D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94323" y="6337156"/>
            <a:ext cx="1587500" cy="431800"/>
          </a:xfrm>
          <a:prstGeom prst="rect">
            <a:avLst/>
          </a:prstGeom>
        </p:spPr>
      </p:pic>
      <p:sp>
        <p:nvSpPr>
          <p:cNvPr id="27" name="Rectangle 26">
            <a:extLst>
              <a:ext uri="{FF2B5EF4-FFF2-40B4-BE49-F238E27FC236}">
                <a16:creationId xmlns:a16="http://schemas.microsoft.com/office/drawing/2014/main" id="{ABF87142-CD91-A84B-B3D0-E51FEE46DDB6}"/>
              </a:ext>
            </a:extLst>
          </p:cNvPr>
          <p:cNvSpPr/>
          <p:nvPr/>
        </p:nvSpPr>
        <p:spPr>
          <a:xfrm>
            <a:off x="9640738" y="5102613"/>
            <a:ext cx="2551262" cy="1169551"/>
          </a:xfrm>
          <a:prstGeom prst="rect">
            <a:avLst/>
          </a:prstGeom>
        </p:spPr>
        <p:txBody>
          <a:bodyPr wrap="square">
            <a:spAutoFit/>
          </a:bodyPr>
          <a:lstStyle/>
          <a:p>
            <a:r>
              <a:rPr lang="en-US" sz="1400" dirty="0">
                <a:solidFill>
                  <a:srgbClr val="C00000"/>
                </a:solidFill>
                <a:latin typeface="LiberationSerif"/>
              </a:rPr>
              <a:t>It is a general result that if friction on an incline is negligible, then the acceleration down the incline is </a:t>
            </a:r>
            <a:r>
              <a:rPr lang="en-US" sz="1400" i="1" dirty="0">
                <a:latin typeface="STIXGeneral" pitchFamily="2" charset="2"/>
              </a:rPr>
              <a:t>a </a:t>
            </a:r>
            <a:r>
              <a:rPr lang="en-US" sz="1400" dirty="0">
                <a:latin typeface="STIXGeneral" pitchFamily="2" charset="2"/>
              </a:rPr>
              <a:t>= </a:t>
            </a:r>
            <a:r>
              <a:rPr lang="en-US" sz="1400" i="1" dirty="0">
                <a:latin typeface="STIXGeneral" pitchFamily="2" charset="2"/>
              </a:rPr>
              <a:t>g </a:t>
            </a:r>
            <a:r>
              <a:rPr lang="en-US" sz="1400" dirty="0">
                <a:latin typeface="STIXGeneral" pitchFamily="2" charset="2"/>
              </a:rPr>
              <a:t>sin </a:t>
            </a:r>
            <a:r>
              <a:rPr lang="el-GR" sz="1400" i="1" dirty="0">
                <a:latin typeface="STIXGeneral" pitchFamily="2" charset="2"/>
              </a:rPr>
              <a:t>θ</a:t>
            </a:r>
            <a:r>
              <a:rPr lang="en-US" sz="1400" i="1" dirty="0">
                <a:latin typeface="STIXGeneral" pitchFamily="2" charset="2"/>
              </a:rPr>
              <a:t> </a:t>
            </a:r>
            <a:r>
              <a:rPr lang="el-GR" sz="1400" dirty="0">
                <a:latin typeface="LiberationSerif"/>
              </a:rPr>
              <a:t>, </a:t>
            </a:r>
            <a:r>
              <a:rPr lang="en-US" sz="1400" dirty="0">
                <a:solidFill>
                  <a:srgbClr val="C00000"/>
                </a:solidFill>
                <a:latin typeface="LiberationSerif"/>
              </a:rPr>
              <a:t>regardless of mass. </a:t>
            </a:r>
            <a:endParaRPr lang="en-US" sz="1400" dirty="0">
              <a:solidFill>
                <a:srgbClr val="C00000"/>
              </a:solidFill>
            </a:endParaRPr>
          </a:p>
        </p:txBody>
      </p:sp>
    </p:spTree>
    <p:extLst>
      <p:ext uri="{BB962C8B-B14F-4D97-AF65-F5344CB8AC3E}">
        <p14:creationId xmlns:p14="http://schemas.microsoft.com/office/powerpoint/2010/main" val="4230035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sp>
        <p:nvSpPr>
          <p:cNvPr id="3" name="Rectangle 2">
            <a:extLst>
              <a:ext uri="{FF2B5EF4-FFF2-40B4-BE49-F238E27FC236}">
                <a16:creationId xmlns:a16="http://schemas.microsoft.com/office/drawing/2014/main" id="{BC3CCC2E-3F27-8940-A71E-A0CAC533D592}"/>
              </a:ext>
            </a:extLst>
          </p:cNvPr>
          <p:cNvSpPr/>
          <p:nvPr/>
        </p:nvSpPr>
        <p:spPr>
          <a:xfrm>
            <a:off x="432619" y="612264"/>
            <a:ext cx="10127226" cy="769441"/>
          </a:xfrm>
          <a:prstGeom prst="rect">
            <a:avLst/>
          </a:prstGeom>
        </p:spPr>
        <p:txBody>
          <a:bodyPr wrap="square">
            <a:spAutoFit/>
          </a:bodyPr>
          <a:lstStyle/>
          <a:p>
            <a:r>
              <a:rPr lang="en-US" sz="2200" dirty="0">
                <a:solidFill>
                  <a:srgbClr val="000066"/>
                </a:solidFill>
                <a:latin typeface="LiberationSerif"/>
              </a:rPr>
              <a:t>When an object rests on an incline that makes an angle </a:t>
            </a:r>
            <a:r>
              <a:rPr lang="el-GR" sz="2200" i="1" dirty="0">
                <a:solidFill>
                  <a:srgbClr val="000066"/>
                </a:solidFill>
                <a:latin typeface="STIXGeneral" pitchFamily="2" charset="2"/>
              </a:rPr>
              <a:t>θ </a:t>
            </a:r>
            <a:r>
              <a:rPr lang="en-US" sz="2200" dirty="0">
                <a:solidFill>
                  <a:srgbClr val="000066"/>
                </a:solidFill>
                <a:latin typeface="LiberationSerif"/>
              </a:rPr>
              <a:t>with the horizontal, the force of gravity acting on the object is divided into two components.</a:t>
            </a:r>
            <a:endParaRPr lang="en-US" sz="2200" dirty="0">
              <a:solidFill>
                <a:srgbClr val="000066"/>
              </a:solidFill>
            </a:endParaRPr>
          </a:p>
        </p:txBody>
      </p:sp>
      <p:pic>
        <p:nvPicPr>
          <p:cNvPr id="7" name="Picture 6" descr="Chart, radar chart&#10;&#10;Description automatically generated">
            <a:extLst>
              <a:ext uri="{FF2B5EF4-FFF2-40B4-BE49-F238E27FC236}">
                <a16:creationId xmlns:a16="http://schemas.microsoft.com/office/drawing/2014/main" id="{905A4B45-4B32-C84C-8FF2-4D1E8ABC3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619" y="1623142"/>
            <a:ext cx="6908800" cy="2844800"/>
          </a:xfrm>
          <a:prstGeom prst="rect">
            <a:avLst/>
          </a:prstGeom>
        </p:spPr>
      </p:pic>
      <p:sp>
        <p:nvSpPr>
          <p:cNvPr id="8" name="Rectangle 7">
            <a:extLst>
              <a:ext uri="{FF2B5EF4-FFF2-40B4-BE49-F238E27FC236}">
                <a16:creationId xmlns:a16="http://schemas.microsoft.com/office/drawing/2014/main" id="{B33BA47F-9654-E641-BD4A-2938A77CAA70}"/>
              </a:ext>
            </a:extLst>
          </p:cNvPr>
          <p:cNvSpPr/>
          <p:nvPr/>
        </p:nvSpPr>
        <p:spPr>
          <a:xfrm>
            <a:off x="398206" y="4836652"/>
            <a:ext cx="11395587" cy="1446550"/>
          </a:xfrm>
          <a:prstGeom prst="rect">
            <a:avLst/>
          </a:prstGeom>
        </p:spPr>
        <p:txBody>
          <a:bodyPr wrap="square">
            <a:spAutoFit/>
          </a:bodyPr>
          <a:lstStyle/>
          <a:p>
            <a:r>
              <a:rPr lang="en-US" sz="2200" dirty="0">
                <a:solidFill>
                  <a:srgbClr val="000066"/>
                </a:solidFill>
                <a:latin typeface="LiberationSerif"/>
              </a:rPr>
              <a:t>The normal force is typically equal in magnitude and opposite in direction to the perpendicular component of the weight </a:t>
            </a:r>
            <a:r>
              <a:rPr lang="en-US" sz="2200" i="1" dirty="0" err="1">
                <a:solidFill>
                  <a:srgbClr val="000066"/>
                </a:solidFill>
                <a:latin typeface="STIXGeneral" pitchFamily="2" charset="2"/>
              </a:rPr>
              <a:t>w</a:t>
            </a:r>
            <a:r>
              <a:rPr lang="en-US" sz="2200" i="1" baseline="-25000" dirty="0" err="1">
                <a:solidFill>
                  <a:srgbClr val="000066"/>
                </a:solidFill>
                <a:latin typeface="STIXGeneral" pitchFamily="2" charset="2"/>
              </a:rPr>
              <a:t>y</a:t>
            </a:r>
            <a:r>
              <a:rPr lang="en-US" sz="2200" i="1" dirty="0">
                <a:solidFill>
                  <a:srgbClr val="000066"/>
                </a:solidFill>
                <a:latin typeface="STIXGeneral" pitchFamily="2" charset="2"/>
              </a:rPr>
              <a:t> </a:t>
            </a:r>
            <a:r>
              <a:rPr lang="en-US" sz="2200" dirty="0">
                <a:solidFill>
                  <a:srgbClr val="000066"/>
                </a:solidFill>
                <a:latin typeface="LiberationSerif"/>
              </a:rPr>
              <a:t>. </a:t>
            </a:r>
          </a:p>
          <a:p>
            <a:endParaRPr lang="en-US" sz="2200" dirty="0">
              <a:solidFill>
                <a:srgbClr val="000066"/>
              </a:solidFill>
              <a:latin typeface="LiberationSerif"/>
            </a:endParaRPr>
          </a:p>
          <a:p>
            <a:r>
              <a:rPr lang="en-US" sz="2200" dirty="0">
                <a:solidFill>
                  <a:srgbClr val="000066"/>
                </a:solidFill>
                <a:latin typeface="LiberationSerif"/>
              </a:rPr>
              <a:t>The force acting parallel to the plane, </a:t>
            </a:r>
            <a:r>
              <a:rPr lang="en-US" sz="2200" i="1" dirty="0" err="1">
                <a:solidFill>
                  <a:srgbClr val="000066"/>
                </a:solidFill>
                <a:latin typeface="STIXGeneral" pitchFamily="2" charset="2"/>
              </a:rPr>
              <a:t>w</a:t>
            </a:r>
            <a:r>
              <a:rPr lang="en-US" sz="2200" i="1" baseline="-25000" dirty="0" err="1">
                <a:solidFill>
                  <a:srgbClr val="000066"/>
                </a:solidFill>
                <a:latin typeface="STIXGeneral" pitchFamily="2" charset="2"/>
              </a:rPr>
              <a:t>x</a:t>
            </a:r>
            <a:r>
              <a:rPr lang="en-US" sz="2200" i="1" dirty="0">
                <a:solidFill>
                  <a:srgbClr val="000066"/>
                </a:solidFill>
                <a:latin typeface="STIXGeneral" pitchFamily="2" charset="2"/>
              </a:rPr>
              <a:t> </a:t>
            </a:r>
            <a:r>
              <a:rPr lang="en-US" sz="2200" dirty="0">
                <a:solidFill>
                  <a:srgbClr val="000066"/>
                </a:solidFill>
                <a:latin typeface="LiberationSerif"/>
              </a:rPr>
              <a:t>, causes the object to accelerate down the incline. </a:t>
            </a:r>
            <a:endParaRPr lang="en-US" sz="2200" dirty="0">
              <a:solidFill>
                <a:srgbClr val="000066"/>
              </a:solidFill>
            </a:endParaRPr>
          </a:p>
        </p:txBody>
      </p:sp>
      <p:pic>
        <p:nvPicPr>
          <p:cNvPr id="10" name="Picture 9" descr="Text&#10;&#10;Description automatically generated">
            <a:extLst>
              <a:ext uri="{FF2B5EF4-FFF2-40B4-BE49-F238E27FC236}">
                <a16:creationId xmlns:a16="http://schemas.microsoft.com/office/drawing/2014/main" id="{EF3DA8C4-0A41-264E-9792-BD72223B52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8112" y="5330723"/>
            <a:ext cx="1643063" cy="457200"/>
          </a:xfrm>
          <a:prstGeom prst="rect">
            <a:avLst/>
          </a:prstGeom>
        </p:spPr>
      </p:pic>
      <p:pic>
        <p:nvPicPr>
          <p:cNvPr id="12" name="Picture 11" descr="Text, letter&#10;&#10;Description automatically generated">
            <a:extLst>
              <a:ext uri="{FF2B5EF4-FFF2-40B4-BE49-F238E27FC236}">
                <a16:creationId xmlns:a16="http://schemas.microsoft.com/office/drawing/2014/main" id="{9E3FE84F-49DD-7542-92D2-2B080BD6E6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41419" y="3242457"/>
            <a:ext cx="4572000" cy="1225485"/>
          </a:xfrm>
          <a:prstGeom prst="rect">
            <a:avLst/>
          </a:prstGeom>
        </p:spPr>
      </p:pic>
      <p:sp>
        <p:nvSpPr>
          <p:cNvPr id="13" name="Rectangle 12">
            <a:extLst>
              <a:ext uri="{FF2B5EF4-FFF2-40B4-BE49-F238E27FC236}">
                <a16:creationId xmlns:a16="http://schemas.microsoft.com/office/drawing/2014/main" id="{67019A72-8B8E-0E47-93E8-2902BDE6AA9C}"/>
              </a:ext>
            </a:extLst>
          </p:cNvPr>
          <p:cNvSpPr/>
          <p:nvPr/>
        </p:nvSpPr>
        <p:spPr>
          <a:xfrm>
            <a:off x="8033183" y="2860876"/>
            <a:ext cx="3437801" cy="369332"/>
          </a:xfrm>
          <a:prstGeom prst="rect">
            <a:avLst/>
          </a:prstGeom>
        </p:spPr>
        <p:txBody>
          <a:bodyPr wrap="none">
            <a:spAutoFit/>
          </a:bodyPr>
          <a:lstStyle/>
          <a:p>
            <a:r>
              <a:rPr lang="en-US" dirty="0">
                <a:solidFill>
                  <a:srgbClr val="000066"/>
                </a:solidFill>
                <a:latin typeface="LiberationSerif"/>
              </a:rPr>
              <a:t>These equations are easy to derive</a:t>
            </a:r>
            <a:endParaRPr lang="en-US" dirty="0">
              <a:solidFill>
                <a:srgbClr val="000066"/>
              </a:solidFill>
            </a:endParaRPr>
          </a:p>
        </p:txBody>
      </p:sp>
      <p:pic>
        <p:nvPicPr>
          <p:cNvPr id="4" name="Picture 3" descr="A picture containing text&#10;&#10;Description automatically generated">
            <a:extLst>
              <a:ext uri="{FF2B5EF4-FFF2-40B4-BE49-F238E27FC236}">
                <a16:creationId xmlns:a16="http://schemas.microsoft.com/office/drawing/2014/main" id="{D88B477D-176C-234A-8124-0D030BA0D5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83587" y="3416642"/>
            <a:ext cx="616586" cy="324519"/>
          </a:xfrm>
          <a:prstGeom prst="rect">
            <a:avLst/>
          </a:prstGeom>
        </p:spPr>
      </p:pic>
    </p:spTree>
    <p:extLst>
      <p:ext uri="{BB962C8B-B14F-4D97-AF65-F5344CB8AC3E}">
        <p14:creationId xmlns:p14="http://schemas.microsoft.com/office/powerpoint/2010/main" val="12717113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sp>
        <p:nvSpPr>
          <p:cNvPr id="3" name="Rectangle 2">
            <a:extLst>
              <a:ext uri="{FF2B5EF4-FFF2-40B4-BE49-F238E27FC236}">
                <a16:creationId xmlns:a16="http://schemas.microsoft.com/office/drawing/2014/main" id="{BC3CCC2E-3F27-8940-A71E-A0CAC533D592}"/>
              </a:ext>
            </a:extLst>
          </p:cNvPr>
          <p:cNvSpPr/>
          <p:nvPr/>
        </p:nvSpPr>
        <p:spPr>
          <a:xfrm>
            <a:off x="432619" y="612264"/>
            <a:ext cx="10127226" cy="769441"/>
          </a:xfrm>
          <a:prstGeom prst="rect">
            <a:avLst/>
          </a:prstGeom>
        </p:spPr>
        <p:txBody>
          <a:bodyPr wrap="square">
            <a:spAutoFit/>
          </a:bodyPr>
          <a:lstStyle/>
          <a:p>
            <a:r>
              <a:rPr lang="en-US" sz="2200" dirty="0">
                <a:solidFill>
                  <a:srgbClr val="000066"/>
                </a:solidFill>
                <a:latin typeface="LiberationSerif"/>
              </a:rPr>
              <a:t>When an object rests on an incline that makes an angle </a:t>
            </a:r>
            <a:r>
              <a:rPr lang="el-GR" sz="2200" i="1" dirty="0">
                <a:solidFill>
                  <a:srgbClr val="000066"/>
                </a:solidFill>
                <a:latin typeface="STIXGeneral" pitchFamily="2" charset="2"/>
              </a:rPr>
              <a:t>θ </a:t>
            </a:r>
            <a:r>
              <a:rPr lang="en-US" sz="2200" dirty="0">
                <a:solidFill>
                  <a:srgbClr val="000066"/>
                </a:solidFill>
                <a:latin typeface="LiberationSerif"/>
              </a:rPr>
              <a:t>with the horizontal, the force of gravity acting on the object is divided into two components.</a:t>
            </a:r>
            <a:endParaRPr lang="en-US" sz="2200" dirty="0">
              <a:solidFill>
                <a:srgbClr val="000066"/>
              </a:solidFill>
            </a:endParaRPr>
          </a:p>
        </p:txBody>
      </p:sp>
      <p:pic>
        <p:nvPicPr>
          <p:cNvPr id="7" name="Picture 6" descr="Chart, radar chart&#10;&#10;Description automatically generated">
            <a:extLst>
              <a:ext uri="{FF2B5EF4-FFF2-40B4-BE49-F238E27FC236}">
                <a16:creationId xmlns:a16="http://schemas.microsoft.com/office/drawing/2014/main" id="{905A4B45-4B32-C84C-8FF2-4D1E8ABC3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619" y="1623142"/>
            <a:ext cx="6908800" cy="2844800"/>
          </a:xfrm>
          <a:prstGeom prst="rect">
            <a:avLst/>
          </a:prstGeom>
        </p:spPr>
      </p:pic>
      <p:pic>
        <p:nvPicPr>
          <p:cNvPr id="12" name="Picture 11" descr="Text, letter&#10;&#10;Description automatically generated">
            <a:extLst>
              <a:ext uri="{FF2B5EF4-FFF2-40B4-BE49-F238E27FC236}">
                <a16:creationId xmlns:a16="http://schemas.microsoft.com/office/drawing/2014/main" id="{9E3FE84F-49DD-7542-92D2-2B080BD6E6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1419" y="3242457"/>
            <a:ext cx="4572000" cy="1225485"/>
          </a:xfrm>
          <a:prstGeom prst="rect">
            <a:avLst/>
          </a:prstGeom>
        </p:spPr>
      </p:pic>
      <p:sp>
        <p:nvSpPr>
          <p:cNvPr id="13" name="Rectangle 12">
            <a:extLst>
              <a:ext uri="{FF2B5EF4-FFF2-40B4-BE49-F238E27FC236}">
                <a16:creationId xmlns:a16="http://schemas.microsoft.com/office/drawing/2014/main" id="{67019A72-8B8E-0E47-93E8-2902BDE6AA9C}"/>
              </a:ext>
            </a:extLst>
          </p:cNvPr>
          <p:cNvSpPr/>
          <p:nvPr/>
        </p:nvSpPr>
        <p:spPr>
          <a:xfrm>
            <a:off x="8033183" y="2860876"/>
            <a:ext cx="3437801" cy="369332"/>
          </a:xfrm>
          <a:prstGeom prst="rect">
            <a:avLst/>
          </a:prstGeom>
        </p:spPr>
        <p:txBody>
          <a:bodyPr wrap="none">
            <a:spAutoFit/>
          </a:bodyPr>
          <a:lstStyle/>
          <a:p>
            <a:r>
              <a:rPr lang="en-US" dirty="0">
                <a:solidFill>
                  <a:srgbClr val="000066"/>
                </a:solidFill>
                <a:latin typeface="LiberationSerif"/>
              </a:rPr>
              <a:t>These equations are easy to derive</a:t>
            </a:r>
            <a:endParaRPr lang="en-US" dirty="0">
              <a:solidFill>
                <a:srgbClr val="000066"/>
              </a:solidFill>
            </a:endParaRPr>
          </a:p>
        </p:txBody>
      </p:sp>
      <p:sp>
        <p:nvSpPr>
          <p:cNvPr id="11" name="Rectangle 10">
            <a:extLst>
              <a:ext uri="{FF2B5EF4-FFF2-40B4-BE49-F238E27FC236}">
                <a16:creationId xmlns:a16="http://schemas.microsoft.com/office/drawing/2014/main" id="{9113885B-08F0-D444-8FCC-E21A12CC0948}"/>
              </a:ext>
            </a:extLst>
          </p:cNvPr>
          <p:cNvSpPr/>
          <p:nvPr/>
        </p:nvSpPr>
        <p:spPr>
          <a:xfrm>
            <a:off x="432619" y="4636456"/>
            <a:ext cx="1800816" cy="430887"/>
          </a:xfrm>
          <a:prstGeom prst="rect">
            <a:avLst/>
          </a:prstGeom>
        </p:spPr>
        <p:txBody>
          <a:bodyPr wrap="square">
            <a:spAutoFit/>
          </a:bodyPr>
          <a:lstStyle/>
          <a:p>
            <a:r>
              <a:rPr lang="en-US" sz="2200" dirty="0">
                <a:solidFill>
                  <a:srgbClr val="0000CC"/>
                </a:solidFill>
              </a:rPr>
              <a:t>Assignment 6</a:t>
            </a:r>
          </a:p>
        </p:txBody>
      </p:sp>
      <p:pic>
        <p:nvPicPr>
          <p:cNvPr id="14" name="Picture 13">
            <a:extLst>
              <a:ext uri="{FF2B5EF4-FFF2-40B4-BE49-F238E27FC236}">
                <a16:creationId xmlns:a16="http://schemas.microsoft.com/office/drawing/2014/main" id="{6E030434-88DA-2D4F-91FF-68BB1EAC2E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19" y="5046405"/>
            <a:ext cx="11430000" cy="1287887"/>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6C1AF448-100D-134B-90C8-F7072E897A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83587" y="3416642"/>
            <a:ext cx="616586" cy="324519"/>
          </a:xfrm>
          <a:prstGeom prst="rect">
            <a:avLst/>
          </a:prstGeom>
        </p:spPr>
      </p:pic>
    </p:spTree>
    <p:extLst>
      <p:ext uri="{BB962C8B-B14F-4D97-AF65-F5344CB8AC3E}">
        <p14:creationId xmlns:p14="http://schemas.microsoft.com/office/powerpoint/2010/main" val="23481534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sp>
        <p:nvSpPr>
          <p:cNvPr id="2" name="Rectangle 1">
            <a:extLst>
              <a:ext uri="{FF2B5EF4-FFF2-40B4-BE49-F238E27FC236}">
                <a16:creationId xmlns:a16="http://schemas.microsoft.com/office/drawing/2014/main" id="{EB49A75D-DD30-6747-B2DD-36745FFFCEB7}"/>
              </a:ext>
            </a:extLst>
          </p:cNvPr>
          <p:cNvSpPr/>
          <p:nvPr/>
        </p:nvSpPr>
        <p:spPr>
          <a:xfrm>
            <a:off x="510746" y="612264"/>
            <a:ext cx="1121397" cy="430887"/>
          </a:xfrm>
          <a:prstGeom prst="rect">
            <a:avLst/>
          </a:prstGeom>
        </p:spPr>
        <p:txBody>
          <a:bodyPr wrap="none">
            <a:spAutoFit/>
          </a:bodyPr>
          <a:lstStyle/>
          <a:p>
            <a:r>
              <a:rPr lang="en-US" sz="2200" dirty="0">
                <a:solidFill>
                  <a:srgbClr val="008000"/>
                </a:solidFill>
                <a:latin typeface="LiberationSans"/>
              </a:rPr>
              <a:t>Tension </a:t>
            </a:r>
            <a:endParaRPr lang="en-US" sz="2200" dirty="0">
              <a:solidFill>
                <a:srgbClr val="008000"/>
              </a:solidFill>
            </a:endParaRPr>
          </a:p>
        </p:txBody>
      </p:sp>
      <p:pic>
        <p:nvPicPr>
          <p:cNvPr id="4" name="Picture 3" descr="Diagram&#10;&#10;Description automatically generated">
            <a:extLst>
              <a:ext uri="{FF2B5EF4-FFF2-40B4-BE49-F238E27FC236}">
                <a16:creationId xmlns:a16="http://schemas.microsoft.com/office/drawing/2014/main" id="{74B7486C-DFEA-414F-945C-11EB38EA34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746" y="1043151"/>
            <a:ext cx="4101353" cy="5486400"/>
          </a:xfrm>
          <a:prstGeom prst="rect">
            <a:avLst/>
          </a:prstGeom>
        </p:spPr>
      </p:pic>
      <mc:AlternateContent xmlns:mc="http://schemas.openxmlformats.org/markup-compatibility/2006" xmlns:a14="http://schemas.microsoft.com/office/drawing/2010/main">
        <mc:Choice Requires="a14">
          <p:sp>
            <p:nvSpPr>
              <p:cNvPr id="7" name="Text Placeholder 13">
                <a:extLst>
                  <a:ext uri="{FF2B5EF4-FFF2-40B4-BE49-F238E27FC236}">
                    <a16:creationId xmlns:a16="http://schemas.microsoft.com/office/drawing/2014/main" id="{5941E6C9-8B2B-B44F-BFCB-7C9EC6E2D002}"/>
                  </a:ext>
                </a:extLst>
              </p:cNvPr>
              <p:cNvSpPr txBox="1">
                <a:spLocks/>
              </p:cNvSpPr>
              <p:nvPr/>
            </p:nvSpPr>
            <p:spPr>
              <a:xfrm>
                <a:off x="4606924" y="1107617"/>
                <a:ext cx="6749333" cy="439353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000066"/>
                    </a:solidFill>
                  </a:rPr>
                  <a:t>When a perfectly flexible connector (one requiring no force to bend it) such as this rope transmits a force </a:t>
                </a:r>
                <a14:m>
                  <m:oMath xmlns:m="http://schemas.openxmlformats.org/officeDocument/2006/math">
                    <m:acc>
                      <m:accPr>
                        <m:chr m:val="⃗"/>
                        <m:ctrlPr>
                          <a:rPr lang="en-US" sz="2200" b="1" i="1">
                            <a:solidFill>
                              <a:srgbClr val="000066"/>
                            </a:solidFill>
                            <a:latin typeface="Cambria Math" panose="02040503050406030204" pitchFamily="18" charset="0"/>
                          </a:rPr>
                        </m:ctrlPr>
                      </m:accPr>
                      <m:e>
                        <m:r>
                          <a:rPr lang="en-US" sz="2200" b="1" smtClean="0">
                            <a:solidFill>
                              <a:srgbClr val="000066"/>
                            </a:solidFill>
                            <a:latin typeface="Cambria Math"/>
                          </a:rPr>
                          <m:t>𝐓</m:t>
                        </m:r>
                      </m:e>
                    </m:acc>
                  </m:oMath>
                </a14:m>
                <a:r>
                  <a:rPr lang="en-US" sz="2200" dirty="0">
                    <a:solidFill>
                      <a:srgbClr val="000066"/>
                    </a:solidFill>
                  </a:rPr>
                  <a:t>, that force must be parallel to the length of the rope, as shown. </a:t>
                </a:r>
              </a:p>
              <a:p>
                <a:pPr marL="0" indent="0">
                  <a:buNone/>
                </a:pPr>
                <a:r>
                  <a:rPr lang="en-US" sz="2200" dirty="0">
                    <a:solidFill>
                      <a:srgbClr val="000066"/>
                    </a:solidFill>
                  </a:rPr>
                  <a:t>By Newton’s third law, the rope pulls with equal force but in opposite directions on the hand and the supported mass (neglecting the weight of the rope). The rope is the medium that carries the equal and opposite forces between the two objects. </a:t>
                </a:r>
              </a:p>
              <a:p>
                <a:pPr marL="0" indent="0">
                  <a:buNone/>
                </a:pPr>
                <a:r>
                  <a:rPr lang="en-US" sz="2200" dirty="0">
                    <a:solidFill>
                      <a:srgbClr val="000066"/>
                    </a:solidFill>
                  </a:rPr>
                  <a:t>The tension anywhere in the rope between the hand and the mass is equal. Once you have determined the tension in one location, you have determined the tension at all locations along the rope.</a:t>
                </a:r>
              </a:p>
            </p:txBody>
          </p:sp>
        </mc:Choice>
        <mc:Fallback xmlns="">
          <p:sp>
            <p:nvSpPr>
              <p:cNvPr id="7" name="Text Placeholder 13">
                <a:extLst>
                  <a:ext uri="{FF2B5EF4-FFF2-40B4-BE49-F238E27FC236}">
                    <a16:creationId xmlns:a16="http://schemas.microsoft.com/office/drawing/2014/main" id="{5941E6C9-8B2B-B44F-BFCB-7C9EC6E2D002}"/>
                  </a:ext>
                </a:extLst>
              </p:cNvPr>
              <p:cNvSpPr txBox="1">
                <a:spLocks noRot="1" noChangeAspect="1" noMove="1" noResize="1" noEditPoints="1" noAdjustHandles="1" noChangeArrowheads="1" noChangeShapeType="1" noTextEdit="1"/>
              </p:cNvSpPr>
              <p:nvPr/>
            </p:nvSpPr>
            <p:spPr>
              <a:xfrm>
                <a:off x="4606924" y="1107617"/>
                <a:ext cx="6749333" cy="4393531"/>
              </a:xfrm>
              <a:prstGeom prst="rect">
                <a:avLst/>
              </a:prstGeom>
              <a:blipFill>
                <a:blip r:embed="rId4"/>
                <a:stretch>
                  <a:fillRect l="-1126" t="-1734" r="-938" b="-867"/>
                </a:stretch>
              </a:blipFill>
            </p:spPr>
            <p:txBody>
              <a:bodyPr/>
              <a:lstStyle/>
              <a:p>
                <a:r>
                  <a:rPr lang="en-US">
                    <a:noFill/>
                  </a:rPr>
                  <a:t> </a:t>
                </a:r>
              </a:p>
            </p:txBody>
          </p:sp>
        </mc:Fallback>
      </mc:AlternateContent>
    </p:spTree>
    <p:extLst>
      <p:ext uri="{BB962C8B-B14F-4D97-AF65-F5344CB8AC3E}">
        <p14:creationId xmlns:p14="http://schemas.microsoft.com/office/powerpoint/2010/main" val="15237986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sp>
        <p:nvSpPr>
          <p:cNvPr id="2" name="Rectangle 1">
            <a:extLst>
              <a:ext uri="{FF2B5EF4-FFF2-40B4-BE49-F238E27FC236}">
                <a16:creationId xmlns:a16="http://schemas.microsoft.com/office/drawing/2014/main" id="{5950BC47-B878-8045-B961-9CD8227BB7FB}"/>
              </a:ext>
            </a:extLst>
          </p:cNvPr>
          <p:cNvSpPr/>
          <p:nvPr/>
        </p:nvSpPr>
        <p:spPr>
          <a:xfrm>
            <a:off x="8126361" y="1305391"/>
            <a:ext cx="3877336" cy="1107996"/>
          </a:xfrm>
          <a:prstGeom prst="rect">
            <a:avLst/>
          </a:prstGeom>
        </p:spPr>
        <p:txBody>
          <a:bodyPr wrap="square">
            <a:spAutoFit/>
          </a:bodyPr>
          <a:lstStyle/>
          <a:p>
            <a:r>
              <a:rPr lang="en-US" sz="2200" dirty="0">
                <a:solidFill>
                  <a:srgbClr val="000066"/>
                </a:solidFill>
                <a:latin typeface="LiberationSerif"/>
              </a:rPr>
              <a:t>Calculate the tension in the wire supporting the 70.0-kg tightrope walker shown in </a:t>
            </a:r>
            <a:r>
              <a:rPr lang="en-US" sz="2200" dirty="0">
                <a:solidFill>
                  <a:srgbClr val="000066"/>
                </a:solidFill>
                <a:latin typeface="LiberationSans"/>
              </a:rPr>
              <a:t>Figure. </a:t>
            </a:r>
            <a:endParaRPr lang="en-US" sz="2200" dirty="0">
              <a:solidFill>
                <a:srgbClr val="000066"/>
              </a:solidFill>
            </a:endParaRPr>
          </a:p>
        </p:txBody>
      </p:sp>
      <p:sp>
        <p:nvSpPr>
          <p:cNvPr id="7" name="Rectangle 6">
            <a:extLst>
              <a:ext uri="{FF2B5EF4-FFF2-40B4-BE49-F238E27FC236}">
                <a16:creationId xmlns:a16="http://schemas.microsoft.com/office/drawing/2014/main" id="{2DDBBF1F-1E38-AF4B-B816-174E8D24E174}"/>
              </a:ext>
            </a:extLst>
          </p:cNvPr>
          <p:cNvSpPr/>
          <p:nvPr/>
        </p:nvSpPr>
        <p:spPr>
          <a:xfrm>
            <a:off x="8126361" y="874504"/>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9" name="Picture 8" descr="Diagram&#10;&#10;Description automatically generated">
            <a:extLst>
              <a:ext uri="{FF2B5EF4-FFF2-40B4-BE49-F238E27FC236}">
                <a16:creationId xmlns:a16="http://schemas.microsoft.com/office/drawing/2014/main" id="{1D6F4F58-A194-1845-A9BE-DE273C6D42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411" y="4474141"/>
            <a:ext cx="7277100" cy="2044700"/>
          </a:xfrm>
          <a:prstGeom prst="rect">
            <a:avLst/>
          </a:prstGeom>
        </p:spPr>
      </p:pic>
      <p:pic>
        <p:nvPicPr>
          <p:cNvPr id="11" name="Picture 10" descr="A picture containing text, sky, map&#10;&#10;Description automatically generated">
            <a:extLst>
              <a:ext uri="{FF2B5EF4-FFF2-40B4-BE49-F238E27FC236}">
                <a16:creationId xmlns:a16="http://schemas.microsoft.com/office/drawing/2014/main" id="{50A3AEC6-86CA-6C49-BF26-E80386F984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561" y="582660"/>
            <a:ext cx="7670800" cy="3530600"/>
          </a:xfrm>
          <a:prstGeom prst="rect">
            <a:avLst/>
          </a:prstGeom>
        </p:spPr>
      </p:pic>
      <p:sp>
        <p:nvSpPr>
          <p:cNvPr id="12" name="Text Placeholder 6">
            <a:extLst>
              <a:ext uri="{FF2B5EF4-FFF2-40B4-BE49-F238E27FC236}">
                <a16:creationId xmlns:a16="http://schemas.microsoft.com/office/drawing/2014/main" id="{FF8F9434-664B-F643-8DC2-DC581D2D7279}"/>
              </a:ext>
            </a:extLst>
          </p:cNvPr>
          <p:cNvSpPr txBox="1">
            <a:spLocks/>
          </p:cNvSpPr>
          <p:nvPr/>
        </p:nvSpPr>
        <p:spPr>
          <a:xfrm>
            <a:off x="8246988" y="2809382"/>
            <a:ext cx="3877336" cy="110799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The weight of a tightrope walker causes a wire to sag by 5.0°. The system of interest is the point in the wire at which the tightrope walker is standing.</a:t>
            </a:r>
          </a:p>
        </p:txBody>
      </p:sp>
      <p:sp>
        <p:nvSpPr>
          <p:cNvPr id="13" name="Text Placeholder 6">
            <a:extLst>
              <a:ext uri="{FF2B5EF4-FFF2-40B4-BE49-F238E27FC236}">
                <a16:creationId xmlns:a16="http://schemas.microsoft.com/office/drawing/2014/main" id="{7FB5D2D0-752C-6444-8AAC-1954B641B320}"/>
              </a:ext>
            </a:extLst>
          </p:cNvPr>
          <p:cNvSpPr txBox="1">
            <a:spLocks/>
          </p:cNvSpPr>
          <p:nvPr/>
        </p:nvSpPr>
        <p:spPr>
          <a:xfrm>
            <a:off x="8194037" y="4837251"/>
            <a:ext cx="3997963" cy="171108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2060"/>
                </a:solidFill>
              </a:rPr>
              <a:t>When the vectors are projected onto vertical and horizontal axes, their components along these axes must add to zero, since the tightrope walker is stationary. The small angle results in </a:t>
            </a:r>
            <a:r>
              <a:rPr lang="en-US" sz="1800" i="1" dirty="0">
                <a:solidFill>
                  <a:srgbClr val="002060"/>
                </a:solidFill>
              </a:rPr>
              <a:t>T</a:t>
            </a:r>
            <a:r>
              <a:rPr lang="en-US" sz="1800" dirty="0">
                <a:solidFill>
                  <a:srgbClr val="002060"/>
                </a:solidFill>
              </a:rPr>
              <a:t> being much greater than </a:t>
            </a:r>
            <a:r>
              <a:rPr lang="en-US" sz="1800" i="1" dirty="0">
                <a:solidFill>
                  <a:srgbClr val="002060"/>
                </a:solidFill>
              </a:rPr>
              <a:t>w</a:t>
            </a:r>
            <a:r>
              <a:rPr lang="en-US" sz="1800" dirty="0">
                <a:solidFill>
                  <a:srgbClr val="002060"/>
                </a:solidFill>
              </a:rPr>
              <a:t>.</a:t>
            </a:r>
          </a:p>
        </p:txBody>
      </p:sp>
    </p:spTree>
    <p:extLst>
      <p:ext uri="{BB962C8B-B14F-4D97-AF65-F5344CB8AC3E}">
        <p14:creationId xmlns:p14="http://schemas.microsoft.com/office/powerpoint/2010/main" val="13403678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B315E01-6F1C-1E45-8A4E-142789C853F2}"/>
              </a:ext>
            </a:extLst>
          </p:cNvPr>
          <p:cNvSpPr txBox="1"/>
          <p:nvPr/>
        </p:nvSpPr>
        <p:spPr>
          <a:xfrm>
            <a:off x="3170903" y="5294671"/>
            <a:ext cx="184731" cy="369332"/>
          </a:xfrm>
          <a:prstGeom prst="rect">
            <a:avLst/>
          </a:prstGeom>
          <a:noFill/>
        </p:spPr>
        <p:txBody>
          <a:bodyPr wrap="none" rtlCol="0">
            <a:spAutoFit/>
          </a:bodyPr>
          <a:lstStyle/>
          <a:p>
            <a:endParaRPr lang="en-US" dirty="0"/>
          </a:p>
        </p:txBody>
      </p:sp>
      <p:pic>
        <p:nvPicPr>
          <p:cNvPr id="4" name="Picture 3" descr="A picture containing text, device&#10;&#10;Description automatically generated">
            <a:extLst>
              <a:ext uri="{FF2B5EF4-FFF2-40B4-BE49-F238E27FC236}">
                <a16:creationId xmlns:a16="http://schemas.microsoft.com/office/drawing/2014/main" id="{B9F0B166-FD2A-9141-A951-B6C64EA8B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636" y="1858218"/>
            <a:ext cx="10972800" cy="1837075"/>
          </a:xfrm>
          <a:prstGeom prst="rect">
            <a:avLst/>
          </a:prstGeom>
        </p:spPr>
      </p:pic>
      <p:sp>
        <p:nvSpPr>
          <p:cNvPr id="7" name="Text Placeholder 6">
            <a:extLst>
              <a:ext uri="{FF2B5EF4-FFF2-40B4-BE49-F238E27FC236}">
                <a16:creationId xmlns:a16="http://schemas.microsoft.com/office/drawing/2014/main" id="{7BE19AC4-5CF6-C74A-BD64-51A09DB992CB}"/>
              </a:ext>
            </a:extLst>
          </p:cNvPr>
          <p:cNvSpPr txBox="1">
            <a:spLocks/>
          </p:cNvSpPr>
          <p:nvPr/>
        </p:nvSpPr>
        <p:spPr>
          <a:xfrm>
            <a:off x="516194" y="1038197"/>
            <a:ext cx="10736826" cy="82002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We can create a large tension in the chain—and potentially a big mess—by pushing on it perpendicular to its length, as shown.</a:t>
            </a:r>
          </a:p>
        </p:txBody>
      </p:sp>
      <p:pic>
        <p:nvPicPr>
          <p:cNvPr id="9" name="Picture 8">
            <a:extLst>
              <a:ext uri="{FF2B5EF4-FFF2-40B4-BE49-F238E27FC236}">
                <a16:creationId xmlns:a16="http://schemas.microsoft.com/office/drawing/2014/main" id="{683F1ADD-A3A5-BF48-9035-6037C38394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032" y="4704095"/>
            <a:ext cx="11494008" cy="1181152"/>
          </a:xfrm>
          <a:prstGeom prst="rect">
            <a:avLst/>
          </a:prstGeom>
        </p:spPr>
      </p:pic>
      <p:sp>
        <p:nvSpPr>
          <p:cNvPr id="10" name="Rectangle 9">
            <a:extLst>
              <a:ext uri="{FF2B5EF4-FFF2-40B4-BE49-F238E27FC236}">
                <a16:creationId xmlns:a16="http://schemas.microsoft.com/office/drawing/2014/main" id="{E24E3FC5-9E4A-D243-9E13-94E1DAA14D94}"/>
              </a:ext>
            </a:extLst>
          </p:cNvPr>
          <p:cNvSpPr/>
          <p:nvPr/>
        </p:nvSpPr>
        <p:spPr>
          <a:xfrm>
            <a:off x="1069088" y="4836542"/>
            <a:ext cx="1800816" cy="430887"/>
          </a:xfrm>
          <a:prstGeom prst="rect">
            <a:avLst/>
          </a:prstGeom>
        </p:spPr>
        <p:txBody>
          <a:bodyPr wrap="square">
            <a:spAutoFit/>
          </a:bodyPr>
          <a:lstStyle/>
          <a:p>
            <a:r>
              <a:rPr lang="en-US" sz="2200" dirty="0">
                <a:solidFill>
                  <a:srgbClr val="0000CC"/>
                </a:solidFill>
              </a:rPr>
              <a:t>Assignment 7</a:t>
            </a:r>
          </a:p>
        </p:txBody>
      </p:sp>
      <p:sp>
        <p:nvSpPr>
          <p:cNvPr id="11" name="Rectangle 10">
            <a:extLst>
              <a:ext uri="{FF2B5EF4-FFF2-40B4-BE49-F238E27FC236}">
                <a16:creationId xmlns:a16="http://schemas.microsoft.com/office/drawing/2014/main" id="{D7D931E3-2FD8-864D-A433-694465CB6204}"/>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spTree>
    <p:extLst>
      <p:ext uri="{BB962C8B-B14F-4D97-AF65-F5344CB8AC3E}">
        <p14:creationId xmlns:p14="http://schemas.microsoft.com/office/powerpoint/2010/main" val="28901571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B2E83EC-12A4-FB47-8893-D09D8D14AE15}"/>
              </a:ext>
            </a:extLst>
          </p:cNvPr>
          <p:cNvSpPr/>
          <p:nvPr/>
        </p:nvSpPr>
        <p:spPr>
          <a:xfrm>
            <a:off x="3928534" y="89044"/>
            <a:ext cx="5653622" cy="523220"/>
          </a:xfrm>
          <a:prstGeom prst="rect">
            <a:avLst/>
          </a:prstGeom>
        </p:spPr>
        <p:txBody>
          <a:bodyPr wrap="square">
            <a:spAutoFit/>
          </a:bodyPr>
          <a:lstStyle/>
          <a:p>
            <a:r>
              <a:rPr lang="en-US" sz="2800" dirty="0">
                <a:solidFill>
                  <a:srgbClr val="C00000"/>
                </a:solidFill>
                <a:latin typeface="NewBaskervilleStd-Roman"/>
              </a:rPr>
              <a:t>Common Forces </a:t>
            </a:r>
          </a:p>
        </p:txBody>
      </p:sp>
      <p:sp>
        <p:nvSpPr>
          <p:cNvPr id="2" name="Rectangle 1">
            <a:extLst>
              <a:ext uri="{FF2B5EF4-FFF2-40B4-BE49-F238E27FC236}">
                <a16:creationId xmlns:a16="http://schemas.microsoft.com/office/drawing/2014/main" id="{2CC828EA-E59D-EB46-9254-3999C0BC4CFD}"/>
              </a:ext>
            </a:extLst>
          </p:cNvPr>
          <p:cNvSpPr/>
          <p:nvPr/>
        </p:nvSpPr>
        <p:spPr>
          <a:xfrm>
            <a:off x="763520" y="448314"/>
            <a:ext cx="1114408" cy="430887"/>
          </a:xfrm>
          <a:prstGeom prst="rect">
            <a:avLst/>
          </a:prstGeom>
        </p:spPr>
        <p:txBody>
          <a:bodyPr wrap="none">
            <a:spAutoFit/>
          </a:bodyPr>
          <a:lstStyle/>
          <a:p>
            <a:r>
              <a:rPr lang="en-US" sz="2200" dirty="0">
                <a:solidFill>
                  <a:srgbClr val="008000"/>
                </a:solidFill>
                <a:latin typeface="LiberationSans"/>
              </a:rPr>
              <a:t>Friction </a:t>
            </a:r>
            <a:endParaRPr lang="en-US" sz="2200" dirty="0">
              <a:solidFill>
                <a:srgbClr val="008000"/>
              </a:solidFill>
            </a:endParaRPr>
          </a:p>
        </p:txBody>
      </p:sp>
      <p:sp>
        <p:nvSpPr>
          <p:cNvPr id="3" name="Rectangle 2">
            <a:extLst>
              <a:ext uri="{FF2B5EF4-FFF2-40B4-BE49-F238E27FC236}">
                <a16:creationId xmlns:a16="http://schemas.microsoft.com/office/drawing/2014/main" id="{BC6A17C3-D01E-FE47-8CCE-F6A40B593926}"/>
              </a:ext>
            </a:extLst>
          </p:cNvPr>
          <p:cNvSpPr/>
          <p:nvPr/>
        </p:nvSpPr>
        <p:spPr>
          <a:xfrm>
            <a:off x="763520" y="879201"/>
            <a:ext cx="7348093" cy="1107996"/>
          </a:xfrm>
          <a:prstGeom prst="rect">
            <a:avLst/>
          </a:prstGeom>
        </p:spPr>
        <p:txBody>
          <a:bodyPr wrap="square">
            <a:spAutoFit/>
          </a:bodyPr>
          <a:lstStyle/>
          <a:p>
            <a:r>
              <a:rPr lang="en-US" sz="2200" dirty="0">
                <a:solidFill>
                  <a:srgbClr val="000066"/>
                </a:solidFill>
                <a:latin typeface="LiberationSerif"/>
              </a:rPr>
              <a:t>Friction is a resistive force opposing motion or its tendency. Friction is discussed in greater detail in the next chapter. </a:t>
            </a:r>
          </a:p>
          <a:p>
            <a:r>
              <a:rPr lang="en-US" sz="2200" dirty="0">
                <a:solidFill>
                  <a:srgbClr val="000066"/>
                </a:solidFill>
                <a:latin typeface="LiberationSerif"/>
              </a:rPr>
              <a:t> </a:t>
            </a:r>
            <a:endParaRPr lang="en-US" sz="2200" dirty="0">
              <a:solidFill>
                <a:srgbClr val="000066"/>
              </a:solidFill>
            </a:endParaRPr>
          </a:p>
        </p:txBody>
      </p:sp>
      <p:sp>
        <p:nvSpPr>
          <p:cNvPr id="7" name="Rectangle 6">
            <a:extLst>
              <a:ext uri="{FF2B5EF4-FFF2-40B4-BE49-F238E27FC236}">
                <a16:creationId xmlns:a16="http://schemas.microsoft.com/office/drawing/2014/main" id="{471F4C7E-E7C3-0A40-92D3-FDF2A0D62244}"/>
              </a:ext>
            </a:extLst>
          </p:cNvPr>
          <p:cNvSpPr/>
          <p:nvPr/>
        </p:nvSpPr>
        <p:spPr>
          <a:xfrm>
            <a:off x="763520" y="1756767"/>
            <a:ext cx="1646348" cy="430887"/>
          </a:xfrm>
          <a:prstGeom prst="rect">
            <a:avLst/>
          </a:prstGeom>
        </p:spPr>
        <p:txBody>
          <a:bodyPr wrap="none">
            <a:spAutoFit/>
          </a:bodyPr>
          <a:lstStyle/>
          <a:p>
            <a:r>
              <a:rPr lang="en-US" sz="2200" dirty="0">
                <a:solidFill>
                  <a:srgbClr val="008000"/>
                </a:solidFill>
                <a:latin typeface="LiberationSans"/>
              </a:rPr>
              <a:t>Spring force </a:t>
            </a:r>
            <a:endParaRPr lang="en-US" sz="2200" dirty="0">
              <a:solidFill>
                <a:srgbClr val="008000"/>
              </a:solidFill>
            </a:endParaRPr>
          </a:p>
        </p:txBody>
      </p:sp>
      <p:sp>
        <p:nvSpPr>
          <p:cNvPr id="8" name="Rectangle 7">
            <a:extLst>
              <a:ext uri="{FF2B5EF4-FFF2-40B4-BE49-F238E27FC236}">
                <a16:creationId xmlns:a16="http://schemas.microsoft.com/office/drawing/2014/main" id="{60CF465B-BD4A-1C45-89DB-C04FE1C6ABF4}"/>
              </a:ext>
            </a:extLst>
          </p:cNvPr>
          <p:cNvSpPr/>
          <p:nvPr/>
        </p:nvSpPr>
        <p:spPr>
          <a:xfrm>
            <a:off x="650452" y="2275222"/>
            <a:ext cx="6341542" cy="2800767"/>
          </a:xfrm>
          <a:prstGeom prst="rect">
            <a:avLst/>
          </a:prstGeom>
        </p:spPr>
        <p:txBody>
          <a:bodyPr wrap="square">
            <a:spAutoFit/>
          </a:bodyPr>
          <a:lstStyle/>
          <a:p>
            <a:r>
              <a:rPr lang="en-US" sz="2200" dirty="0">
                <a:solidFill>
                  <a:srgbClr val="000066"/>
                </a:solidFill>
                <a:latin typeface="LiberationSerif"/>
              </a:rPr>
              <a:t>When a spring is deformed – stretched or compressed, it has the ability to restore its shape.</a:t>
            </a:r>
          </a:p>
          <a:p>
            <a:r>
              <a:rPr lang="en-US" sz="2200" dirty="0">
                <a:solidFill>
                  <a:srgbClr val="000066"/>
                </a:solidFill>
              </a:rPr>
              <a:t>To restore its shape, a spring exerts a restoring force that is proportional to and in the opposite direction in which it is stretched or compressed. This is the statement of a law known as Hooke’s law, which has the mathematical form </a:t>
            </a:r>
          </a:p>
          <a:p>
            <a:endParaRPr lang="en-US" sz="2200" dirty="0">
              <a:solidFill>
                <a:srgbClr val="000066"/>
              </a:solidFill>
            </a:endParaRPr>
          </a:p>
        </p:txBody>
      </p:sp>
      <p:pic>
        <p:nvPicPr>
          <p:cNvPr id="10" name="Picture 9" descr="A picture containing logo&#10;&#10;Description automatically generated">
            <a:extLst>
              <a:ext uri="{FF2B5EF4-FFF2-40B4-BE49-F238E27FC236}">
                <a16:creationId xmlns:a16="http://schemas.microsoft.com/office/drawing/2014/main" id="{13319EA9-2874-374D-9FB6-49964D28E0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9666" y="4322276"/>
            <a:ext cx="1832610" cy="594360"/>
          </a:xfrm>
          <a:prstGeom prst="rect">
            <a:avLst/>
          </a:prstGeom>
        </p:spPr>
      </p:pic>
      <p:pic>
        <p:nvPicPr>
          <p:cNvPr id="12" name="Picture 11" descr="Diagram&#10;&#10;Description automatically generated">
            <a:extLst>
              <a:ext uri="{FF2B5EF4-FFF2-40B4-BE49-F238E27FC236}">
                <a16:creationId xmlns:a16="http://schemas.microsoft.com/office/drawing/2014/main" id="{ADB9684C-1F5C-FD44-8480-EF24B7B88F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64447" y="1560041"/>
            <a:ext cx="5080000" cy="4318000"/>
          </a:xfrm>
          <a:prstGeom prst="rect">
            <a:avLst/>
          </a:prstGeom>
        </p:spPr>
      </p:pic>
      <mc:AlternateContent xmlns:mc="http://schemas.openxmlformats.org/markup-compatibility/2006" xmlns:a14="http://schemas.microsoft.com/office/drawing/2010/main">
        <mc:Choice Requires="a14">
          <p:sp>
            <p:nvSpPr>
              <p:cNvPr id="13" name="Text Placeholder 13">
                <a:extLst>
                  <a:ext uri="{FF2B5EF4-FFF2-40B4-BE49-F238E27FC236}">
                    <a16:creationId xmlns:a16="http://schemas.microsoft.com/office/drawing/2014/main" id="{39A1B77C-349E-C94C-A06D-BAEF830A20B3}"/>
                  </a:ext>
                </a:extLst>
              </p:cNvPr>
              <p:cNvSpPr txBox="1">
                <a:spLocks/>
              </p:cNvSpPr>
              <p:nvPr/>
            </p:nvSpPr>
            <p:spPr>
              <a:xfrm>
                <a:off x="856924" y="5620917"/>
                <a:ext cx="9939019" cy="10738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AutoNum type="alphaLcParenBoth"/>
                </a:pPr>
                <a:r>
                  <a:rPr lang="en-US" sz="1600" dirty="0">
                    <a:solidFill>
                      <a:srgbClr val="000000"/>
                    </a:solidFill>
                  </a:rPr>
                  <a:t>The spring is in a relaxed position and exerts no force on the block.</a:t>
                </a:r>
              </a:p>
              <a:p>
                <a:pPr marL="342900" indent="-342900">
                  <a:buFont typeface="Arial" panose="020B0604020202020204" pitchFamily="34" charset="0"/>
                  <a:buAutoNum type="alphaLcParenBoth"/>
                </a:pPr>
                <a:r>
                  <a:rPr lang="en-US" sz="1600" dirty="0">
                    <a:solidFill>
                      <a:srgbClr val="000000"/>
                    </a:solidFill>
                  </a:rPr>
                  <a:t>The spring is compressed by displacement  </a:t>
                </a:r>
                <a14:m>
                  <m:oMath xmlns:m="http://schemas.openxmlformats.org/officeDocument/2006/math">
                    <m:r>
                      <a:rPr lang="en-US" sz="1600" i="1" smtClean="0">
                        <a:solidFill>
                          <a:srgbClr val="000000"/>
                        </a:solidFill>
                        <a:latin typeface="Cambria Math"/>
                        <a:ea typeface="Cambria Math"/>
                      </a:rPr>
                      <m:t>∆</m:t>
                    </m:r>
                    <m:sSub>
                      <m:sSubPr>
                        <m:ctrlPr>
                          <a:rPr lang="en-US" sz="1600" i="1" smtClean="0">
                            <a:solidFill>
                              <a:srgbClr val="000000"/>
                            </a:solidFill>
                            <a:latin typeface="Cambria Math" panose="02040503050406030204" pitchFamily="18" charset="0"/>
                            <a:ea typeface="Cambria Math"/>
                          </a:rPr>
                        </m:ctrlPr>
                      </m:sSubPr>
                      <m:e>
                        <m:acc>
                          <m:accPr>
                            <m:chr m:val="⃗"/>
                            <m:ctrlPr>
                              <a:rPr lang="en-US" sz="1600" b="1" i="1">
                                <a:latin typeface="Cambria Math" panose="02040503050406030204" pitchFamily="18" charset="0"/>
                              </a:rPr>
                            </m:ctrlPr>
                          </m:accPr>
                          <m:e>
                            <m:r>
                              <a:rPr lang="en-US" sz="1600" b="1" smtClean="0">
                                <a:latin typeface="Cambria Math"/>
                              </a:rPr>
                              <m:t>𝐱</m:t>
                            </m:r>
                          </m:e>
                        </m:acc>
                      </m:e>
                      <m:sub>
                        <m:r>
                          <a:rPr lang="en-US" sz="1600" i="1" smtClean="0">
                            <a:solidFill>
                              <a:srgbClr val="000000"/>
                            </a:solidFill>
                            <a:latin typeface="Cambria Math"/>
                            <a:ea typeface="Cambria Math"/>
                          </a:rPr>
                          <m:t>1</m:t>
                        </m:r>
                      </m:sub>
                    </m:sSub>
                  </m:oMath>
                </a14:m>
                <a:r>
                  <a:rPr lang="en-US" sz="1600" dirty="0">
                    <a:solidFill>
                      <a:srgbClr val="000000"/>
                    </a:solidFill>
                  </a:rPr>
                  <a:t> of the object and exerts restoring force  </a:t>
                </a:r>
                <a14:m>
                  <m:oMath xmlns:m="http://schemas.openxmlformats.org/officeDocument/2006/math">
                    <m:r>
                      <a:rPr lang="en-US" sz="1600" i="1" smtClean="0">
                        <a:solidFill>
                          <a:srgbClr val="000000"/>
                        </a:solidFill>
                        <a:latin typeface="Cambria Math"/>
                        <a:ea typeface="Cambria Math"/>
                      </a:rPr>
                      <m:t>−</m:t>
                    </m:r>
                    <m:r>
                      <a:rPr lang="en-US" sz="1600" i="1" smtClean="0">
                        <a:solidFill>
                          <a:srgbClr val="000000"/>
                        </a:solidFill>
                        <a:latin typeface="Cambria Math"/>
                        <a:ea typeface="Cambria Math"/>
                      </a:rPr>
                      <m:t>𝑘</m:t>
                    </m:r>
                    <m:r>
                      <a:rPr lang="en-US" sz="1600" i="1">
                        <a:solidFill>
                          <a:srgbClr val="000000"/>
                        </a:solidFill>
                        <a:latin typeface="Cambria Math"/>
                        <a:ea typeface="Cambria Math"/>
                      </a:rPr>
                      <m:t>∆</m:t>
                    </m:r>
                    <m:sSub>
                      <m:sSubPr>
                        <m:ctrlPr>
                          <a:rPr lang="en-US" sz="1600" i="1">
                            <a:solidFill>
                              <a:srgbClr val="000000"/>
                            </a:solidFill>
                            <a:latin typeface="Cambria Math" panose="02040503050406030204" pitchFamily="18" charset="0"/>
                            <a:ea typeface="Cambria Math"/>
                          </a:rPr>
                        </m:ctrlPr>
                      </m:sSubPr>
                      <m:e>
                        <m:acc>
                          <m:accPr>
                            <m:chr m:val="⃗"/>
                            <m:ctrlPr>
                              <a:rPr lang="en-US" sz="1600" b="1" i="1">
                                <a:latin typeface="Cambria Math" panose="02040503050406030204" pitchFamily="18" charset="0"/>
                              </a:rPr>
                            </m:ctrlPr>
                          </m:accPr>
                          <m:e>
                            <m:r>
                              <a:rPr lang="en-US" sz="1600" b="1">
                                <a:latin typeface="Cambria Math"/>
                              </a:rPr>
                              <m:t>𝐱</m:t>
                            </m:r>
                          </m:e>
                        </m:acc>
                      </m:e>
                      <m:sub>
                        <m:r>
                          <a:rPr lang="en-US" sz="1600" i="1">
                            <a:solidFill>
                              <a:srgbClr val="000000"/>
                            </a:solidFill>
                            <a:latin typeface="Cambria Math"/>
                            <a:ea typeface="Cambria Math"/>
                          </a:rPr>
                          <m:t>1</m:t>
                        </m:r>
                      </m:sub>
                    </m:sSub>
                  </m:oMath>
                </a14:m>
                <a:r>
                  <a:rPr lang="en-US" sz="1600" dirty="0">
                    <a:solidFill>
                      <a:srgbClr val="000000"/>
                    </a:solidFill>
                  </a:rPr>
                  <a:t>.</a:t>
                </a:r>
              </a:p>
              <a:p>
                <a:pPr marL="342900" indent="-342900">
                  <a:buFont typeface="Arial" panose="020B0604020202020204" pitchFamily="34" charset="0"/>
                  <a:buAutoNum type="alphaLcParenBoth"/>
                </a:pPr>
                <a:r>
                  <a:rPr lang="en-US" sz="1600" dirty="0">
                    <a:solidFill>
                      <a:srgbClr val="000000"/>
                    </a:solidFill>
                  </a:rPr>
                  <a:t>The spring is stretched by displacement  </a:t>
                </a:r>
                <a14:m>
                  <m:oMath xmlns:m="http://schemas.openxmlformats.org/officeDocument/2006/math">
                    <m:r>
                      <a:rPr lang="en-US" sz="1600" i="1">
                        <a:solidFill>
                          <a:srgbClr val="000000"/>
                        </a:solidFill>
                        <a:latin typeface="Cambria Math"/>
                        <a:ea typeface="Cambria Math"/>
                      </a:rPr>
                      <m:t>∆</m:t>
                    </m:r>
                    <m:sSub>
                      <m:sSubPr>
                        <m:ctrlPr>
                          <a:rPr lang="en-US" sz="1600" i="1">
                            <a:solidFill>
                              <a:srgbClr val="000000"/>
                            </a:solidFill>
                            <a:latin typeface="Cambria Math" panose="02040503050406030204" pitchFamily="18" charset="0"/>
                            <a:ea typeface="Cambria Math"/>
                          </a:rPr>
                        </m:ctrlPr>
                      </m:sSubPr>
                      <m:e>
                        <m:acc>
                          <m:accPr>
                            <m:chr m:val="⃗"/>
                            <m:ctrlPr>
                              <a:rPr lang="en-US" sz="1600" b="1" i="1">
                                <a:latin typeface="Cambria Math" panose="02040503050406030204" pitchFamily="18" charset="0"/>
                              </a:rPr>
                            </m:ctrlPr>
                          </m:accPr>
                          <m:e>
                            <m:r>
                              <a:rPr lang="en-US" sz="1600" b="1">
                                <a:latin typeface="Cambria Math"/>
                              </a:rPr>
                              <m:t>𝐱</m:t>
                            </m:r>
                          </m:e>
                        </m:acc>
                      </m:e>
                      <m:sub>
                        <m:r>
                          <a:rPr lang="en-US" sz="1600" i="1" smtClean="0">
                            <a:latin typeface="Cambria Math"/>
                          </a:rPr>
                          <m:t>2</m:t>
                        </m:r>
                      </m:sub>
                    </m:sSub>
                  </m:oMath>
                </a14:m>
                <a:r>
                  <a:rPr lang="en-US" sz="1600" dirty="0">
                    <a:solidFill>
                      <a:srgbClr val="000000"/>
                    </a:solidFill>
                  </a:rPr>
                  <a:t> of the object and exerts restoring force  </a:t>
                </a:r>
                <a14:m>
                  <m:oMath xmlns:m="http://schemas.openxmlformats.org/officeDocument/2006/math">
                    <m:r>
                      <a:rPr lang="en-US" sz="1600" i="1">
                        <a:solidFill>
                          <a:srgbClr val="000000"/>
                        </a:solidFill>
                        <a:latin typeface="Cambria Math"/>
                        <a:ea typeface="Cambria Math"/>
                      </a:rPr>
                      <m:t>−</m:t>
                    </m:r>
                    <m:r>
                      <a:rPr lang="en-US" sz="1600" i="1">
                        <a:solidFill>
                          <a:srgbClr val="000000"/>
                        </a:solidFill>
                        <a:latin typeface="Cambria Math"/>
                        <a:ea typeface="Cambria Math"/>
                      </a:rPr>
                      <m:t>𝑘</m:t>
                    </m:r>
                    <m:r>
                      <a:rPr lang="en-US" sz="1600" i="1">
                        <a:solidFill>
                          <a:srgbClr val="000000"/>
                        </a:solidFill>
                        <a:latin typeface="Cambria Math"/>
                        <a:ea typeface="Cambria Math"/>
                      </a:rPr>
                      <m:t>∆</m:t>
                    </m:r>
                    <m:sSub>
                      <m:sSubPr>
                        <m:ctrlPr>
                          <a:rPr lang="en-US" sz="1600" i="1">
                            <a:solidFill>
                              <a:srgbClr val="000000"/>
                            </a:solidFill>
                            <a:latin typeface="Cambria Math" panose="02040503050406030204" pitchFamily="18" charset="0"/>
                            <a:ea typeface="Cambria Math"/>
                          </a:rPr>
                        </m:ctrlPr>
                      </m:sSubPr>
                      <m:e>
                        <m:acc>
                          <m:accPr>
                            <m:chr m:val="⃗"/>
                            <m:ctrlPr>
                              <a:rPr lang="en-US" sz="1600" b="1" i="1">
                                <a:latin typeface="Cambria Math" panose="02040503050406030204" pitchFamily="18" charset="0"/>
                              </a:rPr>
                            </m:ctrlPr>
                          </m:accPr>
                          <m:e>
                            <m:r>
                              <a:rPr lang="en-US" sz="1600" b="1">
                                <a:latin typeface="Cambria Math"/>
                              </a:rPr>
                              <m:t>𝐱</m:t>
                            </m:r>
                          </m:e>
                        </m:acc>
                      </m:e>
                      <m:sub>
                        <m:r>
                          <a:rPr lang="en-US" sz="1600" i="1" smtClean="0">
                            <a:latin typeface="Cambria Math"/>
                          </a:rPr>
                          <m:t>2</m:t>
                        </m:r>
                      </m:sub>
                    </m:sSub>
                  </m:oMath>
                </a14:m>
                <a:r>
                  <a:rPr lang="en-US" sz="1600" dirty="0">
                    <a:solidFill>
                      <a:srgbClr val="000000"/>
                    </a:solidFill>
                  </a:rPr>
                  <a:t>.</a:t>
                </a:r>
              </a:p>
            </p:txBody>
          </p:sp>
        </mc:Choice>
        <mc:Fallback xmlns="">
          <p:sp>
            <p:nvSpPr>
              <p:cNvPr id="13" name="Text Placeholder 13">
                <a:extLst>
                  <a:ext uri="{FF2B5EF4-FFF2-40B4-BE49-F238E27FC236}">
                    <a16:creationId xmlns:a16="http://schemas.microsoft.com/office/drawing/2014/main" id="{39A1B77C-349E-C94C-A06D-BAEF830A20B3}"/>
                  </a:ext>
                </a:extLst>
              </p:cNvPr>
              <p:cNvSpPr txBox="1">
                <a:spLocks noRot="1" noChangeAspect="1" noMove="1" noResize="1" noEditPoints="1" noAdjustHandles="1" noChangeArrowheads="1" noChangeShapeType="1" noTextEdit="1"/>
              </p:cNvSpPr>
              <p:nvPr/>
            </p:nvSpPr>
            <p:spPr>
              <a:xfrm>
                <a:off x="856924" y="5620917"/>
                <a:ext cx="9939019" cy="1073882"/>
              </a:xfrm>
              <a:prstGeom prst="rect">
                <a:avLst/>
              </a:prstGeom>
              <a:blipFill>
                <a:blip r:embed="rId5"/>
                <a:stretch>
                  <a:fillRect l="-383" t="-4651" b="-1163"/>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2365D3CC-1106-F44A-943F-896A6C9D5FB3}"/>
              </a:ext>
            </a:extLst>
          </p:cNvPr>
          <p:cNvSpPr/>
          <p:nvPr/>
        </p:nvSpPr>
        <p:spPr>
          <a:xfrm>
            <a:off x="650451" y="4819966"/>
            <a:ext cx="6253053" cy="769441"/>
          </a:xfrm>
          <a:prstGeom prst="rect">
            <a:avLst/>
          </a:prstGeom>
        </p:spPr>
        <p:txBody>
          <a:bodyPr wrap="square">
            <a:spAutoFit/>
          </a:bodyPr>
          <a:lstStyle/>
          <a:p>
            <a:r>
              <a:rPr lang="en-US" sz="2200" dirty="0">
                <a:solidFill>
                  <a:srgbClr val="000066"/>
                </a:solidFill>
              </a:rPr>
              <a:t>A spring exerts its force proportional to a displacement, whether it is compressed or stretched.</a:t>
            </a:r>
          </a:p>
        </p:txBody>
      </p:sp>
    </p:spTree>
    <p:extLst>
      <p:ext uri="{BB962C8B-B14F-4D97-AF65-F5344CB8AC3E}">
        <p14:creationId xmlns:p14="http://schemas.microsoft.com/office/powerpoint/2010/main" val="324311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6827</TotalTime>
  <Words>2595</Words>
  <Application>Microsoft Office PowerPoint</Application>
  <PresentationFormat>Widescreen</PresentationFormat>
  <Paragraphs>180</Paragraphs>
  <Slides>31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Calibri</vt:lpstr>
      <vt:lpstr>Calibri Light</vt:lpstr>
      <vt:lpstr>Cambria Math</vt:lpstr>
      <vt:lpstr>LiberationSans</vt:lpstr>
      <vt:lpstr>LiberationSerif</vt:lpstr>
      <vt:lpstr>NewBaskervilleStd-Roman</vt:lpstr>
      <vt:lpstr>RotisSemiSerifStd-Bold</vt:lpstr>
      <vt:lpstr>STIXGeneral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237</cp:revision>
  <dcterms:created xsi:type="dcterms:W3CDTF">2020-07-24T02:56:39Z</dcterms:created>
  <dcterms:modified xsi:type="dcterms:W3CDTF">2021-12-15T17:53:11Z</dcterms:modified>
</cp:coreProperties>
</file>