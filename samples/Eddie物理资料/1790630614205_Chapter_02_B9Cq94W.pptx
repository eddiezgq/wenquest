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98" r:id="rId2"/>
    <p:sldId id="337" r:id="rId3"/>
    <p:sldId id="366" r:id="rId4"/>
    <p:sldId id="367" r:id="rId5"/>
    <p:sldId id="374" r:id="rId6"/>
    <p:sldId id="381" r:id="rId7"/>
    <p:sldId id="375" r:id="rId8"/>
    <p:sldId id="405" r:id="rId9"/>
    <p:sldId id="404" r:id="rId10"/>
    <p:sldId id="406" r:id="rId11"/>
    <p:sldId id="376" r:id="rId12"/>
    <p:sldId id="377" r:id="rId13"/>
    <p:sldId id="378" r:id="rId14"/>
    <p:sldId id="389" r:id="rId15"/>
    <p:sldId id="390" r:id="rId16"/>
    <p:sldId id="391" r:id="rId17"/>
    <p:sldId id="392" r:id="rId18"/>
    <p:sldId id="380" r:id="rId19"/>
    <p:sldId id="382" r:id="rId20"/>
    <p:sldId id="383" r:id="rId21"/>
    <p:sldId id="384" r:id="rId22"/>
    <p:sldId id="385" r:id="rId23"/>
    <p:sldId id="386" r:id="rId24"/>
    <p:sldId id="398" r:id="rId25"/>
    <p:sldId id="400" r:id="rId26"/>
    <p:sldId id="399" r:id="rId27"/>
    <p:sldId id="401" r:id="rId28"/>
    <p:sldId id="402" r:id="rId29"/>
    <p:sldId id="407" r:id="rId30"/>
    <p:sldId id="403" r:id="rId31"/>
    <p:sldId id="393" r:id="rId32"/>
    <p:sldId id="394" r:id="rId33"/>
    <p:sldId id="408" r:id="rId34"/>
    <p:sldId id="395" r:id="rId35"/>
    <p:sldId id="396" r:id="rId36"/>
    <p:sldId id="409"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66"/>
    <a:srgbClr val="003399"/>
    <a:srgbClr val="0000CC"/>
    <a:srgbClr val="3B124D"/>
    <a:srgbClr val="3611D3"/>
    <a:srgbClr val="A50021"/>
    <a:srgbClr val="FF6600"/>
    <a:srgbClr val="CCE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4253" autoAdjust="0"/>
  </p:normalViewPr>
  <p:slideViewPr>
    <p:cSldViewPr snapToGrid="0">
      <p:cViewPr varScale="1">
        <p:scale>
          <a:sx n="81" d="100"/>
          <a:sy n="81" d="100"/>
        </p:scale>
        <p:origin x="706"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8.png"/><Relationship Id="rId7"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5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230.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70.png"/></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20.png"/><Relationship Id="rId9" Type="http://schemas.openxmlformats.org/officeDocument/2006/relationships/image" Target="../media/image370.pn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20.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20.png"/><Relationship Id="rId9"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7.jpg"/><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jpeg"/><Relationship Id="rId4" Type="http://schemas.openxmlformats.org/officeDocument/2006/relationships/image" Target="../media/image62.png"/><Relationship Id="rId9" Type="http://schemas.openxmlformats.org/officeDocument/2006/relationships/image" Target="../media/image67.png"/></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9.png"/><Relationship Id="rId7" Type="http://schemas.openxmlformats.org/officeDocument/2006/relationships/image" Target="../media/image7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9.png"/><Relationship Id="rId4" Type="http://schemas.openxmlformats.org/officeDocument/2006/relationships/image" Target="../media/image60.png"/><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1.png"/><Relationship Id="rId7" Type="http://schemas.openxmlformats.org/officeDocument/2006/relationships/image" Target="../media/image7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2.png"/><Relationship Id="rId9" Type="http://schemas.openxmlformats.org/officeDocument/2006/relationships/image" Target="../media/image79.png"/></Relationships>
</file>

<file path=ppt/slides/_rels/slide2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770.png"/><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1.png"/><Relationship Id="rId7" Type="http://schemas.openxmlformats.org/officeDocument/2006/relationships/image" Target="../media/image8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10" Type="http://schemas.openxmlformats.org/officeDocument/2006/relationships/image" Target="../media/image43.png"/><Relationship Id="rId4" Type="http://schemas.openxmlformats.org/officeDocument/2006/relationships/image" Target="../media/image72.png"/><Relationship Id="rId9" Type="http://schemas.openxmlformats.org/officeDocument/2006/relationships/image" Target="../media/image86.png"/></Relationships>
</file>

<file path=ppt/slides/_rels/slide2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jp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68.jpeg"/></Relationships>
</file>

<file path=ppt/slides/_rels/slide29.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jpg"/><Relationship Id="rId15" Type="http://schemas.openxmlformats.org/officeDocument/2006/relationships/image" Target="../media/image96.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68.jpeg"/></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9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40.png"/><Relationship Id="rId5" Type="http://schemas.openxmlformats.org/officeDocument/2006/relationships/image" Target="../media/image97.png"/><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70.png"/></Relationships>
</file>

<file path=ppt/slides/_rels/slide32.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0.jpeg"/><Relationship Id="rId7" Type="http://schemas.openxmlformats.org/officeDocument/2006/relationships/image" Target="../media/image10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73.png"/><Relationship Id="rId9" Type="http://schemas.openxmlformats.org/officeDocument/2006/relationships/image" Target="../media/image105.png"/></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8.png"/></Relationships>
</file>

<file path=ppt/slides/_rels/slide34.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3.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73.png"/></Relationships>
</file>

<file path=ppt/slides/_rels/slide3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116.png"/><Relationship Id="rId4" Type="http://schemas.openxmlformats.org/officeDocument/2006/relationships/image" Target="../media/image115.png"/></Relationships>
</file>

<file path=ppt/slides/_rels/slide36.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6000" r="-28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4393246" y="3885906"/>
            <a:ext cx="4480560" cy="121224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2 </a:t>
            </a:r>
          </a:p>
          <a:p>
            <a:pPr>
              <a:spcAft>
                <a:spcPts val="600"/>
              </a:spcAft>
            </a:pPr>
            <a:r>
              <a:rPr lang="en-US" altLang="en-US" sz="3200" dirty="0"/>
              <a:t>Vectors</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0F7B427F-99C8-C74D-B61F-8F041FEB891B}"/>
              </a:ext>
            </a:extLst>
          </p:cNvPr>
          <p:cNvSpPr/>
          <p:nvPr/>
        </p:nvSpPr>
        <p:spPr>
          <a:xfrm>
            <a:off x="9090590" y="6649304"/>
            <a:ext cx="3801498" cy="246221"/>
          </a:xfrm>
          <a:prstGeom prst="rect">
            <a:avLst/>
          </a:prstGeom>
        </p:spPr>
        <p:txBody>
          <a:bodyPr wrap="square">
            <a:spAutoFit/>
          </a:bodyPr>
          <a:lstStyle/>
          <a:p>
            <a:r>
              <a:rPr lang="en-US" sz="1000" dirty="0"/>
              <a:t>Image credit modification of work by “studio </a:t>
            </a:r>
            <a:r>
              <a:rPr lang="en-US" sz="1000" dirty="0" err="1"/>
              <a:t>tdes</a:t>
            </a:r>
            <a:r>
              <a:rPr lang="en-US" sz="1000" dirty="0"/>
              <a:t>”/Flickr</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3674031" y="89044"/>
            <a:ext cx="4843938" cy="523220"/>
          </a:xfrm>
          <a:prstGeom prst="rect">
            <a:avLst/>
          </a:prstGeom>
        </p:spPr>
        <p:txBody>
          <a:bodyPr wrap="square">
            <a:spAutoFit/>
          </a:bodyPr>
          <a:lstStyle/>
          <a:p>
            <a:r>
              <a:rPr lang="en-US" sz="2800" dirty="0">
                <a:solidFill>
                  <a:srgbClr val="C00000"/>
                </a:solidFill>
                <a:latin typeface="NewBaskervilleStd-Roman"/>
              </a:rPr>
              <a:t>Vector and Scalar Quantities</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3F19A65-9B0A-D341-AFD6-FA7B6684874E}"/>
              </a:ext>
            </a:extLst>
          </p:cNvPr>
          <p:cNvSpPr/>
          <p:nvPr/>
        </p:nvSpPr>
        <p:spPr>
          <a:xfrm>
            <a:off x="720100" y="612264"/>
            <a:ext cx="10484348" cy="1295868"/>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NewBaskervilleStd-Roman"/>
              </a:rPr>
              <a:t>A </a:t>
            </a:r>
            <a:r>
              <a:rPr lang="en-US" b="1" dirty="0">
                <a:solidFill>
                  <a:srgbClr val="7030A0"/>
                </a:solidFill>
                <a:latin typeface="NewBaskervilleStd-Bold"/>
              </a:rPr>
              <a:t>scalar quantity </a:t>
            </a:r>
            <a:r>
              <a:rPr lang="en-US" dirty="0">
                <a:latin typeface="NewBaskervilleStd-Roman"/>
              </a:rPr>
              <a:t>is completely specified by a single value with an appropriate unit and has no direction.</a:t>
            </a:r>
          </a:p>
          <a:p>
            <a:pPr marL="285750" indent="-285750">
              <a:lnSpc>
                <a:spcPct val="150000"/>
              </a:lnSpc>
              <a:buFont typeface="Arial" panose="020B0604020202020204" pitchFamily="34" charset="0"/>
              <a:buChar char="•"/>
            </a:pPr>
            <a:r>
              <a:rPr lang="en-US" dirty="0">
                <a:solidFill>
                  <a:srgbClr val="008000"/>
                </a:solidFill>
              </a:rPr>
              <a:t>Time, mass, distance, length, volume, temperature, and energy are examples of </a:t>
            </a:r>
            <a:r>
              <a:rPr lang="en-US" b="1" dirty="0">
                <a:solidFill>
                  <a:srgbClr val="7030A0"/>
                </a:solidFill>
              </a:rPr>
              <a:t>scalar </a:t>
            </a:r>
            <a:r>
              <a:rPr lang="en-US" dirty="0">
                <a:solidFill>
                  <a:srgbClr val="008000"/>
                </a:solidFill>
              </a:rPr>
              <a:t>quantities. </a:t>
            </a:r>
          </a:p>
          <a:p>
            <a:pPr>
              <a:lnSpc>
                <a:spcPct val="150000"/>
              </a:lnSpc>
            </a:pPr>
            <a:endParaRPr lang="en-US" dirty="0"/>
          </a:p>
        </p:txBody>
      </p:sp>
      <p:sp>
        <p:nvSpPr>
          <p:cNvPr id="6" name="Rectangle 5">
            <a:extLst>
              <a:ext uri="{FF2B5EF4-FFF2-40B4-BE49-F238E27FC236}">
                <a16:creationId xmlns:a16="http://schemas.microsoft.com/office/drawing/2014/main" id="{99BC6D8A-FE65-D641-8EE3-DB58046EAB1F}"/>
              </a:ext>
            </a:extLst>
          </p:cNvPr>
          <p:cNvSpPr/>
          <p:nvPr/>
        </p:nvSpPr>
        <p:spPr>
          <a:xfrm>
            <a:off x="720100" y="1717634"/>
            <a:ext cx="10667228" cy="1711366"/>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NewBaskervilleStd-Roman"/>
              </a:rPr>
              <a:t>A </a:t>
            </a:r>
            <a:r>
              <a:rPr lang="en-US" b="1" dirty="0">
                <a:solidFill>
                  <a:srgbClr val="C00000"/>
                </a:solidFill>
                <a:latin typeface="NewBaskervilleStd-Bold"/>
              </a:rPr>
              <a:t>vector quantity </a:t>
            </a:r>
            <a:r>
              <a:rPr lang="en-US" dirty="0">
                <a:latin typeface="NewBaskervilleStd-Roman"/>
              </a:rPr>
              <a:t>is completely specified by a number with an appropriate unit (the </a:t>
            </a:r>
            <a:r>
              <a:rPr lang="en-US" i="1" dirty="0">
                <a:solidFill>
                  <a:srgbClr val="C00000"/>
                </a:solidFill>
                <a:latin typeface="NewBaskervilleStd-Italic"/>
              </a:rPr>
              <a:t>magnitude </a:t>
            </a:r>
            <a:r>
              <a:rPr lang="en-US" dirty="0">
                <a:latin typeface="NewBaskervilleStd-Roman"/>
              </a:rPr>
              <a:t>of the vector) plus a </a:t>
            </a:r>
            <a:r>
              <a:rPr lang="en-US" dirty="0">
                <a:solidFill>
                  <a:srgbClr val="C00000"/>
                </a:solidFill>
                <a:latin typeface="NewBaskervilleStd-Roman"/>
              </a:rPr>
              <a:t>direction.</a:t>
            </a:r>
          </a:p>
          <a:p>
            <a:pPr marL="285750" indent="-285750">
              <a:lnSpc>
                <a:spcPct val="150000"/>
              </a:lnSpc>
              <a:buFont typeface="Arial" panose="020B0604020202020204" pitchFamily="34" charset="0"/>
              <a:buChar char="•"/>
            </a:pPr>
            <a:r>
              <a:rPr lang="en-US" dirty="0">
                <a:solidFill>
                  <a:srgbClr val="008000"/>
                </a:solidFill>
              </a:rPr>
              <a:t>Examples of vector quantities include displacement, velocity, position, force, and torque. </a:t>
            </a:r>
          </a:p>
          <a:p>
            <a:pPr marL="285750" indent="-285750">
              <a:lnSpc>
                <a:spcPct val="150000"/>
              </a:lnSpc>
              <a:buFont typeface="Wingdings" panose="05000000000000000000" pitchFamily="2" charset="2"/>
              <a:buChar char="Ø"/>
            </a:pPr>
            <a:endParaRPr lang="en-US" dirty="0">
              <a:solidFill>
                <a:srgbClr val="C00000"/>
              </a:solidFill>
            </a:endParaRPr>
          </a:p>
        </p:txBody>
      </p:sp>
      <p:pic>
        <p:nvPicPr>
          <p:cNvPr id="7" name="Picture Placeholder 1" descr="A photo of a dog. Below the photo is a horizontal arrow which starts below the dog’s tail and ends below the dog’s nose. The arrow is labeled Vector D, and its length is labeled as magnitude D. The start (tail) of the arrow is labeled “From rail of a vector origin” and its end (head) is labeled “To head of a vector end.”">
            <a:extLst>
              <a:ext uri="{FF2B5EF4-FFF2-40B4-BE49-F238E27FC236}">
                <a16:creationId xmlns:a16="http://schemas.microsoft.com/office/drawing/2014/main" id="{790A928C-3CC1-D048-B9D6-F1CE5475902E}"/>
              </a:ext>
            </a:extLst>
          </p:cNvPr>
          <p:cNvPicPr>
            <a:picLocks noChangeAspect="1"/>
          </p:cNvPicPr>
          <p:nvPr/>
        </p:nvPicPr>
        <p:blipFill>
          <a:blip r:embed="rId3">
            <a:extLst>
              <a:ext uri="{28A0092B-C50C-407E-A947-70E740481C1C}">
                <a14:useLocalDpi xmlns:a14="http://schemas.microsoft.com/office/drawing/2010/main" val="0"/>
              </a:ext>
            </a:extLst>
          </a:blip>
          <a:srcRect l="-18433" r="-18433"/>
          <a:stretch>
            <a:fillRect/>
          </a:stretch>
        </p:blipFill>
        <p:spPr>
          <a:xfrm>
            <a:off x="0" y="3178914"/>
            <a:ext cx="8062913" cy="3500071"/>
          </a:xfrm>
          <a:prstGeom prst="rect">
            <a:avLst/>
          </a:prstGeom>
        </p:spPr>
      </p:pic>
      <p:sp>
        <p:nvSpPr>
          <p:cNvPr id="8" name="Text Placeholder 6">
            <a:extLst>
              <a:ext uri="{FF2B5EF4-FFF2-40B4-BE49-F238E27FC236}">
                <a16:creationId xmlns:a16="http://schemas.microsoft.com/office/drawing/2014/main" id="{0D2F18F7-1924-3B42-B947-E9FE18D2CBD2}"/>
              </a:ext>
            </a:extLst>
          </p:cNvPr>
          <p:cNvSpPr txBox="1">
            <a:spLocks/>
          </p:cNvSpPr>
          <p:nvPr/>
        </p:nvSpPr>
        <p:spPr>
          <a:xfrm>
            <a:off x="7273054" y="4591008"/>
            <a:ext cx="4735972" cy="21779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We draw a vector from the initial point or origin (called the “tail” of a vector) to the end or terminal point (called the “head” of a vector), marked by an arrowhead. Magnitude is the length of a vector and is always a positive scalar quantity. </a:t>
            </a:r>
          </a:p>
          <a:p>
            <a:pPr marL="0" indent="0">
              <a:buNone/>
            </a:pPr>
            <a:r>
              <a:rPr lang="en-US" sz="1600" dirty="0"/>
              <a:t>(credit: modification of work by Cate Sevilla)</a:t>
            </a:r>
          </a:p>
        </p:txBody>
      </p:sp>
      <p:sp>
        <p:nvSpPr>
          <p:cNvPr id="9" name="Rectangle 8">
            <a:extLst>
              <a:ext uri="{FF2B5EF4-FFF2-40B4-BE49-F238E27FC236}">
                <a16:creationId xmlns:a16="http://schemas.microsoft.com/office/drawing/2014/main" id="{80C06336-FC24-C644-A73C-951046C268A4}"/>
              </a:ext>
            </a:extLst>
          </p:cNvPr>
          <p:cNvSpPr/>
          <p:nvPr/>
        </p:nvSpPr>
        <p:spPr>
          <a:xfrm>
            <a:off x="7535653" y="3307986"/>
            <a:ext cx="3611836" cy="646331"/>
          </a:xfrm>
          <a:prstGeom prst="rect">
            <a:avLst/>
          </a:prstGeom>
        </p:spPr>
        <p:txBody>
          <a:bodyPr wrap="square">
            <a:spAutoFit/>
          </a:bodyPr>
          <a:lstStyle/>
          <a:p>
            <a:r>
              <a:rPr lang="en-US" dirty="0"/>
              <a:t>We note vectors with boldface letter with an arrow over the letter.</a:t>
            </a:r>
          </a:p>
        </p:txBody>
      </p:sp>
      <p:pic>
        <p:nvPicPr>
          <p:cNvPr id="10" name="Picture 9">
            <a:extLst>
              <a:ext uri="{FF2B5EF4-FFF2-40B4-BE49-F238E27FC236}">
                <a16:creationId xmlns:a16="http://schemas.microsoft.com/office/drawing/2014/main" id="{5FC8976C-1EFE-4D43-82B4-6F77CB81B35C}"/>
              </a:ext>
            </a:extLst>
          </p:cNvPr>
          <p:cNvPicPr>
            <a:picLocks noChangeAspect="1"/>
          </p:cNvPicPr>
          <p:nvPr/>
        </p:nvPicPr>
        <p:blipFill>
          <a:blip r:embed="rId4"/>
          <a:stretch>
            <a:fillRect/>
          </a:stretch>
        </p:blipFill>
        <p:spPr>
          <a:xfrm>
            <a:off x="9112115" y="3950409"/>
            <a:ext cx="266700" cy="438150"/>
          </a:xfrm>
          <a:prstGeom prst="rect">
            <a:avLst/>
          </a:prstGeom>
        </p:spPr>
      </p:pic>
    </p:spTree>
    <p:extLst>
      <p:ext uri="{BB962C8B-B14F-4D97-AF65-F5344CB8AC3E}">
        <p14:creationId xmlns:p14="http://schemas.microsoft.com/office/powerpoint/2010/main" val="3592610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4300062" y="139060"/>
            <a:ext cx="3591876" cy="523220"/>
          </a:xfrm>
          <a:prstGeom prst="rect">
            <a:avLst/>
          </a:prstGeom>
        </p:spPr>
        <p:txBody>
          <a:bodyPr wrap="square">
            <a:spAutoFit/>
          </a:bodyPr>
          <a:lstStyle/>
          <a:p>
            <a:r>
              <a:rPr lang="en-US" sz="2800" dirty="0">
                <a:solidFill>
                  <a:srgbClr val="C00000"/>
                </a:solidFill>
                <a:latin typeface="NewBaskervilleStd-Roman"/>
              </a:rPr>
              <a:t>Properties of vectors</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Placeholder 1" descr="An illustration of a lake, some distance northeast from a tent. North is up on the page, east to the right. The tent is labeled as location A, and the lake as location B. A straight arrow starts at A and ends at B. Three meandering paths, shown as dashed lines, also start at A and end at B.">
            <a:extLst>
              <a:ext uri="{FF2B5EF4-FFF2-40B4-BE49-F238E27FC236}">
                <a16:creationId xmlns:a16="http://schemas.microsoft.com/office/drawing/2014/main" id="{48B4EF3F-4222-1A43-8800-D5E8F7EA6BF2}"/>
              </a:ext>
            </a:extLst>
          </p:cNvPr>
          <p:cNvPicPr>
            <a:picLocks noChangeAspect="1"/>
          </p:cNvPicPr>
          <p:nvPr/>
        </p:nvPicPr>
        <p:blipFill>
          <a:blip r:embed="rId3" cstate="email">
            <a:extLst>
              <a:ext uri="{28A0092B-C50C-407E-A947-70E740481C1C}">
                <a14:useLocalDpi xmlns:a14="http://schemas.microsoft.com/office/drawing/2010/main" val="0"/>
              </a:ext>
            </a:extLst>
          </a:blip>
          <a:srcRect t="-16504" b="-16504"/>
          <a:stretch>
            <a:fillRect/>
          </a:stretch>
        </p:blipFill>
        <p:spPr>
          <a:xfrm>
            <a:off x="506062" y="925195"/>
            <a:ext cx="4032250" cy="5256213"/>
          </a:xfrm>
          <a:prstGeom prst="rect">
            <a:avLst/>
          </a:prstGeom>
        </p:spPr>
      </p:pic>
      <p:sp>
        <p:nvSpPr>
          <p:cNvPr id="6" name="Text Placeholder 13">
            <a:extLst>
              <a:ext uri="{FF2B5EF4-FFF2-40B4-BE49-F238E27FC236}">
                <a16:creationId xmlns:a16="http://schemas.microsoft.com/office/drawing/2014/main" id="{691739DE-5259-FA48-9338-1CBCD5E2DF8E}"/>
              </a:ext>
            </a:extLst>
          </p:cNvPr>
          <p:cNvSpPr txBox="1">
            <a:spLocks/>
          </p:cNvSpPr>
          <p:nvPr/>
        </p:nvSpPr>
        <p:spPr>
          <a:xfrm>
            <a:off x="4538311" y="662280"/>
            <a:ext cx="6707252" cy="198915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8000"/>
                </a:solidFill>
              </a:rPr>
              <a:t>Example: </a:t>
            </a:r>
            <a:r>
              <a:rPr lang="en-US" sz="2000" dirty="0"/>
              <a:t>Displacement is a vector</a:t>
            </a:r>
          </a:p>
          <a:p>
            <a:pPr marL="0" indent="0">
              <a:buNone/>
            </a:pPr>
            <a:r>
              <a:rPr lang="en-US" sz="2000" dirty="0">
                <a:solidFill>
                  <a:srgbClr val="000066"/>
                </a:solidFill>
              </a:rPr>
              <a:t>The displacement vector from point </a:t>
            </a:r>
            <a:r>
              <a:rPr lang="en-US" sz="2000" i="1" dirty="0">
                <a:solidFill>
                  <a:srgbClr val="000066"/>
                </a:solidFill>
              </a:rPr>
              <a:t>A</a:t>
            </a:r>
            <a:r>
              <a:rPr lang="en-US" sz="2000" dirty="0">
                <a:solidFill>
                  <a:srgbClr val="000066"/>
                </a:solidFill>
              </a:rPr>
              <a:t> (the initial position at the campsite) to point </a:t>
            </a:r>
            <a:r>
              <a:rPr lang="en-US" sz="2000" i="1" dirty="0">
                <a:solidFill>
                  <a:srgbClr val="000066"/>
                </a:solidFill>
              </a:rPr>
              <a:t>B</a:t>
            </a:r>
            <a:r>
              <a:rPr lang="en-US" sz="2000" dirty="0">
                <a:solidFill>
                  <a:srgbClr val="000066"/>
                </a:solidFill>
              </a:rPr>
              <a:t> (the final position at the fishing hole) is indicated by an arrow with origin at point A and end at point </a:t>
            </a:r>
            <a:r>
              <a:rPr lang="en-US" sz="2000" i="1" dirty="0">
                <a:solidFill>
                  <a:srgbClr val="000066"/>
                </a:solidFill>
              </a:rPr>
              <a:t>B</a:t>
            </a:r>
            <a:r>
              <a:rPr lang="en-US" sz="2000" dirty="0">
                <a:solidFill>
                  <a:srgbClr val="000066"/>
                </a:solidFill>
              </a:rPr>
              <a:t>. The displacement is the same for any of the actual paths (dashed curves) that may be taken between points </a:t>
            </a:r>
            <a:r>
              <a:rPr lang="en-US" sz="2000" i="1" dirty="0">
                <a:solidFill>
                  <a:srgbClr val="000066"/>
                </a:solidFill>
              </a:rPr>
              <a:t>A</a:t>
            </a:r>
            <a:r>
              <a:rPr lang="en-US" sz="2000" dirty="0">
                <a:solidFill>
                  <a:srgbClr val="000066"/>
                </a:solidFill>
              </a:rPr>
              <a:t> and </a:t>
            </a:r>
            <a:r>
              <a:rPr lang="en-US" sz="2000" i="1" dirty="0">
                <a:solidFill>
                  <a:srgbClr val="000066"/>
                </a:solidFill>
              </a:rPr>
              <a:t>B</a:t>
            </a:r>
            <a:r>
              <a:rPr lang="en-US" sz="2000" dirty="0">
                <a:solidFill>
                  <a:srgbClr val="000066"/>
                </a:solidFill>
              </a:rPr>
              <a:t>.</a:t>
            </a:r>
          </a:p>
          <a:p>
            <a:pPr marL="0" indent="0">
              <a:buNone/>
            </a:pPr>
            <a:r>
              <a:rPr lang="en-US" sz="2000" dirty="0">
                <a:solidFill>
                  <a:srgbClr val="000066"/>
                </a:solidFill>
              </a:rPr>
              <a:t>Let’s say this displacement is 6 km. </a:t>
            </a:r>
          </a:p>
        </p:txBody>
      </p:sp>
      <p:pic>
        <p:nvPicPr>
          <p:cNvPr id="9" name="Picture Placeholder 1" descr="A ruler is shown, with distance measured in centimeters. A vector is shown as an arrow parallel to the ruler, extending from its end at 0 c m to 12 c m, and is labeled as vector D.">
            <a:extLst>
              <a:ext uri="{FF2B5EF4-FFF2-40B4-BE49-F238E27FC236}">
                <a16:creationId xmlns:a16="http://schemas.microsoft.com/office/drawing/2014/main" id="{E0475032-8A07-A346-9B12-BBD70F678996}"/>
              </a:ext>
            </a:extLst>
          </p:cNvPr>
          <p:cNvPicPr>
            <a:picLocks noChangeAspect="1"/>
          </p:cNvPicPr>
          <p:nvPr/>
        </p:nvPicPr>
        <p:blipFill>
          <a:blip r:embed="rId4">
            <a:extLst>
              <a:ext uri="{28A0092B-C50C-407E-A947-70E740481C1C}">
                <a14:useLocalDpi xmlns:a14="http://schemas.microsoft.com/office/drawing/2010/main" val="0"/>
              </a:ext>
            </a:extLst>
          </a:blip>
          <a:srcRect l="-7591" r="-7591"/>
          <a:stretch>
            <a:fillRect/>
          </a:stretch>
        </p:blipFill>
        <p:spPr>
          <a:xfrm rot="19799895">
            <a:off x="4576848" y="3658955"/>
            <a:ext cx="5055482" cy="2194560"/>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C627AD5-CEB2-074F-91F6-D3FDAD7E94AD}"/>
                  </a:ext>
                </a:extLst>
              </p:cNvPr>
              <p:cNvSpPr/>
              <p:nvPr/>
            </p:nvSpPr>
            <p:spPr>
              <a:xfrm>
                <a:off x="7667978" y="5511466"/>
                <a:ext cx="4542074" cy="1297406"/>
              </a:xfrm>
              <a:prstGeom prst="rect">
                <a:avLst/>
              </a:prstGeom>
            </p:spPr>
            <p:txBody>
              <a:bodyPr wrap="square">
                <a:spAutoFit/>
              </a:bodyPr>
              <a:lstStyle/>
              <a:p>
                <a:r>
                  <a:rPr lang="en-US" sz="1900" dirty="0"/>
                  <a:t>A displacement </a:t>
                </a:r>
                <a14:m>
                  <m:oMath xmlns:m="http://schemas.openxmlformats.org/officeDocument/2006/math">
                    <m:acc>
                      <m:accPr>
                        <m:chr m:val="⃗"/>
                        <m:ctrlPr>
                          <a:rPr lang="en-US" sz="1900" b="1" i="1" dirty="0">
                            <a:latin typeface="Cambria Math" panose="02040503050406030204" pitchFamily="18" charset="0"/>
                          </a:rPr>
                        </m:ctrlPr>
                      </m:accPr>
                      <m:e>
                        <m:r>
                          <a:rPr lang="en-US" sz="1900" b="1" dirty="0">
                            <a:latin typeface="Cambria Math"/>
                          </a:rPr>
                          <m:t>𝐃</m:t>
                        </m:r>
                      </m:e>
                    </m:acc>
                    <m:r>
                      <a:rPr lang="en-US" sz="1900" b="1" i="1" dirty="0">
                        <a:latin typeface="Cambria Math"/>
                      </a:rPr>
                      <m:t> </m:t>
                    </m:r>
                  </m:oMath>
                </a14:m>
                <a:r>
                  <a:rPr lang="en-US" sz="1900" dirty="0"/>
                  <a:t>of magnitude 6 km is drawn to scale as a vector of length 12 cm when the length of 2 cm represents 1 unit of displacement (which in this case is 1 km).</a:t>
                </a:r>
              </a:p>
            </p:txBody>
          </p:sp>
        </mc:Choice>
        <mc:Fallback xmlns="">
          <p:sp>
            <p:nvSpPr>
              <p:cNvPr id="3" name="Rectangle 2">
                <a:extLst>
                  <a:ext uri="{FF2B5EF4-FFF2-40B4-BE49-F238E27FC236}">
                    <a16:creationId xmlns:a16="http://schemas.microsoft.com/office/drawing/2014/main" id="{BC627AD5-CEB2-074F-91F6-D3FDAD7E94AD}"/>
                  </a:ext>
                </a:extLst>
              </p:cNvPr>
              <p:cNvSpPr>
                <a:spLocks noRot="1" noChangeAspect="1" noMove="1" noResize="1" noEditPoints="1" noAdjustHandles="1" noChangeArrowheads="1" noChangeShapeType="1" noTextEdit="1"/>
              </p:cNvSpPr>
              <p:nvPr/>
            </p:nvSpPr>
            <p:spPr>
              <a:xfrm>
                <a:off x="7667978" y="5511466"/>
                <a:ext cx="4542074" cy="1297406"/>
              </a:xfrm>
              <a:prstGeom prst="rect">
                <a:avLst/>
              </a:prstGeom>
              <a:blipFill>
                <a:blip r:embed="rId5"/>
                <a:stretch>
                  <a:fillRect l="-1114" r="-2507" b="-6731"/>
                </a:stretch>
              </a:blipFill>
            </p:spPr>
            <p:txBody>
              <a:bodyPr/>
              <a:lstStyle/>
              <a:p>
                <a:r>
                  <a:rPr lang="en-US">
                    <a:noFill/>
                  </a:rPr>
                  <a:t> </a:t>
                </a:r>
              </a:p>
            </p:txBody>
          </p:sp>
        </mc:Fallback>
      </mc:AlternateContent>
    </p:spTree>
    <p:extLst>
      <p:ext uri="{BB962C8B-B14F-4D97-AF65-F5344CB8AC3E}">
        <p14:creationId xmlns:p14="http://schemas.microsoft.com/office/powerpoint/2010/main" val="26003638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 Placeholder 13">
                <a:extLst>
                  <a:ext uri="{FF2B5EF4-FFF2-40B4-BE49-F238E27FC236}">
                    <a16:creationId xmlns:a16="http://schemas.microsoft.com/office/drawing/2014/main" id="{E8B8D3CD-4DCD-6C44-A560-749D55EDEEC4}"/>
                  </a:ext>
                </a:extLst>
              </p:cNvPr>
              <p:cNvSpPr txBox="1">
                <a:spLocks/>
              </p:cNvSpPr>
              <p:nvPr/>
            </p:nvSpPr>
            <p:spPr>
              <a:xfrm>
                <a:off x="6680773" y="902292"/>
                <a:ext cx="5125464" cy="525697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00"/>
                    </a:solidFill>
                  </a:rPr>
                  <a:t>Various relations between two vectors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oMath>
                </a14:m>
                <a:r>
                  <a:rPr lang="en-US" sz="2000" dirty="0">
                    <a:solidFill>
                      <a:srgbClr val="000000"/>
                    </a:solidFill>
                  </a:rPr>
                  <a:t> and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smtClean="0">
                            <a:solidFill>
                              <a:srgbClr val="000000"/>
                            </a:solidFill>
                            <a:latin typeface="Cambria Math"/>
                          </a:rPr>
                          <m:t>𝐁</m:t>
                        </m:r>
                      </m:e>
                    </m:acc>
                  </m:oMath>
                </a14:m>
                <a:r>
                  <a:rPr lang="en-US" sz="2000" dirty="0">
                    <a:solidFill>
                      <a:srgbClr val="000000"/>
                    </a:solidFill>
                  </a:rPr>
                  <a:t>. </a:t>
                </a:r>
              </a:p>
              <a:p>
                <a:pPr marL="342900" indent="-342900">
                  <a:buFont typeface="Arial" panose="020B0604020202020204" pitchFamily="34" charset="0"/>
                  <a:buAutoNum type="alphaLcParenBoth"/>
                </a:pPr>
                <a:r>
                  <a:rPr lang="en-US" sz="2000" dirty="0">
                    <a:solidFill>
                      <a:srgbClr val="000000"/>
                    </a:solidFill>
                  </a:rPr>
                  <a:t> </a:t>
                </a:r>
                <a14:m>
                  <m:oMath xmlns:m="http://schemas.openxmlformats.org/officeDocument/2006/math">
                    <m:acc>
                      <m:accPr>
                        <m:chr m:val="⃗"/>
                        <m:ctrlPr>
                          <a:rPr lang="en-US" sz="2000" b="1" i="1" dirty="0" smtClean="0">
                            <a:solidFill>
                              <a:srgbClr val="000000"/>
                            </a:solidFill>
                            <a:latin typeface="Cambria Math" panose="02040503050406030204" pitchFamily="18" charset="0"/>
                          </a:rPr>
                        </m:ctrlPr>
                      </m:accPr>
                      <m:e>
                        <m:r>
                          <a:rPr lang="en-US" sz="2000" b="1" dirty="0" smtClean="0">
                            <a:solidFill>
                              <a:srgbClr val="000000"/>
                            </a:solidFill>
                            <a:latin typeface="Cambria Math"/>
                          </a:rPr>
                          <m:t>𝐀</m:t>
                        </m:r>
                      </m:e>
                    </m:acc>
                    <m:r>
                      <a:rPr lang="en-US" sz="2000" b="1" i="1" dirty="0" smtClean="0">
                        <a:solidFill>
                          <a:srgbClr val="000000"/>
                        </a:solidFill>
                        <a:latin typeface="Cambria Math"/>
                        <a:ea typeface="Cambria Math"/>
                      </a:rPr>
                      <m:t>≠</m:t>
                    </m:r>
                    <m:acc>
                      <m:accPr>
                        <m:chr m:val="⃗"/>
                        <m:ctrlPr>
                          <a:rPr lang="en-US" sz="2000" b="1" i="1" dirty="0" smtClean="0">
                            <a:solidFill>
                              <a:srgbClr val="000000"/>
                            </a:solidFill>
                            <a:latin typeface="Cambria Math" panose="02040503050406030204" pitchFamily="18" charset="0"/>
                            <a:ea typeface="Cambria Math"/>
                          </a:rPr>
                        </m:ctrlPr>
                      </m:accPr>
                      <m:e>
                        <m:r>
                          <a:rPr lang="en-US" sz="2000" b="1" dirty="0" smtClean="0">
                            <a:solidFill>
                              <a:srgbClr val="000000"/>
                            </a:solidFill>
                            <a:latin typeface="Cambria Math"/>
                            <a:ea typeface="Cambria Math"/>
                          </a:rPr>
                          <m:t>𝐁</m:t>
                        </m:r>
                      </m:e>
                    </m:acc>
                  </m:oMath>
                </a14:m>
                <a:r>
                  <a:rPr lang="en-US" sz="2000" dirty="0">
                    <a:solidFill>
                      <a:srgbClr val="000000"/>
                    </a:solidFill>
                  </a:rPr>
                  <a:t> because </a:t>
                </a:r>
                <a14:m>
                  <m:oMath xmlns:m="http://schemas.openxmlformats.org/officeDocument/2006/math">
                    <m:r>
                      <a:rPr lang="en-US" sz="2000" i="1" smtClean="0">
                        <a:solidFill>
                          <a:srgbClr val="000000"/>
                        </a:solidFill>
                        <a:latin typeface="Cambria Math"/>
                        <a:ea typeface="Cambria Math"/>
                      </a:rPr>
                      <m:t>𝐴</m:t>
                    </m:r>
                    <m:r>
                      <a:rPr lang="en-US" sz="2000" i="1" smtClean="0">
                        <a:solidFill>
                          <a:srgbClr val="000000"/>
                        </a:solidFill>
                        <a:latin typeface="Cambria Math"/>
                        <a:ea typeface="Cambria Math"/>
                      </a:rPr>
                      <m:t>≠</m:t>
                    </m:r>
                    <m:r>
                      <a:rPr lang="en-US" sz="2000" i="1" smtClean="0">
                        <a:solidFill>
                          <a:srgbClr val="000000"/>
                        </a:solidFill>
                        <a:latin typeface="Cambria Math"/>
                        <a:ea typeface="Cambria Math"/>
                      </a:rPr>
                      <m:t>𝐵</m:t>
                    </m:r>
                  </m:oMath>
                </a14:m>
                <a:r>
                  <a:rPr lang="en-US" sz="2000" dirty="0">
                    <a:solidFill>
                      <a:srgbClr val="000000"/>
                    </a:solidFill>
                  </a:rPr>
                  <a:t>.</a:t>
                </a:r>
              </a:p>
              <a:p>
                <a:pPr marL="342900" indent="-342900">
                  <a:buFont typeface="Arial" panose="020B0604020202020204" pitchFamily="34" charset="0"/>
                  <a:buAutoNum type="alphaLcParenBoth"/>
                </a:pPr>
                <a:endParaRPr lang="en-US" sz="2000" dirty="0">
                  <a:solidFill>
                    <a:srgbClr val="000000"/>
                  </a:solidFill>
                </a:endParaRPr>
              </a:p>
              <a:p>
                <a:pPr marL="342900" indent="-342900">
                  <a:buFont typeface="Arial" panose="020B0604020202020204" pitchFamily="34" charset="0"/>
                  <a:buAutoNum type="alphaLcParenBoth"/>
                </a:pPr>
                <a:r>
                  <a:rPr lang="en-US" sz="2000" dirty="0">
                    <a:solidFill>
                      <a:srgbClr val="000000"/>
                    </a:solidFill>
                  </a:rPr>
                  <a:t>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r>
                      <a:rPr lang="en-US" sz="2000" b="1" i="1" dirty="0">
                        <a:solidFill>
                          <a:srgbClr val="000000"/>
                        </a:solidFill>
                        <a:latin typeface="Cambria Math"/>
                        <a:ea typeface="Cambria Math"/>
                      </a:rPr>
                      <m:t>≠</m:t>
                    </m:r>
                    <m:acc>
                      <m:accPr>
                        <m:chr m:val="⃗"/>
                        <m:ctrlPr>
                          <a:rPr lang="en-US" sz="2000" b="1" i="1" dirty="0">
                            <a:solidFill>
                              <a:srgbClr val="000000"/>
                            </a:solidFill>
                            <a:latin typeface="Cambria Math" panose="02040503050406030204" pitchFamily="18" charset="0"/>
                            <a:ea typeface="Cambria Math"/>
                          </a:rPr>
                        </m:ctrlPr>
                      </m:accPr>
                      <m:e>
                        <m:r>
                          <a:rPr lang="en-US" sz="2000" b="1" dirty="0">
                            <a:solidFill>
                              <a:srgbClr val="000000"/>
                            </a:solidFill>
                            <a:latin typeface="Cambria Math"/>
                            <a:ea typeface="Cambria Math"/>
                          </a:rPr>
                          <m:t>𝐁</m:t>
                        </m:r>
                      </m:e>
                    </m:acc>
                  </m:oMath>
                </a14:m>
                <a:r>
                  <a:rPr lang="en-US" sz="2000" dirty="0">
                    <a:solidFill>
                      <a:srgbClr val="000000"/>
                    </a:solidFill>
                  </a:rPr>
                  <a:t> because they are not parallel and </a:t>
                </a:r>
                <a14:m>
                  <m:oMath xmlns:m="http://schemas.openxmlformats.org/officeDocument/2006/math">
                    <m:r>
                      <a:rPr lang="en-US" sz="2000" i="1">
                        <a:solidFill>
                          <a:srgbClr val="000000"/>
                        </a:solidFill>
                        <a:latin typeface="Cambria Math"/>
                        <a:ea typeface="Cambria Math"/>
                      </a:rPr>
                      <m:t>𝐴</m:t>
                    </m:r>
                    <m:r>
                      <a:rPr lang="en-US" sz="2000" i="1">
                        <a:solidFill>
                          <a:srgbClr val="000000"/>
                        </a:solidFill>
                        <a:latin typeface="Cambria Math"/>
                        <a:ea typeface="Cambria Math"/>
                      </a:rPr>
                      <m:t>≠</m:t>
                    </m:r>
                    <m:r>
                      <a:rPr lang="en-US" sz="2000" i="1">
                        <a:solidFill>
                          <a:srgbClr val="000000"/>
                        </a:solidFill>
                        <a:latin typeface="Cambria Math"/>
                        <a:ea typeface="Cambria Math"/>
                      </a:rPr>
                      <m:t>𝐵</m:t>
                    </m:r>
                  </m:oMath>
                </a14:m>
                <a:r>
                  <a:rPr lang="en-US" sz="2000" dirty="0">
                    <a:solidFill>
                      <a:srgbClr val="000000"/>
                    </a:solidFill>
                  </a:rPr>
                  <a:t>.</a:t>
                </a:r>
              </a:p>
              <a:p>
                <a:pPr marL="342900" indent="-342900">
                  <a:buFont typeface="Arial" panose="020B0604020202020204" pitchFamily="34" charset="0"/>
                  <a:buAutoNum type="alphaLcParenBoth"/>
                </a:pPr>
                <a:endParaRPr lang="en-US" sz="2000" dirty="0">
                  <a:solidFill>
                    <a:srgbClr val="000000"/>
                  </a:solidFill>
                </a:endParaRPr>
              </a:p>
              <a:p>
                <a:pPr marL="342900" indent="-342900">
                  <a:buFont typeface="Arial" panose="020B0604020202020204" pitchFamily="34" charset="0"/>
                  <a:buAutoNum type="alphaLcParenBoth"/>
                </a:pP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r>
                      <a:rPr lang="en-US" sz="2000" i="1" smtClean="0">
                        <a:solidFill>
                          <a:srgbClr val="000000"/>
                        </a:solidFill>
                        <a:latin typeface="Cambria Math"/>
                        <a:ea typeface="Cambria Math"/>
                      </a:rPr>
                      <m:t>≠−</m:t>
                    </m:r>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oMath>
                </a14:m>
                <a:r>
                  <a:rPr lang="en-US" sz="2000" dirty="0">
                    <a:solidFill>
                      <a:srgbClr val="000000"/>
                    </a:solidFill>
                  </a:rPr>
                  <a:t> because they have different directions (even though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r>
                      <a:rPr lang="en-US" sz="2000" i="1" smtClean="0">
                        <a:solidFill>
                          <a:srgbClr val="000000"/>
                        </a:solidFill>
                        <a:latin typeface="Cambria Math"/>
                      </a:rPr>
                      <m:t>=</m:t>
                    </m:r>
                    <m:acc>
                      <m:accPr>
                        <m:chr m:val="⃗"/>
                        <m:ctrlPr>
                          <a:rPr lang="en-US" sz="2000" b="1" i="1" dirty="0">
                            <a:solidFill>
                              <a:srgbClr val="000000"/>
                            </a:solidFill>
                            <a:latin typeface="Cambria Math" panose="02040503050406030204" pitchFamily="18" charset="0"/>
                          </a:rPr>
                        </m:ctrlPr>
                      </m:accPr>
                      <m:e>
                        <m:r>
                          <a:rPr lang="en-US" sz="2000" b="1" dirty="0" smtClean="0">
                            <a:solidFill>
                              <a:srgbClr val="000000"/>
                            </a:solidFill>
                            <a:latin typeface="Cambria Math"/>
                          </a:rPr>
                          <m:t>−</m:t>
                        </m:r>
                        <m:r>
                          <a:rPr lang="en-US" sz="2000" b="1" dirty="0">
                            <a:solidFill>
                              <a:srgbClr val="000000"/>
                            </a:solidFill>
                            <a:latin typeface="Cambria Math"/>
                          </a:rPr>
                          <m:t>𝐀</m:t>
                        </m:r>
                      </m:e>
                    </m:acc>
                    <m:r>
                      <a:rPr lang="en-US" sz="2000" b="1" i="1" dirty="0" smtClean="0">
                        <a:solidFill>
                          <a:srgbClr val="000000"/>
                        </a:solidFill>
                        <a:latin typeface="Cambria Math"/>
                      </a:rPr>
                      <m:t>=</m:t>
                    </m:r>
                    <m:r>
                      <a:rPr lang="en-US" sz="2000" b="1" i="1" dirty="0" smtClean="0">
                        <a:solidFill>
                          <a:srgbClr val="000000"/>
                        </a:solidFill>
                        <a:latin typeface="Cambria Math"/>
                      </a:rPr>
                      <m:t>𝑨</m:t>
                    </m:r>
                  </m:oMath>
                </a14:m>
                <a:r>
                  <a:rPr lang="en-US" sz="2000" dirty="0">
                    <a:solidFill>
                      <a:srgbClr val="000000"/>
                    </a:solidFill>
                  </a:rPr>
                  <a:t>).</a:t>
                </a:r>
              </a:p>
              <a:p>
                <a:pPr marL="342900" indent="-342900">
                  <a:buFont typeface="Arial" panose="020B0604020202020204" pitchFamily="34" charset="0"/>
                  <a:buAutoNum type="alphaLcParenBoth"/>
                </a:pPr>
                <a:endParaRPr lang="en-US" sz="2000" dirty="0">
                  <a:solidFill>
                    <a:srgbClr val="000000"/>
                  </a:solidFill>
                </a:endParaRPr>
              </a:p>
              <a:p>
                <a:pPr marL="342900" indent="-342900">
                  <a:buFont typeface="Arial" panose="020B0604020202020204" pitchFamily="34" charset="0"/>
                  <a:buAutoNum type="alphaLcParenBoth"/>
                </a:pPr>
                <a:r>
                  <a:rPr lang="en-US" sz="2000" dirty="0">
                    <a:solidFill>
                      <a:srgbClr val="000000"/>
                    </a:solidFill>
                  </a:rPr>
                  <a:t>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r>
                      <a:rPr lang="en-US" sz="2000" b="1" i="1" dirty="0" smtClean="0">
                        <a:solidFill>
                          <a:srgbClr val="000000"/>
                        </a:solidFill>
                        <a:latin typeface="Cambria Math"/>
                        <a:ea typeface="Cambria Math"/>
                      </a:rPr>
                      <m:t>=</m:t>
                    </m:r>
                    <m:acc>
                      <m:accPr>
                        <m:chr m:val="⃗"/>
                        <m:ctrlPr>
                          <a:rPr lang="en-US" sz="2000" b="1" i="1" dirty="0">
                            <a:solidFill>
                              <a:srgbClr val="000000"/>
                            </a:solidFill>
                            <a:latin typeface="Cambria Math" panose="02040503050406030204" pitchFamily="18" charset="0"/>
                            <a:ea typeface="Cambria Math"/>
                          </a:rPr>
                        </m:ctrlPr>
                      </m:accPr>
                      <m:e>
                        <m:r>
                          <a:rPr lang="en-US" sz="2000" b="1" dirty="0">
                            <a:solidFill>
                              <a:srgbClr val="000000"/>
                            </a:solidFill>
                            <a:latin typeface="Cambria Math"/>
                            <a:ea typeface="Cambria Math"/>
                          </a:rPr>
                          <m:t>𝐁</m:t>
                        </m:r>
                      </m:e>
                    </m:acc>
                    <m:r>
                      <a:rPr lang="en-US" sz="2000" b="1" i="1" dirty="0">
                        <a:solidFill>
                          <a:srgbClr val="000000"/>
                        </a:solidFill>
                        <a:latin typeface="Cambria Math"/>
                        <a:ea typeface="Cambria Math"/>
                      </a:rPr>
                      <m:t> </m:t>
                    </m:r>
                  </m:oMath>
                </a14:m>
                <a:r>
                  <a:rPr lang="en-US" sz="2000" dirty="0">
                    <a:solidFill>
                      <a:srgbClr val="000000"/>
                    </a:solidFill>
                  </a:rPr>
                  <a:t> because they are parallel and have identical magnitudes </a:t>
                </a:r>
                <a14:m>
                  <m:oMath xmlns:m="http://schemas.openxmlformats.org/officeDocument/2006/math">
                    <m:r>
                      <a:rPr lang="en-US" sz="2000" i="1">
                        <a:solidFill>
                          <a:srgbClr val="000000"/>
                        </a:solidFill>
                        <a:latin typeface="Cambria Math"/>
                        <a:ea typeface="Cambria Math"/>
                      </a:rPr>
                      <m:t>𝐴</m:t>
                    </m:r>
                    <m:r>
                      <a:rPr lang="en-US" sz="2000" i="1" smtClean="0">
                        <a:solidFill>
                          <a:srgbClr val="000000"/>
                        </a:solidFill>
                        <a:latin typeface="Cambria Math"/>
                        <a:ea typeface="Cambria Math"/>
                      </a:rPr>
                      <m:t>=</m:t>
                    </m:r>
                    <m:r>
                      <a:rPr lang="en-US" sz="2000" i="1">
                        <a:solidFill>
                          <a:srgbClr val="000000"/>
                        </a:solidFill>
                        <a:latin typeface="Cambria Math"/>
                        <a:ea typeface="Cambria Math"/>
                      </a:rPr>
                      <m:t>𝐵</m:t>
                    </m:r>
                  </m:oMath>
                </a14:m>
                <a:r>
                  <a:rPr lang="en-US" sz="2000" dirty="0">
                    <a:solidFill>
                      <a:srgbClr val="000000"/>
                    </a:solidFill>
                  </a:rPr>
                  <a:t>. </a:t>
                </a:r>
              </a:p>
              <a:p>
                <a:pPr marL="342900" indent="-342900">
                  <a:buFont typeface="Arial" panose="020B0604020202020204" pitchFamily="34" charset="0"/>
                  <a:buAutoNum type="alphaLcParenBoth"/>
                </a:pPr>
                <a:endParaRPr lang="en-US" sz="2000" dirty="0">
                  <a:solidFill>
                    <a:srgbClr val="000000"/>
                  </a:solidFill>
                </a:endParaRPr>
              </a:p>
              <a:p>
                <a:pPr marL="342900" indent="-342900">
                  <a:buFont typeface="Arial" panose="020B0604020202020204" pitchFamily="34" charset="0"/>
                  <a:buAutoNum type="alphaLcParenBoth"/>
                </a:pPr>
                <a:r>
                  <a:rPr lang="en-US" sz="2000" dirty="0">
                    <a:solidFill>
                      <a:srgbClr val="000000"/>
                    </a:solidFill>
                  </a:rPr>
                  <a:t> </a:t>
                </a:r>
                <a14:m>
                  <m:oMath xmlns:m="http://schemas.openxmlformats.org/officeDocument/2006/math">
                    <m:acc>
                      <m:accPr>
                        <m:chr m:val="⃗"/>
                        <m:ctrlPr>
                          <a:rPr lang="en-US" sz="2000" b="1" i="1" dirty="0">
                            <a:solidFill>
                              <a:srgbClr val="000000"/>
                            </a:solidFill>
                            <a:latin typeface="Cambria Math" panose="02040503050406030204" pitchFamily="18" charset="0"/>
                          </a:rPr>
                        </m:ctrlPr>
                      </m:accPr>
                      <m:e>
                        <m:r>
                          <a:rPr lang="en-US" sz="2000" b="1" dirty="0">
                            <a:solidFill>
                              <a:srgbClr val="000000"/>
                            </a:solidFill>
                            <a:latin typeface="Cambria Math"/>
                          </a:rPr>
                          <m:t>𝐀</m:t>
                        </m:r>
                      </m:e>
                    </m:acc>
                    <m:r>
                      <a:rPr lang="en-US" sz="2000" b="1" i="1" dirty="0">
                        <a:solidFill>
                          <a:srgbClr val="000000"/>
                        </a:solidFill>
                        <a:latin typeface="Cambria Math"/>
                        <a:ea typeface="Cambria Math"/>
                      </a:rPr>
                      <m:t>≠</m:t>
                    </m:r>
                    <m:acc>
                      <m:accPr>
                        <m:chr m:val="⃗"/>
                        <m:ctrlPr>
                          <a:rPr lang="en-US" sz="2000" b="1" i="1" dirty="0">
                            <a:solidFill>
                              <a:srgbClr val="000000"/>
                            </a:solidFill>
                            <a:latin typeface="Cambria Math" panose="02040503050406030204" pitchFamily="18" charset="0"/>
                            <a:ea typeface="Cambria Math"/>
                          </a:rPr>
                        </m:ctrlPr>
                      </m:accPr>
                      <m:e>
                        <m:r>
                          <a:rPr lang="en-US" sz="2000" b="1" dirty="0">
                            <a:solidFill>
                              <a:srgbClr val="000000"/>
                            </a:solidFill>
                            <a:latin typeface="Cambria Math"/>
                            <a:ea typeface="Cambria Math"/>
                          </a:rPr>
                          <m:t>𝐁</m:t>
                        </m:r>
                      </m:e>
                    </m:acc>
                  </m:oMath>
                </a14:m>
                <a:r>
                  <a:rPr lang="en-US" sz="2000" dirty="0">
                    <a:solidFill>
                      <a:srgbClr val="000000"/>
                    </a:solidFill>
                  </a:rPr>
                  <a:t>  because they have different directions (are not parallel); here, their directions differ by 90°—meaning, they are orthogonal.</a:t>
                </a:r>
              </a:p>
              <a:p>
                <a:pPr marL="342900" indent="-342900">
                  <a:buFont typeface="Arial" panose="020B0604020202020204" pitchFamily="34" charset="0"/>
                  <a:buAutoNum type="alphaLcParenBoth"/>
                </a:pPr>
                <a:endParaRPr lang="en-US" sz="2000" dirty="0">
                  <a:solidFill>
                    <a:srgbClr val="000000"/>
                  </a:solidFill>
                </a:endParaRPr>
              </a:p>
            </p:txBody>
          </p:sp>
        </mc:Choice>
        <mc:Fallback xmlns="">
          <p:sp>
            <p:nvSpPr>
              <p:cNvPr id="6" name="Text Placeholder 13">
                <a:extLst>
                  <a:ext uri="{FF2B5EF4-FFF2-40B4-BE49-F238E27FC236}">
                    <a16:creationId xmlns:a16="http://schemas.microsoft.com/office/drawing/2014/main" id="{E8B8D3CD-4DCD-6C44-A560-749D55EDEEC4}"/>
                  </a:ext>
                </a:extLst>
              </p:cNvPr>
              <p:cNvSpPr txBox="1">
                <a:spLocks noRot="1" noChangeAspect="1" noMove="1" noResize="1" noEditPoints="1" noAdjustHandles="1" noChangeArrowheads="1" noChangeShapeType="1" noTextEdit="1"/>
              </p:cNvSpPr>
              <p:nvPr/>
            </p:nvSpPr>
            <p:spPr>
              <a:xfrm>
                <a:off x="6680773" y="902292"/>
                <a:ext cx="5125464" cy="5256973"/>
              </a:xfrm>
              <a:prstGeom prst="rect">
                <a:avLst/>
              </a:prstGeom>
              <a:blipFill>
                <a:blip r:embed="rId3"/>
                <a:stretch>
                  <a:fillRect l="-1485" t="-725" r="-1980" b="-13527"/>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F94A9BD5-5033-9D4E-8B56-EEFEEFBACFDC}"/>
              </a:ext>
            </a:extLst>
          </p:cNvPr>
          <p:cNvSpPr/>
          <p:nvPr/>
        </p:nvSpPr>
        <p:spPr>
          <a:xfrm>
            <a:off x="4300062" y="139060"/>
            <a:ext cx="3591876" cy="523220"/>
          </a:xfrm>
          <a:prstGeom prst="rect">
            <a:avLst/>
          </a:prstGeom>
        </p:spPr>
        <p:txBody>
          <a:bodyPr wrap="square">
            <a:spAutoFit/>
          </a:bodyPr>
          <a:lstStyle/>
          <a:p>
            <a:r>
              <a:rPr lang="en-US" sz="2800" dirty="0">
                <a:solidFill>
                  <a:srgbClr val="C00000"/>
                </a:solidFill>
                <a:latin typeface="NewBaskervilleStd-Roman"/>
              </a:rPr>
              <a:t>Properties of vectors</a:t>
            </a:r>
          </a:p>
        </p:txBody>
      </p:sp>
      <p:pic>
        <p:nvPicPr>
          <p:cNvPr id="8" name="Picture 7" descr="Diagram&#10;&#10;Description automatically generated">
            <a:extLst>
              <a:ext uri="{FF2B5EF4-FFF2-40B4-BE49-F238E27FC236}">
                <a16:creationId xmlns:a16="http://schemas.microsoft.com/office/drawing/2014/main" id="{F5909E4B-A08B-0E4D-B1DE-859714ABAE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763" y="762640"/>
            <a:ext cx="6134100" cy="5956300"/>
          </a:xfrm>
          <a:prstGeom prst="rect">
            <a:avLst/>
          </a:prstGeom>
        </p:spPr>
      </p:pic>
      <p:sp>
        <p:nvSpPr>
          <p:cNvPr id="9" name="Rectangle 8">
            <a:extLst>
              <a:ext uri="{FF2B5EF4-FFF2-40B4-BE49-F238E27FC236}">
                <a16:creationId xmlns:a16="http://schemas.microsoft.com/office/drawing/2014/main" id="{7C1EC381-EC14-B04C-8F53-35DE748CDCAE}"/>
              </a:ext>
            </a:extLst>
          </p:cNvPr>
          <p:cNvSpPr/>
          <p:nvPr/>
        </p:nvSpPr>
        <p:spPr>
          <a:xfrm>
            <a:off x="153020" y="333025"/>
            <a:ext cx="4881181" cy="646331"/>
          </a:xfrm>
          <a:prstGeom prst="rect">
            <a:avLst/>
          </a:prstGeom>
        </p:spPr>
        <p:txBody>
          <a:bodyPr wrap="square">
            <a:spAutoFit/>
          </a:bodyPr>
          <a:lstStyle/>
          <a:p>
            <a:r>
              <a:rPr lang="en-US" dirty="0">
                <a:solidFill>
                  <a:srgbClr val="000066"/>
                </a:solidFill>
                <a:latin typeface="NewBaskervilleStd-Roman"/>
              </a:rPr>
              <a:t>Two vectors are equal if they have the same magnitude and if they point in the same direction.</a:t>
            </a:r>
            <a:endParaRPr lang="en-US" dirty="0">
              <a:solidFill>
                <a:srgbClr val="000066"/>
              </a:solidFill>
            </a:endParaRPr>
          </a:p>
        </p:txBody>
      </p:sp>
    </p:spTree>
    <p:extLst>
      <p:ext uri="{BB962C8B-B14F-4D97-AF65-F5344CB8AC3E}">
        <p14:creationId xmlns:p14="http://schemas.microsoft.com/office/powerpoint/2010/main" val="1631050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4E88D32-1760-9147-9B70-3712A96923FC}"/>
              </a:ext>
            </a:extLst>
          </p:cNvPr>
          <p:cNvSpPr/>
          <p:nvPr/>
        </p:nvSpPr>
        <p:spPr>
          <a:xfrm>
            <a:off x="4300062" y="139060"/>
            <a:ext cx="3591876" cy="523220"/>
          </a:xfrm>
          <a:prstGeom prst="rect">
            <a:avLst/>
          </a:prstGeom>
        </p:spPr>
        <p:txBody>
          <a:bodyPr wrap="square">
            <a:spAutoFit/>
          </a:bodyPr>
          <a:lstStyle/>
          <a:p>
            <a:r>
              <a:rPr lang="en-US" sz="2800" dirty="0">
                <a:solidFill>
                  <a:srgbClr val="C00000"/>
                </a:solidFill>
                <a:latin typeface="NewBaskervilleStd-Roman"/>
              </a:rPr>
              <a:t>Properties of vectors</a:t>
            </a:r>
          </a:p>
        </p:txBody>
      </p:sp>
      <p:pic>
        <p:nvPicPr>
          <p:cNvPr id="4" name="Picture Placeholder 1" descr="Figure a shows vector A pointing to the right. It has magnitude A=1.5. Vector B=2 time vector A points to the right and has magnitude B = 2 A = 3.0. Vector C = -2 times vector A and has magnitude B = 2.0. Figure b shows vector A points to the right and has magnitude A=1.5. Vector B is shown below vector A, with their tails aligned. Vector B points to the right and has magnitude 2.0. In another view, Vector A is shown with vector B starting at the head of A and extending further to the right. Below them is a vector, labeled as vector R = vector A plus vector B, pointing to the right whose tail is aligned with the tail of vector A and whose head is aligned with the head of vector B. The magnitude of vector R is equal to magnitude A plus magnitude B = 3.5. Figure c shows vector A points to the right and has magnitude A=1.5. Vector B is shown below vector A, with their tails aligned. Vector minus B points to the right and has magnitude 3.2. In another view, Vector A is shown with vector minus B pointing to the left and with its head meeting the head of vector A. Below them is a vector, labeled as vector D = vector A minus vector B, shorter than B and pointing to the left whose head is aligned with the head of vector B. The magnitude of vector D is equal to magnitude of quantity A minus B = 1.7.">
            <a:extLst>
              <a:ext uri="{FF2B5EF4-FFF2-40B4-BE49-F238E27FC236}">
                <a16:creationId xmlns:a16="http://schemas.microsoft.com/office/drawing/2014/main" id="{6934002F-6B49-EE44-B738-E2926F992EB6}"/>
              </a:ext>
            </a:extLst>
          </p:cNvPr>
          <p:cNvPicPr>
            <a:picLocks noChangeAspect="1"/>
          </p:cNvPicPr>
          <p:nvPr/>
        </p:nvPicPr>
        <p:blipFill>
          <a:blip r:embed="rId3">
            <a:extLst>
              <a:ext uri="{28A0092B-C50C-407E-A947-70E740481C1C}">
                <a14:useLocalDpi xmlns:a14="http://schemas.microsoft.com/office/drawing/2010/main" val="0"/>
              </a:ext>
            </a:extLst>
          </a:blip>
          <a:srcRect l="-18414" r="-18414"/>
          <a:stretch>
            <a:fillRect/>
          </a:stretch>
        </p:blipFill>
        <p:spPr>
          <a:xfrm>
            <a:off x="-615076" y="967471"/>
            <a:ext cx="8062913" cy="3500071"/>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0E4978D5-C614-9E4E-BF83-9EECE28CAA48}"/>
                  </a:ext>
                </a:extLst>
              </p:cNvPr>
              <p:cNvSpPr txBox="1">
                <a:spLocks/>
              </p:cNvSpPr>
              <p:nvPr/>
            </p:nvSpPr>
            <p:spPr>
              <a:xfrm>
                <a:off x="268606" y="4769729"/>
                <a:ext cx="8062912" cy="17566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	Algebra of vectors in one dimension.</a:t>
                </a:r>
              </a:p>
              <a:p>
                <a:pPr marL="342900" indent="-342900">
                  <a:buFont typeface="Arial" panose="020B0604020202020204" pitchFamily="34" charset="0"/>
                  <a:buAutoNum type="alphaLcParenBoth"/>
                </a:pPr>
                <a:r>
                  <a:rPr lang="en-US" sz="2000" dirty="0">
                    <a:solidFill>
                      <a:srgbClr val="000066"/>
                    </a:solidFill>
                  </a:rPr>
                  <a:t>Multiplication by a scalar.</a:t>
                </a:r>
              </a:p>
              <a:p>
                <a:pPr marL="342900" indent="-342900">
                  <a:buFont typeface="Arial" panose="020B0604020202020204" pitchFamily="34" charset="0"/>
                  <a:buAutoNum type="alphaLcParenBoth"/>
                </a:pPr>
                <a:r>
                  <a:rPr lang="en-US" sz="2000" dirty="0">
                    <a:solidFill>
                      <a:srgbClr val="000066"/>
                    </a:solidFill>
                  </a:rPr>
                  <a:t>Addition of two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𝐑</m:t>
                        </m:r>
                      </m:e>
                    </m:acc>
                  </m:oMath>
                </a14:m>
                <a:r>
                  <a:rPr lang="en-US" sz="2000" dirty="0">
                    <a:solidFill>
                      <a:srgbClr val="000066"/>
                    </a:solidFill>
                  </a:rPr>
                  <a:t> is called the </a:t>
                </a:r>
                <a:r>
                  <a:rPr lang="en-US" sz="2000" i="1" dirty="0">
                    <a:solidFill>
                      <a:srgbClr val="C00000"/>
                    </a:solidFill>
                  </a:rPr>
                  <a:t>resultant</a:t>
                </a:r>
                <a:r>
                  <a:rPr lang="en-US" sz="2000" dirty="0">
                    <a:solidFill>
                      <a:srgbClr val="C00000"/>
                    </a:solidFill>
                  </a:rPr>
                  <a:t> </a:t>
                </a:r>
                <a:r>
                  <a:rPr lang="en-US" sz="2000" dirty="0">
                    <a:solidFill>
                      <a:srgbClr val="000066"/>
                    </a:solidFill>
                  </a:rPr>
                  <a:t>of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and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𝐁</m:t>
                        </m:r>
                      </m:e>
                    </m:acc>
                  </m:oMath>
                </a14:m>
                <a:r>
                  <a:rPr lang="en-US" sz="2000" dirty="0">
                    <a:solidFill>
                      <a:srgbClr val="000066"/>
                    </a:solidFill>
                  </a:rPr>
                  <a:t>).</a:t>
                </a:r>
              </a:p>
              <a:p>
                <a:pPr marL="342900" indent="-342900">
                  <a:buFont typeface="Arial" panose="020B0604020202020204" pitchFamily="34" charset="0"/>
                  <a:buAutoNum type="alphaLcParenBoth"/>
                </a:pPr>
                <a:r>
                  <a:rPr lang="en-US" sz="2000" dirty="0">
                    <a:solidFill>
                      <a:srgbClr val="000066"/>
                    </a:solidFill>
                  </a:rPr>
                  <a:t>Subtraction of two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𝐃</m:t>
                        </m:r>
                      </m:e>
                    </m:acc>
                  </m:oMath>
                </a14:m>
                <a:r>
                  <a:rPr lang="en-US" sz="2000" dirty="0">
                    <a:solidFill>
                      <a:srgbClr val="000066"/>
                    </a:solidFill>
                  </a:rPr>
                  <a:t> is the difference of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and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𝐁</m:t>
                        </m:r>
                      </m:e>
                    </m:acc>
                  </m:oMath>
                </a14:m>
                <a:r>
                  <a:rPr lang="en-US" sz="2000" dirty="0">
                    <a:solidFill>
                      <a:srgbClr val="000066"/>
                    </a:solidFill>
                  </a:rPr>
                  <a:t>).</a:t>
                </a:r>
              </a:p>
            </p:txBody>
          </p:sp>
        </mc:Choice>
        <mc:Fallback xmlns="">
          <p:sp>
            <p:nvSpPr>
              <p:cNvPr id="6" name="Text Placeholder 6">
                <a:extLst>
                  <a:ext uri="{FF2B5EF4-FFF2-40B4-BE49-F238E27FC236}">
                    <a16:creationId xmlns:a16="http://schemas.microsoft.com/office/drawing/2014/main" id="{0E4978D5-C614-9E4E-BF83-9EECE28CAA48}"/>
                  </a:ext>
                </a:extLst>
              </p:cNvPr>
              <p:cNvSpPr txBox="1">
                <a:spLocks noRot="1" noChangeAspect="1" noMove="1" noResize="1" noEditPoints="1" noAdjustHandles="1" noChangeArrowheads="1" noChangeShapeType="1" noTextEdit="1"/>
              </p:cNvSpPr>
              <p:nvPr/>
            </p:nvSpPr>
            <p:spPr>
              <a:xfrm>
                <a:off x="268606" y="4769729"/>
                <a:ext cx="8062912" cy="1756655"/>
              </a:xfrm>
              <a:prstGeom prst="rect">
                <a:avLst/>
              </a:prstGeom>
              <a:blipFill>
                <a:blip r:embed="rId4"/>
                <a:stretch>
                  <a:fillRect l="-786" t="-3571"/>
                </a:stretch>
              </a:blipFill>
            </p:spPr>
            <p:txBody>
              <a:bodyPr/>
              <a:lstStyle/>
              <a:p>
                <a:r>
                  <a:rPr lang="en-US">
                    <a:noFill/>
                  </a:rPr>
                  <a:t> </a:t>
                </a:r>
              </a:p>
            </p:txBody>
          </p:sp>
        </mc:Fallback>
      </mc:AlternateContent>
    </p:spTree>
    <p:extLst>
      <p:ext uri="{BB962C8B-B14F-4D97-AF65-F5344CB8AC3E}">
        <p14:creationId xmlns:p14="http://schemas.microsoft.com/office/powerpoint/2010/main" val="3411428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4E88D32-1760-9147-9B70-3712A96923FC}"/>
              </a:ext>
            </a:extLst>
          </p:cNvPr>
          <p:cNvSpPr/>
          <p:nvPr/>
        </p:nvSpPr>
        <p:spPr>
          <a:xfrm>
            <a:off x="4300062" y="139060"/>
            <a:ext cx="3591876" cy="523220"/>
          </a:xfrm>
          <a:prstGeom prst="rect">
            <a:avLst/>
          </a:prstGeom>
        </p:spPr>
        <p:txBody>
          <a:bodyPr wrap="square">
            <a:spAutoFit/>
          </a:bodyPr>
          <a:lstStyle/>
          <a:p>
            <a:r>
              <a:rPr lang="en-US" sz="2800" dirty="0">
                <a:solidFill>
                  <a:srgbClr val="C00000"/>
                </a:solidFill>
                <a:latin typeface="NewBaskervilleStd-Roman"/>
              </a:rPr>
              <a:t>Properties of vectors</a:t>
            </a:r>
          </a:p>
        </p:txBody>
      </p:sp>
      <p:pic>
        <p:nvPicPr>
          <p:cNvPr id="4" name="Picture Placeholder 1" descr="Figure a shows vector A pointing to the right. It has magnitude A=1.5. Vector B=2 time vector A points to the right and has magnitude B = 2 A = 3.0. Vector C = -2 times vector A and has magnitude B = 2.0. Figure b shows vector A points to the right and has magnitude A=1.5. Vector B is shown below vector A, with their tails aligned. Vector B points to the right and has magnitude 2.0. In another view, Vector A is shown with vector B starting at the head of A and extending further to the right. Below them is a vector, labeled as vector R = vector A plus vector B, pointing to the right whose tail is aligned with the tail of vector A and whose head is aligned with the head of vector B. The magnitude of vector R is equal to magnitude A plus magnitude B = 3.5. Figure c shows vector A points to the right and has magnitude A=1.5. Vector B is shown below vector A, with their tails aligned. Vector minus B points to the right and has magnitude 3.2. In another view, Vector A is shown with vector minus B pointing to the left and with its head meeting the head of vector A. Below them is a vector, labeled as vector D = vector A minus vector B, shorter than B and pointing to the left whose head is aligned with the head of vector B. The magnitude of vector D is equal to magnitude of quantity A minus B = 1.7.">
            <a:extLst>
              <a:ext uri="{FF2B5EF4-FFF2-40B4-BE49-F238E27FC236}">
                <a16:creationId xmlns:a16="http://schemas.microsoft.com/office/drawing/2014/main" id="{6934002F-6B49-EE44-B738-E2926F992EB6}"/>
              </a:ext>
            </a:extLst>
          </p:cNvPr>
          <p:cNvPicPr>
            <a:picLocks noChangeAspect="1"/>
          </p:cNvPicPr>
          <p:nvPr/>
        </p:nvPicPr>
        <p:blipFill>
          <a:blip r:embed="rId3">
            <a:extLst>
              <a:ext uri="{28A0092B-C50C-407E-A947-70E740481C1C}">
                <a14:useLocalDpi xmlns:a14="http://schemas.microsoft.com/office/drawing/2010/main" val="0"/>
              </a:ext>
            </a:extLst>
          </a:blip>
          <a:srcRect l="-18414" r="-18414"/>
          <a:stretch>
            <a:fillRect/>
          </a:stretch>
        </p:blipFill>
        <p:spPr>
          <a:xfrm>
            <a:off x="-615076" y="967471"/>
            <a:ext cx="8062913" cy="3500071"/>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0E4978D5-C614-9E4E-BF83-9EECE28CAA48}"/>
                  </a:ext>
                </a:extLst>
              </p:cNvPr>
              <p:cNvSpPr txBox="1">
                <a:spLocks/>
              </p:cNvSpPr>
              <p:nvPr/>
            </p:nvSpPr>
            <p:spPr>
              <a:xfrm>
                <a:off x="268606" y="4769729"/>
                <a:ext cx="8062912" cy="17566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	Algebra of vectors in one dimension.</a:t>
                </a:r>
              </a:p>
              <a:p>
                <a:pPr marL="342900" indent="-342900">
                  <a:buFont typeface="Arial" panose="020B0604020202020204" pitchFamily="34" charset="0"/>
                  <a:buAutoNum type="alphaLcParenBoth"/>
                </a:pPr>
                <a:r>
                  <a:rPr lang="en-US" sz="2000" dirty="0">
                    <a:solidFill>
                      <a:srgbClr val="000066"/>
                    </a:solidFill>
                  </a:rPr>
                  <a:t>Multiplication by a scalar.</a:t>
                </a:r>
              </a:p>
              <a:p>
                <a:pPr marL="342900" indent="-342900">
                  <a:buFont typeface="Arial" panose="020B0604020202020204" pitchFamily="34" charset="0"/>
                  <a:buAutoNum type="alphaLcParenBoth"/>
                </a:pPr>
                <a:r>
                  <a:rPr lang="en-US" sz="2000" dirty="0">
                    <a:solidFill>
                      <a:srgbClr val="000066"/>
                    </a:solidFill>
                  </a:rPr>
                  <a:t>Addition of two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𝐑</m:t>
                        </m:r>
                      </m:e>
                    </m:acc>
                  </m:oMath>
                </a14:m>
                <a:r>
                  <a:rPr lang="en-US" sz="2000" dirty="0">
                    <a:solidFill>
                      <a:srgbClr val="000066"/>
                    </a:solidFill>
                  </a:rPr>
                  <a:t> is called the </a:t>
                </a:r>
                <a:r>
                  <a:rPr lang="en-US" sz="2000" i="1" dirty="0">
                    <a:solidFill>
                      <a:srgbClr val="C00000"/>
                    </a:solidFill>
                  </a:rPr>
                  <a:t>resultant</a:t>
                </a:r>
                <a:r>
                  <a:rPr lang="en-US" sz="2000" dirty="0">
                    <a:solidFill>
                      <a:srgbClr val="C00000"/>
                    </a:solidFill>
                  </a:rPr>
                  <a:t> </a:t>
                </a:r>
                <a:r>
                  <a:rPr lang="en-US" sz="2000" dirty="0">
                    <a:solidFill>
                      <a:srgbClr val="000066"/>
                    </a:solidFill>
                  </a:rPr>
                  <a:t>of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and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𝐁</m:t>
                        </m:r>
                      </m:e>
                    </m:acc>
                  </m:oMath>
                </a14:m>
                <a:r>
                  <a:rPr lang="en-US" sz="2000" dirty="0">
                    <a:solidFill>
                      <a:srgbClr val="000066"/>
                    </a:solidFill>
                  </a:rPr>
                  <a:t>).</a:t>
                </a:r>
              </a:p>
              <a:p>
                <a:pPr marL="342900" indent="-342900">
                  <a:buFont typeface="Arial" panose="020B0604020202020204" pitchFamily="34" charset="0"/>
                  <a:buAutoNum type="alphaLcParenBoth"/>
                </a:pPr>
                <a:r>
                  <a:rPr lang="en-US" sz="2000" dirty="0">
                    <a:solidFill>
                      <a:srgbClr val="000066"/>
                    </a:solidFill>
                  </a:rPr>
                  <a:t>Subtraction of two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𝐃</m:t>
                        </m:r>
                      </m:e>
                    </m:acc>
                  </m:oMath>
                </a14:m>
                <a:r>
                  <a:rPr lang="en-US" sz="2000" dirty="0">
                    <a:solidFill>
                      <a:srgbClr val="000066"/>
                    </a:solidFill>
                  </a:rPr>
                  <a:t> is the difference of vectors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and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smtClean="0">
                            <a:solidFill>
                              <a:srgbClr val="000066"/>
                            </a:solidFill>
                            <a:latin typeface="Cambria Math"/>
                          </a:rPr>
                          <m:t>𝐁</m:t>
                        </m:r>
                      </m:e>
                    </m:acc>
                  </m:oMath>
                </a14:m>
                <a:r>
                  <a:rPr lang="en-US" sz="2000" dirty="0">
                    <a:solidFill>
                      <a:srgbClr val="000066"/>
                    </a:solidFill>
                  </a:rPr>
                  <a:t>).</a:t>
                </a:r>
              </a:p>
            </p:txBody>
          </p:sp>
        </mc:Choice>
        <mc:Fallback xmlns="">
          <p:sp>
            <p:nvSpPr>
              <p:cNvPr id="6" name="Text Placeholder 6">
                <a:extLst>
                  <a:ext uri="{FF2B5EF4-FFF2-40B4-BE49-F238E27FC236}">
                    <a16:creationId xmlns:a16="http://schemas.microsoft.com/office/drawing/2014/main" id="{0E4978D5-C614-9E4E-BF83-9EECE28CAA48}"/>
                  </a:ext>
                </a:extLst>
              </p:cNvPr>
              <p:cNvSpPr txBox="1">
                <a:spLocks noRot="1" noChangeAspect="1" noMove="1" noResize="1" noEditPoints="1" noAdjustHandles="1" noChangeArrowheads="1" noChangeShapeType="1" noTextEdit="1"/>
              </p:cNvSpPr>
              <p:nvPr/>
            </p:nvSpPr>
            <p:spPr>
              <a:xfrm>
                <a:off x="268606" y="4769729"/>
                <a:ext cx="8062912" cy="1756655"/>
              </a:xfrm>
              <a:prstGeom prst="rect">
                <a:avLst/>
              </a:prstGeom>
              <a:blipFill>
                <a:blip r:embed="rId4"/>
                <a:stretch>
                  <a:fillRect l="-786" t="-3571"/>
                </a:stretch>
              </a:blipFill>
            </p:spPr>
            <p:txBody>
              <a:bodyPr/>
              <a:lstStyle/>
              <a:p>
                <a:r>
                  <a:rPr lang="en-US">
                    <a:noFill/>
                  </a:rPr>
                  <a:t> </a:t>
                </a:r>
              </a:p>
            </p:txBody>
          </p:sp>
        </mc:Fallback>
      </mc:AlternateContent>
      <p:pic>
        <p:nvPicPr>
          <p:cNvPr id="8" name="Picture 7" descr="Chart, line chart&#10;&#10;Description automatically generated with medium confidence">
            <a:extLst>
              <a:ext uri="{FF2B5EF4-FFF2-40B4-BE49-F238E27FC236}">
                <a16:creationId xmlns:a16="http://schemas.microsoft.com/office/drawing/2014/main" id="{3BF58329-59D4-F34E-A912-69CAC16824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8891" y="682827"/>
            <a:ext cx="3638811" cy="2743200"/>
          </a:xfrm>
          <a:prstGeom prst="rect">
            <a:avLst/>
          </a:prstGeom>
        </p:spPr>
      </p:pic>
      <p:sp>
        <p:nvSpPr>
          <p:cNvPr id="9" name="Text Placeholder 6">
            <a:extLst>
              <a:ext uri="{FF2B5EF4-FFF2-40B4-BE49-F238E27FC236}">
                <a16:creationId xmlns:a16="http://schemas.microsoft.com/office/drawing/2014/main" id="{46D4AF0F-26B3-C64E-A521-57D9FBC32519}"/>
              </a:ext>
            </a:extLst>
          </p:cNvPr>
          <p:cNvSpPr txBox="1">
            <a:spLocks/>
          </p:cNvSpPr>
          <p:nvPr/>
        </p:nvSpPr>
        <p:spPr>
          <a:xfrm>
            <a:off x="6686043" y="3429331"/>
            <a:ext cx="3797188"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Five displacements of the ladybug. Note that in this schematic drawing, magnitudes of displacements are not drawn to scale. </a:t>
            </a:r>
            <a:r>
              <a:rPr lang="en-US" sz="800" dirty="0"/>
              <a:t>(credit: modification of work by “Persian Poet Gal”/Wikimedia Commons)</a:t>
            </a:r>
          </a:p>
        </p:txBody>
      </p:sp>
      <p:pic>
        <p:nvPicPr>
          <p:cNvPr id="13" name="Picture 12" descr="Text&#10;&#10;Description automatically generated">
            <a:extLst>
              <a:ext uri="{FF2B5EF4-FFF2-40B4-BE49-F238E27FC236}">
                <a16:creationId xmlns:a16="http://schemas.microsoft.com/office/drawing/2014/main" id="{C761D38D-8823-1C45-AD3C-0A43C5C4AB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13366" y="1060150"/>
            <a:ext cx="1964346" cy="2011680"/>
          </a:xfrm>
          <a:prstGeom prst="rect">
            <a:avLst/>
          </a:prstGeom>
        </p:spPr>
      </p:pic>
      <p:pic>
        <p:nvPicPr>
          <p:cNvPr id="15" name="Picture 14" descr="Text&#10;&#10;Description automatically generated with medium confidence">
            <a:extLst>
              <a:ext uri="{FF2B5EF4-FFF2-40B4-BE49-F238E27FC236}">
                <a16:creationId xmlns:a16="http://schemas.microsoft.com/office/drawing/2014/main" id="{2357381D-919F-3B42-B3CD-F9DB84F864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20569" y="4358685"/>
            <a:ext cx="5365276" cy="1143000"/>
          </a:xfrm>
          <a:prstGeom prst="rect">
            <a:avLst/>
          </a:prstGeom>
        </p:spPr>
      </p:pic>
      <p:sp>
        <p:nvSpPr>
          <p:cNvPr id="16" name="Rectangle 15">
            <a:extLst>
              <a:ext uri="{FF2B5EF4-FFF2-40B4-BE49-F238E27FC236}">
                <a16:creationId xmlns:a16="http://schemas.microsoft.com/office/drawing/2014/main" id="{43D28C60-426C-9C49-9A89-DFAC28796129}"/>
              </a:ext>
            </a:extLst>
          </p:cNvPr>
          <p:cNvSpPr/>
          <p:nvPr/>
        </p:nvSpPr>
        <p:spPr>
          <a:xfrm>
            <a:off x="8584637" y="5501685"/>
            <a:ext cx="3051296" cy="1015663"/>
          </a:xfrm>
          <a:prstGeom prst="rect">
            <a:avLst/>
          </a:prstGeom>
        </p:spPr>
        <p:txBody>
          <a:bodyPr wrap="square">
            <a:spAutoFit/>
          </a:bodyPr>
          <a:lstStyle/>
          <a:p>
            <a:r>
              <a:rPr lang="en-US" sz="2000" dirty="0">
                <a:solidFill>
                  <a:srgbClr val="0000CC"/>
                </a:solidFill>
              </a:rPr>
              <a:t>Assignment 1</a:t>
            </a:r>
          </a:p>
          <a:p>
            <a:r>
              <a:rPr lang="en-US" sz="2000" dirty="0"/>
              <a:t>Calculate the total distance the ladybug has traveled.</a:t>
            </a:r>
            <a:endParaRPr lang="en-US" sz="2200" dirty="0"/>
          </a:p>
        </p:txBody>
      </p:sp>
    </p:spTree>
    <p:extLst>
      <p:ext uri="{BB962C8B-B14F-4D97-AF65-F5344CB8AC3E}">
        <p14:creationId xmlns:p14="http://schemas.microsoft.com/office/powerpoint/2010/main" val="8934948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747E3D0-1B2C-2340-8790-23A040A66FB2}"/>
              </a:ext>
            </a:extLst>
          </p:cNvPr>
          <p:cNvSpPr/>
          <p:nvPr/>
        </p:nvSpPr>
        <p:spPr>
          <a:xfrm>
            <a:off x="2928938" y="89044"/>
            <a:ext cx="5943599" cy="523220"/>
          </a:xfrm>
          <a:prstGeom prst="rect">
            <a:avLst/>
          </a:prstGeom>
        </p:spPr>
        <p:txBody>
          <a:bodyPr wrap="square">
            <a:spAutoFit/>
          </a:bodyPr>
          <a:lstStyle/>
          <a:p>
            <a:r>
              <a:rPr lang="en-US" sz="2800" dirty="0">
                <a:solidFill>
                  <a:srgbClr val="C00000"/>
                </a:solidFill>
                <a:latin typeface="NewBaskervilleStd-Roman"/>
              </a:rPr>
              <a:t>Algebra of Vectors in Two Dimensions </a:t>
            </a:r>
          </a:p>
        </p:txBody>
      </p:sp>
      <p:pic>
        <p:nvPicPr>
          <p:cNvPr id="4" name="Picture Placeholder 1" descr="A photograph of someone measuring distance on a map using calipers and a ruler.">
            <a:extLst>
              <a:ext uri="{FF2B5EF4-FFF2-40B4-BE49-F238E27FC236}">
                <a16:creationId xmlns:a16="http://schemas.microsoft.com/office/drawing/2014/main" id="{FD368750-2A69-9442-8CD8-8392E91BB39B}"/>
              </a:ext>
            </a:extLst>
          </p:cNvPr>
          <p:cNvPicPr>
            <a:picLocks noChangeAspect="1"/>
          </p:cNvPicPr>
          <p:nvPr/>
        </p:nvPicPr>
        <p:blipFill>
          <a:blip r:embed="rId3" cstate="email">
            <a:extLst>
              <a:ext uri="{28A0092B-C50C-407E-A947-70E740481C1C}">
                <a14:useLocalDpi xmlns:a14="http://schemas.microsoft.com/office/drawing/2010/main" val="0"/>
              </a:ext>
            </a:extLst>
          </a:blip>
          <a:srcRect l="-29257" r="-29257"/>
          <a:stretch>
            <a:fillRect/>
          </a:stretch>
        </p:blipFill>
        <p:spPr>
          <a:xfrm>
            <a:off x="-360949" y="685800"/>
            <a:ext cx="6319353" cy="2743200"/>
          </a:xfrm>
          <a:prstGeom prst="rect">
            <a:avLst/>
          </a:prstGeom>
        </p:spPr>
      </p:pic>
      <p:sp>
        <p:nvSpPr>
          <p:cNvPr id="6" name="Text Placeholder 6">
            <a:extLst>
              <a:ext uri="{FF2B5EF4-FFF2-40B4-BE49-F238E27FC236}">
                <a16:creationId xmlns:a16="http://schemas.microsoft.com/office/drawing/2014/main" id="{DBA010F3-CCCE-1A46-BC0B-BDCC9907A059}"/>
              </a:ext>
            </a:extLst>
          </p:cNvPr>
          <p:cNvSpPr txBox="1">
            <a:spLocks/>
          </p:cNvSpPr>
          <p:nvPr/>
        </p:nvSpPr>
        <p:spPr>
          <a:xfrm>
            <a:off x="283870" y="3502536"/>
            <a:ext cx="5016500" cy="79107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In navigation, the laws of geometry are used to draw resultant displacements on nautical maps.</a:t>
            </a:r>
          </a:p>
        </p:txBody>
      </p:sp>
      <p:pic>
        <p:nvPicPr>
          <p:cNvPr id="7" name="Picture 6" descr="A picture containing text, watch&#10;&#10;Description automatically generated">
            <a:extLst>
              <a:ext uri="{FF2B5EF4-FFF2-40B4-BE49-F238E27FC236}">
                <a16:creationId xmlns:a16="http://schemas.microsoft.com/office/drawing/2014/main" id="{D6721789-58F7-9D40-B3F0-F7B9DB11F7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104900"/>
            <a:ext cx="4800600" cy="2324100"/>
          </a:xfrm>
          <a:prstGeom prst="rect">
            <a:avLst/>
          </a:prstGeom>
        </p:spPr>
      </p:pic>
      <p:sp>
        <p:nvSpPr>
          <p:cNvPr id="8" name="Rectangle 7">
            <a:extLst>
              <a:ext uri="{FF2B5EF4-FFF2-40B4-BE49-F238E27FC236}">
                <a16:creationId xmlns:a16="http://schemas.microsoft.com/office/drawing/2014/main" id="{27B33D35-7E5D-554E-9A19-92A6AF748A99}"/>
              </a:ext>
            </a:extLst>
          </p:cNvPr>
          <p:cNvSpPr/>
          <p:nvPr/>
        </p:nvSpPr>
        <p:spPr>
          <a:xfrm>
            <a:off x="5900737" y="741407"/>
            <a:ext cx="6096000" cy="369332"/>
          </a:xfrm>
          <a:prstGeom prst="rect">
            <a:avLst/>
          </a:prstGeom>
        </p:spPr>
        <p:txBody>
          <a:bodyPr>
            <a:spAutoFit/>
          </a:bodyPr>
          <a:lstStyle/>
          <a:p>
            <a:r>
              <a:rPr lang="en-US" dirty="0">
                <a:solidFill>
                  <a:srgbClr val="000066"/>
                </a:solidFill>
              </a:rPr>
              <a:t>The parallelogram rule for the addition of two vectors. </a:t>
            </a:r>
          </a:p>
        </p:txBody>
      </p:sp>
      <p:pic>
        <p:nvPicPr>
          <p:cNvPr id="10" name="Picture 9" descr="A picture containing text, watch, gauge&#10;&#10;Description automatically generated">
            <a:extLst>
              <a:ext uri="{FF2B5EF4-FFF2-40B4-BE49-F238E27FC236}">
                <a16:creationId xmlns:a16="http://schemas.microsoft.com/office/drawing/2014/main" id="{8C032887-C4AD-CF48-B86F-4266A2B306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477" y="4293614"/>
            <a:ext cx="5016500" cy="2400300"/>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B1692A4-447B-CF41-90FB-E0B40C194E78}"/>
                  </a:ext>
                </a:extLst>
              </p:cNvPr>
              <p:cNvSpPr/>
              <p:nvPr/>
            </p:nvSpPr>
            <p:spPr>
              <a:xfrm>
                <a:off x="6296060" y="3378664"/>
                <a:ext cx="5605463" cy="1544525"/>
              </a:xfrm>
              <a:prstGeom prst="rect">
                <a:avLst/>
              </a:prstGeom>
            </p:spPr>
            <p:txBody>
              <a:bodyPr wrap="square">
                <a:spAutoFit/>
              </a:bodyPr>
              <a:lstStyle/>
              <a:p>
                <a:pPr marL="342900" indent="-342900">
                  <a:buAutoNum type="alphaLcParenBoth"/>
                </a:pPr>
                <a:r>
                  <a:rPr lang="en-US" dirty="0">
                    <a:solidFill>
                      <a:srgbClr val="C00000"/>
                    </a:solidFill>
                  </a:rPr>
                  <a:t>Draw the resultant vector  </a:t>
                </a:r>
                <a14:m>
                  <m:oMath xmlns:m="http://schemas.openxmlformats.org/officeDocument/2006/math">
                    <m:acc>
                      <m:accPr>
                        <m:chr m:val="⃗"/>
                        <m:ctrlPr>
                          <a:rPr lang="en-US" b="1" i="1" dirty="0">
                            <a:solidFill>
                              <a:srgbClr val="C00000"/>
                            </a:solidFill>
                            <a:latin typeface="Cambria Math" panose="02040503050406030204" pitchFamily="18" charset="0"/>
                          </a:rPr>
                        </m:ctrlPr>
                      </m:accPr>
                      <m:e>
                        <m:r>
                          <a:rPr lang="en-US" b="1" dirty="0">
                            <a:solidFill>
                              <a:srgbClr val="C00000"/>
                            </a:solidFill>
                            <a:latin typeface="Cambria Math"/>
                          </a:rPr>
                          <m:t>𝐑</m:t>
                        </m:r>
                      </m:e>
                    </m:acc>
                  </m:oMath>
                </a14:m>
                <a:r>
                  <a:rPr lang="en-US" dirty="0">
                    <a:solidFill>
                      <a:srgbClr val="C00000"/>
                    </a:solidFill>
                  </a:rPr>
                  <a:t>  along the diagonal of the parallelogram from the common point to the opposite corner. </a:t>
                </a:r>
              </a:p>
              <a:p>
                <a:r>
                  <a:rPr lang="en-US" dirty="0">
                    <a:solidFill>
                      <a:srgbClr val="C00000"/>
                    </a:solidFill>
                  </a:rPr>
                  <a:t>	Length </a:t>
                </a:r>
                <a14:m>
                  <m:oMath xmlns:m="http://schemas.openxmlformats.org/officeDocument/2006/math">
                    <m:acc>
                      <m:accPr>
                        <m:chr m:val="⃗"/>
                        <m:ctrlPr>
                          <a:rPr lang="en-US" b="1" i="1" dirty="0">
                            <a:solidFill>
                              <a:srgbClr val="C00000"/>
                            </a:solidFill>
                            <a:latin typeface="Cambria Math" panose="02040503050406030204" pitchFamily="18" charset="0"/>
                          </a:rPr>
                        </m:ctrlPr>
                      </m:accPr>
                      <m:e>
                        <m:r>
                          <a:rPr lang="en-US" b="1" dirty="0">
                            <a:solidFill>
                              <a:srgbClr val="C00000"/>
                            </a:solidFill>
                            <a:latin typeface="Cambria Math"/>
                          </a:rPr>
                          <m:t>𝐑</m:t>
                        </m:r>
                      </m:e>
                    </m:acc>
                  </m:oMath>
                </a14:m>
                <a:r>
                  <a:rPr lang="en-US" dirty="0">
                    <a:solidFill>
                      <a:srgbClr val="C00000"/>
                    </a:solidFill>
                  </a:rPr>
                  <a:t>  of the resultant vector is not equal to the 	sum of the magnitudes of the two vectors.</a:t>
                </a:r>
              </a:p>
            </p:txBody>
          </p:sp>
        </mc:Choice>
        <mc:Fallback xmlns="">
          <p:sp>
            <p:nvSpPr>
              <p:cNvPr id="11" name="Rectangle 10">
                <a:extLst>
                  <a:ext uri="{FF2B5EF4-FFF2-40B4-BE49-F238E27FC236}">
                    <a16:creationId xmlns:a16="http://schemas.microsoft.com/office/drawing/2014/main" id="{0B1692A4-447B-CF41-90FB-E0B40C194E78}"/>
                  </a:ext>
                </a:extLst>
              </p:cNvPr>
              <p:cNvSpPr>
                <a:spLocks noRot="1" noChangeAspect="1" noMove="1" noResize="1" noEditPoints="1" noAdjustHandles="1" noChangeArrowheads="1" noChangeShapeType="1" noTextEdit="1"/>
              </p:cNvSpPr>
              <p:nvPr/>
            </p:nvSpPr>
            <p:spPr>
              <a:xfrm>
                <a:off x="6296060" y="3378664"/>
                <a:ext cx="5605463" cy="1544525"/>
              </a:xfrm>
              <a:prstGeom prst="rect">
                <a:avLst/>
              </a:prstGeom>
              <a:blipFill>
                <a:blip r:embed="rId6"/>
                <a:stretch>
                  <a:fillRect l="-905" r="-1810" b="-56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642E9A1-AEEB-9B46-801B-6866272DE579}"/>
                  </a:ext>
                </a:extLst>
              </p:cNvPr>
              <p:cNvSpPr/>
              <p:nvPr/>
            </p:nvSpPr>
            <p:spPr>
              <a:xfrm>
                <a:off x="5353381" y="4886859"/>
                <a:ext cx="6246055" cy="1890389"/>
              </a:xfrm>
              <a:prstGeom prst="rect">
                <a:avLst/>
              </a:prstGeom>
            </p:spPr>
            <p:txBody>
              <a:bodyPr wrap="square">
                <a:spAutoFit/>
              </a:bodyPr>
              <a:lstStyle/>
              <a:p>
                <a:r>
                  <a:rPr lang="en-US" dirty="0">
                    <a:solidFill>
                      <a:srgbClr val="000066"/>
                    </a:solidFill>
                  </a:rPr>
                  <a:t>(b) Draw the difference vector  </a:t>
                </a:r>
                <a14:m>
                  <m:oMath xmlns:m="http://schemas.openxmlformats.org/officeDocument/2006/math">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𝐃</m:t>
                        </m:r>
                      </m:e>
                    </m:acc>
                    <m:r>
                      <a:rPr lang="en-US" b="1" i="1" dirty="0">
                        <a:solidFill>
                          <a:srgbClr val="000066"/>
                        </a:solidFill>
                        <a:latin typeface="Cambria Math"/>
                      </a:rPr>
                      <m:t> = </m:t>
                    </m:r>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𝐀</m:t>
                        </m:r>
                      </m:e>
                    </m:acc>
                    <m:r>
                      <a:rPr lang="en-US" b="1" i="1" dirty="0">
                        <a:solidFill>
                          <a:srgbClr val="000066"/>
                        </a:solidFill>
                        <a:latin typeface="Cambria Math"/>
                      </a:rPr>
                      <m:t> −</m:t>
                    </m:r>
                    <m:acc>
                      <m:accPr>
                        <m:chr m:val="⃗"/>
                        <m:ctrlPr>
                          <a:rPr lang="en-US" b="1" i="1" dirty="0">
                            <a:solidFill>
                              <a:srgbClr val="000066"/>
                            </a:solidFill>
                            <a:latin typeface="Cambria Math" panose="02040503050406030204" pitchFamily="18" charset="0"/>
                          </a:rPr>
                        </m:ctrlPr>
                      </m:accPr>
                      <m:e>
                        <m:r>
                          <a:rPr lang="en-US" b="1" i="1" dirty="0">
                            <a:solidFill>
                              <a:srgbClr val="000066"/>
                            </a:solidFill>
                            <a:latin typeface="Cambria Math"/>
                          </a:rPr>
                          <m:t> </m:t>
                        </m:r>
                        <m:r>
                          <a:rPr lang="en-US" b="1" dirty="0">
                            <a:solidFill>
                              <a:srgbClr val="000066"/>
                            </a:solidFill>
                            <a:latin typeface="Cambria Math"/>
                          </a:rPr>
                          <m:t>𝐁</m:t>
                        </m:r>
                      </m:e>
                    </m:acc>
                  </m:oMath>
                </a14:m>
                <a:r>
                  <a:rPr lang="en-US" dirty="0">
                    <a:solidFill>
                      <a:srgbClr val="000066"/>
                    </a:solidFill>
                  </a:rPr>
                  <a:t>  along the diagonal connecting the ends of the vectors. Place the origin of vector </a:t>
                </a:r>
                <a14:m>
                  <m:oMath xmlns:m="http://schemas.openxmlformats.org/officeDocument/2006/math">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𝐃</m:t>
                        </m:r>
                      </m:e>
                    </m:acc>
                  </m:oMath>
                </a14:m>
                <a:r>
                  <a:rPr lang="en-US" dirty="0">
                    <a:solidFill>
                      <a:srgbClr val="000066"/>
                    </a:solidFill>
                  </a:rPr>
                  <a:t> at the end of vector </a:t>
                </a:r>
                <a14:m>
                  <m:oMath xmlns:m="http://schemas.openxmlformats.org/officeDocument/2006/math">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𝐁</m:t>
                        </m:r>
                      </m:e>
                    </m:acc>
                  </m:oMath>
                </a14:m>
                <a:r>
                  <a:rPr lang="en-US" dirty="0">
                    <a:solidFill>
                      <a:srgbClr val="000066"/>
                    </a:solidFill>
                  </a:rPr>
                  <a:t>  and the end (arrowhead) of vector </a:t>
                </a:r>
                <a14:m>
                  <m:oMath xmlns:m="http://schemas.openxmlformats.org/officeDocument/2006/math">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𝐃</m:t>
                        </m:r>
                      </m:e>
                    </m:acc>
                  </m:oMath>
                </a14:m>
                <a:r>
                  <a:rPr lang="en-US" dirty="0">
                    <a:solidFill>
                      <a:srgbClr val="000066"/>
                    </a:solidFill>
                  </a:rPr>
                  <a:t> at the end of vector </a:t>
                </a:r>
                <a14:m>
                  <m:oMath xmlns:m="http://schemas.openxmlformats.org/officeDocument/2006/math">
                    <m:acc>
                      <m:accPr>
                        <m:chr m:val="⃗"/>
                        <m:ctrlPr>
                          <a:rPr lang="en-US" b="1" i="1" dirty="0">
                            <a:solidFill>
                              <a:srgbClr val="000066"/>
                            </a:solidFill>
                            <a:latin typeface="Cambria Math" panose="02040503050406030204" pitchFamily="18" charset="0"/>
                          </a:rPr>
                        </m:ctrlPr>
                      </m:accPr>
                      <m:e>
                        <m:r>
                          <a:rPr lang="en-US" b="1" dirty="0">
                            <a:solidFill>
                              <a:srgbClr val="000066"/>
                            </a:solidFill>
                            <a:latin typeface="Cambria Math"/>
                          </a:rPr>
                          <m:t>𝐀</m:t>
                        </m:r>
                      </m:e>
                    </m:acc>
                  </m:oMath>
                </a14:m>
                <a:r>
                  <a:rPr lang="en-US" dirty="0">
                    <a:solidFill>
                      <a:srgbClr val="000066"/>
                    </a:solidFill>
                  </a:rPr>
                  <a:t>. </a:t>
                </a:r>
              </a:p>
              <a:p>
                <a:r>
                  <a:rPr lang="en-US" dirty="0">
                    <a:solidFill>
                      <a:srgbClr val="000066"/>
                    </a:solidFill>
                  </a:rPr>
                  <a:t>	Length </a:t>
                </a:r>
                <a:r>
                  <a:rPr lang="en-US" i="1" dirty="0">
                    <a:solidFill>
                      <a:srgbClr val="000066"/>
                    </a:solidFill>
                  </a:rPr>
                  <a:t>D</a:t>
                </a:r>
                <a:r>
                  <a:rPr lang="en-US" dirty="0">
                    <a:solidFill>
                      <a:srgbClr val="000066"/>
                    </a:solidFill>
                  </a:rPr>
                  <a:t> of the difference vector is not equal to the 	difference of magnitudes of the two vectors.</a:t>
                </a:r>
              </a:p>
            </p:txBody>
          </p:sp>
        </mc:Choice>
        <mc:Fallback xmlns="">
          <p:sp>
            <p:nvSpPr>
              <p:cNvPr id="12" name="Rectangle 11">
                <a:extLst>
                  <a:ext uri="{FF2B5EF4-FFF2-40B4-BE49-F238E27FC236}">
                    <a16:creationId xmlns:a16="http://schemas.microsoft.com/office/drawing/2014/main" id="{9642E9A1-AEEB-9B46-801B-6866272DE579}"/>
                  </a:ext>
                </a:extLst>
              </p:cNvPr>
              <p:cNvSpPr>
                <a:spLocks noRot="1" noChangeAspect="1" noMove="1" noResize="1" noEditPoints="1" noAdjustHandles="1" noChangeArrowheads="1" noChangeShapeType="1" noTextEdit="1"/>
              </p:cNvSpPr>
              <p:nvPr/>
            </p:nvSpPr>
            <p:spPr>
              <a:xfrm>
                <a:off x="5353381" y="4886859"/>
                <a:ext cx="6246055" cy="1890389"/>
              </a:xfrm>
              <a:prstGeom prst="rect">
                <a:avLst/>
              </a:prstGeom>
              <a:blipFill>
                <a:blip r:embed="rId7"/>
                <a:stretch>
                  <a:fillRect l="-811" r="-203" b="-4000"/>
                </a:stretch>
              </a:blipFill>
            </p:spPr>
            <p:txBody>
              <a:bodyPr/>
              <a:lstStyle/>
              <a:p>
                <a:r>
                  <a:rPr lang="en-US">
                    <a:noFill/>
                  </a:rPr>
                  <a:t> </a:t>
                </a:r>
              </a:p>
            </p:txBody>
          </p:sp>
        </mc:Fallback>
      </mc:AlternateContent>
    </p:spTree>
    <p:extLst>
      <p:ext uri="{BB962C8B-B14F-4D97-AF65-F5344CB8AC3E}">
        <p14:creationId xmlns:p14="http://schemas.microsoft.com/office/powerpoint/2010/main" val="28445760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678257-E375-EC48-A62E-46CDE9975FB8}"/>
              </a:ext>
            </a:extLst>
          </p:cNvPr>
          <p:cNvSpPr/>
          <p:nvPr/>
        </p:nvSpPr>
        <p:spPr>
          <a:xfrm>
            <a:off x="2928938" y="89044"/>
            <a:ext cx="5943599" cy="523220"/>
          </a:xfrm>
          <a:prstGeom prst="rect">
            <a:avLst/>
          </a:prstGeom>
        </p:spPr>
        <p:txBody>
          <a:bodyPr wrap="square">
            <a:spAutoFit/>
          </a:bodyPr>
          <a:lstStyle/>
          <a:p>
            <a:r>
              <a:rPr lang="en-US" sz="2800" dirty="0">
                <a:solidFill>
                  <a:srgbClr val="C00000"/>
                </a:solidFill>
                <a:latin typeface="NewBaskervilleStd-Roman"/>
              </a:rPr>
              <a:t>Algebra of Vectors in Two Dimensions </a:t>
            </a:r>
          </a:p>
        </p:txBody>
      </p:sp>
      <p:pic>
        <p:nvPicPr>
          <p:cNvPr id="3" name="Picture 2" descr="L:\Clients\Connexions\01_CNX_ Admin\00_OSC_Project_Resources\14_OSC_Production\PowerPoints\OSX-Stacked-TM-CMYK-300dp1-2016.jpg">
            <a:extLst>
              <a:ext uri="{FF2B5EF4-FFF2-40B4-BE49-F238E27FC236}">
                <a16:creationId xmlns:a16="http://schemas.microsoft.com/office/drawing/2014/main" id="{D6BD4BC4-09CF-3246-AFAC-8D49DC4BEB2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6">
                <a:extLst>
                  <a:ext uri="{FF2B5EF4-FFF2-40B4-BE49-F238E27FC236}">
                    <a16:creationId xmlns:a16="http://schemas.microsoft.com/office/drawing/2014/main" id="{26FD1C1E-25F1-A349-BC4C-0A415AF69116}"/>
                  </a:ext>
                </a:extLst>
              </p:cNvPr>
              <p:cNvSpPr txBox="1">
                <a:spLocks/>
              </p:cNvSpPr>
              <p:nvPr/>
            </p:nvSpPr>
            <p:spPr>
              <a:xfrm>
                <a:off x="674014" y="1275186"/>
                <a:ext cx="9847682" cy="4138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For vectors </a:t>
                </a:r>
                <a14:m>
                  <m:oMath xmlns:m="http://schemas.openxmlformats.org/officeDocument/2006/math">
                    <m:acc>
                      <m:accPr>
                        <m:chr m:val="⃗"/>
                        <m:ctrlPr>
                          <a:rPr lang="en-US" sz="1800" i="1" smtClean="0">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𝑆</m:t>
                        </m:r>
                      </m:e>
                    </m:acc>
                    <m:r>
                      <a:rPr lang="en-US" sz="1800" b="0" i="1" smtClean="0">
                        <a:solidFill>
                          <a:srgbClr val="000066"/>
                        </a:solidFill>
                        <a:latin typeface="Cambria Math" panose="02040503050406030204" pitchFamily="18" charset="0"/>
                      </a:rPr>
                      <m:t> </m:t>
                    </m:r>
                  </m:oMath>
                </a14:m>
                <a:r>
                  <a:rPr lang="en-US" sz="1800" dirty="0">
                    <a:solidFill>
                      <a:srgbClr val="000066"/>
                    </a:solidFill>
                  </a:rPr>
                  <a:t>and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𝑉</m:t>
                        </m:r>
                      </m:e>
                    </m:acc>
                    <m:r>
                      <a:rPr lang="en-US" sz="1800" i="1">
                        <a:solidFill>
                          <a:srgbClr val="000066"/>
                        </a:solidFill>
                        <a:latin typeface="Cambria Math" panose="02040503050406030204" pitchFamily="18" charset="0"/>
                      </a:rPr>
                      <m:t> </m:t>
                    </m:r>
                  </m:oMath>
                </a14:m>
                <a:r>
                  <a:rPr lang="en-US" sz="1800" dirty="0">
                    <a:solidFill>
                      <a:srgbClr val="000066"/>
                    </a:solidFill>
                  </a:rPr>
                  <a:t>which option represents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i="1">
                            <a:solidFill>
                              <a:srgbClr val="000066"/>
                            </a:solidFill>
                            <a:latin typeface="Cambria Math" panose="02040503050406030204" pitchFamily="18" charset="0"/>
                          </a:rPr>
                          <m:t>𝑆</m:t>
                        </m:r>
                      </m:e>
                    </m:acc>
                  </m:oMath>
                </a14:m>
                <a:r>
                  <a:rPr lang="en-US" sz="1800" dirty="0">
                    <a:solidFill>
                      <a:srgbClr val="000066"/>
                    </a:solidFill>
                  </a:rPr>
                  <a:t> -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i="1">
                            <a:solidFill>
                              <a:srgbClr val="000066"/>
                            </a:solidFill>
                            <a:latin typeface="Cambria Math" panose="02040503050406030204" pitchFamily="18" charset="0"/>
                          </a:rPr>
                          <m:t>𝑉</m:t>
                        </m:r>
                      </m:e>
                    </m:acc>
                  </m:oMath>
                </a14:m>
                <a:endParaRPr lang="en-US" sz="1800" dirty="0">
                  <a:solidFill>
                    <a:srgbClr val="000066"/>
                  </a:solidFill>
                </a:endParaRPr>
              </a:p>
            </p:txBody>
          </p:sp>
        </mc:Choice>
        <mc:Fallback xmlns="">
          <p:sp>
            <p:nvSpPr>
              <p:cNvPr id="4" name="Text Placeholder 6">
                <a:extLst>
                  <a:ext uri="{FF2B5EF4-FFF2-40B4-BE49-F238E27FC236}">
                    <a16:creationId xmlns:a16="http://schemas.microsoft.com/office/drawing/2014/main" id="{26FD1C1E-25F1-A349-BC4C-0A415AF69116}"/>
                  </a:ext>
                </a:extLst>
              </p:cNvPr>
              <p:cNvSpPr txBox="1">
                <a:spLocks noRot="1" noChangeAspect="1" noMove="1" noResize="1" noEditPoints="1" noAdjustHandles="1" noChangeArrowheads="1" noChangeShapeType="1" noTextEdit="1"/>
              </p:cNvSpPr>
              <p:nvPr/>
            </p:nvSpPr>
            <p:spPr>
              <a:xfrm>
                <a:off x="674014" y="1275186"/>
                <a:ext cx="9847682" cy="413876"/>
              </a:xfrm>
              <a:prstGeom prst="rect">
                <a:avLst/>
              </a:prstGeom>
              <a:blipFill>
                <a:blip r:embed="rId3"/>
                <a:stretch>
                  <a:fillRect l="-644" t="-21212" b="-1515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000AB2E-94AA-104E-AB72-CFE092F45733}"/>
              </a:ext>
            </a:extLst>
          </p:cNvPr>
          <p:cNvSpPr/>
          <p:nvPr/>
        </p:nvSpPr>
        <p:spPr>
          <a:xfrm>
            <a:off x="2596896" y="4516980"/>
            <a:ext cx="295274" cy="369332"/>
          </a:xfrm>
          <a:prstGeom prst="rect">
            <a:avLst/>
          </a:prstGeom>
        </p:spPr>
        <p:txBody>
          <a:bodyPr wrap="none">
            <a:spAutoFit/>
          </a:bodyPr>
          <a:lstStyle/>
          <a:p>
            <a:r>
              <a:rPr lang="en-US" dirty="0">
                <a:solidFill>
                  <a:srgbClr val="000066"/>
                </a:solidFill>
              </a:rPr>
              <a:t>a</a:t>
            </a:r>
            <a:endParaRPr lang="en-US" dirty="0"/>
          </a:p>
        </p:txBody>
      </p:sp>
      <p:sp>
        <p:nvSpPr>
          <p:cNvPr id="16" name="Rectangle 15">
            <a:extLst>
              <a:ext uri="{FF2B5EF4-FFF2-40B4-BE49-F238E27FC236}">
                <a16:creationId xmlns:a16="http://schemas.microsoft.com/office/drawing/2014/main" id="{ECA6339A-6474-C740-9368-D7142846F9D0}"/>
              </a:ext>
            </a:extLst>
          </p:cNvPr>
          <p:cNvSpPr/>
          <p:nvPr/>
        </p:nvSpPr>
        <p:spPr>
          <a:xfrm>
            <a:off x="4787900" y="4516980"/>
            <a:ext cx="306494" cy="369332"/>
          </a:xfrm>
          <a:prstGeom prst="rect">
            <a:avLst/>
          </a:prstGeom>
        </p:spPr>
        <p:txBody>
          <a:bodyPr wrap="none">
            <a:spAutoFit/>
          </a:bodyPr>
          <a:lstStyle/>
          <a:p>
            <a:r>
              <a:rPr lang="en-US" dirty="0">
                <a:solidFill>
                  <a:srgbClr val="000066"/>
                </a:solidFill>
              </a:rPr>
              <a:t>b</a:t>
            </a:r>
            <a:endParaRPr lang="en-US" dirty="0"/>
          </a:p>
        </p:txBody>
      </p:sp>
      <p:sp>
        <p:nvSpPr>
          <p:cNvPr id="17" name="Rectangle 16">
            <a:extLst>
              <a:ext uri="{FF2B5EF4-FFF2-40B4-BE49-F238E27FC236}">
                <a16:creationId xmlns:a16="http://schemas.microsoft.com/office/drawing/2014/main" id="{3A03DA0A-0B63-9C4D-AEA3-04C644CD24A5}"/>
              </a:ext>
            </a:extLst>
          </p:cNvPr>
          <p:cNvSpPr/>
          <p:nvPr/>
        </p:nvSpPr>
        <p:spPr>
          <a:xfrm>
            <a:off x="7108828" y="4516980"/>
            <a:ext cx="282450" cy="369332"/>
          </a:xfrm>
          <a:prstGeom prst="rect">
            <a:avLst/>
          </a:prstGeom>
        </p:spPr>
        <p:txBody>
          <a:bodyPr wrap="none">
            <a:spAutoFit/>
          </a:bodyPr>
          <a:lstStyle/>
          <a:p>
            <a:r>
              <a:rPr lang="en-US" dirty="0">
                <a:solidFill>
                  <a:srgbClr val="000066"/>
                </a:solidFill>
              </a:rPr>
              <a:t>c</a:t>
            </a:r>
            <a:endParaRPr lang="en-US" dirty="0"/>
          </a:p>
        </p:txBody>
      </p:sp>
      <p:sp>
        <p:nvSpPr>
          <p:cNvPr id="18" name="Rectangle 17">
            <a:extLst>
              <a:ext uri="{FF2B5EF4-FFF2-40B4-BE49-F238E27FC236}">
                <a16:creationId xmlns:a16="http://schemas.microsoft.com/office/drawing/2014/main" id="{F84C95F8-6B3C-DF47-A5EE-7C3D05217AAB}"/>
              </a:ext>
            </a:extLst>
          </p:cNvPr>
          <p:cNvSpPr/>
          <p:nvPr/>
        </p:nvSpPr>
        <p:spPr>
          <a:xfrm>
            <a:off x="9288610" y="4516980"/>
            <a:ext cx="306494" cy="369332"/>
          </a:xfrm>
          <a:prstGeom prst="rect">
            <a:avLst/>
          </a:prstGeom>
        </p:spPr>
        <p:txBody>
          <a:bodyPr wrap="none">
            <a:spAutoFit/>
          </a:bodyPr>
          <a:lstStyle/>
          <a:p>
            <a:r>
              <a:rPr lang="en-US" dirty="0">
                <a:solidFill>
                  <a:srgbClr val="000066"/>
                </a:solidFill>
              </a:rPr>
              <a:t>d</a:t>
            </a:r>
            <a:endParaRPr lang="en-US" dirty="0"/>
          </a:p>
        </p:txBody>
      </p:sp>
      <p:pic>
        <p:nvPicPr>
          <p:cNvPr id="20" name="Picture 19" descr="A picture containing line chart&#10;&#10;Description automatically generated">
            <a:extLst>
              <a:ext uri="{FF2B5EF4-FFF2-40B4-BE49-F238E27FC236}">
                <a16:creationId xmlns:a16="http://schemas.microsoft.com/office/drawing/2014/main" id="{399779CD-C0D8-574A-B9C6-3A67D2CD1A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6240" y="893220"/>
            <a:ext cx="2235200" cy="1447800"/>
          </a:xfrm>
          <a:prstGeom prst="rect">
            <a:avLst/>
          </a:prstGeom>
        </p:spPr>
      </p:pic>
      <p:pic>
        <p:nvPicPr>
          <p:cNvPr id="22" name="Picture 21" descr="Polygon&#10;&#10;Description automatically generated with medium confidence">
            <a:extLst>
              <a:ext uri="{FF2B5EF4-FFF2-40B4-BE49-F238E27FC236}">
                <a16:creationId xmlns:a16="http://schemas.microsoft.com/office/drawing/2014/main" id="{DF47E254-B32C-A94D-825E-9923D538A5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6933" y="2666850"/>
            <a:ext cx="2235200" cy="1803400"/>
          </a:xfrm>
          <a:prstGeom prst="rect">
            <a:avLst/>
          </a:prstGeom>
        </p:spPr>
      </p:pic>
      <p:pic>
        <p:nvPicPr>
          <p:cNvPr id="24" name="Picture 23" descr="A picture containing text, outdoor&#10;&#10;Description automatically generated">
            <a:extLst>
              <a:ext uri="{FF2B5EF4-FFF2-40B4-BE49-F238E27FC236}">
                <a16:creationId xmlns:a16="http://schemas.microsoft.com/office/drawing/2014/main" id="{14D278C1-CD89-3B48-ADE8-F9AEE0CE7F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9897" y="2704950"/>
            <a:ext cx="2222500" cy="1765300"/>
          </a:xfrm>
          <a:prstGeom prst="rect">
            <a:avLst/>
          </a:prstGeom>
        </p:spPr>
      </p:pic>
      <p:pic>
        <p:nvPicPr>
          <p:cNvPr id="26" name="Picture 25" descr="Shape&#10;&#10;Description automatically generated with medium confidence">
            <a:extLst>
              <a:ext uri="{FF2B5EF4-FFF2-40B4-BE49-F238E27FC236}">
                <a16:creationId xmlns:a16="http://schemas.microsoft.com/office/drawing/2014/main" id="{03776E01-606B-1E47-B2F1-D98571E770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8378" y="2679550"/>
            <a:ext cx="2120900" cy="1790700"/>
          </a:xfrm>
          <a:prstGeom prst="rect">
            <a:avLst/>
          </a:prstGeom>
        </p:spPr>
      </p:pic>
      <p:pic>
        <p:nvPicPr>
          <p:cNvPr id="28" name="Picture 27" descr="Line chart&#10;&#10;Description automatically generated with medium confidence">
            <a:extLst>
              <a:ext uri="{FF2B5EF4-FFF2-40B4-BE49-F238E27FC236}">
                <a16:creationId xmlns:a16="http://schemas.microsoft.com/office/drawing/2014/main" id="{961AD771-14D6-604C-A74B-50565B5908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9278" y="2685900"/>
            <a:ext cx="2095500" cy="1778000"/>
          </a:xfrm>
          <a:prstGeom prst="rect">
            <a:avLst/>
          </a:prstGeom>
        </p:spPr>
      </p:pic>
    </p:spTree>
    <p:extLst>
      <p:ext uri="{BB962C8B-B14F-4D97-AF65-F5344CB8AC3E}">
        <p14:creationId xmlns:p14="http://schemas.microsoft.com/office/powerpoint/2010/main" val="40065895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678257-E375-EC48-A62E-46CDE9975FB8}"/>
              </a:ext>
            </a:extLst>
          </p:cNvPr>
          <p:cNvSpPr/>
          <p:nvPr/>
        </p:nvSpPr>
        <p:spPr>
          <a:xfrm>
            <a:off x="2928938" y="89044"/>
            <a:ext cx="5943599" cy="523220"/>
          </a:xfrm>
          <a:prstGeom prst="rect">
            <a:avLst/>
          </a:prstGeom>
        </p:spPr>
        <p:txBody>
          <a:bodyPr wrap="square">
            <a:spAutoFit/>
          </a:bodyPr>
          <a:lstStyle/>
          <a:p>
            <a:r>
              <a:rPr lang="en-US" sz="2800" dirty="0">
                <a:solidFill>
                  <a:srgbClr val="C00000"/>
                </a:solidFill>
                <a:latin typeface="NewBaskervilleStd-Roman"/>
              </a:rPr>
              <a:t>Algebra of Vectors in Two Dimensions </a:t>
            </a:r>
          </a:p>
        </p:txBody>
      </p:sp>
      <p:pic>
        <p:nvPicPr>
          <p:cNvPr id="3" name="Picture 2" descr="L:\Clients\Connexions\01_CNX_ Admin\00_OSC_Project_Resources\14_OSC_Production\PowerPoints\OSX-Stacked-TM-CMYK-300dp1-2016.jpg">
            <a:extLst>
              <a:ext uri="{FF2B5EF4-FFF2-40B4-BE49-F238E27FC236}">
                <a16:creationId xmlns:a16="http://schemas.microsoft.com/office/drawing/2014/main" id="{D6BD4BC4-09CF-3246-AFAC-8D49DC4BEB2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6">
                <a:extLst>
                  <a:ext uri="{FF2B5EF4-FFF2-40B4-BE49-F238E27FC236}">
                    <a16:creationId xmlns:a16="http://schemas.microsoft.com/office/drawing/2014/main" id="{26FD1C1E-25F1-A349-BC4C-0A415AF69116}"/>
                  </a:ext>
                </a:extLst>
              </p:cNvPr>
              <p:cNvSpPr txBox="1">
                <a:spLocks/>
              </p:cNvSpPr>
              <p:nvPr/>
            </p:nvSpPr>
            <p:spPr>
              <a:xfrm>
                <a:off x="674014" y="1275186"/>
                <a:ext cx="9847682" cy="4138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For vectors </a:t>
                </a:r>
                <a14:m>
                  <m:oMath xmlns:m="http://schemas.openxmlformats.org/officeDocument/2006/math">
                    <m:acc>
                      <m:accPr>
                        <m:chr m:val="⃗"/>
                        <m:ctrlPr>
                          <a:rPr lang="en-US" sz="1800" i="1" smtClean="0">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𝑆</m:t>
                        </m:r>
                      </m:e>
                    </m:acc>
                    <m:r>
                      <a:rPr lang="en-US" sz="1800" b="0" i="1" smtClean="0">
                        <a:solidFill>
                          <a:srgbClr val="000066"/>
                        </a:solidFill>
                        <a:latin typeface="Cambria Math" panose="02040503050406030204" pitchFamily="18" charset="0"/>
                      </a:rPr>
                      <m:t> </m:t>
                    </m:r>
                  </m:oMath>
                </a14:m>
                <a:r>
                  <a:rPr lang="en-US" sz="1800" dirty="0">
                    <a:solidFill>
                      <a:srgbClr val="000066"/>
                    </a:solidFill>
                  </a:rPr>
                  <a:t>and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𝑉</m:t>
                        </m:r>
                      </m:e>
                    </m:acc>
                    <m:r>
                      <a:rPr lang="en-US" sz="1800" i="1">
                        <a:solidFill>
                          <a:srgbClr val="000066"/>
                        </a:solidFill>
                        <a:latin typeface="Cambria Math" panose="02040503050406030204" pitchFamily="18" charset="0"/>
                      </a:rPr>
                      <m:t> </m:t>
                    </m:r>
                  </m:oMath>
                </a14:m>
                <a:r>
                  <a:rPr lang="en-US" sz="1800" dirty="0">
                    <a:solidFill>
                      <a:srgbClr val="000066"/>
                    </a:solidFill>
                  </a:rPr>
                  <a:t>what would be the resultant vector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i="1">
                            <a:solidFill>
                              <a:srgbClr val="000066"/>
                            </a:solidFill>
                            <a:latin typeface="Cambria Math" panose="02040503050406030204" pitchFamily="18" charset="0"/>
                          </a:rPr>
                          <m:t>𝑆</m:t>
                        </m:r>
                      </m:e>
                    </m:acc>
                  </m:oMath>
                </a14:m>
                <a:r>
                  <a:rPr lang="en-US" sz="1800" dirty="0">
                    <a:solidFill>
                      <a:srgbClr val="000066"/>
                    </a:solidFill>
                  </a:rPr>
                  <a:t>+</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i="1">
                            <a:solidFill>
                              <a:srgbClr val="000066"/>
                            </a:solidFill>
                            <a:latin typeface="Cambria Math" panose="02040503050406030204" pitchFamily="18" charset="0"/>
                          </a:rPr>
                          <m:t>𝑉</m:t>
                        </m:r>
                      </m:e>
                    </m:acc>
                  </m:oMath>
                </a14:m>
                <a:endParaRPr lang="en-US" sz="1800" dirty="0">
                  <a:solidFill>
                    <a:srgbClr val="000066"/>
                  </a:solidFill>
                </a:endParaRPr>
              </a:p>
            </p:txBody>
          </p:sp>
        </mc:Choice>
        <mc:Fallback xmlns="">
          <p:sp>
            <p:nvSpPr>
              <p:cNvPr id="4" name="Text Placeholder 6">
                <a:extLst>
                  <a:ext uri="{FF2B5EF4-FFF2-40B4-BE49-F238E27FC236}">
                    <a16:creationId xmlns:a16="http://schemas.microsoft.com/office/drawing/2014/main" id="{26FD1C1E-25F1-A349-BC4C-0A415AF69116}"/>
                  </a:ext>
                </a:extLst>
              </p:cNvPr>
              <p:cNvSpPr txBox="1">
                <a:spLocks noRot="1" noChangeAspect="1" noMove="1" noResize="1" noEditPoints="1" noAdjustHandles="1" noChangeArrowheads="1" noChangeShapeType="1" noTextEdit="1"/>
              </p:cNvSpPr>
              <p:nvPr/>
            </p:nvSpPr>
            <p:spPr>
              <a:xfrm>
                <a:off x="674014" y="1275186"/>
                <a:ext cx="9847682" cy="413876"/>
              </a:xfrm>
              <a:prstGeom prst="rect">
                <a:avLst/>
              </a:prstGeom>
              <a:blipFill>
                <a:blip r:embed="rId3"/>
                <a:stretch>
                  <a:fillRect l="-644" t="-21212" b="-1515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000AB2E-94AA-104E-AB72-CFE092F45733}"/>
              </a:ext>
            </a:extLst>
          </p:cNvPr>
          <p:cNvSpPr/>
          <p:nvPr/>
        </p:nvSpPr>
        <p:spPr>
          <a:xfrm>
            <a:off x="2596896" y="4516980"/>
            <a:ext cx="295274" cy="369332"/>
          </a:xfrm>
          <a:prstGeom prst="rect">
            <a:avLst/>
          </a:prstGeom>
        </p:spPr>
        <p:txBody>
          <a:bodyPr wrap="none">
            <a:spAutoFit/>
          </a:bodyPr>
          <a:lstStyle/>
          <a:p>
            <a:r>
              <a:rPr lang="en-US" dirty="0">
                <a:solidFill>
                  <a:srgbClr val="000066"/>
                </a:solidFill>
              </a:rPr>
              <a:t>a</a:t>
            </a:r>
            <a:endParaRPr lang="en-US" dirty="0"/>
          </a:p>
        </p:txBody>
      </p:sp>
      <p:sp>
        <p:nvSpPr>
          <p:cNvPr id="16" name="Rectangle 15">
            <a:extLst>
              <a:ext uri="{FF2B5EF4-FFF2-40B4-BE49-F238E27FC236}">
                <a16:creationId xmlns:a16="http://schemas.microsoft.com/office/drawing/2014/main" id="{ECA6339A-6474-C740-9368-D7142846F9D0}"/>
              </a:ext>
            </a:extLst>
          </p:cNvPr>
          <p:cNvSpPr/>
          <p:nvPr/>
        </p:nvSpPr>
        <p:spPr>
          <a:xfrm>
            <a:off x="4787900" y="4516980"/>
            <a:ext cx="306494" cy="369332"/>
          </a:xfrm>
          <a:prstGeom prst="rect">
            <a:avLst/>
          </a:prstGeom>
        </p:spPr>
        <p:txBody>
          <a:bodyPr wrap="none">
            <a:spAutoFit/>
          </a:bodyPr>
          <a:lstStyle/>
          <a:p>
            <a:r>
              <a:rPr lang="en-US" dirty="0">
                <a:solidFill>
                  <a:srgbClr val="000066"/>
                </a:solidFill>
              </a:rPr>
              <a:t>b</a:t>
            </a:r>
            <a:endParaRPr lang="en-US" dirty="0"/>
          </a:p>
        </p:txBody>
      </p:sp>
      <p:sp>
        <p:nvSpPr>
          <p:cNvPr id="17" name="Rectangle 16">
            <a:extLst>
              <a:ext uri="{FF2B5EF4-FFF2-40B4-BE49-F238E27FC236}">
                <a16:creationId xmlns:a16="http://schemas.microsoft.com/office/drawing/2014/main" id="{3A03DA0A-0B63-9C4D-AEA3-04C644CD24A5}"/>
              </a:ext>
            </a:extLst>
          </p:cNvPr>
          <p:cNvSpPr/>
          <p:nvPr/>
        </p:nvSpPr>
        <p:spPr>
          <a:xfrm>
            <a:off x="7108828" y="4516980"/>
            <a:ext cx="282450" cy="369332"/>
          </a:xfrm>
          <a:prstGeom prst="rect">
            <a:avLst/>
          </a:prstGeom>
        </p:spPr>
        <p:txBody>
          <a:bodyPr wrap="none">
            <a:spAutoFit/>
          </a:bodyPr>
          <a:lstStyle/>
          <a:p>
            <a:r>
              <a:rPr lang="en-US" dirty="0">
                <a:solidFill>
                  <a:srgbClr val="000066"/>
                </a:solidFill>
              </a:rPr>
              <a:t>c</a:t>
            </a:r>
            <a:endParaRPr lang="en-US" dirty="0"/>
          </a:p>
        </p:txBody>
      </p:sp>
      <p:sp>
        <p:nvSpPr>
          <p:cNvPr id="18" name="Rectangle 17">
            <a:extLst>
              <a:ext uri="{FF2B5EF4-FFF2-40B4-BE49-F238E27FC236}">
                <a16:creationId xmlns:a16="http://schemas.microsoft.com/office/drawing/2014/main" id="{F84C95F8-6B3C-DF47-A5EE-7C3D05217AAB}"/>
              </a:ext>
            </a:extLst>
          </p:cNvPr>
          <p:cNvSpPr/>
          <p:nvPr/>
        </p:nvSpPr>
        <p:spPr>
          <a:xfrm>
            <a:off x="9288610" y="4516980"/>
            <a:ext cx="306494" cy="369332"/>
          </a:xfrm>
          <a:prstGeom prst="rect">
            <a:avLst/>
          </a:prstGeom>
        </p:spPr>
        <p:txBody>
          <a:bodyPr wrap="none">
            <a:spAutoFit/>
          </a:bodyPr>
          <a:lstStyle/>
          <a:p>
            <a:r>
              <a:rPr lang="en-US" dirty="0">
                <a:solidFill>
                  <a:srgbClr val="000066"/>
                </a:solidFill>
              </a:rPr>
              <a:t>d</a:t>
            </a:r>
            <a:endParaRPr lang="en-US" dirty="0"/>
          </a:p>
        </p:txBody>
      </p:sp>
      <p:pic>
        <p:nvPicPr>
          <p:cNvPr id="20" name="Picture 19" descr="A picture containing line chart&#10;&#10;Description automatically generated">
            <a:extLst>
              <a:ext uri="{FF2B5EF4-FFF2-40B4-BE49-F238E27FC236}">
                <a16:creationId xmlns:a16="http://schemas.microsoft.com/office/drawing/2014/main" id="{399779CD-C0D8-574A-B9C6-3A67D2CD1A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6240" y="893220"/>
            <a:ext cx="2235200" cy="1447800"/>
          </a:xfrm>
          <a:prstGeom prst="rect">
            <a:avLst/>
          </a:prstGeom>
        </p:spPr>
      </p:pic>
      <p:pic>
        <p:nvPicPr>
          <p:cNvPr id="22" name="Picture 21" descr="Polygon&#10;&#10;Description automatically generated with medium confidence">
            <a:extLst>
              <a:ext uri="{FF2B5EF4-FFF2-40B4-BE49-F238E27FC236}">
                <a16:creationId xmlns:a16="http://schemas.microsoft.com/office/drawing/2014/main" id="{DF47E254-B32C-A94D-825E-9923D538A5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6933" y="2666850"/>
            <a:ext cx="2235200" cy="1803400"/>
          </a:xfrm>
          <a:prstGeom prst="rect">
            <a:avLst/>
          </a:prstGeom>
        </p:spPr>
      </p:pic>
      <p:pic>
        <p:nvPicPr>
          <p:cNvPr id="24" name="Picture 23" descr="A picture containing text, outdoor&#10;&#10;Description automatically generated">
            <a:extLst>
              <a:ext uri="{FF2B5EF4-FFF2-40B4-BE49-F238E27FC236}">
                <a16:creationId xmlns:a16="http://schemas.microsoft.com/office/drawing/2014/main" id="{14D278C1-CD89-3B48-ADE8-F9AEE0CE7F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9897" y="2704950"/>
            <a:ext cx="2222500" cy="1765300"/>
          </a:xfrm>
          <a:prstGeom prst="rect">
            <a:avLst/>
          </a:prstGeom>
        </p:spPr>
      </p:pic>
      <p:pic>
        <p:nvPicPr>
          <p:cNvPr id="26" name="Picture 25" descr="Shape&#10;&#10;Description automatically generated with medium confidence">
            <a:extLst>
              <a:ext uri="{FF2B5EF4-FFF2-40B4-BE49-F238E27FC236}">
                <a16:creationId xmlns:a16="http://schemas.microsoft.com/office/drawing/2014/main" id="{03776E01-606B-1E47-B2F1-D98571E770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8378" y="2679550"/>
            <a:ext cx="2120900" cy="1790700"/>
          </a:xfrm>
          <a:prstGeom prst="rect">
            <a:avLst/>
          </a:prstGeom>
        </p:spPr>
      </p:pic>
      <p:pic>
        <p:nvPicPr>
          <p:cNvPr id="28" name="Picture 27" descr="Line chart&#10;&#10;Description automatically generated with medium confidence">
            <a:extLst>
              <a:ext uri="{FF2B5EF4-FFF2-40B4-BE49-F238E27FC236}">
                <a16:creationId xmlns:a16="http://schemas.microsoft.com/office/drawing/2014/main" id="{961AD771-14D6-604C-A74B-50565B5908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9278" y="2685900"/>
            <a:ext cx="2095500" cy="1778000"/>
          </a:xfrm>
          <a:prstGeom prst="rect">
            <a:avLst/>
          </a:prstGeom>
        </p:spPr>
      </p:pic>
    </p:spTree>
    <p:extLst>
      <p:ext uri="{BB962C8B-B14F-4D97-AF65-F5344CB8AC3E}">
        <p14:creationId xmlns:p14="http://schemas.microsoft.com/office/powerpoint/2010/main" val="2075928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678257-E375-EC48-A62E-46CDE9975FB8}"/>
              </a:ext>
            </a:extLst>
          </p:cNvPr>
          <p:cNvSpPr/>
          <p:nvPr/>
        </p:nvSpPr>
        <p:spPr>
          <a:xfrm>
            <a:off x="2928938" y="89044"/>
            <a:ext cx="5943599" cy="523220"/>
          </a:xfrm>
          <a:prstGeom prst="rect">
            <a:avLst/>
          </a:prstGeom>
        </p:spPr>
        <p:txBody>
          <a:bodyPr wrap="square">
            <a:spAutoFit/>
          </a:bodyPr>
          <a:lstStyle/>
          <a:p>
            <a:r>
              <a:rPr lang="en-US" sz="2800" dirty="0">
                <a:solidFill>
                  <a:srgbClr val="C00000"/>
                </a:solidFill>
                <a:latin typeface="NewBaskervilleStd-Roman"/>
              </a:rPr>
              <a:t>Algebra of Vectors in Two Dimensions </a:t>
            </a:r>
          </a:p>
        </p:txBody>
      </p:sp>
      <p:pic>
        <p:nvPicPr>
          <p:cNvPr id="3" name="Picture 2" descr="L:\Clients\Connexions\01_CNX_ Admin\00_OSC_Project_Resources\14_OSC_Production\PowerPoints\OSX-Stacked-TM-CMYK-300dp1-2016.jpg">
            <a:extLst>
              <a:ext uri="{FF2B5EF4-FFF2-40B4-BE49-F238E27FC236}">
                <a16:creationId xmlns:a16="http://schemas.microsoft.com/office/drawing/2014/main" id="{D6BD4BC4-09CF-3246-AFAC-8D49DC4BEB2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6">
                <a:extLst>
                  <a:ext uri="{FF2B5EF4-FFF2-40B4-BE49-F238E27FC236}">
                    <a16:creationId xmlns:a16="http://schemas.microsoft.com/office/drawing/2014/main" id="{26FD1C1E-25F1-A349-BC4C-0A415AF69116}"/>
                  </a:ext>
                </a:extLst>
              </p:cNvPr>
              <p:cNvSpPr txBox="1">
                <a:spLocks/>
              </p:cNvSpPr>
              <p:nvPr/>
            </p:nvSpPr>
            <p:spPr>
              <a:xfrm>
                <a:off x="674014" y="1275186"/>
                <a:ext cx="9847682" cy="4138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For vectors </a:t>
                </a:r>
                <a14:m>
                  <m:oMath xmlns:m="http://schemas.openxmlformats.org/officeDocument/2006/math">
                    <m:acc>
                      <m:accPr>
                        <m:chr m:val="⃗"/>
                        <m:ctrlPr>
                          <a:rPr lang="en-US" sz="1800" i="1" smtClean="0">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𝑆</m:t>
                        </m:r>
                      </m:e>
                    </m:acc>
                    <m:r>
                      <a:rPr lang="en-US" sz="1800" b="0" i="1" smtClean="0">
                        <a:solidFill>
                          <a:srgbClr val="000066"/>
                        </a:solidFill>
                        <a:latin typeface="Cambria Math" panose="02040503050406030204" pitchFamily="18" charset="0"/>
                      </a:rPr>
                      <m:t> </m:t>
                    </m:r>
                  </m:oMath>
                </a14:m>
                <a:r>
                  <a:rPr lang="en-US" sz="1800" dirty="0">
                    <a:solidFill>
                      <a:srgbClr val="000066"/>
                    </a:solidFill>
                  </a:rPr>
                  <a:t>and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𝑉</m:t>
                        </m:r>
                      </m:e>
                    </m:acc>
                    <m:r>
                      <a:rPr lang="en-US" sz="1800" i="1">
                        <a:solidFill>
                          <a:srgbClr val="000066"/>
                        </a:solidFill>
                        <a:latin typeface="Cambria Math" panose="02040503050406030204" pitchFamily="18" charset="0"/>
                      </a:rPr>
                      <m:t> </m:t>
                    </m:r>
                  </m:oMath>
                </a14:m>
                <a:r>
                  <a:rPr lang="en-US" sz="1800" dirty="0">
                    <a:solidFill>
                      <a:srgbClr val="000066"/>
                    </a:solidFill>
                  </a:rPr>
                  <a:t>which option represents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𝑉</m:t>
                        </m:r>
                      </m:e>
                    </m:acc>
                  </m:oMath>
                </a14:m>
                <a:r>
                  <a:rPr lang="en-US" sz="1800" dirty="0">
                    <a:solidFill>
                      <a:srgbClr val="000066"/>
                    </a:solidFill>
                  </a:rPr>
                  <a:t> -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b="0" i="1" smtClean="0">
                            <a:solidFill>
                              <a:srgbClr val="000066"/>
                            </a:solidFill>
                            <a:latin typeface="Cambria Math" panose="02040503050406030204" pitchFamily="18" charset="0"/>
                          </a:rPr>
                          <m:t>𝑆</m:t>
                        </m:r>
                      </m:e>
                    </m:acc>
                  </m:oMath>
                </a14:m>
                <a:endParaRPr lang="en-US" sz="1800" dirty="0">
                  <a:solidFill>
                    <a:srgbClr val="000066"/>
                  </a:solidFill>
                </a:endParaRPr>
              </a:p>
            </p:txBody>
          </p:sp>
        </mc:Choice>
        <mc:Fallback xmlns="">
          <p:sp>
            <p:nvSpPr>
              <p:cNvPr id="4" name="Text Placeholder 6">
                <a:extLst>
                  <a:ext uri="{FF2B5EF4-FFF2-40B4-BE49-F238E27FC236}">
                    <a16:creationId xmlns:a16="http://schemas.microsoft.com/office/drawing/2014/main" id="{26FD1C1E-25F1-A349-BC4C-0A415AF69116}"/>
                  </a:ext>
                </a:extLst>
              </p:cNvPr>
              <p:cNvSpPr txBox="1">
                <a:spLocks noRot="1" noChangeAspect="1" noMove="1" noResize="1" noEditPoints="1" noAdjustHandles="1" noChangeArrowheads="1" noChangeShapeType="1" noTextEdit="1"/>
              </p:cNvSpPr>
              <p:nvPr/>
            </p:nvSpPr>
            <p:spPr>
              <a:xfrm>
                <a:off x="674014" y="1275186"/>
                <a:ext cx="9847682" cy="413876"/>
              </a:xfrm>
              <a:prstGeom prst="rect">
                <a:avLst/>
              </a:prstGeom>
              <a:blipFill>
                <a:blip r:embed="rId3"/>
                <a:stretch>
                  <a:fillRect l="-644" t="-21212" b="-15152"/>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000AB2E-94AA-104E-AB72-CFE092F45733}"/>
              </a:ext>
            </a:extLst>
          </p:cNvPr>
          <p:cNvSpPr/>
          <p:nvPr/>
        </p:nvSpPr>
        <p:spPr>
          <a:xfrm>
            <a:off x="2596896" y="4516980"/>
            <a:ext cx="295274" cy="369332"/>
          </a:xfrm>
          <a:prstGeom prst="rect">
            <a:avLst/>
          </a:prstGeom>
        </p:spPr>
        <p:txBody>
          <a:bodyPr wrap="none">
            <a:spAutoFit/>
          </a:bodyPr>
          <a:lstStyle/>
          <a:p>
            <a:r>
              <a:rPr lang="en-US" dirty="0">
                <a:solidFill>
                  <a:srgbClr val="000066"/>
                </a:solidFill>
              </a:rPr>
              <a:t>a</a:t>
            </a:r>
            <a:endParaRPr lang="en-US" dirty="0"/>
          </a:p>
        </p:txBody>
      </p:sp>
      <p:sp>
        <p:nvSpPr>
          <p:cNvPr id="16" name="Rectangle 15">
            <a:extLst>
              <a:ext uri="{FF2B5EF4-FFF2-40B4-BE49-F238E27FC236}">
                <a16:creationId xmlns:a16="http://schemas.microsoft.com/office/drawing/2014/main" id="{ECA6339A-6474-C740-9368-D7142846F9D0}"/>
              </a:ext>
            </a:extLst>
          </p:cNvPr>
          <p:cNvSpPr/>
          <p:nvPr/>
        </p:nvSpPr>
        <p:spPr>
          <a:xfrm>
            <a:off x="4787900" y="4516980"/>
            <a:ext cx="306494" cy="369332"/>
          </a:xfrm>
          <a:prstGeom prst="rect">
            <a:avLst/>
          </a:prstGeom>
        </p:spPr>
        <p:txBody>
          <a:bodyPr wrap="none">
            <a:spAutoFit/>
          </a:bodyPr>
          <a:lstStyle/>
          <a:p>
            <a:r>
              <a:rPr lang="en-US" dirty="0">
                <a:solidFill>
                  <a:srgbClr val="000066"/>
                </a:solidFill>
              </a:rPr>
              <a:t>b</a:t>
            </a:r>
            <a:endParaRPr lang="en-US" dirty="0"/>
          </a:p>
        </p:txBody>
      </p:sp>
      <p:sp>
        <p:nvSpPr>
          <p:cNvPr id="17" name="Rectangle 16">
            <a:extLst>
              <a:ext uri="{FF2B5EF4-FFF2-40B4-BE49-F238E27FC236}">
                <a16:creationId xmlns:a16="http://schemas.microsoft.com/office/drawing/2014/main" id="{3A03DA0A-0B63-9C4D-AEA3-04C644CD24A5}"/>
              </a:ext>
            </a:extLst>
          </p:cNvPr>
          <p:cNvSpPr/>
          <p:nvPr/>
        </p:nvSpPr>
        <p:spPr>
          <a:xfrm>
            <a:off x="7108828" y="4516980"/>
            <a:ext cx="282450" cy="369332"/>
          </a:xfrm>
          <a:prstGeom prst="rect">
            <a:avLst/>
          </a:prstGeom>
        </p:spPr>
        <p:txBody>
          <a:bodyPr wrap="none">
            <a:spAutoFit/>
          </a:bodyPr>
          <a:lstStyle/>
          <a:p>
            <a:r>
              <a:rPr lang="en-US" dirty="0">
                <a:solidFill>
                  <a:srgbClr val="000066"/>
                </a:solidFill>
              </a:rPr>
              <a:t>c</a:t>
            </a:r>
            <a:endParaRPr lang="en-US" dirty="0"/>
          </a:p>
        </p:txBody>
      </p:sp>
      <p:sp>
        <p:nvSpPr>
          <p:cNvPr id="18" name="Rectangle 17">
            <a:extLst>
              <a:ext uri="{FF2B5EF4-FFF2-40B4-BE49-F238E27FC236}">
                <a16:creationId xmlns:a16="http://schemas.microsoft.com/office/drawing/2014/main" id="{F84C95F8-6B3C-DF47-A5EE-7C3D05217AAB}"/>
              </a:ext>
            </a:extLst>
          </p:cNvPr>
          <p:cNvSpPr/>
          <p:nvPr/>
        </p:nvSpPr>
        <p:spPr>
          <a:xfrm>
            <a:off x="9288610" y="4516980"/>
            <a:ext cx="306494" cy="369332"/>
          </a:xfrm>
          <a:prstGeom prst="rect">
            <a:avLst/>
          </a:prstGeom>
        </p:spPr>
        <p:txBody>
          <a:bodyPr wrap="none">
            <a:spAutoFit/>
          </a:bodyPr>
          <a:lstStyle/>
          <a:p>
            <a:r>
              <a:rPr lang="en-US" dirty="0">
                <a:solidFill>
                  <a:srgbClr val="000066"/>
                </a:solidFill>
              </a:rPr>
              <a:t>d</a:t>
            </a:r>
            <a:endParaRPr lang="en-US" dirty="0"/>
          </a:p>
        </p:txBody>
      </p:sp>
      <p:pic>
        <p:nvPicPr>
          <p:cNvPr id="20" name="Picture 19" descr="A picture containing line chart&#10;&#10;Description automatically generated">
            <a:extLst>
              <a:ext uri="{FF2B5EF4-FFF2-40B4-BE49-F238E27FC236}">
                <a16:creationId xmlns:a16="http://schemas.microsoft.com/office/drawing/2014/main" id="{399779CD-C0D8-574A-B9C6-3A67D2CD1A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6240" y="893220"/>
            <a:ext cx="2235200" cy="1447800"/>
          </a:xfrm>
          <a:prstGeom prst="rect">
            <a:avLst/>
          </a:prstGeom>
        </p:spPr>
      </p:pic>
      <p:pic>
        <p:nvPicPr>
          <p:cNvPr id="22" name="Picture 21" descr="Polygon&#10;&#10;Description automatically generated with medium confidence">
            <a:extLst>
              <a:ext uri="{FF2B5EF4-FFF2-40B4-BE49-F238E27FC236}">
                <a16:creationId xmlns:a16="http://schemas.microsoft.com/office/drawing/2014/main" id="{DF47E254-B32C-A94D-825E-9923D538A5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6933" y="2666850"/>
            <a:ext cx="2235200" cy="1803400"/>
          </a:xfrm>
          <a:prstGeom prst="rect">
            <a:avLst/>
          </a:prstGeom>
        </p:spPr>
      </p:pic>
      <p:pic>
        <p:nvPicPr>
          <p:cNvPr id="24" name="Picture 23" descr="A picture containing text, outdoor&#10;&#10;Description automatically generated">
            <a:extLst>
              <a:ext uri="{FF2B5EF4-FFF2-40B4-BE49-F238E27FC236}">
                <a16:creationId xmlns:a16="http://schemas.microsoft.com/office/drawing/2014/main" id="{14D278C1-CD89-3B48-ADE8-F9AEE0CE7F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9897" y="2704950"/>
            <a:ext cx="2222500" cy="1765300"/>
          </a:xfrm>
          <a:prstGeom prst="rect">
            <a:avLst/>
          </a:prstGeom>
        </p:spPr>
      </p:pic>
      <p:pic>
        <p:nvPicPr>
          <p:cNvPr id="26" name="Picture 25" descr="Shape&#10;&#10;Description automatically generated with medium confidence">
            <a:extLst>
              <a:ext uri="{FF2B5EF4-FFF2-40B4-BE49-F238E27FC236}">
                <a16:creationId xmlns:a16="http://schemas.microsoft.com/office/drawing/2014/main" id="{03776E01-606B-1E47-B2F1-D98571E770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8378" y="2679550"/>
            <a:ext cx="2120900" cy="1790700"/>
          </a:xfrm>
          <a:prstGeom prst="rect">
            <a:avLst/>
          </a:prstGeom>
        </p:spPr>
      </p:pic>
      <p:pic>
        <p:nvPicPr>
          <p:cNvPr id="28" name="Picture 27" descr="Line chart&#10;&#10;Description automatically generated with medium confidence">
            <a:extLst>
              <a:ext uri="{FF2B5EF4-FFF2-40B4-BE49-F238E27FC236}">
                <a16:creationId xmlns:a16="http://schemas.microsoft.com/office/drawing/2014/main" id="{961AD771-14D6-604C-A74B-50565B5908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9278" y="2685900"/>
            <a:ext cx="2095500" cy="1778000"/>
          </a:xfrm>
          <a:prstGeom prst="rect">
            <a:avLst/>
          </a:prstGeom>
        </p:spPr>
      </p:pic>
    </p:spTree>
    <p:extLst>
      <p:ext uri="{BB962C8B-B14F-4D97-AF65-F5344CB8AC3E}">
        <p14:creationId xmlns:p14="http://schemas.microsoft.com/office/powerpoint/2010/main" val="39432208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BC8582B-5C78-3742-9BFF-3761EEE1F18F}"/>
              </a:ext>
            </a:extLst>
          </p:cNvPr>
          <p:cNvSpPr/>
          <p:nvPr/>
        </p:nvSpPr>
        <p:spPr>
          <a:xfrm>
            <a:off x="2928938" y="89044"/>
            <a:ext cx="5943599" cy="523220"/>
          </a:xfrm>
          <a:prstGeom prst="rect">
            <a:avLst/>
          </a:prstGeom>
        </p:spPr>
        <p:txBody>
          <a:bodyPr wrap="square">
            <a:spAutoFit/>
          </a:bodyPr>
          <a:lstStyle/>
          <a:p>
            <a:r>
              <a:rPr lang="en-US" sz="2800" dirty="0">
                <a:solidFill>
                  <a:srgbClr val="C00000"/>
                </a:solidFill>
                <a:latin typeface="NewBaskervilleStd-Roman"/>
              </a:rPr>
              <a:t>Algebra of Vectors in Two Dimensions </a:t>
            </a:r>
          </a:p>
        </p:txBody>
      </p:sp>
      <p:pic>
        <p:nvPicPr>
          <p:cNvPr id="4" name="Picture 3" descr="A picture containing text, gauge, clock&#10;&#10;Description automatically generated">
            <a:extLst>
              <a:ext uri="{FF2B5EF4-FFF2-40B4-BE49-F238E27FC236}">
                <a16:creationId xmlns:a16="http://schemas.microsoft.com/office/drawing/2014/main" id="{5C681372-CE44-114D-9F93-0C6D01AD97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287" y="540824"/>
            <a:ext cx="4089400" cy="2108200"/>
          </a:xfrm>
          <a:prstGeom prst="rect">
            <a:avLst/>
          </a:prstGeom>
        </p:spPr>
      </p:pic>
      <p:pic>
        <p:nvPicPr>
          <p:cNvPr id="7" name="Picture 6" descr="Chart, radar chart&#10;&#10;Description automatically generated">
            <a:extLst>
              <a:ext uri="{FF2B5EF4-FFF2-40B4-BE49-F238E27FC236}">
                <a16:creationId xmlns:a16="http://schemas.microsoft.com/office/drawing/2014/main" id="{0906AC6C-B5F2-E742-A058-A64558FC2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763" y="2634736"/>
            <a:ext cx="3060700" cy="3060700"/>
          </a:xfrm>
          <a:prstGeom prst="rect">
            <a:avLst/>
          </a:prstGeom>
        </p:spPr>
      </p:pic>
      <mc:AlternateContent xmlns:mc="http://schemas.openxmlformats.org/markup-compatibility/2006" xmlns:a14="http://schemas.microsoft.com/office/drawing/2010/main">
        <mc:Choice Requires="a14">
          <p:sp>
            <p:nvSpPr>
              <p:cNvPr id="8" name="Text Placeholder 6">
                <a:extLst>
                  <a:ext uri="{FF2B5EF4-FFF2-40B4-BE49-F238E27FC236}">
                    <a16:creationId xmlns:a16="http://schemas.microsoft.com/office/drawing/2014/main" id="{216EA9CD-4663-2644-B377-3FBA12E15332}"/>
                  </a:ext>
                </a:extLst>
              </p:cNvPr>
              <p:cNvSpPr txBox="1">
                <a:spLocks/>
              </p:cNvSpPr>
              <p:nvPr/>
            </p:nvSpPr>
            <p:spPr>
              <a:xfrm>
                <a:off x="522286" y="5634466"/>
                <a:ext cx="11669713" cy="11344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Tail-to-head method for drawing the resultant vector </a:t>
                </a:r>
                <a14:m>
                  <m:oMath xmlns:m="http://schemas.openxmlformats.org/officeDocument/2006/math">
                    <m:acc>
                      <m:accPr>
                        <m:chr m:val="⃗"/>
                        <m:ctrlPr>
                          <a:rPr lang="en-US" sz="1600" b="1" i="1" dirty="0">
                            <a:solidFill>
                              <a:srgbClr val="000066"/>
                            </a:solidFill>
                            <a:latin typeface="Cambria Math" panose="02040503050406030204" pitchFamily="18" charset="0"/>
                          </a:rPr>
                        </m:ctrlPr>
                      </m:accPr>
                      <m:e>
                        <m:r>
                          <a:rPr lang="en-US" sz="1600" b="1" dirty="0">
                            <a:solidFill>
                              <a:srgbClr val="000066"/>
                            </a:solidFill>
                            <a:latin typeface="Cambria Math"/>
                          </a:rPr>
                          <m:t>𝐑</m:t>
                        </m:r>
                      </m:e>
                    </m:acc>
                    <m:r>
                      <a:rPr lang="en-US" sz="1600" b="1" i="1" dirty="0">
                        <a:solidFill>
                          <a:srgbClr val="000066"/>
                        </a:solidFill>
                        <a:latin typeface="Cambria Math"/>
                      </a:rPr>
                      <m:t>=</m:t>
                    </m:r>
                    <m:acc>
                      <m:accPr>
                        <m:chr m:val="⃗"/>
                        <m:ctrlPr>
                          <a:rPr lang="en-US" sz="1600" b="1" i="1" dirty="0">
                            <a:solidFill>
                              <a:srgbClr val="000066"/>
                            </a:solidFill>
                            <a:latin typeface="Cambria Math" panose="02040503050406030204" pitchFamily="18" charset="0"/>
                          </a:rPr>
                        </m:ctrlPr>
                      </m:accPr>
                      <m:e>
                        <m:r>
                          <a:rPr lang="en-US" sz="1600" b="1" dirty="0">
                            <a:solidFill>
                              <a:srgbClr val="000066"/>
                            </a:solidFill>
                            <a:latin typeface="Cambria Math"/>
                          </a:rPr>
                          <m:t>𝐀</m:t>
                        </m:r>
                      </m:e>
                    </m:acc>
                    <m:r>
                      <a:rPr lang="en-US" sz="1600" b="1" i="1" dirty="0">
                        <a:solidFill>
                          <a:srgbClr val="000066"/>
                        </a:solidFill>
                        <a:latin typeface="Cambria Math"/>
                      </a:rPr>
                      <m:t> +</m:t>
                    </m:r>
                    <m:acc>
                      <m:accPr>
                        <m:chr m:val="⃗"/>
                        <m:ctrlPr>
                          <a:rPr lang="en-US" sz="1600" b="1" i="1" dirty="0">
                            <a:solidFill>
                              <a:srgbClr val="000066"/>
                            </a:solidFill>
                            <a:latin typeface="Cambria Math" panose="02040503050406030204" pitchFamily="18" charset="0"/>
                          </a:rPr>
                        </m:ctrlPr>
                      </m:accPr>
                      <m:e>
                        <m:r>
                          <a:rPr lang="en-US" sz="1600" b="1" i="1" dirty="0">
                            <a:solidFill>
                              <a:srgbClr val="000066"/>
                            </a:solidFill>
                            <a:latin typeface="Cambria Math"/>
                          </a:rPr>
                          <m:t> </m:t>
                        </m:r>
                        <m:r>
                          <a:rPr lang="en-US" sz="1600" b="1" dirty="0">
                            <a:solidFill>
                              <a:srgbClr val="000066"/>
                            </a:solidFill>
                            <a:latin typeface="Cambria Math"/>
                          </a:rPr>
                          <m:t>𝐁</m:t>
                        </m:r>
                      </m:e>
                    </m:acc>
                    <m:r>
                      <a:rPr lang="en-US" sz="1600" b="1" i="1" dirty="0">
                        <a:solidFill>
                          <a:srgbClr val="000066"/>
                        </a:solidFill>
                        <a:latin typeface="Cambria Math"/>
                      </a:rPr>
                      <m:t> +</m:t>
                    </m:r>
                    <m:acc>
                      <m:accPr>
                        <m:chr m:val="⃗"/>
                        <m:ctrlPr>
                          <a:rPr lang="en-US" sz="1600" b="1" i="1" dirty="0">
                            <a:solidFill>
                              <a:srgbClr val="000066"/>
                            </a:solidFill>
                            <a:latin typeface="Cambria Math" panose="02040503050406030204" pitchFamily="18" charset="0"/>
                          </a:rPr>
                        </m:ctrlPr>
                      </m:accPr>
                      <m:e>
                        <m:r>
                          <a:rPr lang="en-US" sz="1600" b="1" i="1" dirty="0">
                            <a:solidFill>
                              <a:srgbClr val="000066"/>
                            </a:solidFill>
                            <a:latin typeface="Cambria Math"/>
                          </a:rPr>
                          <m:t> </m:t>
                        </m:r>
                        <m:r>
                          <a:rPr lang="en-US" sz="1600" b="1" dirty="0">
                            <a:solidFill>
                              <a:srgbClr val="000066"/>
                            </a:solidFill>
                            <a:latin typeface="Cambria Math"/>
                          </a:rPr>
                          <m:t>𝐂</m:t>
                        </m:r>
                      </m:e>
                    </m:acc>
                    <m:r>
                      <a:rPr lang="en-US" sz="1600" b="1" i="1" dirty="0">
                        <a:solidFill>
                          <a:srgbClr val="000066"/>
                        </a:solidFill>
                        <a:latin typeface="Cambria Math"/>
                      </a:rPr>
                      <m:t> +</m:t>
                    </m:r>
                    <m:acc>
                      <m:accPr>
                        <m:chr m:val="⃗"/>
                        <m:ctrlPr>
                          <a:rPr lang="en-US" sz="1600" b="1" i="1" dirty="0">
                            <a:solidFill>
                              <a:srgbClr val="000066"/>
                            </a:solidFill>
                            <a:latin typeface="Cambria Math" panose="02040503050406030204" pitchFamily="18" charset="0"/>
                          </a:rPr>
                        </m:ctrlPr>
                      </m:accPr>
                      <m:e>
                        <m:r>
                          <a:rPr lang="en-US" sz="1600" b="1" i="1" dirty="0">
                            <a:solidFill>
                              <a:srgbClr val="000066"/>
                            </a:solidFill>
                            <a:latin typeface="Cambria Math"/>
                          </a:rPr>
                          <m:t> </m:t>
                        </m:r>
                        <m:r>
                          <a:rPr lang="en-US" sz="1600" b="1" dirty="0">
                            <a:solidFill>
                              <a:srgbClr val="000066"/>
                            </a:solidFill>
                            <a:latin typeface="Cambria Math"/>
                          </a:rPr>
                          <m:t>𝐃</m:t>
                        </m:r>
                      </m:e>
                    </m:acc>
                  </m:oMath>
                </a14:m>
                <a:r>
                  <a:rPr lang="en-US" sz="1600" dirty="0">
                    <a:solidFill>
                      <a:srgbClr val="000066"/>
                    </a:solidFill>
                  </a:rPr>
                  <a:t>.</a:t>
                </a:r>
              </a:p>
              <a:p>
                <a:pPr marL="342900" indent="-342900">
                  <a:buFont typeface="Arial" panose="020B0604020202020204" pitchFamily="34" charset="0"/>
                  <a:buAutoNum type="alphaLcParenBoth"/>
                </a:pPr>
                <a:r>
                  <a:rPr lang="en-US" sz="1600" dirty="0">
                    <a:solidFill>
                      <a:srgbClr val="000066"/>
                    </a:solidFill>
                  </a:rPr>
                  <a:t>Four vectors of different magnitudes and directions.</a:t>
                </a:r>
              </a:p>
              <a:p>
                <a:pPr marL="342900" indent="-342900">
                  <a:buFont typeface="Arial" panose="020B0604020202020204" pitchFamily="34" charset="0"/>
                  <a:buAutoNum type="alphaLcParenBoth"/>
                </a:pPr>
                <a:r>
                  <a:rPr lang="en-US" sz="1600" dirty="0">
                    <a:solidFill>
                      <a:srgbClr val="000066"/>
                    </a:solidFill>
                  </a:rPr>
                  <a:t>Vectors in (a) are translated to new positions, and the resultant vector is drawn. </a:t>
                </a:r>
              </a:p>
            </p:txBody>
          </p:sp>
        </mc:Choice>
        <mc:Fallback xmlns="">
          <p:sp>
            <p:nvSpPr>
              <p:cNvPr id="8" name="Text Placeholder 6">
                <a:extLst>
                  <a:ext uri="{FF2B5EF4-FFF2-40B4-BE49-F238E27FC236}">
                    <a16:creationId xmlns:a16="http://schemas.microsoft.com/office/drawing/2014/main" id="{216EA9CD-4663-2644-B377-3FBA12E15332}"/>
                  </a:ext>
                </a:extLst>
              </p:cNvPr>
              <p:cNvSpPr txBox="1">
                <a:spLocks noRot="1" noChangeAspect="1" noMove="1" noResize="1" noEditPoints="1" noAdjustHandles="1" noChangeArrowheads="1" noChangeShapeType="1" noTextEdit="1"/>
              </p:cNvSpPr>
              <p:nvPr/>
            </p:nvSpPr>
            <p:spPr>
              <a:xfrm>
                <a:off x="522286" y="5634466"/>
                <a:ext cx="11669713" cy="1134490"/>
              </a:xfrm>
              <a:prstGeom prst="rect">
                <a:avLst/>
              </a:prstGeom>
              <a:blipFill>
                <a:blip r:embed="rId5"/>
                <a:stretch>
                  <a:fillRect l="-435" t="-1111"/>
                </a:stretch>
              </a:blipFill>
            </p:spPr>
            <p:txBody>
              <a:bodyPr/>
              <a:lstStyle/>
              <a:p>
                <a:r>
                  <a:rPr lang="en-US">
                    <a:noFill/>
                  </a:rPr>
                  <a:t> </a:t>
                </a:r>
              </a:p>
            </p:txBody>
          </p:sp>
        </mc:Fallback>
      </mc:AlternateContent>
      <p:pic>
        <p:nvPicPr>
          <p:cNvPr id="9" name="Picture Placeholder 1" descr="A map of Florida with the following vectors shown in red: Vector A from Tallahassee to Jacksonville, almost due west. Vector B from Jacksonville to Daytona Beach, southeast. Vector C from Daytona Beach to Orlando, southwest. Vector D from Orlando to Tampa, southwest (but less vertical than vector C). Vector E from Tampa to Gainesville, slightly east of north. Vector R from Tallahassee to Gainsville is shown as a green arrow.">
            <a:extLst>
              <a:ext uri="{FF2B5EF4-FFF2-40B4-BE49-F238E27FC236}">
                <a16:creationId xmlns:a16="http://schemas.microsoft.com/office/drawing/2014/main" id="{8F1AF953-90DF-EC44-900D-A04676AE5C51}"/>
              </a:ext>
            </a:extLst>
          </p:cNvPr>
          <p:cNvPicPr>
            <a:picLocks noChangeAspect="1"/>
          </p:cNvPicPr>
          <p:nvPr/>
        </p:nvPicPr>
        <p:blipFill>
          <a:blip r:embed="rId6" cstate="email">
            <a:extLst>
              <a:ext uri="{28A0092B-C50C-407E-A947-70E740481C1C}">
                <a14:useLocalDpi xmlns:a14="http://schemas.microsoft.com/office/drawing/2010/main" val="0"/>
              </a:ext>
            </a:extLst>
          </a:blip>
          <a:srcRect l="-32104" r="-32104"/>
          <a:stretch>
            <a:fillRect/>
          </a:stretch>
        </p:blipFill>
        <p:spPr>
          <a:xfrm>
            <a:off x="3954463" y="802276"/>
            <a:ext cx="8062913" cy="3500071"/>
          </a:xfrm>
          <a:prstGeom prst="rect">
            <a:avLst/>
          </a:prstGeom>
        </p:spPr>
      </p:pic>
      <mc:AlternateContent xmlns:mc="http://schemas.openxmlformats.org/markup-compatibility/2006" xmlns:a14="http://schemas.microsoft.com/office/drawing/2010/main">
        <mc:Choice Requires="a14">
          <p:sp>
            <p:nvSpPr>
              <p:cNvPr id="10" name="Text Placeholder 6">
                <a:extLst>
                  <a:ext uri="{FF2B5EF4-FFF2-40B4-BE49-F238E27FC236}">
                    <a16:creationId xmlns:a16="http://schemas.microsoft.com/office/drawing/2014/main" id="{5B80F166-358A-1D40-8933-688D2401E8BF}"/>
                  </a:ext>
                </a:extLst>
              </p:cNvPr>
              <p:cNvSpPr txBox="1">
                <a:spLocks/>
              </p:cNvSpPr>
              <p:nvPr/>
            </p:nvSpPr>
            <p:spPr>
              <a:xfrm>
                <a:off x="5342580" y="4378055"/>
                <a:ext cx="5884217" cy="9296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When we use the parallelogram rule four times, we obtain the resultant vector </a:t>
                </a:r>
                <a14:m>
                  <m:oMath xmlns:m="http://schemas.openxmlformats.org/officeDocument/2006/math">
                    <m:acc>
                      <m:accPr>
                        <m:chr m:val="⃗"/>
                        <m:ctrlPr>
                          <a:rPr lang="en-US" sz="1800" b="1" i="1" dirty="0">
                            <a:latin typeface="Cambria Math" panose="02040503050406030204" pitchFamily="18" charset="0"/>
                          </a:rPr>
                        </m:ctrlPr>
                      </m:accPr>
                      <m:e>
                        <m:r>
                          <a:rPr lang="en-US" sz="1800" b="1" dirty="0" smtClean="0">
                            <a:latin typeface="Cambria Math"/>
                          </a:rPr>
                          <m:t>𝐑</m:t>
                        </m:r>
                      </m:e>
                    </m:acc>
                    <m:r>
                      <a:rPr lang="en-US" sz="1800" b="1" i="1" dirty="0" smtClean="0">
                        <a:latin typeface="Cambria Math"/>
                      </a:rPr>
                      <m:t>=</m:t>
                    </m:r>
                    <m:acc>
                      <m:accPr>
                        <m:chr m:val="⃗"/>
                        <m:ctrlPr>
                          <a:rPr lang="en-US" sz="1800" b="1" i="1" dirty="0">
                            <a:latin typeface="Cambria Math" panose="02040503050406030204" pitchFamily="18" charset="0"/>
                          </a:rPr>
                        </m:ctrlPr>
                      </m:accPr>
                      <m:e>
                        <m:r>
                          <a:rPr lang="en-US" sz="1800" b="1" dirty="0">
                            <a:latin typeface="Cambria Math"/>
                          </a:rPr>
                          <m:t>𝐀</m:t>
                        </m:r>
                      </m:e>
                    </m:acc>
                    <m:r>
                      <a:rPr lang="en-US" sz="1800" b="1" i="1" dirty="0" smtClean="0">
                        <a:latin typeface="Cambria Math"/>
                      </a:rPr>
                      <m:t> +</m:t>
                    </m:r>
                    <m:acc>
                      <m:accPr>
                        <m:chr m:val="⃗"/>
                        <m:ctrlPr>
                          <a:rPr lang="en-US" sz="1800" b="1" i="1" dirty="0">
                            <a:latin typeface="Cambria Math" panose="02040503050406030204" pitchFamily="18" charset="0"/>
                          </a:rPr>
                        </m:ctrlPr>
                      </m:accPr>
                      <m:e>
                        <m:r>
                          <a:rPr lang="en-US" sz="1800" b="1" i="1" dirty="0" smtClean="0">
                            <a:latin typeface="Cambria Math"/>
                          </a:rPr>
                          <m:t> </m:t>
                        </m:r>
                        <m:r>
                          <a:rPr lang="en-US" sz="1800" b="1" dirty="0" smtClean="0">
                            <a:latin typeface="Cambria Math"/>
                          </a:rPr>
                          <m:t>𝐁</m:t>
                        </m:r>
                      </m:e>
                    </m:acc>
                    <m:r>
                      <a:rPr lang="en-US" sz="1800" b="1" i="1" dirty="0" smtClean="0">
                        <a:latin typeface="Cambria Math"/>
                      </a:rPr>
                      <m:t> +</m:t>
                    </m:r>
                    <m:acc>
                      <m:accPr>
                        <m:chr m:val="⃗"/>
                        <m:ctrlPr>
                          <a:rPr lang="en-US" sz="1800" b="1" i="1" dirty="0">
                            <a:latin typeface="Cambria Math" panose="02040503050406030204" pitchFamily="18" charset="0"/>
                          </a:rPr>
                        </m:ctrlPr>
                      </m:accPr>
                      <m:e>
                        <m:r>
                          <a:rPr lang="en-US" sz="1800" b="1" i="1" dirty="0" smtClean="0">
                            <a:latin typeface="Cambria Math"/>
                          </a:rPr>
                          <m:t> </m:t>
                        </m:r>
                        <m:r>
                          <a:rPr lang="en-US" sz="1800" b="1" dirty="0" smtClean="0">
                            <a:latin typeface="Cambria Math"/>
                          </a:rPr>
                          <m:t>𝐂</m:t>
                        </m:r>
                      </m:e>
                    </m:acc>
                    <m:r>
                      <a:rPr lang="en-US" sz="1800" b="1" i="1" dirty="0" smtClean="0">
                        <a:latin typeface="Cambria Math"/>
                      </a:rPr>
                      <m:t> +</m:t>
                    </m:r>
                    <m:acc>
                      <m:accPr>
                        <m:chr m:val="⃗"/>
                        <m:ctrlPr>
                          <a:rPr lang="en-US" sz="1800" b="1" i="1" dirty="0">
                            <a:latin typeface="Cambria Math" panose="02040503050406030204" pitchFamily="18" charset="0"/>
                          </a:rPr>
                        </m:ctrlPr>
                      </m:accPr>
                      <m:e>
                        <m:r>
                          <a:rPr lang="en-US" sz="1800" b="1" i="1" dirty="0" smtClean="0">
                            <a:latin typeface="Cambria Math"/>
                          </a:rPr>
                          <m:t> </m:t>
                        </m:r>
                        <m:r>
                          <a:rPr lang="en-US" sz="1800" b="1" dirty="0" smtClean="0">
                            <a:latin typeface="Cambria Math"/>
                          </a:rPr>
                          <m:t>𝐃</m:t>
                        </m:r>
                      </m:e>
                    </m:acc>
                    <m:r>
                      <a:rPr lang="en-US" sz="1800" b="1" i="1" dirty="0" smtClean="0">
                        <a:latin typeface="Cambria Math"/>
                      </a:rPr>
                      <m:t> + </m:t>
                    </m:r>
                    <m:acc>
                      <m:accPr>
                        <m:chr m:val="⃗"/>
                        <m:ctrlPr>
                          <a:rPr lang="en-US" sz="1800" b="1" i="1" dirty="0">
                            <a:latin typeface="Cambria Math" panose="02040503050406030204" pitchFamily="18" charset="0"/>
                          </a:rPr>
                        </m:ctrlPr>
                      </m:accPr>
                      <m:e>
                        <m:r>
                          <a:rPr lang="en-US" sz="1800" b="1" dirty="0" smtClean="0">
                            <a:latin typeface="Cambria Math"/>
                          </a:rPr>
                          <m:t>𝐄</m:t>
                        </m:r>
                      </m:e>
                    </m:acc>
                  </m:oMath>
                </a14:m>
                <a:r>
                  <a:rPr lang="en-US" sz="1800" dirty="0"/>
                  <a:t>, which is the green vector connecting Tallahassee with Gainesville.</a:t>
                </a:r>
              </a:p>
            </p:txBody>
          </p:sp>
        </mc:Choice>
        <mc:Fallback xmlns="">
          <p:sp>
            <p:nvSpPr>
              <p:cNvPr id="10" name="Text Placeholder 6">
                <a:extLst>
                  <a:ext uri="{FF2B5EF4-FFF2-40B4-BE49-F238E27FC236}">
                    <a16:creationId xmlns:a16="http://schemas.microsoft.com/office/drawing/2014/main" id="{5B80F166-358A-1D40-8933-688D2401E8BF}"/>
                  </a:ext>
                </a:extLst>
              </p:cNvPr>
              <p:cNvSpPr txBox="1">
                <a:spLocks noRot="1" noChangeAspect="1" noMove="1" noResize="1" noEditPoints="1" noAdjustHandles="1" noChangeArrowheads="1" noChangeShapeType="1" noTextEdit="1"/>
              </p:cNvSpPr>
              <p:nvPr/>
            </p:nvSpPr>
            <p:spPr>
              <a:xfrm>
                <a:off x="5342580" y="4378055"/>
                <a:ext cx="5884217" cy="929688"/>
              </a:xfrm>
              <a:prstGeom prst="rect">
                <a:avLst/>
              </a:prstGeom>
              <a:blipFill>
                <a:blip r:embed="rId7"/>
                <a:stretch>
                  <a:fillRect l="-860" t="-5333" b="-2667"/>
                </a:stretch>
              </a:blipFill>
            </p:spPr>
            <p:txBody>
              <a:bodyPr/>
              <a:lstStyle/>
              <a:p>
                <a:r>
                  <a:rPr lang="en-US">
                    <a:noFill/>
                  </a:rPr>
                  <a:t> </a:t>
                </a:r>
              </a:p>
            </p:txBody>
          </p:sp>
        </mc:Fallback>
      </mc:AlternateContent>
    </p:spTree>
    <p:extLst>
      <p:ext uri="{BB962C8B-B14F-4D97-AF65-F5344CB8AC3E}">
        <p14:creationId xmlns:p14="http://schemas.microsoft.com/office/powerpoint/2010/main" val="27907104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043062D-2367-BC45-B45D-1315DD147622}"/>
              </a:ext>
            </a:extLst>
          </p:cNvPr>
          <p:cNvSpPr/>
          <p:nvPr/>
        </p:nvSpPr>
        <p:spPr>
          <a:xfrm>
            <a:off x="2571741" y="89044"/>
            <a:ext cx="7429500" cy="523220"/>
          </a:xfrm>
          <a:prstGeom prst="rect">
            <a:avLst/>
          </a:prstGeom>
        </p:spPr>
        <p:txBody>
          <a:bodyPr wrap="square">
            <a:spAutoFit/>
          </a:bodyPr>
          <a:lstStyle/>
          <a:p>
            <a:r>
              <a:rPr lang="en-US" sz="2800" dirty="0">
                <a:solidFill>
                  <a:srgbClr val="C00000"/>
                </a:solidFill>
                <a:latin typeface="NewBaskervilleStd-Roman"/>
              </a:rPr>
              <a:t>Coordinate Systems and Components of a Vector </a:t>
            </a:r>
          </a:p>
        </p:txBody>
      </p:sp>
      <p:pic>
        <p:nvPicPr>
          <p:cNvPr id="4" name="Picture 3" descr="Chart&#10;&#10;Description automatically generated">
            <a:extLst>
              <a:ext uri="{FF2B5EF4-FFF2-40B4-BE49-F238E27FC236}">
                <a16:creationId xmlns:a16="http://schemas.microsoft.com/office/drawing/2014/main" id="{6AA27F3A-0925-4141-B46C-B9CEE2112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613340"/>
            <a:ext cx="6032500" cy="4406900"/>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25E9F0C1-4CE0-FA4A-98AA-450C8358020E}"/>
                  </a:ext>
                </a:extLst>
              </p:cNvPr>
              <p:cNvSpPr txBox="1">
                <a:spLocks/>
              </p:cNvSpPr>
              <p:nvPr/>
            </p:nvSpPr>
            <p:spPr>
              <a:xfrm>
                <a:off x="365125" y="5040686"/>
                <a:ext cx="11207750" cy="1513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Vector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in a plane in the Cartesian coordinate system is the vector sum of its vector </a:t>
                </a:r>
                <a:r>
                  <a:rPr lang="en-US" sz="2000" i="1" dirty="0">
                    <a:solidFill>
                      <a:srgbClr val="000066"/>
                    </a:solidFill>
                  </a:rPr>
                  <a:t>x</a:t>
                </a:r>
                <a:r>
                  <a:rPr lang="en-US" sz="2000" dirty="0">
                    <a:solidFill>
                      <a:srgbClr val="000066"/>
                    </a:solidFill>
                  </a:rPr>
                  <a:t>- and </a:t>
                </a:r>
                <a:r>
                  <a:rPr lang="en-US" sz="2000" i="1" dirty="0">
                    <a:solidFill>
                      <a:srgbClr val="000066"/>
                    </a:solidFill>
                  </a:rPr>
                  <a:t>y</a:t>
                </a:r>
                <a:r>
                  <a:rPr lang="en-US" sz="2000" dirty="0">
                    <a:solidFill>
                      <a:srgbClr val="000066"/>
                    </a:solidFill>
                  </a:rPr>
                  <a:t>-components. </a:t>
                </a:r>
              </a:p>
              <a:p>
                <a:pPr marL="0" indent="0">
                  <a:buNone/>
                </a:pPr>
                <a:r>
                  <a:rPr lang="en-US" sz="2000" dirty="0">
                    <a:solidFill>
                      <a:srgbClr val="000066"/>
                    </a:solidFill>
                  </a:rPr>
                  <a:t>The </a:t>
                </a:r>
                <a:r>
                  <a:rPr lang="en-US" sz="2000" i="1" dirty="0">
                    <a:solidFill>
                      <a:srgbClr val="000066"/>
                    </a:solidFill>
                  </a:rPr>
                  <a:t>x</a:t>
                </a:r>
                <a:r>
                  <a:rPr lang="en-US" sz="2000" dirty="0">
                    <a:solidFill>
                      <a:srgbClr val="000066"/>
                    </a:solidFill>
                  </a:rPr>
                  <a:t>-vector component </a:t>
                </a:r>
                <a14:m>
                  <m:oMath xmlns:m="http://schemas.openxmlformats.org/officeDocument/2006/math">
                    <m:sSub>
                      <m:sSubPr>
                        <m:ctrlPr>
                          <a:rPr lang="en-US" sz="2000" i="1" smtClean="0">
                            <a:solidFill>
                              <a:srgbClr val="000066"/>
                            </a:solidFill>
                            <a:latin typeface="Cambria Math" panose="02040503050406030204" pitchFamily="18" charset="0"/>
                          </a:rPr>
                        </m:ctrlPr>
                      </m:sSubPr>
                      <m:e>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e>
                      <m:sub>
                        <m:r>
                          <a:rPr lang="en-US" sz="2000" i="1" smtClean="0">
                            <a:solidFill>
                              <a:srgbClr val="000066"/>
                            </a:solidFill>
                            <a:latin typeface="Cambria Math"/>
                          </a:rPr>
                          <m:t>𝑥</m:t>
                        </m:r>
                      </m:sub>
                    </m:sSub>
                  </m:oMath>
                </a14:m>
                <a:r>
                  <a:rPr lang="en-US" sz="2000" dirty="0">
                    <a:solidFill>
                      <a:srgbClr val="000066"/>
                    </a:solidFill>
                  </a:rPr>
                  <a:t> is the orthogonal projection of vector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onto the </a:t>
                </a:r>
                <a:r>
                  <a:rPr lang="en-US" sz="2000" i="1" dirty="0">
                    <a:solidFill>
                      <a:srgbClr val="000066"/>
                    </a:solidFill>
                  </a:rPr>
                  <a:t>x</a:t>
                </a:r>
                <a:r>
                  <a:rPr lang="en-US" sz="2000" dirty="0">
                    <a:solidFill>
                      <a:srgbClr val="000066"/>
                    </a:solidFill>
                  </a:rPr>
                  <a:t>-axis. </a:t>
                </a:r>
              </a:p>
              <a:p>
                <a:pPr marL="0" indent="0">
                  <a:buNone/>
                </a:pPr>
                <a:r>
                  <a:rPr lang="en-US" sz="2000" dirty="0">
                    <a:solidFill>
                      <a:srgbClr val="000066"/>
                    </a:solidFill>
                  </a:rPr>
                  <a:t>The </a:t>
                </a:r>
                <a:r>
                  <a:rPr lang="en-US" sz="2000" i="1" dirty="0">
                    <a:solidFill>
                      <a:srgbClr val="000066"/>
                    </a:solidFill>
                  </a:rPr>
                  <a:t>y</a:t>
                </a:r>
                <a:r>
                  <a:rPr lang="en-US" sz="2000" dirty="0">
                    <a:solidFill>
                      <a:srgbClr val="000066"/>
                    </a:solidFill>
                  </a:rPr>
                  <a:t>-vector component </a:t>
                </a:r>
                <a14:m>
                  <m:oMath xmlns:m="http://schemas.openxmlformats.org/officeDocument/2006/math">
                    <m:sSub>
                      <m:sSubPr>
                        <m:ctrlPr>
                          <a:rPr lang="en-US" sz="2000" i="1" smtClean="0">
                            <a:solidFill>
                              <a:srgbClr val="000066"/>
                            </a:solidFill>
                            <a:latin typeface="Cambria Math" panose="02040503050406030204" pitchFamily="18" charset="0"/>
                          </a:rPr>
                        </m:ctrlPr>
                      </m:sSubPr>
                      <m:e>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e>
                      <m:sub>
                        <m:r>
                          <a:rPr lang="en-US" sz="2000" i="1" smtClean="0">
                            <a:solidFill>
                              <a:srgbClr val="000066"/>
                            </a:solidFill>
                            <a:latin typeface="Cambria Math"/>
                          </a:rPr>
                          <m:t>𝑦</m:t>
                        </m:r>
                      </m:sub>
                    </m:sSub>
                  </m:oMath>
                </a14:m>
                <a:r>
                  <a:rPr lang="en-US" sz="2000" dirty="0">
                    <a:solidFill>
                      <a:srgbClr val="000066"/>
                    </a:solidFill>
                  </a:rPr>
                  <a:t> is the orthogonal projection of vector  onto the </a:t>
                </a:r>
                <a:r>
                  <a:rPr lang="en-US" sz="2000" i="1" dirty="0">
                    <a:solidFill>
                      <a:srgbClr val="000066"/>
                    </a:solidFill>
                  </a:rPr>
                  <a:t>y</a:t>
                </a:r>
                <a:r>
                  <a:rPr lang="en-US" sz="2000" dirty="0">
                    <a:solidFill>
                      <a:srgbClr val="000066"/>
                    </a:solidFill>
                  </a:rPr>
                  <a:t>-axis. The numbers </a:t>
                </a:r>
                <a14:m>
                  <m:oMath xmlns:m="http://schemas.openxmlformats.org/officeDocument/2006/math">
                    <m:sSub>
                      <m:sSubPr>
                        <m:ctrlPr>
                          <a:rPr lang="en-US" sz="2000" i="1" smtClean="0">
                            <a:solidFill>
                              <a:srgbClr val="000066"/>
                            </a:solidFill>
                            <a:latin typeface="Cambria Math" panose="02040503050406030204" pitchFamily="18" charset="0"/>
                          </a:rPr>
                        </m:ctrlPr>
                      </m:sSubPr>
                      <m:e>
                        <m:r>
                          <a:rPr lang="en-US" sz="2000" i="1" smtClean="0">
                            <a:solidFill>
                              <a:srgbClr val="000066"/>
                            </a:solidFill>
                            <a:latin typeface="Cambria Math"/>
                          </a:rPr>
                          <m:t>𝐴</m:t>
                        </m:r>
                      </m:e>
                      <m:sub>
                        <m:r>
                          <a:rPr lang="en-US" sz="2000" i="1" smtClean="0">
                            <a:solidFill>
                              <a:srgbClr val="000066"/>
                            </a:solidFill>
                            <a:latin typeface="Cambria Math"/>
                          </a:rPr>
                          <m:t>𝑥</m:t>
                        </m:r>
                      </m:sub>
                    </m:sSub>
                  </m:oMath>
                </a14:m>
                <a:r>
                  <a:rPr lang="en-US" sz="2000" dirty="0">
                    <a:solidFill>
                      <a:srgbClr val="000066"/>
                    </a:solidFill>
                  </a:rPr>
                  <a:t> and </a:t>
                </a:r>
                <a14:m>
                  <m:oMath xmlns:m="http://schemas.openxmlformats.org/officeDocument/2006/math">
                    <m:sSub>
                      <m:sSubPr>
                        <m:ctrlPr>
                          <a:rPr lang="en-US" sz="2000" i="1" smtClean="0">
                            <a:solidFill>
                              <a:srgbClr val="000066"/>
                            </a:solidFill>
                            <a:latin typeface="Cambria Math" panose="02040503050406030204" pitchFamily="18" charset="0"/>
                          </a:rPr>
                        </m:ctrlPr>
                      </m:sSubPr>
                      <m:e>
                        <m:r>
                          <a:rPr lang="en-US" sz="2000" i="1" smtClean="0">
                            <a:solidFill>
                              <a:srgbClr val="000066"/>
                            </a:solidFill>
                            <a:latin typeface="Cambria Math"/>
                          </a:rPr>
                          <m:t>𝐴</m:t>
                        </m:r>
                      </m:e>
                      <m:sub>
                        <m:r>
                          <a:rPr lang="en-US" sz="2000" i="1" smtClean="0">
                            <a:solidFill>
                              <a:srgbClr val="000066"/>
                            </a:solidFill>
                            <a:latin typeface="Cambria Math"/>
                          </a:rPr>
                          <m:t>𝑦</m:t>
                        </m:r>
                      </m:sub>
                    </m:sSub>
                  </m:oMath>
                </a14:m>
                <a:r>
                  <a:rPr lang="en-US" sz="2000" dirty="0">
                    <a:solidFill>
                      <a:srgbClr val="000066"/>
                    </a:solidFill>
                  </a:rPr>
                  <a:t> that multiply the unit vectors are the scalar components of the vector.</a:t>
                </a:r>
              </a:p>
            </p:txBody>
          </p:sp>
        </mc:Choice>
        <mc:Fallback xmlns="">
          <p:sp>
            <p:nvSpPr>
              <p:cNvPr id="6" name="Text Placeholder 6">
                <a:extLst>
                  <a:ext uri="{FF2B5EF4-FFF2-40B4-BE49-F238E27FC236}">
                    <a16:creationId xmlns:a16="http://schemas.microsoft.com/office/drawing/2014/main" id="{25E9F0C1-4CE0-FA4A-98AA-450C8358020E}"/>
                  </a:ext>
                </a:extLst>
              </p:cNvPr>
              <p:cNvSpPr txBox="1">
                <a:spLocks noRot="1" noChangeAspect="1" noMove="1" noResize="1" noEditPoints="1" noAdjustHandles="1" noChangeArrowheads="1" noChangeShapeType="1" noTextEdit="1"/>
              </p:cNvSpPr>
              <p:nvPr/>
            </p:nvSpPr>
            <p:spPr>
              <a:xfrm>
                <a:off x="365125" y="5040686"/>
                <a:ext cx="11207750" cy="1513955"/>
              </a:xfrm>
              <a:prstGeom prst="rect">
                <a:avLst/>
              </a:prstGeom>
              <a:blipFill>
                <a:blip r:embed="rId4"/>
                <a:stretch>
                  <a:fillRect l="-566" t="-1667" r="-679" b="-11667"/>
                </a:stretch>
              </a:blipFill>
            </p:spPr>
            <p:txBody>
              <a:bodyPr/>
              <a:lstStyle/>
              <a:p>
                <a:r>
                  <a:rPr lang="en-US">
                    <a:noFill/>
                  </a:rPr>
                  <a:t> </a:t>
                </a:r>
              </a:p>
            </p:txBody>
          </p:sp>
        </mc:Fallback>
      </mc:AlternateContent>
      <p:pic>
        <p:nvPicPr>
          <p:cNvPr id="8" name="Picture 7" descr="Text&#10;&#10;Description automatically generated with medium confidence">
            <a:extLst>
              <a:ext uri="{FF2B5EF4-FFF2-40B4-BE49-F238E27FC236}">
                <a16:creationId xmlns:a16="http://schemas.microsoft.com/office/drawing/2014/main" id="{3EF83FDA-4D6F-4342-A4FD-C5DCB2957C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2824" y="1255578"/>
            <a:ext cx="1549400" cy="1054100"/>
          </a:xfrm>
          <a:prstGeom prst="rect">
            <a:avLst/>
          </a:prstGeom>
        </p:spPr>
      </p:pic>
      <p:pic>
        <p:nvPicPr>
          <p:cNvPr id="10" name="Picture 9" descr="Diagram, schematic&#10;&#10;Description automatically generated">
            <a:extLst>
              <a:ext uri="{FF2B5EF4-FFF2-40B4-BE49-F238E27FC236}">
                <a16:creationId xmlns:a16="http://schemas.microsoft.com/office/drawing/2014/main" id="{5781AF8F-10C4-4849-9BB4-9677D4CEC3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91524" y="2806700"/>
            <a:ext cx="2032000" cy="622300"/>
          </a:xfrm>
          <a:prstGeom prst="rect">
            <a:avLst/>
          </a:prstGeom>
        </p:spPr>
      </p:pic>
      <p:pic>
        <p:nvPicPr>
          <p:cNvPr id="12" name="Picture 11" descr="Text, letter&#10;&#10;Description automatically generated">
            <a:extLst>
              <a:ext uri="{FF2B5EF4-FFF2-40B4-BE49-F238E27FC236}">
                <a16:creationId xmlns:a16="http://schemas.microsoft.com/office/drawing/2014/main" id="{EF3FE877-FA79-6C41-8204-309E2B3B1C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58224" y="3858607"/>
            <a:ext cx="1574800" cy="838200"/>
          </a:xfrm>
          <a:prstGeom prst="rect">
            <a:avLst/>
          </a:prstGeom>
        </p:spPr>
      </p:pic>
    </p:spTree>
    <p:extLst>
      <p:ext uri="{BB962C8B-B14F-4D97-AF65-F5344CB8AC3E}">
        <p14:creationId xmlns:p14="http://schemas.microsoft.com/office/powerpoint/2010/main" val="2398248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43AE52B-9BFE-8646-9B00-25CB962DD59F}"/>
              </a:ext>
            </a:extLst>
          </p:cNvPr>
          <p:cNvSpPr/>
          <p:nvPr/>
        </p:nvSpPr>
        <p:spPr>
          <a:xfrm>
            <a:off x="2571741" y="89044"/>
            <a:ext cx="7429500" cy="523220"/>
          </a:xfrm>
          <a:prstGeom prst="rect">
            <a:avLst/>
          </a:prstGeom>
        </p:spPr>
        <p:txBody>
          <a:bodyPr wrap="square">
            <a:spAutoFit/>
          </a:bodyPr>
          <a:lstStyle/>
          <a:p>
            <a:r>
              <a:rPr lang="en-US" sz="2800" dirty="0">
                <a:solidFill>
                  <a:srgbClr val="C00000"/>
                </a:solidFill>
                <a:latin typeface="NewBaskervilleStd-Roman"/>
              </a:rPr>
              <a:t>Coordinate Systems and Components of a Vector </a:t>
            </a:r>
          </a:p>
        </p:txBody>
      </p:sp>
      <p:pic>
        <p:nvPicPr>
          <p:cNvPr id="4" name="Picture 3" descr="Diagram&#10;&#10;Description automatically generated">
            <a:extLst>
              <a:ext uri="{FF2B5EF4-FFF2-40B4-BE49-F238E27FC236}">
                <a16:creationId xmlns:a16="http://schemas.microsoft.com/office/drawing/2014/main" id="{BA654365-FB8E-1F4E-AA36-082A9E448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75" y="612264"/>
            <a:ext cx="6134100" cy="4241800"/>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585A7D91-758D-F949-B70B-0304D5B0C683}"/>
                  </a:ext>
                </a:extLst>
              </p:cNvPr>
              <p:cNvSpPr txBox="1">
                <a:spLocks/>
              </p:cNvSpPr>
              <p:nvPr/>
            </p:nvSpPr>
            <p:spPr>
              <a:xfrm>
                <a:off x="457200" y="4911216"/>
                <a:ext cx="604837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For vector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its magnitude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and its direction angle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ea typeface="Cambria Math"/>
                          </a:rPr>
                          <m:t>𝜃</m:t>
                        </m:r>
                      </m:e>
                      <m:sub>
                        <m:r>
                          <a:rPr lang="en-US" sz="2000" i="1">
                            <a:solidFill>
                              <a:srgbClr val="000066"/>
                            </a:solidFill>
                            <a:latin typeface="Cambria Math"/>
                          </a:rPr>
                          <m:t>𝐴</m:t>
                        </m:r>
                      </m:sub>
                    </m:sSub>
                  </m:oMath>
                </a14:m>
                <a:r>
                  <a:rPr lang="en-US" sz="2000" b="1" dirty="0">
                    <a:solidFill>
                      <a:srgbClr val="000066"/>
                    </a:solidFill>
                  </a:rPr>
                  <a:t> </a:t>
                </a:r>
                <a:r>
                  <a:rPr lang="en-US" sz="2000" dirty="0">
                    <a:solidFill>
                      <a:srgbClr val="000066"/>
                    </a:solidFill>
                  </a:rPr>
                  <a:t>are related to the magnitudes of its scalar components because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𝑥</m:t>
                        </m:r>
                      </m:sub>
                    </m:sSub>
                  </m:oMath>
                </a14:m>
                <a:r>
                  <a:rPr lang="en-US" sz="2000" dirty="0">
                    <a:solidFill>
                      <a:srgbClr val="000066"/>
                    </a:solidFill>
                  </a:rPr>
                  <a:t>, and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𝑦</m:t>
                        </m:r>
                      </m:sub>
                    </m:sSub>
                  </m:oMath>
                </a14:m>
                <a:r>
                  <a:rPr lang="en-US" sz="2000" b="1" dirty="0">
                    <a:solidFill>
                      <a:srgbClr val="000066"/>
                    </a:solidFill>
                  </a:rPr>
                  <a:t> </a:t>
                </a:r>
                <a:r>
                  <a:rPr lang="en-US" sz="2000" dirty="0">
                    <a:solidFill>
                      <a:srgbClr val="000066"/>
                    </a:solidFill>
                  </a:rPr>
                  <a:t>form a right triangle.</a:t>
                </a:r>
              </a:p>
            </p:txBody>
          </p:sp>
        </mc:Choice>
        <mc:Fallback xmlns="">
          <p:sp>
            <p:nvSpPr>
              <p:cNvPr id="6" name="Text Placeholder 6">
                <a:extLst>
                  <a:ext uri="{FF2B5EF4-FFF2-40B4-BE49-F238E27FC236}">
                    <a16:creationId xmlns:a16="http://schemas.microsoft.com/office/drawing/2014/main" id="{585A7D91-758D-F949-B70B-0304D5B0C683}"/>
                  </a:ext>
                </a:extLst>
              </p:cNvPr>
              <p:cNvSpPr txBox="1">
                <a:spLocks noRot="1" noChangeAspect="1" noMove="1" noResize="1" noEditPoints="1" noAdjustHandles="1" noChangeArrowheads="1" noChangeShapeType="1" noTextEdit="1"/>
              </p:cNvSpPr>
              <p:nvPr/>
            </p:nvSpPr>
            <p:spPr>
              <a:xfrm>
                <a:off x="457200" y="4911216"/>
                <a:ext cx="6048375" cy="1166382"/>
              </a:xfrm>
              <a:prstGeom prst="rect">
                <a:avLst/>
              </a:prstGeom>
              <a:blipFill>
                <a:blip r:embed="rId4"/>
                <a:stretch>
                  <a:fillRect l="-1048" t="-2151"/>
                </a:stretch>
              </a:blipFill>
            </p:spPr>
            <p:txBody>
              <a:bodyPr/>
              <a:lstStyle/>
              <a:p>
                <a:r>
                  <a:rPr lang="en-US">
                    <a:noFill/>
                  </a:rPr>
                  <a:t> </a:t>
                </a:r>
              </a:p>
            </p:txBody>
          </p:sp>
        </mc:Fallback>
      </mc:AlternateContent>
      <p:pic>
        <p:nvPicPr>
          <p:cNvPr id="8" name="Picture 7" descr="A picture containing text&#10;&#10;Description automatically generated">
            <a:extLst>
              <a:ext uri="{FF2B5EF4-FFF2-40B4-BE49-F238E27FC236}">
                <a16:creationId xmlns:a16="http://schemas.microsoft.com/office/drawing/2014/main" id="{92828F32-BAB7-FA4C-A9F0-2F9927DBF9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613" y="5947286"/>
            <a:ext cx="3429000" cy="596900"/>
          </a:xfrm>
          <a:prstGeom prst="rect">
            <a:avLst/>
          </a:prstGeom>
        </p:spPr>
      </p:pic>
      <p:pic>
        <p:nvPicPr>
          <p:cNvPr id="10" name="Picture 9" descr="Text&#10;&#10;Description automatically generated">
            <a:extLst>
              <a:ext uri="{FF2B5EF4-FFF2-40B4-BE49-F238E27FC236}">
                <a16:creationId xmlns:a16="http://schemas.microsoft.com/office/drawing/2014/main" id="{7F5C8C66-179B-4048-BC78-CE8B0737F2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74394" y="5930334"/>
            <a:ext cx="1295400" cy="673100"/>
          </a:xfrm>
          <a:prstGeom prst="rect">
            <a:avLst/>
          </a:prstGeom>
        </p:spPr>
      </p:pic>
      <p:pic>
        <p:nvPicPr>
          <p:cNvPr id="12" name="Picture 11" descr="Text&#10;&#10;Description automatically generated">
            <a:extLst>
              <a:ext uri="{FF2B5EF4-FFF2-40B4-BE49-F238E27FC236}">
                <a16:creationId xmlns:a16="http://schemas.microsoft.com/office/drawing/2014/main" id="{3055D24D-730E-2948-A55C-F32757ABF2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5575" y="5839336"/>
            <a:ext cx="1778000" cy="812800"/>
          </a:xfrm>
          <a:prstGeom prst="rect">
            <a:avLst/>
          </a:prstGeom>
        </p:spPr>
      </p:pic>
      <p:pic>
        <p:nvPicPr>
          <p:cNvPr id="14" name="Picture 13" descr="A picture containing text, map, different&#10;&#10;Description automatically generated">
            <a:extLst>
              <a:ext uri="{FF2B5EF4-FFF2-40B4-BE49-F238E27FC236}">
                <a16:creationId xmlns:a16="http://schemas.microsoft.com/office/drawing/2014/main" id="{59172291-184D-4645-B273-620DB4A276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09485" y="1094376"/>
            <a:ext cx="4511040" cy="3657600"/>
          </a:xfrm>
          <a:prstGeom prst="rect">
            <a:avLst/>
          </a:prstGeom>
        </p:spPr>
      </p:pic>
      <mc:AlternateContent xmlns:mc="http://schemas.openxmlformats.org/markup-compatibility/2006" xmlns:a14="http://schemas.microsoft.com/office/drawing/2010/main">
        <mc:Choice Requires="a14">
          <p:sp>
            <p:nvSpPr>
              <p:cNvPr id="15" name="Text Placeholder 6">
                <a:extLst>
                  <a:ext uri="{FF2B5EF4-FFF2-40B4-BE49-F238E27FC236}">
                    <a16:creationId xmlns:a16="http://schemas.microsoft.com/office/drawing/2014/main" id="{0F65D4FA-5F7A-BD4E-A049-ECB967CE5ACD}"/>
                  </a:ext>
                </a:extLst>
              </p:cNvPr>
              <p:cNvSpPr txBox="1">
                <a:spLocks/>
              </p:cNvSpPr>
              <p:nvPr/>
            </p:nvSpPr>
            <p:spPr>
              <a:xfrm>
                <a:off x="7143749" y="4825709"/>
                <a:ext cx="5171281"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Scalar components of a vector may be positive or negative. For the vector in quadrant II </a:t>
                </a:r>
                <a14:m>
                  <m:oMath xmlns:m="http://schemas.openxmlformats.org/officeDocument/2006/math">
                    <m:sSub>
                      <m:sSubPr>
                        <m:ctrlPr>
                          <a:rPr lang="en-US" sz="1600" i="1">
                            <a:latin typeface="Cambria Math" panose="02040503050406030204" pitchFamily="18" charset="0"/>
                          </a:rPr>
                        </m:ctrlPr>
                      </m:sSubPr>
                      <m:e>
                        <m:r>
                          <a:rPr lang="en-US" sz="1600" i="1">
                            <a:latin typeface="Cambria Math"/>
                            <a:ea typeface="Cambria Math"/>
                          </a:rPr>
                          <m:t>𝜃</m:t>
                        </m:r>
                      </m:e>
                      <m:sub>
                        <m:r>
                          <a:rPr lang="en-US" sz="1600" i="1">
                            <a:latin typeface="Cambria Math"/>
                          </a:rPr>
                          <m:t>𝐴</m:t>
                        </m:r>
                      </m:sub>
                    </m:sSub>
                    <m:r>
                      <a:rPr lang="en-US" sz="1600" i="1">
                        <a:latin typeface="Cambria Math"/>
                      </a:rPr>
                      <m:t>=</m:t>
                    </m:r>
                    <m:r>
                      <a:rPr lang="en-US" sz="1600" i="1">
                        <a:latin typeface="Cambria Math"/>
                        <a:ea typeface="Cambria Math"/>
                      </a:rPr>
                      <m:t>180°</m:t>
                    </m:r>
                    <m:r>
                      <a:rPr lang="en-US" sz="1600" b="0" i="1" smtClean="0">
                        <a:latin typeface="Cambria Math" panose="02040503050406030204" pitchFamily="18" charset="0"/>
                        <a:ea typeface="Cambria Math"/>
                      </a:rPr>
                      <m:t>−</m:t>
                    </m:r>
                    <m:r>
                      <a:rPr lang="en-US" sz="1600" i="1">
                        <a:latin typeface="Cambria Math"/>
                        <a:ea typeface="Cambria Math"/>
                      </a:rPr>
                      <m:t>𝜃</m:t>
                    </m:r>
                  </m:oMath>
                </a14:m>
                <a:r>
                  <a:rPr lang="en-US" sz="1600" dirty="0"/>
                  <a:t> and for the vector in quadrant III the </a:t>
                </a:r>
                <a14:m>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a:ea typeface="Cambria Math"/>
                          </a:rPr>
                          <m:t>𝜃</m:t>
                        </m:r>
                      </m:e>
                      <m:sub>
                        <m:r>
                          <a:rPr lang="en-US" sz="1600" i="1" smtClean="0">
                            <a:latin typeface="Cambria Math"/>
                          </a:rPr>
                          <m:t>𝐴</m:t>
                        </m:r>
                      </m:sub>
                    </m:sSub>
                    <m:r>
                      <a:rPr lang="en-US" sz="1600" i="1" smtClean="0">
                        <a:latin typeface="Cambria Math"/>
                      </a:rPr>
                      <m:t>= </m:t>
                    </m:r>
                    <m:r>
                      <a:rPr lang="en-US" sz="1600" i="1" smtClean="0">
                        <a:latin typeface="Cambria Math"/>
                        <a:ea typeface="Cambria Math"/>
                      </a:rPr>
                      <m:t>𝜃</m:t>
                    </m:r>
                    <m:r>
                      <a:rPr lang="en-US" sz="1600" i="1" smtClean="0">
                        <a:latin typeface="Cambria Math"/>
                        <a:ea typeface="Cambria Math"/>
                      </a:rPr>
                      <m:t>+180°</m:t>
                    </m:r>
                  </m:oMath>
                </a14:m>
                <a:r>
                  <a:rPr lang="el-GR" sz="1600" dirty="0"/>
                  <a:t>.</a:t>
                </a:r>
                <a:endParaRPr lang="en-US" sz="1600" dirty="0"/>
              </a:p>
            </p:txBody>
          </p:sp>
        </mc:Choice>
        <mc:Fallback xmlns="">
          <p:sp>
            <p:nvSpPr>
              <p:cNvPr id="15" name="Text Placeholder 6">
                <a:extLst>
                  <a:ext uri="{FF2B5EF4-FFF2-40B4-BE49-F238E27FC236}">
                    <a16:creationId xmlns:a16="http://schemas.microsoft.com/office/drawing/2014/main" id="{0F65D4FA-5F7A-BD4E-A049-ECB967CE5ACD}"/>
                  </a:ext>
                </a:extLst>
              </p:cNvPr>
              <p:cNvSpPr txBox="1">
                <a:spLocks noRot="1" noChangeAspect="1" noMove="1" noResize="1" noEditPoints="1" noAdjustHandles="1" noChangeArrowheads="1" noChangeShapeType="1" noTextEdit="1"/>
              </p:cNvSpPr>
              <p:nvPr/>
            </p:nvSpPr>
            <p:spPr>
              <a:xfrm>
                <a:off x="7143749" y="4825709"/>
                <a:ext cx="5171281" cy="1166382"/>
              </a:xfrm>
              <a:prstGeom prst="rect">
                <a:avLst/>
              </a:prstGeom>
              <a:blipFill>
                <a:blip r:embed="rId9"/>
                <a:stretch>
                  <a:fillRect l="-490" t="-4348"/>
                </a:stretch>
              </a:blipFill>
            </p:spPr>
            <p:txBody>
              <a:bodyPr/>
              <a:lstStyle/>
              <a:p>
                <a:r>
                  <a:rPr lang="en-US">
                    <a:noFill/>
                  </a:rPr>
                  <a:t> </a:t>
                </a:r>
              </a:p>
            </p:txBody>
          </p:sp>
        </mc:Fallback>
      </mc:AlternateContent>
    </p:spTree>
    <p:extLst>
      <p:ext uri="{BB962C8B-B14F-4D97-AF65-F5344CB8AC3E}">
        <p14:creationId xmlns:p14="http://schemas.microsoft.com/office/powerpoint/2010/main" val="12089775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43AE52B-9BFE-8646-9B00-25CB962DD59F}"/>
              </a:ext>
            </a:extLst>
          </p:cNvPr>
          <p:cNvSpPr/>
          <p:nvPr/>
        </p:nvSpPr>
        <p:spPr>
          <a:xfrm>
            <a:off x="2571741" y="89044"/>
            <a:ext cx="7429500" cy="523220"/>
          </a:xfrm>
          <a:prstGeom prst="rect">
            <a:avLst/>
          </a:prstGeom>
        </p:spPr>
        <p:txBody>
          <a:bodyPr wrap="square">
            <a:spAutoFit/>
          </a:bodyPr>
          <a:lstStyle/>
          <a:p>
            <a:r>
              <a:rPr lang="en-US" sz="2800" dirty="0">
                <a:solidFill>
                  <a:srgbClr val="C00000"/>
                </a:solidFill>
                <a:latin typeface="NewBaskervilleStd-Roman"/>
              </a:rPr>
              <a:t>Coordinate Systems and Components of a Vector </a:t>
            </a:r>
          </a:p>
        </p:txBody>
      </p:sp>
      <p:pic>
        <p:nvPicPr>
          <p:cNvPr id="4" name="Picture 3" descr="Diagram&#10;&#10;Description automatically generated">
            <a:extLst>
              <a:ext uri="{FF2B5EF4-FFF2-40B4-BE49-F238E27FC236}">
                <a16:creationId xmlns:a16="http://schemas.microsoft.com/office/drawing/2014/main" id="{BA654365-FB8E-1F4E-AA36-082A9E448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75" y="612264"/>
            <a:ext cx="6134100" cy="4241800"/>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585A7D91-758D-F949-B70B-0304D5B0C683}"/>
                  </a:ext>
                </a:extLst>
              </p:cNvPr>
              <p:cNvSpPr txBox="1">
                <a:spLocks/>
              </p:cNvSpPr>
              <p:nvPr/>
            </p:nvSpPr>
            <p:spPr>
              <a:xfrm>
                <a:off x="457200" y="4911216"/>
                <a:ext cx="604837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For vector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its magnitude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and its direction angle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ea typeface="Cambria Math"/>
                          </a:rPr>
                          <m:t>𝜃</m:t>
                        </m:r>
                      </m:e>
                      <m:sub>
                        <m:r>
                          <a:rPr lang="en-US" sz="2000" i="1">
                            <a:solidFill>
                              <a:srgbClr val="000066"/>
                            </a:solidFill>
                            <a:latin typeface="Cambria Math"/>
                          </a:rPr>
                          <m:t>𝐴</m:t>
                        </m:r>
                      </m:sub>
                    </m:sSub>
                  </m:oMath>
                </a14:m>
                <a:r>
                  <a:rPr lang="en-US" sz="2000" b="1" dirty="0">
                    <a:solidFill>
                      <a:srgbClr val="000066"/>
                    </a:solidFill>
                  </a:rPr>
                  <a:t> </a:t>
                </a:r>
                <a:r>
                  <a:rPr lang="en-US" sz="2000" dirty="0">
                    <a:solidFill>
                      <a:srgbClr val="000066"/>
                    </a:solidFill>
                  </a:rPr>
                  <a:t>are related to the magnitudes of its scalar components because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𝑥</m:t>
                        </m:r>
                      </m:sub>
                    </m:sSub>
                  </m:oMath>
                </a14:m>
                <a:r>
                  <a:rPr lang="en-US" sz="2000" dirty="0">
                    <a:solidFill>
                      <a:srgbClr val="000066"/>
                    </a:solidFill>
                  </a:rPr>
                  <a:t>, and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𝑦</m:t>
                        </m:r>
                      </m:sub>
                    </m:sSub>
                  </m:oMath>
                </a14:m>
                <a:r>
                  <a:rPr lang="en-US" sz="2000" b="1" dirty="0">
                    <a:solidFill>
                      <a:srgbClr val="000066"/>
                    </a:solidFill>
                  </a:rPr>
                  <a:t> </a:t>
                </a:r>
                <a:r>
                  <a:rPr lang="en-US" sz="2000" dirty="0">
                    <a:solidFill>
                      <a:srgbClr val="000066"/>
                    </a:solidFill>
                  </a:rPr>
                  <a:t>form a right triangle.</a:t>
                </a:r>
              </a:p>
            </p:txBody>
          </p:sp>
        </mc:Choice>
        <mc:Fallback xmlns="">
          <p:sp>
            <p:nvSpPr>
              <p:cNvPr id="6" name="Text Placeholder 6">
                <a:extLst>
                  <a:ext uri="{FF2B5EF4-FFF2-40B4-BE49-F238E27FC236}">
                    <a16:creationId xmlns:a16="http://schemas.microsoft.com/office/drawing/2014/main" id="{585A7D91-758D-F949-B70B-0304D5B0C683}"/>
                  </a:ext>
                </a:extLst>
              </p:cNvPr>
              <p:cNvSpPr txBox="1">
                <a:spLocks noRot="1" noChangeAspect="1" noMove="1" noResize="1" noEditPoints="1" noAdjustHandles="1" noChangeArrowheads="1" noChangeShapeType="1" noTextEdit="1"/>
              </p:cNvSpPr>
              <p:nvPr/>
            </p:nvSpPr>
            <p:spPr>
              <a:xfrm>
                <a:off x="457200" y="4911216"/>
                <a:ext cx="6048375" cy="1166382"/>
              </a:xfrm>
              <a:prstGeom prst="rect">
                <a:avLst/>
              </a:prstGeom>
              <a:blipFill>
                <a:blip r:embed="rId4"/>
                <a:stretch>
                  <a:fillRect l="-1048" t="-2151"/>
                </a:stretch>
              </a:blipFill>
            </p:spPr>
            <p:txBody>
              <a:bodyPr/>
              <a:lstStyle/>
              <a:p>
                <a:r>
                  <a:rPr lang="en-US">
                    <a:noFill/>
                  </a:rPr>
                  <a:t> </a:t>
                </a:r>
              </a:p>
            </p:txBody>
          </p:sp>
        </mc:Fallback>
      </mc:AlternateContent>
      <p:pic>
        <p:nvPicPr>
          <p:cNvPr id="8" name="Picture 7" descr="A picture containing text&#10;&#10;Description automatically generated">
            <a:extLst>
              <a:ext uri="{FF2B5EF4-FFF2-40B4-BE49-F238E27FC236}">
                <a16:creationId xmlns:a16="http://schemas.microsoft.com/office/drawing/2014/main" id="{92828F32-BAB7-FA4C-A9F0-2F9927DBF9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613" y="5947286"/>
            <a:ext cx="3429000" cy="596900"/>
          </a:xfrm>
          <a:prstGeom prst="rect">
            <a:avLst/>
          </a:prstGeom>
        </p:spPr>
      </p:pic>
      <p:pic>
        <p:nvPicPr>
          <p:cNvPr id="10" name="Picture 9" descr="Text&#10;&#10;Description automatically generated">
            <a:extLst>
              <a:ext uri="{FF2B5EF4-FFF2-40B4-BE49-F238E27FC236}">
                <a16:creationId xmlns:a16="http://schemas.microsoft.com/office/drawing/2014/main" id="{7F5C8C66-179B-4048-BC78-CE8B0737F2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74394" y="5930334"/>
            <a:ext cx="1295400" cy="673100"/>
          </a:xfrm>
          <a:prstGeom prst="rect">
            <a:avLst/>
          </a:prstGeom>
        </p:spPr>
      </p:pic>
      <p:pic>
        <p:nvPicPr>
          <p:cNvPr id="12" name="Picture 11" descr="Text&#10;&#10;Description automatically generated">
            <a:extLst>
              <a:ext uri="{FF2B5EF4-FFF2-40B4-BE49-F238E27FC236}">
                <a16:creationId xmlns:a16="http://schemas.microsoft.com/office/drawing/2014/main" id="{3055D24D-730E-2948-A55C-F32757ABF2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5575" y="5839336"/>
            <a:ext cx="1778000" cy="812800"/>
          </a:xfrm>
          <a:prstGeom prst="rect">
            <a:avLst/>
          </a:prstGeom>
        </p:spPr>
      </p:pic>
      <p:pic>
        <p:nvPicPr>
          <p:cNvPr id="11" name="Picture 10" descr="Diagram&#10;&#10;Description automatically generated">
            <a:extLst>
              <a:ext uri="{FF2B5EF4-FFF2-40B4-BE49-F238E27FC236}">
                <a16:creationId xmlns:a16="http://schemas.microsoft.com/office/drawing/2014/main" id="{48F71FDA-55D0-EA41-B02E-C509C6493A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51706" y="1094376"/>
            <a:ext cx="4668819" cy="3657600"/>
          </a:xfrm>
          <a:prstGeom prst="rect">
            <a:avLst/>
          </a:prstGeom>
        </p:spPr>
      </p:pic>
      <p:sp>
        <p:nvSpPr>
          <p:cNvPr id="13" name="Rectangle 12">
            <a:extLst>
              <a:ext uri="{FF2B5EF4-FFF2-40B4-BE49-F238E27FC236}">
                <a16:creationId xmlns:a16="http://schemas.microsoft.com/office/drawing/2014/main" id="{9995A841-4DC7-C94C-8FBF-CC49309A910F}"/>
              </a:ext>
            </a:extLst>
          </p:cNvPr>
          <p:cNvSpPr/>
          <p:nvPr/>
        </p:nvSpPr>
        <p:spPr>
          <a:xfrm>
            <a:off x="8472474" y="804320"/>
            <a:ext cx="3057534" cy="430887"/>
          </a:xfrm>
          <a:prstGeom prst="rect">
            <a:avLst/>
          </a:prstGeom>
        </p:spPr>
        <p:txBody>
          <a:bodyPr wrap="square">
            <a:spAutoFit/>
          </a:bodyPr>
          <a:lstStyle/>
          <a:p>
            <a:r>
              <a:rPr lang="en-US" sz="2200" dirty="0">
                <a:solidFill>
                  <a:srgbClr val="C00000"/>
                </a:solidFill>
                <a:latin typeface="NewBaskervilleStd-Roman"/>
              </a:rPr>
              <a:t>Polar Coordinates </a:t>
            </a:r>
          </a:p>
        </p:txBody>
      </p:sp>
    </p:spTree>
    <p:extLst>
      <p:ext uri="{BB962C8B-B14F-4D97-AF65-F5344CB8AC3E}">
        <p14:creationId xmlns:p14="http://schemas.microsoft.com/office/powerpoint/2010/main" val="2060516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43AE52B-9BFE-8646-9B00-25CB962DD59F}"/>
              </a:ext>
            </a:extLst>
          </p:cNvPr>
          <p:cNvSpPr/>
          <p:nvPr/>
        </p:nvSpPr>
        <p:spPr>
          <a:xfrm>
            <a:off x="2571741" y="89044"/>
            <a:ext cx="7429500" cy="523220"/>
          </a:xfrm>
          <a:prstGeom prst="rect">
            <a:avLst/>
          </a:prstGeom>
        </p:spPr>
        <p:txBody>
          <a:bodyPr wrap="square">
            <a:spAutoFit/>
          </a:bodyPr>
          <a:lstStyle/>
          <a:p>
            <a:r>
              <a:rPr lang="en-US" sz="2800" dirty="0">
                <a:solidFill>
                  <a:srgbClr val="C00000"/>
                </a:solidFill>
                <a:latin typeface="NewBaskervilleStd-Roman"/>
              </a:rPr>
              <a:t>Coordinate Systems and Components of a Vector </a:t>
            </a:r>
          </a:p>
        </p:txBody>
      </p:sp>
      <p:pic>
        <p:nvPicPr>
          <p:cNvPr id="8" name="Picture 7" descr="A picture containing text&#10;&#10;Description automatically generated">
            <a:extLst>
              <a:ext uri="{FF2B5EF4-FFF2-40B4-BE49-F238E27FC236}">
                <a16:creationId xmlns:a16="http://schemas.microsoft.com/office/drawing/2014/main" id="{92828F32-BAB7-FA4C-A9F0-2F9927DBF9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13" y="5947286"/>
            <a:ext cx="3429000" cy="596900"/>
          </a:xfrm>
          <a:prstGeom prst="rect">
            <a:avLst/>
          </a:prstGeom>
        </p:spPr>
      </p:pic>
      <p:pic>
        <p:nvPicPr>
          <p:cNvPr id="10" name="Picture 9" descr="Text&#10;&#10;Description automatically generated">
            <a:extLst>
              <a:ext uri="{FF2B5EF4-FFF2-40B4-BE49-F238E27FC236}">
                <a16:creationId xmlns:a16="http://schemas.microsoft.com/office/drawing/2014/main" id="{7F5C8C66-179B-4048-BC78-CE8B0737F2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4394" y="5930334"/>
            <a:ext cx="1295400" cy="673100"/>
          </a:xfrm>
          <a:prstGeom prst="rect">
            <a:avLst/>
          </a:prstGeom>
        </p:spPr>
      </p:pic>
      <p:pic>
        <p:nvPicPr>
          <p:cNvPr id="12" name="Picture 11" descr="Text&#10;&#10;Description automatically generated">
            <a:extLst>
              <a:ext uri="{FF2B5EF4-FFF2-40B4-BE49-F238E27FC236}">
                <a16:creationId xmlns:a16="http://schemas.microsoft.com/office/drawing/2014/main" id="{3055D24D-730E-2948-A55C-F32757ABF2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5575" y="5839336"/>
            <a:ext cx="1778000" cy="812800"/>
          </a:xfrm>
          <a:prstGeom prst="rect">
            <a:avLst/>
          </a:prstGeom>
        </p:spPr>
      </p:pic>
      <p:pic>
        <p:nvPicPr>
          <p:cNvPr id="11" name="Picture 10" descr="Diagram&#10;&#10;Description automatically generated">
            <a:extLst>
              <a:ext uri="{FF2B5EF4-FFF2-40B4-BE49-F238E27FC236}">
                <a16:creationId xmlns:a16="http://schemas.microsoft.com/office/drawing/2014/main" id="{48F71FDA-55D0-EA41-B02E-C509C6493A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1706" y="1094376"/>
            <a:ext cx="4668819" cy="3657600"/>
          </a:xfrm>
          <a:prstGeom prst="rect">
            <a:avLst/>
          </a:prstGeom>
        </p:spPr>
      </p:pic>
      <p:sp>
        <p:nvSpPr>
          <p:cNvPr id="13" name="Rectangle 12">
            <a:extLst>
              <a:ext uri="{FF2B5EF4-FFF2-40B4-BE49-F238E27FC236}">
                <a16:creationId xmlns:a16="http://schemas.microsoft.com/office/drawing/2014/main" id="{9995A841-4DC7-C94C-8FBF-CC49309A910F}"/>
              </a:ext>
            </a:extLst>
          </p:cNvPr>
          <p:cNvSpPr/>
          <p:nvPr/>
        </p:nvSpPr>
        <p:spPr>
          <a:xfrm>
            <a:off x="8472474" y="804320"/>
            <a:ext cx="3057534" cy="430887"/>
          </a:xfrm>
          <a:prstGeom prst="rect">
            <a:avLst/>
          </a:prstGeom>
        </p:spPr>
        <p:txBody>
          <a:bodyPr wrap="square">
            <a:spAutoFit/>
          </a:bodyPr>
          <a:lstStyle/>
          <a:p>
            <a:r>
              <a:rPr lang="en-US" sz="2200" dirty="0">
                <a:solidFill>
                  <a:srgbClr val="C00000"/>
                </a:solidFill>
                <a:latin typeface="NewBaskervilleStd-Roman"/>
              </a:rPr>
              <a:t>Polar Coordinates </a:t>
            </a:r>
          </a:p>
        </p:txBody>
      </p:sp>
      <p:sp>
        <p:nvSpPr>
          <p:cNvPr id="14" name="Rectangle 13">
            <a:extLst>
              <a:ext uri="{FF2B5EF4-FFF2-40B4-BE49-F238E27FC236}">
                <a16:creationId xmlns:a16="http://schemas.microsoft.com/office/drawing/2014/main" id="{C40B1E3C-EFBE-8149-805B-E25E7DC983C4}"/>
              </a:ext>
            </a:extLst>
          </p:cNvPr>
          <p:cNvSpPr/>
          <p:nvPr/>
        </p:nvSpPr>
        <p:spPr>
          <a:xfrm>
            <a:off x="1494925" y="1551355"/>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15" name="Rectangle 14">
            <a:extLst>
              <a:ext uri="{FF2B5EF4-FFF2-40B4-BE49-F238E27FC236}">
                <a16:creationId xmlns:a16="http://schemas.microsoft.com/office/drawing/2014/main" id="{EDD533D8-8736-3747-82F8-CF6801749ECE}"/>
              </a:ext>
            </a:extLst>
          </p:cNvPr>
          <p:cNvSpPr/>
          <p:nvPr/>
        </p:nvSpPr>
        <p:spPr>
          <a:xfrm>
            <a:off x="1494925" y="1954712"/>
            <a:ext cx="5287376" cy="2246769"/>
          </a:xfrm>
          <a:prstGeom prst="rect">
            <a:avLst/>
          </a:prstGeom>
        </p:spPr>
        <p:txBody>
          <a:bodyPr wrap="square">
            <a:spAutoFit/>
          </a:bodyPr>
          <a:lstStyle/>
          <a:p>
            <a:r>
              <a:rPr lang="en-US" sz="2000" dirty="0">
                <a:solidFill>
                  <a:srgbClr val="000066"/>
                </a:solidFill>
                <a:latin typeface="LiberationSerif"/>
              </a:rPr>
              <a:t>A treasure hunter finds one silver coin at a location 20.0 m away from a dry well in the direction </a:t>
            </a:r>
            <a:r>
              <a:rPr lang="en-US" sz="2000" dirty="0">
                <a:solidFill>
                  <a:srgbClr val="000066"/>
                </a:solidFill>
                <a:latin typeface="STIXGeneral" pitchFamily="2" charset="2"/>
              </a:rPr>
              <a:t>20° </a:t>
            </a:r>
            <a:r>
              <a:rPr lang="en-US" sz="2000" dirty="0">
                <a:solidFill>
                  <a:srgbClr val="C00000"/>
                </a:solidFill>
                <a:latin typeface="LiberationSerif"/>
              </a:rPr>
              <a:t>north of east </a:t>
            </a:r>
            <a:r>
              <a:rPr lang="en-US" sz="2000" dirty="0">
                <a:solidFill>
                  <a:srgbClr val="000066"/>
                </a:solidFill>
                <a:latin typeface="LiberationSerif"/>
              </a:rPr>
              <a:t>and finds one gold coin at a location 10.0 m away from the well in the direction </a:t>
            </a:r>
            <a:r>
              <a:rPr lang="en-US" sz="2000" dirty="0">
                <a:solidFill>
                  <a:srgbClr val="000066"/>
                </a:solidFill>
                <a:latin typeface="STIXGeneral" pitchFamily="2" charset="2"/>
              </a:rPr>
              <a:t>20° </a:t>
            </a:r>
            <a:r>
              <a:rPr lang="en-US" sz="2000" dirty="0">
                <a:solidFill>
                  <a:srgbClr val="008000"/>
                </a:solidFill>
                <a:latin typeface="LiberationSerif"/>
              </a:rPr>
              <a:t>north of west. </a:t>
            </a:r>
            <a:r>
              <a:rPr lang="en-US" sz="2000" dirty="0">
                <a:solidFill>
                  <a:srgbClr val="000066"/>
                </a:solidFill>
                <a:latin typeface="LiberationSerif"/>
              </a:rPr>
              <a:t>What are the polar and rectangular coordinates of these findings with respect to the well? </a:t>
            </a:r>
            <a:endParaRPr lang="en-US" sz="2000" dirty="0">
              <a:solidFill>
                <a:srgbClr val="000066"/>
              </a:solidFill>
            </a:endParaRPr>
          </a:p>
        </p:txBody>
      </p:sp>
    </p:spTree>
    <p:extLst>
      <p:ext uri="{BB962C8B-B14F-4D97-AF65-F5344CB8AC3E}">
        <p14:creationId xmlns:p14="http://schemas.microsoft.com/office/powerpoint/2010/main" val="40647019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43AE52B-9BFE-8646-9B00-25CB962DD59F}"/>
              </a:ext>
            </a:extLst>
          </p:cNvPr>
          <p:cNvSpPr/>
          <p:nvPr/>
        </p:nvSpPr>
        <p:spPr>
          <a:xfrm>
            <a:off x="2571741" y="89044"/>
            <a:ext cx="7429500" cy="523220"/>
          </a:xfrm>
          <a:prstGeom prst="rect">
            <a:avLst/>
          </a:prstGeom>
        </p:spPr>
        <p:txBody>
          <a:bodyPr wrap="square">
            <a:spAutoFit/>
          </a:bodyPr>
          <a:lstStyle/>
          <a:p>
            <a:r>
              <a:rPr lang="en-US" sz="2800" dirty="0">
                <a:solidFill>
                  <a:srgbClr val="C00000"/>
                </a:solidFill>
                <a:latin typeface="NewBaskervilleStd-Roman"/>
              </a:rPr>
              <a:t>Coordinate Systems and Components of a Vector </a:t>
            </a:r>
          </a:p>
        </p:txBody>
      </p:sp>
      <p:pic>
        <p:nvPicPr>
          <p:cNvPr id="4" name="Picture 3" descr="Diagram&#10;&#10;Description automatically generated">
            <a:extLst>
              <a:ext uri="{FF2B5EF4-FFF2-40B4-BE49-F238E27FC236}">
                <a16:creationId xmlns:a16="http://schemas.microsoft.com/office/drawing/2014/main" id="{BA654365-FB8E-1F4E-AA36-082A9E448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75" y="612264"/>
            <a:ext cx="6134100" cy="4241800"/>
          </a:xfrm>
          <a:prstGeom prst="rect">
            <a:avLst/>
          </a:prstGeom>
        </p:spPr>
      </p:pic>
      <mc:AlternateContent xmlns:mc="http://schemas.openxmlformats.org/markup-compatibility/2006" xmlns:a14="http://schemas.microsoft.com/office/drawing/2010/main">
        <mc:Choice Requires="a14">
          <p:sp>
            <p:nvSpPr>
              <p:cNvPr id="6" name="Text Placeholder 6">
                <a:extLst>
                  <a:ext uri="{FF2B5EF4-FFF2-40B4-BE49-F238E27FC236}">
                    <a16:creationId xmlns:a16="http://schemas.microsoft.com/office/drawing/2014/main" id="{585A7D91-758D-F949-B70B-0304D5B0C683}"/>
                  </a:ext>
                </a:extLst>
              </p:cNvPr>
              <p:cNvSpPr txBox="1">
                <a:spLocks/>
              </p:cNvSpPr>
              <p:nvPr/>
            </p:nvSpPr>
            <p:spPr>
              <a:xfrm>
                <a:off x="457200" y="4911216"/>
                <a:ext cx="604837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For vector </a:t>
                </a:r>
                <a14:m>
                  <m:oMath xmlns:m="http://schemas.openxmlformats.org/officeDocument/2006/math">
                    <m:acc>
                      <m:accPr>
                        <m:chr m:val="⃗"/>
                        <m:ctrlPr>
                          <a:rPr lang="en-US" sz="2000" b="1" i="1" dirty="0">
                            <a:solidFill>
                              <a:srgbClr val="000066"/>
                            </a:solidFill>
                            <a:latin typeface="Cambria Math" panose="02040503050406030204" pitchFamily="18" charset="0"/>
                          </a:rPr>
                        </m:ctrlPr>
                      </m:accPr>
                      <m:e>
                        <m:r>
                          <a:rPr lang="en-US" sz="2000" b="1" dirty="0">
                            <a:solidFill>
                              <a:srgbClr val="000066"/>
                            </a:solidFill>
                            <a:latin typeface="Cambria Math"/>
                          </a:rPr>
                          <m:t>𝐀</m:t>
                        </m:r>
                      </m:e>
                    </m:acc>
                  </m:oMath>
                </a14:m>
                <a:r>
                  <a:rPr lang="en-US" sz="2000" dirty="0">
                    <a:solidFill>
                      <a:srgbClr val="000066"/>
                    </a:solidFill>
                  </a:rPr>
                  <a:t>, its magnitude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and its direction angle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ea typeface="Cambria Math"/>
                          </a:rPr>
                          <m:t>𝜃</m:t>
                        </m:r>
                      </m:e>
                      <m:sub>
                        <m:r>
                          <a:rPr lang="en-US" sz="2000" i="1">
                            <a:solidFill>
                              <a:srgbClr val="000066"/>
                            </a:solidFill>
                            <a:latin typeface="Cambria Math"/>
                          </a:rPr>
                          <m:t>𝐴</m:t>
                        </m:r>
                      </m:sub>
                    </m:sSub>
                  </m:oMath>
                </a14:m>
                <a:r>
                  <a:rPr lang="en-US" sz="2000" b="1" dirty="0">
                    <a:solidFill>
                      <a:srgbClr val="000066"/>
                    </a:solidFill>
                  </a:rPr>
                  <a:t> </a:t>
                </a:r>
                <a:r>
                  <a:rPr lang="en-US" sz="2000" dirty="0">
                    <a:solidFill>
                      <a:srgbClr val="000066"/>
                    </a:solidFill>
                  </a:rPr>
                  <a:t>are related to the magnitudes of its scalar components because </a:t>
                </a:r>
                <a14:m>
                  <m:oMath xmlns:m="http://schemas.openxmlformats.org/officeDocument/2006/math">
                    <m:r>
                      <a:rPr lang="en-US" sz="2000" i="1">
                        <a:solidFill>
                          <a:srgbClr val="000066"/>
                        </a:solidFill>
                        <a:latin typeface="Cambria Math"/>
                      </a:rPr>
                      <m:t>𝐴</m:t>
                    </m:r>
                  </m:oMath>
                </a14:m>
                <a:r>
                  <a:rPr lang="en-US" sz="2000" dirty="0">
                    <a:solidFill>
                      <a:srgbClr val="000066"/>
                    </a:solidFill>
                  </a:rPr>
                  <a:t>,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𝑥</m:t>
                        </m:r>
                      </m:sub>
                    </m:sSub>
                  </m:oMath>
                </a14:m>
                <a:r>
                  <a:rPr lang="en-US" sz="2000" dirty="0">
                    <a:solidFill>
                      <a:srgbClr val="000066"/>
                    </a:solidFill>
                  </a:rPr>
                  <a:t>, and </a:t>
                </a:r>
                <a14:m>
                  <m:oMath xmlns:m="http://schemas.openxmlformats.org/officeDocument/2006/math">
                    <m:sSub>
                      <m:sSubPr>
                        <m:ctrlPr>
                          <a:rPr lang="en-US" sz="2000" i="1">
                            <a:solidFill>
                              <a:srgbClr val="000066"/>
                            </a:solidFill>
                            <a:latin typeface="Cambria Math" panose="02040503050406030204" pitchFamily="18" charset="0"/>
                          </a:rPr>
                        </m:ctrlPr>
                      </m:sSubPr>
                      <m:e>
                        <m:r>
                          <a:rPr lang="en-US" sz="2000" i="1">
                            <a:solidFill>
                              <a:srgbClr val="000066"/>
                            </a:solidFill>
                            <a:latin typeface="Cambria Math"/>
                          </a:rPr>
                          <m:t>𝐴</m:t>
                        </m:r>
                      </m:e>
                      <m:sub>
                        <m:r>
                          <a:rPr lang="en-US" sz="2000" i="1">
                            <a:solidFill>
                              <a:srgbClr val="000066"/>
                            </a:solidFill>
                            <a:latin typeface="Cambria Math"/>
                          </a:rPr>
                          <m:t>𝑦</m:t>
                        </m:r>
                      </m:sub>
                    </m:sSub>
                  </m:oMath>
                </a14:m>
                <a:r>
                  <a:rPr lang="en-US" sz="2000" b="1" dirty="0">
                    <a:solidFill>
                      <a:srgbClr val="000066"/>
                    </a:solidFill>
                  </a:rPr>
                  <a:t> </a:t>
                </a:r>
                <a:r>
                  <a:rPr lang="en-US" sz="2000" dirty="0">
                    <a:solidFill>
                      <a:srgbClr val="000066"/>
                    </a:solidFill>
                  </a:rPr>
                  <a:t>form a right triangle.</a:t>
                </a:r>
              </a:p>
            </p:txBody>
          </p:sp>
        </mc:Choice>
        <mc:Fallback xmlns="">
          <p:sp>
            <p:nvSpPr>
              <p:cNvPr id="6" name="Text Placeholder 6">
                <a:extLst>
                  <a:ext uri="{FF2B5EF4-FFF2-40B4-BE49-F238E27FC236}">
                    <a16:creationId xmlns:a16="http://schemas.microsoft.com/office/drawing/2014/main" id="{585A7D91-758D-F949-B70B-0304D5B0C683}"/>
                  </a:ext>
                </a:extLst>
              </p:cNvPr>
              <p:cNvSpPr txBox="1">
                <a:spLocks noRot="1" noChangeAspect="1" noMove="1" noResize="1" noEditPoints="1" noAdjustHandles="1" noChangeArrowheads="1" noChangeShapeType="1" noTextEdit="1"/>
              </p:cNvSpPr>
              <p:nvPr/>
            </p:nvSpPr>
            <p:spPr>
              <a:xfrm>
                <a:off x="457200" y="4911216"/>
                <a:ext cx="6048375" cy="1166382"/>
              </a:xfrm>
              <a:prstGeom prst="rect">
                <a:avLst/>
              </a:prstGeom>
              <a:blipFill>
                <a:blip r:embed="rId4"/>
                <a:stretch>
                  <a:fillRect l="-1048" t="-2151"/>
                </a:stretch>
              </a:blipFill>
            </p:spPr>
            <p:txBody>
              <a:bodyPr/>
              <a:lstStyle/>
              <a:p>
                <a:r>
                  <a:rPr lang="en-US">
                    <a:noFill/>
                  </a:rPr>
                  <a:t> </a:t>
                </a:r>
              </a:p>
            </p:txBody>
          </p:sp>
        </mc:Fallback>
      </mc:AlternateContent>
      <p:pic>
        <p:nvPicPr>
          <p:cNvPr id="8" name="Picture 7" descr="A picture containing text&#10;&#10;Description automatically generated">
            <a:extLst>
              <a:ext uri="{FF2B5EF4-FFF2-40B4-BE49-F238E27FC236}">
                <a16:creationId xmlns:a16="http://schemas.microsoft.com/office/drawing/2014/main" id="{92828F32-BAB7-FA4C-A9F0-2F9927DBF9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613" y="5947286"/>
            <a:ext cx="3429000" cy="596900"/>
          </a:xfrm>
          <a:prstGeom prst="rect">
            <a:avLst/>
          </a:prstGeom>
        </p:spPr>
      </p:pic>
      <p:pic>
        <p:nvPicPr>
          <p:cNvPr id="10" name="Picture 9" descr="Text&#10;&#10;Description automatically generated">
            <a:extLst>
              <a:ext uri="{FF2B5EF4-FFF2-40B4-BE49-F238E27FC236}">
                <a16:creationId xmlns:a16="http://schemas.microsoft.com/office/drawing/2014/main" id="{7F5C8C66-179B-4048-BC78-CE8B0737F2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74394" y="5930334"/>
            <a:ext cx="1295400" cy="673100"/>
          </a:xfrm>
          <a:prstGeom prst="rect">
            <a:avLst/>
          </a:prstGeom>
        </p:spPr>
      </p:pic>
      <p:pic>
        <p:nvPicPr>
          <p:cNvPr id="12" name="Picture 11" descr="Text&#10;&#10;Description automatically generated">
            <a:extLst>
              <a:ext uri="{FF2B5EF4-FFF2-40B4-BE49-F238E27FC236}">
                <a16:creationId xmlns:a16="http://schemas.microsoft.com/office/drawing/2014/main" id="{3055D24D-730E-2948-A55C-F32757ABF2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5575" y="5839336"/>
            <a:ext cx="1778000" cy="812800"/>
          </a:xfrm>
          <a:prstGeom prst="rect">
            <a:avLst/>
          </a:prstGeom>
        </p:spPr>
      </p:pic>
      <p:pic>
        <p:nvPicPr>
          <p:cNvPr id="11" name="Picture 10" descr="Diagram&#10;&#10;Description automatically generated">
            <a:extLst>
              <a:ext uri="{FF2B5EF4-FFF2-40B4-BE49-F238E27FC236}">
                <a16:creationId xmlns:a16="http://schemas.microsoft.com/office/drawing/2014/main" id="{48F71FDA-55D0-EA41-B02E-C509C6493A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94575" y="1094376"/>
            <a:ext cx="4668820" cy="3657600"/>
          </a:xfrm>
          <a:prstGeom prst="rect">
            <a:avLst/>
          </a:prstGeom>
        </p:spPr>
      </p:pic>
      <p:sp>
        <p:nvSpPr>
          <p:cNvPr id="13" name="Rectangle 12">
            <a:extLst>
              <a:ext uri="{FF2B5EF4-FFF2-40B4-BE49-F238E27FC236}">
                <a16:creationId xmlns:a16="http://schemas.microsoft.com/office/drawing/2014/main" id="{9995A841-4DC7-C94C-8FBF-CC49309A910F}"/>
              </a:ext>
            </a:extLst>
          </p:cNvPr>
          <p:cNvSpPr/>
          <p:nvPr/>
        </p:nvSpPr>
        <p:spPr>
          <a:xfrm>
            <a:off x="8472474" y="804320"/>
            <a:ext cx="3057534" cy="430887"/>
          </a:xfrm>
          <a:prstGeom prst="rect">
            <a:avLst/>
          </a:prstGeom>
        </p:spPr>
        <p:txBody>
          <a:bodyPr wrap="square">
            <a:spAutoFit/>
          </a:bodyPr>
          <a:lstStyle/>
          <a:p>
            <a:r>
              <a:rPr lang="en-US" sz="2200" dirty="0">
                <a:solidFill>
                  <a:srgbClr val="C00000"/>
                </a:solidFill>
                <a:latin typeface="NewBaskervilleStd-Roman"/>
              </a:rPr>
              <a:t>Polar Coordinates </a:t>
            </a:r>
          </a:p>
        </p:txBody>
      </p:sp>
      <p:sp>
        <p:nvSpPr>
          <p:cNvPr id="14" name="Rectangle 13">
            <a:extLst>
              <a:ext uri="{FF2B5EF4-FFF2-40B4-BE49-F238E27FC236}">
                <a16:creationId xmlns:a16="http://schemas.microsoft.com/office/drawing/2014/main" id="{22772571-5EED-DA4B-8FAA-2575BA542CBC}"/>
              </a:ext>
            </a:extLst>
          </p:cNvPr>
          <p:cNvSpPr/>
          <p:nvPr/>
        </p:nvSpPr>
        <p:spPr>
          <a:xfrm>
            <a:off x="6681791" y="4699414"/>
            <a:ext cx="5195886" cy="400110"/>
          </a:xfrm>
          <a:prstGeom prst="rect">
            <a:avLst/>
          </a:prstGeom>
        </p:spPr>
        <p:txBody>
          <a:bodyPr wrap="square">
            <a:spAutoFit/>
          </a:bodyPr>
          <a:lstStyle/>
          <a:p>
            <a:r>
              <a:rPr lang="en-US" sz="2000" dirty="0">
                <a:solidFill>
                  <a:srgbClr val="0000CC"/>
                </a:solidFill>
              </a:rPr>
              <a:t>Assignment 2</a:t>
            </a:r>
          </a:p>
        </p:txBody>
      </p:sp>
      <p:pic>
        <p:nvPicPr>
          <p:cNvPr id="7" name="Picture 6" descr="Text&#10;&#10;Description automatically generated">
            <a:extLst>
              <a:ext uri="{FF2B5EF4-FFF2-40B4-BE49-F238E27FC236}">
                <a16:creationId xmlns:a16="http://schemas.microsoft.com/office/drawing/2014/main" id="{85C87F09-1EEA-AA4B-9AAD-976277273A7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38664" y="5049992"/>
            <a:ext cx="5399948" cy="731520"/>
          </a:xfrm>
          <a:prstGeom prst="rect">
            <a:avLst/>
          </a:prstGeom>
        </p:spPr>
      </p:pic>
    </p:spTree>
    <p:extLst>
      <p:ext uri="{BB962C8B-B14F-4D97-AF65-F5344CB8AC3E}">
        <p14:creationId xmlns:p14="http://schemas.microsoft.com/office/powerpoint/2010/main" val="3066429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5FCA0B0-FC29-8549-A63C-D4FAB1E6D89B}"/>
              </a:ext>
            </a:extLst>
          </p:cNvPr>
          <p:cNvSpPr/>
          <p:nvPr/>
        </p:nvSpPr>
        <p:spPr>
          <a:xfrm>
            <a:off x="3157528" y="89044"/>
            <a:ext cx="7429500" cy="523220"/>
          </a:xfrm>
          <a:prstGeom prst="rect">
            <a:avLst/>
          </a:prstGeom>
        </p:spPr>
        <p:txBody>
          <a:bodyPr wrap="square">
            <a:spAutoFit/>
          </a:bodyPr>
          <a:lstStyle/>
          <a:p>
            <a:r>
              <a:rPr lang="en-US" sz="2800" dirty="0">
                <a:solidFill>
                  <a:srgbClr val="C00000"/>
                </a:solidFill>
                <a:latin typeface="NewBaskervilleStd-Roman"/>
              </a:rPr>
              <a:t>Vectors in Three Dimensions </a:t>
            </a:r>
          </a:p>
        </p:txBody>
      </p:sp>
      <p:pic>
        <p:nvPicPr>
          <p:cNvPr id="4" name="Picture 3" descr="Shape, rectangle&#10;&#10;Description automatically generated">
            <a:extLst>
              <a:ext uri="{FF2B5EF4-FFF2-40B4-BE49-F238E27FC236}">
                <a16:creationId xmlns:a16="http://schemas.microsoft.com/office/drawing/2014/main" id="{AFC38A5F-A151-E846-ACB2-AAFD46E8B7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03" y="612264"/>
            <a:ext cx="3657600" cy="3657600"/>
          </a:xfrm>
          <a:prstGeom prst="rect">
            <a:avLst/>
          </a:prstGeom>
        </p:spPr>
      </p:pic>
      <p:sp>
        <p:nvSpPr>
          <p:cNvPr id="6" name="Text Placeholder 6">
            <a:extLst>
              <a:ext uri="{FF2B5EF4-FFF2-40B4-BE49-F238E27FC236}">
                <a16:creationId xmlns:a16="http://schemas.microsoft.com/office/drawing/2014/main" id="{C599E8BF-C12E-4F49-932E-08B293A823A7}"/>
              </a:ext>
            </a:extLst>
          </p:cNvPr>
          <p:cNvSpPr txBox="1">
            <a:spLocks/>
          </p:cNvSpPr>
          <p:nvPr/>
        </p:nvSpPr>
        <p:spPr>
          <a:xfrm>
            <a:off x="4278303" y="895592"/>
            <a:ext cx="6443663"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Three unit vectors define a Cartesian system in three-dimensional space. The order in which these unit vectors appear defines the orientation of the coordinate system. The order shown here defines the right-handed orientation.</a:t>
            </a:r>
          </a:p>
        </p:txBody>
      </p:sp>
      <p:pic>
        <p:nvPicPr>
          <p:cNvPr id="8" name="Picture 7" descr="Chart&#10;&#10;Description automatically generated">
            <a:extLst>
              <a:ext uri="{FF2B5EF4-FFF2-40B4-BE49-F238E27FC236}">
                <a16:creationId xmlns:a16="http://schemas.microsoft.com/office/drawing/2014/main" id="{8C36A256-ECEE-DE47-A6D8-4845DBC9B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4434" y="3031470"/>
            <a:ext cx="4162425" cy="3657600"/>
          </a:xfrm>
          <a:prstGeom prst="rect">
            <a:avLst/>
          </a:prstGeom>
        </p:spPr>
      </p:pic>
      <p:sp>
        <p:nvSpPr>
          <p:cNvPr id="9" name="Rectangle 8">
            <a:extLst>
              <a:ext uri="{FF2B5EF4-FFF2-40B4-BE49-F238E27FC236}">
                <a16:creationId xmlns:a16="http://schemas.microsoft.com/office/drawing/2014/main" id="{6490588F-0CD8-9540-886C-17A4019C0543}"/>
              </a:ext>
            </a:extLst>
          </p:cNvPr>
          <p:cNvSpPr/>
          <p:nvPr/>
        </p:nvSpPr>
        <p:spPr>
          <a:xfrm>
            <a:off x="6096000" y="2323584"/>
            <a:ext cx="4880115" cy="707886"/>
          </a:xfrm>
          <a:prstGeom prst="rect">
            <a:avLst/>
          </a:prstGeom>
        </p:spPr>
        <p:txBody>
          <a:bodyPr wrap="square">
            <a:spAutoFit/>
          </a:bodyPr>
          <a:lstStyle/>
          <a:p>
            <a:r>
              <a:rPr lang="en-US" sz="2000" dirty="0">
                <a:solidFill>
                  <a:srgbClr val="C00000"/>
                </a:solidFill>
                <a:latin typeface="LiberationSerif"/>
              </a:rPr>
              <a:t>A vector in three-dimensional space is the vector sum of its three vector components. </a:t>
            </a:r>
            <a:endParaRPr lang="en-US" sz="2000" dirty="0">
              <a:solidFill>
                <a:srgbClr val="C00000"/>
              </a:solidFill>
            </a:endParaRPr>
          </a:p>
        </p:txBody>
      </p:sp>
      <p:pic>
        <p:nvPicPr>
          <p:cNvPr id="13" name="Picture 12" descr="Black text on a white background&#10;&#10;Description automatically generated with medium confidence">
            <a:extLst>
              <a:ext uri="{FF2B5EF4-FFF2-40B4-BE49-F238E27FC236}">
                <a16:creationId xmlns:a16="http://schemas.microsoft.com/office/drawing/2014/main" id="{F0E508A6-149D-DB40-8425-352F3EE4D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0100" y="4860270"/>
            <a:ext cx="2755900" cy="660400"/>
          </a:xfrm>
          <a:prstGeom prst="rect">
            <a:avLst/>
          </a:prstGeom>
        </p:spPr>
      </p:pic>
      <p:pic>
        <p:nvPicPr>
          <p:cNvPr id="19" name="Picture 18" descr="Diagram, schematic&#10;&#10;Description automatically generated">
            <a:extLst>
              <a:ext uri="{FF2B5EF4-FFF2-40B4-BE49-F238E27FC236}">
                <a16:creationId xmlns:a16="http://schemas.microsoft.com/office/drawing/2014/main" id="{4FE6FBF1-2405-E24C-A015-94045A1EC7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52850" y="5520670"/>
            <a:ext cx="1930400" cy="520700"/>
          </a:xfrm>
          <a:prstGeom prst="rect">
            <a:avLst/>
          </a:prstGeom>
        </p:spPr>
      </p:pic>
    </p:spTree>
    <p:extLst>
      <p:ext uri="{BB962C8B-B14F-4D97-AF65-F5344CB8AC3E}">
        <p14:creationId xmlns:p14="http://schemas.microsoft.com/office/powerpoint/2010/main" val="30084421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5FCA0B0-FC29-8549-A63C-D4FAB1E6D89B}"/>
              </a:ext>
            </a:extLst>
          </p:cNvPr>
          <p:cNvSpPr/>
          <p:nvPr/>
        </p:nvSpPr>
        <p:spPr>
          <a:xfrm>
            <a:off x="3157528" y="89044"/>
            <a:ext cx="7429500" cy="523220"/>
          </a:xfrm>
          <a:prstGeom prst="rect">
            <a:avLst/>
          </a:prstGeom>
        </p:spPr>
        <p:txBody>
          <a:bodyPr wrap="square">
            <a:spAutoFit/>
          </a:bodyPr>
          <a:lstStyle/>
          <a:p>
            <a:r>
              <a:rPr lang="en-US" sz="2800" dirty="0">
                <a:solidFill>
                  <a:srgbClr val="C00000"/>
                </a:solidFill>
                <a:latin typeface="NewBaskervilleStd-Roman"/>
              </a:rPr>
              <a:t>Vectors in Three Dimensions </a:t>
            </a:r>
          </a:p>
        </p:txBody>
      </p:sp>
      <p:pic>
        <p:nvPicPr>
          <p:cNvPr id="8" name="Picture 7" descr="Chart&#10;&#10;Description automatically generated">
            <a:extLst>
              <a:ext uri="{FF2B5EF4-FFF2-40B4-BE49-F238E27FC236}">
                <a16:creationId xmlns:a16="http://schemas.microsoft.com/office/drawing/2014/main" id="{8C36A256-ECEE-DE47-A6D8-4845DBC9BE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4434" y="3031470"/>
            <a:ext cx="4162425" cy="3657600"/>
          </a:xfrm>
          <a:prstGeom prst="rect">
            <a:avLst/>
          </a:prstGeom>
        </p:spPr>
      </p:pic>
      <p:sp>
        <p:nvSpPr>
          <p:cNvPr id="9" name="Rectangle 8">
            <a:extLst>
              <a:ext uri="{FF2B5EF4-FFF2-40B4-BE49-F238E27FC236}">
                <a16:creationId xmlns:a16="http://schemas.microsoft.com/office/drawing/2014/main" id="{6490588F-0CD8-9540-886C-17A4019C0543}"/>
              </a:ext>
            </a:extLst>
          </p:cNvPr>
          <p:cNvSpPr/>
          <p:nvPr/>
        </p:nvSpPr>
        <p:spPr>
          <a:xfrm>
            <a:off x="6096000" y="2323584"/>
            <a:ext cx="4880115" cy="707886"/>
          </a:xfrm>
          <a:prstGeom prst="rect">
            <a:avLst/>
          </a:prstGeom>
        </p:spPr>
        <p:txBody>
          <a:bodyPr wrap="square">
            <a:spAutoFit/>
          </a:bodyPr>
          <a:lstStyle/>
          <a:p>
            <a:r>
              <a:rPr lang="en-US" sz="2000" dirty="0">
                <a:solidFill>
                  <a:srgbClr val="C00000"/>
                </a:solidFill>
                <a:latin typeface="LiberationSerif"/>
              </a:rPr>
              <a:t>A vector in three-dimensional space is the vector sum of its three vector components. </a:t>
            </a:r>
            <a:endParaRPr lang="en-US" sz="2000" dirty="0">
              <a:solidFill>
                <a:srgbClr val="C00000"/>
              </a:solidFill>
            </a:endParaRPr>
          </a:p>
        </p:txBody>
      </p:sp>
      <p:pic>
        <p:nvPicPr>
          <p:cNvPr id="13" name="Picture 12" descr="Black text on a white background&#10;&#10;Description automatically generated with medium confidence">
            <a:extLst>
              <a:ext uri="{FF2B5EF4-FFF2-40B4-BE49-F238E27FC236}">
                <a16:creationId xmlns:a16="http://schemas.microsoft.com/office/drawing/2014/main" id="{F0E508A6-149D-DB40-8425-352F3EE4D5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0100" y="4860270"/>
            <a:ext cx="2755900" cy="660400"/>
          </a:xfrm>
          <a:prstGeom prst="rect">
            <a:avLst/>
          </a:prstGeom>
        </p:spPr>
      </p:pic>
      <p:pic>
        <p:nvPicPr>
          <p:cNvPr id="19" name="Picture 18" descr="Diagram, schematic&#10;&#10;Description automatically generated">
            <a:extLst>
              <a:ext uri="{FF2B5EF4-FFF2-40B4-BE49-F238E27FC236}">
                <a16:creationId xmlns:a16="http://schemas.microsoft.com/office/drawing/2014/main" id="{4FE6FBF1-2405-E24C-A015-94045A1EC7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2850" y="5520670"/>
            <a:ext cx="1930400" cy="520700"/>
          </a:xfrm>
          <a:prstGeom prst="rect">
            <a:avLst/>
          </a:prstGeom>
        </p:spPr>
      </p:pic>
      <p:pic>
        <p:nvPicPr>
          <p:cNvPr id="20" name="Picture Placeholder 1" descr="A photo of a drone plane.">
            <a:extLst>
              <a:ext uri="{FF2B5EF4-FFF2-40B4-BE49-F238E27FC236}">
                <a16:creationId xmlns:a16="http://schemas.microsoft.com/office/drawing/2014/main" id="{00FE9817-7288-E844-BD97-077754EFF8B5}"/>
              </a:ext>
            </a:extLst>
          </p:cNvPr>
          <p:cNvPicPr>
            <a:picLocks noChangeAspect="1"/>
          </p:cNvPicPr>
          <p:nvPr/>
        </p:nvPicPr>
        <p:blipFill>
          <a:blip r:embed="rId6">
            <a:extLst>
              <a:ext uri="{28A0092B-C50C-407E-A947-70E740481C1C}">
                <a14:useLocalDpi xmlns:a14="http://schemas.microsoft.com/office/drawing/2010/main" val="0"/>
              </a:ext>
            </a:extLst>
          </a:blip>
          <a:srcRect l="-11430" r="-11430"/>
          <a:stretch>
            <a:fillRect/>
          </a:stretch>
        </p:blipFill>
        <p:spPr>
          <a:xfrm>
            <a:off x="806444" y="612264"/>
            <a:ext cx="4212902" cy="1828800"/>
          </a:xfrm>
          <a:prstGeom prst="rect">
            <a:avLst/>
          </a:prstGeom>
        </p:spPr>
      </p:pic>
      <p:sp>
        <p:nvSpPr>
          <p:cNvPr id="21" name="Text Placeholder 6">
            <a:extLst>
              <a:ext uri="{FF2B5EF4-FFF2-40B4-BE49-F238E27FC236}">
                <a16:creationId xmlns:a16="http://schemas.microsoft.com/office/drawing/2014/main" id="{63B72D79-3E24-4941-A072-83A0C119E830}"/>
              </a:ext>
            </a:extLst>
          </p:cNvPr>
          <p:cNvSpPr txBox="1">
            <a:spLocks/>
          </p:cNvSpPr>
          <p:nvPr/>
        </p:nvSpPr>
        <p:spPr>
          <a:xfrm>
            <a:off x="4576041" y="1415522"/>
            <a:ext cx="8062912"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3B124D"/>
                </a:solidFill>
              </a:rPr>
              <a:t>The drone IAI Heron in flight. </a:t>
            </a:r>
          </a:p>
          <a:p>
            <a:pPr marL="0" indent="0">
              <a:buNone/>
            </a:pPr>
            <a:r>
              <a:rPr lang="en-US" sz="1000" dirty="0">
                <a:solidFill>
                  <a:srgbClr val="3B124D"/>
                </a:solidFill>
              </a:rPr>
              <a:t>(credit: SSgt Reynaldo Ramon, USAF)</a:t>
            </a:r>
          </a:p>
        </p:txBody>
      </p:sp>
      <p:sp>
        <p:nvSpPr>
          <p:cNvPr id="22" name="Rectangle 21">
            <a:extLst>
              <a:ext uri="{FF2B5EF4-FFF2-40B4-BE49-F238E27FC236}">
                <a16:creationId xmlns:a16="http://schemas.microsoft.com/office/drawing/2014/main" id="{87BF7F33-90BE-4C41-A0C5-3388AAE58E3B}"/>
              </a:ext>
            </a:extLst>
          </p:cNvPr>
          <p:cNvSpPr/>
          <p:nvPr/>
        </p:nvSpPr>
        <p:spPr>
          <a:xfrm>
            <a:off x="476238" y="2730969"/>
            <a:ext cx="5362580" cy="2031325"/>
          </a:xfrm>
          <a:prstGeom prst="rect">
            <a:avLst/>
          </a:prstGeom>
        </p:spPr>
        <p:txBody>
          <a:bodyPr wrap="square">
            <a:spAutoFit/>
          </a:bodyPr>
          <a:lstStyle/>
          <a:p>
            <a:r>
              <a:rPr lang="en-US" dirty="0">
                <a:solidFill>
                  <a:srgbClr val="000066"/>
                </a:solidFill>
                <a:latin typeface="LiberationSerif"/>
              </a:rPr>
              <a:t>During a takeoff of IAI Heron, its position with respect to a control tower is 100 m above the ground, 300 m to the east, and 200 m to the north. One minute later, its position is 250 m above the ground, 1200 m to the east, and 2100 m to the north. What is the drone’s displacement vector with respect to the control tower? What is the magnitude of its displacement vector? </a:t>
            </a:r>
            <a:endParaRPr lang="en-US" dirty="0">
              <a:solidFill>
                <a:srgbClr val="000066"/>
              </a:solidFill>
            </a:endParaRPr>
          </a:p>
        </p:txBody>
      </p:sp>
      <p:sp>
        <p:nvSpPr>
          <p:cNvPr id="23" name="Rectangle 22">
            <a:extLst>
              <a:ext uri="{FF2B5EF4-FFF2-40B4-BE49-F238E27FC236}">
                <a16:creationId xmlns:a16="http://schemas.microsoft.com/office/drawing/2014/main" id="{EFBAE551-1F1A-2A49-B44D-6F9052916087}"/>
              </a:ext>
            </a:extLst>
          </p:cNvPr>
          <p:cNvSpPr/>
          <p:nvPr/>
        </p:nvSpPr>
        <p:spPr>
          <a:xfrm>
            <a:off x="476238" y="2492861"/>
            <a:ext cx="978153" cy="369332"/>
          </a:xfrm>
          <a:prstGeom prst="rect">
            <a:avLst/>
          </a:prstGeom>
        </p:spPr>
        <p:txBody>
          <a:bodyPr wrap="none">
            <a:spAutoFit/>
          </a:bodyPr>
          <a:lstStyle/>
          <a:p>
            <a:r>
              <a:rPr lang="en-US" dirty="0">
                <a:solidFill>
                  <a:srgbClr val="008000"/>
                </a:solidFill>
              </a:rPr>
              <a:t>Example</a:t>
            </a:r>
            <a:endParaRPr lang="en-US" dirty="0"/>
          </a:p>
        </p:txBody>
      </p:sp>
      <p:pic>
        <p:nvPicPr>
          <p:cNvPr id="25" name="Picture 24" descr="A picture containing text, gauge&#10;&#10;Description automatically generated">
            <a:extLst>
              <a:ext uri="{FF2B5EF4-FFF2-40B4-BE49-F238E27FC236}">
                <a16:creationId xmlns:a16="http://schemas.microsoft.com/office/drawing/2014/main" id="{1C634430-2A8F-8F40-8F09-16431557AB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8973" y="5000402"/>
            <a:ext cx="1257300" cy="673100"/>
          </a:xfrm>
          <a:prstGeom prst="rect">
            <a:avLst/>
          </a:prstGeom>
        </p:spPr>
      </p:pic>
      <p:pic>
        <p:nvPicPr>
          <p:cNvPr id="27" name="Picture 26" descr="Text&#10;&#10;Description automatically generated">
            <a:extLst>
              <a:ext uri="{FF2B5EF4-FFF2-40B4-BE49-F238E27FC236}">
                <a16:creationId xmlns:a16="http://schemas.microsoft.com/office/drawing/2014/main" id="{D37E59A8-F211-C240-AC26-8FB46159AC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8973" y="5633382"/>
            <a:ext cx="1257300" cy="393700"/>
          </a:xfrm>
          <a:prstGeom prst="rect">
            <a:avLst/>
          </a:prstGeom>
        </p:spPr>
      </p:pic>
    </p:spTree>
    <p:extLst>
      <p:ext uri="{BB962C8B-B14F-4D97-AF65-F5344CB8AC3E}">
        <p14:creationId xmlns:p14="http://schemas.microsoft.com/office/powerpoint/2010/main" val="28931494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BDFA0E8-6AC6-C345-A81C-9A61D69CC615}"/>
              </a:ext>
            </a:extLst>
          </p:cNvPr>
          <p:cNvSpPr/>
          <p:nvPr/>
        </p:nvSpPr>
        <p:spPr>
          <a:xfrm>
            <a:off x="4169936" y="89044"/>
            <a:ext cx="7429500" cy="523220"/>
          </a:xfrm>
          <a:prstGeom prst="rect">
            <a:avLst/>
          </a:prstGeom>
        </p:spPr>
        <p:txBody>
          <a:bodyPr wrap="square">
            <a:spAutoFit/>
          </a:bodyPr>
          <a:lstStyle/>
          <a:p>
            <a:r>
              <a:rPr lang="en-US" sz="2800" dirty="0">
                <a:solidFill>
                  <a:srgbClr val="C00000"/>
                </a:solidFill>
                <a:latin typeface="NewBaskervilleStd-Roman"/>
              </a:rPr>
              <a:t>Algebra of Vectors </a:t>
            </a:r>
          </a:p>
        </p:txBody>
      </p:sp>
      <p:sp>
        <p:nvSpPr>
          <p:cNvPr id="2" name="Rectangle 1">
            <a:extLst>
              <a:ext uri="{FF2B5EF4-FFF2-40B4-BE49-F238E27FC236}">
                <a16:creationId xmlns:a16="http://schemas.microsoft.com/office/drawing/2014/main" id="{7EC9E684-ACB0-0A49-B410-9C10A210166C}"/>
              </a:ext>
            </a:extLst>
          </p:cNvPr>
          <p:cNvSpPr/>
          <p:nvPr/>
        </p:nvSpPr>
        <p:spPr>
          <a:xfrm>
            <a:off x="581849" y="702260"/>
            <a:ext cx="6708183" cy="430887"/>
          </a:xfrm>
          <a:prstGeom prst="rect">
            <a:avLst/>
          </a:prstGeom>
        </p:spPr>
        <p:txBody>
          <a:bodyPr wrap="none">
            <a:spAutoFit/>
          </a:bodyPr>
          <a:lstStyle/>
          <a:p>
            <a:r>
              <a:rPr lang="en-US" sz="2200" dirty="0">
                <a:solidFill>
                  <a:srgbClr val="7030A0"/>
                </a:solidFill>
                <a:latin typeface="LiberationSerif"/>
              </a:rPr>
              <a:t>Vectors can be added together and multiplied by scalars. </a:t>
            </a:r>
            <a:endParaRPr lang="en-US" sz="2200" dirty="0">
              <a:solidFill>
                <a:srgbClr val="7030A0"/>
              </a:solidFill>
            </a:endParaRPr>
          </a:p>
        </p:txBody>
      </p:sp>
      <p:sp>
        <p:nvSpPr>
          <p:cNvPr id="4" name="Rectangle 3">
            <a:extLst>
              <a:ext uri="{FF2B5EF4-FFF2-40B4-BE49-F238E27FC236}">
                <a16:creationId xmlns:a16="http://schemas.microsoft.com/office/drawing/2014/main" id="{C3E97045-0C6A-FE4A-8A8B-5B59FEE849A5}"/>
              </a:ext>
            </a:extLst>
          </p:cNvPr>
          <p:cNvSpPr/>
          <p:nvPr/>
        </p:nvSpPr>
        <p:spPr>
          <a:xfrm>
            <a:off x="581849" y="1601268"/>
            <a:ext cx="3552832" cy="430887"/>
          </a:xfrm>
          <a:prstGeom prst="rect">
            <a:avLst/>
          </a:prstGeom>
        </p:spPr>
        <p:txBody>
          <a:bodyPr wrap="none">
            <a:spAutoFit/>
          </a:bodyPr>
          <a:lstStyle/>
          <a:p>
            <a:r>
              <a:rPr lang="en-US" sz="2200" dirty="0">
                <a:latin typeface="LiberationSerif"/>
              </a:rPr>
              <a:t>Vector addition is associative </a:t>
            </a:r>
            <a:endParaRPr lang="en-US" sz="2200" dirty="0"/>
          </a:p>
        </p:txBody>
      </p:sp>
      <p:sp>
        <p:nvSpPr>
          <p:cNvPr id="6" name="Rectangle 5">
            <a:extLst>
              <a:ext uri="{FF2B5EF4-FFF2-40B4-BE49-F238E27FC236}">
                <a16:creationId xmlns:a16="http://schemas.microsoft.com/office/drawing/2014/main" id="{16A1DB8A-D364-F245-86EC-5308F80A5180}"/>
              </a:ext>
            </a:extLst>
          </p:cNvPr>
          <p:cNvSpPr/>
          <p:nvPr/>
        </p:nvSpPr>
        <p:spPr>
          <a:xfrm>
            <a:off x="581849" y="2671726"/>
            <a:ext cx="3821111" cy="769441"/>
          </a:xfrm>
          <a:prstGeom prst="rect">
            <a:avLst/>
          </a:prstGeom>
        </p:spPr>
        <p:txBody>
          <a:bodyPr wrap="none">
            <a:spAutoFit/>
          </a:bodyPr>
          <a:lstStyle/>
          <a:p>
            <a:r>
              <a:rPr lang="en-US" sz="2200" dirty="0">
                <a:latin typeface="LiberationSerif"/>
              </a:rPr>
              <a:t>Vector addition is commutative </a:t>
            </a:r>
          </a:p>
          <a:p>
            <a:endParaRPr lang="en-US" sz="2200" dirty="0"/>
          </a:p>
        </p:txBody>
      </p:sp>
      <p:sp>
        <p:nvSpPr>
          <p:cNvPr id="7" name="Rectangle 6">
            <a:extLst>
              <a:ext uri="{FF2B5EF4-FFF2-40B4-BE49-F238E27FC236}">
                <a16:creationId xmlns:a16="http://schemas.microsoft.com/office/drawing/2014/main" id="{C829A094-17EC-534E-9ACB-9640E2D28AF1}"/>
              </a:ext>
            </a:extLst>
          </p:cNvPr>
          <p:cNvSpPr/>
          <p:nvPr/>
        </p:nvSpPr>
        <p:spPr>
          <a:xfrm>
            <a:off x="581849" y="3526740"/>
            <a:ext cx="6443431" cy="430887"/>
          </a:xfrm>
          <a:prstGeom prst="rect">
            <a:avLst/>
          </a:prstGeom>
        </p:spPr>
        <p:txBody>
          <a:bodyPr wrap="none">
            <a:spAutoFit/>
          </a:bodyPr>
          <a:lstStyle/>
          <a:p>
            <a:r>
              <a:rPr lang="en-US" sz="2200" dirty="0">
                <a:latin typeface="LiberationSerif"/>
              </a:rPr>
              <a:t>Vector multiplication by a sum of scalars is distributive </a:t>
            </a:r>
            <a:endParaRPr lang="en-US" sz="2200" dirty="0"/>
          </a:p>
        </p:txBody>
      </p:sp>
      <p:pic>
        <p:nvPicPr>
          <p:cNvPr id="9" name="Picture 8" descr="A picture containing logo&#10;&#10;Description automatically generated">
            <a:extLst>
              <a:ext uri="{FF2B5EF4-FFF2-40B4-BE49-F238E27FC236}">
                <a16:creationId xmlns:a16="http://schemas.microsoft.com/office/drawing/2014/main" id="{4A96B3E8-855F-F64D-8EB4-6C55FDAA9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2960" y="2586153"/>
            <a:ext cx="2247900" cy="546100"/>
          </a:xfrm>
          <a:prstGeom prst="rect">
            <a:avLst/>
          </a:prstGeom>
        </p:spPr>
      </p:pic>
      <p:pic>
        <p:nvPicPr>
          <p:cNvPr id="11" name="Picture 10" descr="A picture containing diagram&#10;&#10;Description automatically generated">
            <a:extLst>
              <a:ext uri="{FF2B5EF4-FFF2-40B4-BE49-F238E27FC236}">
                <a16:creationId xmlns:a16="http://schemas.microsoft.com/office/drawing/2014/main" id="{490D8B23-8722-BE44-91D6-5F1074B32C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4686" y="1519485"/>
            <a:ext cx="3810000" cy="508000"/>
          </a:xfrm>
          <a:prstGeom prst="rect">
            <a:avLst/>
          </a:prstGeom>
        </p:spPr>
      </p:pic>
      <p:pic>
        <p:nvPicPr>
          <p:cNvPr id="13" name="Picture 12" descr="Text&#10;&#10;Description automatically generated with low confidence">
            <a:extLst>
              <a:ext uri="{FF2B5EF4-FFF2-40B4-BE49-F238E27FC236}">
                <a16:creationId xmlns:a16="http://schemas.microsoft.com/office/drawing/2014/main" id="{A232FB7D-39AD-5E48-BC32-342B13B316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7213" y="3418331"/>
            <a:ext cx="3035300" cy="533400"/>
          </a:xfrm>
          <a:prstGeom prst="rect">
            <a:avLst/>
          </a:prstGeom>
        </p:spPr>
      </p:pic>
      <p:sp>
        <p:nvSpPr>
          <p:cNvPr id="14" name="Rectangle 13">
            <a:extLst>
              <a:ext uri="{FF2B5EF4-FFF2-40B4-BE49-F238E27FC236}">
                <a16:creationId xmlns:a16="http://schemas.microsoft.com/office/drawing/2014/main" id="{7EFFB3CF-96C8-7E40-96F3-5E7BAA9317AC}"/>
              </a:ext>
            </a:extLst>
          </p:cNvPr>
          <p:cNvSpPr/>
          <p:nvPr/>
        </p:nvSpPr>
        <p:spPr>
          <a:xfrm>
            <a:off x="604227" y="4346218"/>
            <a:ext cx="6421053" cy="430887"/>
          </a:xfrm>
          <a:prstGeom prst="rect">
            <a:avLst/>
          </a:prstGeom>
        </p:spPr>
        <p:txBody>
          <a:bodyPr wrap="none">
            <a:spAutoFit/>
          </a:bodyPr>
          <a:lstStyle/>
          <a:p>
            <a:r>
              <a:rPr lang="en-US" sz="2200" dirty="0">
                <a:latin typeface="LiberationSerif"/>
              </a:rPr>
              <a:t>Scalar multiplication by a sum of vectors is distributive </a:t>
            </a:r>
            <a:endParaRPr lang="en-US" sz="2200" dirty="0"/>
          </a:p>
        </p:txBody>
      </p:sp>
      <p:pic>
        <p:nvPicPr>
          <p:cNvPr id="16" name="Picture 15" descr="A picture containing diagram&#10;&#10;Description automatically generated">
            <a:extLst>
              <a:ext uri="{FF2B5EF4-FFF2-40B4-BE49-F238E27FC236}">
                <a16:creationId xmlns:a16="http://schemas.microsoft.com/office/drawing/2014/main" id="{EE6C372A-2679-E64F-8713-4924AB7724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07213" y="4330899"/>
            <a:ext cx="2794000" cy="457200"/>
          </a:xfrm>
          <a:prstGeom prst="rect">
            <a:avLst/>
          </a:prstGeom>
        </p:spPr>
      </p:pic>
      <p:sp>
        <p:nvSpPr>
          <p:cNvPr id="17" name="Rectangle 16">
            <a:extLst>
              <a:ext uri="{FF2B5EF4-FFF2-40B4-BE49-F238E27FC236}">
                <a16:creationId xmlns:a16="http://schemas.microsoft.com/office/drawing/2014/main" id="{98C81117-813D-C642-A943-50C9DA19BAEC}"/>
              </a:ext>
            </a:extLst>
          </p:cNvPr>
          <p:cNvSpPr/>
          <p:nvPr/>
        </p:nvSpPr>
        <p:spPr>
          <a:xfrm>
            <a:off x="3112957" y="5087682"/>
            <a:ext cx="9543458" cy="1065676"/>
          </a:xfrm>
          <a:prstGeom prst="rect">
            <a:avLst/>
          </a:prstGeom>
        </p:spPr>
        <p:txBody>
          <a:bodyPr wrap="square">
            <a:spAutoFit/>
          </a:bodyPr>
          <a:lstStyle/>
          <a:p>
            <a:pPr>
              <a:lnSpc>
                <a:spcPct val="150000"/>
              </a:lnSpc>
            </a:pPr>
            <a:r>
              <a:rPr lang="en-US" sz="2200" dirty="0">
                <a:solidFill>
                  <a:srgbClr val="000066"/>
                </a:solidFill>
                <a:latin typeface="LiberationSerif"/>
              </a:rPr>
              <a:t>For example, a vector antiparallel to vector </a:t>
            </a:r>
            <a:endParaRPr lang="en-US" sz="2200" dirty="0">
              <a:solidFill>
                <a:srgbClr val="000066"/>
              </a:solidFill>
            </a:endParaRPr>
          </a:p>
          <a:p>
            <a:pPr>
              <a:lnSpc>
                <a:spcPct val="150000"/>
              </a:lnSpc>
            </a:pPr>
            <a:r>
              <a:rPr lang="en-US" sz="2200" dirty="0">
                <a:solidFill>
                  <a:srgbClr val="000066"/>
                </a:solidFill>
                <a:latin typeface="LiberationSerif"/>
              </a:rPr>
              <a:t>can be expressed simply by multiplying </a:t>
            </a:r>
            <a:r>
              <a:rPr lang="en-US" sz="2200" dirty="0">
                <a:solidFill>
                  <a:srgbClr val="000066"/>
                </a:solidFill>
                <a:latin typeface="STIXGeneral" pitchFamily="2" charset="2"/>
              </a:rPr>
              <a:t>it </a:t>
            </a:r>
            <a:r>
              <a:rPr lang="en-US" sz="2200" dirty="0">
                <a:solidFill>
                  <a:srgbClr val="000066"/>
                </a:solidFill>
                <a:latin typeface="LiberationSerif"/>
              </a:rPr>
              <a:t>by the scalar </a:t>
            </a:r>
            <a:r>
              <a:rPr lang="el-GR" sz="2200" i="1" dirty="0">
                <a:solidFill>
                  <a:srgbClr val="000066"/>
                </a:solidFill>
                <a:latin typeface="STIXGeneral" pitchFamily="2" charset="2"/>
              </a:rPr>
              <a:t>α </a:t>
            </a:r>
            <a:r>
              <a:rPr lang="el-GR" sz="2200" dirty="0">
                <a:solidFill>
                  <a:srgbClr val="000066"/>
                </a:solidFill>
                <a:latin typeface="STIXGeneral" pitchFamily="2" charset="2"/>
              </a:rPr>
              <a:t>= −1 </a:t>
            </a:r>
            <a:endParaRPr lang="el-GR" sz="2200" dirty="0">
              <a:solidFill>
                <a:srgbClr val="000066"/>
              </a:solidFill>
            </a:endParaRPr>
          </a:p>
        </p:txBody>
      </p:sp>
      <p:pic>
        <p:nvPicPr>
          <p:cNvPr id="19" name="Picture 18" descr="Diagram, schematic&#10;&#10;Description automatically generated">
            <a:extLst>
              <a:ext uri="{FF2B5EF4-FFF2-40B4-BE49-F238E27FC236}">
                <a16:creationId xmlns:a16="http://schemas.microsoft.com/office/drawing/2014/main" id="{C1C84730-89F4-5B43-9925-3056E190A9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0586" y="5133601"/>
            <a:ext cx="2654300" cy="520700"/>
          </a:xfrm>
          <a:prstGeom prst="rect">
            <a:avLst/>
          </a:prstGeom>
        </p:spPr>
      </p:pic>
      <p:pic>
        <p:nvPicPr>
          <p:cNvPr id="21" name="Picture 20" descr="A picture containing text, clock, watch&#10;&#10;Description automatically generated">
            <a:extLst>
              <a:ext uri="{FF2B5EF4-FFF2-40B4-BE49-F238E27FC236}">
                <a16:creationId xmlns:a16="http://schemas.microsoft.com/office/drawing/2014/main" id="{A5F18C16-5640-F343-9AF5-7D97C3B0A30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19209" y="6101984"/>
            <a:ext cx="2997200" cy="495300"/>
          </a:xfrm>
          <a:prstGeom prst="rect">
            <a:avLst/>
          </a:prstGeom>
        </p:spPr>
      </p:pic>
      <p:pic>
        <p:nvPicPr>
          <p:cNvPr id="22" name="Picture 21" descr="Chart&#10;&#10;Description automatically generated">
            <a:extLst>
              <a:ext uri="{FF2B5EF4-FFF2-40B4-BE49-F238E27FC236}">
                <a16:creationId xmlns:a16="http://schemas.microsoft.com/office/drawing/2014/main" id="{E20CAC30-A1F0-7F4A-8B9D-C31916F2CDE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4609" y="4769255"/>
            <a:ext cx="2081212" cy="1828800"/>
          </a:xfrm>
          <a:prstGeom prst="rect">
            <a:avLst/>
          </a:prstGeom>
        </p:spPr>
      </p:pic>
    </p:spTree>
    <p:extLst>
      <p:ext uri="{BB962C8B-B14F-4D97-AF65-F5344CB8AC3E}">
        <p14:creationId xmlns:p14="http://schemas.microsoft.com/office/powerpoint/2010/main" val="34979604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58D29D8-8082-5B48-94B9-7A4AD6F346FC}"/>
              </a:ext>
            </a:extLst>
          </p:cNvPr>
          <p:cNvSpPr/>
          <p:nvPr/>
        </p:nvSpPr>
        <p:spPr>
          <a:xfrm>
            <a:off x="4169936" y="89044"/>
            <a:ext cx="7429500" cy="523220"/>
          </a:xfrm>
          <a:prstGeom prst="rect">
            <a:avLst/>
          </a:prstGeom>
        </p:spPr>
        <p:txBody>
          <a:bodyPr wrap="square">
            <a:spAutoFit/>
          </a:bodyPr>
          <a:lstStyle/>
          <a:p>
            <a:r>
              <a:rPr lang="en-US" sz="2800" dirty="0">
                <a:solidFill>
                  <a:srgbClr val="C00000"/>
                </a:solidFill>
                <a:latin typeface="NewBaskervilleStd-Roman"/>
              </a:rPr>
              <a:t>Algebra of Vectors </a:t>
            </a:r>
          </a:p>
        </p:txBody>
      </p:sp>
      <p:sp>
        <p:nvSpPr>
          <p:cNvPr id="2" name="Rectangle 1">
            <a:extLst>
              <a:ext uri="{FF2B5EF4-FFF2-40B4-BE49-F238E27FC236}">
                <a16:creationId xmlns:a16="http://schemas.microsoft.com/office/drawing/2014/main" id="{3B894252-08DE-F34B-9FA7-98FA37DE509A}"/>
              </a:ext>
            </a:extLst>
          </p:cNvPr>
          <p:cNvSpPr/>
          <p:nvPr/>
        </p:nvSpPr>
        <p:spPr>
          <a:xfrm>
            <a:off x="503084" y="426524"/>
            <a:ext cx="9076324" cy="1055545"/>
          </a:xfrm>
          <a:prstGeom prst="rect">
            <a:avLst/>
          </a:prstGeom>
        </p:spPr>
        <p:txBody>
          <a:bodyPr wrap="square">
            <a:spAutoFit/>
          </a:bodyPr>
          <a:lstStyle/>
          <a:p>
            <a:pPr>
              <a:lnSpc>
                <a:spcPct val="150000"/>
              </a:lnSpc>
            </a:pPr>
            <a:r>
              <a:rPr lang="en-US" sz="2200" dirty="0">
                <a:solidFill>
                  <a:srgbClr val="000066"/>
                </a:solidFill>
                <a:latin typeface="LiberationSerif"/>
              </a:rPr>
              <a:t>Analytical methods can be used to find components of a resultant of many vectors. For example, if we are to sum up N vectors</a:t>
            </a:r>
            <a:endParaRPr lang="en-US" sz="2200" dirty="0">
              <a:solidFill>
                <a:srgbClr val="000066"/>
              </a:solidFill>
            </a:endParaRPr>
          </a:p>
        </p:txBody>
      </p:sp>
      <p:sp>
        <p:nvSpPr>
          <p:cNvPr id="6" name="Rectangle 5">
            <a:extLst>
              <a:ext uri="{FF2B5EF4-FFF2-40B4-BE49-F238E27FC236}">
                <a16:creationId xmlns:a16="http://schemas.microsoft.com/office/drawing/2014/main" id="{3E02F2AD-32D1-344B-85D9-3AEED7F552FE}"/>
              </a:ext>
            </a:extLst>
          </p:cNvPr>
          <p:cNvSpPr/>
          <p:nvPr/>
        </p:nvSpPr>
        <p:spPr>
          <a:xfrm>
            <a:off x="2435661" y="1636236"/>
            <a:ext cx="2605585" cy="430887"/>
          </a:xfrm>
          <a:prstGeom prst="rect">
            <a:avLst/>
          </a:prstGeom>
        </p:spPr>
        <p:txBody>
          <a:bodyPr wrap="none">
            <a:spAutoFit/>
          </a:bodyPr>
          <a:lstStyle/>
          <a:p>
            <a:r>
              <a:rPr lang="en-US" sz="2200" dirty="0">
                <a:solidFill>
                  <a:srgbClr val="000066"/>
                </a:solidFill>
                <a:latin typeface="LiberationSerif"/>
              </a:rPr>
              <a:t>where each vector is </a:t>
            </a:r>
            <a:endParaRPr lang="en-US" sz="2200" dirty="0">
              <a:solidFill>
                <a:srgbClr val="000066"/>
              </a:solidFill>
            </a:endParaRPr>
          </a:p>
        </p:txBody>
      </p:sp>
      <p:sp>
        <p:nvSpPr>
          <p:cNvPr id="7" name="Rectangle 6">
            <a:extLst>
              <a:ext uri="{FF2B5EF4-FFF2-40B4-BE49-F238E27FC236}">
                <a16:creationId xmlns:a16="http://schemas.microsoft.com/office/drawing/2014/main" id="{07C9931C-D64D-B748-B867-7E005091A975}"/>
              </a:ext>
            </a:extLst>
          </p:cNvPr>
          <p:cNvSpPr/>
          <p:nvPr/>
        </p:nvSpPr>
        <p:spPr>
          <a:xfrm>
            <a:off x="2435661" y="2268849"/>
            <a:ext cx="3359318" cy="430887"/>
          </a:xfrm>
          <a:prstGeom prst="rect">
            <a:avLst/>
          </a:prstGeom>
        </p:spPr>
        <p:txBody>
          <a:bodyPr wrap="none">
            <a:spAutoFit/>
          </a:bodyPr>
          <a:lstStyle/>
          <a:p>
            <a:r>
              <a:rPr lang="en-US" sz="2200" dirty="0">
                <a:solidFill>
                  <a:srgbClr val="000066"/>
                </a:solidFill>
                <a:latin typeface="LiberationSerif"/>
              </a:rPr>
              <a:t>The resultant vector will be </a:t>
            </a:r>
            <a:endParaRPr lang="en-US" sz="2200" dirty="0">
              <a:solidFill>
                <a:srgbClr val="000066"/>
              </a:solidFill>
            </a:endParaRPr>
          </a:p>
        </p:txBody>
      </p:sp>
      <p:pic>
        <p:nvPicPr>
          <p:cNvPr id="9" name="Picture 8" descr="Text&#10;&#10;Description automatically generated">
            <a:extLst>
              <a:ext uri="{FF2B5EF4-FFF2-40B4-BE49-F238E27FC236}">
                <a16:creationId xmlns:a16="http://schemas.microsoft.com/office/drawing/2014/main" id="{ACA82EB4-8E10-1841-8A08-2ECDF0EC9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2596" y="1008993"/>
            <a:ext cx="2781300" cy="444500"/>
          </a:xfrm>
          <a:prstGeom prst="rect">
            <a:avLst/>
          </a:prstGeom>
        </p:spPr>
      </p:pic>
      <p:pic>
        <p:nvPicPr>
          <p:cNvPr id="11" name="Picture 10" descr="Diagram&#10;&#10;Description automatically generated">
            <a:extLst>
              <a:ext uri="{FF2B5EF4-FFF2-40B4-BE49-F238E27FC236}">
                <a16:creationId xmlns:a16="http://schemas.microsoft.com/office/drawing/2014/main" id="{9DA3CCFA-A5AA-7140-B7CB-69A70710CE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4946" y="1573849"/>
            <a:ext cx="2908300" cy="469900"/>
          </a:xfrm>
          <a:prstGeom prst="rect">
            <a:avLst/>
          </a:prstGeom>
        </p:spPr>
      </p:pic>
      <p:pic>
        <p:nvPicPr>
          <p:cNvPr id="13" name="Picture 12" descr="Diagram, schematic&#10;&#10;Description automatically generated">
            <a:extLst>
              <a:ext uri="{FF2B5EF4-FFF2-40B4-BE49-F238E27FC236}">
                <a16:creationId xmlns:a16="http://schemas.microsoft.com/office/drawing/2014/main" id="{D1F6CC99-39D8-AC46-B6AA-43B2DEB482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5661" y="2667000"/>
            <a:ext cx="8331200" cy="1524000"/>
          </a:xfrm>
          <a:prstGeom prst="rect">
            <a:avLst/>
          </a:prstGeom>
        </p:spPr>
      </p:pic>
      <p:sp>
        <p:nvSpPr>
          <p:cNvPr id="14" name="Rectangle 13">
            <a:extLst>
              <a:ext uri="{FF2B5EF4-FFF2-40B4-BE49-F238E27FC236}">
                <a16:creationId xmlns:a16="http://schemas.microsoft.com/office/drawing/2014/main" id="{010CA56A-61FF-764D-9DFA-513F68127069}"/>
              </a:ext>
            </a:extLst>
          </p:cNvPr>
          <p:cNvSpPr/>
          <p:nvPr/>
        </p:nvSpPr>
        <p:spPr>
          <a:xfrm>
            <a:off x="609622" y="4539028"/>
            <a:ext cx="6709914" cy="430887"/>
          </a:xfrm>
          <a:prstGeom prst="rect">
            <a:avLst/>
          </a:prstGeom>
        </p:spPr>
        <p:txBody>
          <a:bodyPr wrap="none">
            <a:spAutoFit/>
          </a:bodyPr>
          <a:lstStyle/>
          <a:p>
            <a:r>
              <a:rPr lang="en-US" sz="2200" dirty="0">
                <a:solidFill>
                  <a:srgbClr val="000066"/>
                </a:solidFill>
                <a:latin typeface="LiberationSerif"/>
              </a:rPr>
              <a:t>Therefore, scalar components of the resultant vector are </a:t>
            </a:r>
            <a:endParaRPr lang="en-US" sz="2200" dirty="0">
              <a:solidFill>
                <a:srgbClr val="000066"/>
              </a:solidFill>
            </a:endParaRPr>
          </a:p>
        </p:txBody>
      </p:sp>
      <p:pic>
        <p:nvPicPr>
          <p:cNvPr id="16" name="Picture 15" descr="Text&#10;&#10;Description automatically generated">
            <a:extLst>
              <a:ext uri="{FF2B5EF4-FFF2-40B4-BE49-F238E27FC236}">
                <a16:creationId xmlns:a16="http://schemas.microsoft.com/office/drawing/2014/main" id="{26E7934A-68CC-CF46-8D0C-3E04F9C152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9536" y="4302636"/>
            <a:ext cx="4279900" cy="2362200"/>
          </a:xfrm>
          <a:prstGeom prst="rect">
            <a:avLst/>
          </a:prstGeom>
        </p:spPr>
      </p:pic>
      <p:sp>
        <p:nvSpPr>
          <p:cNvPr id="17" name="Rectangle 16">
            <a:extLst>
              <a:ext uri="{FF2B5EF4-FFF2-40B4-BE49-F238E27FC236}">
                <a16:creationId xmlns:a16="http://schemas.microsoft.com/office/drawing/2014/main" id="{19D79B5A-B387-F544-9875-1F3E88DD58C6}"/>
              </a:ext>
            </a:extLst>
          </p:cNvPr>
          <p:cNvSpPr/>
          <p:nvPr/>
        </p:nvSpPr>
        <p:spPr>
          <a:xfrm>
            <a:off x="592564" y="5432655"/>
            <a:ext cx="3133703" cy="769441"/>
          </a:xfrm>
          <a:prstGeom prst="rect">
            <a:avLst/>
          </a:prstGeom>
        </p:spPr>
        <p:txBody>
          <a:bodyPr wrap="square">
            <a:spAutoFit/>
          </a:bodyPr>
          <a:lstStyle/>
          <a:p>
            <a:r>
              <a:rPr lang="en-US" sz="2200" dirty="0">
                <a:solidFill>
                  <a:srgbClr val="000066"/>
                </a:solidFill>
                <a:latin typeface="LiberationSerif"/>
              </a:rPr>
              <a:t>And the resultant in vector component form </a:t>
            </a:r>
            <a:endParaRPr lang="en-US" sz="2200" dirty="0">
              <a:solidFill>
                <a:srgbClr val="000066"/>
              </a:solidFill>
            </a:endParaRPr>
          </a:p>
        </p:txBody>
      </p:sp>
      <p:pic>
        <p:nvPicPr>
          <p:cNvPr id="19" name="Picture 18" descr="Diagram, schematic&#10;&#10;Description automatically generated">
            <a:extLst>
              <a:ext uri="{FF2B5EF4-FFF2-40B4-BE49-F238E27FC236}">
                <a16:creationId xmlns:a16="http://schemas.microsoft.com/office/drawing/2014/main" id="{4D21F919-72F1-C442-9AC2-CE6012BE74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8096" y="5684571"/>
            <a:ext cx="2984500" cy="546100"/>
          </a:xfrm>
          <a:prstGeom prst="rect">
            <a:avLst/>
          </a:prstGeom>
        </p:spPr>
      </p:pic>
    </p:spTree>
    <p:extLst>
      <p:ext uri="{BB962C8B-B14F-4D97-AF65-F5344CB8AC3E}">
        <p14:creationId xmlns:p14="http://schemas.microsoft.com/office/powerpoint/2010/main" val="22754891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056530F-AD20-4142-94EF-4ECD78FD6690}"/>
              </a:ext>
            </a:extLst>
          </p:cNvPr>
          <p:cNvSpPr/>
          <p:nvPr/>
        </p:nvSpPr>
        <p:spPr>
          <a:xfrm>
            <a:off x="4169936" y="89044"/>
            <a:ext cx="7429500" cy="523220"/>
          </a:xfrm>
          <a:prstGeom prst="rect">
            <a:avLst/>
          </a:prstGeom>
        </p:spPr>
        <p:txBody>
          <a:bodyPr wrap="square">
            <a:spAutoFit/>
          </a:bodyPr>
          <a:lstStyle/>
          <a:p>
            <a:r>
              <a:rPr lang="en-US" sz="2800" dirty="0">
                <a:solidFill>
                  <a:srgbClr val="C00000"/>
                </a:solidFill>
                <a:latin typeface="NewBaskervilleStd-Roman"/>
              </a:rPr>
              <a:t>Algebra of Vectors </a:t>
            </a:r>
          </a:p>
        </p:txBody>
      </p:sp>
      <p:sp>
        <p:nvSpPr>
          <p:cNvPr id="4" name="Rectangle 3">
            <a:extLst>
              <a:ext uri="{FF2B5EF4-FFF2-40B4-BE49-F238E27FC236}">
                <a16:creationId xmlns:a16="http://schemas.microsoft.com/office/drawing/2014/main" id="{7D0A1F51-A8F7-2541-9F2A-9D03099A3135}"/>
              </a:ext>
            </a:extLst>
          </p:cNvPr>
          <p:cNvSpPr/>
          <p:nvPr/>
        </p:nvSpPr>
        <p:spPr>
          <a:xfrm>
            <a:off x="5243343" y="2401748"/>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0" name="Picture 9" descr="A picture containing text&#10;&#10;Description automatically generated">
            <a:extLst>
              <a:ext uri="{FF2B5EF4-FFF2-40B4-BE49-F238E27FC236}">
                <a16:creationId xmlns:a16="http://schemas.microsoft.com/office/drawing/2014/main" id="{79991433-763D-B149-BB1D-04B94D8C4C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97" y="4281168"/>
            <a:ext cx="4300833" cy="731520"/>
          </a:xfrm>
          <a:prstGeom prst="rect">
            <a:avLst/>
          </a:prstGeom>
        </p:spPr>
      </p:pic>
      <p:pic>
        <p:nvPicPr>
          <p:cNvPr id="12" name="Picture 11" descr="Text&#10;&#10;Description automatically generated">
            <a:extLst>
              <a:ext uri="{FF2B5EF4-FFF2-40B4-BE49-F238E27FC236}">
                <a16:creationId xmlns:a16="http://schemas.microsoft.com/office/drawing/2014/main" id="{C71CA6ED-D2F6-6D43-A49D-192BFB9A50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9654" y="4281168"/>
            <a:ext cx="5039360" cy="731520"/>
          </a:xfrm>
          <a:prstGeom prst="rect">
            <a:avLst/>
          </a:prstGeom>
        </p:spPr>
      </p:pic>
      <p:pic>
        <p:nvPicPr>
          <p:cNvPr id="14" name="Picture 13" descr="Text&#10;&#10;Description automatically generated with low confidence">
            <a:extLst>
              <a:ext uri="{FF2B5EF4-FFF2-40B4-BE49-F238E27FC236}">
                <a16:creationId xmlns:a16="http://schemas.microsoft.com/office/drawing/2014/main" id="{3EEECD82-6381-2540-985A-CEFDFE4F5A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1379" y="5130480"/>
            <a:ext cx="4443307" cy="731520"/>
          </a:xfrm>
          <a:prstGeom prst="rect">
            <a:avLst/>
          </a:prstGeom>
        </p:spPr>
      </p:pic>
      <p:pic>
        <p:nvPicPr>
          <p:cNvPr id="16" name="Picture 15" descr="Diagram&#10;&#10;Description automatically generated">
            <a:extLst>
              <a:ext uri="{FF2B5EF4-FFF2-40B4-BE49-F238E27FC236}">
                <a16:creationId xmlns:a16="http://schemas.microsoft.com/office/drawing/2014/main" id="{D354F309-36D5-6448-8184-A5F8E7B587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856" y="543918"/>
            <a:ext cx="4752258" cy="2286000"/>
          </a:xfrm>
          <a:prstGeom prst="rect">
            <a:avLst/>
          </a:prstGeom>
        </p:spPr>
      </p:pic>
      <p:pic>
        <p:nvPicPr>
          <p:cNvPr id="18" name="Picture 17" descr="Text&#10;&#10;Description automatically generated">
            <a:extLst>
              <a:ext uri="{FF2B5EF4-FFF2-40B4-BE49-F238E27FC236}">
                <a16:creationId xmlns:a16="http://schemas.microsoft.com/office/drawing/2014/main" id="{3C1C1EAC-88D9-154E-B2C2-CA87D3D029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3856" y="2783840"/>
            <a:ext cx="9867900" cy="1422400"/>
          </a:xfrm>
          <a:prstGeom prst="rect">
            <a:avLst/>
          </a:prstGeom>
        </p:spPr>
      </p:pic>
      <p:pic>
        <p:nvPicPr>
          <p:cNvPr id="20" name="Picture 19">
            <a:extLst>
              <a:ext uri="{FF2B5EF4-FFF2-40B4-BE49-F238E27FC236}">
                <a16:creationId xmlns:a16="http://schemas.microsoft.com/office/drawing/2014/main" id="{87513644-32EF-924B-9A99-D3E8ADE8D6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8985" y="5917378"/>
            <a:ext cx="6045200" cy="711200"/>
          </a:xfrm>
          <a:prstGeom prst="rect">
            <a:avLst/>
          </a:prstGeom>
        </p:spPr>
      </p:pic>
      <p:pic>
        <p:nvPicPr>
          <p:cNvPr id="22" name="Picture 21" descr="Diagram&#10;&#10;Description automatically generated with low confidence">
            <a:extLst>
              <a:ext uri="{FF2B5EF4-FFF2-40B4-BE49-F238E27FC236}">
                <a16:creationId xmlns:a16="http://schemas.microsoft.com/office/drawing/2014/main" id="{C54C6DEE-6E3A-314A-BD5F-BCC5EAAC11C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84686" y="6031678"/>
            <a:ext cx="3886200" cy="482600"/>
          </a:xfrm>
          <a:prstGeom prst="rect">
            <a:avLst/>
          </a:prstGeom>
        </p:spPr>
      </p:pic>
      <p:sp>
        <p:nvSpPr>
          <p:cNvPr id="23" name="Rectangle 22">
            <a:extLst>
              <a:ext uri="{FF2B5EF4-FFF2-40B4-BE49-F238E27FC236}">
                <a16:creationId xmlns:a16="http://schemas.microsoft.com/office/drawing/2014/main" id="{47E74198-DEAA-504E-AAB6-C3D18CBE9BA1}"/>
              </a:ext>
            </a:extLst>
          </p:cNvPr>
          <p:cNvSpPr/>
          <p:nvPr/>
        </p:nvSpPr>
        <p:spPr>
          <a:xfrm>
            <a:off x="8624218" y="5677334"/>
            <a:ext cx="2318648" cy="369332"/>
          </a:xfrm>
          <a:prstGeom prst="rect">
            <a:avLst/>
          </a:prstGeom>
        </p:spPr>
        <p:txBody>
          <a:bodyPr wrap="none">
            <a:spAutoFit/>
          </a:bodyPr>
          <a:lstStyle/>
          <a:p>
            <a:r>
              <a:rPr lang="en-US" dirty="0">
                <a:solidFill>
                  <a:srgbClr val="000066"/>
                </a:solidFill>
                <a:latin typeface="LiberationSerif"/>
              </a:rPr>
              <a:t>The resultant vector is </a:t>
            </a:r>
            <a:endParaRPr lang="en-US" dirty="0">
              <a:solidFill>
                <a:srgbClr val="000066"/>
              </a:solidFill>
            </a:endParaRPr>
          </a:p>
        </p:txBody>
      </p:sp>
      <p:pic>
        <p:nvPicPr>
          <p:cNvPr id="24" name="Picture Placeholder 1" descr="A photograph of a student’s hand, working on a problem with an open textbook, a calculator, and an eraser.">
            <a:extLst>
              <a:ext uri="{FF2B5EF4-FFF2-40B4-BE49-F238E27FC236}">
                <a16:creationId xmlns:a16="http://schemas.microsoft.com/office/drawing/2014/main" id="{6692B5C4-AC10-4146-BEA7-1A85104806CD}"/>
              </a:ext>
            </a:extLst>
          </p:cNvPr>
          <p:cNvPicPr>
            <a:picLocks noChangeAspect="1"/>
          </p:cNvPicPr>
          <p:nvPr/>
        </p:nvPicPr>
        <p:blipFill>
          <a:blip r:embed="rId10" cstate="email">
            <a:extLst>
              <a:ext uri="{28A0092B-C50C-407E-A947-70E740481C1C}">
                <a14:useLocalDpi xmlns:a14="http://schemas.microsoft.com/office/drawing/2010/main" val="0"/>
              </a:ext>
            </a:extLst>
          </a:blip>
          <a:srcRect l="-26893" r="-26893"/>
          <a:stretch>
            <a:fillRect/>
          </a:stretch>
        </p:blipFill>
        <p:spPr>
          <a:xfrm>
            <a:off x="6395966" y="229779"/>
            <a:ext cx="5266128" cy="2286000"/>
          </a:xfrm>
          <a:prstGeom prst="rect">
            <a:avLst/>
          </a:prstGeom>
        </p:spPr>
      </p:pic>
    </p:spTree>
    <p:extLst>
      <p:ext uri="{BB962C8B-B14F-4D97-AF65-F5344CB8AC3E}">
        <p14:creationId xmlns:p14="http://schemas.microsoft.com/office/powerpoint/2010/main" val="1773086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67303E-AD3B-DB42-AA4B-6EABDD0E336B}"/>
              </a:ext>
            </a:extLst>
          </p:cNvPr>
          <p:cNvSpPr/>
          <p:nvPr/>
        </p:nvSpPr>
        <p:spPr>
          <a:xfrm>
            <a:off x="5303048" y="3018052"/>
            <a:ext cx="5195886" cy="400110"/>
          </a:xfrm>
          <a:prstGeom prst="rect">
            <a:avLst/>
          </a:prstGeom>
        </p:spPr>
        <p:txBody>
          <a:bodyPr wrap="square">
            <a:spAutoFit/>
          </a:bodyPr>
          <a:lstStyle/>
          <a:p>
            <a:r>
              <a:rPr lang="en-US" sz="2000" dirty="0">
                <a:solidFill>
                  <a:srgbClr val="0000CC"/>
                </a:solidFill>
              </a:rPr>
              <a:t>Assignment 3</a:t>
            </a:r>
          </a:p>
        </p:txBody>
      </p:sp>
      <p:pic>
        <p:nvPicPr>
          <p:cNvPr id="4" name="Picture 3" descr="Text&#10;&#10;Description automatically generated">
            <a:extLst>
              <a:ext uri="{FF2B5EF4-FFF2-40B4-BE49-F238E27FC236}">
                <a16:creationId xmlns:a16="http://schemas.microsoft.com/office/drawing/2014/main" id="{C571DD9E-14BF-7647-B131-D4BDD24C1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87" y="3418162"/>
            <a:ext cx="4141839" cy="2286000"/>
          </a:xfrm>
          <a:prstGeom prst="rect">
            <a:avLst/>
          </a:prstGeom>
        </p:spPr>
      </p:pic>
      <p:pic>
        <p:nvPicPr>
          <p:cNvPr id="6" name="Picture 5" descr="Diagram, schematic&#10;&#10;Description automatically generated">
            <a:extLst>
              <a:ext uri="{FF2B5EF4-FFF2-40B4-BE49-F238E27FC236}">
                <a16:creationId xmlns:a16="http://schemas.microsoft.com/office/drawing/2014/main" id="{17721072-7749-8A41-8462-9DA6EB475F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161" y="5898891"/>
            <a:ext cx="2984500" cy="546100"/>
          </a:xfrm>
          <a:prstGeom prst="rect">
            <a:avLst/>
          </a:prstGeom>
        </p:spPr>
      </p:pic>
      <p:pic>
        <p:nvPicPr>
          <p:cNvPr id="7" name="Picture 6" descr="Text&#10;&#10;Description automatically generated">
            <a:extLst>
              <a:ext uri="{FF2B5EF4-FFF2-40B4-BE49-F238E27FC236}">
                <a16:creationId xmlns:a16="http://schemas.microsoft.com/office/drawing/2014/main" id="{B5257C2A-4086-5940-BE8D-DF603E97E4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03048" y="3418162"/>
            <a:ext cx="6667500" cy="2286000"/>
          </a:xfrm>
          <a:prstGeom prst="rect">
            <a:avLst/>
          </a:prstGeom>
        </p:spPr>
      </p:pic>
      <p:pic>
        <p:nvPicPr>
          <p:cNvPr id="8" name="Picture 7" descr="Text&#10;&#10;Description automatically generated">
            <a:extLst>
              <a:ext uri="{FF2B5EF4-FFF2-40B4-BE49-F238E27FC236}">
                <a16:creationId xmlns:a16="http://schemas.microsoft.com/office/drawing/2014/main" id="{64C3829D-007E-134A-A6F7-9D1F76FFEC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2411" y="2205252"/>
            <a:ext cx="1778000" cy="812800"/>
          </a:xfrm>
          <a:prstGeom prst="rect">
            <a:avLst/>
          </a:prstGeom>
        </p:spPr>
      </p:pic>
      <p:pic>
        <p:nvPicPr>
          <p:cNvPr id="10" name="Picture 9" descr="Diagram&#10;&#10;Description automatically generated">
            <a:extLst>
              <a:ext uri="{FF2B5EF4-FFF2-40B4-BE49-F238E27FC236}">
                <a16:creationId xmlns:a16="http://schemas.microsoft.com/office/drawing/2014/main" id="{1BD1C88A-4136-DC45-ACDE-F0FBA50AF5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55605" y="719997"/>
            <a:ext cx="3057525" cy="2286000"/>
          </a:xfrm>
          <a:prstGeom prst="rect">
            <a:avLst/>
          </a:prstGeom>
        </p:spPr>
      </p:pic>
      <p:sp>
        <p:nvSpPr>
          <p:cNvPr id="11" name="Rectangle 10">
            <a:extLst>
              <a:ext uri="{FF2B5EF4-FFF2-40B4-BE49-F238E27FC236}">
                <a16:creationId xmlns:a16="http://schemas.microsoft.com/office/drawing/2014/main" id="{8350BF88-C8A1-5942-A4A8-1B7DB078C1E7}"/>
              </a:ext>
            </a:extLst>
          </p:cNvPr>
          <p:cNvSpPr/>
          <p:nvPr/>
        </p:nvSpPr>
        <p:spPr>
          <a:xfrm>
            <a:off x="4169936" y="89044"/>
            <a:ext cx="7429500" cy="523220"/>
          </a:xfrm>
          <a:prstGeom prst="rect">
            <a:avLst/>
          </a:prstGeom>
        </p:spPr>
        <p:txBody>
          <a:bodyPr wrap="square">
            <a:spAutoFit/>
          </a:bodyPr>
          <a:lstStyle/>
          <a:p>
            <a:r>
              <a:rPr lang="en-US" sz="2800" dirty="0">
                <a:solidFill>
                  <a:srgbClr val="C00000"/>
                </a:solidFill>
                <a:latin typeface="NewBaskervilleStd-Roman"/>
              </a:rPr>
              <a:t>Algebra of Vectors </a:t>
            </a:r>
          </a:p>
        </p:txBody>
      </p:sp>
      <p:pic>
        <p:nvPicPr>
          <p:cNvPr id="13" name="Picture 12" descr="A picture containing text&#10;&#10;Description automatically generated">
            <a:extLst>
              <a:ext uri="{FF2B5EF4-FFF2-40B4-BE49-F238E27FC236}">
                <a16:creationId xmlns:a16="http://schemas.microsoft.com/office/drawing/2014/main" id="{EA6B7CCF-D5FB-2242-9A66-CC24608646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7626" y="5971276"/>
            <a:ext cx="3429000" cy="596900"/>
          </a:xfrm>
          <a:prstGeom prst="rect">
            <a:avLst/>
          </a:prstGeom>
        </p:spPr>
      </p:pic>
      <p:pic>
        <p:nvPicPr>
          <p:cNvPr id="14" name="Picture 13" descr="Text&#10;&#10;Description automatically generated">
            <a:extLst>
              <a:ext uri="{FF2B5EF4-FFF2-40B4-BE49-F238E27FC236}">
                <a16:creationId xmlns:a16="http://schemas.microsoft.com/office/drawing/2014/main" id="{20F985E1-8C41-5C4A-A76B-E781F71D420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60631" y="5933176"/>
            <a:ext cx="1295400" cy="673100"/>
          </a:xfrm>
          <a:prstGeom prst="rect">
            <a:avLst/>
          </a:prstGeom>
        </p:spPr>
      </p:pic>
    </p:spTree>
    <p:extLst>
      <p:ext uri="{BB962C8B-B14F-4D97-AF65-F5344CB8AC3E}">
        <p14:creationId xmlns:p14="http://schemas.microsoft.com/office/powerpoint/2010/main" val="40640520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4" name="Rectangle 3">
            <a:extLst>
              <a:ext uri="{FF2B5EF4-FFF2-40B4-BE49-F238E27FC236}">
                <a16:creationId xmlns:a16="http://schemas.microsoft.com/office/drawing/2014/main" id="{3DBA2735-A49C-D247-A3A0-3E3442035F96}"/>
              </a:ext>
            </a:extLst>
          </p:cNvPr>
          <p:cNvSpPr/>
          <p:nvPr/>
        </p:nvSpPr>
        <p:spPr>
          <a:xfrm>
            <a:off x="645319" y="1285449"/>
            <a:ext cx="10098881" cy="430887"/>
          </a:xfrm>
          <a:prstGeom prst="rect">
            <a:avLst/>
          </a:prstGeom>
        </p:spPr>
        <p:txBody>
          <a:bodyPr wrap="square">
            <a:spAutoFit/>
          </a:bodyPr>
          <a:lstStyle/>
          <a:p>
            <a:r>
              <a:rPr lang="en-US" sz="2200" dirty="0">
                <a:solidFill>
                  <a:srgbClr val="000066"/>
                </a:solidFill>
                <a:latin typeface="LiberationSerif"/>
              </a:rPr>
              <a:t>There are two kinds of products of vectors used broadly in physics and engineering. </a:t>
            </a:r>
            <a:endParaRPr lang="en-US" sz="2200" dirty="0">
              <a:solidFill>
                <a:srgbClr val="000066"/>
              </a:solidFill>
            </a:endParaRPr>
          </a:p>
        </p:txBody>
      </p:sp>
      <p:sp>
        <p:nvSpPr>
          <p:cNvPr id="6" name="Rectangle 5">
            <a:extLst>
              <a:ext uri="{FF2B5EF4-FFF2-40B4-BE49-F238E27FC236}">
                <a16:creationId xmlns:a16="http://schemas.microsoft.com/office/drawing/2014/main" id="{0CD68523-1B99-D64C-A795-83466EAF1C59}"/>
              </a:ext>
            </a:extLst>
          </p:cNvPr>
          <p:cNvSpPr/>
          <p:nvPr/>
        </p:nvSpPr>
        <p:spPr>
          <a:xfrm>
            <a:off x="931069" y="2415659"/>
            <a:ext cx="4032686" cy="769441"/>
          </a:xfrm>
          <a:prstGeom prst="rect">
            <a:avLst/>
          </a:prstGeom>
        </p:spPr>
        <p:txBody>
          <a:bodyPr wrap="square">
            <a:spAutoFit/>
          </a:bodyPr>
          <a:lstStyle/>
          <a:p>
            <a:pPr algn="ctr"/>
            <a:r>
              <a:rPr lang="en-US" sz="2200" dirty="0">
                <a:solidFill>
                  <a:srgbClr val="003399"/>
                </a:solidFill>
              </a:rPr>
              <a:t>The Scalar Product of Two Vectors (the Dot Product) </a:t>
            </a:r>
          </a:p>
        </p:txBody>
      </p:sp>
      <p:pic>
        <p:nvPicPr>
          <p:cNvPr id="8" name="Picture 7" descr="Text&#10;&#10;Description automatically generated with medium confidence">
            <a:extLst>
              <a:ext uri="{FF2B5EF4-FFF2-40B4-BE49-F238E27FC236}">
                <a16:creationId xmlns:a16="http://schemas.microsoft.com/office/drawing/2014/main" id="{F736898F-8DB1-624C-A2A5-EF72FF7D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362" y="3190301"/>
            <a:ext cx="2070100" cy="482600"/>
          </a:xfrm>
          <a:prstGeom prst="rect">
            <a:avLst/>
          </a:prstGeom>
        </p:spPr>
      </p:pic>
      <p:pic>
        <p:nvPicPr>
          <p:cNvPr id="10" name="Picture 9" descr="Diagram&#10;&#10;Description automatically generated">
            <a:extLst>
              <a:ext uri="{FF2B5EF4-FFF2-40B4-BE49-F238E27FC236}">
                <a16:creationId xmlns:a16="http://schemas.microsoft.com/office/drawing/2014/main" id="{6C486C24-704A-3F47-A020-C1944ACC2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363" y="3730053"/>
            <a:ext cx="3043825" cy="2743200"/>
          </a:xfrm>
          <a:prstGeom prst="rect">
            <a:avLst/>
          </a:prstGeom>
        </p:spPr>
      </p:pic>
      <p:sp>
        <p:nvSpPr>
          <p:cNvPr id="11" name="Rectangle 10">
            <a:extLst>
              <a:ext uri="{FF2B5EF4-FFF2-40B4-BE49-F238E27FC236}">
                <a16:creationId xmlns:a16="http://schemas.microsoft.com/office/drawing/2014/main" id="{91DF7C7A-A0ED-BB4C-BB58-D37CA7222626}"/>
              </a:ext>
            </a:extLst>
          </p:cNvPr>
          <p:cNvSpPr/>
          <p:nvPr/>
        </p:nvSpPr>
        <p:spPr>
          <a:xfrm>
            <a:off x="6520435" y="2415658"/>
            <a:ext cx="4223765" cy="769441"/>
          </a:xfrm>
          <a:prstGeom prst="rect">
            <a:avLst/>
          </a:prstGeom>
        </p:spPr>
        <p:txBody>
          <a:bodyPr wrap="square">
            <a:spAutoFit/>
          </a:bodyPr>
          <a:lstStyle/>
          <a:p>
            <a:pPr algn="ctr"/>
            <a:r>
              <a:rPr lang="en-US" sz="2200" dirty="0">
                <a:solidFill>
                  <a:srgbClr val="008000"/>
                </a:solidFill>
              </a:rPr>
              <a:t>The Vector Product of Two Vectors (the Cross Product) </a:t>
            </a:r>
          </a:p>
        </p:txBody>
      </p:sp>
      <p:pic>
        <p:nvPicPr>
          <p:cNvPr id="13" name="Picture 12" descr="Diagram&#10;&#10;Description automatically generated with medium confidence">
            <a:extLst>
              <a:ext uri="{FF2B5EF4-FFF2-40B4-BE49-F238E27FC236}">
                <a16:creationId xmlns:a16="http://schemas.microsoft.com/office/drawing/2014/main" id="{38FAFD45-4504-BB41-897B-8637869EDC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32167" y="3142677"/>
            <a:ext cx="2400300" cy="558800"/>
          </a:xfrm>
          <a:prstGeom prst="rect">
            <a:avLst/>
          </a:prstGeom>
        </p:spPr>
      </p:pic>
      <p:pic>
        <p:nvPicPr>
          <p:cNvPr id="15" name="Picture 14" descr="Chart, diagram, radar chart&#10;&#10;Description automatically generated">
            <a:extLst>
              <a:ext uri="{FF2B5EF4-FFF2-40B4-BE49-F238E27FC236}">
                <a16:creationId xmlns:a16="http://schemas.microsoft.com/office/drawing/2014/main" id="{1F0B142D-FE8F-204B-8AF3-1F5F547E9A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3619" y="3758629"/>
            <a:ext cx="2997396" cy="2743200"/>
          </a:xfrm>
          <a:prstGeom prst="rect">
            <a:avLst/>
          </a:prstGeom>
        </p:spPr>
      </p:pic>
      <p:sp>
        <p:nvSpPr>
          <p:cNvPr id="16" name="Rectangle 15">
            <a:extLst>
              <a:ext uri="{FF2B5EF4-FFF2-40B4-BE49-F238E27FC236}">
                <a16:creationId xmlns:a16="http://schemas.microsoft.com/office/drawing/2014/main" id="{CE5416B8-00BB-A94A-ADD2-39C54F74B1AF}"/>
              </a:ext>
            </a:extLst>
          </p:cNvPr>
          <p:cNvSpPr/>
          <p:nvPr/>
        </p:nvSpPr>
        <p:spPr>
          <a:xfrm>
            <a:off x="7133619" y="6446766"/>
            <a:ext cx="3026919" cy="369332"/>
          </a:xfrm>
          <a:prstGeom prst="rect">
            <a:avLst/>
          </a:prstGeom>
        </p:spPr>
        <p:txBody>
          <a:bodyPr wrap="none">
            <a:spAutoFit/>
          </a:bodyPr>
          <a:lstStyle/>
          <a:p>
            <a:r>
              <a:rPr lang="en-US" dirty="0">
                <a:solidFill>
                  <a:srgbClr val="C00000"/>
                </a:solidFill>
                <a:latin typeface="LiberationSerif"/>
              </a:rPr>
              <a:t>The vector product is a vector!</a:t>
            </a:r>
            <a:endParaRPr lang="en-US" dirty="0">
              <a:solidFill>
                <a:srgbClr val="C00000"/>
              </a:solidFill>
              <a:effectLst/>
            </a:endParaRPr>
          </a:p>
        </p:txBody>
      </p:sp>
      <p:sp>
        <p:nvSpPr>
          <p:cNvPr id="17" name="Rectangle 16">
            <a:extLst>
              <a:ext uri="{FF2B5EF4-FFF2-40B4-BE49-F238E27FC236}">
                <a16:creationId xmlns:a16="http://schemas.microsoft.com/office/drawing/2014/main" id="{DCE92A3B-C2C4-9949-B7B6-68F40407A65E}"/>
              </a:ext>
            </a:extLst>
          </p:cNvPr>
          <p:cNvSpPr/>
          <p:nvPr/>
        </p:nvSpPr>
        <p:spPr>
          <a:xfrm>
            <a:off x="1924226" y="3701477"/>
            <a:ext cx="2146342" cy="646331"/>
          </a:xfrm>
          <a:prstGeom prst="rect">
            <a:avLst/>
          </a:prstGeom>
        </p:spPr>
        <p:txBody>
          <a:bodyPr wrap="square">
            <a:spAutoFit/>
          </a:bodyPr>
          <a:lstStyle/>
          <a:p>
            <a:r>
              <a:rPr lang="en-US" dirty="0">
                <a:solidFill>
                  <a:srgbClr val="C00000"/>
                </a:solidFill>
                <a:latin typeface="LiberationSerif"/>
              </a:rPr>
              <a:t>The scalar product is a scalar (number)</a:t>
            </a:r>
            <a:endParaRPr lang="en-US" dirty="0">
              <a:solidFill>
                <a:srgbClr val="C00000"/>
              </a:solidFill>
              <a:effectLst/>
            </a:endParaRPr>
          </a:p>
        </p:txBody>
      </p:sp>
    </p:spTree>
    <p:extLst>
      <p:ext uri="{BB962C8B-B14F-4D97-AF65-F5344CB8AC3E}">
        <p14:creationId xmlns:p14="http://schemas.microsoft.com/office/powerpoint/2010/main" val="1362042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6" name="Rectangle 5">
            <a:extLst>
              <a:ext uri="{FF2B5EF4-FFF2-40B4-BE49-F238E27FC236}">
                <a16:creationId xmlns:a16="http://schemas.microsoft.com/office/drawing/2014/main" id="{0CD68523-1B99-D64C-A795-83466EAF1C59}"/>
              </a:ext>
            </a:extLst>
          </p:cNvPr>
          <p:cNvSpPr/>
          <p:nvPr/>
        </p:nvSpPr>
        <p:spPr>
          <a:xfrm>
            <a:off x="931069" y="2415659"/>
            <a:ext cx="4032686" cy="769441"/>
          </a:xfrm>
          <a:prstGeom prst="rect">
            <a:avLst/>
          </a:prstGeom>
        </p:spPr>
        <p:txBody>
          <a:bodyPr wrap="square">
            <a:spAutoFit/>
          </a:bodyPr>
          <a:lstStyle/>
          <a:p>
            <a:pPr algn="ctr"/>
            <a:r>
              <a:rPr lang="en-US" sz="2200" dirty="0">
                <a:solidFill>
                  <a:srgbClr val="003399"/>
                </a:solidFill>
              </a:rPr>
              <a:t>The Scalar Product of Two Vectors (the Dot Product) </a:t>
            </a:r>
          </a:p>
        </p:txBody>
      </p:sp>
      <p:pic>
        <p:nvPicPr>
          <p:cNvPr id="8" name="Picture 7" descr="Text&#10;&#10;Description automatically generated with medium confidence">
            <a:extLst>
              <a:ext uri="{FF2B5EF4-FFF2-40B4-BE49-F238E27FC236}">
                <a16:creationId xmlns:a16="http://schemas.microsoft.com/office/drawing/2014/main" id="{F736898F-8DB1-624C-A2A5-EF72FF7D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362" y="3190301"/>
            <a:ext cx="2070100" cy="482600"/>
          </a:xfrm>
          <a:prstGeom prst="rect">
            <a:avLst/>
          </a:prstGeom>
        </p:spPr>
      </p:pic>
      <p:pic>
        <p:nvPicPr>
          <p:cNvPr id="10" name="Picture 9" descr="Diagram&#10;&#10;Description automatically generated">
            <a:extLst>
              <a:ext uri="{FF2B5EF4-FFF2-40B4-BE49-F238E27FC236}">
                <a16:creationId xmlns:a16="http://schemas.microsoft.com/office/drawing/2014/main" id="{6C486C24-704A-3F47-A020-C1944ACC2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363" y="3730053"/>
            <a:ext cx="3043825" cy="2743200"/>
          </a:xfrm>
          <a:prstGeom prst="rect">
            <a:avLst/>
          </a:prstGeom>
        </p:spPr>
      </p:pic>
      <p:sp>
        <p:nvSpPr>
          <p:cNvPr id="17" name="Rectangle 16">
            <a:extLst>
              <a:ext uri="{FF2B5EF4-FFF2-40B4-BE49-F238E27FC236}">
                <a16:creationId xmlns:a16="http://schemas.microsoft.com/office/drawing/2014/main" id="{DCE92A3B-C2C4-9949-B7B6-68F40407A65E}"/>
              </a:ext>
            </a:extLst>
          </p:cNvPr>
          <p:cNvSpPr/>
          <p:nvPr/>
        </p:nvSpPr>
        <p:spPr>
          <a:xfrm>
            <a:off x="1924226" y="3701477"/>
            <a:ext cx="2146342" cy="646331"/>
          </a:xfrm>
          <a:prstGeom prst="rect">
            <a:avLst/>
          </a:prstGeom>
        </p:spPr>
        <p:txBody>
          <a:bodyPr wrap="square">
            <a:spAutoFit/>
          </a:bodyPr>
          <a:lstStyle/>
          <a:p>
            <a:r>
              <a:rPr lang="en-US" dirty="0">
                <a:solidFill>
                  <a:srgbClr val="C00000"/>
                </a:solidFill>
                <a:latin typeface="LiberationSerif"/>
              </a:rPr>
              <a:t>The scalar product is a scalar (number)</a:t>
            </a:r>
            <a:endParaRPr lang="en-US" dirty="0">
              <a:solidFill>
                <a:srgbClr val="C00000"/>
              </a:solidFill>
              <a:effectLst/>
            </a:endParaRPr>
          </a:p>
        </p:txBody>
      </p:sp>
      <p:sp>
        <p:nvSpPr>
          <p:cNvPr id="20" name="Rectangle 19">
            <a:extLst>
              <a:ext uri="{FF2B5EF4-FFF2-40B4-BE49-F238E27FC236}">
                <a16:creationId xmlns:a16="http://schemas.microsoft.com/office/drawing/2014/main" id="{F1EDC0C5-E565-CD48-A13C-AC5FCB0BCB3C}"/>
              </a:ext>
            </a:extLst>
          </p:cNvPr>
          <p:cNvSpPr/>
          <p:nvPr/>
        </p:nvSpPr>
        <p:spPr>
          <a:xfrm>
            <a:off x="6096000" y="4886209"/>
            <a:ext cx="2635850" cy="400110"/>
          </a:xfrm>
          <a:prstGeom prst="rect">
            <a:avLst/>
          </a:prstGeom>
        </p:spPr>
        <p:txBody>
          <a:bodyPr wrap="none">
            <a:spAutoFit/>
          </a:bodyPr>
          <a:lstStyle/>
          <a:p>
            <a:r>
              <a:rPr lang="en-US" sz="2000" dirty="0">
                <a:latin typeface="LiberationSerif"/>
              </a:rPr>
              <a:t>Find the scalar product </a:t>
            </a:r>
            <a:endParaRPr lang="en-US" sz="2000" dirty="0"/>
          </a:p>
        </p:txBody>
      </p:sp>
      <p:sp>
        <p:nvSpPr>
          <p:cNvPr id="21" name="Rectangle 20">
            <a:extLst>
              <a:ext uri="{FF2B5EF4-FFF2-40B4-BE49-F238E27FC236}">
                <a16:creationId xmlns:a16="http://schemas.microsoft.com/office/drawing/2014/main" id="{22EA0E10-61D9-BB4D-B651-43E6BB1379A7}"/>
              </a:ext>
            </a:extLst>
          </p:cNvPr>
          <p:cNvSpPr/>
          <p:nvPr/>
        </p:nvSpPr>
        <p:spPr>
          <a:xfrm>
            <a:off x="6096000" y="4530585"/>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23" name="Picture 22" descr="A picture containing text, clock, sign&#10;&#10;Description automatically generated">
            <a:extLst>
              <a:ext uri="{FF2B5EF4-FFF2-40B4-BE49-F238E27FC236}">
                <a16:creationId xmlns:a16="http://schemas.microsoft.com/office/drawing/2014/main" id="{F848CB19-00EC-8B42-90FD-2175B0F180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2563" y="4830074"/>
            <a:ext cx="850900" cy="444500"/>
          </a:xfrm>
          <a:prstGeom prst="rect">
            <a:avLst/>
          </a:prstGeom>
        </p:spPr>
      </p:pic>
      <p:pic>
        <p:nvPicPr>
          <p:cNvPr id="25" name="Picture 24" descr="Diagram&#10;&#10;Description automatically generated">
            <a:extLst>
              <a:ext uri="{FF2B5EF4-FFF2-40B4-BE49-F238E27FC236}">
                <a16:creationId xmlns:a16="http://schemas.microsoft.com/office/drawing/2014/main" id="{5564E155-0D46-C043-9180-EBE4C407AA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09240" y="2061808"/>
            <a:ext cx="2400300" cy="2286000"/>
          </a:xfrm>
          <a:prstGeom prst="rect">
            <a:avLst/>
          </a:prstGeom>
        </p:spPr>
      </p:pic>
      <p:pic>
        <p:nvPicPr>
          <p:cNvPr id="27" name="Picture 26" descr="Diagram&#10;&#10;Description automatically generated">
            <a:extLst>
              <a:ext uri="{FF2B5EF4-FFF2-40B4-BE49-F238E27FC236}">
                <a16:creationId xmlns:a16="http://schemas.microsoft.com/office/drawing/2014/main" id="{C49BA400-68CF-9A47-8B91-E9ABA426B5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25934" y="1985608"/>
            <a:ext cx="2832100" cy="2362200"/>
          </a:xfrm>
          <a:prstGeom prst="rect">
            <a:avLst/>
          </a:prstGeom>
        </p:spPr>
      </p:pic>
      <p:pic>
        <p:nvPicPr>
          <p:cNvPr id="29" name="Picture 28">
            <a:extLst>
              <a:ext uri="{FF2B5EF4-FFF2-40B4-BE49-F238E27FC236}">
                <a16:creationId xmlns:a16="http://schemas.microsoft.com/office/drawing/2014/main" id="{C6C47052-0264-6445-9182-29E45ABEB08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44996" y="5653270"/>
            <a:ext cx="2870200" cy="342900"/>
          </a:xfrm>
          <a:prstGeom prst="rect">
            <a:avLst/>
          </a:prstGeom>
        </p:spPr>
      </p:pic>
      <p:pic>
        <p:nvPicPr>
          <p:cNvPr id="31" name="Picture 30">
            <a:extLst>
              <a:ext uri="{FF2B5EF4-FFF2-40B4-BE49-F238E27FC236}">
                <a16:creationId xmlns:a16="http://schemas.microsoft.com/office/drawing/2014/main" id="{D85B4C0E-F2CF-2B4A-8A1C-E370A048F3B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44996" y="6059929"/>
            <a:ext cx="4902200" cy="419100"/>
          </a:xfrm>
          <a:prstGeom prst="rect">
            <a:avLst/>
          </a:prstGeom>
        </p:spPr>
      </p:pic>
    </p:spTree>
    <p:extLst>
      <p:ext uri="{BB962C8B-B14F-4D97-AF65-F5344CB8AC3E}">
        <p14:creationId xmlns:p14="http://schemas.microsoft.com/office/powerpoint/2010/main" val="15218843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6" name="Rectangle 5">
            <a:extLst>
              <a:ext uri="{FF2B5EF4-FFF2-40B4-BE49-F238E27FC236}">
                <a16:creationId xmlns:a16="http://schemas.microsoft.com/office/drawing/2014/main" id="{0CD68523-1B99-D64C-A795-83466EAF1C59}"/>
              </a:ext>
            </a:extLst>
          </p:cNvPr>
          <p:cNvSpPr/>
          <p:nvPr/>
        </p:nvSpPr>
        <p:spPr>
          <a:xfrm>
            <a:off x="931069" y="2415659"/>
            <a:ext cx="4032686" cy="769441"/>
          </a:xfrm>
          <a:prstGeom prst="rect">
            <a:avLst/>
          </a:prstGeom>
        </p:spPr>
        <p:txBody>
          <a:bodyPr wrap="square">
            <a:spAutoFit/>
          </a:bodyPr>
          <a:lstStyle/>
          <a:p>
            <a:pPr algn="ctr"/>
            <a:r>
              <a:rPr lang="en-US" sz="2200" dirty="0">
                <a:solidFill>
                  <a:srgbClr val="003399"/>
                </a:solidFill>
              </a:rPr>
              <a:t>The Scalar Product of Two Vectors (the Dot Product) </a:t>
            </a:r>
          </a:p>
        </p:txBody>
      </p:sp>
      <p:pic>
        <p:nvPicPr>
          <p:cNvPr id="8" name="Picture 7" descr="Text&#10;&#10;Description automatically generated with medium confidence">
            <a:extLst>
              <a:ext uri="{FF2B5EF4-FFF2-40B4-BE49-F238E27FC236}">
                <a16:creationId xmlns:a16="http://schemas.microsoft.com/office/drawing/2014/main" id="{F736898F-8DB1-624C-A2A5-EF72FF7D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362" y="3190301"/>
            <a:ext cx="2070100" cy="482600"/>
          </a:xfrm>
          <a:prstGeom prst="rect">
            <a:avLst/>
          </a:prstGeom>
        </p:spPr>
      </p:pic>
      <p:pic>
        <p:nvPicPr>
          <p:cNvPr id="10" name="Picture 9" descr="Diagram&#10;&#10;Description automatically generated">
            <a:extLst>
              <a:ext uri="{FF2B5EF4-FFF2-40B4-BE49-F238E27FC236}">
                <a16:creationId xmlns:a16="http://schemas.microsoft.com/office/drawing/2014/main" id="{6C486C24-704A-3F47-A020-C1944ACC2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363" y="3730053"/>
            <a:ext cx="3043825" cy="2743200"/>
          </a:xfrm>
          <a:prstGeom prst="rect">
            <a:avLst/>
          </a:prstGeom>
        </p:spPr>
      </p:pic>
      <p:sp>
        <p:nvSpPr>
          <p:cNvPr id="17" name="Rectangle 16">
            <a:extLst>
              <a:ext uri="{FF2B5EF4-FFF2-40B4-BE49-F238E27FC236}">
                <a16:creationId xmlns:a16="http://schemas.microsoft.com/office/drawing/2014/main" id="{DCE92A3B-C2C4-9949-B7B6-68F40407A65E}"/>
              </a:ext>
            </a:extLst>
          </p:cNvPr>
          <p:cNvSpPr/>
          <p:nvPr/>
        </p:nvSpPr>
        <p:spPr>
          <a:xfrm>
            <a:off x="1924226" y="3701477"/>
            <a:ext cx="2146342" cy="646331"/>
          </a:xfrm>
          <a:prstGeom prst="rect">
            <a:avLst/>
          </a:prstGeom>
        </p:spPr>
        <p:txBody>
          <a:bodyPr wrap="square">
            <a:spAutoFit/>
          </a:bodyPr>
          <a:lstStyle/>
          <a:p>
            <a:r>
              <a:rPr lang="en-US" dirty="0">
                <a:solidFill>
                  <a:srgbClr val="C00000"/>
                </a:solidFill>
                <a:latin typeface="LiberationSerif"/>
              </a:rPr>
              <a:t>The scalar product is a scalar (number)</a:t>
            </a:r>
            <a:endParaRPr lang="en-US" dirty="0">
              <a:solidFill>
                <a:srgbClr val="C00000"/>
              </a:solidFill>
              <a:effectLst/>
            </a:endParaRP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1EDC0C5-E565-CD48-A13C-AC5FCB0BCB3C}"/>
                  </a:ext>
                </a:extLst>
              </p:cNvPr>
              <p:cNvSpPr/>
              <p:nvPr/>
            </p:nvSpPr>
            <p:spPr>
              <a:xfrm>
                <a:off x="6505491" y="5246264"/>
                <a:ext cx="4296433" cy="439479"/>
              </a:xfrm>
              <a:prstGeom prst="rect">
                <a:avLst/>
              </a:prstGeom>
            </p:spPr>
            <p:txBody>
              <a:bodyPr wrap="none">
                <a:spAutoFit/>
              </a:bodyPr>
              <a:lstStyle/>
              <a:p>
                <a:r>
                  <a:rPr lang="en-US" sz="2000" dirty="0">
                    <a:latin typeface="LiberationSerif"/>
                  </a:rPr>
                  <a:t>Find the scalar products </a:t>
                </a:r>
                <a14:m>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𝑨</m:t>
                        </m:r>
                      </m:e>
                    </m:acc>
                    <m:r>
                      <a:rPr lang="en-US" sz="2000" b="1" i="1" smtClean="0">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rPr>
                        </m:ctrlPr>
                      </m:accPr>
                      <m:e>
                        <m:r>
                          <a:rPr lang="en-US" sz="2000" b="1" i="1" smtClean="0">
                            <a:latin typeface="Cambria Math" panose="02040503050406030204" pitchFamily="18" charset="0"/>
                          </a:rPr>
                          <m:t>𝑩</m:t>
                        </m:r>
                      </m:e>
                    </m:acc>
                  </m:oMath>
                </a14:m>
                <a:r>
                  <a:rPr lang="en-US" sz="2000" b="1" dirty="0"/>
                  <a:t> </a:t>
                </a:r>
                <a:r>
                  <a:rPr lang="en-US" sz="2000" dirty="0"/>
                  <a:t>and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𝑨</m:t>
                        </m:r>
                      </m:e>
                    </m:acc>
                    <m:r>
                      <a:rPr lang="en-US" sz="2000" b="1" i="1">
                        <a:latin typeface="Cambria Math" panose="02040503050406030204" pitchFamily="18" charset="0"/>
                        <a:ea typeface="Cambria Math" panose="02040503050406030204" pitchFamily="18" charset="0"/>
                      </a:rPr>
                      <m:t>∙</m:t>
                    </m:r>
                    <m:acc>
                      <m:accPr>
                        <m:chr m:val="⃗"/>
                        <m:ctrlPr>
                          <a:rPr lang="en-US" sz="2000" b="1" i="1">
                            <a:latin typeface="Cambria Math" panose="02040503050406030204" pitchFamily="18" charset="0"/>
                          </a:rPr>
                        </m:ctrlPr>
                      </m:accPr>
                      <m:e>
                        <m:r>
                          <a:rPr lang="en-US" sz="2000" b="1" i="1" smtClean="0">
                            <a:latin typeface="Cambria Math" panose="02040503050406030204" pitchFamily="18" charset="0"/>
                          </a:rPr>
                          <m:t>𝑪</m:t>
                        </m:r>
                      </m:e>
                    </m:acc>
                  </m:oMath>
                </a14:m>
                <a:endParaRPr lang="en-US" sz="2000" b="1" dirty="0"/>
              </a:p>
            </p:txBody>
          </p:sp>
        </mc:Choice>
        <mc:Fallback xmlns="">
          <p:sp>
            <p:nvSpPr>
              <p:cNvPr id="20" name="Rectangle 19">
                <a:extLst>
                  <a:ext uri="{FF2B5EF4-FFF2-40B4-BE49-F238E27FC236}">
                    <a16:creationId xmlns:a16="http://schemas.microsoft.com/office/drawing/2014/main" id="{F1EDC0C5-E565-CD48-A13C-AC5FCB0BCB3C}"/>
                  </a:ext>
                </a:extLst>
              </p:cNvPr>
              <p:cNvSpPr>
                <a:spLocks noRot="1" noChangeAspect="1" noMove="1" noResize="1" noEditPoints="1" noAdjustHandles="1" noChangeArrowheads="1" noChangeShapeType="1" noTextEdit="1"/>
              </p:cNvSpPr>
              <p:nvPr/>
            </p:nvSpPr>
            <p:spPr>
              <a:xfrm>
                <a:off x="6505491" y="5246264"/>
                <a:ext cx="4296433" cy="439479"/>
              </a:xfrm>
              <a:prstGeom prst="rect">
                <a:avLst/>
              </a:prstGeom>
              <a:blipFill>
                <a:blip r:embed="rId5"/>
                <a:stretch>
                  <a:fillRect l="-1475" b="-25714"/>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A351815C-E7E3-3C4A-921B-23402ABDAEEC}"/>
              </a:ext>
            </a:extLst>
          </p:cNvPr>
          <p:cNvSpPr/>
          <p:nvPr/>
        </p:nvSpPr>
        <p:spPr>
          <a:xfrm>
            <a:off x="6492453" y="4926315"/>
            <a:ext cx="5195886" cy="400110"/>
          </a:xfrm>
          <a:prstGeom prst="rect">
            <a:avLst/>
          </a:prstGeom>
        </p:spPr>
        <p:txBody>
          <a:bodyPr wrap="square">
            <a:spAutoFit/>
          </a:bodyPr>
          <a:lstStyle/>
          <a:p>
            <a:r>
              <a:rPr lang="en-US" sz="2000" dirty="0">
                <a:solidFill>
                  <a:srgbClr val="0000CC"/>
                </a:solidFill>
              </a:rPr>
              <a:t>Assignment 4</a:t>
            </a:r>
          </a:p>
        </p:txBody>
      </p:sp>
      <p:pic>
        <p:nvPicPr>
          <p:cNvPr id="18" name="Picture 17" descr="Diagram&#10;&#10;Description automatically generated">
            <a:extLst>
              <a:ext uri="{FF2B5EF4-FFF2-40B4-BE49-F238E27FC236}">
                <a16:creationId xmlns:a16="http://schemas.microsoft.com/office/drawing/2014/main" id="{9DE8D6FC-F58D-2B46-B839-9EDB3CE5B6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35278" y="1584900"/>
            <a:ext cx="6653162" cy="3200400"/>
          </a:xfrm>
          <a:prstGeom prst="rect">
            <a:avLst/>
          </a:prstGeom>
        </p:spPr>
      </p:pic>
    </p:spTree>
    <p:extLst>
      <p:ext uri="{BB962C8B-B14F-4D97-AF65-F5344CB8AC3E}">
        <p14:creationId xmlns:p14="http://schemas.microsoft.com/office/powerpoint/2010/main" val="35211734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6" name="Rectangle 5">
            <a:extLst>
              <a:ext uri="{FF2B5EF4-FFF2-40B4-BE49-F238E27FC236}">
                <a16:creationId xmlns:a16="http://schemas.microsoft.com/office/drawing/2014/main" id="{0CD68523-1B99-D64C-A795-83466EAF1C59}"/>
              </a:ext>
            </a:extLst>
          </p:cNvPr>
          <p:cNvSpPr/>
          <p:nvPr/>
        </p:nvSpPr>
        <p:spPr>
          <a:xfrm>
            <a:off x="931069" y="2415659"/>
            <a:ext cx="4032686" cy="769441"/>
          </a:xfrm>
          <a:prstGeom prst="rect">
            <a:avLst/>
          </a:prstGeom>
        </p:spPr>
        <p:txBody>
          <a:bodyPr wrap="square">
            <a:spAutoFit/>
          </a:bodyPr>
          <a:lstStyle/>
          <a:p>
            <a:pPr algn="ctr"/>
            <a:r>
              <a:rPr lang="en-US" sz="2200" dirty="0">
                <a:solidFill>
                  <a:srgbClr val="003399"/>
                </a:solidFill>
              </a:rPr>
              <a:t>The Scalar Product of Two Vectors (the Dot Product) </a:t>
            </a:r>
          </a:p>
        </p:txBody>
      </p:sp>
      <p:pic>
        <p:nvPicPr>
          <p:cNvPr id="8" name="Picture 7" descr="Text&#10;&#10;Description automatically generated with medium confidence">
            <a:extLst>
              <a:ext uri="{FF2B5EF4-FFF2-40B4-BE49-F238E27FC236}">
                <a16:creationId xmlns:a16="http://schemas.microsoft.com/office/drawing/2014/main" id="{F736898F-8DB1-624C-A2A5-EF72FF7D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362" y="3190301"/>
            <a:ext cx="2070100" cy="482600"/>
          </a:xfrm>
          <a:prstGeom prst="rect">
            <a:avLst/>
          </a:prstGeom>
        </p:spPr>
      </p:pic>
      <p:pic>
        <p:nvPicPr>
          <p:cNvPr id="10" name="Picture 9" descr="Diagram&#10;&#10;Description automatically generated">
            <a:extLst>
              <a:ext uri="{FF2B5EF4-FFF2-40B4-BE49-F238E27FC236}">
                <a16:creationId xmlns:a16="http://schemas.microsoft.com/office/drawing/2014/main" id="{6C486C24-704A-3F47-A020-C1944ACC2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363" y="3730053"/>
            <a:ext cx="3043825" cy="2743200"/>
          </a:xfrm>
          <a:prstGeom prst="rect">
            <a:avLst/>
          </a:prstGeom>
        </p:spPr>
      </p:pic>
      <p:sp>
        <p:nvSpPr>
          <p:cNvPr id="17" name="Rectangle 16">
            <a:extLst>
              <a:ext uri="{FF2B5EF4-FFF2-40B4-BE49-F238E27FC236}">
                <a16:creationId xmlns:a16="http://schemas.microsoft.com/office/drawing/2014/main" id="{DCE92A3B-C2C4-9949-B7B6-68F40407A65E}"/>
              </a:ext>
            </a:extLst>
          </p:cNvPr>
          <p:cNvSpPr/>
          <p:nvPr/>
        </p:nvSpPr>
        <p:spPr>
          <a:xfrm>
            <a:off x="1924226" y="3701477"/>
            <a:ext cx="2146342" cy="646331"/>
          </a:xfrm>
          <a:prstGeom prst="rect">
            <a:avLst/>
          </a:prstGeom>
        </p:spPr>
        <p:txBody>
          <a:bodyPr wrap="square">
            <a:spAutoFit/>
          </a:bodyPr>
          <a:lstStyle/>
          <a:p>
            <a:r>
              <a:rPr lang="en-US" dirty="0">
                <a:solidFill>
                  <a:srgbClr val="C00000"/>
                </a:solidFill>
                <a:latin typeface="LiberationSerif"/>
              </a:rPr>
              <a:t>The scalar product is a scalar (number)</a:t>
            </a:r>
            <a:endParaRPr lang="en-US" dirty="0">
              <a:solidFill>
                <a:srgbClr val="C00000"/>
              </a:solidFill>
              <a:effectLst/>
            </a:endParaRPr>
          </a:p>
        </p:txBody>
      </p:sp>
      <p:sp>
        <p:nvSpPr>
          <p:cNvPr id="7" name="Rectangle 6">
            <a:extLst>
              <a:ext uri="{FF2B5EF4-FFF2-40B4-BE49-F238E27FC236}">
                <a16:creationId xmlns:a16="http://schemas.microsoft.com/office/drawing/2014/main" id="{73581CE4-DF50-9F40-A449-698397BCDCA2}"/>
              </a:ext>
            </a:extLst>
          </p:cNvPr>
          <p:cNvSpPr/>
          <p:nvPr/>
        </p:nvSpPr>
        <p:spPr>
          <a:xfrm>
            <a:off x="5874374" y="3786190"/>
            <a:ext cx="5572295" cy="430887"/>
          </a:xfrm>
          <a:prstGeom prst="rect">
            <a:avLst/>
          </a:prstGeom>
        </p:spPr>
        <p:txBody>
          <a:bodyPr wrap="none">
            <a:spAutoFit/>
          </a:bodyPr>
          <a:lstStyle/>
          <a:p>
            <a:r>
              <a:rPr lang="en-US" sz="2200" dirty="0">
                <a:solidFill>
                  <a:srgbClr val="000066"/>
                </a:solidFill>
                <a:latin typeface="LiberationSerif"/>
              </a:rPr>
              <a:t>Scalar multiplication of vectors is commutative </a:t>
            </a:r>
            <a:endParaRPr lang="en-US" sz="2200" dirty="0">
              <a:solidFill>
                <a:srgbClr val="000066"/>
              </a:solidFill>
            </a:endParaRPr>
          </a:p>
        </p:txBody>
      </p:sp>
      <p:sp>
        <p:nvSpPr>
          <p:cNvPr id="9" name="Rectangle 8">
            <a:extLst>
              <a:ext uri="{FF2B5EF4-FFF2-40B4-BE49-F238E27FC236}">
                <a16:creationId xmlns:a16="http://schemas.microsoft.com/office/drawing/2014/main" id="{B749A3E8-7B40-0149-9500-C19EDC86757C}"/>
              </a:ext>
            </a:extLst>
          </p:cNvPr>
          <p:cNvSpPr/>
          <p:nvPr/>
        </p:nvSpPr>
        <p:spPr>
          <a:xfrm>
            <a:off x="6851083" y="4806778"/>
            <a:ext cx="3618876" cy="430887"/>
          </a:xfrm>
          <a:prstGeom prst="rect">
            <a:avLst/>
          </a:prstGeom>
        </p:spPr>
        <p:txBody>
          <a:bodyPr wrap="none">
            <a:spAutoFit/>
          </a:bodyPr>
          <a:lstStyle/>
          <a:p>
            <a:r>
              <a:rPr lang="en-US" sz="2200" dirty="0">
                <a:solidFill>
                  <a:srgbClr val="000066"/>
                </a:solidFill>
                <a:latin typeface="LiberationSerif"/>
              </a:rPr>
              <a:t>and obeys the distributive law</a:t>
            </a:r>
            <a:endParaRPr lang="en-US" sz="2200" dirty="0">
              <a:solidFill>
                <a:srgbClr val="000066"/>
              </a:solidFill>
            </a:endParaRPr>
          </a:p>
        </p:txBody>
      </p:sp>
      <p:pic>
        <p:nvPicPr>
          <p:cNvPr id="14" name="Picture 13" descr="A picture containing text&#10;&#10;Description automatically generated">
            <a:extLst>
              <a:ext uri="{FF2B5EF4-FFF2-40B4-BE49-F238E27FC236}">
                <a16:creationId xmlns:a16="http://schemas.microsoft.com/office/drawing/2014/main" id="{3FCBDEE5-E5D7-4F4A-9ACF-7C94E02EB5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57221" y="4245422"/>
            <a:ext cx="2006600" cy="508000"/>
          </a:xfrm>
          <a:prstGeom prst="rect">
            <a:avLst/>
          </a:prstGeom>
        </p:spPr>
      </p:pic>
      <p:pic>
        <p:nvPicPr>
          <p:cNvPr id="19" name="Picture 18" descr="A picture containing text, clock&#10;&#10;Description automatically generated">
            <a:extLst>
              <a:ext uri="{FF2B5EF4-FFF2-40B4-BE49-F238E27FC236}">
                <a16:creationId xmlns:a16="http://schemas.microsoft.com/office/drawing/2014/main" id="{59398B09-C67D-5D40-9AD1-641C606A53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8221" y="5293802"/>
            <a:ext cx="3784600" cy="482600"/>
          </a:xfrm>
          <a:prstGeom prst="rect">
            <a:avLst/>
          </a:prstGeom>
        </p:spPr>
      </p:pic>
    </p:spTree>
    <p:extLst>
      <p:ext uri="{BB962C8B-B14F-4D97-AF65-F5344CB8AC3E}">
        <p14:creationId xmlns:p14="http://schemas.microsoft.com/office/powerpoint/2010/main" val="31571051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6" name="Rectangle 5">
            <a:extLst>
              <a:ext uri="{FF2B5EF4-FFF2-40B4-BE49-F238E27FC236}">
                <a16:creationId xmlns:a16="http://schemas.microsoft.com/office/drawing/2014/main" id="{0CD68523-1B99-D64C-A795-83466EAF1C59}"/>
              </a:ext>
            </a:extLst>
          </p:cNvPr>
          <p:cNvSpPr/>
          <p:nvPr/>
        </p:nvSpPr>
        <p:spPr>
          <a:xfrm>
            <a:off x="931069" y="2415659"/>
            <a:ext cx="4032686" cy="769441"/>
          </a:xfrm>
          <a:prstGeom prst="rect">
            <a:avLst/>
          </a:prstGeom>
        </p:spPr>
        <p:txBody>
          <a:bodyPr wrap="square">
            <a:spAutoFit/>
          </a:bodyPr>
          <a:lstStyle/>
          <a:p>
            <a:pPr algn="ctr"/>
            <a:r>
              <a:rPr lang="en-US" sz="2200" dirty="0">
                <a:solidFill>
                  <a:srgbClr val="003399"/>
                </a:solidFill>
              </a:rPr>
              <a:t>The Scalar Product of Two Vectors (the Dot Product) </a:t>
            </a:r>
          </a:p>
        </p:txBody>
      </p:sp>
      <p:pic>
        <p:nvPicPr>
          <p:cNvPr id="8" name="Picture 7" descr="Text&#10;&#10;Description automatically generated with medium confidence">
            <a:extLst>
              <a:ext uri="{FF2B5EF4-FFF2-40B4-BE49-F238E27FC236}">
                <a16:creationId xmlns:a16="http://schemas.microsoft.com/office/drawing/2014/main" id="{F736898F-8DB1-624C-A2A5-EF72FF7D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362" y="3190301"/>
            <a:ext cx="2070100" cy="482600"/>
          </a:xfrm>
          <a:prstGeom prst="rect">
            <a:avLst/>
          </a:prstGeom>
        </p:spPr>
      </p:pic>
      <p:pic>
        <p:nvPicPr>
          <p:cNvPr id="10" name="Picture 9" descr="Diagram&#10;&#10;Description automatically generated">
            <a:extLst>
              <a:ext uri="{FF2B5EF4-FFF2-40B4-BE49-F238E27FC236}">
                <a16:creationId xmlns:a16="http://schemas.microsoft.com/office/drawing/2014/main" id="{6C486C24-704A-3F47-A020-C1944ACC23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363" y="3730053"/>
            <a:ext cx="3043825" cy="2743200"/>
          </a:xfrm>
          <a:prstGeom prst="rect">
            <a:avLst/>
          </a:prstGeom>
        </p:spPr>
      </p:pic>
      <p:sp>
        <p:nvSpPr>
          <p:cNvPr id="17" name="Rectangle 16">
            <a:extLst>
              <a:ext uri="{FF2B5EF4-FFF2-40B4-BE49-F238E27FC236}">
                <a16:creationId xmlns:a16="http://schemas.microsoft.com/office/drawing/2014/main" id="{DCE92A3B-C2C4-9949-B7B6-68F40407A65E}"/>
              </a:ext>
            </a:extLst>
          </p:cNvPr>
          <p:cNvSpPr/>
          <p:nvPr/>
        </p:nvSpPr>
        <p:spPr>
          <a:xfrm>
            <a:off x="1924226" y="3701477"/>
            <a:ext cx="2146342" cy="646331"/>
          </a:xfrm>
          <a:prstGeom prst="rect">
            <a:avLst/>
          </a:prstGeom>
        </p:spPr>
        <p:txBody>
          <a:bodyPr wrap="square">
            <a:spAutoFit/>
          </a:bodyPr>
          <a:lstStyle/>
          <a:p>
            <a:r>
              <a:rPr lang="en-US" dirty="0">
                <a:solidFill>
                  <a:srgbClr val="C00000"/>
                </a:solidFill>
                <a:latin typeface="LiberationSerif"/>
              </a:rPr>
              <a:t>The scalar product is a scalar (number)</a:t>
            </a:r>
            <a:endParaRPr lang="en-US" dirty="0">
              <a:solidFill>
                <a:srgbClr val="C00000"/>
              </a:solidFill>
              <a:effectLst/>
            </a:endParaRPr>
          </a:p>
        </p:txBody>
      </p:sp>
      <p:sp>
        <p:nvSpPr>
          <p:cNvPr id="15" name="Rectangle 14">
            <a:extLst>
              <a:ext uri="{FF2B5EF4-FFF2-40B4-BE49-F238E27FC236}">
                <a16:creationId xmlns:a16="http://schemas.microsoft.com/office/drawing/2014/main" id="{ADA5E8DA-5C5A-2B4B-B5F1-D6687ABAD11A}"/>
              </a:ext>
            </a:extLst>
          </p:cNvPr>
          <p:cNvSpPr/>
          <p:nvPr/>
        </p:nvSpPr>
        <p:spPr>
          <a:xfrm>
            <a:off x="6547649" y="1556016"/>
            <a:ext cx="787395" cy="3139321"/>
          </a:xfrm>
          <a:prstGeom prst="rect">
            <a:avLst/>
          </a:prstGeom>
        </p:spPr>
        <p:txBody>
          <a:bodyPr wrap="none">
            <a:spAutoFit/>
          </a:bodyPr>
          <a:lstStyle/>
          <a:p>
            <a:r>
              <a:rPr lang="en-US" sz="2200" dirty="0">
                <a:solidFill>
                  <a:srgbClr val="000066"/>
                </a:solidFill>
                <a:latin typeface="LiberationSerif"/>
              </a:rPr>
              <a:t>using</a:t>
            </a: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latin typeface="LiberationSerif"/>
              </a:rPr>
              <a:t>and</a:t>
            </a:r>
          </a:p>
          <a:p>
            <a:endParaRPr lang="en-US" sz="2200" dirty="0">
              <a:solidFill>
                <a:srgbClr val="000066"/>
              </a:solidFill>
              <a:latin typeface="LiberationSerif"/>
            </a:endParaRPr>
          </a:p>
          <a:p>
            <a:r>
              <a:rPr lang="en-US" sz="2200" dirty="0">
                <a:solidFill>
                  <a:srgbClr val="000066"/>
                </a:solidFill>
                <a:latin typeface="LiberationSerif"/>
              </a:rPr>
              <a:t>and</a:t>
            </a:r>
            <a:endParaRPr lang="en-US" sz="2200" dirty="0">
              <a:solidFill>
                <a:srgbClr val="000066"/>
              </a:solidFill>
            </a:endParaRPr>
          </a:p>
        </p:txBody>
      </p:sp>
      <p:pic>
        <p:nvPicPr>
          <p:cNvPr id="11" name="Picture 10" descr="Text&#10;&#10;Description automatically generated with medium confidence">
            <a:extLst>
              <a:ext uri="{FF2B5EF4-FFF2-40B4-BE49-F238E27FC236}">
                <a16:creationId xmlns:a16="http://schemas.microsoft.com/office/drawing/2014/main" id="{E9DFD23B-5F54-444A-8FC7-0EF0E76080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6658" y="1475859"/>
            <a:ext cx="3797300" cy="1879600"/>
          </a:xfrm>
          <a:prstGeom prst="rect">
            <a:avLst/>
          </a:prstGeom>
        </p:spPr>
      </p:pic>
      <p:pic>
        <p:nvPicPr>
          <p:cNvPr id="13" name="Picture 12" descr="Icon&#10;&#10;Description automatically generated with low confidence">
            <a:extLst>
              <a:ext uri="{FF2B5EF4-FFF2-40B4-BE49-F238E27FC236}">
                <a16:creationId xmlns:a16="http://schemas.microsoft.com/office/drawing/2014/main" id="{4D49A94B-BB74-A242-920A-7E030F5B8A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6658" y="3446407"/>
            <a:ext cx="1841500" cy="647700"/>
          </a:xfrm>
          <a:prstGeom prst="rect">
            <a:avLst/>
          </a:prstGeom>
        </p:spPr>
      </p:pic>
      <p:pic>
        <p:nvPicPr>
          <p:cNvPr id="18" name="Picture 17" descr="A picture containing watch&#10;&#10;Description automatically generated">
            <a:extLst>
              <a:ext uri="{FF2B5EF4-FFF2-40B4-BE49-F238E27FC236}">
                <a16:creationId xmlns:a16="http://schemas.microsoft.com/office/drawing/2014/main" id="{39E4D1AA-7F36-184F-9758-D736B37F41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70349" y="4185055"/>
            <a:ext cx="4102100" cy="571500"/>
          </a:xfrm>
          <a:prstGeom prst="rect">
            <a:avLst/>
          </a:prstGeom>
        </p:spPr>
      </p:pic>
      <p:sp>
        <p:nvSpPr>
          <p:cNvPr id="4" name="Rectangle 3">
            <a:extLst>
              <a:ext uri="{FF2B5EF4-FFF2-40B4-BE49-F238E27FC236}">
                <a16:creationId xmlns:a16="http://schemas.microsoft.com/office/drawing/2014/main" id="{73829601-37B1-4F49-98B9-8820EE56E1BC}"/>
              </a:ext>
            </a:extLst>
          </p:cNvPr>
          <p:cNvSpPr/>
          <p:nvPr/>
        </p:nvSpPr>
        <p:spPr>
          <a:xfrm>
            <a:off x="6547649" y="4886209"/>
            <a:ext cx="3743269" cy="1785104"/>
          </a:xfrm>
          <a:prstGeom prst="rect">
            <a:avLst/>
          </a:prstGeom>
        </p:spPr>
        <p:txBody>
          <a:bodyPr wrap="none">
            <a:spAutoFit/>
          </a:bodyPr>
          <a:lstStyle/>
          <a:p>
            <a:r>
              <a:rPr lang="en-US" sz="2200" dirty="0">
                <a:solidFill>
                  <a:srgbClr val="000066"/>
                </a:solidFill>
                <a:latin typeface="LiberationSerif"/>
              </a:rPr>
              <a:t>The scalar product simplifies to</a:t>
            </a: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latin typeface="LiberationSerif"/>
              </a:rPr>
              <a:t>and </a:t>
            </a:r>
            <a:endParaRPr lang="en-US" sz="2200" dirty="0">
              <a:solidFill>
                <a:srgbClr val="000066"/>
              </a:solidFill>
            </a:endParaRPr>
          </a:p>
        </p:txBody>
      </p:sp>
      <p:pic>
        <p:nvPicPr>
          <p:cNvPr id="16" name="Picture 15" descr="Diagram, schematic&#10;&#10;Description automatically generated">
            <a:extLst>
              <a:ext uri="{FF2B5EF4-FFF2-40B4-BE49-F238E27FC236}">
                <a16:creationId xmlns:a16="http://schemas.microsoft.com/office/drawing/2014/main" id="{DBD21B2E-8916-884E-B1BB-D42CA8CC99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58208" y="5364507"/>
            <a:ext cx="3340100" cy="520700"/>
          </a:xfrm>
          <a:prstGeom prst="rect">
            <a:avLst/>
          </a:prstGeom>
        </p:spPr>
      </p:pic>
      <p:pic>
        <p:nvPicPr>
          <p:cNvPr id="21" name="Picture 20" descr="Black text on a white background&#10;&#10;Description automatically generated with medium confidence">
            <a:extLst>
              <a:ext uri="{FF2B5EF4-FFF2-40B4-BE49-F238E27FC236}">
                <a16:creationId xmlns:a16="http://schemas.microsoft.com/office/drawing/2014/main" id="{A1D8E6E8-E51B-8C44-B3C1-2F31E5674A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58208" y="6032356"/>
            <a:ext cx="4279900" cy="736600"/>
          </a:xfrm>
          <a:prstGeom prst="rect">
            <a:avLst/>
          </a:prstGeom>
        </p:spPr>
      </p:pic>
      <p:pic>
        <p:nvPicPr>
          <p:cNvPr id="19" name="Picture 18" descr="Shape, rectangle&#10;&#10;Description automatically generated">
            <a:extLst>
              <a:ext uri="{FF2B5EF4-FFF2-40B4-BE49-F238E27FC236}">
                <a16:creationId xmlns:a16="http://schemas.microsoft.com/office/drawing/2014/main" id="{B28FD4A6-B4BC-564A-AB8E-A8ADC2610C6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81227" y="1904577"/>
            <a:ext cx="1785104" cy="1785104"/>
          </a:xfrm>
          <a:prstGeom prst="rect">
            <a:avLst/>
          </a:prstGeom>
        </p:spPr>
      </p:pic>
    </p:spTree>
    <p:extLst>
      <p:ext uri="{BB962C8B-B14F-4D97-AF65-F5344CB8AC3E}">
        <p14:creationId xmlns:p14="http://schemas.microsoft.com/office/powerpoint/2010/main" val="4121501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pic>
        <p:nvPicPr>
          <p:cNvPr id="16" name="Picture 15" descr="Diagram, schematic&#10;&#10;Description automatically generated">
            <a:extLst>
              <a:ext uri="{FF2B5EF4-FFF2-40B4-BE49-F238E27FC236}">
                <a16:creationId xmlns:a16="http://schemas.microsoft.com/office/drawing/2014/main" id="{DBD21B2E-8916-884E-B1BB-D42CA8CC9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908" y="2965259"/>
            <a:ext cx="3340100" cy="520700"/>
          </a:xfrm>
          <a:prstGeom prst="rect">
            <a:avLst/>
          </a:prstGeom>
        </p:spPr>
      </p:pic>
      <p:pic>
        <p:nvPicPr>
          <p:cNvPr id="21" name="Picture 20" descr="Black text on a white background&#10;&#10;Description automatically generated with medium confidence">
            <a:extLst>
              <a:ext uri="{FF2B5EF4-FFF2-40B4-BE49-F238E27FC236}">
                <a16:creationId xmlns:a16="http://schemas.microsoft.com/office/drawing/2014/main" id="{A1D8E6E8-E51B-8C44-B3C1-2F31E5674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303" y="3478584"/>
            <a:ext cx="4279900" cy="736600"/>
          </a:xfrm>
          <a:prstGeom prst="rect">
            <a:avLst/>
          </a:prstGeom>
        </p:spPr>
      </p:pic>
      <p:pic>
        <p:nvPicPr>
          <p:cNvPr id="19" name="Picture Placeholder 1" descr="Three dogs pull on a stick.">
            <a:extLst>
              <a:ext uri="{FF2B5EF4-FFF2-40B4-BE49-F238E27FC236}">
                <a16:creationId xmlns:a16="http://schemas.microsoft.com/office/drawing/2014/main" id="{A69BA2AF-25A1-C848-96CE-30604C464D84}"/>
              </a:ext>
            </a:extLst>
          </p:cNvPr>
          <p:cNvPicPr>
            <a:picLocks noChangeAspect="1"/>
          </p:cNvPicPr>
          <p:nvPr/>
        </p:nvPicPr>
        <p:blipFill>
          <a:blip r:embed="rId5">
            <a:extLst>
              <a:ext uri="{28A0092B-C50C-407E-A947-70E740481C1C}">
                <a14:useLocalDpi xmlns:a14="http://schemas.microsoft.com/office/drawing/2010/main" val="0"/>
              </a:ext>
            </a:extLst>
          </a:blip>
          <a:srcRect l="-47271" r="-47271"/>
          <a:stretch>
            <a:fillRect/>
          </a:stretch>
        </p:blipFill>
        <p:spPr>
          <a:xfrm>
            <a:off x="-38056" y="4255351"/>
            <a:ext cx="4739515" cy="2057400"/>
          </a:xfrm>
          <a:prstGeom prst="rect">
            <a:avLst/>
          </a:prstGeom>
        </p:spPr>
      </p:pic>
      <p:sp>
        <p:nvSpPr>
          <p:cNvPr id="20" name="Text Placeholder 6">
            <a:extLst>
              <a:ext uri="{FF2B5EF4-FFF2-40B4-BE49-F238E27FC236}">
                <a16:creationId xmlns:a16="http://schemas.microsoft.com/office/drawing/2014/main" id="{06DF8CCF-99D9-3C49-81DA-E5CEE6DBA131}"/>
              </a:ext>
            </a:extLst>
          </p:cNvPr>
          <p:cNvSpPr txBox="1">
            <a:spLocks/>
          </p:cNvSpPr>
          <p:nvPr/>
        </p:nvSpPr>
        <p:spPr>
          <a:xfrm>
            <a:off x="642931" y="6284175"/>
            <a:ext cx="4700588" cy="3953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Three dogs are playing with a stick.</a:t>
            </a:r>
          </a:p>
        </p:txBody>
      </p:sp>
      <p:pic>
        <p:nvPicPr>
          <p:cNvPr id="9" name="Picture 8">
            <a:extLst>
              <a:ext uri="{FF2B5EF4-FFF2-40B4-BE49-F238E27FC236}">
                <a16:creationId xmlns:a16="http://schemas.microsoft.com/office/drawing/2014/main" id="{B92DB5CC-5CEE-B948-BA67-E4A74CA1EF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747" y="1413401"/>
            <a:ext cx="10972800" cy="438912"/>
          </a:xfrm>
          <a:prstGeom prst="rect">
            <a:avLst/>
          </a:prstGeom>
        </p:spPr>
      </p:pic>
      <p:sp>
        <p:nvSpPr>
          <p:cNvPr id="22" name="Rectangle 21">
            <a:extLst>
              <a:ext uri="{FF2B5EF4-FFF2-40B4-BE49-F238E27FC236}">
                <a16:creationId xmlns:a16="http://schemas.microsoft.com/office/drawing/2014/main" id="{A202C169-AE6A-7345-A260-07E6E3D05FB1}"/>
              </a:ext>
            </a:extLst>
          </p:cNvPr>
          <p:cNvSpPr/>
          <p:nvPr/>
        </p:nvSpPr>
        <p:spPr>
          <a:xfrm>
            <a:off x="558747" y="106664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4" name="Picture 13">
            <a:extLst>
              <a:ext uri="{FF2B5EF4-FFF2-40B4-BE49-F238E27FC236}">
                <a16:creationId xmlns:a16="http://schemas.microsoft.com/office/drawing/2014/main" id="{F90BE552-5499-2746-91E4-E646C19F73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747" y="1786713"/>
            <a:ext cx="10972800" cy="1151291"/>
          </a:xfrm>
          <a:prstGeom prst="rect">
            <a:avLst/>
          </a:prstGeom>
        </p:spPr>
      </p:pic>
      <p:pic>
        <p:nvPicPr>
          <p:cNvPr id="24" name="Picture 23">
            <a:extLst>
              <a:ext uri="{FF2B5EF4-FFF2-40B4-BE49-F238E27FC236}">
                <a16:creationId xmlns:a16="http://schemas.microsoft.com/office/drawing/2014/main" id="{0D81E5B5-A539-884A-8EDB-2939ADB4B69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56160" y="3611934"/>
            <a:ext cx="5664200" cy="469900"/>
          </a:xfrm>
          <a:prstGeom prst="rect">
            <a:avLst/>
          </a:prstGeom>
        </p:spPr>
      </p:pic>
      <p:pic>
        <p:nvPicPr>
          <p:cNvPr id="26" name="Picture 25">
            <a:extLst>
              <a:ext uri="{FF2B5EF4-FFF2-40B4-BE49-F238E27FC236}">
                <a16:creationId xmlns:a16="http://schemas.microsoft.com/office/drawing/2014/main" id="{4CC06B30-E8FB-DA4E-81B8-3F01C777F2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56160" y="4043749"/>
            <a:ext cx="4864100" cy="482600"/>
          </a:xfrm>
          <a:prstGeom prst="rect">
            <a:avLst/>
          </a:prstGeom>
        </p:spPr>
      </p:pic>
      <p:pic>
        <p:nvPicPr>
          <p:cNvPr id="28" name="Picture 27">
            <a:extLst>
              <a:ext uri="{FF2B5EF4-FFF2-40B4-BE49-F238E27FC236}">
                <a16:creationId xmlns:a16="http://schemas.microsoft.com/office/drawing/2014/main" id="{1C927252-74A5-2542-ACA8-0E0976F0EED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56160" y="2872009"/>
            <a:ext cx="4533900" cy="368300"/>
          </a:xfrm>
          <a:prstGeom prst="rect">
            <a:avLst/>
          </a:prstGeom>
        </p:spPr>
      </p:pic>
      <p:pic>
        <p:nvPicPr>
          <p:cNvPr id="30" name="Picture 29">
            <a:extLst>
              <a:ext uri="{FF2B5EF4-FFF2-40B4-BE49-F238E27FC236}">
                <a16:creationId xmlns:a16="http://schemas.microsoft.com/office/drawing/2014/main" id="{E752F4D1-045A-8E40-B93F-35CCA18DF4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68860" y="3264434"/>
            <a:ext cx="4521200" cy="381000"/>
          </a:xfrm>
          <a:prstGeom prst="rect">
            <a:avLst/>
          </a:prstGeom>
        </p:spPr>
      </p:pic>
      <p:pic>
        <p:nvPicPr>
          <p:cNvPr id="32" name="Picture 31" descr="Text, letter&#10;&#10;Description automatically generated">
            <a:extLst>
              <a:ext uri="{FF2B5EF4-FFF2-40B4-BE49-F238E27FC236}">
                <a16:creationId xmlns:a16="http://schemas.microsoft.com/office/drawing/2014/main" id="{F54F314E-BC03-2644-987C-6FD26DCAB24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256160" y="4513649"/>
            <a:ext cx="6731000" cy="1168400"/>
          </a:xfrm>
          <a:prstGeom prst="rect">
            <a:avLst/>
          </a:prstGeom>
        </p:spPr>
      </p:pic>
      <p:pic>
        <p:nvPicPr>
          <p:cNvPr id="34" name="Picture 33">
            <a:extLst>
              <a:ext uri="{FF2B5EF4-FFF2-40B4-BE49-F238E27FC236}">
                <a16:creationId xmlns:a16="http://schemas.microsoft.com/office/drawing/2014/main" id="{C19ADCEF-8021-CE40-AB06-89405629991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113160" y="5650527"/>
            <a:ext cx="7874000" cy="812800"/>
          </a:xfrm>
          <a:prstGeom prst="rect">
            <a:avLst/>
          </a:prstGeom>
        </p:spPr>
      </p:pic>
      <p:pic>
        <p:nvPicPr>
          <p:cNvPr id="35" name="Picture Placeholder 1" descr="A photograph of a student’s hand, working on a problem with an open textbook, a calculator, and an eraser.">
            <a:extLst>
              <a:ext uri="{FF2B5EF4-FFF2-40B4-BE49-F238E27FC236}">
                <a16:creationId xmlns:a16="http://schemas.microsoft.com/office/drawing/2014/main" id="{577F6A32-F8D3-2646-A4F5-5C5D6BD20787}"/>
              </a:ext>
            </a:extLst>
          </p:cNvPr>
          <p:cNvPicPr>
            <a:picLocks noChangeAspect="1"/>
          </p:cNvPicPr>
          <p:nvPr/>
        </p:nvPicPr>
        <p:blipFill>
          <a:blip r:embed="rId14" cstate="email">
            <a:extLst>
              <a:ext uri="{28A0092B-C50C-407E-A947-70E740481C1C}">
                <a14:useLocalDpi xmlns:a14="http://schemas.microsoft.com/office/drawing/2010/main" val="0"/>
              </a:ext>
            </a:extLst>
          </a:blip>
          <a:srcRect l="-26893" r="-26893"/>
          <a:stretch>
            <a:fillRect/>
          </a:stretch>
        </p:blipFill>
        <p:spPr>
          <a:xfrm>
            <a:off x="3389260" y="4513649"/>
            <a:ext cx="2106451" cy="914400"/>
          </a:xfrm>
          <a:prstGeom prst="rect">
            <a:avLst/>
          </a:prstGeom>
        </p:spPr>
      </p:pic>
    </p:spTree>
    <p:extLst>
      <p:ext uri="{BB962C8B-B14F-4D97-AF65-F5344CB8AC3E}">
        <p14:creationId xmlns:p14="http://schemas.microsoft.com/office/powerpoint/2010/main" val="2711890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pic>
        <p:nvPicPr>
          <p:cNvPr id="16" name="Picture 15" descr="Diagram, schematic&#10;&#10;Description automatically generated">
            <a:extLst>
              <a:ext uri="{FF2B5EF4-FFF2-40B4-BE49-F238E27FC236}">
                <a16:creationId xmlns:a16="http://schemas.microsoft.com/office/drawing/2014/main" id="{DBD21B2E-8916-884E-B1BB-D42CA8CC9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908" y="2965259"/>
            <a:ext cx="3340100" cy="520700"/>
          </a:xfrm>
          <a:prstGeom prst="rect">
            <a:avLst/>
          </a:prstGeom>
        </p:spPr>
      </p:pic>
      <p:pic>
        <p:nvPicPr>
          <p:cNvPr id="21" name="Picture 20" descr="Black text on a white background&#10;&#10;Description automatically generated with medium confidence">
            <a:extLst>
              <a:ext uri="{FF2B5EF4-FFF2-40B4-BE49-F238E27FC236}">
                <a16:creationId xmlns:a16="http://schemas.microsoft.com/office/drawing/2014/main" id="{A1D8E6E8-E51B-8C44-B3C1-2F31E5674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303" y="3478584"/>
            <a:ext cx="4279900" cy="736600"/>
          </a:xfrm>
          <a:prstGeom prst="rect">
            <a:avLst/>
          </a:prstGeom>
        </p:spPr>
      </p:pic>
      <p:pic>
        <p:nvPicPr>
          <p:cNvPr id="19" name="Picture Placeholder 1" descr="Three dogs pull on a stick.">
            <a:extLst>
              <a:ext uri="{FF2B5EF4-FFF2-40B4-BE49-F238E27FC236}">
                <a16:creationId xmlns:a16="http://schemas.microsoft.com/office/drawing/2014/main" id="{A69BA2AF-25A1-C848-96CE-30604C464D84}"/>
              </a:ext>
            </a:extLst>
          </p:cNvPr>
          <p:cNvPicPr>
            <a:picLocks noChangeAspect="1"/>
          </p:cNvPicPr>
          <p:nvPr/>
        </p:nvPicPr>
        <p:blipFill>
          <a:blip r:embed="rId5">
            <a:extLst>
              <a:ext uri="{28A0092B-C50C-407E-A947-70E740481C1C}">
                <a14:useLocalDpi xmlns:a14="http://schemas.microsoft.com/office/drawing/2010/main" val="0"/>
              </a:ext>
            </a:extLst>
          </a:blip>
          <a:srcRect l="-47271" r="-47271"/>
          <a:stretch>
            <a:fillRect/>
          </a:stretch>
        </p:blipFill>
        <p:spPr>
          <a:xfrm>
            <a:off x="-38056" y="4255351"/>
            <a:ext cx="4739515" cy="2057400"/>
          </a:xfrm>
          <a:prstGeom prst="rect">
            <a:avLst/>
          </a:prstGeom>
        </p:spPr>
      </p:pic>
      <p:sp>
        <p:nvSpPr>
          <p:cNvPr id="20" name="Text Placeholder 6">
            <a:extLst>
              <a:ext uri="{FF2B5EF4-FFF2-40B4-BE49-F238E27FC236}">
                <a16:creationId xmlns:a16="http://schemas.microsoft.com/office/drawing/2014/main" id="{06DF8CCF-99D9-3C49-81DA-E5CEE6DBA131}"/>
              </a:ext>
            </a:extLst>
          </p:cNvPr>
          <p:cNvSpPr txBox="1">
            <a:spLocks/>
          </p:cNvSpPr>
          <p:nvPr/>
        </p:nvSpPr>
        <p:spPr>
          <a:xfrm>
            <a:off x="642931" y="6284175"/>
            <a:ext cx="4700588" cy="3953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Three dogs are playing with a stick.</a:t>
            </a:r>
          </a:p>
        </p:txBody>
      </p:sp>
      <p:pic>
        <p:nvPicPr>
          <p:cNvPr id="9" name="Picture 8">
            <a:extLst>
              <a:ext uri="{FF2B5EF4-FFF2-40B4-BE49-F238E27FC236}">
                <a16:creationId xmlns:a16="http://schemas.microsoft.com/office/drawing/2014/main" id="{B92DB5CC-5CEE-B948-BA67-E4A74CA1EF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747" y="1413401"/>
            <a:ext cx="10972800" cy="438912"/>
          </a:xfrm>
          <a:prstGeom prst="rect">
            <a:avLst/>
          </a:prstGeom>
        </p:spPr>
      </p:pic>
      <p:pic>
        <p:nvPicPr>
          <p:cNvPr id="14" name="Picture 13">
            <a:extLst>
              <a:ext uri="{FF2B5EF4-FFF2-40B4-BE49-F238E27FC236}">
                <a16:creationId xmlns:a16="http://schemas.microsoft.com/office/drawing/2014/main" id="{F90BE552-5499-2746-91E4-E646C19F73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747" y="1786713"/>
            <a:ext cx="10972800" cy="1151291"/>
          </a:xfrm>
          <a:prstGeom prst="rect">
            <a:avLst/>
          </a:prstGeom>
        </p:spPr>
      </p:pic>
      <p:pic>
        <p:nvPicPr>
          <p:cNvPr id="24" name="Picture 23">
            <a:extLst>
              <a:ext uri="{FF2B5EF4-FFF2-40B4-BE49-F238E27FC236}">
                <a16:creationId xmlns:a16="http://schemas.microsoft.com/office/drawing/2014/main" id="{0D81E5B5-A539-884A-8EDB-2939ADB4B69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56160" y="3611934"/>
            <a:ext cx="5664200" cy="469900"/>
          </a:xfrm>
          <a:prstGeom prst="rect">
            <a:avLst/>
          </a:prstGeom>
        </p:spPr>
      </p:pic>
      <p:pic>
        <p:nvPicPr>
          <p:cNvPr id="26" name="Picture 25">
            <a:extLst>
              <a:ext uri="{FF2B5EF4-FFF2-40B4-BE49-F238E27FC236}">
                <a16:creationId xmlns:a16="http://schemas.microsoft.com/office/drawing/2014/main" id="{4CC06B30-E8FB-DA4E-81B8-3F01C777F2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56160" y="4043749"/>
            <a:ext cx="4864100" cy="482600"/>
          </a:xfrm>
          <a:prstGeom prst="rect">
            <a:avLst/>
          </a:prstGeom>
        </p:spPr>
      </p:pic>
      <p:pic>
        <p:nvPicPr>
          <p:cNvPr id="28" name="Picture 27">
            <a:extLst>
              <a:ext uri="{FF2B5EF4-FFF2-40B4-BE49-F238E27FC236}">
                <a16:creationId xmlns:a16="http://schemas.microsoft.com/office/drawing/2014/main" id="{1C927252-74A5-2542-ACA8-0E0976F0EED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56160" y="2872009"/>
            <a:ext cx="4533900" cy="368300"/>
          </a:xfrm>
          <a:prstGeom prst="rect">
            <a:avLst/>
          </a:prstGeom>
        </p:spPr>
      </p:pic>
      <p:pic>
        <p:nvPicPr>
          <p:cNvPr id="30" name="Picture 29">
            <a:extLst>
              <a:ext uri="{FF2B5EF4-FFF2-40B4-BE49-F238E27FC236}">
                <a16:creationId xmlns:a16="http://schemas.microsoft.com/office/drawing/2014/main" id="{E752F4D1-045A-8E40-B93F-35CCA18DF4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68860" y="3264434"/>
            <a:ext cx="4521200" cy="381000"/>
          </a:xfrm>
          <a:prstGeom prst="rect">
            <a:avLst/>
          </a:prstGeom>
        </p:spPr>
      </p:pic>
      <p:pic>
        <p:nvPicPr>
          <p:cNvPr id="32" name="Picture 31" descr="Text, letter&#10;&#10;Description automatically generated">
            <a:extLst>
              <a:ext uri="{FF2B5EF4-FFF2-40B4-BE49-F238E27FC236}">
                <a16:creationId xmlns:a16="http://schemas.microsoft.com/office/drawing/2014/main" id="{F54F314E-BC03-2644-987C-6FD26DCAB24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256160" y="4513649"/>
            <a:ext cx="6731000" cy="1168400"/>
          </a:xfrm>
          <a:prstGeom prst="rect">
            <a:avLst/>
          </a:prstGeom>
        </p:spPr>
      </p:pic>
      <p:pic>
        <p:nvPicPr>
          <p:cNvPr id="34" name="Picture 33">
            <a:extLst>
              <a:ext uri="{FF2B5EF4-FFF2-40B4-BE49-F238E27FC236}">
                <a16:creationId xmlns:a16="http://schemas.microsoft.com/office/drawing/2014/main" id="{C19ADCEF-8021-CE40-AB06-89405629991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113160" y="5650527"/>
            <a:ext cx="7874000" cy="812800"/>
          </a:xfrm>
          <a:prstGeom prst="rect">
            <a:avLst/>
          </a:prstGeom>
        </p:spPr>
      </p:pic>
      <p:pic>
        <p:nvPicPr>
          <p:cNvPr id="35" name="Picture Placeholder 1" descr="A photograph of a student’s hand, working on a problem with an open textbook, a calculator, and an eraser.">
            <a:extLst>
              <a:ext uri="{FF2B5EF4-FFF2-40B4-BE49-F238E27FC236}">
                <a16:creationId xmlns:a16="http://schemas.microsoft.com/office/drawing/2014/main" id="{577F6A32-F8D3-2646-A4F5-5C5D6BD20787}"/>
              </a:ext>
            </a:extLst>
          </p:cNvPr>
          <p:cNvPicPr>
            <a:picLocks noChangeAspect="1"/>
          </p:cNvPicPr>
          <p:nvPr/>
        </p:nvPicPr>
        <p:blipFill>
          <a:blip r:embed="rId14" cstate="email">
            <a:extLst>
              <a:ext uri="{28A0092B-C50C-407E-A947-70E740481C1C}">
                <a14:useLocalDpi xmlns:a14="http://schemas.microsoft.com/office/drawing/2010/main" val="0"/>
              </a:ext>
            </a:extLst>
          </a:blip>
          <a:srcRect l="-26893" r="-26893"/>
          <a:stretch>
            <a:fillRect/>
          </a:stretch>
        </p:blipFill>
        <p:spPr>
          <a:xfrm>
            <a:off x="3389260" y="4513649"/>
            <a:ext cx="2106451" cy="914400"/>
          </a:xfrm>
          <a:prstGeom prst="rect">
            <a:avLst/>
          </a:prstGeom>
        </p:spPr>
      </p:pic>
      <p:sp>
        <p:nvSpPr>
          <p:cNvPr id="23" name="Rectangle 22">
            <a:extLst>
              <a:ext uri="{FF2B5EF4-FFF2-40B4-BE49-F238E27FC236}">
                <a16:creationId xmlns:a16="http://schemas.microsoft.com/office/drawing/2014/main" id="{BA3FDBA2-1E16-214B-A93E-5FBAD61B7721}"/>
              </a:ext>
            </a:extLst>
          </p:cNvPr>
          <p:cNvSpPr/>
          <p:nvPr/>
        </p:nvSpPr>
        <p:spPr>
          <a:xfrm>
            <a:off x="1157656" y="808270"/>
            <a:ext cx="5195886" cy="707886"/>
          </a:xfrm>
          <a:prstGeom prst="rect">
            <a:avLst/>
          </a:prstGeom>
        </p:spPr>
        <p:txBody>
          <a:bodyPr wrap="square">
            <a:spAutoFit/>
          </a:bodyPr>
          <a:lstStyle/>
          <a:p>
            <a:r>
              <a:rPr lang="en-US" sz="2000" dirty="0">
                <a:solidFill>
                  <a:srgbClr val="0000CC"/>
                </a:solidFill>
              </a:rPr>
              <a:t>Assignment 5:</a:t>
            </a:r>
          </a:p>
          <a:p>
            <a:endParaRPr lang="en-US" sz="2000" dirty="0">
              <a:solidFill>
                <a:srgbClr val="0000CC"/>
              </a:solidFill>
            </a:endParaRPr>
          </a:p>
        </p:txBody>
      </p:sp>
      <p:pic>
        <p:nvPicPr>
          <p:cNvPr id="6" name="Picture 5">
            <a:extLst>
              <a:ext uri="{FF2B5EF4-FFF2-40B4-BE49-F238E27FC236}">
                <a16:creationId xmlns:a16="http://schemas.microsoft.com/office/drawing/2014/main" id="{DB1428CF-7E1A-904F-B72E-2D25141EE4C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22031" y="622745"/>
            <a:ext cx="5547360" cy="640080"/>
          </a:xfrm>
          <a:prstGeom prst="rect">
            <a:avLst/>
          </a:prstGeom>
        </p:spPr>
      </p:pic>
    </p:spTree>
    <p:extLst>
      <p:ext uri="{BB962C8B-B14F-4D97-AF65-F5344CB8AC3E}">
        <p14:creationId xmlns:p14="http://schemas.microsoft.com/office/powerpoint/2010/main" val="14751906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3C68DE-EBEC-7646-849D-9CDBB77E66C3}"/>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2" name="Rectangle 1">
            <a:extLst>
              <a:ext uri="{FF2B5EF4-FFF2-40B4-BE49-F238E27FC236}">
                <a16:creationId xmlns:a16="http://schemas.microsoft.com/office/drawing/2014/main" id="{F5A124DB-C98C-174F-A307-53124342A575}"/>
              </a:ext>
            </a:extLst>
          </p:cNvPr>
          <p:cNvSpPr/>
          <p:nvPr/>
        </p:nvSpPr>
        <p:spPr>
          <a:xfrm>
            <a:off x="645319" y="681839"/>
            <a:ext cx="10901362" cy="430887"/>
          </a:xfrm>
          <a:prstGeom prst="rect">
            <a:avLst/>
          </a:prstGeom>
        </p:spPr>
        <p:txBody>
          <a:bodyPr wrap="square">
            <a:spAutoFit/>
          </a:bodyPr>
          <a:lstStyle/>
          <a:p>
            <a:r>
              <a:rPr lang="en-US" sz="2200" dirty="0">
                <a:solidFill>
                  <a:srgbClr val="7030A0"/>
                </a:solidFill>
                <a:latin typeface="LiberationSerif"/>
              </a:rPr>
              <a:t>A vector can be multiplied by another vector but may not be divided by another vector. </a:t>
            </a:r>
            <a:endParaRPr lang="en-US" sz="2200" dirty="0">
              <a:solidFill>
                <a:srgbClr val="7030A0"/>
              </a:solidFill>
            </a:endParaRPr>
          </a:p>
        </p:txBody>
      </p:sp>
      <p:sp>
        <p:nvSpPr>
          <p:cNvPr id="11" name="Rectangle 10">
            <a:extLst>
              <a:ext uri="{FF2B5EF4-FFF2-40B4-BE49-F238E27FC236}">
                <a16:creationId xmlns:a16="http://schemas.microsoft.com/office/drawing/2014/main" id="{91DF7C7A-A0ED-BB4C-BB58-D37CA7222626}"/>
              </a:ext>
            </a:extLst>
          </p:cNvPr>
          <p:cNvSpPr/>
          <p:nvPr/>
        </p:nvSpPr>
        <p:spPr>
          <a:xfrm>
            <a:off x="6520435" y="2415658"/>
            <a:ext cx="4223765" cy="769441"/>
          </a:xfrm>
          <a:prstGeom prst="rect">
            <a:avLst/>
          </a:prstGeom>
        </p:spPr>
        <p:txBody>
          <a:bodyPr wrap="square">
            <a:spAutoFit/>
          </a:bodyPr>
          <a:lstStyle/>
          <a:p>
            <a:pPr algn="ctr"/>
            <a:r>
              <a:rPr lang="en-US" sz="2200" dirty="0">
                <a:solidFill>
                  <a:srgbClr val="008000"/>
                </a:solidFill>
              </a:rPr>
              <a:t>The Vector Product of Two Vectors (the Cross Product) </a:t>
            </a:r>
          </a:p>
        </p:txBody>
      </p:sp>
      <p:pic>
        <p:nvPicPr>
          <p:cNvPr id="13" name="Picture 12" descr="Diagram&#10;&#10;Description automatically generated with medium confidence">
            <a:extLst>
              <a:ext uri="{FF2B5EF4-FFF2-40B4-BE49-F238E27FC236}">
                <a16:creationId xmlns:a16="http://schemas.microsoft.com/office/drawing/2014/main" id="{38FAFD45-4504-BB41-897B-8637869EDC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2167" y="3142677"/>
            <a:ext cx="2400300" cy="558800"/>
          </a:xfrm>
          <a:prstGeom prst="rect">
            <a:avLst/>
          </a:prstGeom>
        </p:spPr>
      </p:pic>
      <p:pic>
        <p:nvPicPr>
          <p:cNvPr id="15" name="Picture 14" descr="Chart, diagram, radar chart&#10;&#10;Description automatically generated">
            <a:extLst>
              <a:ext uri="{FF2B5EF4-FFF2-40B4-BE49-F238E27FC236}">
                <a16:creationId xmlns:a16="http://schemas.microsoft.com/office/drawing/2014/main" id="{1F0B142D-FE8F-204B-8AF3-1F5F547E9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3619" y="3758629"/>
            <a:ext cx="2997396" cy="2743200"/>
          </a:xfrm>
          <a:prstGeom prst="rect">
            <a:avLst/>
          </a:prstGeom>
        </p:spPr>
      </p:pic>
      <p:sp>
        <p:nvSpPr>
          <p:cNvPr id="16" name="Rectangle 15">
            <a:extLst>
              <a:ext uri="{FF2B5EF4-FFF2-40B4-BE49-F238E27FC236}">
                <a16:creationId xmlns:a16="http://schemas.microsoft.com/office/drawing/2014/main" id="{CE5416B8-00BB-A94A-ADD2-39C54F74B1AF}"/>
              </a:ext>
            </a:extLst>
          </p:cNvPr>
          <p:cNvSpPr/>
          <p:nvPr/>
        </p:nvSpPr>
        <p:spPr>
          <a:xfrm>
            <a:off x="7133619" y="6446766"/>
            <a:ext cx="3026919" cy="369332"/>
          </a:xfrm>
          <a:prstGeom prst="rect">
            <a:avLst/>
          </a:prstGeom>
        </p:spPr>
        <p:txBody>
          <a:bodyPr wrap="none">
            <a:spAutoFit/>
          </a:bodyPr>
          <a:lstStyle/>
          <a:p>
            <a:r>
              <a:rPr lang="en-US" dirty="0">
                <a:solidFill>
                  <a:srgbClr val="C00000"/>
                </a:solidFill>
                <a:latin typeface="LiberationSerif"/>
              </a:rPr>
              <a:t>The vector product is a vector!</a:t>
            </a:r>
            <a:endParaRPr lang="en-US" dirty="0">
              <a:solidFill>
                <a:srgbClr val="C00000"/>
              </a:solidFill>
              <a:effectLst/>
            </a:endParaRPr>
          </a:p>
        </p:txBody>
      </p:sp>
      <p:pic>
        <p:nvPicPr>
          <p:cNvPr id="9" name="Picture 8" descr="Diagram&#10;&#10;Description automatically generated with medium confidence">
            <a:extLst>
              <a:ext uri="{FF2B5EF4-FFF2-40B4-BE49-F238E27FC236}">
                <a16:creationId xmlns:a16="http://schemas.microsoft.com/office/drawing/2014/main" id="{849AAEBB-C127-B840-AE33-FD68510EE0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9138" y="2844229"/>
            <a:ext cx="2933700" cy="3657600"/>
          </a:xfrm>
          <a:prstGeom prst="rect">
            <a:avLst/>
          </a:prstGeom>
        </p:spPr>
      </p:pic>
      <p:sp>
        <p:nvSpPr>
          <p:cNvPr id="12" name="Left Arrow 11">
            <a:extLst>
              <a:ext uri="{FF2B5EF4-FFF2-40B4-BE49-F238E27FC236}">
                <a16:creationId xmlns:a16="http://schemas.microsoft.com/office/drawing/2014/main" id="{43F9B225-C2D9-264E-9A95-D9A0F1FD1A17}"/>
              </a:ext>
            </a:extLst>
          </p:cNvPr>
          <p:cNvSpPr/>
          <p:nvPr/>
        </p:nvSpPr>
        <p:spPr>
          <a:xfrm rot="19856275">
            <a:off x="3590964" y="4927055"/>
            <a:ext cx="4763079" cy="43088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D2A87F91-DD57-A148-AD31-C8EB4905AD65}"/>
                  </a:ext>
                </a:extLst>
              </p:cNvPr>
              <p:cNvSpPr/>
              <p:nvPr/>
            </p:nvSpPr>
            <p:spPr>
              <a:xfrm>
                <a:off x="1207007" y="1724958"/>
                <a:ext cx="4223765" cy="853695"/>
              </a:xfrm>
              <a:prstGeom prst="rect">
                <a:avLst/>
              </a:prstGeom>
            </p:spPr>
            <p:txBody>
              <a:bodyPr wrap="square">
                <a:spAutoFit/>
              </a:bodyPr>
              <a:lstStyle/>
              <a:p>
                <a:r>
                  <a:rPr lang="en-US" sz="2200" dirty="0">
                    <a:solidFill>
                      <a:srgbClr val="000066"/>
                    </a:solidFill>
                  </a:rPr>
                  <a:t>The vector product  </a:t>
                </a:r>
                <a14:m>
                  <m:oMath xmlns:m="http://schemas.openxmlformats.org/officeDocument/2006/math">
                    <m:acc>
                      <m:accPr>
                        <m:chr m:val="⃗"/>
                        <m:ctrlPr>
                          <a:rPr lang="en-US" sz="2200" b="1" i="1">
                            <a:solidFill>
                              <a:srgbClr val="000066"/>
                            </a:solidFill>
                            <a:latin typeface="Cambria Math" panose="02040503050406030204" pitchFamily="18" charset="0"/>
                          </a:rPr>
                        </m:ctrlPr>
                      </m:accPr>
                      <m:e>
                        <m:r>
                          <a:rPr lang="en-US" sz="2200" b="1" i="1">
                            <a:solidFill>
                              <a:srgbClr val="000066"/>
                            </a:solidFill>
                            <a:latin typeface="Cambria Math"/>
                          </a:rPr>
                          <m:t>𝑩</m:t>
                        </m:r>
                      </m:e>
                    </m:acc>
                    <m:r>
                      <a:rPr lang="en-US" sz="2200" i="1">
                        <a:solidFill>
                          <a:srgbClr val="000066"/>
                        </a:solidFill>
                        <a:latin typeface="Cambria Math"/>
                      </a:rPr>
                      <m:t> </m:t>
                    </m:r>
                    <m:r>
                      <a:rPr lang="en-US" sz="2200" i="1">
                        <a:solidFill>
                          <a:srgbClr val="000066"/>
                        </a:solidFill>
                        <a:latin typeface="Cambria Math"/>
                        <a:ea typeface="Cambria Math"/>
                      </a:rPr>
                      <m:t>× </m:t>
                    </m:r>
                    <m:acc>
                      <m:accPr>
                        <m:chr m:val="⃗"/>
                        <m:ctrlPr>
                          <a:rPr lang="en-US" sz="2200" i="1">
                            <a:solidFill>
                              <a:srgbClr val="000066"/>
                            </a:solidFill>
                            <a:latin typeface="Cambria Math" panose="02040503050406030204" pitchFamily="18" charset="0"/>
                            <a:ea typeface="Cambria Math"/>
                          </a:rPr>
                        </m:ctrlPr>
                      </m:accPr>
                      <m:e>
                        <m:r>
                          <a:rPr lang="en-US" sz="2200" b="1" i="1">
                            <a:solidFill>
                              <a:srgbClr val="000066"/>
                            </a:solidFill>
                            <a:latin typeface="Cambria Math"/>
                            <a:ea typeface="Cambria Math"/>
                          </a:rPr>
                          <m:t>𝑨</m:t>
                        </m:r>
                      </m:e>
                    </m:acc>
                  </m:oMath>
                </a14:m>
                <a:r>
                  <a:rPr lang="en-US" sz="2200" dirty="0">
                    <a:solidFill>
                      <a:srgbClr val="000066"/>
                    </a:solidFill>
                  </a:rPr>
                  <a:t>  is a vector antiparallel to vector </a:t>
                </a:r>
                <a14:m>
                  <m:oMath xmlns:m="http://schemas.openxmlformats.org/officeDocument/2006/math">
                    <m:acc>
                      <m:accPr>
                        <m:chr m:val="⃗"/>
                        <m:ctrlPr>
                          <a:rPr lang="en-US" sz="2200" b="1" i="1">
                            <a:solidFill>
                              <a:srgbClr val="000066"/>
                            </a:solidFill>
                            <a:latin typeface="Cambria Math" panose="02040503050406030204" pitchFamily="18" charset="0"/>
                          </a:rPr>
                        </m:ctrlPr>
                      </m:accPr>
                      <m:e>
                        <m:r>
                          <a:rPr lang="en-US" sz="2200" b="1" i="1">
                            <a:solidFill>
                              <a:srgbClr val="000066"/>
                            </a:solidFill>
                            <a:latin typeface="Cambria Math"/>
                          </a:rPr>
                          <m:t>𝑨</m:t>
                        </m:r>
                      </m:e>
                    </m:acc>
                    <m:r>
                      <a:rPr lang="en-US" sz="2200" i="1">
                        <a:solidFill>
                          <a:srgbClr val="000066"/>
                        </a:solidFill>
                        <a:latin typeface="Cambria Math"/>
                      </a:rPr>
                      <m:t> </m:t>
                    </m:r>
                    <m:r>
                      <a:rPr lang="en-US" sz="2200" i="1">
                        <a:solidFill>
                          <a:srgbClr val="000066"/>
                        </a:solidFill>
                        <a:latin typeface="Cambria Math"/>
                        <a:ea typeface="Cambria Math"/>
                      </a:rPr>
                      <m:t>× </m:t>
                    </m:r>
                    <m:acc>
                      <m:accPr>
                        <m:chr m:val="⃗"/>
                        <m:ctrlPr>
                          <a:rPr lang="en-US" sz="2200" i="1">
                            <a:solidFill>
                              <a:srgbClr val="000066"/>
                            </a:solidFill>
                            <a:latin typeface="Cambria Math" panose="02040503050406030204" pitchFamily="18" charset="0"/>
                            <a:ea typeface="Cambria Math"/>
                          </a:rPr>
                        </m:ctrlPr>
                      </m:accPr>
                      <m:e>
                        <m:r>
                          <a:rPr lang="en-US" sz="2200" b="1" i="1">
                            <a:solidFill>
                              <a:srgbClr val="000066"/>
                            </a:solidFill>
                            <a:latin typeface="Cambria Math"/>
                            <a:ea typeface="Cambria Math"/>
                          </a:rPr>
                          <m:t>𝑩</m:t>
                        </m:r>
                      </m:e>
                    </m:acc>
                  </m:oMath>
                </a14:m>
                <a:r>
                  <a:rPr lang="en-US" sz="2200" dirty="0">
                    <a:solidFill>
                      <a:srgbClr val="000066"/>
                    </a:solidFill>
                  </a:rPr>
                  <a:t>.</a:t>
                </a:r>
              </a:p>
            </p:txBody>
          </p:sp>
        </mc:Choice>
        <mc:Fallback xmlns="">
          <p:sp>
            <p:nvSpPr>
              <p:cNvPr id="18" name="Rectangle 17">
                <a:extLst>
                  <a:ext uri="{FF2B5EF4-FFF2-40B4-BE49-F238E27FC236}">
                    <a16:creationId xmlns:a16="http://schemas.microsoft.com/office/drawing/2014/main" id="{D2A87F91-DD57-A148-AD31-C8EB4905AD65}"/>
                  </a:ext>
                </a:extLst>
              </p:cNvPr>
              <p:cNvSpPr>
                <a:spLocks noRot="1" noChangeAspect="1" noMove="1" noResize="1" noEditPoints="1" noAdjustHandles="1" noChangeArrowheads="1" noChangeShapeType="1" noTextEdit="1"/>
              </p:cNvSpPr>
              <p:nvPr/>
            </p:nvSpPr>
            <p:spPr>
              <a:xfrm>
                <a:off x="1207007" y="1724958"/>
                <a:ext cx="4223765" cy="853695"/>
              </a:xfrm>
              <a:prstGeom prst="rect">
                <a:avLst/>
              </a:prstGeom>
              <a:blipFill>
                <a:blip r:embed="rId6"/>
                <a:stretch>
                  <a:fillRect l="-2102" r="-300" b="-13043"/>
                </a:stretch>
              </a:blipFill>
            </p:spPr>
            <p:txBody>
              <a:bodyPr/>
              <a:lstStyle/>
              <a:p>
                <a:r>
                  <a:rPr lang="en-US">
                    <a:noFill/>
                  </a:rPr>
                  <a:t> </a:t>
                </a:r>
              </a:p>
            </p:txBody>
          </p:sp>
        </mc:Fallback>
      </mc:AlternateContent>
      <p:pic>
        <p:nvPicPr>
          <p:cNvPr id="20" name="Picture 19" descr="A picture containing logo&#10;&#10;Description automatically generated">
            <a:extLst>
              <a:ext uri="{FF2B5EF4-FFF2-40B4-BE49-F238E27FC236}">
                <a16:creationId xmlns:a16="http://schemas.microsoft.com/office/drawing/2014/main" id="{11AE215F-DF0A-F04D-92E2-E5024BEE80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23078" y="3701477"/>
            <a:ext cx="2400300" cy="609600"/>
          </a:xfrm>
          <a:prstGeom prst="rect">
            <a:avLst/>
          </a:prstGeom>
        </p:spPr>
      </p:pic>
    </p:spTree>
    <p:extLst>
      <p:ext uri="{BB962C8B-B14F-4D97-AF65-F5344CB8AC3E}">
        <p14:creationId xmlns:p14="http://schemas.microsoft.com/office/powerpoint/2010/main" val="13219281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Vector A points out and to the left, and vector B points out and to the right. In figure a we are shown the cross product of A cross B pointing up, perpendicular to both A and B. A screw turning an angle phi from A to B would move up. In figure b we are shown the cross product of B cross A pointing down, perpendicular to both A and B. A screw turning an angle phi from B to A would move down.">
            <a:extLst>
              <a:ext uri="{FF2B5EF4-FFF2-40B4-BE49-F238E27FC236}">
                <a16:creationId xmlns:a16="http://schemas.microsoft.com/office/drawing/2014/main" id="{F67F383E-55E1-134F-A201-0781C222AD01}"/>
              </a:ext>
            </a:extLst>
          </p:cNvPr>
          <p:cNvPicPr>
            <a:picLocks noChangeAspect="1"/>
          </p:cNvPicPr>
          <p:nvPr/>
        </p:nvPicPr>
        <p:blipFill>
          <a:blip r:embed="rId3" cstate="email">
            <a:extLst>
              <a:ext uri="{28A0092B-C50C-407E-A947-70E740481C1C}">
                <a14:useLocalDpi xmlns:a14="http://schemas.microsoft.com/office/drawing/2010/main" val="0"/>
              </a:ext>
            </a:extLst>
          </a:blip>
          <a:srcRect l="-28610" r="-28610"/>
          <a:stretch>
            <a:fillRect/>
          </a:stretch>
        </p:blipFill>
        <p:spPr>
          <a:xfrm>
            <a:off x="2064543" y="915122"/>
            <a:ext cx="8062913" cy="3500071"/>
          </a:xfrm>
          <a:prstGeom prst="rect">
            <a:avLst/>
          </a:prstGeom>
        </p:spPr>
      </p:pic>
      <mc:AlternateContent xmlns:mc="http://schemas.openxmlformats.org/markup-compatibility/2006" xmlns:a14="http://schemas.microsoft.com/office/drawing/2010/main">
        <mc:Choice Requires="a14">
          <p:sp>
            <p:nvSpPr>
              <p:cNvPr id="4" name="Text Placeholder 6">
                <a:extLst>
                  <a:ext uri="{FF2B5EF4-FFF2-40B4-BE49-F238E27FC236}">
                    <a16:creationId xmlns:a16="http://schemas.microsoft.com/office/drawing/2014/main" id="{90A9256A-07EF-514F-9D52-E8777A998250}"/>
                  </a:ext>
                </a:extLst>
              </p:cNvPr>
              <p:cNvSpPr txBox="1">
                <a:spLocks/>
              </p:cNvSpPr>
              <p:nvPr/>
            </p:nvSpPr>
            <p:spPr>
              <a:xfrm>
                <a:off x="585216" y="4526990"/>
                <a:ext cx="11387328" cy="21322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The corkscrew right-hand rule can be used to determine the direction of the cross product </a:t>
                </a:r>
                <a14:m>
                  <m:oMath xmlns:m="http://schemas.openxmlformats.org/officeDocument/2006/math">
                    <m:acc>
                      <m:accPr>
                        <m:chr m:val="⃗"/>
                        <m:ctrlPr>
                          <a:rPr lang="en-US" sz="2000" b="1" i="1">
                            <a:solidFill>
                              <a:srgbClr val="000066"/>
                            </a:solidFill>
                            <a:latin typeface="Cambria Math" panose="02040503050406030204" pitchFamily="18" charset="0"/>
                          </a:rPr>
                        </m:ctrlPr>
                      </m:accPr>
                      <m:e>
                        <m:r>
                          <a:rPr lang="en-US" sz="2000" b="1" i="1">
                            <a:solidFill>
                              <a:srgbClr val="000066"/>
                            </a:solidFill>
                            <a:latin typeface="Cambria Math"/>
                          </a:rPr>
                          <m:t>𝑨</m:t>
                        </m:r>
                      </m:e>
                    </m:acc>
                    <m:r>
                      <a:rPr lang="en-US" sz="2000" i="1">
                        <a:solidFill>
                          <a:srgbClr val="000066"/>
                        </a:solidFill>
                        <a:latin typeface="Cambria Math"/>
                      </a:rPr>
                      <m:t> </m:t>
                    </m:r>
                    <m:r>
                      <a:rPr lang="en-US" sz="2000" i="1">
                        <a:solidFill>
                          <a:srgbClr val="000066"/>
                        </a:solidFill>
                        <a:latin typeface="Cambria Math"/>
                        <a:ea typeface="Cambria Math"/>
                      </a:rPr>
                      <m:t>× </m:t>
                    </m:r>
                    <m:acc>
                      <m:accPr>
                        <m:chr m:val="⃗"/>
                        <m:ctrlPr>
                          <a:rPr lang="en-US" sz="2000" i="1">
                            <a:solidFill>
                              <a:srgbClr val="000066"/>
                            </a:solidFill>
                            <a:latin typeface="Cambria Math" panose="02040503050406030204" pitchFamily="18" charset="0"/>
                            <a:ea typeface="Cambria Math"/>
                          </a:rPr>
                        </m:ctrlPr>
                      </m:accPr>
                      <m:e>
                        <m:r>
                          <a:rPr lang="en-US" sz="2000" b="1" i="1">
                            <a:solidFill>
                              <a:srgbClr val="000066"/>
                            </a:solidFill>
                            <a:latin typeface="Cambria Math"/>
                            <a:ea typeface="Cambria Math"/>
                          </a:rPr>
                          <m:t>𝑩</m:t>
                        </m:r>
                      </m:e>
                    </m:acc>
                  </m:oMath>
                </a14:m>
                <a:r>
                  <a:rPr lang="en-US" sz="2000" dirty="0">
                    <a:solidFill>
                      <a:srgbClr val="000066"/>
                    </a:solidFill>
                  </a:rPr>
                  <a:t> . Place a corkscrew in the direction perpendicular to the plane that contains vectors </a:t>
                </a:r>
                <a14:m>
                  <m:oMath xmlns:m="http://schemas.openxmlformats.org/officeDocument/2006/math">
                    <m:acc>
                      <m:accPr>
                        <m:chr m:val="⃗"/>
                        <m:ctrlPr>
                          <a:rPr lang="en-US" sz="2000" b="1" i="1">
                            <a:solidFill>
                              <a:srgbClr val="000066"/>
                            </a:solidFill>
                            <a:latin typeface="Cambria Math" panose="02040503050406030204" pitchFamily="18" charset="0"/>
                          </a:rPr>
                        </m:ctrlPr>
                      </m:accPr>
                      <m:e>
                        <m:r>
                          <a:rPr lang="en-US" sz="2000" b="1" i="1">
                            <a:solidFill>
                              <a:srgbClr val="000066"/>
                            </a:solidFill>
                            <a:latin typeface="Cambria Math"/>
                          </a:rPr>
                          <m:t>𝑨</m:t>
                        </m:r>
                      </m:e>
                    </m:acc>
                  </m:oMath>
                </a14:m>
                <a:r>
                  <a:rPr lang="en-US" sz="2000" dirty="0">
                    <a:solidFill>
                      <a:srgbClr val="000066"/>
                    </a:solidFill>
                  </a:rPr>
                  <a:t> and </a:t>
                </a:r>
                <a14:m>
                  <m:oMath xmlns:m="http://schemas.openxmlformats.org/officeDocument/2006/math">
                    <m:acc>
                      <m:accPr>
                        <m:chr m:val="⃗"/>
                        <m:ctrlPr>
                          <a:rPr lang="en-US" sz="2000" i="1">
                            <a:solidFill>
                              <a:srgbClr val="000066"/>
                            </a:solidFill>
                            <a:latin typeface="Cambria Math" panose="02040503050406030204" pitchFamily="18" charset="0"/>
                            <a:ea typeface="Cambria Math"/>
                          </a:rPr>
                        </m:ctrlPr>
                      </m:accPr>
                      <m:e>
                        <m:r>
                          <a:rPr lang="en-US" sz="2000" b="1" i="1">
                            <a:solidFill>
                              <a:srgbClr val="000066"/>
                            </a:solidFill>
                            <a:latin typeface="Cambria Math"/>
                            <a:ea typeface="Cambria Math"/>
                          </a:rPr>
                          <m:t>𝑩</m:t>
                        </m:r>
                      </m:e>
                    </m:acc>
                  </m:oMath>
                </a14:m>
                <a:r>
                  <a:rPr lang="en-US" sz="2000" dirty="0">
                    <a:solidFill>
                      <a:srgbClr val="000066"/>
                    </a:solidFill>
                  </a:rPr>
                  <a:t> and turn it in the direction </a:t>
                </a:r>
                <a:r>
                  <a:rPr lang="en-US" sz="2000" dirty="0">
                    <a:solidFill>
                      <a:srgbClr val="C00000"/>
                    </a:solidFill>
                  </a:rPr>
                  <a:t>from the first to the second vector in the product.</a:t>
                </a:r>
                <a:r>
                  <a:rPr lang="en-US" sz="2000" dirty="0">
                    <a:solidFill>
                      <a:srgbClr val="000066"/>
                    </a:solidFill>
                  </a:rPr>
                  <a:t> The direction of the cross product is given by the progression of the corkscrew.</a:t>
                </a:r>
              </a:p>
              <a:p>
                <a:pPr marL="342900" indent="-342900">
                  <a:buFont typeface="Arial" panose="020B0604020202020204" pitchFamily="34" charset="0"/>
                  <a:buAutoNum type="alphaLcParenBoth"/>
                </a:pPr>
                <a:r>
                  <a:rPr lang="en-US" sz="2000" dirty="0">
                    <a:solidFill>
                      <a:srgbClr val="000066"/>
                    </a:solidFill>
                  </a:rPr>
                  <a:t>Upward movement means the cross-product vector points up.</a:t>
                </a:r>
              </a:p>
              <a:p>
                <a:pPr marL="342900" indent="-342900">
                  <a:buFont typeface="Arial" panose="020B0604020202020204" pitchFamily="34" charset="0"/>
                  <a:buAutoNum type="alphaLcParenBoth"/>
                </a:pPr>
                <a:r>
                  <a:rPr lang="en-US" sz="2000" dirty="0">
                    <a:solidFill>
                      <a:srgbClr val="000066"/>
                    </a:solidFill>
                  </a:rPr>
                  <a:t>Downward movement means the cross-product vector points downward.</a:t>
                </a:r>
              </a:p>
            </p:txBody>
          </p:sp>
        </mc:Choice>
        <mc:Fallback xmlns="">
          <p:sp>
            <p:nvSpPr>
              <p:cNvPr id="4" name="Text Placeholder 6">
                <a:extLst>
                  <a:ext uri="{FF2B5EF4-FFF2-40B4-BE49-F238E27FC236}">
                    <a16:creationId xmlns:a16="http://schemas.microsoft.com/office/drawing/2014/main" id="{90A9256A-07EF-514F-9D52-E8777A998250}"/>
                  </a:ext>
                </a:extLst>
              </p:cNvPr>
              <p:cNvSpPr txBox="1">
                <a:spLocks noRot="1" noChangeAspect="1" noMove="1" noResize="1" noEditPoints="1" noAdjustHandles="1" noChangeArrowheads="1" noChangeShapeType="1" noTextEdit="1"/>
              </p:cNvSpPr>
              <p:nvPr/>
            </p:nvSpPr>
            <p:spPr>
              <a:xfrm>
                <a:off x="585216" y="4526990"/>
                <a:ext cx="11387328" cy="2132238"/>
              </a:xfrm>
              <a:prstGeom prst="rect">
                <a:avLst/>
              </a:prstGeom>
              <a:blipFill>
                <a:blip r:embed="rId4"/>
                <a:stretch>
                  <a:fillRect l="-557" t="-1775" r="-892" b="-177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C176026-FC74-254C-8D0D-2589BDA75BC4}"/>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Tree>
    <p:extLst>
      <p:ext uri="{BB962C8B-B14F-4D97-AF65-F5344CB8AC3E}">
        <p14:creationId xmlns:p14="http://schemas.microsoft.com/office/powerpoint/2010/main" val="3170805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AD0C61C-09E7-1E44-B795-BC3E8E27B5C6}"/>
              </a:ext>
            </a:extLst>
          </p:cNvPr>
          <p:cNvSpPr/>
          <p:nvPr/>
        </p:nvSpPr>
        <p:spPr>
          <a:xfrm>
            <a:off x="6391038" y="89044"/>
            <a:ext cx="4794060" cy="539136"/>
          </a:xfrm>
          <a:prstGeom prst="rect">
            <a:avLst/>
          </a:prstGeom>
        </p:spPr>
        <p:txBody>
          <a:bodyPr wrap="square">
            <a:spAutoFit/>
          </a:bodyPr>
          <a:lstStyle/>
          <a:p>
            <a:r>
              <a:rPr lang="en-US" sz="2800" dirty="0">
                <a:solidFill>
                  <a:srgbClr val="C00000"/>
                </a:solidFill>
                <a:latin typeface="NewBaskervilleStd-Roman"/>
              </a:rPr>
              <a:t>Products of Vectors </a:t>
            </a:r>
          </a:p>
        </p:txBody>
      </p:sp>
      <p:pic>
        <p:nvPicPr>
          <p:cNvPr id="4" name="Picture Placeholder 1" descr="Figure a: a wrench grips a nut. A force F is applied to the wrench at a distance R from the center of the nut. The vector R is the vector from the center of the nut to the location where the force is being applied. The force direction is at an angle phi, measured counterclockwise from the direction of the vector R. Figure b: a wrench grips a nut. A force F is applied to the wrench at a distance R from the center of the nut. The vector R is the vector from the center of the nut to the location where the force is being applied. The force direction is at an angle phi, measured clockwise from the direction of the vector R.">
            <a:extLst>
              <a:ext uri="{FF2B5EF4-FFF2-40B4-BE49-F238E27FC236}">
                <a16:creationId xmlns:a16="http://schemas.microsoft.com/office/drawing/2014/main" id="{57F84A76-5ABB-F848-B416-4A0D2EFC5054}"/>
              </a:ext>
            </a:extLst>
          </p:cNvPr>
          <p:cNvPicPr>
            <a:picLocks noChangeAspect="1"/>
          </p:cNvPicPr>
          <p:nvPr/>
        </p:nvPicPr>
        <p:blipFill>
          <a:blip r:embed="rId3" cstate="email">
            <a:extLst>
              <a:ext uri="{28A0092B-C50C-407E-A947-70E740481C1C}">
                <a14:useLocalDpi xmlns:a14="http://schemas.microsoft.com/office/drawing/2010/main" val="0"/>
              </a:ext>
            </a:extLst>
          </a:blip>
          <a:srcRect l="-13232" r="-13232"/>
          <a:stretch>
            <a:fillRect/>
          </a:stretch>
        </p:blipFill>
        <p:spPr>
          <a:xfrm>
            <a:off x="-407739" y="1362232"/>
            <a:ext cx="7372577" cy="3200400"/>
          </a:xfrm>
          <a:prstGeom prst="rect">
            <a:avLst/>
          </a:prstGeom>
        </p:spPr>
      </p:pic>
      <p:sp>
        <p:nvSpPr>
          <p:cNvPr id="6" name="Text Placeholder 6">
            <a:extLst>
              <a:ext uri="{FF2B5EF4-FFF2-40B4-BE49-F238E27FC236}">
                <a16:creationId xmlns:a16="http://schemas.microsoft.com/office/drawing/2014/main" id="{C8B87855-6B34-5147-90F0-F1D67E2E0EBD}"/>
              </a:ext>
            </a:extLst>
          </p:cNvPr>
          <p:cNvSpPr txBox="1">
            <a:spLocks/>
          </p:cNvSpPr>
          <p:nvPr/>
        </p:nvSpPr>
        <p:spPr>
          <a:xfrm>
            <a:off x="302418" y="4593151"/>
            <a:ext cx="4578126"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A wrench provides grip and mechanical advantage in applying torque to turn a nut.</a:t>
            </a:r>
          </a:p>
          <a:p>
            <a:pPr marL="342900" indent="-342900">
              <a:buFont typeface="Arial" panose="020B0604020202020204" pitchFamily="34" charset="0"/>
              <a:buAutoNum type="alphaLcParenBoth"/>
            </a:pPr>
            <a:r>
              <a:rPr lang="en-US" sz="1800" dirty="0">
                <a:solidFill>
                  <a:srgbClr val="000066"/>
                </a:solidFill>
              </a:rPr>
              <a:t>Turn counterclockwise to loosen the nut.</a:t>
            </a:r>
          </a:p>
          <a:p>
            <a:pPr marL="342900" indent="-342900">
              <a:buFont typeface="Arial" panose="020B0604020202020204" pitchFamily="34" charset="0"/>
              <a:buAutoNum type="alphaLcParenBoth"/>
            </a:pPr>
            <a:r>
              <a:rPr lang="en-US" sz="1800" dirty="0">
                <a:solidFill>
                  <a:srgbClr val="000066"/>
                </a:solidFill>
              </a:rPr>
              <a:t>Turn clockwise to tighten the nut.</a:t>
            </a:r>
          </a:p>
        </p:txBody>
      </p:sp>
      <p:sp>
        <p:nvSpPr>
          <p:cNvPr id="7" name="Rectangle 6">
            <a:extLst>
              <a:ext uri="{FF2B5EF4-FFF2-40B4-BE49-F238E27FC236}">
                <a16:creationId xmlns:a16="http://schemas.microsoft.com/office/drawing/2014/main" id="{04AB0C7D-919A-5A49-80D7-33718FCCF67A}"/>
              </a:ext>
            </a:extLst>
          </p:cNvPr>
          <p:cNvSpPr/>
          <p:nvPr/>
        </p:nvSpPr>
        <p:spPr>
          <a:xfrm>
            <a:off x="6423706" y="99751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2" name="Rectangle 1">
            <a:extLst>
              <a:ext uri="{FF2B5EF4-FFF2-40B4-BE49-F238E27FC236}">
                <a16:creationId xmlns:a16="http://schemas.microsoft.com/office/drawing/2014/main" id="{D02C71C2-AE2E-794D-905B-2F59F527F676}"/>
              </a:ext>
            </a:extLst>
          </p:cNvPr>
          <p:cNvSpPr/>
          <p:nvPr/>
        </p:nvSpPr>
        <p:spPr>
          <a:xfrm>
            <a:off x="6391038" y="1366844"/>
            <a:ext cx="5610462" cy="2862322"/>
          </a:xfrm>
          <a:prstGeom prst="rect">
            <a:avLst/>
          </a:prstGeom>
        </p:spPr>
        <p:txBody>
          <a:bodyPr wrap="square">
            <a:spAutoFit/>
          </a:bodyPr>
          <a:lstStyle/>
          <a:p>
            <a:r>
              <a:rPr lang="en-US" sz="2000" dirty="0">
                <a:solidFill>
                  <a:srgbClr val="C00000"/>
                </a:solidFill>
                <a:latin typeface="LiberationSerif"/>
              </a:rPr>
              <a:t>To loosen a rusty nut, a 20.00-N force is applied to the wrench handle at angle </a:t>
            </a:r>
            <a:r>
              <a:rPr lang="el-GR" sz="2000" i="1" dirty="0">
                <a:solidFill>
                  <a:srgbClr val="C00000"/>
                </a:solidFill>
                <a:latin typeface="STIXGeneral" pitchFamily="2" charset="2"/>
              </a:rPr>
              <a:t>φ </a:t>
            </a:r>
            <a:r>
              <a:rPr lang="el-GR" sz="2000" dirty="0">
                <a:solidFill>
                  <a:srgbClr val="C00000"/>
                </a:solidFill>
                <a:latin typeface="STIXGeneral" pitchFamily="2" charset="2"/>
              </a:rPr>
              <a:t>= 40° </a:t>
            </a:r>
            <a:r>
              <a:rPr lang="en-US" sz="2000" dirty="0">
                <a:solidFill>
                  <a:srgbClr val="C00000"/>
                </a:solidFill>
                <a:latin typeface="LiberationSerif"/>
              </a:rPr>
              <a:t>and at a distance of 0.25 m from the nut, as shown in </a:t>
            </a:r>
            <a:r>
              <a:rPr lang="en-US" sz="2000" dirty="0">
                <a:solidFill>
                  <a:srgbClr val="C00000"/>
                </a:solidFill>
                <a:latin typeface="LiberationSans"/>
              </a:rPr>
              <a:t>Figure in the left </a:t>
            </a:r>
            <a:r>
              <a:rPr lang="en-US" sz="2000" dirty="0">
                <a:solidFill>
                  <a:srgbClr val="C00000"/>
                </a:solidFill>
                <a:latin typeface="LiberationSerif"/>
              </a:rPr>
              <a:t>(a). Find the magnitude and direction of the torque applied to the nut. </a:t>
            </a:r>
            <a:endParaRPr lang="en-US" sz="2000" dirty="0">
              <a:solidFill>
                <a:srgbClr val="C00000"/>
              </a:solidFill>
            </a:endParaRPr>
          </a:p>
          <a:p>
            <a:r>
              <a:rPr lang="en-US" sz="2000" dirty="0">
                <a:solidFill>
                  <a:srgbClr val="C00000"/>
                </a:solidFill>
                <a:latin typeface="LiberationSerif"/>
              </a:rPr>
              <a:t>What would the magnitude and direction of the torque be if the force were applied at angle </a:t>
            </a:r>
            <a:r>
              <a:rPr lang="el-GR" sz="2000" i="1" dirty="0">
                <a:solidFill>
                  <a:srgbClr val="C00000"/>
                </a:solidFill>
                <a:latin typeface="STIXGeneral" pitchFamily="2" charset="2"/>
              </a:rPr>
              <a:t>φ </a:t>
            </a:r>
            <a:r>
              <a:rPr lang="el-GR" sz="2000" dirty="0">
                <a:solidFill>
                  <a:srgbClr val="C00000"/>
                </a:solidFill>
                <a:latin typeface="STIXGeneral" pitchFamily="2" charset="2"/>
              </a:rPr>
              <a:t>= 45°</a:t>
            </a:r>
            <a:r>
              <a:rPr lang="el-GR" sz="2000" dirty="0">
                <a:solidFill>
                  <a:srgbClr val="C00000"/>
                </a:solidFill>
                <a:latin typeface="LiberationSerif"/>
              </a:rPr>
              <a:t>, </a:t>
            </a:r>
            <a:r>
              <a:rPr lang="en-US" sz="2000" dirty="0">
                <a:solidFill>
                  <a:srgbClr val="C00000"/>
                </a:solidFill>
                <a:latin typeface="LiberationSerif"/>
              </a:rPr>
              <a:t>as shown in </a:t>
            </a:r>
            <a:r>
              <a:rPr lang="en-US" sz="2000" dirty="0">
                <a:solidFill>
                  <a:srgbClr val="C00000"/>
                </a:solidFill>
                <a:latin typeface="LiberationSans"/>
              </a:rPr>
              <a:t>Figure </a:t>
            </a:r>
            <a:r>
              <a:rPr lang="en-US" sz="2000" dirty="0">
                <a:solidFill>
                  <a:srgbClr val="C00000"/>
                </a:solidFill>
                <a:latin typeface="LiberationSerif"/>
              </a:rPr>
              <a:t>(b)? For what value of angle </a:t>
            </a:r>
            <a:r>
              <a:rPr lang="el-GR" sz="2000" i="1" dirty="0">
                <a:solidFill>
                  <a:srgbClr val="C00000"/>
                </a:solidFill>
                <a:latin typeface="STIXGeneral" pitchFamily="2" charset="2"/>
              </a:rPr>
              <a:t>φ </a:t>
            </a:r>
            <a:r>
              <a:rPr lang="en-US" sz="2000" dirty="0">
                <a:solidFill>
                  <a:srgbClr val="C00000"/>
                </a:solidFill>
                <a:latin typeface="LiberationSerif"/>
              </a:rPr>
              <a:t>does the torque have the largest magnitude? </a:t>
            </a:r>
            <a:endParaRPr lang="en-US" sz="2000" dirty="0">
              <a:solidFill>
                <a:srgbClr val="C00000"/>
              </a:solidFill>
            </a:endParaRPr>
          </a:p>
        </p:txBody>
      </p:sp>
      <p:pic>
        <p:nvPicPr>
          <p:cNvPr id="8" name="Picture 7" descr="Diagram&#10;&#10;Description automatically generated with medium confidence">
            <a:extLst>
              <a:ext uri="{FF2B5EF4-FFF2-40B4-BE49-F238E27FC236}">
                <a16:creationId xmlns:a16="http://schemas.microsoft.com/office/drawing/2014/main" id="{254FBE88-5521-4F4C-8A3D-2A2144B905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6492" y="4263509"/>
            <a:ext cx="2400300" cy="558800"/>
          </a:xfrm>
          <a:prstGeom prst="rect">
            <a:avLst/>
          </a:prstGeom>
        </p:spPr>
      </p:pic>
      <p:pic>
        <p:nvPicPr>
          <p:cNvPr id="10" name="Picture 9">
            <a:extLst>
              <a:ext uri="{FF2B5EF4-FFF2-40B4-BE49-F238E27FC236}">
                <a16:creationId xmlns:a16="http://schemas.microsoft.com/office/drawing/2014/main" id="{BFD15E7B-DE43-5547-91DE-DF4260FFC9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8424" y="4856652"/>
            <a:ext cx="6565900" cy="596900"/>
          </a:xfrm>
          <a:prstGeom prst="rect">
            <a:avLst/>
          </a:prstGeom>
        </p:spPr>
      </p:pic>
      <p:pic>
        <p:nvPicPr>
          <p:cNvPr id="12" name="Picture 11">
            <a:extLst>
              <a:ext uri="{FF2B5EF4-FFF2-40B4-BE49-F238E27FC236}">
                <a16:creationId xmlns:a16="http://schemas.microsoft.com/office/drawing/2014/main" id="{9ECE40A2-19C0-AB44-B705-87B95C2970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3024" y="5435683"/>
            <a:ext cx="6591300" cy="647700"/>
          </a:xfrm>
          <a:prstGeom prst="rect">
            <a:avLst/>
          </a:prstGeom>
        </p:spPr>
      </p:pic>
      <p:pic>
        <p:nvPicPr>
          <p:cNvPr id="14" name="Picture 13">
            <a:extLst>
              <a:ext uri="{FF2B5EF4-FFF2-40B4-BE49-F238E27FC236}">
                <a16:creationId xmlns:a16="http://schemas.microsoft.com/office/drawing/2014/main" id="{3E3CDC3E-B62B-5A4E-8045-03094A3833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405" y="6084630"/>
            <a:ext cx="7392924" cy="402336"/>
          </a:xfrm>
          <a:prstGeom prst="rect">
            <a:avLst/>
          </a:prstGeom>
        </p:spPr>
      </p:pic>
      <p:pic>
        <p:nvPicPr>
          <p:cNvPr id="16" name="Picture 15">
            <a:extLst>
              <a:ext uri="{FF2B5EF4-FFF2-40B4-BE49-F238E27FC236}">
                <a16:creationId xmlns:a16="http://schemas.microsoft.com/office/drawing/2014/main" id="{F2B9DB88-A980-F442-850C-04E29F946D5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20624" y="6113902"/>
            <a:ext cx="4203700" cy="330200"/>
          </a:xfrm>
          <a:prstGeom prst="rect">
            <a:avLst/>
          </a:prstGeom>
        </p:spPr>
      </p:pic>
      <p:sp>
        <p:nvSpPr>
          <p:cNvPr id="17" name="Rectangle 16">
            <a:extLst>
              <a:ext uri="{FF2B5EF4-FFF2-40B4-BE49-F238E27FC236}">
                <a16:creationId xmlns:a16="http://schemas.microsoft.com/office/drawing/2014/main" id="{EF67097E-F138-414B-AB12-01DEEA44D15B}"/>
              </a:ext>
            </a:extLst>
          </p:cNvPr>
          <p:cNvSpPr/>
          <p:nvPr/>
        </p:nvSpPr>
        <p:spPr>
          <a:xfrm>
            <a:off x="5098037" y="4970436"/>
            <a:ext cx="436338" cy="369332"/>
          </a:xfrm>
          <a:prstGeom prst="rect">
            <a:avLst/>
          </a:prstGeom>
        </p:spPr>
        <p:txBody>
          <a:bodyPr wrap="none">
            <a:spAutoFit/>
          </a:bodyPr>
          <a:lstStyle/>
          <a:p>
            <a:r>
              <a:rPr lang="en-US" dirty="0">
                <a:solidFill>
                  <a:srgbClr val="C00000"/>
                </a:solidFill>
                <a:latin typeface="LiberationSerif"/>
              </a:rPr>
              <a:t>(a)</a:t>
            </a:r>
            <a:endParaRPr lang="en-US" dirty="0"/>
          </a:p>
        </p:txBody>
      </p:sp>
      <p:sp>
        <p:nvSpPr>
          <p:cNvPr id="18" name="Rectangle 17">
            <a:extLst>
              <a:ext uri="{FF2B5EF4-FFF2-40B4-BE49-F238E27FC236}">
                <a16:creationId xmlns:a16="http://schemas.microsoft.com/office/drawing/2014/main" id="{21CA5B21-FF2C-F843-97B3-9BF7426247E8}"/>
              </a:ext>
            </a:extLst>
          </p:cNvPr>
          <p:cNvSpPr/>
          <p:nvPr/>
        </p:nvSpPr>
        <p:spPr>
          <a:xfrm>
            <a:off x="5098037" y="5614355"/>
            <a:ext cx="447558" cy="369332"/>
          </a:xfrm>
          <a:prstGeom prst="rect">
            <a:avLst/>
          </a:prstGeom>
        </p:spPr>
        <p:txBody>
          <a:bodyPr wrap="none">
            <a:spAutoFit/>
          </a:bodyPr>
          <a:lstStyle/>
          <a:p>
            <a:r>
              <a:rPr lang="en-US" dirty="0">
                <a:solidFill>
                  <a:srgbClr val="C00000"/>
                </a:solidFill>
                <a:latin typeface="LiberationSerif"/>
              </a:rPr>
              <a:t>(b)</a:t>
            </a:r>
            <a:endParaRPr lang="en-US" dirty="0"/>
          </a:p>
        </p:txBody>
      </p:sp>
      <p:sp>
        <p:nvSpPr>
          <p:cNvPr id="19" name="Rectangle 18">
            <a:extLst>
              <a:ext uri="{FF2B5EF4-FFF2-40B4-BE49-F238E27FC236}">
                <a16:creationId xmlns:a16="http://schemas.microsoft.com/office/drawing/2014/main" id="{2090E5BB-0024-1B46-8999-1494B72053FA}"/>
              </a:ext>
            </a:extLst>
          </p:cNvPr>
          <p:cNvSpPr/>
          <p:nvPr/>
        </p:nvSpPr>
        <p:spPr>
          <a:xfrm>
            <a:off x="7550346" y="6113902"/>
            <a:ext cx="396262" cy="369332"/>
          </a:xfrm>
          <a:prstGeom prst="rect">
            <a:avLst/>
          </a:prstGeom>
        </p:spPr>
        <p:txBody>
          <a:bodyPr wrap="none">
            <a:spAutoFit/>
          </a:bodyPr>
          <a:lstStyle/>
          <a:p>
            <a:r>
              <a:rPr lang="en-US" dirty="0">
                <a:solidFill>
                  <a:srgbClr val="C00000"/>
                </a:solidFill>
                <a:latin typeface="LiberationSerif"/>
              </a:rPr>
              <a:t>so</a:t>
            </a:r>
            <a:endParaRPr lang="en-US" dirty="0"/>
          </a:p>
        </p:txBody>
      </p:sp>
      <p:sp>
        <p:nvSpPr>
          <p:cNvPr id="20" name="Rectangle 19">
            <a:extLst>
              <a:ext uri="{FF2B5EF4-FFF2-40B4-BE49-F238E27FC236}">
                <a16:creationId xmlns:a16="http://schemas.microsoft.com/office/drawing/2014/main" id="{34E3A174-F9FA-5045-B333-8FFB4B351ED7}"/>
              </a:ext>
            </a:extLst>
          </p:cNvPr>
          <p:cNvSpPr/>
          <p:nvPr/>
        </p:nvSpPr>
        <p:spPr>
          <a:xfrm>
            <a:off x="3460331" y="6483234"/>
            <a:ext cx="8688805" cy="369332"/>
          </a:xfrm>
          <a:prstGeom prst="rect">
            <a:avLst/>
          </a:prstGeom>
        </p:spPr>
        <p:txBody>
          <a:bodyPr wrap="square">
            <a:spAutoFit/>
          </a:bodyPr>
          <a:lstStyle/>
          <a:p>
            <a:r>
              <a:rPr lang="en-US" dirty="0">
                <a:solidFill>
                  <a:srgbClr val="C00000"/>
                </a:solidFill>
                <a:latin typeface="LiberationSerif"/>
              </a:rPr>
              <a:t>The</a:t>
            </a:r>
            <a:r>
              <a:rPr lang="en-US" dirty="0">
                <a:solidFill>
                  <a:srgbClr val="C00000"/>
                </a:solidFill>
              </a:rPr>
              <a:t> </a:t>
            </a:r>
            <a:r>
              <a:rPr lang="en-US" dirty="0">
                <a:solidFill>
                  <a:srgbClr val="C00000"/>
                </a:solidFill>
                <a:latin typeface="LiberationSerif"/>
              </a:rPr>
              <a:t>wrench is most effective when we apply the force perpendicular to the wrench handle. </a:t>
            </a:r>
            <a:endParaRPr lang="en-US" dirty="0">
              <a:solidFill>
                <a:srgbClr val="C00000"/>
              </a:solidFill>
            </a:endParaRPr>
          </a:p>
        </p:txBody>
      </p:sp>
      <p:pic>
        <p:nvPicPr>
          <p:cNvPr id="11" name="Picture 10" descr="A picture containing text&#10;&#10;Description automatically generated">
            <a:extLst>
              <a:ext uri="{FF2B5EF4-FFF2-40B4-BE49-F238E27FC236}">
                <a16:creationId xmlns:a16="http://schemas.microsoft.com/office/drawing/2014/main" id="{DD921605-381F-C440-8998-EF3F8A4326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70787" y="538719"/>
            <a:ext cx="1435100" cy="508000"/>
          </a:xfrm>
          <a:prstGeom prst="rect">
            <a:avLst/>
          </a:prstGeom>
        </p:spPr>
      </p:pic>
      <p:pic>
        <p:nvPicPr>
          <p:cNvPr id="15" name="Picture 14">
            <a:extLst>
              <a:ext uri="{FF2B5EF4-FFF2-40B4-BE49-F238E27FC236}">
                <a16:creationId xmlns:a16="http://schemas.microsoft.com/office/drawing/2014/main" id="{C4C8E065-6EDA-C747-A777-0C510EBC631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3197" y="300081"/>
            <a:ext cx="5486400" cy="421490"/>
          </a:xfrm>
          <a:prstGeom prst="rect">
            <a:avLst/>
          </a:prstGeom>
        </p:spPr>
      </p:pic>
      <p:pic>
        <p:nvPicPr>
          <p:cNvPr id="22" name="Picture 21">
            <a:extLst>
              <a:ext uri="{FF2B5EF4-FFF2-40B4-BE49-F238E27FC236}">
                <a16:creationId xmlns:a16="http://schemas.microsoft.com/office/drawing/2014/main" id="{E8533251-FA59-FC4E-A991-FD3B80D00B3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3197" y="841057"/>
            <a:ext cx="5486400" cy="423660"/>
          </a:xfrm>
          <a:prstGeom prst="rect">
            <a:avLst/>
          </a:prstGeom>
        </p:spPr>
      </p:pic>
    </p:spTree>
    <p:extLst>
      <p:ext uri="{BB962C8B-B14F-4D97-AF65-F5344CB8AC3E}">
        <p14:creationId xmlns:p14="http://schemas.microsoft.com/office/powerpoint/2010/main" val="19103998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AD0C61C-09E7-1E44-B795-BC3E8E27B5C6}"/>
              </a:ext>
            </a:extLst>
          </p:cNvPr>
          <p:cNvSpPr/>
          <p:nvPr/>
        </p:nvSpPr>
        <p:spPr>
          <a:xfrm>
            <a:off x="4152582" y="0"/>
            <a:ext cx="4794060" cy="539136"/>
          </a:xfrm>
          <a:prstGeom prst="rect">
            <a:avLst/>
          </a:prstGeom>
        </p:spPr>
        <p:txBody>
          <a:bodyPr wrap="square">
            <a:spAutoFit/>
          </a:bodyPr>
          <a:lstStyle/>
          <a:p>
            <a:r>
              <a:rPr lang="en-US" sz="2800" dirty="0">
                <a:solidFill>
                  <a:srgbClr val="C00000"/>
                </a:solidFill>
                <a:latin typeface="NewBaskervilleStd-Roman"/>
              </a:rPr>
              <a:t>Products of Vectors </a:t>
            </a:r>
          </a:p>
        </p:txBody>
      </p:sp>
      <p:pic>
        <p:nvPicPr>
          <p:cNvPr id="8" name="Picture 7" descr="Diagram&#10;&#10;Description automatically generated with medium confidence">
            <a:extLst>
              <a:ext uri="{FF2B5EF4-FFF2-40B4-BE49-F238E27FC236}">
                <a16:creationId xmlns:a16="http://schemas.microsoft.com/office/drawing/2014/main" id="{254FBE88-5521-4F4C-8A3D-2A2144B90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3100" y="6002857"/>
            <a:ext cx="2400300" cy="558800"/>
          </a:xfrm>
          <a:prstGeom prst="rect">
            <a:avLst/>
          </a:prstGeom>
        </p:spPr>
      </p:pic>
      <p:pic>
        <p:nvPicPr>
          <p:cNvPr id="13" name="Picture 12" descr="Diagram&#10;&#10;Description automatically generated">
            <a:extLst>
              <a:ext uri="{FF2B5EF4-FFF2-40B4-BE49-F238E27FC236}">
                <a16:creationId xmlns:a16="http://schemas.microsoft.com/office/drawing/2014/main" id="{2B6F7A0F-39AC-0A4C-BC51-A4FC2A3C99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850" y="575743"/>
            <a:ext cx="9956800" cy="3695700"/>
          </a:xfrm>
          <a:prstGeom prst="rect">
            <a:avLst/>
          </a:prstGeom>
        </p:spPr>
      </p:pic>
      <p:pic>
        <p:nvPicPr>
          <p:cNvPr id="24" name="Picture 23">
            <a:extLst>
              <a:ext uri="{FF2B5EF4-FFF2-40B4-BE49-F238E27FC236}">
                <a16:creationId xmlns:a16="http://schemas.microsoft.com/office/drawing/2014/main" id="{4C999111-8381-B048-8CE1-68EFE7E79C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37" y="4652436"/>
            <a:ext cx="10972800" cy="969428"/>
          </a:xfrm>
          <a:prstGeom prst="rect">
            <a:avLst/>
          </a:prstGeom>
        </p:spPr>
      </p:pic>
      <p:sp>
        <p:nvSpPr>
          <p:cNvPr id="25" name="Rectangle 24">
            <a:extLst>
              <a:ext uri="{FF2B5EF4-FFF2-40B4-BE49-F238E27FC236}">
                <a16:creationId xmlns:a16="http://schemas.microsoft.com/office/drawing/2014/main" id="{1CE21017-1849-FD4F-8319-681AE29B674B}"/>
              </a:ext>
            </a:extLst>
          </p:cNvPr>
          <p:cNvSpPr/>
          <p:nvPr/>
        </p:nvSpPr>
        <p:spPr>
          <a:xfrm>
            <a:off x="2848977" y="4698469"/>
            <a:ext cx="5195886" cy="400110"/>
          </a:xfrm>
          <a:prstGeom prst="rect">
            <a:avLst/>
          </a:prstGeom>
        </p:spPr>
        <p:txBody>
          <a:bodyPr wrap="square">
            <a:spAutoFit/>
          </a:bodyPr>
          <a:lstStyle/>
          <a:p>
            <a:r>
              <a:rPr lang="en-US" sz="2000" dirty="0">
                <a:solidFill>
                  <a:srgbClr val="0000CC"/>
                </a:solidFill>
              </a:rPr>
              <a:t>Assignment 6:</a:t>
            </a:r>
          </a:p>
        </p:txBody>
      </p:sp>
      <p:sp>
        <p:nvSpPr>
          <p:cNvPr id="26" name="Rectangle 25">
            <a:extLst>
              <a:ext uri="{FF2B5EF4-FFF2-40B4-BE49-F238E27FC236}">
                <a16:creationId xmlns:a16="http://schemas.microsoft.com/office/drawing/2014/main" id="{4A842868-8B43-CD47-9FB0-9C277DF77BD7}"/>
              </a:ext>
            </a:extLst>
          </p:cNvPr>
          <p:cNvSpPr/>
          <p:nvPr/>
        </p:nvSpPr>
        <p:spPr>
          <a:xfrm>
            <a:off x="3383754" y="5103309"/>
            <a:ext cx="6360318" cy="400110"/>
          </a:xfrm>
          <a:prstGeom prst="rect">
            <a:avLst/>
          </a:prstGeom>
        </p:spPr>
        <p:txBody>
          <a:bodyPr wrap="square">
            <a:spAutoFit/>
          </a:bodyPr>
          <a:lstStyle/>
          <a:p>
            <a:r>
              <a:rPr lang="en-US" sz="2000" dirty="0"/>
              <a:t>Also, determine the direction of the resulting vector. </a:t>
            </a:r>
          </a:p>
        </p:txBody>
      </p:sp>
    </p:spTree>
    <p:extLst>
      <p:ext uri="{BB962C8B-B14F-4D97-AF65-F5344CB8AC3E}">
        <p14:creationId xmlns:p14="http://schemas.microsoft.com/office/powerpoint/2010/main" val="2742687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97D55EC-18E3-9142-AA84-45C6512D4926}"/>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4" name="Rectangle 3">
            <a:extLst>
              <a:ext uri="{FF2B5EF4-FFF2-40B4-BE49-F238E27FC236}">
                <a16:creationId xmlns:a16="http://schemas.microsoft.com/office/drawing/2014/main" id="{9150CAAA-1FAD-A045-9731-87574341A7E5}"/>
              </a:ext>
            </a:extLst>
          </p:cNvPr>
          <p:cNvSpPr/>
          <p:nvPr/>
        </p:nvSpPr>
        <p:spPr>
          <a:xfrm>
            <a:off x="653287" y="1040715"/>
            <a:ext cx="6361876" cy="3139321"/>
          </a:xfrm>
          <a:prstGeom prst="rect">
            <a:avLst/>
          </a:prstGeom>
        </p:spPr>
        <p:txBody>
          <a:bodyPr wrap="square">
            <a:spAutoFit/>
          </a:bodyPr>
          <a:lstStyle/>
          <a:p>
            <a:r>
              <a:rPr lang="en-US" sz="2200" dirty="0">
                <a:solidFill>
                  <a:srgbClr val="000066"/>
                </a:solidFill>
                <a:latin typeface="LiberationSerif"/>
              </a:rPr>
              <a:t>The cross product is distributive:</a:t>
            </a: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latin typeface="LiberationSerif"/>
              </a:rPr>
              <a:t>For unit vectors, let’s apply</a:t>
            </a:r>
          </a:p>
          <a:p>
            <a:endParaRPr lang="en-US" sz="2200" dirty="0">
              <a:solidFill>
                <a:srgbClr val="000066"/>
              </a:solidFill>
              <a:latin typeface="LiberationSerif"/>
            </a:endParaRPr>
          </a:p>
          <a:p>
            <a:r>
              <a:rPr lang="en-US" sz="2200" dirty="0">
                <a:solidFill>
                  <a:srgbClr val="000066"/>
                </a:solidFill>
                <a:latin typeface="LiberationSerif"/>
              </a:rPr>
              <a:t>we get</a:t>
            </a:r>
          </a:p>
          <a:p>
            <a:endParaRPr lang="en-US" sz="2200" dirty="0">
              <a:solidFill>
                <a:srgbClr val="000066"/>
              </a:solidFill>
              <a:latin typeface="LiberationSerif"/>
            </a:endParaRPr>
          </a:p>
          <a:p>
            <a:r>
              <a:rPr lang="en-US" sz="2200" dirty="0">
                <a:solidFill>
                  <a:srgbClr val="000066"/>
                </a:solidFill>
                <a:latin typeface="LiberationSerif"/>
              </a:rPr>
              <a:t>				and using corkscrew rule </a:t>
            </a:r>
          </a:p>
          <a:p>
            <a:endParaRPr lang="en-US" sz="2200" dirty="0">
              <a:solidFill>
                <a:srgbClr val="000066"/>
              </a:solidFill>
              <a:latin typeface="LiberationSerif"/>
            </a:endParaRPr>
          </a:p>
        </p:txBody>
      </p:sp>
      <p:pic>
        <p:nvPicPr>
          <p:cNvPr id="6" name="Picture 5" descr="A picture containing text, clock&#10;&#10;Description automatically generated">
            <a:extLst>
              <a:ext uri="{FF2B5EF4-FFF2-40B4-BE49-F238E27FC236}">
                <a16:creationId xmlns:a16="http://schemas.microsoft.com/office/drawing/2014/main" id="{2A536BCD-77F4-6E41-B81C-B5A62E4ED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5122" y="932306"/>
            <a:ext cx="4165600" cy="533400"/>
          </a:xfrm>
          <a:prstGeom prst="rect">
            <a:avLst/>
          </a:prstGeom>
        </p:spPr>
      </p:pic>
      <p:pic>
        <p:nvPicPr>
          <p:cNvPr id="7" name="Picture 6" descr="Diagram&#10;&#10;Description automatically generated with medium confidence">
            <a:extLst>
              <a:ext uri="{FF2B5EF4-FFF2-40B4-BE49-F238E27FC236}">
                <a16:creationId xmlns:a16="http://schemas.microsoft.com/office/drawing/2014/main" id="{9644AE1C-CD22-5240-A962-9DD096608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8867" y="1928465"/>
            <a:ext cx="2400300" cy="558800"/>
          </a:xfrm>
          <a:prstGeom prst="rect">
            <a:avLst/>
          </a:prstGeom>
        </p:spPr>
      </p:pic>
      <p:pic>
        <p:nvPicPr>
          <p:cNvPr id="9" name="Picture 8" descr="A picture containing text, clock, watch&#10;&#10;Description automatically generated">
            <a:extLst>
              <a:ext uri="{FF2B5EF4-FFF2-40B4-BE49-F238E27FC236}">
                <a16:creationId xmlns:a16="http://schemas.microsoft.com/office/drawing/2014/main" id="{5D0F5C13-53B8-C544-AEBF-F8C0A33094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8722" y="2595674"/>
            <a:ext cx="2946400" cy="546100"/>
          </a:xfrm>
          <a:prstGeom prst="rect">
            <a:avLst/>
          </a:prstGeom>
        </p:spPr>
      </p:pic>
      <p:pic>
        <p:nvPicPr>
          <p:cNvPr id="11" name="Picture 10" descr="Text&#10;&#10;Description automatically generated">
            <a:extLst>
              <a:ext uri="{FF2B5EF4-FFF2-40B4-BE49-F238E27FC236}">
                <a16:creationId xmlns:a16="http://schemas.microsoft.com/office/drawing/2014/main" id="{62448BEA-8DB2-2646-B087-28B267DFED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0557" y="2811812"/>
            <a:ext cx="1841500" cy="1587500"/>
          </a:xfrm>
          <a:prstGeom prst="rect">
            <a:avLst/>
          </a:prstGeom>
        </p:spPr>
      </p:pic>
      <p:pic>
        <p:nvPicPr>
          <p:cNvPr id="12" name="Picture Placeholder 1" descr="Figure a: The unit vectors, I hat, j hat and k hat of the x y z coordinate system are shown. Arrows indicate the sequence from I hat to j hat to k hat and back to I hat. Figure b: The unit vectors, I hat, j hat and k hat of the x y z coordinate system are shown. I hat equals j hat cross k hat. j hat equals k hat cross i hat. k hat equals i hat cross j hat. Figure c: The unit vectors, I hat and j hat are shown along with minus k hat pointing down. Minus k hat equals j hat cross i hat. Figure d: The unit vectors, I hat and k hat are shown along with minus j hat pointing to the left. Minus j hat equals i hat cross k hat.">
            <a:extLst>
              <a:ext uri="{FF2B5EF4-FFF2-40B4-BE49-F238E27FC236}">
                <a16:creationId xmlns:a16="http://schemas.microsoft.com/office/drawing/2014/main" id="{CCE8C595-2E1E-1744-BE6F-0E6BDC40B271}"/>
              </a:ext>
            </a:extLst>
          </p:cNvPr>
          <p:cNvPicPr>
            <a:picLocks noChangeAspect="1"/>
          </p:cNvPicPr>
          <p:nvPr/>
        </p:nvPicPr>
        <p:blipFill>
          <a:blip r:embed="rId7" cstate="email">
            <a:extLst>
              <a:ext uri="{28A0092B-C50C-407E-A947-70E740481C1C}">
                <a14:useLocalDpi xmlns:a14="http://schemas.microsoft.com/office/drawing/2010/main" val="0"/>
              </a:ext>
            </a:extLst>
          </a:blip>
          <a:srcRect t="-18659" b="-18659"/>
          <a:stretch>
            <a:fillRect/>
          </a:stretch>
        </p:blipFill>
        <p:spPr>
          <a:xfrm>
            <a:off x="7913955" y="2036762"/>
            <a:ext cx="4030663" cy="5256213"/>
          </a:xfrm>
          <a:prstGeom prst="rect">
            <a:avLst/>
          </a:prstGeom>
        </p:spPr>
      </p:pic>
      <p:sp>
        <p:nvSpPr>
          <p:cNvPr id="13" name="Text Placeholder 13">
            <a:extLst>
              <a:ext uri="{FF2B5EF4-FFF2-40B4-BE49-F238E27FC236}">
                <a16:creationId xmlns:a16="http://schemas.microsoft.com/office/drawing/2014/main" id="{4F43088E-579E-1042-A097-7B0BCF028EC9}"/>
              </a:ext>
            </a:extLst>
          </p:cNvPr>
          <p:cNvSpPr txBox="1">
            <a:spLocks/>
          </p:cNvSpPr>
          <p:nvPr/>
        </p:nvSpPr>
        <p:spPr>
          <a:xfrm>
            <a:off x="488949" y="4893320"/>
            <a:ext cx="7425006" cy="170419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2000">
                <a:solidFill>
                  <a:srgbClr val="000066"/>
                </a:solidFill>
              </a:rPr>
              <a:t>The diagram of the cyclic order of the unit vectors of the axes.</a:t>
            </a:r>
          </a:p>
          <a:p>
            <a:pPr marL="342900" indent="-342900">
              <a:buFont typeface="Arial" panose="020B0604020202020204" pitchFamily="34" charset="0"/>
              <a:buAutoNum type="alphaLcParenBoth"/>
            </a:pPr>
            <a:r>
              <a:rPr lang="en-US" sz="2000">
                <a:solidFill>
                  <a:srgbClr val="000066"/>
                </a:solidFill>
              </a:rPr>
              <a:t>The only cross products where the unit vectors appear in the cyclic order. These products have the positive sign.</a:t>
            </a:r>
          </a:p>
          <a:p>
            <a:pPr marL="342900" indent="-342900">
              <a:buFont typeface="Arial" panose="020B0604020202020204" pitchFamily="34" charset="0"/>
              <a:buAutoNum type="alphaLcParenBoth"/>
            </a:pPr>
            <a:r>
              <a:rPr lang="en-US" sz="2000">
                <a:solidFill>
                  <a:srgbClr val="000066"/>
                </a:solidFill>
              </a:rPr>
              <a:t>(d) Two examples of cross products where the unit vectors do not appear in the cyclic order. These products have the negative sign.</a:t>
            </a:r>
            <a:endParaRPr lang="en-US" sz="2000" dirty="0">
              <a:solidFill>
                <a:srgbClr val="000066"/>
              </a:solidFill>
            </a:endParaRPr>
          </a:p>
        </p:txBody>
      </p:sp>
    </p:spTree>
    <p:extLst>
      <p:ext uri="{BB962C8B-B14F-4D97-AF65-F5344CB8AC3E}">
        <p14:creationId xmlns:p14="http://schemas.microsoft.com/office/powerpoint/2010/main" val="40538134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5C231EC-B9CD-1D44-B785-1CA898115C0B}"/>
              </a:ext>
            </a:extLst>
          </p:cNvPr>
          <p:cNvSpPr/>
          <p:nvPr/>
        </p:nvSpPr>
        <p:spPr>
          <a:xfrm>
            <a:off x="3755599" y="89044"/>
            <a:ext cx="7429500" cy="523220"/>
          </a:xfrm>
          <a:prstGeom prst="rect">
            <a:avLst/>
          </a:prstGeom>
        </p:spPr>
        <p:txBody>
          <a:bodyPr wrap="square">
            <a:spAutoFit/>
          </a:bodyPr>
          <a:lstStyle/>
          <a:p>
            <a:r>
              <a:rPr lang="en-US" sz="2800" dirty="0">
                <a:solidFill>
                  <a:srgbClr val="C00000"/>
                </a:solidFill>
                <a:latin typeface="NewBaskervilleStd-Roman"/>
              </a:rPr>
              <a:t>Products of Vectors </a:t>
            </a:r>
          </a:p>
        </p:txBody>
      </p:sp>
      <p:sp>
        <p:nvSpPr>
          <p:cNvPr id="4" name="Rectangle 3">
            <a:extLst>
              <a:ext uri="{FF2B5EF4-FFF2-40B4-BE49-F238E27FC236}">
                <a16:creationId xmlns:a16="http://schemas.microsoft.com/office/drawing/2014/main" id="{2A11BDF0-296C-154A-9B03-A0B4BE9360C3}"/>
              </a:ext>
            </a:extLst>
          </p:cNvPr>
          <p:cNvSpPr/>
          <p:nvPr/>
        </p:nvSpPr>
        <p:spPr>
          <a:xfrm>
            <a:off x="653287" y="1040715"/>
            <a:ext cx="6361876" cy="430887"/>
          </a:xfrm>
          <a:prstGeom prst="rect">
            <a:avLst/>
          </a:prstGeom>
        </p:spPr>
        <p:txBody>
          <a:bodyPr wrap="square">
            <a:spAutoFit/>
          </a:bodyPr>
          <a:lstStyle/>
          <a:p>
            <a:r>
              <a:rPr lang="en-US" sz="2200" dirty="0">
                <a:solidFill>
                  <a:srgbClr val="000066"/>
                </a:solidFill>
                <a:latin typeface="LiberationSerif"/>
              </a:rPr>
              <a:t>We can show that</a:t>
            </a:r>
          </a:p>
        </p:txBody>
      </p:sp>
      <p:pic>
        <p:nvPicPr>
          <p:cNvPr id="6" name="Picture 5">
            <a:extLst>
              <a:ext uri="{FF2B5EF4-FFF2-40B4-BE49-F238E27FC236}">
                <a16:creationId xmlns:a16="http://schemas.microsoft.com/office/drawing/2014/main" id="{1C1C2DC5-C1D5-0045-932A-0DF33B9F9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2262" y="954078"/>
            <a:ext cx="7467600" cy="546100"/>
          </a:xfrm>
          <a:prstGeom prst="rect">
            <a:avLst/>
          </a:prstGeom>
        </p:spPr>
      </p:pic>
      <p:sp>
        <p:nvSpPr>
          <p:cNvPr id="9" name="Rectangle 8">
            <a:extLst>
              <a:ext uri="{FF2B5EF4-FFF2-40B4-BE49-F238E27FC236}">
                <a16:creationId xmlns:a16="http://schemas.microsoft.com/office/drawing/2014/main" id="{D17BAF62-5B2E-DC48-9C82-D515DF6A8907}"/>
              </a:ext>
            </a:extLst>
          </p:cNvPr>
          <p:cNvSpPr/>
          <p:nvPr/>
        </p:nvSpPr>
        <p:spPr>
          <a:xfrm>
            <a:off x="547687" y="1672570"/>
            <a:ext cx="9144000" cy="430887"/>
          </a:xfrm>
          <a:prstGeom prst="rect">
            <a:avLst/>
          </a:prstGeom>
        </p:spPr>
        <p:txBody>
          <a:bodyPr wrap="square">
            <a:spAutoFit/>
          </a:bodyPr>
          <a:lstStyle/>
          <a:p>
            <a:r>
              <a:rPr lang="en-US" sz="2200" dirty="0">
                <a:solidFill>
                  <a:srgbClr val="000066"/>
                </a:solidFill>
                <a:latin typeface="LiberationSerif"/>
              </a:rPr>
              <a:t>In this expression, the scalar components of the cross-product vector are </a:t>
            </a:r>
            <a:endParaRPr lang="en-US" sz="2200" dirty="0">
              <a:solidFill>
                <a:srgbClr val="000066"/>
              </a:solidFill>
            </a:endParaRPr>
          </a:p>
        </p:txBody>
      </p:sp>
      <p:pic>
        <p:nvPicPr>
          <p:cNvPr id="11" name="Picture 10" descr="Text, letter&#10;&#10;Description automatically generated">
            <a:extLst>
              <a:ext uri="{FF2B5EF4-FFF2-40B4-BE49-F238E27FC236}">
                <a16:creationId xmlns:a16="http://schemas.microsoft.com/office/drawing/2014/main" id="{D2652826-9CA9-C441-976E-47321C84BD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6925" y="2173605"/>
            <a:ext cx="2624959" cy="1234440"/>
          </a:xfrm>
          <a:prstGeom prst="rect">
            <a:avLst/>
          </a:prstGeom>
        </p:spPr>
      </p:pic>
      <p:sp>
        <p:nvSpPr>
          <p:cNvPr id="14" name="Rectangle 13">
            <a:extLst>
              <a:ext uri="{FF2B5EF4-FFF2-40B4-BE49-F238E27FC236}">
                <a16:creationId xmlns:a16="http://schemas.microsoft.com/office/drawing/2014/main" id="{37BB5CD3-C064-4E4E-B4D7-173C8467DE9B}"/>
              </a:ext>
            </a:extLst>
          </p:cNvPr>
          <p:cNvSpPr/>
          <p:nvPr/>
        </p:nvSpPr>
        <p:spPr>
          <a:xfrm>
            <a:off x="4752975" y="3746085"/>
            <a:ext cx="5195886" cy="400110"/>
          </a:xfrm>
          <a:prstGeom prst="rect">
            <a:avLst/>
          </a:prstGeom>
        </p:spPr>
        <p:txBody>
          <a:bodyPr wrap="square">
            <a:spAutoFit/>
          </a:bodyPr>
          <a:lstStyle/>
          <a:p>
            <a:r>
              <a:rPr lang="en-US" sz="2000" dirty="0">
                <a:solidFill>
                  <a:srgbClr val="0000CC"/>
                </a:solidFill>
              </a:rPr>
              <a:t>Assignment 7</a:t>
            </a:r>
          </a:p>
        </p:txBody>
      </p:sp>
      <p:pic>
        <p:nvPicPr>
          <p:cNvPr id="16" name="Picture 15" descr="Diagram, text&#10;&#10;Description automatically generated with medium confidence">
            <a:extLst>
              <a:ext uri="{FF2B5EF4-FFF2-40B4-BE49-F238E27FC236}">
                <a16:creationId xmlns:a16="http://schemas.microsoft.com/office/drawing/2014/main" id="{7ED9CA12-BFA3-6342-9430-02F5C38394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2975" y="4146195"/>
            <a:ext cx="5719234" cy="1600200"/>
          </a:xfrm>
          <a:prstGeom prst="rect">
            <a:avLst/>
          </a:prstGeom>
        </p:spPr>
      </p:pic>
      <p:pic>
        <p:nvPicPr>
          <p:cNvPr id="17" name="Picture Placeholder 1" descr="A photograph of a student’s hand, working on a problem with an open textbook, a calculator, and an eraser.">
            <a:extLst>
              <a:ext uri="{FF2B5EF4-FFF2-40B4-BE49-F238E27FC236}">
                <a16:creationId xmlns:a16="http://schemas.microsoft.com/office/drawing/2014/main" id="{0E94068E-74E2-1349-85A9-3B43BF3B5DFB}"/>
              </a:ext>
            </a:extLst>
          </p:cNvPr>
          <p:cNvPicPr>
            <a:picLocks noChangeAspect="1"/>
          </p:cNvPicPr>
          <p:nvPr/>
        </p:nvPicPr>
        <p:blipFill>
          <a:blip r:embed="rId6" cstate="email">
            <a:extLst>
              <a:ext uri="{28A0092B-C50C-407E-A947-70E740481C1C}">
                <a14:useLocalDpi xmlns:a14="http://schemas.microsoft.com/office/drawing/2010/main" val="0"/>
              </a:ext>
            </a:extLst>
          </a:blip>
          <a:srcRect l="-26893" r="-26893"/>
          <a:stretch>
            <a:fillRect/>
          </a:stretch>
        </p:blipFill>
        <p:spPr>
          <a:xfrm>
            <a:off x="0" y="4031895"/>
            <a:ext cx="4212902" cy="1828800"/>
          </a:xfrm>
          <a:prstGeom prst="rect">
            <a:avLst/>
          </a:prstGeom>
        </p:spPr>
      </p:pic>
      <p:sp>
        <p:nvSpPr>
          <p:cNvPr id="18" name="Text Placeholder 6">
            <a:extLst>
              <a:ext uri="{FF2B5EF4-FFF2-40B4-BE49-F238E27FC236}">
                <a16:creationId xmlns:a16="http://schemas.microsoft.com/office/drawing/2014/main" id="{7EDBE9CC-943E-A740-959C-0CBCBC6F9B0F}"/>
              </a:ext>
            </a:extLst>
          </p:cNvPr>
          <p:cNvSpPr txBox="1">
            <a:spLocks/>
          </p:cNvSpPr>
          <p:nvPr/>
        </p:nvSpPr>
        <p:spPr>
          <a:xfrm>
            <a:off x="596136" y="5832746"/>
            <a:ext cx="3102312" cy="88238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Tree>
    <p:extLst>
      <p:ext uri="{BB962C8B-B14F-4D97-AF65-F5344CB8AC3E}">
        <p14:creationId xmlns:p14="http://schemas.microsoft.com/office/powerpoint/2010/main" val="3417910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2845</TotalTime>
  <Words>2274</Words>
  <Application>Microsoft Office PowerPoint</Application>
  <PresentationFormat>Widescreen</PresentationFormat>
  <Paragraphs>214</Paragraphs>
  <Slides>36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Arial</vt:lpstr>
      <vt:lpstr>Calibri</vt:lpstr>
      <vt:lpstr>Calibri Light</vt:lpstr>
      <vt:lpstr>Cambria Math</vt:lpstr>
      <vt:lpstr>LiberationSans</vt:lpstr>
      <vt:lpstr>LiberationSerif</vt:lpstr>
      <vt:lpstr>NewBaskervilleStd-Bold</vt:lpstr>
      <vt:lpstr>NewBaskervilleStd-Italic</vt:lpstr>
      <vt:lpstr>NewBaskervilleStd-Roman</vt:lpstr>
      <vt:lpstr>STIXGeneral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135</cp:revision>
  <dcterms:created xsi:type="dcterms:W3CDTF">2020-07-24T02:56:39Z</dcterms:created>
  <dcterms:modified xsi:type="dcterms:W3CDTF">2021-12-15T17:52:23Z</dcterms:modified>
</cp:coreProperties>
</file>