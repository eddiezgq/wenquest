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98" r:id="rId2"/>
    <p:sldId id="574" r:id="rId3"/>
    <p:sldId id="611" r:id="rId4"/>
    <p:sldId id="605" r:id="rId5"/>
    <p:sldId id="606" r:id="rId6"/>
    <p:sldId id="607" r:id="rId7"/>
    <p:sldId id="608" r:id="rId8"/>
    <p:sldId id="609" r:id="rId9"/>
    <p:sldId id="610" r:id="rId10"/>
    <p:sldId id="612" r:id="rId11"/>
    <p:sldId id="618" r:id="rId12"/>
    <p:sldId id="619" r:id="rId13"/>
    <p:sldId id="613" r:id="rId14"/>
    <p:sldId id="620" r:id="rId15"/>
    <p:sldId id="621" r:id="rId16"/>
    <p:sldId id="622" r:id="rId17"/>
    <p:sldId id="623" r:id="rId18"/>
    <p:sldId id="614" r:id="rId19"/>
    <p:sldId id="615" r:id="rId20"/>
    <p:sldId id="624" r:id="rId21"/>
    <p:sldId id="625" r:id="rId22"/>
    <p:sldId id="626" r:id="rId23"/>
    <p:sldId id="629" r:id="rId24"/>
    <p:sldId id="627" r:id="rId25"/>
    <p:sldId id="628" r:id="rId26"/>
    <p:sldId id="616" r:id="rId27"/>
    <p:sldId id="630" r:id="rId28"/>
    <p:sldId id="631" r:id="rId29"/>
    <p:sldId id="632" r:id="rId30"/>
    <p:sldId id="617" r:id="rId31"/>
    <p:sldId id="634" r:id="rId32"/>
    <p:sldId id="633" r:id="rId33"/>
    <p:sldId id="635" r:id="rId34"/>
    <p:sldId id="637" r:id="rId35"/>
    <p:sldId id="366"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124D"/>
    <a:srgbClr val="0000CC"/>
    <a:srgbClr val="FF6600"/>
    <a:srgbClr val="008000"/>
    <a:srgbClr val="003399"/>
    <a:srgbClr val="F1DBB7"/>
    <a:srgbClr val="000066"/>
    <a:srgbClr val="3611D3"/>
    <a:srgbClr val="FFE3BD"/>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17" autoAdjust="0"/>
    <p:restoredTop sz="94113" autoAdjust="0"/>
  </p:normalViewPr>
  <p:slideViewPr>
    <p:cSldViewPr snapToGrid="0">
      <p:cViewPr varScale="1">
        <p:scale>
          <a:sx n="78" d="100"/>
          <a:sy n="78" d="100"/>
        </p:scale>
        <p:origin x="667"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A8A30-7305-4ECD-9707-8185AE31915A}" type="datetimeFigureOut">
              <a:rPr lang="en-US" smtClean="0"/>
              <a:t>12/15/2021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271F1-787B-4F17-8E58-0893057F05A7}" type="slidenum">
              <a:rPr lang="en-US" smtClean="0"/>
              <a:t>‹#›</a:t>
            </a:fld>
            <a:endParaRPr lang="en-US"/>
          </a:p>
        </p:txBody>
      </p:sp>
    </p:spTree>
    <p:extLst>
      <p:ext uri="{BB962C8B-B14F-4D97-AF65-F5344CB8AC3E}">
        <p14:creationId xmlns:p14="http://schemas.microsoft.com/office/powerpoint/2010/main" val="1295167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792334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677311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0256117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9486571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6CE86D-487B-4DC5-AD96-B605C5D30EBA}" type="datetimeFigureOut">
              <a:rPr lang="en-US" smtClean="0"/>
              <a:t>12/15/2021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3568542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6CE86D-487B-4DC5-AD96-B605C5D30EBA}" type="datetimeFigureOut">
              <a:rPr lang="en-US" smtClean="0"/>
              <a:t>12/15/2021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711035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6CE86D-487B-4DC5-AD96-B605C5D30EBA}" type="datetimeFigureOut">
              <a:rPr lang="en-US" smtClean="0"/>
              <a:t>12/15/2021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649651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5890743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491786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41952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424427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CE86D-487B-4DC5-AD96-B605C5D30EBA}" type="datetimeFigureOut">
              <a:rPr lang="en-US" smtClean="0"/>
              <a:t>12/15/2021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1DDD8-2086-495A-9395-F2E7DBF98025}" type="slidenum">
              <a:rPr lang="en-US" smtClean="0"/>
              <a:t>‹#›</a:t>
            </a:fld>
            <a:endParaRPr lang="en-US"/>
          </a:p>
        </p:txBody>
      </p:sp>
    </p:spTree>
    <p:extLst>
      <p:ext uri="{BB962C8B-B14F-4D97-AF65-F5344CB8AC3E}">
        <p14:creationId xmlns:p14="http://schemas.microsoft.com/office/powerpoint/2010/main" val="1868795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openstax.org/details/books/university-physics-volume-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0.jpg"/><Relationship Id="rId7" Type="http://schemas.openxmlformats.org/officeDocument/2006/relationships/image" Target="../media/image2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21.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jp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3.jp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3.jp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jp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2.png"/><Relationship Id="rId10" Type="http://schemas.openxmlformats.org/officeDocument/2006/relationships/image" Target="../media/image53.png"/><Relationship Id="rId4" Type="http://schemas.openxmlformats.org/officeDocument/2006/relationships/image" Target="../media/image48.png"/><Relationship Id="rId9" Type="http://schemas.openxmlformats.org/officeDocument/2006/relationships/image" Target="../media/image52.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s>
</file>

<file path=ppt/slides/_rels/slide2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55.png"/><Relationship Id="rId7" Type="http://schemas.openxmlformats.org/officeDocument/2006/relationships/image" Target="../media/image6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0.png"/><Relationship Id="rId10" Type="http://schemas.openxmlformats.org/officeDocument/2006/relationships/image" Target="../media/image58.png"/><Relationship Id="rId4" Type="http://schemas.openxmlformats.org/officeDocument/2006/relationships/image" Target="../media/image59.png"/><Relationship Id="rId9"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3.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4.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s>
</file>

<file path=ppt/slides/_rels/slide25.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89.pn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8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87.png"/><Relationship Id="rId5" Type="http://schemas.openxmlformats.org/officeDocument/2006/relationships/image" Target="../media/image82.png"/><Relationship Id="rId10" Type="http://schemas.openxmlformats.org/officeDocument/2006/relationships/image" Target="../media/image86.png"/><Relationship Id="rId4" Type="http://schemas.openxmlformats.org/officeDocument/2006/relationships/image" Target="../media/image81.png"/><Relationship Id="rId9" Type="http://schemas.openxmlformats.org/officeDocument/2006/relationships/image" Target="../media/image850.png"/></Relationships>
</file>

<file path=ppt/slides/_rels/slide26.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27.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28.xml.rels><?xml version="1.0" encoding="UTF-8" standalone="yes"?>
<Relationships xmlns="http://schemas.openxmlformats.org/package/2006/relationships"><Relationship Id="rId3" Type="http://schemas.openxmlformats.org/officeDocument/2006/relationships/image" Target="../media/image97.jp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2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100.jpeg"/><Relationship Id="rId4" Type="http://schemas.openxmlformats.org/officeDocument/2006/relationships/image" Target="../media/image99.png"/></Relationships>
</file>

<file path=ppt/slides/_rels/slide30.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1.jpg"/><Relationship Id="rId7" Type="http://schemas.openxmlformats.org/officeDocument/2006/relationships/image" Target="../media/image10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s>
</file>

<file path=ppt/slides/_rels/slide31.xml.rels><?xml version="1.0" encoding="UTF-8" standalone="yes"?>
<Relationships xmlns="http://schemas.openxmlformats.org/package/2006/relationships"><Relationship Id="rId3" Type="http://schemas.openxmlformats.org/officeDocument/2006/relationships/image" Target="../media/image110.jp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3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3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3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s>
</file>

<file path=ppt/slides/_rels/slide35.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3.xml"/><Relationship Id="rId4"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1000" r="-11000"/>
          </a:stretch>
        </a:blipFill>
        <a:effectLst/>
      </p:bgPr>
    </p:bg>
    <p:spTree>
      <p:nvGrpSpPr>
        <p:cNvPr id="1" name=""/>
        <p:cNvGrpSpPr/>
        <p:nvPr/>
      </p:nvGrpSpPr>
      <p:grpSpPr>
        <a:xfrm>
          <a:off x="0" y="0"/>
          <a:ext cx="0" cy="0"/>
          <a:chOff x="0" y="0"/>
          <a:chExt cx="0" cy="0"/>
        </a:xfrm>
      </p:grpSpPr>
      <p:sp>
        <p:nvSpPr>
          <p:cNvPr id="70" name="Freeform: Shape 69">
            <a:extLst>
              <a:ext uri="{FF2B5EF4-FFF2-40B4-BE49-F238E27FC236}">
                <a16:creationId xmlns:a16="http://schemas.microsoft.com/office/drawing/2014/main" id="{0C526D66-3621-4347-B1EF-342CBF4D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66"/>
            <a:ext cx="5393770" cy="6374535"/>
          </a:xfrm>
          <a:custGeom>
            <a:avLst/>
            <a:gdLst>
              <a:gd name="connsiteX0" fmla="*/ 2047752 w 5393770"/>
              <a:gd name="connsiteY0" fmla="*/ 0 h 6374535"/>
              <a:gd name="connsiteX1" fmla="*/ 5393770 w 5393770"/>
              <a:gd name="connsiteY1" fmla="*/ 3346018 h 6374535"/>
              <a:gd name="connsiteX2" fmla="*/ 3642663 w 5393770"/>
              <a:gd name="connsiteY2" fmla="*/ 6288190 h 6374535"/>
              <a:gd name="connsiteX3" fmla="*/ 3463422 w 5393770"/>
              <a:gd name="connsiteY3" fmla="*/ 6374535 h 6374535"/>
              <a:gd name="connsiteX4" fmla="*/ 624279 w 5393770"/>
              <a:gd name="connsiteY4" fmla="*/ 6374535 h 6374535"/>
              <a:gd name="connsiteX5" fmla="*/ 382249 w 5393770"/>
              <a:gd name="connsiteY5" fmla="*/ 6248727 h 6374535"/>
              <a:gd name="connsiteX6" fmla="*/ 143729 w 5393770"/>
              <a:gd name="connsiteY6" fmla="*/ 6097845 h 6374535"/>
              <a:gd name="connsiteX7" fmla="*/ 0 w 5393770"/>
              <a:gd name="connsiteY7" fmla="*/ 5989017 h 6374535"/>
              <a:gd name="connsiteX8" fmla="*/ 0 w 5393770"/>
              <a:gd name="connsiteY8" fmla="*/ 703020 h 6374535"/>
              <a:gd name="connsiteX9" fmla="*/ 143728 w 5393770"/>
              <a:gd name="connsiteY9" fmla="*/ 594191 h 6374535"/>
              <a:gd name="connsiteX10" fmla="*/ 2047752 w 5393770"/>
              <a:gd name="connsiteY10" fmla="*/ 0 h 637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3770" h="6374535">
                <a:moveTo>
                  <a:pt x="2047752" y="0"/>
                </a:moveTo>
                <a:cubicBezTo>
                  <a:pt x="3895707" y="0"/>
                  <a:pt x="5393770" y="1498063"/>
                  <a:pt x="5393770" y="3346018"/>
                </a:cubicBezTo>
                <a:cubicBezTo>
                  <a:pt x="5393770" y="4616487"/>
                  <a:pt x="4685701" y="5721578"/>
                  <a:pt x="3642663" y="6288190"/>
                </a:cubicBezTo>
                <a:lnTo>
                  <a:pt x="3463422" y="6374535"/>
                </a:lnTo>
                <a:lnTo>
                  <a:pt x="624279" y="6374535"/>
                </a:lnTo>
                <a:lnTo>
                  <a:pt x="382249" y="6248727"/>
                </a:lnTo>
                <a:cubicBezTo>
                  <a:pt x="300507" y="6201724"/>
                  <a:pt x="220937" y="6151368"/>
                  <a:pt x="143729" y="6097845"/>
                </a:cubicBezTo>
                <a:lnTo>
                  <a:pt x="0" y="5989017"/>
                </a:lnTo>
                <a:lnTo>
                  <a:pt x="0" y="703020"/>
                </a:lnTo>
                <a:lnTo>
                  <a:pt x="143728" y="594191"/>
                </a:lnTo>
                <a:cubicBezTo>
                  <a:pt x="684187" y="219535"/>
                  <a:pt x="1340332" y="0"/>
                  <a:pt x="2047752"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0193166D-DDF1-4F9A-A786-A7AEF5375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7373"/>
            <a:ext cx="5229863" cy="6210629"/>
          </a:xfrm>
          <a:custGeom>
            <a:avLst/>
            <a:gdLst>
              <a:gd name="connsiteX0" fmla="*/ 2047751 w 5229863"/>
              <a:gd name="connsiteY0" fmla="*/ 0 h 6210629"/>
              <a:gd name="connsiteX1" fmla="*/ 5229863 w 5229863"/>
              <a:gd name="connsiteY1" fmla="*/ 3182112 h 6210629"/>
              <a:gd name="connsiteX2" fmla="*/ 3286373 w 5229863"/>
              <a:gd name="connsiteY2" fmla="*/ 6114158 h 6210629"/>
              <a:gd name="connsiteX3" fmla="*/ 3022794 w 5229863"/>
              <a:gd name="connsiteY3" fmla="*/ 6210629 h 6210629"/>
              <a:gd name="connsiteX4" fmla="*/ 1077939 w 5229863"/>
              <a:gd name="connsiteY4" fmla="*/ 6210629 h 6210629"/>
              <a:gd name="connsiteX5" fmla="*/ 953634 w 5229863"/>
              <a:gd name="connsiteY5" fmla="*/ 6171135 h 6210629"/>
              <a:gd name="connsiteX6" fmla="*/ 23632 w 5229863"/>
              <a:gd name="connsiteY6" fmla="*/ 5637585 h 6210629"/>
              <a:gd name="connsiteX7" fmla="*/ 0 w 5229863"/>
              <a:gd name="connsiteY7" fmla="*/ 5616107 h 6210629"/>
              <a:gd name="connsiteX8" fmla="*/ 0 w 5229863"/>
              <a:gd name="connsiteY8" fmla="*/ 748118 h 6210629"/>
              <a:gd name="connsiteX9" fmla="*/ 23632 w 5229863"/>
              <a:gd name="connsiteY9" fmla="*/ 726640 h 6210629"/>
              <a:gd name="connsiteX10" fmla="*/ 2047751 w 5229863"/>
              <a:gd name="connsiteY10" fmla="*/ 0 h 621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9863" h="6210629">
                <a:moveTo>
                  <a:pt x="2047751" y="0"/>
                </a:moveTo>
                <a:cubicBezTo>
                  <a:pt x="3805183" y="0"/>
                  <a:pt x="5229863" y="1424680"/>
                  <a:pt x="5229863" y="3182112"/>
                </a:cubicBezTo>
                <a:cubicBezTo>
                  <a:pt x="5229863" y="4500186"/>
                  <a:pt x="4428481" y="5631087"/>
                  <a:pt x="3286373" y="6114158"/>
                </a:cubicBezTo>
                <a:lnTo>
                  <a:pt x="3022794" y="6210629"/>
                </a:lnTo>
                <a:lnTo>
                  <a:pt x="1077939" y="6210629"/>
                </a:lnTo>
                <a:lnTo>
                  <a:pt x="953634" y="6171135"/>
                </a:lnTo>
                <a:cubicBezTo>
                  <a:pt x="612471" y="6046219"/>
                  <a:pt x="298661" y="5864559"/>
                  <a:pt x="23632" y="5637585"/>
                </a:cubicBezTo>
                <a:lnTo>
                  <a:pt x="0" y="5616107"/>
                </a:lnTo>
                <a:lnTo>
                  <a:pt x="0" y="748118"/>
                </a:lnTo>
                <a:lnTo>
                  <a:pt x="23632" y="726640"/>
                </a:lnTo>
                <a:cubicBezTo>
                  <a:pt x="573689" y="272693"/>
                  <a:pt x="1278875" y="0"/>
                  <a:pt x="204775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8A177BCC-4208-4795-8572-4D623BA1E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3763" y="1"/>
            <a:ext cx="4480560" cy="2513993"/>
          </a:xfrm>
          <a:custGeom>
            <a:avLst/>
            <a:gdLst>
              <a:gd name="connsiteX0" fmla="*/ 18382 w 4480560"/>
              <a:gd name="connsiteY0" fmla="*/ 0 h 2513993"/>
              <a:gd name="connsiteX1" fmla="*/ 4462178 w 4480560"/>
              <a:gd name="connsiteY1" fmla="*/ 0 h 2513993"/>
              <a:gd name="connsiteX2" fmla="*/ 4468994 w 4480560"/>
              <a:gd name="connsiteY2" fmla="*/ 44657 h 2513993"/>
              <a:gd name="connsiteX3" fmla="*/ 4480560 w 4480560"/>
              <a:gd name="connsiteY3" fmla="*/ 273713 h 2513993"/>
              <a:gd name="connsiteX4" fmla="*/ 2240280 w 4480560"/>
              <a:gd name="connsiteY4" fmla="*/ 2513993 h 2513993"/>
              <a:gd name="connsiteX5" fmla="*/ 0 w 4480560"/>
              <a:gd name="connsiteY5" fmla="*/ 273713 h 2513993"/>
              <a:gd name="connsiteX6" fmla="*/ 11567 w 4480560"/>
              <a:gd name="connsiteY6" fmla="*/ 44657 h 251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0560" h="2513993">
                <a:moveTo>
                  <a:pt x="18382" y="0"/>
                </a:moveTo>
                <a:lnTo>
                  <a:pt x="4462178" y="0"/>
                </a:lnTo>
                <a:lnTo>
                  <a:pt x="4468994" y="44657"/>
                </a:lnTo>
                <a:cubicBezTo>
                  <a:pt x="4476642" y="119969"/>
                  <a:pt x="4480560" y="196384"/>
                  <a:pt x="4480560" y="273713"/>
                </a:cubicBezTo>
                <a:cubicBezTo>
                  <a:pt x="4480560" y="1510985"/>
                  <a:pt x="3477552" y="2513993"/>
                  <a:pt x="2240280" y="2513993"/>
                </a:cubicBezTo>
                <a:cubicBezTo>
                  <a:pt x="1003008" y="2513993"/>
                  <a:pt x="0" y="1510985"/>
                  <a:pt x="0" y="273713"/>
                </a:cubicBezTo>
                <a:cubicBezTo>
                  <a:pt x="0" y="196384"/>
                  <a:pt x="3918" y="119969"/>
                  <a:pt x="11567" y="4465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E4EE7214-AC05-465E-A501-65AA04EF5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98355" y="2"/>
            <a:ext cx="4151376" cy="2349401"/>
          </a:xfrm>
          <a:custGeom>
            <a:avLst/>
            <a:gdLst>
              <a:gd name="connsiteX0" fmla="*/ 20101 w 4151376"/>
              <a:gd name="connsiteY0" fmla="*/ 0 h 2349401"/>
              <a:gd name="connsiteX1" fmla="*/ 4131276 w 4151376"/>
              <a:gd name="connsiteY1" fmla="*/ 0 h 2349401"/>
              <a:gd name="connsiteX2" fmla="*/ 4140659 w 4151376"/>
              <a:gd name="connsiteY2" fmla="*/ 61486 h 2349401"/>
              <a:gd name="connsiteX3" fmla="*/ 4151376 w 4151376"/>
              <a:gd name="connsiteY3" fmla="*/ 273713 h 2349401"/>
              <a:gd name="connsiteX4" fmla="*/ 2075688 w 4151376"/>
              <a:gd name="connsiteY4" fmla="*/ 2349401 h 2349401"/>
              <a:gd name="connsiteX5" fmla="*/ 0 w 4151376"/>
              <a:gd name="connsiteY5" fmla="*/ 273713 h 2349401"/>
              <a:gd name="connsiteX6" fmla="*/ 10717 w 4151376"/>
              <a:gd name="connsiteY6" fmla="*/ 61486 h 23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1376" h="2349401">
                <a:moveTo>
                  <a:pt x="20101" y="0"/>
                </a:moveTo>
                <a:lnTo>
                  <a:pt x="4131276" y="0"/>
                </a:lnTo>
                <a:lnTo>
                  <a:pt x="4140659" y="61486"/>
                </a:lnTo>
                <a:cubicBezTo>
                  <a:pt x="4147746" y="131265"/>
                  <a:pt x="4151376" y="202065"/>
                  <a:pt x="4151376" y="273713"/>
                </a:cubicBezTo>
                <a:cubicBezTo>
                  <a:pt x="4151376" y="1420084"/>
                  <a:pt x="3222059" y="2349401"/>
                  <a:pt x="2075688" y="2349401"/>
                </a:cubicBezTo>
                <a:cubicBezTo>
                  <a:pt x="929317" y="2349401"/>
                  <a:pt x="0" y="1420084"/>
                  <a:pt x="0" y="273713"/>
                </a:cubicBezTo>
                <a:cubicBezTo>
                  <a:pt x="0" y="202065"/>
                  <a:pt x="3630" y="131265"/>
                  <a:pt x="10717" y="6148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2">
            <a:extLst>
              <a:ext uri="{FF2B5EF4-FFF2-40B4-BE49-F238E27FC236}">
                <a16:creationId xmlns:a16="http://schemas.microsoft.com/office/drawing/2014/main" id="{5E62A1D4-056C-4BD6-8BAE-F355EA770FD7}"/>
              </a:ext>
            </a:extLst>
          </p:cNvPr>
          <p:cNvSpPr txBox="1">
            <a:spLocks/>
          </p:cNvSpPr>
          <p:nvPr/>
        </p:nvSpPr>
        <p:spPr>
          <a:xfrm>
            <a:off x="6096000" y="3429000"/>
            <a:ext cx="5600965" cy="1069458"/>
          </a:xfrm>
          <a:prstGeom prst="rect">
            <a:avLst/>
          </a:prstGeom>
          <a:solidFill>
            <a:schemeClr val="accent6">
              <a:lumMod val="50000"/>
              <a:alpha val="0"/>
            </a:schemeClr>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t>Chapter 10 </a:t>
            </a:r>
          </a:p>
          <a:p>
            <a:pPr>
              <a:spcAft>
                <a:spcPts val="600"/>
              </a:spcAft>
            </a:pPr>
            <a:r>
              <a:rPr lang="en-US" altLang="en-US" sz="3200" dirty="0"/>
              <a:t>Fixed-Axis Rotation</a:t>
            </a:r>
          </a:p>
        </p:txBody>
      </p:sp>
      <p:sp>
        <p:nvSpPr>
          <p:cNvPr id="4" name="Rectangle 2">
            <a:extLst>
              <a:ext uri="{FF2B5EF4-FFF2-40B4-BE49-F238E27FC236}">
                <a16:creationId xmlns:a16="http://schemas.microsoft.com/office/drawing/2014/main" id="{0546D111-6592-4E70-8C6B-D34F7E8A89B8}"/>
              </a:ext>
            </a:extLst>
          </p:cNvPr>
          <p:cNvSpPr txBox="1">
            <a:spLocks/>
          </p:cNvSpPr>
          <p:nvPr/>
        </p:nvSpPr>
        <p:spPr>
          <a:xfrm>
            <a:off x="4578397" y="102044"/>
            <a:ext cx="5756227" cy="15876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solidFill>
                  <a:srgbClr val="0000CC"/>
                </a:solidFill>
              </a:rPr>
              <a:t>PHYS 2425  </a:t>
            </a:r>
          </a:p>
          <a:p>
            <a:pPr>
              <a:spcAft>
                <a:spcPts val="600"/>
              </a:spcAft>
            </a:pPr>
            <a:r>
              <a:rPr lang="en-US" altLang="en-US" sz="3200" dirty="0">
                <a:solidFill>
                  <a:srgbClr val="0000CC"/>
                </a:solidFill>
              </a:rPr>
              <a:t>Physics for Scientists </a:t>
            </a:r>
          </a:p>
          <a:p>
            <a:pPr>
              <a:spcAft>
                <a:spcPts val="600"/>
              </a:spcAft>
            </a:pPr>
            <a:r>
              <a:rPr lang="en-US" altLang="en-US" sz="3200" dirty="0">
                <a:solidFill>
                  <a:srgbClr val="0000CC"/>
                </a:solidFill>
              </a:rPr>
              <a:t>and Engineers I</a:t>
            </a:r>
          </a:p>
        </p:txBody>
      </p:sp>
      <p:pic>
        <p:nvPicPr>
          <p:cNvPr id="5" name="Picture 4" descr="A picture containing text&#10;&#10;Description automatically generated">
            <a:extLst>
              <a:ext uri="{FF2B5EF4-FFF2-40B4-BE49-F238E27FC236}">
                <a16:creationId xmlns:a16="http://schemas.microsoft.com/office/drawing/2014/main" id="{00364511-71A3-4D48-AC90-C9D92CFAE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35" y="1320950"/>
            <a:ext cx="3888245" cy="5029200"/>
          </a:xfrm>
          <a:prstGeom prst="rect">
            <a:avLst/>
          </a:prstGeom>
        </p:spPr>
      </p:pic>
      <p:sp>
        <p:nvSpPr>
          <p:cNvPr id="9" name="Rectangle 8">
            <a:extLst>
              <a:ext uri="{FF2B5EF4-FFF2-40B4-BE49-F238E27FC236}">
                <a16:creationId xmlns:a16="http://schemas.microsoft.com/office/drawing/2014/main" id="{524225FA-6C77-8B48-B8FF-D02A53285D2F}"/>
              </a:ext>
            </a:extLst>
          </p:cNvPr>
          <p:cNvSpPr/>
          <p:nvPr/>
        </p:nvSpPr>
        <p:spPr>
          <a:xfrm>
            <a:off x="895268" y="6317187"/>
            <a:ext cx="2018620" cy="553998"/>
          </a:xfrm>
          <a:prstGeom prst="rect">
            <a:avLst/>
          </a:prstGeom>
        </p:spPr>
        <p:txBody>
          <a:bodyPr wrap="square">
            <a:spAutoFit/>
          </a:bodyPr>
          <a:lstStyle/>
          <a:p>
            <a:r>
              <a:rPr lang="en-US" sz="1000" dirty="0">
                <a:solidFill>
                  <a:srgbClr val="A50021"/>
                </a:solidFill>
                <a:latin typeface="Calibri" panose="020F0502020204030204" pitchFamily="34" charset="0"/>
              </a:rPr>
              <a:t>Download the textbook for free at </a:t>
            </a:r>
            <a:r>
              <a:rPr lang="en-US" sz="1000" dirty="0">
                <a:solidFill>
                  <a:srgbClr val="A50021"/>
                </a:solidFill>
                <a:latin typeface="Calibri" panose="020F0502020204030204" pitchFamily="34" charset="0"/>
                <a:hlinkClick r:id="rId4"/>
              </a:rPr>
              <a:t>https://openstax.org/details/books/university-physics-volume-1</a:t>
            </a:r>
            <a:r>
              <a:rPr lang="en-US" sz="1000" dirty="0">
                <a:solidFill>
                  <a:srgbClr val="A50021"/>
                </a:solidFill>
                <a:latin typeface="Calibri" panose="020F0502020204030204" pitchFamily="34" charset="0"/>
              </a:rPr>
              <a:t> </a:t>
            </a:r>
            <a:endParaRPr lang="en-US" sz="1000" dirty="0">
              <a:solidFill>
                <a:srgbClr val="A50021"/>
              </a:solidFill>
              <a:effectLst/>
            </a:endParaRPr>
          </a:p>
        </p:txBody>
      </p:sp>
      <p:sp>
        <p:nvSpPr>
          <p:cNvPr id="10" name="Rectangle 9">
            <a:extLst>
              <a:ext uri="{FF2B5EF4-FFF2-40B4-BE49-F238E27FC236}">
                <a16:creationId xmlns:a16="http://schemas.microsoft.com/office/drawing/2014/main" id="{CF49F42D-A1FF-234B-BD25-2129A3225046}"/>
              </a:ext>
            </a:extLst>
          </p:cNvPr>
          <p:cNvSpPr/>
          <p:nvPr/>
        </p:nvSpPr>
        <p:spPr>
          <a:xfrm>
            <a:off x="8653670" y="6624964"/>
            <a:ext cx="3538329" cy="246221"/>
          </a:xfrm>
          <a:prstGeom prst="rect">
            <a:avLst/>
          </a:prstGeom>
        </p:spPr>
        <p:txBody>
          <a:bodyPr wrap="square">
            <a:spAutoFit/>
          </a:bodyPr>
          <a:lstStyle/>
          <a:p>
            <a:r>
              <a:rPr lang="en-US" sz="1000" dirty="0"/>
              <a:t>Image credit: modification of work by U.S. Department of Energy </a:t>
            </a: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Rotational Variables </a:t>
            </a:r>
          </a:p>
        </p:txBody>
      </p:sp>
      <p:sp>
        <p:nvSpPr>
          <p:cNvPr id="2" name="Rectangle 1">
            <a:extLst>
              <a:ext uri="{FF2B5EF4-FFF2-40B4-BE49-F238E27FC236}">
                <a16:creationId xmlns:a16="http://schemas.microsoft.com/office/drawing/2014/main" id="{BD78CC03-523B-3447-9545-8CE49B36F925}"/>
              </a:ext>
            </a:extLst>
          </p:cNvPr>
          <p:cNvSpPr/>
          <p:nvPr/>
        </p:nvSpPr>
        <p:spPr>
          <a:xfrm>
            <a:off x="424065" y="612264"/>
            <a:ext cx="10387370" cy="430887"/>
          </a:xfrm>
          <a:prstGeom prst="rect">
            <a:avLst/>
          </a:prstGeom>
        </p:spPr>
        <p:txBody>
          <a:bodyPr wrap="square">
            <a:spAutoFit/>
          </a:bodyPr>
          <a:lstStyle/>
          <a:p>
            <a:r>
              <a:rPr lang="en-US" sz="2200" dirty="0">
                <a:solidFill>
                  <a:srgbClr val="3B124D"/>
                </a:solidFill>
                <a:latin typeface="LiberationSerif"/>
              </a:rPr>
              <a:t>Uniform circular motion is motion in a circle at constant speed. </a:t>
            </a:r>
            <a:endParaRPr lang="en-US" sz="2200" dirty="0">
              <a:solidFill>
                <a:srgbClr val="3B124D"/>
              </a:solidFill>
            </a:endParaRPr>
          </a:p>
        </p:txBody>
      </p:sp>
      <p:pic>
        <p:nvPicPr>
          <p:cNvPr id="10" name="Picture Placeholder 1" descr="Figure is a graph that shows a particle moving counterclockwise. Vector r from the origin of the co-ordinate system to the point s on the pass of a particle forms an angle theta with the X axis.">
            <a:extLst>
              <a:ext uri="{FF2B5EF4-FFF2-40B4-BE49-F238E27FC236}">
                <a16:creationId xmlns:a16="http://schemas.microsoft.com/office/drawing/2014/main" id="{0F7BF4BD-3FDC-D44E-8F6F-F66464ADF584}"/>
              </a:ext>
            </a:extLst>
          </p:cNvPr>
          <p:cNvPicPr>
            <a:picLocks noChangeAspect="1"/>
          </p:cNvPicPr>
          <p:nvPr/>
        </p:nvPicPr>
        <p:blipFill>
          <a:blip r:embed="rId3" cstate="email">
            <a:extLst>
              <a:ext uri="{28A0092B-C50C-407E-A947-70E740481C1C}">
                <a14:useLocalDpi xmlns:a14="http://schemas.microsoft.com/office/drawing/2010/main" val="0"/>
              </a:ext>
            </a:extLst>
          </a:blip>
          <a:srcRect l="-43059" r="-43059"/>
          <a:stretch>
            <a:fillRect/>
          </a:stretch>
        </p:blipFill>
        <p:spPr>
          <a:xfrm>
            <a:off x="0" y="1135484"/>
            <a:ext cx="8062913" cy="3500071"/>
          </a:xfrm>
          <a:prstGeom prst="rect">
            <a:avLst/>
          </a:prstGeom>
        </p:spPr>
      </p:pic>
      <p:sp>
        <p:nvSpPr>
          <p:cNvPr id="11" name="Text Placeholder 6">
            <a:extLst>
              <a:ext uri="{FF2B5EF4-FFF2-40B4-BE49-F238E27FC236}">
                <a16:creationId xmlns:a16="http://schemas.microsoft.com/office/drawing/2014/main" id="{FA594150-758D-6743-B9C9-CD6294F5E943}"/>
              </a:ext>
            </a:extLst>
          </p:cNvPr>
          <p:cNvSpPr txBox="1">
            <a:spLocks/>
          </p:cNvSpPr>
          <p:nvPr/>
        </p:nvSpPr>
        <p:spPr>
          <a:xfrm>
            <a:off x="6602506" y="1325496"/>
            <a:ext cx="4633912" cy="192497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solidFill>
                  <a:srgbClr val="000066"/>
                </a:solidFill>
              </a:rPr>
              <a:t>A particle follows a circular path. As it moves counterclockwise, it sweeps out a positive angle </a:t>
            </a:r>
            <a:r>
              <a:rPr lang="el-GR" sz="2400" i="1" dirty="0">
                <a:solidFill>
                  <a:srgbClr val="000066"/>
                </a:solidFill>
                <a:latin typeface="STIXGeneral" pitchFamily="2" charset="2"/>
              </a:rPr>
              <a:t>θ </a:t>
            </a:r>
            <a:r>
              <a:rPr lang="en-US" sz="2200" dirty="0">
                <a:solidFill>
                  <a:srgbClr val="000066"/>
                </a:solidFill>
              </a:rPr>
              <a:t>with respect to the </a:t>
            </a:r>
            <a:r>
              <a:rPr lang="en-US" sz="2200" i="1" dirty="0">
                <a:solidFill>
                  <a:srgbClr val="000066"/>
                </a:solidFill>
              </a:rPr>
              <a:t>x</a:t>
            </a:r>
            <a:r>
              <a:rPr lang="en-US" sz="2200" dirty="0">
                <a:solidFill>
                  <a:srgbClr val="000066"/>
                </a:solidFill>
              </a:rPr>
              <a:t>-axis and traces out an arc of length </a:t>
            </a:r>
            <a:r>
              <a:rPr lang="en-US" sz="2200" i="1" dirty="0">
                <a:solidFill>
                  <a:srgbClr val="000066"/>
                </a:solidFill>
              </a:rPr>
              <a:t>s</a:t>
            </a:r>
            <a:r>
              <a:rPr lang="en-US" sz="2200" dirty="0">
                <a:solidFill>
                  <a:srgbClr val="000066"/>
                </a:solidFill>
              </a:rPr>
              <a:t>.</a:t>
            </a:r>
          </a:p>
        </p:txBody>
      </p:sp>
      <p:sp>
        <p:nvSpPr>
          <p:cNvPr id="3" name="Rectangle 2">
            <a:extLst>
              <a:ext uri="{FF2B5EF4-FFF2-40B4-BE49-F238E27FC236}">
                <a16:creationId xmlns:a16="http://schemas.microsoft.com/office/drawing/2014/main" id="{ECCB42DA-DB71-0C41-95C6-06DBE88D5004}"/>
              </a:ext>
            </a:extLst>
          </p:cNvPr>
          <p:cNvSpPr/>
          <p:nvPr/>
        </p:nvSpPr>
        <p:spPr>
          <a:xfrm>
            <a:off x="6602506" y="2886484"/>
            <a:ext cx="4827494" cy="769441"/>
          </a:xfrm>
          <a:prstGeom prst="rect">
            <a:avLst/>
          </a:prstGeom>
        </p:spPr>
        <p:txBody>
          <a:bodyPr wrap="square">
            <a:spAutoFit/>
          </a:bodyPr>
          <a:lstStyle/>
          <a:p>
            <a:r>
              <a:rPr lang="en-US" sz="2200" dirty="0">
                <a:solidFill>
                  <a:srgbClr val="C00000"/>
                </a:solidFill>
                <a:latin typeface="LiberationSerif"/>
              </a:rPr>
              <a:t>The angle is related to the radius of the circle and the arc length by </a:t>
            </a:r>
            <a:endParaRPr lang="en-US" sz="2200" dirty="0">
              <a:solidFill>
                <a:srgbClr val="C00000"/>
              </a:solidFill>
            </a:endParaRPr>
          </a:p>
        </p:txBody>
      </p:sp>
      <p:pic>
        <p:nvPicPr>
          <p:cNvPr id="7" name="Picture 6" descr="Text&#10;&#10;Description automatically generated">
            <a:extLst>
              <a:ext uri="{FF2B5EF4-FFF2-40B4-BE49-F238E27FC236}">
                <a16:creationId xmlns:a16="http://schemas.microsoft.com/office/drawing/2014/main" id="{7DD587D0-BBF5-634C-A1AF-D0F966CB15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36862" y="3655925"/>
            <a:ext cx="965200" cy="622300"/>
          </a:xfrm>
          <a:prstGeom prst="rect">
            <a:avLst/>
          </a:prstGeom>
        </p:spPr>
      </p:pic>
      <p:sp>
        <p:nvSpPr>
          <p:cNvPr id="8" name="Rectangle 7">
            <a:extLst>
              <a:ext uri="{FF2B5EF4-FFF2-40B4-BE49-F238E27FC236}">
                <a16:creationId xmlns:a16="http://schemas.microsoft.com/office/drawing/2014/main" id="{B8D0390E-94C4-464A-B35B-C722A38AE625}"/>
              </a:ext>
            </a:extLst>
          </p:cNvPr>
          <p:cNvSpPr/>
          <p:nvPr/>
        </p:nvSpPr>
        <p:spPr>
          <a:xfrm>
            <a:off x="6320538" y="4278225"/>
            <a:ext cx="5871462" cy="646331"/>
          </a:xfrm>
          <a:prstGeom prst="rect">
            <a:avLst/>
          </a:prstGeom>
        </p:spPr>
        <p:txBody>
          <a:bodyPr wrap="square">
            <a:spAutoFit/>
          </a:bodyPr>
          <a:lstStyle/>
          <a:p>
            <a:r>
              <a:rPr lang="en-US" dirty="0">
                <a:solidFill>
                  <a:srgbClr val="000066"/>
                </a:solidFill>
                <a:latin typeface="LiberationSerif"/>
              </a:rPr>
              <a:t>The angle </a:t>
            </a:r>
            <a:r>
              <a:rPr lang="el-GR" i="1" dirty="0">
                <a:solidFill>
                  <a:srgbClr val="000066"/>
                </a:solidFill>
                <a:latin typeface="STIXGeneral" pitchFamily="2" charset="2"/>
              </a:rPr>
              <a:t>θ </a:t>
            </a:r>
            <a:r>
              <a:rPr lang="el-GR" dirty="0">
                <a:solidFill>
                  <a:srgbClr val="000066"/>
                </a:solidFill>
                <a:latin typeface="LiberationSerif"/>
              </a:rPr>
              <a:t>, </a:t>
            </a:r>
            <a:r>
              <a:rPr lang="en-US" dirty="0">
                <a:solidFill>
                  <a:srgbClr val="000066"/>
                </a:solidFill>
                <a:latin typeface="LiberationSerif"/>
              </a:rPr>
              <a:t>the angular position of the particle along its path, has units of radians (rad). There are </a:t>
            </a:r>
            <a:r>
              <a:rPr lang="en-US" dirty="0">
                <a:solidFill>
                  <a:srgbClr val="000066"/>
                </a:solidFill>
                <a:latin typeface="STIXGeneral" pitchFamily="2" charset="2"/>
              </a:rPr>
              <a:t>2</a:t>
            </a:r>
            <a:r>
              <a:rPr lang="el-GR" i="1" dirty="0">
                <a:solidFill>
                  <a:srgbClr val="000066"/>
                </a:solidFill>
                <a:latin typeface="STIXGeneral" pitchFamily="2" charset="2"/>
              </a:rPr>
              <a:t>π </a:t>
            </a:r>
            <a:r>
              <a:rPr lang="en-US" dirty="0">
                <a:solidFill>
                  <a:srgbClr val="000066"/>
                </a:solidFill>
                <a:latin typeface="LiberationSerif"/>
              </a:rPr>
              <a:t>radians in </a:t>
            </a:r>
            <a:r>
              <a:rPr lang="en-US" dirty="0">
                <a:solidFill>
                  <a:srgbClr val="000066"/>
                </a:solidFill>
                <a:latin typeface="STIXGeneral" pitchFamily="2" charset="2"/>
              </a:rPr>
              <a:t>360°. </a:t>
            </a:r>
            <a:endParaRPr lang="en-US" dirty="0">
              <a:solidFill>
                <a:srgbClr val="000066"/>
              </a:solidFill>
            </a:endParaRPr>
          </a:p>
        </p:txBody>
      </p:sp>
      <p:sp>
        <p:nvSpPr>
          <p:cNvPr id="9" name="Rectangle 8">
            <a:extLst>
              <a:ext uri="{FF2B5EF4-FFF2-40B4-BE49-F238E27FC236}">
                <a16:creationId xmlns:a16="http://schemas.microsoft.com/office/drawing/2014/main" id="{5A670443-DB34-FF41-AF58-D51C49E28D87}"/>
              </a:ext>
            </a:extLst>
          </p:cNvPr>
          <p:cNvSpPr/>
          <p:nvPr/>
        </p:nvSpPr>
        <p:spPr>
          <a:xfrm>
            <a:off x="6320538" y="4825567"/>
            <a:ext cx="6096000" cy="646331"/>
          </a:xfrm>
          <a:prstGeom prst="rect">
            <a:avLst/>
          </a:prstGeom>
        </p:spPr>
        <p:txBody>
          <a:bodyPr>
            <a:spAutoFit/>
          </a:bodyPr>
          <a:lstStyle/>
          <a:p>
            <a:r>
              <a:rPr lang="en-US" dirty="0">
                <a:latin typeface="LiberationSerif"/>
              </a:rPr>
              <a:t>Radian is a ratio of length measurements, and therefore is a dimensionless quantity. </a:t>
            </a:r>
            <a:endParaRPr lang="en-US" dirty="0"/>
          </a:p>
        </p:txBody>
      </p:sp>
      <p:pic>
        <p:nvPicPr>
          <p:cNvPr id="12" name="Picture Placeholder 1" descr="Figure is an XYZ coordinate system that shows three vectors. Vector Theta points in the positive Z direction. Vector s is in the XY plane. Vector r is directed from the origin of the coordinate system to the beginning of the vector s.">
            <a:extLst>
              <a:ext uri="{FF2B5EF4-FFF2-40B4-BE49-F238E27FC236}">
                <a16:creationId xmlns:a16="http://schemas.microsoft.com/office/drawing/2014/main" id="{9057E54A-6AEB-3244-84F5-2CB8AF100CB4}"/>
              </a:ext>
            </a:extLst>
          </p:cNvPr>
          <p:cNvPicPr>
            <a:picLocks noChangeAspect="1"/>
          </p:cNvPicPr>
          <p:nvPr/>
        </p:nvPicPr>
        <p:blipFill>
          <a:blip r:embed="rId5">
            <a:extLst>
              <a:ext uri="{28A0092B-C50C-407E-A947-70E740481C1C}">
                <a14:useLocalDpi xmlns:a14="http://schemas.microsoft.com/office/drawing/2010/main" val="0"/>
              </a:ext>
            </a:extLst>
          </a:blip>
          <a:srcRect l="-53794" r="-53794"/>
          <a:stretch>
            <a:fillRect/>
          </a:stretch>
        </p:blipFill>
        <p:spPr>
          <a:xfrm>
            <a:off x="-1089213" y="4324868"/>
            <a:ext cx="5284695" cy="2294060"/>
          </a:xfrm>
          <a:prstGeom prst="rect">
            <a:avLst/>
          </a:prstGeom>
        </p:spPr>
      </p:pic>
      <mc:AlternateContent xmlns:mc="http://schemas.openxmlformats.org/markup-compatibility/2006" xmlns:a14="http://schemas.microsoft.com/office/drawing/2010/main">
        <mc:Choice Requires="a14">
          <p:sp>
            <p:nvSpPr>
              <p:cNvPr id="13" name="Text Placeholder 6">
                <a:extLst>
                  <a:ext uri="{FF2B5EF4-FFF2-40B4-BE49-F238E27FC236}">
                    <a16:creationId xmlns:a16="http://schemas.microsoft.com/office/drawing/2014/main" id="{B344103C-E337-7C41-AA3C-BE836C7977E6}"/>
                  </a:ext>
                </a:extLst>
              </p:cNvPr>
              <p:cNvSpPr txBox="1">
                <a:spLocks/>
              </p:cNvSpPr>
              <p:nvPr/>
            </p:nvSpPr>
            <p:spPr>
              <a:xfrm>
                <a:off x="2918010" y="5613352"/>
                <a:ext cx="9103659"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solidFill>
                      <a:srgbClr val="7030A0"/>
                    </a:solidFill>
                  </a:rPr>
                  <a:t>The angle vector points along the </a:t>
                </a:r>
                <a:r>
                  <a:rPr lang="en-US" sz="2200" i="1" dirty="0">
                    <a:solidFill>
                      <a:srgbClr val="7030A0"/>
                    </a:solidFill>
                  </a:rPr>
                  <a:t>z</a:t>
                </a:r>
                <a:r>
                  <a:rPr lang="en-US" sz="2200" dirty="0">
                    <a:solidFill>
                      <a:srgbClr val="7030A0"/>
                    </a:solidFill>
                  </a:rPr>
                  <a:t>-axis and the position vector and arc length vector both lie in the </a:t>
                </a:r>
                <a:r>
                  <a:rPr lang="en-US" sz="2200" i="1" dirty="0">
                    <a:solidFill>
                      <a:srgbClr val="7030A0"/>
                    </a:solidFill>
                  </a:rPr>
                  <a:t>xy</a:t>
                </a:r>
                <a:r>
                  <a:rPr lang="en-US" sz="2200" dirty="0">
                    <a:solidFill>
                      <a:srgbClr val="7030A0"/>
                    </a:solidFill>
                  </a:rPr>
                  <a:t>-plane. We see that </a:t>
                </a:r>
                <a14:m>
                  <m:oMath xmlns:m="http://schemas.openxmlformats.org/officeDocument/2006/math">
                    <m:acc>
                      <m:accPr>
                        <m:chr m:val="⃗"/>
                        <m:ctrlPr>
                          <a:rPr lang="en-US" sz="2200" i="1" smtClean="0">
                            <a:solidFill>
                              <a:schemeClr val="tx1"/>
                            </a:solidFill>
                            <a:latin typeface="Cambria Math" panose="02040503050406030204" pitchFamily="18" charset="0"/>
                          </a:rPr>
                        </m:ctrlPr>
                      </m:accPr>
                      <m:e>
                        <m:r>
                          <a:rPr lang="en-US" sz="2200" b="1" i="1" smtClean="0">
                            <a:solidFill>
                              <a:schemeClr val="tx1"/>
                            </a:solidFill>
                            <a:latin typeface="Cambria Math"/>
                          </a:rPr>
                          <m:t>𝒔</m:t>
                        </m:r>
                      </m:e>
                    </m:acc>
                    <m:r>
                      <a:rPr lang="en-US" sz="2200" i="1" smtClean="0">
                        <a:solidFill>
                          <a:schemeClr val="tx1"/>
                        </a:solidFill>
                        <a:latin typeface="Cambria Math"/>
                      </a:rPr>
                      <m:t> </m:t>
                    </m:r>
                    <m:r>
                      <a:rPr lang="en-US" sz="2200" i="1" smtClean="0">
                        <a:solidFill>
                          <a:schemeClr val="tx1"/>
                        </a:solidFill>
                        <a:latin typeface="Cambria Math"/>
                        <a:ea typeface="Cambria Math"/>
                      </a:rPr>
                      <m:t>= </m:t>
                    </m:r>
                    <m:acc>
                      <m:accPr>
                        <m:chr m:val="⃗"/>
                        <m:ctrlPr>
                          <a:rPr lang="en-US" sz="2200" i="1" smtClean="0">
                            <a:solidFill>
                              <a:schemeClr val="tx1"/>
                            </a:solidFill>
                            <a:latin typeface="Cambria Math" panose="02040503050406030204" pitchFamily="18" charset="0"/>
                            <a:ea typeface="Cambria Math"/>
                          </a:rPr>
                        </m:ctrlPr>
                      </m:accPr>
                      <m:e>
                        <m:r>
                          <a:rPr lang="en-US" sz="2200" b="1" i="1" smtClean="0">
                            <a:solidFill>
                              <a:schemeClr val="tx1"/>
                            </a:solidFill>
                            <a:latin typeface="Cambria Math"/>
                            <a:ea typeface="Cambria Math"/>
                          </a:rPr>
                          <m:t>𝜽</m:t>
                        </m:r>
                      </m:e>
                    </m:acc>
                    <m:r>
                      <a:rPr lang="en-US" sz="2200" b="1" i="1" smtClean="0">
                        <a:solidFill>
                          <a:schemeClr val="tx1"/>
                        </a:solidFill>
                        <a:latin typeface="Cambria Math"/>
                        <a:ea typeface="Cambria Math"/>
                      </a:rPr>
                      <m:t> </m:t>
                    </m:r>
                    <m:r>
                      <a:rPr lang="en-US" sz="2200" i="1" smtClean="0">
                        <a:solidFill>
                          <a:schemeClr val="tx1"/>
                        </a:solidFill>
                        <a:latin typeface="Cambria Math"/>
                        <a:ea typeface="Cambria Math"/>
                      </a:rPr>
                      <m:t>× </m:t>
                    </m:r>
                    <m:acc>
                      <m:accPr>
                        <m:chr m:val="⃗"/>
                        <m:ctrlPr>
                          <a:rPr lang="en-US" sz="2200" i="1" smtClean="0">
                            <a:solidFill>
                              <a:schemeClr val="tx1"/>
                            </a:solidFill>
                            <a:latin typeface="Cambria Math" panose="02040503050406030204" pitchFamily="18" charset="0"/>
                            <a:ea typeface="Cambria Math"/>
                          </a:rPr>
                        </m:ctrlPr>
                      </m:accPr>
                      <m:e>
                        <m:r>
                          <a:rPr lang="en-US" sz="2200" b="1" i="1" smtClean="0">
                            <a:solidFill>
                              <a:schemeClr val="tx1"/>
                            </a:solidFill>
                            <a:latin typeface="Cambria Math"/>
                            <a:ea typeface="Cambria Math"/>
                          </a:rPr>
                          <m:t>𝒓</m:t>
                        </m:r>
                      </m:e>
                    </m:acc>
                  </m:oMath>
                </a14:m>
                <a:r>
                  <a:rPr lang="en-US" sz="2200" dirty="0">
                    <a:solidFill>
                      <a:schemeClr val="tx1"/>
                    </a:solidFill>
                  </a:rPr>
                  <a:t>. </a:t>
                </a:r>
                <a:r>
                  <a:rPr lang="en-US" sz="2200" dirty="0">
                    <a:solidFill>
                      <a:srgbClr val="7030A0"/>
                    </a:solidFill>
                  </a:rPr>
                  <a:t>All three vectors are perpendicular to each other.</a:t>
                </a:r>
              </a:p>
            </p:txBody>
          </p:sp>
        </mc:Choice>
        <mc:Fallback xmlns="">
          <p:sp>
            <p:nvSpPr>
              <p:cNvPr id="13" name="Text Placeholder 6">
                <a:extLst>
                  <a:ext uri="{FF2B5EF4-FFF2-40B4-BE49-F238E27FC236}">
                    <a16:creationId xmlns:a16="http://schemas.microsoft.com/office/drawing/2014/main" id="{B344103C-E337-7C41-AA3C-BE836C7977E6}"/>
                  </a:ext>
                </a:extLst>
              </p:cNvPr>
              <p:cNvSpPr txBox="1">
                <a:spLocks noRot="1" noChangeAspect="1" noMove="1" noResize="1" noEditPoints="1" noAdjustHandles="1" noChangeArrowheads="1" noChangeShapeType="1" noTextEdit="1"/>
              </p:cNvSpPr>
              <p:nvPr/>
            </p:nvSpPr>
            <p:spPr>
              <a:xfrm>
                <a:off x="2918010" y="5613352"/>
                <a:ext cx="9103659" cy="1166382"/>
              </a:xfrm>
              <a:prstGeom prst="rect">
                <a:avLst/>
              </a:prstGeom>
              <a:blipFill>
                <a:blip r:embed="rId6"/>
                <a:stretch>
                  <a:fillRect l="-836" t="-7609" r="-557"/>
                </a:stretch>
              </a:blipFill>
            </p:spPr>
            <p:txBody>
              <a:bodyPr/>
              <a:lstStyle/>
              <a:p>
                <a:r>
                  <a:rPr lang="en-US">
                    <a:noFill/>
                  </a:rPr>
                  <a:t> </a:t>
                </a:r>
              </a:p>
            </p:txBody>
          </p:sp>
        </mc:Fallback>
      </mc:AlternateContent>
    </p:spTree>
    <p:extLst>
      <p:ext uri="{BB962C8B-B14F-4D97-AF65-F5344CB8AC3E}">
        <p14:creationId xmlns:p14="http://schemas.microsoft.com/office/powerpoint/2010/main" val="40524883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Rotational Variables </a:t>
            </a:r>
          </a:p>
        </p:txBody>
      </p:sp>
      <p:sp>
        <p:nvSpPr>
          <p:cNvPr id="2" name="Rectangle 1">
            <a:extLst>
              <a:ext uri="{FF2B5EF4-FFF2-40B4-BE49-F238E27FC236}">
                <a16:creationId xmlns:a16="http://schemas.microsoft.com/office/drawing/2014/main" id="{BD78CC03-523B-3447-9545-8CE49B36F925}"/>
              </a:ext>
            </a:extLst>
          </p:cNvPr>
          <p:cNvSpPr/>
          <p:nvPr/>
        </p:nvSpPr>
        <p:spPr>
          <a:xfrm>
            <a:off x="424065" y="612264"/>
            <a:ext cx="10387370" cy="430887"/>
          </a:xfrm>
          <a:prstGeom prst="rect">
            <a:avLst/>
          </a:prstGeom>
        </p:spPr>
        <p:txBody>
          <a:bodyPr wrap="square">
            <a:spAutoFit/>
          </a:bodyPr>
          <a:lstStyle/>
          <a:p>
            <a:r>
              <a:rPr lang="en-US" sz="2200" dirty="0">
                <a:solidFill>
                  <a:srgbClr val="3B124D"/>
                </a:solidFill>
                <a:latin typeface="LiberationSerif"/>
              </a:rPr>
              <a:t>Uniform circular motion is motion in a circle at constant speed. </a:t>
            </a:r>
            <a:endParaRPr lang="en-US" sz="2200" dirty="0">
              <a:solidFill>
                <a:srgbClr val="3B124D"/>
              </a:solidFill>
            </a:endParaRPr>
          </a:p>
        </p:txBody>
      </p:sp>
      <p:pic>
        <p:nvPicPr>
          <p:cNvPr id="10" name="Picture Placeholder 1" descr="Figure is a graph that shows a particle moving counterclockwise. Vector r from the origin of the co-ordinate system to the point s on the pass of a particle forms an angle theta with the X axis.">
            <a:extLst>
              <a:ext uri="{FF2B5EF4-FFF2-40B4-BE49-F238E27FC236}">
                <a16:creationId xmlns:a16="http://schemas.microsoft.com/office/drawing/2014/main" id="{0F7BF4BD-3FDC-D44E-8F6F-F66464ADF584}"/>
              </a:ext>
            </a:extLst>
          </p:cNvPr>
          <p:cNvPicPr>
            <a:picLocks noChangeAspect="1"/>
          </p:cNvPicPr>
          <p:nvPr/>
        </p:nvPicPr>
        <p:blipFill>
          <a:blip r:embed="rId3" cstate="email">
            <a:extLst>
              <a:ext uri="{28A0092B-C50C-407E-A947-70E740481C1C}">
                <a14:useLocalDpi xmlns:a14="http://schemas.microsoft.com/office/drawing/2010/main" val="0"/>
              </a:ext>
            </a:extLst>
          </a:blip>
          <a:srcRect l="-43059" r="-43059"/>
          <a:stretch>
            <a:fillRect/>
          </a:stretch>
        </p:blipFill>
        <p:spPr>
          <a:xfrm>
            <a:off x="0" y="1135484"/>
            <a:ext cx="8062913" cy="3500071"/>
          </a:xfrm>
          <a:prstGeom prst="rect">
            <a:avLst/>
          </a:prstGeom>
        </p:spPr>
      </p:pic>
      <p:sp>
        <p:nvSpPr>
          <p:cNvPr id="11" name="Text Placeholder 6">
            <a:extLst>
              <a:ext uri="{FF2B5EF4-FFF2-40B4-BE49-F238E27FC236}">
                <a16:creationId xmlns:a16="http://schemas.microsoft.com/office/drawing/2014/main" id="{FA594150-758D-6743-B9C9-CD6294F5E943}"/>
              </a:ext>
            </a:extLst>
          </p:cNvPr>
          <p:cNvSpPr txBox="1">
            <a:spLocks/>
          </p:cNvSpPr>
          <p:nvPr/>
        </p:nvSpPr>
        <p:spPr>
          <a:xfrm>
            <a:off x="6602506" y="1325496"/>
            <a:ext cx="4633912" cy="192497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solidFill>
                  <a:srgbClr val="000066"/>
                </a:solidFill>
              </a:rPr>
              <a:t>A particle follows a circular path. As it moves counterclockwise, it sweeps out a positive angle </a:t>
            </a:r>
            <a:r>
              <a:rPr lang="el-GR" sz="2400" i="1" dirty="0">
                <a:solidFill>
                  <a:srgbClr val="000066"/>
                </a:solidFill>
                <a:latin typeface="STIXGeneral" pitchFamily="2" charset="2"/>
              </a:rPr>
              <a:t>θ </a:t>
            </a:r>
            <a:r>
              <a:rPr lang="en-US" sz="2200" dirty="0">
                <a:solidFill>
                  <a:srgbClr val="000066"/>
                </a:solidFill>
              </a:rPr>
              <a:t>with respect to the </a:t>
            </a:r>
            <a:r>
              <a:rPr lang="en-US" sz="2200" i="1" dirty="0">
                <a:solidFill>
                  <a:srgbClr val="000066"/>
                </a:solidFill>
              </a:rPr>
              <a:t>x</a:t>
            </a:r>
            <a:r>
              <a:rPr lang="en-US" sz="2200" dirty="0">
                <a:solidFill>
                  <a:srgbClr val="000066"/>
                </a:solidFill>
              </a:rPr>
              <a:t>-axis and traces out an arc of length </a:t>
            </a:r>
            <a:r>
              <a:rPr lang="en-US" sz="2200" i="1" dirty="0">
                <a:solidFill>
                  <a:srgbClr val="000066"/>
                </a:solidFill>
              </a:rPr>
              <a:t>s</a:t>
            </a:r>
            <a:r>
              <a:rPr lang="en-US" sz="2200" dirty="0">
                <a:solidFill>
                  <a:srgbClr val="000066"/>
                </a:solidFill>
              </a:rPr>
              <a:t>.</a:t>
            </a:r>
          </a:p>
        </p:txBody>
      </p:sp>
      <p:sp>
        <p:nvSpPr>
          <p:cNvPr id="3" name="Rectangle 2">
            <a:extLst>
              <a:ext uri="{FF2B5EF4-FFF2-40B4-BE49-F238E27FC236}">
                <a16:creationId xmlns:a16="http://schemas.microsoft.com/office/drawing/2014/main" id="{ECCB42DA-DB71-0C41-95C6-06DBE88D5004}"/>
              </a:ext>
            </a:extLst>
          </p:cNvPr>
          <p:cNvSpPr/>
          <p:nvPr/>
        </p:nvSpPr>
        <p:spPr>
          <a:xfrm>
            <a:off x="6602506" y="2886484"/>
            <a:ext cx="4827494" cy="769441"/>
          </a:xfrm>
          <a:prstGeom prst="rect">
            <a:avLst/>
          </a:prstGeom>
        </p:spPr>
        <p:txBody>
          <a:bodyPr wrap="square">
            <a:spAutoFit/>
          </a:bodyPr>
          <a:lstStyle/>
          <a:p>
            <a:r>
              <a:rPr lang="en-US" sz="2200" dirty="0">
                <a:solidFill>
                  <a:srgbClr val="C00000"/>
                </a:solidFill>
                <a:latin typeface="LiberationSerif"/>
              </a:rPr>
              <a:t>The angle is related to the radius of the circle and the arc length by </a:t>
            </a:r>
            <a:endParaRPr lang="en-US" sz="2200" dirty="0">
              <a:solidFill>
                <a:srgbClr val="C00000"/>
              </a:solidFill>
            </a:endParaRPr>
          </a:p>
        </p:txBody>
      </p:sp>
      <p:pic>
        <p:nvPicPr>
          <p:cNvPr id="7" name="Picture 6" descr="Text&#10;&#10;Description automatically generated">
            <a:extLst>
              <a:ext uri="{FF2B5EF4-FFF2-40B4-BE49-F238E27FC236}">
                <a16:creationId xmlns:a16="http://schemas.microsoft.com/office/drawing/2014/main" id="{7DD587D0-BBF5-634C-A1AF-D0F966CB15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36862" y="3655925"/>
            <a:ext cx="965200" cy="622300"/>
          </a:xfrm>
          <a:prstGeom prst="rect">
            <a:avLst/>
          </a:prstGeom>
        </p:spPr>
      </p:pic>
      <p:sp>
        <p:nvSpPr>
          <p:cNvPr id="4" name="Rectangle 3">
            <a:extLst>
              <a:ext uri="{FF2B5EF4-FFF2-40B4-BE49-F238E27FC236}">
                <a16:creationId xmlns:a16="http://schemas.microsoft.com/office/drawing/2014/main" id="{04D790BE-953F-3742-BC21-212F008C91BF}"/>
              </a:ext>
            </a:extLst>
          </p:cNvPr>
          <p:cNvSpPr/>
          <p:nvPr/>
        </p:nvSpPr>
        <p:spPr>
          <a:xfrm>
            <a:off x="424065" y="4727888"/>
            <a:ext cx="11355559" cy="1446550"/>
          </a:xfrm>
          <a:prstGeom prst="rect">
            <a:avLst/>
          </a:prstGeom>
        </p:spPr>
        <p:txBody>
          <a:bodyPr wrap="square">
            <a:spAutoFit/>
          </a:bodyPr>
          <a:lstStyle/>
          <a:p>
            <a:r>
              <a:rPr lang="en-US" sz="2200" dirty="0">
                <a:latin typeface="LiberationSerif"/>
              </a:rPr>
              <a:t>The magnitude of the </a:t>
            </a:r>
            <a:r>
              <a:rPr lang="en-US" sz="2200" b="1" dirty="0">
                <a:solidFill>
                  <a:srgbClr val="C00000"/>
                </a:solidFill>
                <a:latin typeface="LiberationSerif"/>
              </a:rPr>
              <a:t>angular velocity</a:t>
            </a:r>
            <a:r>
              <a:rPr lang="en-US" sz="2200" dirty="0">
                <a:solidFill>
                  <a:srgbClr val="C00000"/>
                </a:solidFill>
                <a:latin typeface="LiberationSerif"/>
              </a:rPr>
              <a:t>, </a:t>
            </a:r>
            <a:r>
              <a:rPr lang="en-US" sz="2200" dirty="0">
                <a:latin typeface="LiberationSerif"/>
              </a:rPr>
              <a:t>denoted by </a:t>
            </a:r>
            <a:r>
              <a:rPr lang="el-GR" sz="2200" i="1" dirty="0">
                <a:latin typeface="STIXGeneral" pitchFamily="2" charset="2"/>
              </a:rPr>
              <a:t>ω </a:t>
            </a:r>
            <a:r>
              <a:rPr lang="el-GR" sz="2200" dirty="0">
                <a:latin typeface="LiberationSerif"/>
              </a:rPr>
              <a:t>, </a:t>
            </a:r>
            <a:r>
              <a:rPr lang="en-US" sz="2200" dirty="0">
                <a:latin typeface="LiberationSerif"/>
              </a:rPr>
              <a:t>is the time rate of change of the angle </a:t>
            </a:r>
            <a:r>
              <a:rPr lang="el-GR" sz="2200" i="1" dirty="0">
                <a:latin typeface="STIXGeneral" pitchFamily="2" charset="2"/>
              </a:rPr>
              <a:t>θ </a:t>
            </a:r>
            <a:r>
              <a:rPr lang="en-US" sz="2200" dirty="0">
                <a:latin typeface="LiberationSerif"/>
              </a:rPr>
              <a:t>as the particle moves in its circular path. The </a:t>
            </a:r>
            <a:r>
              <a:rPr lang="en-US" sz="2200" b="1" dirty="0">
                <a:solidFill>
                  <a:srgbClr val="C00000"/>
                </a:solidFill>
                <a:latin typeface="LiberationSerif"/>
              </a:rPr>
              <a:t>instantaneous angular velocity </a:t>
            </a:r>
            <a:r>
              <a:rPr lang="en-US" sz="2200" dirty="0">
                <a:latin typeface="LiberationSerif"/>
              </a:rPr>
              <a:t>is defined as the limit in which </a:t>
            </a:r>
            <a:r>
              <a:rPr lang="el-GR" sz="2200" dirty="0">
                <a:latin typeface="STIXGeneral" pitchFamily="2" charset="2"/>
              </a:rPr>
              <a:t>Δ</a:t>
            </a:r>
            <a:r>
              <a:rPr lang="en-US" sz="2200" i="1" dirty="0">
                <a:latin typeface="STIXGeneral" pitchFamily="2" charset="2"/>
              </a:rPr>
              <a:t>t </a:t>
            </a:r>
            <a:r>
              <a:rPr lang="en-US" sz="2200" dirty="0">
                <a:latin typeface="STIXGeneral" pitchFamily="2" charset="2"/>
              </a:rPr>
              <a:t>→ 0 in the average angular velocity </a:t>
            </a:r>
          </a:p>
          <a:p>
            <a:endParaRPr lang="en-US" sz="2200" dirty="0"/>
          </a:p>
        </p:txBody>
      </p:sp>
      <p:pic>
        <p:nvPicPr>
          <p:cNvPr id="15" name="Picture 14" descr="Text&#10;&#10;Description automatically generated">
            <a:extLst>
              <a:ext uri="{FF2B5EF4-FFF2-40B4-BE49-F238E27FC236}">
                <a16:creationId xmlns:a16="http://schemas.microsoft.com/office/drawing/2014/main" id="{CCC286E9-AF2E-814B-B313-A0FC851A25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3000" y="5871086"/>
            <a:ext cx="2413000" cy="749300"/>
          </a:xfrm>
          <a:prstGeom prst="rect">
            <a:avLst/>
          </a:prstGeom>
        </p:spPr>
      </p:pic>
      <p:sp>
        <p:nvSpPr>
          <p:cNvPr id="17" name="Rectangle 16">
            <a:extLst>
              <a:ext uri="{FF2B5EF4-FFF2-40B4-BE49-F238E27FC236}">
                <a16:creationId xmlns:a16="http://schemas.microsoft.com/office/drawing/2014/main" id="{C5AD5177-93EA-B74F-A44F-5724115F99DC}"/>
              </a:ext>
            </a:extLst>
          </p:cNvPr>
          <p:cNvSpPr/>
          <p:nvPr/>
        </p:nvSpPr>
        <p:spPr>
          <a:xfrm>
            <a:off x="6257559" y="5824814"/>
            <a:ext cx="5759188" cy="923330"/>
          </a:xfrm>
          <a:prstGeom prst="rect">
            <a:avLst/>
          </a:prstGeom>
        </p:spPr>
        <p:txBody>
          <a:bodyPr wrap="square">
            <a:spAutoFit/>
          </a:bodyPr>
          <a:lstStyle/>
          <a:p>
            <a:r>
              <a:rPr lang="en-US" dirty="0"/>
              <a:t>The units of angular velocity are radians per second </a:t>
            </a:r>
            <a:r>
              <a:rPr lang="en-US" dirty="0">
                <a:solidFill>
                  <a:srgbClr val="C00000"/>
                </a:solidFill>
              </a:rPr>
              <a:t>(rad/s). </a:t>
            </a:r>
          </a:p>
          <a:p>
            <a:r>
              <a:rPr lang="en-US" dirty="0">
                <a:solidFill>
                  <a:srgbClr val="3B124D"/>
                </a:solidFill>
                <a:latin typeface="LiberationSerif"/>
              </a:rPr>
              <a:t>We take </a:t>
            </a:r>
            <a:r>
              <a:rPr lang="en-US" dirty="0">
                <a:solidFill>
                  <a:srgbClr val="C00000"/>
                </a:solidFill>
                <a:latin typeface="LiberationSerif"/>
              </a:rPr>
              <a:t>counterclockwise rotations as being positive and clockwise rotations as negative.</a:t>
            </a:r>
            <a:endParaRPr lang="en-US" dirty="0">
              <a:solidFill>
                <a:srgbClr val="C00000"/>
              </a:solidFill>
            </a:endParaRPr>
          </a:p>
        </p:txBody>
      </p:sp>
    </p:spTree>
    <p:extLst>
      <p:ext uri="{BB962C8B-B14F-4D97-AF65-F5344CB8AC3E}">
        <p14:creationId xmlns:p14="http://schemas.microsoft.com/office/powerpoint/2010/main" val="22592982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Rotational Variables </a:t>
            </a:r>
          </a:p>
        </p:txBody>
      </p:sp>
      <p:sp>
        <p:nvSpPr>
          <p:cNvPr id="2" name="Rectangle 1">
            <a:extLst>
              <a:ext uri="{FF2B5EF4-FFF2-40B4-BE49-F238E27FC236}">
                <a16:creationId xmlns:a16="http://schemas.microsoft.com/office/drawing/2014/main" id="{5F83D471-0DC5-C242-BAB0-F41E09B8C3BC}"/>
              </a:ext>
            </a:extLst>
          </p:cNvPr>
          <p:cNvSpPr/>
          <p:nvPr/>
        </p:nvSpPr>
        <p:spPr>
          <a:xfrm>
            <a:off x="412376" y="612264"/>
            <a:ext cx="9767047" cy="430887"/>
          </a:xfrm>
          <a:prstGeom prst="rect">
            <a:avLst/>
          </a:prstGeom>
        </p:spPr>
        <p:txBody>
          <a:bodyPr wrap="square">
            <a:spAutoFit/>
          </a:bodyPr>
          <a:lstStyle/>
          <a:p>
            <a:r>
              <a:rPr lang="en-US" sz="2200" dirty="0">
                <a:solidFill>
                  <a:srgbClr val="7030A0"/>
                </a:solidFill>
                <a:latin typeface="LiberationSerif"/>
              </a:rPr>
              <a:t>The angular velocity is related to the tangential speed of the particle </a:t>
            </a:r>
            <a:endParaRPr lang="en-US" sz="2200" dirty="0">
              <a:solidFill>
                <a:srgbClr val="7030A0"/>
              </a:solidFill>
            </a:endParaRPr>
          </a:p>
        </p:txBody>
      </p:sp>
      <p:pic>
        <p:nvPicPr>
          <p:cNvPr id="4" name="Picture 3" descr="Diagram&#10;&#10;Description automatically generated">
            <a:extLst>
              <a:ext uri="{FF2B5EF4-FFF2-40B4-BE49-F238E27FC236}">
                <a16:creationId xmlns:a16="http://schemas.microsoft.com/office/drawing/2014/main" id="{04C3B6AB-E5E5-4A40-BE5D-5ABE175D21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0749" y="1135484"/>
            <a:ext cx="1130300" cy="558800"/>
          </a:xfrm>
          <a:prstGeom prst="rect">
            <a:avLst/>
          </a:prstGeom>
        </p:spPr>
      </p:pic>
      <p:pic>
        <p:nvPicPr>
          <p:cNvPr id="7" name="Picture Placeholder 1" descr="Figure shows two particles on a rotating disk. Particle 1 is at the distance r1 from the axis of rotation and moved with the speed v1. Particle 2 is at the distance r2 from the axis of rotation and moves with the speed v2.&#10;">
            <a:extLst>
              <a:ext uri="{FF2B5EF4-FFF2-40B4-BE49-F238E27FC236}">
                <a16:creationId xmlns:a16="http://schemas.microsoft.com/office/drawing/2014/main" id="{65E74B88-06CE-5443-BBE3-395632A5602A}"/>
              </a:ext>
            </a:extLst>
          </p:cNvPr>
          <p:cNvPicPr>
            <a:picLocks noChangeAspect="1"/>
          </p:cNvPicPr>
          <p:nvPr/>
        </p:nvPicPr>
        <p:blipFill>
          <a:blip r:embed="rId4" cstate="email">
            <a:extLst>
              <a:ext uri="{28A0092B-C50C-407E-A947-70E740481C1C}">
                <a14:useLocalDpi xmlns:a14="http://schemas.microsoft.com/office/drawing/2010/main" val="0"/>
              </a:ext>
            </a:extLst>
          </a:blip>
          <a:srcRect l="-36129" r="-36129"/>
          <a:stretch>
            <a:fillRect/>
          </a:stretch>
        </p:blipFill>
        <p:spPr>
          <a:xfrm>
            <a:off x="-1304365" y="2023339"/>
            <a:ext cx="8062913" cy="3500071"/>
          </a:xfrm>
          <a:prstGeom prst="rect">
            <a:avLst/>
          </a:prstGeom>
        </p:spPr>
      </p:pic>
      <p:sp>
        <p:nvSpPr>
          <p:cNvPr id="8" name="Text Placeholder 6">
            <a:extLst>
              <a:ext uri="{FF2B5EF4-FFF2-40B4-BE49-F238E27FC236}">
                <a16:creationId xmlns:a16="http://schemas.microsoft.com/office/drawing/2014/main" id="{BF66C997-6573-8241-96E4-3FE1500685A2}"/>
              </a:ext>
            </a:extLst>
          </p:cNvPr>
          <p:cNvSpPr txBox="1">
            <a:spLocks/>
          </p:cNvSpPr>
          <p:nvPr/>
        </p:nvSpPr>
        <p:spPr>
          <a:xfrm>
            <a:off x="551329" y="5647390"/>
            <a:ext cx="4351524" cy="115597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Two particles on a rotating disk have different tangential speeds, depending on their distance to the axis of rotation.</a:t>
            </a:r>
          </a:p>
        </p:txBody>
      </p:sp>
      <p:sp>
        <p:nvSpPr>
          <p:cNvPr id="9" name="Rectangle 8">
            <a:extLst>
              <a:ext uri="{FF2B5EF4-FFF2-40B4-BE49-F238E27FC236}">
                <a16:creationId xmlns:a16="http://schemas.microsoft.com/office/drawing/2014/main" id="{521A8A4B-21E5-484E-863F-B1379A256472}"/>
              </a:ext>
            </a:extLst>
          </p:cNvPr>
          <p:cNvSpPr/>
          <p:nvPr/>
        </p:nvSpPr>
        <p:spPr>
          <a:xfrm>
            <a:off x="5503436" y="1716410"/>
            <a:ext cx="6096000" cy="1107996"/>
          </a:xfrm>
          <a:prstGeom prst="rect">
            <a:avLst/>
          </a:prstGeom>
        </p:spPr>
        <p:txBody>
          <a:bodyPr>
            <a:spAutoFit/>
          </a:bodyPr>
          <a:lstStyle/>
          <a:p>
            <a:r>
              <a:rPr lang="en-US" sz="2200" dirty="0">
                <a:solidFill>
                  <a:srgbClr val="7030A0"/>
                </a:solidFill>
                <a:latin typeface="LiberationSerif"/>
              </a:rPr>
              <a:t>The tangential speed of the particle increases with its distance from the axis of rotation for a constant angular velocity. </a:t>
            </a:r>
            <a:endParaRPr lang="en-US" sz="2200" dirty="0">
              <a:solidFill>
                <a:srgbClr val="7030A0"/>
              </a:solidFill>
            </a:endParaRPr>
          </a:p>
        </p:txBody>
      </p:sp>
      <p:sp>
        <p:nvSpPr>
          <p:cNvPr id="11" name="Rectangle 10">
            <a:extLst>
              <a:ext uri="{FF2B5EF4-FFF2-40B4-BE49-F238E27FC236}">
                <a16:creationId xmlns:a16="http://schemas.microsoft.com/office/drawing/2014/main" id="{C100C924-3183-3343-A919-071251180EC7}"/>
              </a:ext>
            </a:extLst>
          </p:cNvPr>
          <p:cNvSpPr/>
          <p:nvPr/>
        </p:nvSpPr>
        <p:spPr>
          <a:xfrm>
            <a:off x="5503436" y="2794173"/>
            <a:ext cx="6383764" cy="1446550"/>
          </a:xfrm>
          <a:prstGeom prst="rect">
            <a:avLst/>
          </a:prstGeom>
        </p:spPr>
        <p:txBody>
          <a:bodyPr wrap="square">
            <a:spAutoFit/>
          </a:bodyPr>
          <a:lstStyle/>
          <a:p>
            <a:r>
              <a:rPr lang="en-US" sz="2200" dirty="0">
                <a:latin typeface="LiberationSerif"/>
              </a:rPr>
              <a:t>We see that </a:t>
            </a:r>
            <a:r>
              <a:rPr lang="en-US" sz="2200" i="1" dirty="0">
                <a:latin typeface="STIXGeneral" pitchFamily="2" charset="2"/>
              </a:rPr>
              <a:t>v</a:t>
            </a:r>
            <a:r>
              <a:rPr lang="en-US" sz="2200" baseline="-25000" dirty="0">
                <a:latin typeface="STIXGeneral" pitchFamily="2" charset="2"/>
              </a:rPr>
              <a:t>1</a:t>
            </a:r>
            <a:r>
              <a:rPr lang="en-US" sz="2200" dirty="0">
                <a:latin typeface="STIXGeneral" pitchFamily="2" charset="2"/>
              </a:rPr>
              <a:t> = </a:t>
            </a:r>
            <a:r>
              <a:rPr lang="en-US" sz="2200" i="1" dirty="0">
                <a:latin typeface="STIXGeneral" pitchFamily="2" charset="2"/>
              </a:rPr>
              <a:t>r</a:t>
            </a:r>
            <a:r>
              <a:rPr lang="en-US" sz="2200" baseline="-25000" dirty="0">
                <a:latin typeface="STIXGeneral" pitchFamily="2" charset="2"/>
              </a:rPr>
              <a:t>1</a:t>
            </a:r>
            <a:r>
              <a:rPr lang="en-US" sz="2200" dirty="0">
                <a:latin typeface="STIXGeneral" pitchFamily="2" charset="2"/>
              </a:rPr>
              <a:t> </a:t>
            </a:r>
            <a:r>
              <a:rPr lang="el-GR" sz="2200" i="1" dirty="0">
                <a:latin typeface="STIXGeneral" pitchFamily="2" charset="2"/>
              </a:rPr>
              <a:t>ω</a:t>
            </a:r>
            <a:r>
              <a:rPr lang="el-GR" sz="2200" baseline="-25000" dirty="0">
                <a:latin typeface="STIXGeneral" pitchFamily="2" charset="2"/>
              </a:rPr>
              <a:t>1</a:t>
            </a:r>
            <a:r>
              <a:rPr lang="el-GR" sz="2200" dirty="0">
                <a:latin typeface="STIXGeneral" pitchFamily="2" charset="2"/>
              </a:rPr>
              <a:t> </a:t>
            </a:r>
            <a:r>
              <a:rPr lang="en-US" sz="2200" dirty="0">
                <a:latin typeface="LiberationSerif"/>
              </a:rPr>
              <a:t>and </a:t>
            </a:r>
            <a:r>
              <a:rPr lang="en-US" sz="2200" i="1" dirty="0">
                <a:latin typeface="STIXGeneral" pitchFamily="2" charset="2"/>
              </a:rPr>
              <a:t>v</a:t>
            </a:r>
            <a:r>
              <a:rPr lang="en-US" sz="2200" baseline="-25000" dirty="0">
                <a:latin typeface="STIXGeneral" pitchFamily="2" charset="2"/>
              </a:rPr>
              <a:t>2</a:t>
            </a:r>
            <a:r>
              <a:rPr lang="en-US" sz="2200" dirty="0">
                <a:latin typeface="STIXGeneral" pitchFamily="2" charset="2"/>
              </a:rPr>
              <a:t> = </a:t>
            </a:r>
            <a:r>
              <a:rPr lang="en-US" sz="2200" i="1" dirty="0">
                <a:latin typeface="STIXGeneral" pitchFamily="2" charset="2"/>
              </a:rPr>
              <a:t>r</a:t>
            </a:r>
            <a:r>
              <a:rPr lang="en-US" sz="2200" baseline="-25000" dirty="0">
                <a:latin typeface="STIXGeneral" pitchFamily="2" charset="2"/>
              </a:rPr>
              <a:t>2</a:t>
            </a:r>
            <a:r>
              <a:rPr lang="en-US" sz="2200" dirty="0">
                <a:latin typeface="STIXGeneral" pitchFamily="2" charset="2"/>
              </a:rPr>
              <a:t> </a:t>
            </a:r>
            <a:r>
              <a:rPr lang="el-GR" sz="2200" i="1" dirty="0">
                <a:latin typeface="STIXGeneral" pitchFamily="2" charset="2"/>
              </a:rPr>
              <a:t>ω</a:t>
            </a:r>
            <a:r>
              <a:rPr lang="el-GR" sz="2200" baseline="-25000" dirty="0">
                <a:latin typeface="STIXGeneral" pitchFamily="2" charset="2"/>
              </a:rPr>
              <a:t>2</a:t>
            </a:r>
            <a:r>
              <a:rPr lang="el-GR" sz="2200" dirty="0">
                <a:latin typeface="STIXGeneral" pitchFamily="2" charset="2"/>
              </a:rPr>
              <a:t> </a:t>
            </a:r>
            <a:r>
              <a:rPr lang="el-GR" sz="2200" dirty="0">
                <a:latin typeface="LiberationSerif"/>
              </a:rPr>
              <a:t>. </a:t>
            </a:r>
            <a:r>
              <a:rPr lang="en-US" sz="2200" dirty="0">
                <a:latin typeface="LiberationSerif"/>
              </a:rPr>
              <a:t>But the disk has a constant angular velocity, so </a:t>
            </a:r>
            <a:r>
              <a:rPr lang="el-GR" sz="2200" i="1" dirty="0">
                <a:latin typeface="STIXGeneral" pitchFamily="2" charset="2"/>
              </a:rPr>
              <a:t>ω</a:t>
            </a:r>
            <a:r>
              <a:rPr lang="el-GR" sz="2200" baseline="-25000" dirty="0">
                <a:latin typeface="STIXGeneral" pitchFamily="2" charset="2"/>
              </a:rPr>
              <a:t>1</a:t>
            </a:r>
            <a:r>
              <a:rPr lang="el-GR" sz="2200" dirty="0">
                <a:latin typeface="STIXGeneral" pitchFamily="2" charset="2"/>
              </a:rPr>
              <a:t> = </a:t>
            </a:r>
            <a:r>
              <a:rPr lang="el-GR" sz="2200" i="1" dirty="0">
                <a:latin typeface="STIXGeneral" pitchFamily="2" charset="2"/>
              </a:rPr>
              <a:t>ω</a:t>
            </a:r>
            <a:r>
              <a:rPr lang="el-GR" sz="2200" baseline="-25000" dirty="0">
                <a:latin typeface="STIXGeneral" pitchFamily="2" charset="2"/>
              </a:rPr>
              <a:t>2</a:t>
            </a:r>
            <a:r>
              <a:rPr lang="el-GR" sz="2200" dirty="0">
                <a:latin typeface="STIXGeneral" pitchFamily="2" charset="2"/>
              </a:rPr>
              <a:t> </a:t>
            </a:r>
            <a:r>
              <a:rPr lang="el-GR" sz="2200" dirty="0">
                <a:latin typeface="LiberationSerif"/>
              </a:rPr>
              <a:t>. </a:t>
            </a:r>
            <a:r>
              <a:rPr lang="en-US" sz="2200" dirty="0">
                <a:latin typeface="LiberationSerif"/>
              </a:rPr>
              <a:t>This means</a:t>
            </a:r>
          </a:p>
          <a:p>
            <a:endParaRPr lang="en-US" sz="2200" dirty="0">
              <a:latin typeface="LiberationSerif"/>
            </a:endParaRPr>
          </a:p>
          <a:p>
            <a:r>
              <a:rPr lang="en-US" sz="2200" dirty="0">
                <a:latin typeface="LiberationSerif"/>
              </a:rPr>
              <a:t>					or</a:t>
            </a:r>
            <a:endParaRPr lang="en-US" sz="2200" dirty="0"/>
          </a:p>
        </p:txBody>
      </p:sp>
      <p:pic>
        <p:nvPicPr>
          <p:cNvPr id="13" name="Picture 12" descr="Diagram, text&#10;&#10;Description automatically generated">
            <a:extLst>
              <a:ext uri="{FF2B5EF4-FFF2-40B4-BE49-F238E27FC236}">
                <a16:creationId xmlns:a16="http://schemas.microsoft.com/office/drawing/2014/main" id="{51815AC6-1A29-134E-A6EF-FCCDD100BA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29785" y="3669728"/>
            <a:ext cx="1054100" cy="685800"/>
          </a:xfrm>
          <a:prstGeom prst="rect">
            <a:avLst/>
          </a:prstGeom>
        </p:spPr>
      </p:pic>
      <p:pic>
        <p:nvPicPr>
          <p:cNvPr id="15" name="Picture 14" descr="Text&#10;&#10;Description automatically generated">
            <a:extLst>
              <a:ext uri="{FF2B5EF4-FFF2-40B4-BE49-F238E27FC236}">
                <a16:creationId xmlns:a16="http://schemas.microsoft.com/office/drawing/2014/main" id="{E96F1585-7FA5-5947-B054-C3F471F799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36655" y="3606228"/>
            <a:ext cx="1358900" cy="749300"/>
          </a:xfrm>
          <a:prstGeom prst="rect">
            <a:avLst/>
          </a:prstGeom>
        </p:spPr>
      </p:pic>
      <p:sp>
        <p:nvSpPr>
          <p:cNvPr id="16" name="Rectangle 15">
            <a:extLst>
              <a:ext uri="{FF2B5EF4-FFF2-40B4-BE49-F238E27FC236}">
                <a16:creationId xmlns:a16="http://schemas.microsoft.com/office/drawing/2014/main" id="{1ED16929-98C5-3A4F-9C11-FFE575126BBF}"/>
              </a:ext>
            </a:extLst>
          </p:cNvPr>
          <p:cNvSpPr/>
          <p:nvPr/>
        </p:nvSpPr>
        <p:spPr>
          <a:xfrm>
            <a:off x="8208565" y="4482247"/>
            <a:ext cx="2090637" cy="369332"/>
          </a:xfrm>
          <a:prstGeom prst="rect">
            <a:avLst/>
          </a:prstGeom>
        </p:spPr>
        <p:txBody>
          <a:bodyPr wrap="none">
            <a:spAutoFit/>
          </a:bodyPr>
          <a:lstStyle/>
          <a:p>
            <a:r>
              <a:rPr lang="en-US" dirty="0">
                <a:latin typeface="LiberationSerif"/>
              </a:rPr>
              <a:t>since </a:t>
            </a:r>
            <a:r>
              <a:rPr lang="en-US" i="1" dirty="0">
                <a:latin typeface="STIXGeneral" pitchFamily="2" charset="2"/>
              </a:rPr>
              <a:t>r</a:t>
            </a:r>
            <a:r>
              <a:rPr lang="en-US" sz="1400" baseline="-25000" dirty="0">
                <a:latin typeface="STIXGeneral" pitchFamily="2" charset="2"/>
              </a:rPr>
              <a:t>2</a:t>
            </a:r>
            <a:r>
              <a:rPr lang="en-US" sz="1400" dirty="0">
                <a:latin typeface="STIXGeneral" pitchFamily="2" charset="2"/>
              </a:rPr>
              <a:t> </a:t>
            </a:r>
            <a:r>
              <a:rPr lang="en-US" dirty="0">
                <a:latin typeface="STIXGeneral" pitchFamily="2" charset="2"/>
              </a:rPr>
              <a:t>&gt; </a:t>
            </a:r>
            <a:r>
              <a:rPr lang="en-US" i="1" dirty="0">
                <a:latin typeface="STIXGeneral" pitchFamily="2" charset="2"/>
              </a:rPr>
              <a:t>r</a:t>
            </a:r>
            <a:r>
              <a:rPr lang="en-US" sz="1400" baseline="-25000" dirty="0">
                <a:latin typeface="STIXGeneral" pitchFamily="2" charset="2"/>
              </a:rPr>
              <a:t>1</a:t>
            </a:r>
            <a:r>
              <a:rPr lang="en-US" sz="1400" dirty="0">
                <a:latin typeface="STIXGeneral" pitchFamily="2" charset="2"/>
              </a:rPr>
              <a:t> </a:t>
            </a:r>
            <a:r>
              <a:rPr lang="en-US" dirty="0">
                <a:latin typeface="LiberationSerif"/>
              </a:rPr>
              <a:t>, </a:t>
            </a:r>
            <a:r>
              <a:rPr lang="en-US" i="1" dirty="0">
                <a:latin typeface="STIXGeneral" pitchFamily="2" charset="2"/>
              </a:rPr>
              <a:t>v</a:t>
            </a:r>
            <a:r>
              <a:rPr lang="en-US" sz="1400" baseline="-25000" dirty="0">
                <a:latin typeface="STIXGeneral" pitchFamily="2" charset="2"/>
              </a:rPr>
              <a:t>2</a:t>
            </a:r>
            <a:r>
              <a:rPr lang="en-US" sz="1400" dirty="0">
                <a:latin typeface="STIXGeneral" pitchFamily="2" charset="2"/>
              </a:rPr>
              <a:t> </a:t>
            </a:r>
            <a:r>
              <a:rPr lang="en-US" dirty="0">
                <a:latin typeface="STIXGeneral" pitchFamily="2" charset="2"/>
              </a:rPr>
              <a:t>&gt; </a:t>
            </a:r>
            <a:r>
              <a:rPr lang="en-US" i="1" dirty="0">
                <a:latin typeface="STIXGeneral" pitchFamily="2" charset="2"/>
              </a:rPr>
              <a:t>v</a:t>
            </a:r>
            <a:r>
              <a:rPr lang="en-US" sz="1400" baseline="-25000" dirty="0">
                <a:latin typeface="STIXGeneral" pitchFamily="2" charset="2"/>
              </a:rPr>
              <a:t>1</a:t>
            </a:r>
            <a:r>
              <a:rPr lang="en-US" sz="1400" dirty="0">
                <a:latin typeface="STIXGeneral" pitchFamily="2" charset="2"/>
              </a:rPr>
              <a:t> </a:t>
            </a:r>
            <a:endParaRPr lang="en-US" dirty="0"/>
          </a:p>
        </p:txBody>
      </p:sp>
      <p:sp>
        <p:nvSpPr>
          <p:cNvPr id="17" name="Rectangle 16">
            <a:extLst>
              <a:ext uri="{FF2B5EF4-FFF2-40B4-BE49-F238E27FC236}">
                <a16:creationId xmlns:a16="http://schemas.microsoft.com/office/drawing/2014/main" id="{1D5DC4D3-1B51-4D42-9065-8FA7B2151B88}"/>
              </a:ext>
            </a:extLst>
          </p:cNvPr>
          <p:cNvSpPr/>
          <p:nvPr/>
        </p:nvSpPr>
        <p:spPr>
          <a:xfrm>
            <a:off x="5527047" y="5330768"/>
            <a:ext cx="6234648" cy="1446550"/>
          </a:xfrm>
          <a:prstGeom prst="rect">
            <a:avLst/>
          </a:prstGeom>
        </p:spPr>
        <p:txBody>
          <a:bodyPr wrap="square">
            <a:spAutoFit/>
          </a:bodyPr>
          <a:lstStyle/>
          <a:p>
            <a:r>
              <a:rPr lang="en-US" sz="2200" dirty="0">
                <a:latin typeface="LiberationSerif"/>
              </a:rPr>
              <a:t>A compact disc rotates at 500 rev/min. </a:t>
            </a:r>
          </a:p>
          <a:p>
            <a:r>
              <a:rPr lang="en-US" sz="2200" dirty="0">
                <a:latin typeface="LiberationSerif"/>
              </a:rPr>
              <a:t>If the diameter of the disc is 120 mm, (a) what is the tangential speed of a point at the edge of the disc? (b) At a point halfway to the center of the disc? </a:t>
            </a:r>
            <a:endParaRPr lang="en-US" sz="2200" dirty="0"/>
          </a:p>
        </p:txBody>
      </p:sp>
      <p:sp>
        <p:nvSpPr>
          <p:cNvPr id="18" name="Rectangle 17">
            <a:extLst>
              <a:ext uri="{FF2B5EF4-FFF2-40B4-BE49-F238E27FC236}">
                <a16:creationId xmlns:a16="http://schemas.microsoft.com/office/drawing/2014/main" id="{6E147EE1-5CC6-2142-AFA0-D4C47FB0E8A3}"/>
              </a:ext>
            </a:extLst>
          </p:cNvPr>
          <p:cNvSpPr/>
          <p:nvPr/>
        </p:nvSpPr>
        <p:spPr>
          <a:xfrm>
            <a:off x="5527046" y="4953222"/>
            <a:ext cx="6096000" cy="769441"/>
          </a:xfrm>
          <a:prstGeom prst="rect">
            <a:avLst/>
          </a:prstGeom>
        </p:spPr>
        <p:txBody>
          <a:bodyPr wrap="square">
            <a:spAutoFit/>
          </a:bodyPr>
          <a:lstStyle/>
          <a:p>
            <a:r>
              <a:rPr lang="en-US" sz="2200" dirty="0">
                <a:solidFill>
                  <a:srgbClr val="0000CC"/>
                </a:solidFill>
              </a:rPr>
              <a:t>Assignment 1</a:t>
            </a:r>
          </a:p>
          <a:p>
            <a:endParaRPr lang="en-US" sz="2200" dirty="0">
              <a:solidFill>
                <a:srgbClr val="0000CC"/>
              </a:solidFill>
            </a:endParaRPr>
          </a:p>
        </p:txBody>
      </p:sp>
      <p:pic>
        <p:nvPicPr>
          <p:cNvPr id="20" name="Picture 19" descr="Text&#10;&#10;Description automatically generated">
            <a:extLst>
              <a:ext uri="{FF2B5EF4-FFF2-40B4-BE49-F238E27FC236}">
                <a16:creationId xmlns:a16="http://schemas.microsoft.com/office/drawing/2014/main" id="{A2988BAE-99E5-9B45-9F6E-C00407CE6C0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92720" y="5011557"/>
            <a:ext cx="1092200" cy="609600"/>
          </a:xfrm>
          <a:prstGeom prst="rect">
            <a:avLst/>
          </a:prstGeom>
        </p:spPr>
      </p:pic>
    </p:spTree>
    <p:extLst>
      <p:ext uri="{BB962C8B-B14F-4D97-AF65-F5344CB8AC3E}">
        <p14:creationId xmlns:p14="http://schemas.microsoft.com/office/powerpoint/2010/main" val="25025181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childTnLst>
                          </p:cTn>
                        </p:par>
                        <p:par>
                          <p:cTn id="11" fill="hold">
                            <p:stCondLst>
                              <p:cond delay="500"/>
                            </p:stCondLst>
                            <p:childTnLst>
                              <p:par>
                                <p:cTn id="12" presetID="3" presetClass="entr" presetSubtype="10" fill="hold" nodeType="after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blinds(horizontal)">
                                      <p:cBhvr>
                                        <p:cTn id="14" dur="2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Rotational Variables </a:t>
            </a:r>
          </a:p>
        </p:txBody>
      </p:sp>
      <p:pic>
        <p:nvPicPr>
          <p:cNvPr id="4" name="Picture Placeholder 1" descr="Figure is a graph that shows the XYZ coordinate system with the counterclockwise rotation in the XY plane. The angular velocity points in the positive Z-direction.">
            <a:extLst>
              <a:ext uri="{FF2B5EF4-FFF2-40B4-BE49-F238E27FC236}">
                <a16:creationId xmlns:a16="http://schemas.microsoft.com/office/drawing/2014/main" id="{16F76CC8-16D3-0546-B485-9664A7A7525C}"/>
              </a:ext>
            </a:extLst>
          </p:cNvPr>
          <p:cNvPicPr>
            <a:picLocks noChangeAspect="1"/>
          </p:cNvPicPr>
          <p:nvPr/>
        </p:nvPicPr>
        <p:blipFill>
          <a:blip r:embed="rId3">
            <a:extLst>
              <a:ext uri="{28A0092B-C50C-407E-A947-70E740481C1C}">
                <a14:useLocalDpi xmlns:a14="http://schemas.microsoft.com/office/drawing/2010/main" val="0"/>
              </a:ext>
            </a:extLst>
          </a:blip>
          <a:srcRect l="-261" r="-261"/>
          <a:stretch>
            <a:fillRect/>
          </a:stretch>
        </p:blipFill>
        <p:spPr>
          <a:xfrm>
            <a:off x="443753" y="631270"/>
            <a:ext cx="4032250" cy="5256213"/>
          </a:xfrm>
          <a:prstGeom prst="rect">
            <a:avLst/>
          </a:prstGeom>
        </p:spPr>
      </p:pic>
      <p:sp>
        <p:nvSpPr>
          <p:cNvPr id="7" name="Text Placeholder 13">
            <a:extLst>
              <a:ext uri="{FF2B5EF4-FFF2-40B4-BE49-F238E27FC236}">
                <a16:creationId xmlns:a16="http://schemas.microsoft.com/office/drawing/2014/main" id="{4E5D4D20-52C5-D944-B9F4-D48D314C290A}"/>
              </a:ext>
            </a:extLst>
          </p:cNvPr>
          <p:cNvSpPr txBox="1">
            <a:spLocks/>
          </p:cNvSpPr>
          <p:nvPr/>
        </p:nvSpPr>
        <p:spPr>
          <a:xfrm>
            <a:off x="121023" y="5898601"/>
            <a:ext cx="5109882" cy="111114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For counterclockwise rotation in the coordinate system shown, the angular velocity points in the positive </a:t>
            </a:r>
            <a:r>
              <a:rPr lang="en-US" sz="2000" i="1" dirty="0">
                <a:solidFill>
                  <a:srgbClr val="000066"/>
                </a:solidFill>
              </a:rPr>
              <a:t>z</a:t>
            </a:r>
            <a:r>
              <a:rPr lang="en-US" sz="2000" dirty="0">
                <a:solidFill>
                  <a:srgbClr val="000066"/>
                </a:solidFill>
              </a:rPr>
              <a:t>-direction by the right-hand-rule.</a:t>
            </a:r>
          </a:p>
        </p:txBody>
      </p:sp>
      <p:pic>
        <p:nvPicPr>
          <p:cNvPr id="8" name="Picture Placeholder 1" descr="Figure A is an XYZ coordinate system that shows three vectors. Vector Omega points in the positive Z direction. Vector v is in the XY plane. Vector r is directed from the origin of the coordinate system to the beginning of the vector v. Figure B is an XYZ coordinate system that shows three vectors. Vector Omega points in the negative Z direction. Vector v is in the XY plane. Vector r is directed from the origin of the coordinate system to the beginning of the vector v.">
            <a:extLst>
              <a:ext uri="{FF2B5EF4-FFF2-40B4-BE49-F238E27FC236}">
                <a16:creationId xmlns:a16="http://schemas.microsoft.com/office/drawing/2014/main" id="{334CBACA-C2D7-394A-803E-3A669C640208}"/>
              </a:ext>
            </a:extLst>
          </p:cNvPr>
          <p:cNvPicPr>
            <a:picLocks noChangeAspect="1"/>
          </p:cNvPicPr>
          <p:nvPr/>
        </p:nvPicPr>
        <p:blipFill>
          <a:blip r:embed="rId4">
            <a:extLst>
              <a:ext uri="{28A0092B-C50C-407E-A947-70E740481C1C}">
                <a14:useLocalDpi xmlns:a14="http://schemas.microsoft.com/office/drawing/2010/main" val="0"/>
              </a:ext>
            </a:extLst>
          </a:blip>
          <a:srcRect l="-3477" r="-3477"/>
          <a:stretch>
            <a:fillRect/>
          </a:stretch>
        </p:blipFill>
        <p:spPr>
          <a:xfrm>
            <a:off x="4254746" y="841606"/>
            <a:ext cx="8062913" cy="3500071"/>
          </a:xfrm>
          <a:prstGeom prst="rect">
            <a:avLst/>
          </a:prstGeom>
        </p:spPr>
      </p:pic>
      <p:sp>
        <p:nvSpPr>
          <p:cNvPr id="9" name="Text Placeholder 6">
            <a:extLst>
              <a:ext uri="{FF2B5EF4-FFF2-40B4-BE49-F238E27FC236}">
                <a16:creationId xmlns:a16="http://schemas.microsoft.com/office/drawing/2014/main" id="{09777A95-0899-AC40-9555-709DE85D4395}"/>
              </a:ext>
            </a:extLst>
          </p:cNvPr>
          <p:cNvSpPr txBox="1">
            <a:spLocks/>
          </p:cNvSpPr>
          <p:nvPr/>
        </p:nvSpPr>
        <p:spPr>
          <a:xfrm>
            <a:off x="4734859" y="4381006"/>
            <a:ext cx="7323943" cy="163538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7030A0"/>
                </a:solidFill>
              </a:rPr>
              <a:t>The vectors shown are the angular velocity, position, and tangential velocity.</a:t>
            </a:r>
          </a:p>
          <a:p>
            <a:pPr marL="342900" indent="-342900">
              <a:buFont typeface="Arial" panose="020B0604020202020204" pitchFamily="34" charset="0"/>
              <a:buAutoNum type="alphaLcParenBoth"/>
            </a:pPr>
            <a:r>
              <a:rPr lang="en-US" sz="1800" dirty="0">
                <a:solidFill>
                  <a:srgbClr val="7030A0"/>
                </a:solidFill>
              </a:rPr>
              <a:t>The angular velocity points in the positive </a:t>
            </a:r>
            <a:r>
              <a:rPr lang="en-US" sz="1800" i="1" dirty="0">
                <a:solidFill>
                  <a:srgbClr val="7030A0"/>
                </a:solidFill>
              </a:rPr>
              <a:t>z-</a:t>
            </a:r>
            <a:r>
              <a:rPr lang="en-US" sz="1800" dirty="0">
                <a:solidFill>
                  <a:srgbClr val="7030A0"/>
                </a:solidFill>
              </a:rPr>
              <a:t>direction, giving a counterclockwise rotation in the </a:t>
            </a:r>
            <a:r>
              <a:rPr lang="en-US" sz="1800" i="1" dirty="0" err="1">
                <a:solidFill>
                  <a:srgbClr val="7030A0"/>
                </a:solidFill>
              </a:rPr>
              <a:t>xy</a:t>
            </a:r>
            <a:r>
              <a:rPr lang="en-US" sz="1800" i="1" dirty="0">
                <a:solidFill>
                  <a:srgbClr val="7030A0"/>
                </a:solidFill>
              </a:rPr>
              <a:t>-</a:t>
            </a:r>
            <a:r>
              <a:rPr lang="en-US" sz="1800" dirty="0">
                <a:solidFill>
                  <a:srgbClr val="7030A0"/>
                </a:solidFill>
              </a:rPr>
              <a:t>plane.</a:t>
            </a:r>
          </a:p>
          <a:p>
            <a:pPr marL="342900" indent="-342900">
              <a:buFont typeface="Arial" panose="020B0604020202020204" pitchFamily="34" charset="0"/>
              <a:buAutoNum type="alphaLcParenBoth"/>
            </a:pPr>
            <a:r>
              <a:rPr lang="en-US" sz="1800" dirty="0">
                <a:solidFill>
                  <a:srgbClr val="7030A0"/>
                </a:solidFill>
              </a:rPr>
              <a:t>The angular velocity points in the negative </a:t>
            </a:r>
            <a:r>
              <a:rPr lang="en-US" sz="1800" i="1" dirty="0">
                <a:solidFill>
                  <a:srgbClr val="7030A0"/>
                </a:solidFill>
              </a:rPr>
              <a:t>z</a:t>
            </a:r>
            <a:r>
              <a:rPr lang="en-US" sz="1800" dirty="0">
                <a:solidFill>
                  <a:srgbClr val="7030A0"/>
                </a:solidFill>
              </a:rPr>
              <a:t>-direction, giving a clockwise rotation.</a:t>
            </a:r>
          </a:p>
        </p:txBody>
      </p:sp>
      <p:sp>
        <p:nvSpPr>
          <p:cNvPr id="2" name="Rectangle 1">
            <a:extLst>
              <a:ext uri="{FF2B5EF4-FFF2-40B4-BE49-F238E27FC236}">
                <a16:creationId xmlns:a16="http://schemas.microsoft.com/office/drawing/2014/main" id="{B7A3894F-8B68-6E4B-86CA-66B462D10263}"/>
              </a:ext>
            </a:extLst>
          </p:cNvPr>
          <p:cNvSpPr/>
          <p:nvPr/>
        </p:nvSpPr>
        <p:spPr>
          <a:xfrm>
            <a:off x="6320492" y="5843944"/>
            <a:ext cx="6096000" cy="880369"/>
          </a:xfrm>
          <a:prstGeom prst="rect">
            <a:avLst/>
          </a:prstGeom>
        </p:spPr>
        <p:txBody>
          <a:bodyPr>
            <a:spAutoFit/>
          </a:bodyPr>
          <a:lstStyle/>
          <a:p>
            <a:pPr>
              <a:lnSpc>
                <a:spcPct val="150000"/>
              </a:lnSpc>
            </a:pPr>
            <a:r>
              <a:rPr lang="en-US" dirty="0">
                <a:solidFill>
                  <a:srgbClr val="C00000"/>
                </a:solidFill>
                <a:latin typeface="LiberationSerif"/>
              </a:rPr>
              <a:t>The tangential velocity is the cross product of the angular velocity and the position vector </a:t>
            </a:r>
            <a:endParaRPr lang="en-US" dirty="0">
              <a:solidFill>
                <a:srgbClr val="C00000"/>
              </a:solidFill>
            </a:endParaRPr>
          </a:p>
        </p:txBody>
      </p:sp>
      <p:pic>
        <p:nvPicPr>
          <p:cNvPr id="10" name="Picture 9" descr="A picture containing icon&#10;&#10;Description automatically generated">
            <a:extLst>
              <a:ext uri="{FF2B5EF4-FFF2-40B4-BE49-F238E27FC236}">
                <a16:creationId xmlns:a16="http://schemas.microsoft.com/office/drawing/2014/main" id="{FFE10A30-51D2-6D4D-BB6B-463E862EBF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08833" y="6283724"/>
            <a:ext cx="1765300" cy="431800"/>
          </a:xfrm>
          <a:prstGeom prst="rect">
            <a:avLst/>
          </a:prstGeom>
        </p:spPr>
      </p:pic>
    </p:spTree>
    <p:extLst>
      <p:ext uri="{BB962C8B-B14F-4D97-AF65-F5344CB8AC3E}">
        <p14:creationId xmlns:p14="http://schemas.microsoft.com/office/powerpoint/2010/main" val="286038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Rotational Variables </a:t>
            </a:r>
          </a:p>
        </p:txBody>
      </p:sp>
      <p:sp>
        <p:nvSpPr>
          <p:cNvPr id="2" name="Rectangle 1">
            <a:extLst>
              <a:ext uri="{FF2B5EF4-FFF2-40B4-BE49-F238E27FC236}">
                <a16:creationId xmlns:a16="http://schemas.microsoft.com/office/drawing/2014/main" id="{5302A285-EA96-B94F-A395-B416B931E368}"/>
              </a:ext>
            </a:extLst>
          </p:cNvPr>
          <p:cNvSpPr/>
          <p:nvPr/>
        </p:nvSpPr>
        <p:spPr>
          <a:xfrm>
            <a:off x="789952" y="617610"/>
            <a:ext cx="2692532" cy="430887"/>
          </a:xfrm>
          <a:prstGeom prst="rect">
            <a:avLst/>
          </a:prstGeom>
        </p:spPr>
        <p:txBody>
          <a:bodyPr wrap="none">
            <a:spAutoFit/>
          </a:bodyPr>
          <a:lstStyle/>
          <a:p>
            <a:r>
              <a:rPr lang="en-US" sz="2200" b="1" dirty="0">
                <a:solidFill>
                  <a:srgbClr val="008000"/>
                </a:solidFill>
                <a:latin typeface="LiberationSans"/>
              </a:rPr>
              <a:t>Angular Acceleration </a:t>
            </a:r>
            <a:endParaRPr lang="en-US" sz="2200" dirty="0">
              <a:solidFill>
                <a:srgbClr val="008000"/>
              </a:solidFill>
            </a:endParaRPr>
          </a:p>
        </p:txBody>
      </p:sp>
      <p:sp>
        <p:nvSpPr>
          <p:cNvPr id="3" name="Rectangle 2">
            <a:extLst>
              <a:ext uri="{FF2B5EF4-FFF2-40B4-BE49-F238E27FC236}">
                <a16:creationId xmlns:a16="http://schemas.microsoft.com/office/drawing/2014/main" id="{34F5A982-58BE-434A-AC07-49E67A4EC4A4}"/>
              </a:ext>
            </a:extLst>
          </p:cNvPr>
          <p:cNvSpPr/>
          <p:nvPr/>
        </p:nvSpPr>
        <p:spPr>
          <a:xfrm>
            <a:off x="789952" y="986942"/>
            <a:ext cx="10612096" cy="400110"/>
          </a:xfrm>
          <a:prstGeom prst="rect">
            <a:avLst/>
          </a:prstGeom>
        </p:spPr>
        <p:txBody>
          <a:bodyPr wrap="square">
            <a:spAutoFit/>
          </a:bodyPr>
          <a:lstStyle/>
          <a:p>
            <a:r>
              <a:rPr lang="en-US" sz="2000" dirty="0">
                <a:latin typeface="LiberationSerif"/>
              </a:rPr>
              <a:t>The </a:t>
            </a:r>
            <a:r>
              <a:rPr lang="en-US" sz="2000" b="1" dirty="0">
                <a:solidFill>
                  <a:srgbClr val="C00000"/>
                </a:solidFill>
                <a:latin typeface="LiberationSerif"/>
              </a:rPr>
              <a:t>instantaneous angular acceleration </a:t>
            </a:r>
            <a:r>
              <a:rPr lang="el-GR" sz="2000" i="1" dirty="0">
                <a:latin typeface="STIXGeneral" pitchFamily="2" charset="2"/>
              </a:rPr>
              <a:t>α </a:t>
            </a:r>
            <a:r>
              <a:rPr lang="en-US" sz="2000" dirty="0">
                <a:latin typeface="LiberationSerif"/>
              </a:rPr>
              <a:t>is the derivative of angular velocity with respect to time: </a:t>
            </a:r>
            <a:endParaRPr lang="en-US" sz="2000" dirty="0"/>
          </a:p>
        </p:txBody>
      </p:sp>
      <p:sp>
        <p:nvSpPr>
          <p:cNvPr id="4" name="Rectangle 3">
            <a:extLst>
              <a:ext uri="{FF2B5EF4-FFF2-40B4-BE49-F238E27FC236}">
                <a16:creationId xmlns:a16="http://schemas.microsoft.com/office/drawing/2014/main" id="{3D43E7D3-1EE3-4748-8E4A-B0C7373299F4}"/>
              </a:ext>
            </a:extLst>
          </p:cNvPr>
          <p:cNvSpPr/>
          <p:nvPr/>
        </p:nvSpPr>
        <p:spPr>
          <a:xfrm>
            <a:off x="4110118" y="2259890"/>
            <a:ext cx="7655859" cy="369332"/>
          </a:xfrm>
          <a:prstGeom prst="rect">
            <a:avLst/>
          </a:prstGeom>
        </p:spPr>
        <p:txBody>
          <a:bodyPr wrap="square">
            <a:spAutoFit/>
          </a:bodyPr>
          <a:lstStyle/>
          <a:p>
            <a:r>
              <a:rPr lang="en-US" dirty="0">
                <a:latin typeface="LiberationSerif"/>
              </a:rPr>
              <a:t>where we have taken the limit of the average angular acceleration </a:t>
            </a:r>
            <a:endParaRPr lang="en-US" dirty="0"/>
          </a:p>
        </p:txBody>
      </p:sp>
      <p:pic>
        <p:nvPicPr>
          <p:cNvPr id="8" name="Picture 7" descr="Text&#10;&#10;Description automatically generated">
            <a:extLst>
              <a:ext uri="{FF2B5EF4-FFF2-40B4-BE49-F238E27FC236}">
                <a16:creationId xmlns:a16="http://schemas.microsoft.com/office/drawing/2014/main" id="{D18AA62F-78C8-EF4F-8D0F-C6EDE63435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0256" y="1459043"/>
            <a:ext cx="3149600" cy="787400"/>
          </a:xfrm>
          <a:prstGeom prst="rect">
            <a:avLst/>
          </a:prstGeom>
        </p:spPr>
      </p:pic>
      <p:pic>
        <p:nvPicPr>
          <p:cNvPr id="10" name="Picture 9" descr="Text&#10;&#10;Description automatically generated">
            <a:extLst>
              <a:ext uri="{FF2B5EF4-FFF2-40B4-BE49-F238E27FC236}">
                <a16:creationId xmlns:a16="http://schemas.microsoft.com/office/drawing/2014/main" id="{0BD6D009-D758-044A-8C53-192F6160E4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68119" y="2093812"/>
            <a:ext cx="1092200" cy="647700"/>
          </a:xfrm>
          <a:prstGeom prst="rect">
            <a:avLst/>
          </a:prstGeom>
        </p:spPr>
      </p:pic>
      <p:pic>
        <p:nvPicPr>
          <p:cNvPr id="11" name="Picture Placeholder 1" descr="Figure A shows rotation in the counterclockwise direction. The angular acceleration is in the same direction as the angular velocity. Text under the figure states “Rotation rate counterclockwise and increasing. Figure B shows rotation in the clockwise direction. The angular acceleration is in the direction opposite to the angular velocity. Text under the figure states “Rotation rate clockwise and decreasing.">
            <a:extLst>
              <a:ext uri="{FF2B5EF4-FFF2-40B4-BE49-F238E27FC236}">
                <a16:creationId xmlns:a16="http://schemas.microsoft.com/office/drawing/2014/main" id="{91831C24-E6F5-914A-BB90-1691C05C1DDE}"/>
              </a:ext>
            </a:extLst>
          </p:cNvPr>
          <p:cNvPicPr>
            <a:picLocks noChangeAspect="1"/>
          </p:cNvPicPr>
          <p:nvPr/>
        </p:nvPicPr>
        <p:blipFill>
          <a:blip r:embed="rId5">
            <a:extLst>
              <a:ext uri="{28A0092B-C50C-407E-A947-70E740481C1C}">
                <a14:useLocalDpi xmlns:a14="http://schemas.microsoft.com/office/drawing/2010/main" val="0"/>
              </a:ext>
            </a:extLst>
          </a:blip>
          <a:srcRect l="-33632" r="-33632"/>
          <a:stretch>
            <a:fillRect/>
          </a:stretch>
        </p:blipFill>
        <p:spPr>
          <a:xfrm>
            <a:off x="-783057" y="2795300"/>
            <a:ext cx="8062913" cy="3500071"/>
          </a:xfrm>
          <a:prstGeom prst="rect">
            <a:avLst/>
          </a:prstGeom>
        </p:spPr>
      </p:pic>
      <p:sp>
        <p:nvSpPr>
          <p:cNvPr id="12" name="Text Placeholder 6">
            <a:extLst>
              <a:ext uri="{FF2B5EF4-FFF2-40B4-BE49-F238E27FC236}">
                <a16:creationId xmlns:a16="http://schemas.microsoft.com/office/drawing/2014/main" id="{30F185C2-2B60-A144-BAD6-53B007FD7E03}"/>
              </a:ext>
            </a:extLst>
          </p:cNvPr>
          <p:cNvSpPr txBox="1">
            <a:spLocks/>
          </p:cNvSpPr>
          <p:nvPr/>
        </p:nvSpPr>
        <p:spPr>
          <a:xfrm>
            <a:off x="5749680" y="3582149"/>
            <a:ext cx="6145305" cy="246868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3B124D"/>
                </a:solidFill>
              </a:rPr>
              <a:t>The rotation is counterclockwise in both (a) and (b) with the angular velocity in the same direction.</a:t>
            </a:r>
          </a:p>
          <a:p>
            <a:pPr marL="342900" indent="-342900">
              <a:buFont typeface="Arial" panose="020B0604020202020204" pitchFamily="34" charset="0"/>
              <a:buAutoNum type="alphaLcParenBoth"/>
            </a:pPr>
            <a:r>
              <a:rPr lang="en-US" sz="2000" dirty="0">
                <a:solidFill>
                  <a:srgbClr val="7030A0"/>
                </a:solidFill>
              </a:rPr>
              <a:t>The angular acceleration is in the same direction as the angular velocity, which increases the rotation rate.</a:t>
            </a:r>
          </a:p>
          <a:p>
            <a:pPr marL="342900" indent="-342900">
              <a:buFont typeface="Arial" panose="020B0604020202020204" pitchFamily="34" charset="0"/>
              <a:buAutoNum type="alphaLcParenBoth"/>
            </a:pPr>
            <a:r>
              <a:rPr lang="en-US" sz="2000" dirty="0">
                <a:solidFill>
                  <a:srgbClr val="000066"/>
                </a:solidFill>
              </a:rPr>
              <a:t>The angular acceleration is in the opposite direction to the angular velocity, which decreases the rotation rate.</a:t>
            </a:r>
          </a:p>
        </p:txBody>
      </p:sp>
    </p:spTree>
    <p:extLst>
      <p:ext uri="{BB962C8B-B14F-4D97-AF65-F5344CB8AC3E}">
        <p14:creationId xmlns:p14="http://schemas.microsoft.com/office/powerpoint/2010/main" val="24419977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Rotational Variables </a:t>
            </a:r>
          </a:p>
        </p:txBody>
      </p:sp>
      <p:pic>
        <p:nvPicPr>
          <p:cNvPr id="4" name="Picture Placeholder 1" descr="Figure A shows rotation in the counterclockwise direction. The angular acceleration is in the same direction as the angular velocity. Text under the figure states “Rotation rate counterclockwise and increasing. Figure B shows rotation in the clockwise direction. The angular acceleration is in the direction opposite to the angular velocity. Text under the figure states “Rotation rate clockwise and decreasing.">
            <a:extLst>
              <a:ext uri="{FF2B5EF4-FFF2-40B4-BE49-F238E27FC236}">
                <a16:creationId xmlns:a16="http://schemas.microsoft.com/office/drawing/2014/main" id="{92F55E97-6E29-CA4F-AABA-7F9B22CCB95E}"/>
              </a:ext>
            </a:extLst>
          </p:cNvPr>
          <p:cNvPicPr>
            <a:picLocks noChangeAspect="1"/>
          </p:cNvPicPr>
          <p:nvPr/>
        </p:nvPicPr>
        <p:blipFill>
          <a:blip r:embed="rId3">
            <a:extLst>
              <a:ext uri="{28A0092B-C50C-407E-A947-70E740481C1C}">
                <a14:useLocalDpi xmlns:a14="http://schemas.microsoft.com/office/drawing/2010/main" val="0"/>
              </a:ext>
            </a:extLst>
          </a:blip>
          <a:srcRect t="-871" b="-871"/>
          <a:stretch>
            <a:fillRect/>
          </a:stretch>
        </p:blipFill>
        <p:spPr>
          <a:xfrm>
            <a:off x="457199" y="614018"/>
            <a:ext cx="8062913" cy="3500071"/>
          </a:xfrm>
          <a:prstGeom prst="rect">
            <a:avLst/>
          </a:prstGeom>
        </p:spPr>
      </p:pic>
      <p:sp>
        <p:nvSpPr>
          <p:cNvPr id="7" name="Text Placeholder 6">
            <a:extLst>
              <a:ext uri="{FF2B5EF4-FFF2-40B4-BE49-F238E27FC236}">
                <a16:creationId xmlns:a16="http://schemas.microsoft.com/office/drawing/2014/main" id="{7AC81BEF-A908-0946-93C2-2279F03BF32B}"/>
              </a:ext>
            </a:extLst>
          </p:cNvPr>
          <p:cNvSpPr txBox="1">
            <a:spLocks/>
          </p:cNvSpPr>
          <p:nvPr/>
        </p:nvSpPr>
        <p:spPr>
          <a:xfrm>
            <a:off x="457199" y="4114089"/>
            <a:ext cx="8162365" cy="139465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AutoNum type="alphaLcParenBoth"/>
            </a:pPr>
            <a:r>
              <a:rPr lang="en-US" sz="2000" dirty="0"/>
              <a:t>The angular acceleration is the positive </a:t>
            </a:r>
            <a:r>
              <a:rPr lang="en-US" sz="2000" i="1" dirty="0"/>
              <a:t>z</a:t>
            </a:r>
            <a:r>
              <a:rPr lang="en-US" sz="2000" dirty="0"/>
              <a:t>-direction and produces a tangential acceleration in a counterclockwise sense.</a:t>
            </a:r>
          </a:p>
          <a:p>
            <a:pPr marL="342900" indent="-342900">
              <a:buFont typeface="Arial" panose="020B0604020202020204" pitchFamily="34" charset="0"/>
              <a:buAutoNum type="alphaLcParenBoth"/>
            </a:pPr>
            <a:r>
              <a:rPr lang="en-US" sz="2000" dirty="0"/>
              <a:t>The angular acceleration is in the negative </a:t>
            </a:r>
            <a:r>
              <a:rPr lang="en-US" sz="2000" i="1" dirty="0"/>
              <a:t>z</a:t>
            </a:r>
            <a:r>
              <a:rPr lang="en-US" sz="2000" dirty="0"/>
              <a:t>-direction and produces a tangential acceleration in the clockwise sense.</a:t>
            </a:r>
          </a:p>
        </p:txBody>
      </p:sp>
      <p:sp>
        <p:nvSpPr>
          <p:cNvPr id="2" name="Rectangle 1">
            <a:extLst>
              <a:ext uri="{FF2B5EF4-FFF2-40B4-BE49-F238E27FC236}">
                <a16:creationId xmlns:a16="http://schemas.microsoft.com/office/drawing/2014/main" id="{FEC25065-FC11-8B42-A4FA-EF8010FDC1A7}"/>
              </a:ext>
            </a:extLst>
          </p:cNvPr>
          <p:cNvSpPr/>
          <p:nvPr/>
        </p:nvSpPr>
        <p:spPr>
          <a:xfrm>
            <a:off x="8794374" y="982638"/>
            <a:ext cx="3186953" cy="3170099"/>
          </a:xfrm>
          <a:prstGeom prst="rect">
            <a:avLst/>
          </a:prstGeom>
        </p:spPr>
        <p:txBody>
          <a:bodyPr wrap="square">
            <a:spAutoFit/>
          </a:bodyPr>
          <a:lstStyle/>
          <a:p>
            <a:r>
              <a:rPr lang="en-US" sz="2000" dirty="0">
                <a:latin typeface="LiberationSerif"/>
              </a:rPr>
              <a:t>We can express the tangential acceleration vector as a cross product of the angular acceleration and the position vector. This expression can be found by taking the time derivative of</a:t>
            </a:r>
          </a:p>
          <a:p>
            <a:endParaRPr lang="en-US" sz="2000" dirty="0">
              <a:latin typeface="LiberationSerif"/>
            </a:endParaRPr>
          </a:p>
          <a:p>
            <a:endParaRPr lang="en-US" sz="2000" dirty="0">
              <a:latin typeface="LiberationSerif"/>
            </a:endParaRPr>
          </a:p>
          <a:p>
            <a:r>
              <a:rPr lang="en-US" sz="2000" dirty="0">
                <a:latin typeface="LiberationSerif"/>
              </a:rPr>
              <a:t>giving </a:t>
            </a:r>
            <a:endParaRPr lang="en-US" sz="2000" dirty="0"/>
          </a:p>
        </p:txBody>
      </p:sp>
      <p:pic>
        <p:nvPicPr>
          <p:cNvPr id="8" name="Picture 7" descr="A picture containing icon&#10;&#10;Description automatically generated">
            <a:extLst>
              <a:ext uri="{FF2B5EF4-FFF2-40B4-BE49-F238E27FC236}">
                <a16:creationId xmlns:a16="http://schemas.microsoft.com/office/drawing/2014/main" id="{8525BACF-71BE-5844-9482-F6BDF8A59B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92501" y="3213100"/>
            <a:ext cx="1765300" cy="431800"/>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355C44C6-6DCF-204A-8E9F-B9011D3CD0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13417" y="4211089"/>
            <a:ext cx="1790700" cy="495300"/>
          </a:xfrm>
          <a:prstGeom prst="rect">
            <a:avLst/>
          </a:prstGeom>
        </p:spPr>
      </p:pic>
      <p:sp>
        <p:nvSpPr>
          <p:cNvPr id="10" name="Rectangle 9">
            <a:extLst>
              <a:ext uri="{FF2B5EF4-FFF2-40B4-BE49-F238E27FC236}">
                <a16:creationId xmlns:a16="http://schemas.microsoft.com/office/drawing/2014/main" id="{447FFC8F-541E-D349-8768-8EB74D44E239}"/>
              </a:ext>
            </a:extLst>
          </p:cNvPr>
          <p:cNvSpPr/>
          <p:nvPr/>
        </p:nvSpPr>
        <p:spPr>
          <a:xfrm>
            <a:off x="1837765" y="5493504"/>
            <a:ext cx="10354235" cy="707886"/>
          </a:xfrm>
          <a:prstGeom prst="rect">
            <a:avLst/>
          </a:prstGeom>
        </p:spPr>
        <p:txBody>
          <a:bodyPr wrap="square">
            <a:spAutoFit/>
          </a:bodyPr>
          <a:lstStyle/>
          <a:p>
            <a:r>
              <a:rPr lang="en-US" sz="2000" dirty="0">
                <a:latin typeface="LiberationSerif"/>
              </a:rPr>
              <a:t>We can relate the tangential acceleration of a point on a rotating body at a distance from the axis of rotation in the same way that we related the tangential speed to the angular velocity. </a:t>
            </a:r>
            <a:endParaRPr lang="en-US" sz="2000" dirty="0"/>
          </a:p>
        </p:txBody>
      </p:sp>
      <p:sp>
        <p:nvSpPr>
          <p:cNvPr id="11" name="Rectangle 10">
            <a:extLst>
              <a:ext uri="{FF2B5EF4-FFF2-40B4-BE49-F238E27FC236}">
                <a16:creationId xmlns:a16="http://schemas.microsoft.com/office/drawing/2014/main" id="{8EDA9686-6BFE-4741-BD5E-BAA8BF4F9A09}"/>
              </a:ext>
            </a:extLst>
          </p:cNvPr>
          <p:cNvSpPr/>
          <p:nvPr/>
        </p:nvSpPr>
        <p:spPr>
          <a:xfrm>
            <a:off x="1837765" y="6295862"/>
            <a:ext cx="6338210" cy="400110"/>
          </a:xfrm>
          <a:prstGeom prst="rect">
            <a:avLst/>
          </a:prstGeom>
        </p:spPr>
        <p:txBody>
          <a:bodyPr wrap="none">
            <a:spAutoFit/>
          </a:bodyPr>
          <a:lstStyle/>
          <a:p>
            <a:r>
              <a:rPr lang="en-US" sz="2000" dirty="0">
                <a:latin typeface="LiberationSerif"/>
              </a:rPr>
              <a:t>If we differentiate        		with respect to time we get </a:t>
            </a:r>
            <a:endParaRPr lang="en-US" sz="2000" dirty="0"/>
          </a:p>
        </p:txBody>
      </p:sp>
      <p:pic>
        <p:nvPicPr>
          <p:cNvPr id="12" name="Picture 11" descr="Diagram&#10;&#10;Description automatically generated">
            <a:extLst>
              <a:ext uri="{FF2B5EF4-FFF2-40B4-BE49-F238E27FC236}">
                <a16:creationId xmlns:a16="http://schemas.microsoft.com/office/drawing/2014/main" id="{6D45724E-54C3-2843-99AC-C9252E3A1F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10478" y="6201390"/>
            <a:ext cx="1130300" cy="558800"/>
          </a:xfrm>
          <a:prstGeom prst="rect">
            <a:avLst/>
          </a:prstGeom>
        </p:spPr>
      </p:pic>
      <p:pic>
        <p:nvPicPr>
          <p:cNvPr id="14" name="Picture 13" descr="A picture containing diagram&#10;&#10;Description automatically generated">
            <a:extLst>
              <a:ext uri="{FF2B5EF4-FFF2-40B4-BE49-F238E27FC236}">
                <a16:creationId xmlns:a16="http://schemas.microsoft.com/office/drawing/2014/main" id="{BD937306-04C9-1447-83BE-C5E46A9CBBB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59083" y="6273667"/>
            <a:ext cx="1016000" cy="444500"/>
          </a:xfrm>
          <a:prstGeom prst="rect">
            <a:avLst/>
          </a:prstGeom>
        </p:spPr>
      </p:pic>
    </p:spTree>
    <p:extLst>
      <p:ext uri="{BB962C8B-B14F-4D97-AF65-F5344CB8AC3E}">
        <p14:creationId xmlns:p14="http://schemas.microsoft.com/office/powerpoint/2010/main" val="25065951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3472065" y="89044"/>
            <a:ext cx="4465983" cy="523220"/>
          </a:xfrm>
          <a:prstGeom prst="rect">
            <a:avLst/>
          </a:prstGeom>
        </p:spPr>
        <p:txBody>
          <a:bodyPr wrap="square">
            <a:spAutoFit/>
          </a:bodyPr>
          <a:lstStyle/>
          <a:p>
            <a:r>
              <a:rPr lang="en-US" sz="2800" dirty="0">
                <a:solidFill>
                  <a:srgbClr val="C00000"/>
                </a:solidFill>
                <a:latin typeface="NewBaskervilleStd-Roman"/>
              </a:rPr>
              <a:t>Rotational Variables </a:t>
            </a:r>
          </a:p>
        </p:txBody>
      </p:sp>
      <p:sp>
        <p:nvSpPr>
          <p:cNvPr id="4" name="Rectangle 3">
            <a:extLst>
              <a:ext uri="{FF2B5EF4-FFF2-40B4-BE49-F238E27FC236}">
                <a16:creationId xmlns:a16="http://schemas.microsoft.com/office/drawing/2014/main" id="{9E885C8C-10B5-504A-A681-EE6E83F50255}"/>
              </a:ext>
            </a:extLst>
          </p:cNvPr>
          <p:cNvSpPr/>
          <p:nvPr/>
        </p:nvSpPr>
        <p:spPr>
          <a:xfrm>
            <a:off x="526521" y="540682"/>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sp>
        <p:nvSpPr>
          <p:cNvPr id="2" name="Rectangle 1">
            <a:extLst>
              <a:ext uri="{FF2B5EF4-FFF2-40B4-BE49-F238E27FC236}">
                <a16:creationId xmlns:a16="http://schemas.microsoft.com/office/drawing/2014/main" id="{5EFF344E-6DBA-1A48-83C4-378CC1FD4D5C}"/>
              </a:ext>
            </a:extLst>
          </p:cNvPr>
          <p:cNvSpPr/>
          <p:nvPr/>
        </p:nvSpPr>
        <p:spPr>
          <a:xfrm>
            <a:off x="526521" y="965158"/>
            <a:ext cx="11597804" cy="2123658"/>
          </a:xfrm>
          <a:prstGeom prst="rect">
            <a:avLst/>
          </a:prstGeom>
        </p:spPr>
        <p:txBody>
          <a:bodyPr wrap="square">
            <a:spAutoFit/>
          </a:bodyPr>
          <a:lstStyle/>
          <a:p>
            <a:r>
              <a:rPr lang="en-US" sz="2200" b="1" dirty="0">
                <a:solidFill>
                  <a:srgbClr val="213866"/>
                </a:solidFill>
                <a:latin typeface="LiberationSans"/>
              </a:rPr>
              <a:t>A Spinning Bicycle Wheel </a:t>
            </a:r>
            <a:endParaRPr lang="en-US" sz="2200" dirty="0"/>
          </a:p>
          <a:p>
            <a:r>
              <a:rPr lang="en-US" sz="2200" dirty="0">
                <a:latin typeface="LiberationSerif"/>
              </a:rPr>
              <a:t>A bicycle mechanic mounts a bicycle on the repair stand and starts the rear wheel spinning from rest to a final angular velocity of 250 rpm in 5.00 s. </a:t>
            </a:r>
          </a:p>
          <a:p>
            <a:pPr marL="457200" indent="-457200">
              <a:buAutoNum type="alphaLcParenBoth"/>
            </a:pPr>
            <a:r>
              <a:rPr lang="en-US" sz="2200" dirty="0">
                <a:latin typeface="LiberationSerif"/>
              </a:rPr>
              <a:t>Calculate the average angular acceleration in </a:t>
            </a:r>
            <a:r>
              <a:rPr lang="en-US" sz="2200" dirty="0">
                <a:latin typeface="STIXGeneral" pitchFamily="2" charset="2"/>
              </a:rPr>
              <a:t>rad/s</a:t>
            </a:r>
            <a:r>
              <a:rPr lang="en-US" sz="2200" baseline="30000" dirty="0">
                <a:latin typeface="STIXGeneral" pitchFamily="2" charset="2"/>
              </a:rPr>
              <a:t>2</a:t>
            </a:r>
            <a:r>
              <a:rPr lang="en-US" sz="2200" dirty="0">
                <a:latin typeface="STIXGeneral" pitchFamily="2" charset="2"/>
              </a:rPr>
              <a:t> </a:t>
            </a:r>
            <a:r>
              <a:rPr lang="en-US" sz="2200" dirty="0">
                <a:latin typeface="LiberationSerif"/>
              </a:rPr>
              <a:t>. </a:t>
            </a:r>
          </a:p>
          <a:p>
            <a:r>
              <a:rPr lang="en-US" sz="2200" dirty="0">
                <a:latin typeface="LiberationSerif"/>
              </a:rPr>
              <a:t>(b) If she now hits the brakes, causing an angular acceleration of −87.3 </a:t>
            </a:r>
            <a:r>
              <a:rPr lang="en-US" sz="2200" dirty="0">
                <a:latin typeface="STIXGeneral" pitchFamily="2" charset="2"/>
              </a:rPr>
              <a:t>rad/s</a:t>
            </a:r>
            <a:r>
              <a:rPr lang="en-US" sz="2200" baseline="30000" dirty="0">
                <a:latin typeface="STIXGeneral" pitchFamily="2" charset="2"/>
              </a:rPr>
              <a:t>2</a:t>
            </a:r>
            <a:r>
              <a:rPr lang="en-US" sz="2200" dirty="0">
                <a:latin typeface="STIXGeneral" pitchFamily="2" charset="2"/>
              </a:rPr>
              <a:t> </a:t>
            </a:r>
            <a:r>
              <a:rPr lang="en-US" sz="2200" dirty="0">
                <a:latin typeface="LiberationSerif"/>
              </a:rPr>
              <a:t>, how long does it take the wheel to stop? </a:t>
            </a:r>
            <a:endParaRPr lang="en-US" sz="2200" dirty="0"/>
          </a:p>
        </p:txBody>
      </p:sp>
      <p:pic>
        <p:nvPicPr>
          <p:cNvPr id="7" name="Picture Placeholder 1" descr="Figure is a drawing of a wind turbine that is rotating counterclockwise, as seen head on.">
            <a:extLst>
              <a:ext uri="{FF2B5EF4-FFF2-40B4-BE49-F238E27FC236}">
                <a16:creationId xmlns:a16="http://schemas.microsoft.com/office/drawing/2014/main" id="{8D699851-EAFE-D14C-A0BA-3116EF6F5A10}"/>
              </a:ext>
            </a:extLst>
          </p:cNvPr>
          <p:cNvPicPr>
            <a:picLocks noChangeAspect="1"/>
          </p:cNvPicPr>
          <p:nvPr/>
        </p:nvPicPr>
        <p:blipFill>
          <a:blip r:embed="rId3">
            <a:extLst>
              <a:ext uri="{28A0092B-C50C-407E-A947-70E740481C1C}">
                <a14:useLocalDpi xmlns:a14="http://schemas.microsoft.com/office/drawing/2010/main" val="0"/>
              </a:ext>
            </a:extLst>
          </a:blip>
          <a:srcRect t="-1550" b="-1550"/>
          <a:stretch>
            <a:fillRect/>
          </a:stretch>
        </p:blipFill>
        <p:spPr>
          <a:xfrm>
            <a:off x="8725773" y="2743200"/>
            <a:ext cx="3155385" cy="4114800"/>
          </a:xfrm>
          <a:prstGeom prst="rect">
            <a:avLst/>
          </a:prstGeom>
        </p:spPr>
      </p:pic>
      <p:sp>
        <p:nvSpPr>
          <p:cNvPr id="8" name="Rectangle 7">
            <a:extLst>
              <a:ext uri="{FF2B5EF4-FFF2-40B4-BE49-F238E27FC236}">
                <a16:creationId xmlns:a16="http://schemas.microsoft.com/office/drawing/2014/main" id="{D2098D2D-D597-5548-8624-BD0D64870B41}"/>
              </a:ext>
            </a:extLst>
          </p:cNvPr>
          <p:cNvSpPr/>
          <p:nvPr/>
        </p:nvSpPr>
        <p:spPr>
          <a:xfrm>
            <a:off x="902790" y="3516902"/>
            <a:ext cx="6922262" cy="769441"/>
          </a:xfrm>
          <a:prstGeom prst="rect">
            <a:avLst/>
          </a:prstGeom>
        </p:spPr>
        <p:txBody>
          <a:bodyPr wrap="square">
            <a:spAutoFit/>
          </a:bodyPr>
          <a:lstStyle/>
          <a:p>
            <a:r>
              <a:rPr lang="en-US" sz="2200" dirty="0">
                <a:solidFill>
                  <a:srgbClr val="7030A0"/>
                </a:solidFill>
                <a:latin typeface="LiberationSans"/>
              </a:rPr>
              <a:t>Think about it</a:t>
            </a:r>
          </a:p>
          <a:p>
            <a:endParaRPr lang="en-US" sz="2200" dirty="0">
              <a:solidFill>
                <a:srgbClr val="7030A0"/>
              </a:solidFill>
            </a:endParaRPr>
          </a:p>
        </p:txBody>
      </p:sp>
      <p:sp>
        <p:nvSpPr>
          <p:cNvPr id="3" name="Rectangle 2">
            <a:extLst>
              <a:ext uri="{FF2B5EF4-FFF2-40B4-BE49-F238E27FC236}">
                <a16:creationId xmlns:a16="http://schemas.microsoft.com/office/drawing/2014/main" id="{A10CED6B-0CCE-9447-A07A-39617B2040C8}"/>
              </a:ext>
            </a:extLst>
          </p:cNvPr>
          <p:cNvSpPr/>
          <p:nvPr/>
        </p:nvSpPr>
        <p:spPr>
          <a:xfrm>
            <a:off x="902790" y="3875371"/>
            <a:ext cx="7822983" cy="1446550"/>
          </a:xfrm>
          <a:prstGeom prst="rect">
            <a:avLst/>
          </a:prstGeom>
        </p:spPr>
        <p:txBody>
          <a:bodyPr wrap="square">
            <a:spAutoFit/>
          </a:bodyPr>
          <a:lstStyle/>
          <a:p>
            <a:r>
              <a:rPr lang="en-US" sz="2200" dirty="0">
                <a:solidFill>
                  <a:srgbClr val="000066"/>
                </a:solidFill>
                <a:latin typeface="LiberationSerif"/>
              </a:rPr>
              <a:t>A wind turbine in a wind farm is being shut down for maintenance. </a:t>
            </a:r>
            <a:r>
              <a:rPr lang="en-US" sz="2200" dirty="0">
                <a:solidFill>
                  <a:srgbClr val="000066"/>
                </a:solidFill>
              </a:rPr>
              <a:t>If the turbine is rotating counterclockwise looking into the page, what are the directions of the angular velocity and acceleration vectors as the turbine stops?</a:t>
            </a:r>
          </a:p>
        </p:txBody>
      </p:sp>
      <p:sp>
        <p:nvSpPr>
          <p:cNvPr id="9" name="Rectangle 8">
            <a:extLst>
              <a:ext uri="{FF2B5EF4-FFF2-40B4-BE49-F238E27FC236}">
                <a16:creationId xmlns:a16="http://schemas.microsoft.com/office/drawing/2014/main" id="{4EF821A1-BD06-6B44-BD43-91C4B9A80B56}"/>
              </a:ext>
            </a:extLst>
          </p:cNvPr>
          <p:cNvSpPr/>
          <p:nvPr/>
        </p:nvSpPr>
        <p:spPr>
          <a:xfrm>
            <a:off x="2629835" y="5281580"/>
            <a:ext cx="5059975" cy="1446550"/>
          </a:xfrm>
          <a:prstGeom prst="rect">
            <a:avLst/>
          </a:prstGeom>
        </p:spPr>
        <p:txBody>
          <a:bodyPr wrap="none">
            <a:spAutoFit/>
          </a:bodyPr>
          <a:lstStyle/>
          <a:p>
            <a:pPr marL="342900" indent="-342900">
              <a:buAutoNum type="alphaLcParenR"/>
            </a:pPr>
            <a:r>
              <a:rPr lang="el-GR" sz="2200" i="1" dirty="0">
                <a:solidFill>
                  <a:srgbClr val="000066"/>
                </a:solidFill>
                <a:latin typeface="STIXGeneral" pitchFamily="2" charset="2"/>
              </a:rPr>
              <a:t>ω</a:t>
            </a:r>
            <a:r>
              <a:rPr lang="en-US" sz="2200" i="1" dirty="0">
                <a:solidFill>
                  <a:srgbClr val="000066"/>
                </a:solidFill>
                <a:latin typeface="STIXGeneral" pitchFamily="2" charset="2"/>
              </a:rPr>
              <a:t> </a:t>
            </a:r>
            <a:r>
              <a:rPr lang="en-US" sz="2200" dirty="0">
                <a:solidFill>
                  <a:srgbClr val="000066"/>
                </a:solidFill>
                <a:latin typeface="LiberationSerif"/>
              </a:rPr>
              <a:t>into the screen, </a:t>
            </a:r>
            <a:r>
              <a:rPr lang="el-GR" sz="2200" i="1" dirty="0">
                <a:solidFill>
                  <a:srgbClr val="000066"/>
                </a:solidFill>
                <a:latin typeface="STIXGeneral" pitchFamily="2" charset="2"/>
              </a:rPr>
              <a:t>α</a:t>
            </a:r>
            <a:r>
              <a:rPr lang="en-US" sz="2200" dirty="0">
                <a:solidFill>
                  <a:srgbClr val="000066"/>
                </a:solidFill>
                <a:latin typeface="LiberationSerif"/>
              </a:rPr>
              <a:t> out of the screen</a:t>
            </a:r>
          </a:p>
          <a:p>
            <a:pPr marL="342900" indent="-342900">
              <a:buAutoNum type="alphaLcParenR"/>
            </a:pPr>
            <a:r>
              <a:rPr lang="el-GR" sz="2200" i="1" dirty="0">
                <a:solidFill>
                  <a:srgbClr val="000066"/>
                </a:solidFill>
                <a:latin typeface="STIXGeneral" pitchFamily="2" charset="2"/>
              </a:rPr>
              <a:t>ω</a:t>
            </a:r>
            <a:r>
              <a:rPr lang="en-US" sz="2200" i="1" dirty="0">
                <a:solidFill>
                  <a:srgbClr val="000066"/>
                </a:solidFill>
                <a:latin typeface="STIXGeneral" pitchFamily="2" charset="2"/>
              </a:rPr>
              <a:t> </a:t>
            </a:r>
            <a:r>
              <a:rPr lang="en-US" sz="2200" dirty="0">
                <a:solidFill>
                  <a:srgbClr val="000066"/>
                </a:solidFill>
                <a:latin typeface="LiberationSerif"/>
              </a:rPr>
              <a:t>into the screen, </a:t>
            </a:r>
            <a:r>
              <a:rPr lang="el-GR" sz="2200" i="1" dirty="0">
                <a:solidFill>
                  <a:srgbClr val="000066"/>
                </a:solidFill>
                <a:latin typeface="STIXGeneral" pitchFamily="2" charset="2"/>
              </a:rPr>
              <a:t>α</a:t>
            </a:r>
            <a:r>
              <a:rPr lang="en-US" sz="2200" dirty="0">
                <a:solidFill>
                  <a:srgbClr val="000066"/>
                </a:solidFill>
                <a:latin typeface="LiberationSerif"/>
              </a:rPr>
              <a:t> into the screen</a:t>
            </a:r>
          </a:p>
          <a:p>
            <a:pPr marL="342900" indent="-342900">
              <a:buAutoNum type="alphaLcParenR"/>
            </a:pPr>
            <a:r>
              <a:rPr lang="el-GR" sz="2200" i="1" dirty="0">
                <a:solidFill>
                  <a:srgbClr val="000066"/>
                </a:solidFill>
                <a:latin typeface="STIXGeneral" pitchFamily="2" charset="2"/>
              </a:rPr>
              <a:t>ω</a:t>
            </a:r>
            <a:r>
              <a:rPr lang="en-US" sz="2200" i="1" dirty="0">
                <a:solidFill>
                  <a:srgbClr val="000066"/>
                </a:solidFill>
                <a:latin typeface="STIXGeneral" pitchFamily="2" charset="2"/>
              </a:rPr>
              <a:t> </a:t>
            </a:r>
            <a:r>
              <a:rPr lang="en-US" sz="2200" dirty="0">
                <a:solidFill>
                  <a:srgbClr val="000066"/>
                </a:solidFill>
                <a:latin typeface="LiberationSerif"/>
              </a:rPr>
              <a:t>out of the screen, </a:t>
            </a:r>
            <a:r>
              <a:rPr lang="el-GR" sz="2200" i="1" dirty="0">
                <a:solidFill>
                  <a:srgbClr val="000066"/>
                </a:solidFill>
                <a:latin typeface="STIXGeneral" pitchFamily="2" charset="2"/>
              </a:rPr>
              <a:t>α</a:t>
            </a:r>
            <a:r>
              <a:rPr lang="en-US" sz="2200" dirty="0">
                <a:solidFill>
                  <a:srgbClr val="000066"/>
                </a:solidFill>
                <a:latin typeface="LiberationSerif"/>
              </a:rPr>
              <a:t> into the screen</a:t>
            </a:r>
          </a:p>
          <a:p>
            <a:pPr marL="342900" indent="-342900">
              <a:buAutoNum type="alphaLcParenR"/>
            </a:pPr>
            <a:r>
              <a:rPr lang="el-GR" sz="2200" i="1" dirty="0">
                <a:solidFill>
                  <a:srgbClr val="000066"/>
                </a:solidFill>
                <a:latin typeface="STIXGeneral" pitchFamily="2" charset="2"/>
              </a:rPr>
              <a:t>ω</a:t>
            </a:r>
            <a:r>
              <a:rPr lang="en-US" sz="2200" i="1" dirty="0">
                <a:solidFill>
                  <a:srgbClr val="000066"/>
                </a:solidFill>
                <a:latin typeface="STIXGeneral" pitchFamily="2" charset="2"/>
              </a:rPr>
              <a:t> </a:t>
            </a:r>
            <a:r>
              <a:rPr lang="en-US" sz="2200" dirty="0">
                <a:solidFill>
                  <a:srgbClr val="000066"/>
                </a:solidFill>
                <a:latin typeface="LiberationSerif"/>
              </a:rPr>
              <a:t>out of the screen, </a:t>
            </a:r>
            <a:r>
              <a:rPr lang="el-GR" sz="2200" i="1" dirty="0">
                <a:solidFill>
                  <a:srgbClr val="000066"/>
                </a:solidFill>
                <a:latin typeface="STIXGeneral" pitchFamily="2" charset="2"/>
              </a:rPr>
              <a:t>α</a:t>
            </a:r>
            <a:r>
              <a:rPr lang="en-US" sz="2200" dirty="0">
                <a:solidFill>
                  <a:srgbClr val="000066"/>
                </a:solidFill>
                <a:latin typeface="LiberationSerif"/>
              </a:rPr>
              <a:t> out of the screen</a:t>
            </a:r>
            <a:endParaRPr lang="en-US" sz="2200" dirty="0">
              <a:solidFill>
                <a:srgbClr val="000066"/>
              </a:solidFill>
            </a:endParaRPr>
          </a:p>
        </p:txBody>
      </p:sp>
    </p:spTree>
    <p:extLst>
      <p:ext uri="{BB962C8B-B14F-4D97-AF65-F5344CB8AC3E}">
        <p14:creationId xmlns:p14="http://schemas.microsoft.com/office/powerpoint/2010/main" val="26035006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Rotation with Constant Angular Acceleration </a:t>
            </a:r>
          </a:p>
        </p:txBody>
      </p:sp>
      <p:sp>
        <p:nvSpPr>
          <p:cNvPr id="2" name="Rectangle 1">
            <a:extLst>
              <a:ext uri="{FF2B5EF4-FFF2-40B4-BE49-F238E27FC236}">
                <a16:creationId xmlns:a16="http://schemas.microsoft.com/office/drawing/2014/main" id="{CA5445A1-DBE3-A54D-A7F8-5C9736895C57}"/>
              </a:ext>
            </a:extLst>
          </p:cNvPr>
          <p:cNvSpPr/>
          <p:nvPr/>
        </p:nvSpPr>
        <p:spPr>
          <a:xfrm>
            <a:off x="452717" y="612264"/>
            <a:ext cx="10466295" cy="3785652"/>
          </a:xfrm>
          <a:prstGeom prst="rect">
            <a:avLst/>
          </a:prstGeom>
        </p:spPr>
        <p:txBody>
          <a:bodyPr wrap="square">
            <a:spAutoFit/>
          </a:bodyPr>
          <a:lstStyle/>
          <a:p>
            <a:r>
              <a:rPr lang="en-US" sz="2000" dirty="0">
                <a:solidFill>
                  <a:srgbClr val="7030A0"/>
                </a:solidFill>
                <a:latin typeface="LiberationSerif"/>
              </a:rPr>
              <a:t>If the system is rotating under a constant acceleration, then the average angular velocity follows a simple relation because the angular velocity is increasing linearly with time.</a:t>
            </a:r>
          </a:p>
          <a:p>
            <a:endParaRPr lang="en-US" sz="2000" dirty="0">
              <a:solidFill>
                <a:srgbClr val="7030A0"/>
              </a:solidFill>
              <a:latin typeface="LiberationSerif"/>
            </a:endParaRPr>
          </a:p>
          <a:p>
            <a:endParaRPr lang="en-US" sz="2000" dirty="0">
              <a:solidFill>
                <a:srgbClr val="7030A0"/>
              </a:solidFill>
              <a:latin typeface="LiberationSerif"/>
            </a:endParaRPr>
          </a:p>
          <a:p>
            <a:endParaRPr lang="en-US" sz="2000" dirty="0">
              <a:solidFill>
                <a:srgbClr val="7030A0"/>
              </a:solidFill>
              <a:latin typeface="LiberationSerif"/>
            </a:endParaRPr>
          </a:p>
          <a:p>
            <a:r>
              <a:rPr lang="en-US" sz="2000" dirty="0">
                <a:solidFill>
                  <a:srgbClr val="7030A0"/>
                </a:solidFill>
                <a:latin typeface="LiberationSerif"/>
              </a:rPr>
              <a:t>We already defined the average angular velocity</a:t>
            </a:r>
          </a:p>
          <a:p>
            <a:endParaRPr lang="en-US" sz="2000" dirty="0">
              <a:solidFill>
                <a:srgbClr val="7030A0"/>
              </a:solidFill>
              <a:latin typeface="LiberationSerif"/>
            </a:endParaRPr>
          </a:p>
          <a:p>
            <a:endParaRPr lang="en-US" sz="2000" dirty="0">
              <a:solidFill>
                <a:srgbClr val="7030A0"/>
              </a:solidFill>
              <a:latin typeface="LiberationSerif"/>
            </a:endParaRPr>
          </a:p>
          <a:p>
            <a:endParaRPr lang="en-US" sz="2000" dirty="0">
              <a:solidFill>
                <a:srgbClr val="7030A0"/>
              </a:solidFill>
              <a:latin typeface="LiberationSerif"/>
            </a:endParaRPr>
          </a:p>
          <a:p>
            <a:r>
              <a:rPr lang="en-US" sz="2000" dirty="0">
                <a:solidFill>
                  <a:srgbClr val="7030A0"/>
                </a:solidFill>
                <a:latin typeface="LiberationSerif"/>
              </a:rPr>
              <a:t>						Solving for </a:t>
            </a:r>
            <a:r>
              <a:rPr lang="el-GR" sz="2000" i="1" dirty="0">
                <a:solidFill>
                  <a:srgbClr val="7030A0"/>
                </a:solidFill>
                <a:latin typeface="STIXGeneral" pitchFamily="2" charset="2"/>
              </a:rPr>
              <a:t>θ</a:t>
            </a:r>
            <a:r>
              <a:rPr lang="en-US" sz="2000" dirty="0">
                <a:solidFill>
                  <a:srgbClr val="7030A0"/>
                </a:solidFill>
                <a:latin typeface="LiberationSerif"/>
              </a:rPr>
              <a:t> </a:t>
            </a:r>
          </a:p>
          <a:p>
            <a:r>
              <a:rPr lang="en-US" sz="2000" dirty="0">
                <a:solidFill>
                  <a:srgbClr val="7030A0"/>
                </a:solidFill>
                <a:latin typeface="LiberationSerif"/>
              </a:rPr>
              <a:t>														</a:t>
            </a:r>
            <a:r>
              <a:rPr lang="en-US" sz="2000" i="1" dirty="0">
                <a:solidFill>
                  <a:srgbClr val="3B124D"/>
                </a:solidFill>
                <a:latin typeface="LiberationSerif"/>
              </a:rPr>
              <a:t> Looks familiar? 				      …    </a:t>
            </a:r>
            <a:r>
              <a:rPr lang="en-US" sz="2000" i="1" dirty="0">
                <a:solidFill>
                  <a:srgbClr val="7030A0"/>
                </a:solidFill>
                <a:latin typeface="LiberationSerif"/>
              </a:rPr>
              <a:t>			   </a:t>
            </a:r>
            <a:r>
              <a:rPr lang="en-US" sz="2000" i="1" dirty="0">
                <a:solidFill>
                  <a:srgbClr val="3B124D"/>
                </a:solidFill>
                <a:latin typeface="LiberationSerif"/>
              </a:rPr>
              <a:t>  </a:t>
            </a:r>
            <a:endParaRPr lang="en-US" sz="2000" i="1" dirty="0">
              <a:solidFill>
                <a:srgbClr val="3B124D"/>
              </a:solidFill>
            </a:endParaRPr>
          </a:p>
        </p:txBody>
      </p:sp>
      <p:pic>
        <p:nvPicPr>
          <p:cNvPr id="4" name="Picture 3" descr="Diagram&#10;&#10;Description automatically generated">
            <a:extLst>
              <a:ext uri="{FF2B5EF4-FFF2-40B4-BE49-F238E27FC236}">
                <a16:creationId xmlns:a16="http://schemas.microsoft.com/office/drawing/2014/main" id="{60A88111-6D27-8548-B52E-9A79524C2A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3053" y="1320150"/>
            <a:ext cx="1701800" cy="711200"/>
          </a:xfrm>
          <a:prstGeom prst="rect">
            <a:avLst/>
          </a:prstGeom>
        </p:spPr>
      </p:pic>
      <p:pic>
        <p:nvPicPr>
          <p:cNvPr id="8" name="Picture 7" descr="Text&#10;&#10;Description automatically generated with medium confidence">
            <a:extLst>
              <a:ext uri="{FF2B5EF4-FFF2-40B4-BE49-F238E27FC236}">
                <a16:creationId xmlns:a16="http://schemas.microsoft.com/office/drawing/2014/main" id="{6193D0DC-7E25-C04D-9794-D01525FB10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2594" y="2551256"/>
            <a:ext cx="1206500" cy="749300"/>
          </a:xfrm>
          <a:prstGeom prst="rect">
            <a:avLst/>
          </a:prstGeom>
        </p:spPr>
      </p:pic>
      <p:pic>
        <p:nvPicPr>
          <p:cNvPr id="10" name="Picture 9" descr="Diagram&#10;&#10;Description automatically generated with medium confidence">
            <a:extLst>
              <a:ext uri="{FF2B5EF4-FFF2-40B4-BE49-F238E27FC236}">
                <a16:creationId xmlns:a16="http://schemas.microsoft.com/office/drawing/2014/main" id="{8246FEB1-F9BF-4D43-BADC-42B373364C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03053" y="3573174"/>
            <a:ext cx="1752600" cy="584200"/>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BFEA9673-310A-0646-A692-8BD5595A2D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44536" y="3619492"/>
            <a:ext cx="1483567" cy="457200"/>
          </a:xfrm>
          <a:prstGeom prst="rect">
            <a:avLst/>
          </a:prstGeom>
        </p:spPr>
      </p:pic>
      <p:pic>
        <p:nvPicPr>
          <p:cNvPr id="14" name="Picture 13" descr="Graphical user interface, text, application, email&#10;&#10;Description automatically generated">
            <a:extLst>
              <a:ext uri="{FF2B5EF4-FFF2-40B4-BE49-F238E27FC236}">
                <a16:creationId xmlns:a16="http://schemas.microsoft.com/office/drawing/2014/main" id="{9387C1B8-C2F2-9747-AFD1-671CCB6FED8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21653" y="4241656"/>
            <a:ext cx="10566400" cy="2527300"/>
          </a:xfrm>
          <a:prstGeom prst="rect">
            <a:avLst/>
          </a:prstGeom>
        </p:spPr>
      </p:pic>
    </p:spTree>
    <p:extLst>
      <p:ext uri="{BB962C8B-B14F-4D97-AF65-F5344CB8AC3E}">
        <p14:creationId xmlns:p14="http://schemas.microsoft.com/office/powerpoint/2010/main" val="7655102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362"/>
            <a:ext cx="7274860" cy="523220"/>
          </a:xfrm>
          <a:prstGeom prst="rect">
            <a:avLst/>
          </a:prstGeom>
        </p:spPr>
        <p:txBody>
          <a:bodyPr wrap="square">
            <a:spAutoFit/>
          </a:bodyPr>
          <a:lstStyle/>
          <a:p>
            <a:r>
              <a:rPr lang="en-US" sz="2800" dirty="0">
                <a:solidFill>
                  <a:srgbClr val="C00000"/>
                </a:solidFill>
                <a:latin typeface="NewBaskervilleStd-Roman"/>
              </a:rPr>
              <a:t>Relating Angular and Translational Quantities </a:t>
            </a:r>
          </a:p>
        </p:txBody>
      </p:sp>
      <p:sp>
        <p:nvSpPr>
          <p:cNvPr id="2" name="Rectangle 1">
            <a:extLst>
              <a:ext uri="{FF2B5EF4-FFF2-40B4-BE49-F238E27FC236}">
                <a16:creationId xmlns:a16="http://schemas.microsoft.com/office/drawing/2014/main" id="{A006E47B-868B-564B-B572-D3BAEAD436BF}"/>
              </a:ext>
            </a:extLst>
          </p:cNvPr>
          <p:cNvSpPr/>
          <p:nvPr/>
        </p:nvSpPr>
        <p:spPr>
          <a:xfrm>
            <a:off x="376517" y="460239"/>
            <a:ext cx="6024283" cy="769441"/>
          </a:xfrm>
          <a:prstGeom prst="rect">
            <a:avLst/>
          </a:prstGeom>
        </p:spPr>
        <p:txBody>
          <a:bodyPr wrap="square">
            <a:spAutoFit/>
          </a:bodyPr>
          <a:lstStyle/>
          <a:p>
            <a:r>
              <a:rPr lang="en-US" sz="2200" dirty="0">
                <a:solidFill>
                  <a:srgbClr val="7030A0"/>
                </a:solidFill>
                <a:latin typeface="LiberationSerif"/>
              </a:rPr>
              <a:t>Linear position, velocity, and acceleration have their rotational counterparts </a:t>
            </a:r>
            <a:endParaRPr lang="en-US" sz="2200" dirty="0">
              <a:solidFill>
                <a:srgbClr val="7030A0"/>
              </a:solidFill>
            </a:endParaRPr>
          </a:p>
        </p:txBody>
      </p:sp>
      <p:pic>
        <p:nvPicPr>
          <p:cNvPr id="4" name="Picture 3" descr="Table&#10;&#10;Description automatically generated">
            <a:extLst>
              <a:ext uri="{FF2B5EF4-FFF2-40B4-BE49-F238E27FC236}">
                <a16:creationId xmlns:a16="http://schemas.microsoft.com/office/drawing/2014/main" id="{5D9FB1C9-4E7D-1944-B47E-38629F113E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794" y="1150371"/>
            <a:ext cx="4639901" cy="2286000"/>
          </a:xfrm>
          <a:prstGeom prst="rect">
            <a:avLst/>
          </a:prstGeom>
        </p:spPr>
      </p:pic>
      <p:sp>
        <p:nvSpPr>
          <p:cNvPr id="7" name="Rectangle 6">
            <a:extLst>
              <a:ext uri="{FF2B5EF4-FFF2-40B4-BE49-F238E27FC236}">
                <a16:creationId xmlns:a16="http://schemas.microsoft.com/office/drawing/2014/main" id="{11D62CBC-EBD1-8147-B731-927BE47DFA75}"/>
              </a:ext>
            </a:extLst>
          </p:cNvPr>
          <p:cNvSpPr/>
          <p:nvPr/>
        </p:nvSpPr>
        <p:spPr>
          <a:xfrm>
            <a:off x="234960" y="3413810"/>
            <a:ext cx="5459571" cy="400110"/>
          </a:xfrm>
          <a:prstGeom prst="rect">
            <a:avLst/>
          </a:prstGeom>
        </p:spPr>
        <p:txBody>
          <a:bodyPr wrap="none">
            <a:spAutoFit/>
          </a:bodyPr>
          <a:lstStyle/>
          <a:p>
            <a:r>
              <a:rPr lang="en-US" sz="2000" b="1" dirty="0">
                <a:solidFill>
                  <a:srgbClr val="D6542B"/>
                </a:solidFill>
                <a:latin typeface="LiberationSans"/>
              </a:rPr>
              <a:t>Rotational and Translational Kinematic Equations </a:t>
            </a:r>
            <a:endParaRPr lang="en-US" sz="2000" dirty="0"/>
          </a:p>
        </p:txBody>
      </p:sp>
      <p:pic>
        <p:nvPicPr>
          <p:cNvPr id="9" name="Picture 8" descr="Table&#10;&#10;Description automatically generated">
            <a:extLst>
              <a:ext uri="{FF2B5EF4-FFF2-40B4-BE49-F238E27FC236}">
                <a16:creationId xmlns:a16="http://schemas.microsoft.com/office/drawing/2014/main" id="{686D1543-A995-3D43-A4DC-309BFF4C29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517" y="3813920"/>
            <a:ext cx="5116010" cy="2743200"/>
          </a:xfrm>
          <a:prstGeom prst="rect">
            <a:avLst/>
          </a:prstGeom>
        </p:spPr>
      </p:pic>
      <p:sp>
        <p:nvSpPr>
          <p:cNvPr id="10" name="Rectangle 9">
            <a:extLst>
              <a:ext uri="{FF2B5EF4-FFF2-40B4-BE49-F238E27FC236}">
                <a16:creationId xmlns:a16="http://schemas.microsoft.com/office/drawing/2014/main" id="{DDD87430-F2C1-A144-8066-82988E93AB34}"/>
              </a:ext>
            </a:extLst>
          </p:cNvPr>
          <p:cNvSpPr/>
          <p:nvPr/>
        </p:nvSpPr>
        <p:spPr>
          <a:xfrm>
            <a:off x="5898285" y="3436371"/>
            <a:ext cx="6186630" cy="400110"/>
          </a:xfrm>
          <a:prstGeom prst="rect">
            <a:avLst/>
          </a:prstGeom>
        </p:spPr>
        <p:txBody>
          <a:bodyPr wrap="none">
            <a:spAutoFit/>
          </a:bodyPr>
          <a:lstStyle/>
          <a:p>
            <a:r>
              <a:rPr lang="en-US" sz="2000" b="1" dirty="0">
                <a:solidFill>
                  <a:srgbClr val="C00000"/>
                </a:solidFill>
                <a:latin typeface="LiberationSans"/>
              </a:rPr>
              <a:t>Rotational and Translational Quantities: Circular Motion </a:t>
            </a:r>
            <a:endParaRPr lang="en-US" sz="2000" dirty="0">
              <a:solidFill>
                <a:srgbClr val="C00000"/>
              </a:solidFill>
            </a:endParaRPr>
          </a:p>
        </p:txBody>
      </p:sp>
      <p:pic>
        <p:nvPicPr>
          <p:cNvPr id="12" name="Picture 11" descr="Table&#10;&#10;Description automatically generated">
            <a:extLst>
              <a:ext uri="{FF2B5EF4-FFF2-40B4-BE49-F238E27FC236}">
                <a16:creationId xmlns:a16="http://schemas.microsoft.com/office/drawing/2014/main" id="{6AB1D980-D524-2E4C-BC47-539800FECB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1200" y="3813920"/>
            <a:ext cx="6400800" cy="2086268"/>
          </a:xfrm>
          <a:prstGeom prst="rect">
            <a:avLst/>
          </a:prstGeom>
        </p:spPr>
      </p:pic>
      <p:pic>
        <p:nvPicPr>
          <p:cNvPr id="14" name="Picture 13">
            <a:extLst>
              <a:ext uri="{FF2B5EF4-FFF2-40B4-BE49-F238E27FC236}">
                <a16:creationId xmlns:a16="http://schemas.microsoft.com/office/drawing/2014/main" id="{59F0562D-A387-CE49-8C35-7312EF0170E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91200" y="5897345"/>
            <a:ext cx="6400800" cy="673188"/>
          </a:xfrm>
          <a:prstGeom prst="rect">
            <a:avLst/>
          </a:prstGeom>
        </p:spPr>
      </p:pic>
      <p:pic>
        <p:nvPicPr>
          <p:cNvPr id="15" name="Picture Placeholder 1" descr="Figure shows a particle executing circular motion. The vector ac is at an angle between the vectors a and at.">
            <a:extLst>
              <a:ext uri="{FF2B5EF4-FFF2-40B4-BE49-F238E27FC236}">
                <a16:creationId xmlns:a16="http://schemas.microsoft.com/office/drawing/2014/main" id="{F7F48B65-A192-E74F-B113-12E3BB51DC57}"/>
              </a:ext>
            </a:extLst>
          </p:cNvPr>
          <p:cNvPicPr>
            <a:picLocks noChangeAspect="1"/>
          </p:cNvPicPr>
          <p:nvPr/>
        </p:nvPicPr>
        <p:blipFill>
          <a:blip r:embed="rId7">
            <a:extLst>
              <a:ext uri="{28A0092B-C50C-407E-A947-70E740481C1C}">
                <a14:useLocalDpi xmlns:a14="http://schemas.microsoft.com/office/drawing/2010/main" val="0"/>
              </a:ext>
            </a:extLst>
          </a:blip>
          <a:srcRect l="-67822" r="-67822"/>
          <a:stretch>
            <a:fillRect/>
          </a:stretch>
        </p:blipFill>
        <p:spPr>
          <a:xfrm>
            <a:off x="5508322" y="845469"/>
            <a:ext cx="5732081" cy="2488268"/>
          </a:xfrm>
          <a:prstGeom prst="rect">
            <a:avLst/>
          </a:prstGeom>
        </p:spPr>
      </p:pic>
      <p:pic>
        <p:nvPicPr>
          <p:cNvPr id="17" name="Picture 16" descr="A picture containing text, clock, gauge&#10;&#10;Description automatically generated">
            <a:extLst>
              <a:ext uri="{FF2B5EF4-FFF2-40B4-BE49-F238E27FC236}">
                <a16:creationId xmlns:a16="http://schemas.microsoft.com/office/drawing/2014/main" id="{696DD1EA-ACAE-D346-8BDF-199AE4EF6B5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01142" y="1488764"/>
            <a:ext cx="1898294" cy="548640"/>
          </a:xfrm>
          <a:prstGeom prst="rect">
            <a:avLst/>
          </a:prstGeom>
        </p:spPr>
      </p:pic>
      <p:pic>
        <p:nvPicPr>
          <p:cNvPr id="19" name="Picture 18" descr="Text&#10;&#10;Description automatically generated with medium confidence">
            <a:extLst>
              <a:ext uri="{FF2B5EF4-FFF2-40B4-BE49-F238E27FC236}">
                <a16:creationId xmlns:a16="http://schemas.microsoft.com/office/drawing/2014/main" id="{92E461E1-610A-4B4C-95FA-B7D5E9942A9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653287" y="2037404"/>
            <a:ext cx="2070100" cy="660400"/>
          </a:xfrm>
          <a:prstGeom prst="rect">
            <a:avLst/>
          </a:prstGeom>
        </p:spPr>
      </p:pic>
    </p:spTree>
    <p:extLst>
      <p:ext uri="{BB962C8B-B14F-4D97-AF65-F5344CB8AC3E}">
        <p14:creationId xmlns:p14="http://schemas.microsoft.com/office/powerpoint/2010/main" val="34779059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362"/>
            <a:ext cx="7274860" cy="523220"/>
          </a:xfrm>
          <a:prstGeom prst="rect">
            <a:avLst/>
          </a:prstGeom>
        </p:spPr>
        <p:txBody>
          <a:bodyPr wrap="square">
            <a:spAutoFit/>
          </a:bodyPr>
          <a:lstStyle/>
          <a:p>
            <a:r>
              <a:rPr lang="en-US" sz="2800" dirty="0">
                <a:solidFill>
                  <a:srgbClr val="C00000"/>
                </a:solidFill>
                <a:latin typeface="NewBaskervilleStd-Roman"/>
              </a:rPr>
              <a:t>Relating Angular and Translational Quantities </a:t>
            </a:r>
          </a:p>
        </p:txBody>
      </p:sp>
      <p:sp>
        <p:nvSpPr>
          <p:cNvPr id="7" name="Rectangle 6">
            <a:extLst>
              <a:ext uri="{FF2B5EF4-FFF2-40B4-BE49-F238E27FC236}">
                <a16:creationId xmlns:a16="http://schemas.microsoft.com/office/drawing/2014/main" id="{11D62CBC-EBD1-8147-B731-927BE47DFA75}"/>
              </a:ext>
            </a:extLst>
          </p:cNvPr>
          <p:cNvSpPr/>
          <p:nvPr/>
        </p:nvSpPr>
        <p:spPr>
          <a:xfrm>
            <a:off x="234960" y="3413810"/>
            <a:ext cx="5459571" cy="400110"/>
          </a:xfrm>
          <a:prstGeom prst="rect">
            <a:avLst/>
          </a:prstGeom>
        </p:spPr>
        <p:txBody>
          <a:bodyPr wrap="none">
            <a:spAutoFit/>
          </a:bodyPr>
          <a:lstStyle/>
          <a:p>
            <a:r>
              <a:rPr lang="en-US" sz="2000" b="1" dirty="0">
                <a:solidFill>
                  <a:srgbClr val="D6542B"/>
                </a:solidFill>
                <a:latin typeface="LiberationSans"/>
              </a:rPr>
              <a:t>Rotational and Translational Kinematic Equations </a:t>
            </a:r>
            <a:endParaRPr lang="en-US" sz="2000" dirty="0"/>
          </a:p>
        </p:txBody>
      </p:sp>
      <p:pic>
        <p:nvPicPr>
          <p:cNvPr id="9" name="Picture 8" descr="Table&#10;&#10;Description automatically generated">
            <a:extLst>
              <a:ext uri="{FF2B5EF4-FFF2-40B4-BE49-F238E27FC236}">
                <a16:creationId xmlns:a16="http://schemas.microsoft.com/office/drawing/2014/main" id="{686D1543-A995-3D43-A4DC-309BFF4C29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517" y="3813920"/>
            <a:ext cx="5116010" cy="2743200"/>
          </a:xfrm>
          <a:prstGeom prst="rect">
            <a:avLst/>
          </a:prstGeom>
        </p:spPr>
      </p:pic>
      <p:sp>
        <p:nvSpPr>
          <p:cNvPr id="10" name="Rectangle 9">
            <a:extLst>
              <a:ext uri="{FF2B5EF4-FFF2-40B4-BE49-F238E27FC236}">
                <a16:creationId xmlns:a16="http://schemas.microsoft.com/office/drawing/2014/main" id="{DDD87430-F2C1-A144-8066-82988E93AB34}"/>
              </a:ext>
            </a:extLst>
          </p:cNvPr>
          <p:cNvSpPr/>
          <p:nvPr/>
        </p:nvSpPr>
        <p:spPr>
          <a:xfrm>
            <a:off x="5898285" y="3436371"/>
            <a:ext cx="6186630" cy="400110"/>
          </a:xfrm>
          <a:prstGeom prst="rect">
            <a:avLst/>
          </a:prstGeom>
        </p:spPr>
        <p:txBody>
          <a:bodyPr wrap="none">
            <a:spAutoFit/>
          </a:bodyPr>
          <a:lstStyle/>
          <a:p>
            <a:r>
              <a:rPr lang="en-US" sz="2000" b="1" dirty="0">
                <a:solidFill>
                  <a:srgbClr val="C00000"/>
                </a:solidFill>
                <a:latin typeface="LiberationSans"/>
              </a:rPr>
              <a:t>Rotational and Translational Quantities: Circular Motion </a:t>
            </a:r>
            <a:endParaRPr lang="en-US" sz="2000" dirty="0">
              <a:solidFill>
                <a:srgbClr val="C00000"/>
              </a:solidFill>
            </a:endParaRPr>
          </a:p>
        </p:txBody>
      </p:sp>
      <p:pic>
        <p:nvPicPr>
          <p:cNvPr id="12" name="Picture 11" descr="Table&#10;&#10;Description automatically generated">
            <a:extLst>
              <a:ext uri="{FF2B5EF4-FFF2-40B4-BE49-F238E27FC236}">
                <a16:creationId xmlns:a16="http://schemas.microsoft.com/office/drawing/2014/main" id="{6AB1D980-D524-2E4C-BC47-539800FECB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813920"/>
            <a:ext cx="6400800" cy="2086268"/>
          </a:xfrm>
          <a:prstGeom prst="rect">
            <a:avLst/>
          </a:prstGeom>
        </p:spPr>
      </p:pic>
      <p:pic>
        <p:nvPicPr>
          <p:cNvPr id="14" name="Picture 13">
            <a:extLst>
              <a:ext uri="{FF2B5EF4-FFF2-40B4-BE49-F238E27FC236}">
                <a16:creationId xmlns:a16="http://schemas.microsoft.com/office/drawing/2014/main" id="{59F0562D-A387-CE49-8C35-7312EF0170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1200" y="5897345"/>
            <a:ext cx="6400800" cy="673188"/>
          </a:xfrm>
          <a:prstGeom prst="rect">
            <a:avLst/>
          </a:prstGeom>
        </p:spPr>
      </p:pic>
      <p:pic>
        <p:nvPicPr>
          <p:cNvPr id="15" name="Picture Placeholder 1" descr="Figure shows a particle executing circular motion. The vector ac is at an angle between the vectors a and at.">
            <a:extLst>
              <a:ext uri="{FF2B5EF4-FFF2-40B4-BE49-F238E27FC236}">
                <a16:creationId xmlns:a16="http://schemas.microsoft.com/office/drawing/2014/main" id="{F7F48B65-A192-E74F-B113-12E3BB51DC57}"/>
              </a:ext>
            </a:extLst>
          </p:cNvPr>
          <p:cNvPicPr>
            <a:picLocks noChangeAspect="1"/>
          </p:cNvPicPr>
          <p:nvPr/>
        </p:nvPicPr>
        <p:blipFill>
          <a:blip r:embed="rId6">
            <a:extLst>
              <a:ext uri="{28A0092B-C50C-407E-A947-70E740481C1C}">
                <a14:useLocalDpi xmlns:a14="http://schemas.microsoft.com/office/drawing/2010/main" val="0"/>
              </a:ext>
            </a:extLst>
          </a:blip>
          <a:srcRect l="-67822" r="-67822"/>
          <a:stretch>
            <a:fillRect/>
          </a:stretch>
        </p:blipFill>
        <p:spPr>
          <a:xfrm>
            <a:off x="5508322" y="845469"/>
            <a:ext cx="5732081" cy="2488268"/>
          </a:xfrm>
          <a:prstGeom prst="rect">
            <a:avLst/>
          </a:prstGeom>
        </p:spPr>
      </p:pic>
      <p:pic>
        <p:nvPicPr>
          <p:cNvPr id="17" name="Picture 16" descr="A picture containing text, clock, gauge&#10;&#10;Description automatically generated">
            <a:extLst>
              <a:ext uri="{FF2B5EF4-FFF2-40B4-BE49-F238E27FC236}">
                <a16:creationId xmlns:a16="http://schemas.microsoft.com/office/drawing/2014/main" id="{696DD1EA-ACAE-D346-8BDF-199AE4EF6B5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01142" y="1488764"/>
            <a:ext cx="1898294" cy="548640"/>
          </a:xfrm>
          <a:prstGeom prst="rect">
            <a:avLst/>
          </a:prstGeom>
        </p:spPr>
      </p:pic>
      <p:pic>
        <p:nvPicPr>
          <p:cNvPr id="19" name="Picture 18" descr="Text&#10;&#10;Description automatically generated with medium confidence">
            <a:extLst>
              <a:ext uri="{FF2B5EF4-FFF2-40B4-BE49-F238E27FC236}">
                <a16:creationId xmlns:a16="http://schemas.microsoft.com/office/drawing/2014/main" id="{92E461E1-610A-4B4C-95FA-B7D5E9942A9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653287" y="2037404"/>
            <a:ext cx="2070100" cy="660400"/>
          </a:xfrm>
          <a:prstGeom prst="rect">
            <a:avLst/>
          </a:prstGeom>
        </p:spPr>
      </p:pic>
      <p:sp>
        <p:nvSpPr>
          <p:cNvPr id="16" name="Rectangle 15">
            <a:extLst>
              <a:ext uri="{FF2B5EF4-FFF2-40B4-BE49-F238E27FC236}">
                <a16:creationId xmlns:a16="http://schemas.microsoft.com/office/drawing/2014/main" id="{F449C22C-062A-5649-B3E7-5A93604A37BD}"/>
              </a:ext>
            </a:extLst>
          </p:cNvPr>
          <p:cNvSpPr/>
          <p:nvPr/>
        </p:nvSpPr>
        <p:spPr>
          <a:xfrm>
            <a:off x="311369" y="621364"/>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sp>
        <p:nvSpPr>
          <p:cNvPr id="3" name="Rectangle 2">
            <a:extLst>
              <a:ext uri="{FF2B5EF4-FFF2-40B4-BE49-F238E27FC236}">
                <a16:creationId xmlns:a16="http://schemas.microsoft.com/office/drawing/2014/main" id="{45A10BDF-5A62-6046-B4F6-863C1BFF2739}"/>
              </a:ext>
            </a:extLst>
          </p:cNvPr>
          <p:cNvSpPr/>
          <p:nvPr/>
        </p:nvSpPr>
        <p:spPr>
          <a:xfrm>
            <a:off x="294674" y="962508"/>
            <a:ext cx="6915568" cy="2246769"/>
          </a:xfrm>
          <a:prstGeom prst="rect">
            <a:avLst/>
          </a:prstGeom>
        </p:spPr>
        <p:txBody>
          <a:bodyPr wrap="square">
            <a:spAutoFit/>
          </a:bodyPr>
          <a:lstStyle/>
          <a:p>
            <a:r>
              <a:rPr lang="en-US" sz="2000" b="1" dirty="0">
                <a:solidFill>
                  <a:srgbClr val="213866"/>
                </a:solidFill>
                <a:latin typeface="LiberationSans"/>
              </a:rPr>
              <a:t>Linear Acceleration of a Centrifuge </a:t>
            </a:r>
            <a:endParaRPr lang="en-US" sz="2000" dirty="0"/>
          </a:p>
          <a:p>
            <a:r>
              <a:rPr lang="en-US" sz="2000" dirty="0">
                <a:latin typeface="LiberationSerif"/>
              </a:rPr>
              <a:t>A centrifuge has a radius of 20 cm and accelerates from a maximum rotation rate of 10,000 rpm to rest in 30 seconds under a constant angular acceleration. It is rotating counterclockwise. What is the magnitude of the total acceleration of a point at the tip of the centrifuge at </a:t>
            </a:r>
            <a:r>
              <a:rPr lang="en-US" sz="2000" i="1" dirty="0">
                <a:latin typeface="STIXGeneral" pitchFamily="2" charset="2"/>
              </a:rPr>
              <a:t>t </a:t>
            </a:r>
            <a:r>
              <a:rPr lang="en-US" sz="2000" dirty="0">
                <a:latin typeface="STIXGeneral" pitchFamily="2" charset="2"/>
              </a:rPr>
              <a:t>= 29.0s? </a:t>
            </a:r>
            <a:r>
              <a:rPr lang="en-US" sz="2000" dirty="0">
                <a:latin typeface="LiberationSerif"/>
              </a:rPr>
              <a:t>What is the direction of the total acceleration vector? </a:t>
            </a:r>
            <a:endParaRPr lang="en-US" sz="2000" dirty="0"/>
          </a:p>
        </p:txBody>
      </p:sp>
    </p:spTree>
    <p:extLst>
      <p:ext uri="{BB962C8B-B14F-4D97-AF65-F5344CB8AC3E}">
        <p14:creationId xmlns:p14="http://schemas.microsoft.com/office/powerpoint/2010/main" val="3697114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362"/>
            <a:ext cx="7274860" cy="523220"/>
          </a:xfrm>
          <a:prstGeom prst="rect">
            <a:avLst/>
          </a:prstGeom>
        </p:spPr>
        <p:txBody>
          <a:bodyPr wrap="square">
            <a:spAutoFit/>
          </a:bodyPr>
          <a:lstStyle/>
          <a:p>
            <a:r>
              <a:rPr lang="en-US" sz="2800" dirty="0">
                <a:solidFill>
                  <a:srgbClr val="C00000"/>
                </a:solidFill>
                <a:latin typeface="NewBaskervilleStd-Roman"/>
              </a:rPr>
              <a:t>Relating Angular and Translational Quantities </a:t>
            </a:r>
          </a:p>
        </p:txBody>
      </p:sp>
      <p:sp>
        <p:nvSpPr>
          <p:cNvPr id="7" name="Rectangle 6">
            <a:extLst>
              <a:ext uri="{FF2B5EF4-FFF2-40B4-BE49-F238E27FC236}">
                <a16:creationId xmlns:a16="http://schemas.microsoft.com/office/drawing/2014/main" id="{11D62CBC-EBD1-8147-B731-927BE47DFA75}"/>
              </a:ext>
            </a:extLst>
          </p:cNvPr>
          <p:cNvSpPr/>
          <p:nvPr/>
        </p:nvSpPr>
        <p:spPr>
          <a:xfrm>
            <a:off x="234960" y="3413810"/>
            <a:ext cx="5459571" cy="400110"/>
          </a:xfrm>
          <a:prstGeom prst="rect">
            <a:avLst/>
          </a:prstGeom>
        </p:spPr>
        <p:txBody>
          <a:bodyPr wrap="none">
            <a:spAutoFit/>
          </a:bodyPr>
          <a:lstStyle/>
          <a:p>
            <a:r>
              <a:rPr lang="en-US" sz="2000" b="1" dirty="0">
                <a:solidFill>
                  <a:srgbClr val="D6542B"/>
                </a:solidFill>
                <a:latin typeface="LiberationSans"/>
              </a:rPr>
              <a:t>Rotational and Translational Kinematic Equations </a:t>
            </a:r>
            <a:endParaRPr lang="en-US" sz="2000" dirty="0"/>
          </a:p>
        </p:txBody>
      </p:sp>
      <p:pic>
        <p:nvPicPr>
          <p:cNvPr id="9" name="Picture 8" descr="Table&#10;&#10;Description automatically generated">
            <a:extLst>
              <a:ext uri="{FF2B5EF4-FFF2-40B4-BE49-F238E27FC236}">
                <a16:creationId xmlns:a16="http://schemas.microsoft.com/office/drawing/2014/main" id="{686D1543-A995-3D43-A4DC-309BFF4C29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517" y="3813920"/>
            <a:ext cx="5116010" cy="2743200"/>
          </a:xfrm>
          <a:prstGeom prst="rect">
            <a:avLst/>
          </a:prstGeom>
        </p:spPr>
      </p:pic>
      <p:sp>
        <p:nvSpPr>
          <p:cNvPr id="10" name="Rectangle 9">
            <a:extLst>
              <a:ext uri="{FF2B5EF4-FFF2-40B4-BE49-F238E27FC236}">
                <a16:creationId xmlns:a16="http://schemas.microsoft.com/office/drawing/2014/main" id="{DDD87430-F2C1-A144-8066-82988E93AB34}"/>
              </a:ext>
            </a:extLst>
          </p:cNvPr>
          <p:cNvSpPr/>
          <p:nvPr/>
        </p:nvSpPr>
        <p:spPr>
          <a:xfrm>
            <a:off x="5898285" y="3436371"/>
            <a:ext cx="6186630" cy="400110"/>
          </a:xfrm>
          <a:prstGeom prst="rect">
            <a:avLst/>
          </a:prstGeom>
        </p:spPr>
        <p:txBody>
          <a:bodyPr wrap="none">
            <a:spAutoFit/>
          </a:bodyPr>
          <a:lstStyle/>
          <a:p>
            <a:r>
              <a:rPr lang="en-US" sz="2000" b="1" dirty="0">
                <a:solidFill>
                  <a:srgbClr val="C00000"/>
                </a:solidFill>
                <a:latin typeface="LiberationSans"/>
              </a:rPr>
              <a:t>Rotational and Translational Quantities: Circular Motion </a:t>
            </a:r>
            <a:endParaRPr lang="en-US" sz="2000" dirty="0">
              <a:solidFill>
                <a:srgbClr val="C00000"/>
              </a:solidFill>
            </a:endParaRPr>
          </a:p>
        </p:txBody>
      </p:sp>
      <p:pic>
        <p:nvPicPr>
          <p:cNvPr id="12" name="Picture 11" descr="Table&#10;&#10;Description automatically generated">
            <a:extLst>
              <a:ext uri="{FF2B5EF4-FFF2-40B4-BE49-F238E27FC236}">
                <a16:creationId xmlns:a16="http://schemas.microsoft.com/office/drawing/2014/main" id="{6AB1D980-D524-2E4C-BC47-539800FECB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813920"/>
            <a:ext cx="6400800" cy="2086268"/>
          </a:xfrm>
          <a:prstGeom prst="rect">
            <a:avLst/>
          </a:prstGeom>
        </p:spPr>
      </p:pic>
      <p:pic>
        <p:nvPicPr>
          <p:cNvPr id="14" name="Picture 13">
            <a:extLst>
              <a:ext uri="{FF2B5EF4-FFF2-40B4-BE49-F238E27FC236}">
                <a16:creationId xmlns:a16="http://schemas.microsoft.com/office/drawing/2014/main" id="{59F0562D-A387-CE49-8C35-7312EF0170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1200" y="5897345"/>
            <a:ext cx="6400800" cy="673188"/>
          </a:xfrm>
          <a:prstGeom prst="rect">
            <a:avLst/>
          </a:prstGeom>
        </p:spPr>
      </p:pic>
      <p:pic>
        <p:nvPicPr>
          <p:cNvPr id="15" name="Picture Placeholder 1" descr="Figure shows a particle executing circular motion. The vector ac is at an angle between the vectors a and at.">
            <a:extLst>
              <a:ext uri="{FF2B5EF4-FFF2-40B4-BE49-F238E27FC236}">
                <a16:creationId xmlns:a16="http://schemas.microsoft.com/office/drawing/2014/main" id="{F7F48B65-A192-E74F-B113-12E3BB51DC57}"/>
              </a:ext>
            </a:extLst>
          </p:cNvPr>
          <p:cNvPicPr>
            <a:picLocks noChangeAspect="1"/>
          </p:cNvPicPr>
          <p:nvPr/>
        </p:nvPicPr>
        <p:blipFill>
          <a:blip r:embed="rId6">
            <a:extLst>
              <a:ext uri="{28A0092B-C50C-407E-A947-70E740481C1C}">
                <a14:useLocalDpi xmlns:a14="http://schemas.microsoft.com/office/drawing/2010/main" val="0"/>
              </a:ext>
            </a:extLst>
          </a:blip>
          <a:srcRect l="-67822" r="-67822"/>
          <a:stretch>
            <a:fillRect/>
          </a:stretch>
        </p:blipFill>
        <p:spPr>
          <a:xfrm>
            <a:off x="5508322" y="845469"/>
            <a:ext cx="5732081" cy="2488268"/>
          </a:xfrm>
          <a:prstGeom prst="rect">
            <a:avLst/>
          </a:prstGeom>
        </p:spPr>
      </p:pic>
      <p:pic>
        <p:nvPicPr>
          <p:cNvPr id="17" name="Picture 16" descr="A picture containing text, clock, gauge&#10;&#10;Description automatically generated">
            <a:extLst>
              <a:ext uri="{FF2B5EF4-FFF2-40B4-BE49-F238E27FC236}">
                <a16:creationId xmlns:a16="http://schemas.microsoft.com/office/drawing/2014/main" id="{696DD1EA-ACAE-D346-8BDF-199AE4EF6B5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01142" y="1488764"/>
            <a:ext cx="1898294" cy="548640"/>
          </a:xfrm>
          <a:prstGeom prst="rect">
            <a:avLst/>
          </a:prstGeom>
        </p:spPr>
      </p:pic>
      <p:pic>
        <p:nvPicPr>
          <p:cNvPr id="19" name="Picture 18" descr="Text&#10;&#10;Description automatically generated with medium confidence">
            <a:extLst>
              <a:ext uri="{FF2B5EF4-FFF2-40B4-BE49-F238E27FC236}">
                <a16:creationId xmlns:a16="http://schemas.microsoft.com/office/drawing/2014/main" id="{92E461E1-610A-4B4C-95FA-B7D5E9942A9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653287" y="2037404"/>
            <a:ext cx="2070100" cy="660400"/>
          </a:xfrm>
          <a:prstGeom prst="rect">
            <a:avLst/>
          </a:prstGeom>
        </p:spPr>
      </p:pic>
      <p:sp>
        <p:nvSpPr>
          <p:cNvPr id="18" name="Rectangle 17">
            <a:extLst>
              <a:ext uri="{FF2B5EF4-FFF2-40B4-BE49-F238E27FC236}">
                <a16:creationId xmlns:a16="http://schemas.microsoft.com/office/drawing/2014/main" id="{07608DC0-B83A-5148-81E5-43615A7DBAE0}"/>
              </a:ext>
            </a:extLst>
          </p:cNvPr>
          <p:cNvSpPr/>
          <p:nvPr/>
        </p:nvSpPr>
        <p:spPr>
          <a:xfrm>
            <a:off x="376517" y="1104043"/>
            <a:ext cx="6096000" cy="769441"/>
          </a:xfrm>
          <a:prstGeom prst="rect">
            <a:avLst/>
          </a:prstGeom>
        </p:spPr>
        <p:txBody>
          <a:bodyPr wrap="square">
            <a:spAutoFit/>
          </a:bodyPr>
          <a:lstStyle/>
          <a:p>
            <a:r>
              <a:rPr lang="en-US" sz="2200" dirty="0">
                <a:solidFill>
                  <a:srgbClr val="0000CC"/>
                </a:solidFill>
              </a:rPr>
              <a:t>Assignment 2</a:t>
            </a:r>
          </a:p>
          <a:p>
            <a:endParaRPr lang="en-US" sz="2200" dirty="0">
              <a:solidFill>
                <a:srgbClr val="0000CC"/>
              </a:solidFill>
            </a:endParaRPr>
          </a:p>
        </p:txBody>
      </p:sp>
      <p:sp>
        <p:nvSpPr>
          <p:cNvPr id="2" name="Rectangle 1">
            <a:extLst>
              <a:ext uri="{FF2B5EF4-FFF2-40B4-BE49-F238E27FC236}">
                <a16:creationId xmlns:a16="http://schemas.microsoft.com/office/drawing/2014/main" id="{7D9C148A-8C83-CA4C-B58A-A093BE6E6BB6}"/>
              </a:ext>
            </a:extLst>
          </p:cNvPr>
          <p:cNvSpPr/>
          <p:nvPr/>
        </p:nvSpPr>
        <p:spPr>
          <a:xfrm>
            <a:off x="376516" y="1445166"/>
            <a:ext cx="5521769" cy="1446550"/>
          </a:xfrm>
          <a:prstGeom prst="rect">
            <a:avLst/>
          </a:prstGeom>
        </p:spPr>
        <p:txBody>
          <a:bodyPr wrap="square">
            <a:spAutoFit/>
          </a:bodyPr>
          <a:lstStyle/>
          <a:p>
            <a:r>
              <a:rPr lang="en-US" sz="2200" dirty="0">
                <a:latin typeface="LiberationSerif"/>
              </a:rPr>
              <a:t>A bicycle wheel with radius 0.3 m rotates from rest to 3 rev/s in 5 s. What is the magnitude and direction of the total acceleration vector at the edge of the wheel at 1.0 s? </a:t>
            </a:r>
            <a:endParaRPr lang="en-US" sz="2200" dirty="0"/>
          </a:p>
        </p:txBody>
      </p:sp>
    </p:spTree>
    <p:extLst>
      <p:ext uri="{BB962C8B-B14F-4D97-AF65-F5344CB8AC3E}">
        <p14:creationId xmlns:p14="http://schemas.microsoft.com/office/powerpoint/2010/main" val="31119419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458570" y="89044"/>
            <a:ext cx="7274860" cy="523220"/>
          </a:xfrm>
          <a:prstGeom prst="rect">
            <a:avLst/>
          </a:prstGeom>
        </p:spPr>
        <p:txBody>
          <a:bodyPr wrap="square">
            <a:spAutoFit/>
          </a:bodyPr>
          <a:lstStyle/>
          <a:p>
            <a:r>
              <a:rPr lang="en-US" sz="2800" dirty="0">
                <a:solidFill>
                  <a:srgbClr val="C00000"/>
                </a:solidFill>
                <a:latin typeface="NewBaskervilleStd-Roman"/>
              </a:rPr>
              <a:t>Moment of Inertia and Rotational Kinetic Energy </a:t>
            </a:r>
          </a:p>
        </p:txBody>
      </p:sp>
      <p:pic>
        <p:nvPicPr>
          <p:cNvPr id="4" name="Picture Placeholder 1" descr="Figure is a photo of a man sharpening a piece of metal on the rotating grindstone. Sparks from the grindstone are clearly evident.">
            <a:extLst>
              <a:ext uri="{FF2B5EF4-FFF2-40B4-BE49-F238E27FC236}">
                <a16:creationId xmlns:a16="http://schemas.microsoft.com/office/drawing/2014/main" id="{04DC6D00-B6C4-E242-92E5-9BD812BE8466}"/>
              </a:ext>
            </a:extLst>
          </p:cNvPr>
          <p:cNvPicPr>
            <a:picLocks noChangeAspect="1"/>
          </p:cNvPicPr>
          <p:nvPr/>
        </p:nvPicPr>
        <p:blipFill>
          <a:blip r:embed="rId3" cstate="email">
            <a:extLst>
              <a:ext uri="{28A0092B-C50C-407E-A947-70E740481C1C}">
                <a14:useLocalDpi xmlns:a14="http://schemas.microsoft.com/office/drawing/2010/main" val="0"/>
              </a:ext>
            </a:extLst>
          </a:blip>
          <a:srcRect l="-26420" r="-26420"/>
          <a:stretch>
            <a:fillRect/>
          </a:stretch>
        </p:blipFill>
        <p:spPr>
          <a:xfrm>
            <a:off x="-591671" y="802276"/>
            <a:ext cx="8062913" cy="3500071"/>
          </a:xfrm>
          <a:prstGeom prst="rect">
            <a:avLst/>
          </a:prstGeom>
        </p:spPr>
      </p:pic>
      <p:sp>
        <p:nvSpPr>
          <p:cNvPr id="7" name="Text Placeholder 6">
            <a:extLst>
              <a:ext uri="{FF2B5EF4-FFF2-40B4-BE49-F238E27FC236}">
                <a16:creationId xmlns:a16="http://schemas.microsoft.com/office/drawing/2014/main" id="{A86E520D-2C93-124C-9A3E-6EEEA82A90E0}"/>
              </a:ext>
            </a:extLst>
          </p:cNvPr>
          <p:cNvSpPr txBox="1">
            <a:spLocks/>
          </p:cNvSpPr>
          <p:nvPr/>
        </p:nvSpPr>
        <p:spPr>
          <a:xfrm>
            <a:off x="535220" y="4320342"/>
            <a:ext cx="5809129"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3B124D"/>
                </a:solidFill>
              </a:rPr>
              <a:t>The rotational kinetic energy of the grindstone is converted to heat, light, sound, and vibration. </a:t>
            </a:r>
            <a:r>
              <a:rPr lang="en-US" sz="1000" dirty="0">
                <a:solidFill>
                  <a:srgbClr val="3B124D"/>
                </a:solidFill>
              </a:rPr>
              <a:t>(credit: Zachary David Bell, US Navy)</a:t>
            </a:r>
          </a:p>
        </p:txBody>
      </p:sp>
      <p:sp>
        <p:nvSpPr>
          <p:cNvPr id="2" name="Rectangle 1">
            <a:extLst>
              <a:ext uri="{FF2B5EF4-FFF2-40B4-BE49-F238E27FC236}">
                <a16:creationId xmlns:a16="http://schemas.microsoft.com/office/drawing/2014/main" id="{6EF45679-3633-024F-B3EC-27BDB392C6B5}"/>
              </a:ext>
            </a:extLst>
          </p:cNvPr>
          <p:cNvSpPr/>
          <p:nvPr/>
        </p:nvSpPr>
        <p:spPr>
          <a:xfrm>
            <a:off x="6236773" y="909611"/>
            <a:ext cx="5756433" cy="1323439"/>
          </a:xfrm>
          <a:prstGeom prst="rect">
            <a:avLst/>
          </a:prstGeom>
        </p:spPr>
        <p:txBody>
          <a:bodyPr wrap="square">
            <a:spAutoFit/>
          </a:bodyPr>
          <a:lstStyle/>
          <a:p>
            <a:r>
              <a:rPr lang="en-US" sz="2000" dirty="0">
                <a:solidFill>
                  <a:srgbClr val="3B124D"/>
                </a:solidFill>
                <a:latin typeface="LiberationSerif"/>
              </a:rPr>
              <a:t>Energy in rotational motion is not a new form of energy; rather, it is the energy associated with rotational motion, the same as kinetic energy in translational motion. </a:t>
            </a:r>
            <a:endParaRPr lang="en-US" sz="2000" dirty="0">
              <a:solidFill>
                <a:srgbClr val="3B124D"/>
              </a:solidFill>
            </a:endParaRPr>
          </a:p>
        </p:txBody>
      </p:sp>
      <p:sp>
        <p:nvSpPr>
          <p:cNvPr id="3" name="Rectangle 2">
            <a:extLst>
              <a:ext uri="{FF2B5EF4-FFF2-40B4-BE49-F238E27FC236}">
                <a16:creationId xmlns:a16="http://schemas.microsoft.com/office/drawing/2014/main" id="{EC94CC44-4E56-D642-90D1-E8A1E896F43D}"/>
              </a:ext>
            </a:extLst>
          </p:cNvPr>
          <p:cNvSpPr/>
          <p:nvPr/>
        </p:nvSpPr>
        <p:spPr>
          <a:xfrm>
            <a:off x="6236773" y="2283967"/>
            <a:ext cx="2904000" cy="400110"/>
          </a:xfrm>
          <a:prstGeom prst="rect">
            <a:avLst/>
          </a:prstGeom>
        </p:spPr>
        <p:txBody>
          <a:bodyPr wrap="none">
            <a:spAutoFit/>
          </a:bodyPr>
          <a:lstStyle/>
          <a:p>
            <a:r>
              <a:rPr lang="en-US" sz="2000" dirty="0">
                <a:solidFill>
                  <a:srgbClr val="C00000"/>
                </a:solidFill>
                <a:latin typeface="LiberationSerif"/>
              </a:rPr>
              <a:t>Using the relation </a:t>
            </a:r>
            <a:r>
              <a:rPr lang="en-US" sz="2000" i="1" dirty="0" err="1">
                <a:latin typeface="STIXGeneral" pitchFamily="2" charset="2"/>
              </a:rPr>
              <a:t>v</a:t>
            </a:r>
            <a:r>
              <a:rPr lang="en-US" sz="2000" baseline="-25000" dirty="0" err="1">
                <a:latin typeface="STIXGeneral" pitchFamily="2" charset="2"/>
              </a:rPr>
              <a:t>t</a:t>
            </a:r>
            <a:r>
              <a:rPr lang="en-US" sz="2000" dirty="0">
                <a:latin typeface="STIXGeneral" pitchFamily="2" charset="2"/>
              </a:rPr>
              <a:t> = </a:t>
            </a:r>
            <a:r>
              <a:rPr lang="el-GR" sz="2000" i="1" dirty="0">
                <a:latin typeface="STIXGeneral" pitchFamily="2" charset="2"/>
              </a:rPr>
              <a:t>ω</a:t>
            </a:r>
            <a:r>
              <a:rPr lang="en-US" sz="2000" i="1" dirty="0">
                <a:latin typeface="STIXGeneral" pitchFamily="2" charset="2"/>
              </a:rPr>
              <a:t>r </a:t>
            </a:r>
            <a:endParaRPr lang="en-US" sz="2000" dirty="0"/>
          </a:p>
        </p:txBody>
      </p:sp>
      <p:sp>
        <p:nvSpPr>
          <p:cNvPr id="8" name="Rectangle 7">
            <a:extLst>
              <a:ext uri="{FF2B5EF4-FFF2-40B4-BE49-F238E27FC236}">
                <a16:creationId xmlns:a16="http://schemas.microsoft.com/office/drawing/2014/main" id="{324BD898-4462-B94C-A0D0-4B9F71C3F628}"/>
              </a:ext>
            </a:extLst>
          </p:cNvPr>
          <p:cNvSpPr/>
          <p:nvPr/>
        </p:nvSpPr>
        <p:spPr>
          <a:xfrm>
            <a:off x="8691282" y="3392357"/>
            <a:ext cx="2635786" cy="369332"/>
          </a:xfrm>
          <a:prstGeom prst="rect">
            <a:avLst/>
          </a:prstGeom>
        </p:spPr>
        <p:txBody>
          <a:bodyPr wrap="none">
            <a:spAutoFit/>
          </a:bodyPr>
          <a:lstStyle/>
          <a:p>
            <a:r>
              <a:rPr lang="en-US" b="1" dirty="0">
                <a:solidFill>
                  <a:srgbClr val="5189BC"/>
                </a:solidFill>
                <a:latin typeface="LiberationSans"/>
              </a:rPr>
              <a:t>Rotational Kinetic Energy </a:t>
            </a:r>
            <a:endParaRPr lang="en-US" dirty="0"/>
          </a:p>
        </p:txBody>
      </p:sp>
      <p:pic>
        <p:nvPicPr>
          <p:cNvPr id="10" name="Picture 9" descr="Text&#10;&#10;Description automatically generated">
            <a:extLst>
              <a:ext uri="{FF2B5EF4-FFF2-40B4-BE49-F238E27FC236}">
                <a16:creationId xmlns:a16="http://schemas.microsoft.com/office/drawing/2014/main" id="{CBE807F4-5719-424B-A0EF-521BBC4BC6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8532" y="2832100"/>
            <a:ext cx="3365500" cy="596900"/>
          </a:xfrm>
          <a:prstGeom prst="rect">
            <a:avLst/>
          </a:prstGeom>
        </p:spPr>
      </p:pic>
      <p:sp>
        <p:nvSpPr>
          <p:cNvPr id="11" name="Rectangle 10">
            <a:extLst>
              <a:ext uri="{FF2B5EF4-FFF2-40B4-BE49-F238E27FC236}">
                <a16:creationId xmlns:a16="http://schemas.microsoft.com/office/drawing/2014/main" id="{7FC2E0AE-7E34-164B-9A19-949D7B1DE73B}"/>
              </a:ext>
            </a:extLst>
          </p:cNvPr>
          <p:cNvSpPr/>
          <p:nvPr/>
        </p:nvSpPr>
        <p:spPr>
          <a:xfrm>
            <a:off x="540250" y="4855395"/>
            <a:ext cx="11452956" cy="1015663"/>
          </a:xfrm>
          <a:prstGeom prst="rect">
            <a:avLst/>
          </a:prstGeom>
        </p:spPr>
        <p:txBody>
          <a:bodyPr wrap="square">
            <a:spAutoFit/>
          </a:bodyPr>
          <a:lstStyle/>
          <a:p>
            <a:r>
              <a:rPr lang="en-US" sz="2000" dirty="0">
                <a:solidFill>
                  <a:srgbClr val="003399"/>
                </a:solidFill>
                <a:latin typeface="LiberationSerif"/>
              </a:rPr>
              <a:t>In the case of a rigid rotating body, we can divide up any body into a large number of smaller masses, each with a mass </a:t>
            </a:r>
            <a:r>
              <a:rPr lang="en-US" sz="2000" i="1" dirty="0" err="1">
                <a:latin typeface="STIXGeneral" pitchFamily="2" charset="2"/>
              </a:rPr>
              <a:t>m</a:t>
            </a:r>
            <a:r>
              <a:rPr lang="en-US" sz="2000" i="1" baseline="-25000" dirty="0" err="1">
                <a:latin typeface="STIXGeneral" pitchFamily="2" charset="2"/>
              </a:rPr>
              <a:t>j</a:t>
            </a:r>
            <a:r>
              <a:rPr lang="en-US" sz="2000" i="1" dirty="0">
                <a:latin typeface="STIXGeneral" pitchFamily="2" charset="2"/>
              </a:rPr>
              <a:t> </a:t>
            </a:r>
            <a:r>
              <a:rPr lang="en-US" sz="2000" i="1" dirty="0">
                <a:solidFill>
                  <a:srgbClr val="003399"/>
                </a:solidFill>
              </a:rPr>
              <a:t> </a:t>
            </a:r>
            <a:r>
              <a:rPr lang="en-US" sz="2000" dirty="0">
                <a:solidFill>
                  <a:srgbClr val="003399"/>
                </a:solidFill>
                <a:latin typeface="LiberationSerif"/>
              </a:rPr>
              <a:t>and distance to the axis of rotation </a:t>
            </a:r>
            <a:r>
              <a:rPr lang="en-US" sz="2000" i="1" dirty="0" err="1">
                <a:latin typeface="STIXGeneral" pitchFamily="2" charset="2"/>
              </a:rPr>
              <a:t>r</a:t>
            </a:r>
            <a:r>
              <a:rPr lang="en-US" sz="2000" i="1" baseline="-25000" dirty="0" err="1">
                <a:latin typeface="STIXGeneral" pitchFamily="2" charset="2"/>
              </a:rPr>
              <a:t>j</a:t>
            </a:r>
            <a:r>
              <a:rPr lang="en-US" sz="2000" i="1" dirty="0">
                <a:solidFill>
                  <a:srgbClr val="003399"/>
                </a:solidFill>
                <a:latin typeface="STIXGeneral" pitchFamily="2" charset="2"/>
              </a:rPr>
              <a:t> </a:t>
            </a:r>
            <a:r>
              <a:rPr lang="en-US" sz="2000" dirty="0">
                <a:solidFill>
                  <a:srgbClr val="003399"/>
                </a:solidFill>
                <a:latin typeface="LiberationSerif"/>
              </a:rPr>
              <a:t>, such that the total mass of the body is equal to the sum of the individual masses.</a:t>
            </a:r>
            <a:endParaRPr lang="en-US" sz="2000" dirty="0">
              <a:solidFill>
                <a:srgbClr val="003399"/>
              </a:solidFill>
            </a:endParaRPr>
          </a:p>
        </p:txBody>
      </p:sp>
      <p:sp>
        <p:nvSpPr>
          <p:cNvPr id="12" name="Rectangle 11">
            <a:extLst>
              <a:ext uri="{FF2B5EF4-FFF2-40B4-BE49-F238E27FC236}">
                <a16:creationId xmlns:a16="http://schemas.microsoft.com/office/drawing/2014/main" id="{7A5FC03F-E5EC-8B40-8CBC-A9D4AC1957C1}"/>
              </a:ext>
            </a:extLst>
          </p:cNvPr>
          <p:cNvSpPr/>
          <p:nvPr/>
        </p:nvSpPr>
        <p:spPr>
          <a:xfrm>
            <a:off x="535220" y="5890388"/>
            <a:ext cx="4803879" cy="400110"/>
          </a:xfrm>
          <a:prstGeom prst="rect">
            <a:avLst/>
          </a:prstGeom>
        </p:spPr>
        <p:txBody>
          <a:bodyPr wrap="none">
            <a:spAutoFit/>
          </a:bodyPr>
          <a:lstStyle/>
          <a:p>
            <a:r>
              <a:rPr lang="en-US" sz="2000" dirty="0">
                <a:solidFill>
                  <a:srgbClr val="3B124D"/>
                </a:solidFill>
                <a:latin typeface="LiberationSerif"/>
              </a:rPr>
              <a:t>Each smaller mass has tangential speed </a:t>
            </a:r>
            <a:r>
              <a:rPr lang="en-US" sz="2000" i="1" dirty="0" err="1">
                <a:latin typeface="STIXGeneral" pitchFamily="2" charset="2"/>
              </a:rPr>
              <a:t>v</a:t>
            </a:r>
            <a:r>
              <a:rPr lang="en-US" sz="2000" i="1" baseline="-25000" dirty="0" err="1">
                <a:latin typeface="STIXGeneral" pitchFamily="2" charset="2"/>
              </a:rPr>
              <a:t>j</a:t>
            </a:r>
            <a:r>
              <a:rPr lang="en-US" sz="2000" i="1" dirty="0">
                <a:solidFill>
                  <a:srgbClr val="3B124D"/>
                </a:solidFill>
                <a:latin typeface="STIXGeneral" pitchFamily="2" charset="2"/>
              </a:rPr>
              <a:t> </a:t>
            </a:r>
            <a:r>
              <a:rPr lang="en-US" sz="2000" dirty="0">
                <a:solidFill>
                  <a:srgbClr val="3B124D"/>
                </a:solidFill>
                <a:latin typeface="STIXGeneral" pitchFamily="2" charset="2"/>
              </a:rPr>
              <a:t>so</a:t>
            </a:r>
            <a:endParaRPr lang="en-US" sz="2000" dirty="0">
              <a:solidFill>
                <a:srgbClr val="3B124D"/>
              </a:solidFill>
            </a:endParaRPr>
          </a:p>
        </p:txBody>
      </p:sp>
      <p:pic>
        <p:nvPicPr>
          <p:cNvPr id="14" name="Picture 13" descr="Text&#10;&#10;Description automatically generated with medium confidence">
            <a:extLst>
              <a:ext uri="{FF2B5EF4-FFF2-40B4-BE49-F238E27FC236}">
                <a16:creationId xmlns:a16="http://schemas.microsoft.com/office/drawing/2014/main" id="{468D51BA-17DC-E34B-8918-B7915DD104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64897" y="5742189"/>
            <a:ext cx="3352800" cy="749300"/>
          </a:xfrm>
          <a:prstGeom prst="rect">
            <a:avLst/>
          </a:prstGeom>
        </p:spPr>
      </p:pic>
      <p:sp>
        <p:nvSpPr>
          <p:cNvPr id="15" name="Rectangle 14">
            <a:extLst>
              <a:ext uri="{FF2B5EF4-FFF2-40B4-BE49-F238E27FC236}">
                <a16:creationId xmlns:a16="http://schemas.microsoft.com/office/drawing/2014/main" id="{ADB8F0B1-883C-CA4C-A2D0-EECD7CE89756}"/>
              </a:ext>
            </a:extLst>
          </p:cNvPr>
          <p:cNvSpPr/>
          <p:nvPr/>
        </p:nvSpPr>
        <p:spPr>
          <a:xfrm>
            <a:off x="6668023" y="6488668"/>
            <a:ext cx="3114892" cy="369332"/>
          </a:xfrm>
          <a:prstGeom prst="rect">
            <a:avLst/>
          </a:prstGeom>
        </p:spPr>
        <p:txBody>
          <a:bodyPr wrap="none">
            <a:spAutoFit/>
          </a:bodyPr>
          <a:lstStyle/>
          <a:p>
            <a:r>
              <a:rPr lang="en-US" dirty="0">
                <a:solidFill>
                  <a:srgbClr val="3B124D"/>
                </a:solidFill>
                <a:latin typeface="LiberationSerif"/>
              </a:rPr>
              <a:t>and since </a:t>
            </a:r>
            <a:r>
              <a:rPr lang="el-GR" i="1" dirty="0">
                <a:latin typeface="STIXGeneral" pitchFamily="2" charset="2"/>
              </a:rPr>
              <a:t>ω</a:t>
            </a:r>
            <a:r>
              <a:rPr lang="en-US" sz="1400" i="1" baseline="-25000" dirty="0">
                <a:latin typeface="STIXGeneral" pitchFamily="2" charset="2"/>
              </a:rPr>
              <a:t>j</a:t>
            </a:r>
            <a:r>
              <a:rPr lang="en-US" sz="1400" i="1" dirty="0">
                <a:latin typeface="STIXGeneral" pitchFamily="2" charset="2"/>
              </a:rPr>
              <a:t> </a:t>
            </a:r>
            <a:r>
              <a:rPr lang="en-US" dirty="0">
                <a:latin typeface="STIXGeneral" pitchFamily="2" charset="2"/>
              </a:rPr>
              <a:t>= </a:t>
            </a:r>
            <a:r>
              <a:rPr lang="el-GR" i="1" dirty="0">
                <a:latin typeface="STIXGeneral" pitchFamily="2" charset="2"/>
              </a:rPr>
              <a:t>ω </a:t>
            </a:r>
            <a:r>
              <a:rPr lang="en-US" dirty="0">
                <a:solidFill>
                  <a:srgbClr val="3B124D"/>
                </a:solidFill>
                <a:latin typeface="LiberationSerif"/>
              </a:rPr>
              <a:t>for all masses </a:t>
            </a:r>
            <a:endParaRPr lang="en-US" dirty="0">
              <a:solidFill>
                <a:srgbClr val="3B124D"/>
              </a:solidFill>
            </a:endParaRPr>
          </a:p>
        </p:txBody>
      </p:sp>
      <p:pic>
        <p:nvPicPr>
          <p:cNvPr id="17" name="Picture 16" descr="Text, whiteboard&#10;&#10;Description automatically generated">
            <a:extLst>
              <a:ext uri="{FF2B5EF4-FFF2-40B4-BE49-F238E27FC236}">
                <a16:creationId xmlns:a16="http://schemas.microsoft.com/office/drawing/2014/main" id="{45041B12-F23F-DE47-853B-716F2072E9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57752" y="5752702"/>
            <a:ext cx="1905000" cy="838200"/>
          </a:xfrm>
          <a:prstGeom prst="rect">
            <a:avLst/>
          </a:prstGeom>
        </p:spPr>
      </p:pic>
    </p:spTree>
    <p:extLst>
      <p:ext uri="{BB962C8B-B14F-4D97-AF65-F5344CB8AC3E}">
        <p14:creationId xmlns:p14="http://schemas.microsoft.com/office/powerpoint/2010/main" val="20460474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458570" y="89044"/>
            <a:ext cx="7274860" cy="523220"/>
          </a:xfrm>
          <a:prstGeom prst="rect">
            <a:avLst/>
          </a:prstGeom>
        </p:spPr>
        <p:txBody>
          <a:bodyPr wrap="square">
            <a:spAutoFit/>
          </a:bodyPr>
          <a:lstStyle/>
          <a:p>
            <a:r>
              <a:rPr lang="en-US" sz="2800" dirty="0">
                <a:solidFill>
                  <a:srgbClr val="C00000"/>
                </a:solidFill>
                <a:latin typeface="NewBaskervilleStd-Roman"/>
              </a:rPr>
              <a:t>Moment of Inertia and Rotational Kinetic Energy </a:t>
            </a:r>
          </a:p>
        </p:txBody>
      </p:sp>
      <p:pic>
        <p:nvPicPr>
          <p:cNvPr id="4" name="Picture 3" descr="Text, whiteboard&#10;&#10;Description automatically generated">
            <a:extLst>
              <a:ext uri="{FF2B5EF4-FFF2-40B4-BE49-F238E27FC236}">
                <a16:creationId xmlns:a16="http://schemas.microsoft.com/office/drawing/2014/main" id="{789E2E3E-EFB4-3945-A74A-DCF8AEE516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4282" y="598919"/>
            <a:ext cx="2078182" cy="914400"/>
          </a:xfrm>
          <a:prstGeom prst="rect">
            <a:avLst/>
          </a:prstGeom>
        </p:spPr>
      </p:pic>
      <p:sp>
        <p:nvSpPr>
          <p:cNvPr id="7" name="Rectangle 6">
            <a:extLst>
              <a:ext uri="{FF2B5EF4-FFF2-40B4-BE49-F238E27FC236}">
                <a16:creationId xmlns:a16="http://schemas.microsoft.com/office/drawing/2014/main" id="{E9CC2162-FBCD-204A-B93D-7CD4D37CB3B0}"/>
              </a:ext>
            </a:extLst>
          </p:cNvPr>
          <p:cNvSpPr/>
          <p:nvPr/>
        </p:nvSpPr>
        <p:spPr>
          <a:xfrm>
            <a:off x="965526" y="856064"/>
            <a:ext cx="3648756" cy="400110"/>
          </a:xfrm>
          <a:prstGeom prst="rect">
            <a:avLst/>
          </a:prstGeom>
        </p:spPr>
        <p:txBody>
          <a:bodyPr wrap="none">
            <a:spAutoFit/>
          </a:bodyPr>
          <a:lstStyle/>
          <a:p>
            <a:r>
              <a:rPr lang="en-US" sz="2000" dirty="0">
                <a:solidFill>
                  <a:srgbClr val="3B124D"/>
                </a:solidFill>
                <a:latin typeface="LiberationSerif"/>
              </a:rPr>
              <a:t>Compare  				   with </a:t>
            </a:r>
            <a:endParaRPr lang="en-US" sz="2000" dirty="0">
              <a:solidFill>
                <a:srgbClr val="3B124D"/>
              </a:solidFill>
            </a:endParaRPr>
          </a:p>
        </p:txBody>
      </p:sp>
      <p:pic>
        <p:nvPicPr>
          <p:cNvPr id="3" name="Picture 2" descr="Text&#10;&#10;Description automatically generated with medium confidence">
            <a:extLst>
              <a:ext uri="{FF2B5EF4-FFF2-40B4-BE49-F238E27FC236}">
                <a16:creationId xmlns:a16="http://schemas.microsoft.com/office/drawing/2014/main" id="{D469D33B-9D55-5144-BED7-6CA316F61E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77487" y="690359"/>
            <a:ext cx="1591245" cy="731520"/>
          </a:xfrm>
          <a:prstGeom prst="rect">
            <a:avLst/>
          </a:prstGeom>
        </p:spPr>
      </p:pic>
      <p:sp>
        <p:nvSpPr>
          <p:cNvPr id="12" name="Left Brace 11">
            <a:extLst>
              <a:ext uri="{FF2B5EF4-FFF2-40B4-BE49-F238E27FC236}">
                <a16:creationId xmlns:a16="http://schemas.microsoft.com/office/drawing/2014/main" id="{C2E8F799-4498-3746-BF80-CE526F05ED87}"/>
              </a:ext>
            </a:extLst>
          </p:cNvPr>
          <p:cNvSpPr/>
          <p:nvPr/>
        </p:nvSpPr>
        <p:spPr>
          <a:xfrm rot="16200000">
            <a:off x="5670638" y="1342107"/>
            <a:ext cx="501562" cy="887506"/>
          </a:xfrm>
          <a:prstGeom prst="leftBrace">
            <a:avLst/>
          </a:prstGeom>
        </p:spPr>
        <p:style>
          <a:lnRef idx="3">
            <a:schemeClr val="accent5"/>
          </a:lnRef>
          <a:fillRef idx="0">
            <a:schemeClr val="accent5"/>
          </a:fillRef>
          <a:effectRef idx="2">
            <a:schemeClr val="accent5"/>
          </a:effectRef>
          <a:fontRef idx="minor">
            <a:schemeClr val="tx1"/>
          </a:fontRef>
        </p:style>
        <p:txBody>
          <a:bodyPr rtlCol="0" anchor="ctr"/>
          <a:lstStyle/>
          <a:p>
            <a:pPr algn="ctr"/>
            <a:endParaRPr lang="en-US"/>
          </a:p>
        </p:txBody>
      </p:sp>
      <p:sp>
        <p:nvSpPr>
          <p:cNvPr id="13" name="Rectangle 12">
            <a:extLst>
              <a:ext uri="{FF2B5EF4-FFF2-40B4-BE49-F238E27FC236}">
                <a16:creationId xmlns:a16="http://schemas.microsoft.com/office/drawing/2014/main" id="{C3F720B9-4B81-1F4C-98EB-0015069B25A0}"/>
              </a:ext>
            </a:extLst>
          </p:cNvPr>
          <p:cNvSpPr/>
          <p:nvPr/>
        </p:nvSpPr>
        <p:spPr>
          <a:xfrm>
            <a:off x="4980085" y="2058401"/>
            <a:ext cx="2231829" cy="369332"/>
          </a:xfrm>
          <a:prstGeom prst="rect">
            <a:avLst/>
          </a:prstGeom>
        </p:spPr>
        <p:txBody>
          <a:bodyPr wrap="none">
            <a:spAutoFit/>
          </a:bodyPr>
          <a:lstStyle/>
          <a:p>
            <a:r>
              <a:rPr lang="en-US" dirty="0">
                <a:solidFill>
                  <a:srgbClr val="C00000"/>
                </a:solidFill>
                <a:latin typeface="LiberationSerif"/>
              </a:rPr>
              <a:t>Counterpart for mass </a:t>
            </a:r>
            <a:endParaRPr lang="en-US" dirty="0">
              <a:solidFill>
                <a:srgbClr val="C00000"/>
              </a:solidFill>
            </a:endParaRPr>
          </a:p>
        </p:txBody>
      </p:sp>
      <p:sp>
        <p:nvSpPr>
          <p:cNvPr id="14" name="Rectangle 13">
            <a:extLst>
              <a:ext uri="{FF2B5EF4-FFF2-40B4-BE49-F238E27FC236}">
                <a16:creationId xmlns:a16="http://schemas.microsoft.com/office/drawing/2014/main" id="{E16A92B5-277D-934D-8B80-358C2AAB9619}"/>
              </a:ext>
            </a:extLst>
          </p:cNvPr>
          <p:cNvSpPr/>
          <p:nvPr/>
        </p:nvSpPr>
        <p:spPr>
          <a:xfrm>
            <a:off x="6578749" y="3092387"/>
            <a:ext cx="4495800" cy="646331"/>
          </a:xfrm>
          <a:prstGeom prst="rect">
            <a:avLst/>
          </a:prstGeom>
        </p:spPr>
        <p:txBody>
          <a:bodyPr wrap="square">
            <a:spAutoFit/>
          </a:bodyPr>
          <a:lstStyle/>
          <a:p>
            <a:r>
              <a:rPr lang="en-US" dirty="0">
                <a:latin typeface="LiberationSerif"/>
              </a:rPr>
              <a:t>This quantity is called the </a:t>
            </a:r>
            <a:r>
              <a:rPr lang="en-US" b="1" dirty="0">
                <a:solidFill>
                  <a:srgbClr val="008000"/>
                </a:solidFill>
                <a:latin typeface="LiberationSerif"/>
              </a:rPr>
              <a:t>moment of inertia </a:t>
            </a:r>
            <a:r>
              <a:rPr lang="en-US" i="1" dirty="0">
                <a:solidFill>
                  <a:srgbClr val="008000"/>
                </a:solidFill>
                <a:latin typeface="LiberationSerif"/>
              </a:rPr>
              <a:t>I</a:t>
            </a:r>
            <a:r>
              <a:rPr lang="en-US" dirty="0">
                <a:solidFill>
                  <a:srgbClr val="008000"/>
                </a:solidFill>
                <a:latin typeface="LiberationSerif"/>
              </a:rPr>
              <a:t>, </a:t>
            </a:r>
            <a:r>
              <a:rPr lang="en-US" dirty="0">
                <a:latin typeface="LiberationSerif"/>
              </a:rPr>
              <a:t>with units of </a:t>
            </a:r>
            <a:r>
              <a:rPr lang="en-US" dirty="0">
                <a:latin typeface="STIXGeneral" pitchFamily="2" charset="2"/>
              </a:rPr>
              <a:t>kg · m</a:t>
            </a:r>
            <a:r>
              <a:rPr lang="en-US" sz="1400" baseline="30000" dirty="0">
                <a:latin typeface="STIXGeneral" pitchFamily="2" charset="2"/>
              </a:rPr>
              <a:t>2</a:t>
            </a:r>
            <a:r>
              <a:rPr lang="en-US" sz="1400" dirty="0">
                <a:latin typeface="STIXGeneral" pitchFamily="2" charset="2"/>
              </a:rPr>
              <a:t> </a:t>
            </a:r>
            <a:endParaRPr lang="en-US" dirty="0"/>
          </a:p>
        </p:txBody>
      </p:sp>
      <p:sp>
        <p:nvSpPr>
          <p:cNvPr id="15" name="Down Arrow 14">
            <a:extLst>
              <a:ext uri="{FF2B5EF4-FFF2-40B4-BE49-F238E27FC236}">
                <a16:creationId xmlns:a16="http://schemas.microsoft.com/office/drawing/2014/main" id="{CE346D47-53A2-8849-B239-1BE29DDDA07B}"/>
              </a:ext>
            </a:extLst>
          </p:cNvPr>
          <p:cNvSpPr/>
          <p:nvPr/>
        </p:nvSpPr>
        <p:spPr>
          <a:xfrm>
            <a:off x="5653373" y="2442283"/>
            <a:ext cx="569490" cy="517173"/>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picture containing text, clock&#10;&#10;Description automatically generated">
            <a:extLst>
              <a:ext uri="{FF2B5EF4-FFF2-40B4-BE49-F238E27FC236}">
                <a16:creationId xmlns:a16="http://schemas.microsoft.com/office/drawing/2014/main" id="{5D0FA9BC-4B57-1F45-9F51-1468AB4B828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38586" y="3028203"/>
            <a:ext cx="1447800" cy="774700"/>
          </a:xfrm>
          <a:prstGeom prst="rect">
            <a:avLst/>
          </a:prstGeom>
        </p:spPr>
      </p:pic>
      <p:sp>
        <p:nvSpPr>
          <p:cNvPr id="18" name="Rectangle 17">
            <a:extLst>
              <a:ext uri="{FF2B5EF4-FFF2-40B4-BE49-F238E27FC236}">
                <a16:creationId xmlns:a16="http://schemas.microsoft.com/office/drawing/2014/main" id="{2F362F5C-B737-1740-9101-A5A824519FFE}"/>
              </a:ext>
            </a:extLst>
          </p:cNvPr>
          <p:cNvSpPr/>
          <p:nvPr/>
        </p:nvSpPr>
        <p:spPr>
          <a:xfrm>
            <a:off x="6649749" y="4466975"/>
            <a:ext cx="4584845" cy="400110"/>
          </a:xfrm>
          <a:prstGeom prst="rect">
            <a:avLst/>
          </a:prstGeom>
        </p:spPr>
        <p:txBody>
          <a:bodyPr wrap="none">
            <a:spAutoFit/>
          </a:bodyPr>
          <a:lstStyle/>
          <a:p>
            <a:r>
              <a:rPr lang="en-US" sz="2000" dirty="0">
                <a:solidFill>
                  <a:srgbClr val="C00000"/>
                </a:solidFill>
                <a:latin typeface="LiberationSerif"/>
              </a:rPr>
              <a:t>The kinetic energy of a rotating rigid body </a:t>
            </a:r>
            <a:endParaRPr lang="en-US" sz="2000" dirty="0">
              <a:solidFill>
                <a:srgbClr val="C00000"/>
              </a:solidFill>
            </a:endParaRPr>
          </a:p>
        </p:txBody>
      </p:sp>
      <p:pic>
        <p:nvPicPr>
          <p:cNvPr id="20" name="Picture 19" descr="Text, logo&#10;&#10;Description automatically generated">
            <a:extLst>
              <a:ext uri="{FF2B5EF4-FFF2-40B4-BE49-F238E27FC236}">
                <a16:creationId xmlns:a16="http://schemas.microsoft.com/office/drawing/2014/main" id="{1D408240-9278-394B-9189-7454BE4CAB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48353" y="4209830"/>
            <a:ext cx="1469571" cy="914400"/>
          </a:xfrm>
          <a:prstGeom prst="rect">
            <a:avLst/>
          </a:prstGeom>
        </p:spPr>
      </p:pic>
      <p:sp>
        <p:nvSpPr>
          <p:cNvPr id="21" name="Curved Right Arrow 20">
            <a:extLst>
              <a:ext uri="{FF2B5EF4-FFF2-40B4-BE49-F238E27FC236}">
                <a16:creationId xmlns:a16="http://schemas.microsoft.com/office/drawing/2014/main" id="{E96EAD40-132C-704D-B216-5BF47BD03654}"/>
              </a:ext>
            </a:extLst>
          </p:cNvPr>
          <p:cNvSpPr/>
          <p:nvPr/>
        </p:nvSpPr>
        <p:spPr>
          <a:xfrm rot="21151556">
            <a:off x="3865218" y="1268922"/>
            <a:ext cx="900306" cy="3697349"/>
          </a:xfrm>
          <a:prstGeom prst="curvedRightArrow">
            <a:avLst>
              <a:gd name="adj1" fmla="val 16547"/>
              <a:gd name="adj2" fmla="val 50000"/>
              <a:gd name="adj3" fmla="val 25000"/>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3" name="Picture 22" descr="Table&#10;&#10;Description automatically generated">
            <a:extLst>
              <a:ext uri="{FF2B5EF4-FFF2-40B4-BE49-F238E27FC236}">
                <a16:creationId xmlns:a16="http://schemas.microsoft.com/office/drawing/2014/main" id="{235C7085-D963-AC45-AED7-1509676191D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2487" y="4520762"/>
            <a:ext cx="3810000" cy="1981200"/>
          </a:xfrm>
          <a:prstGeom prst="rect">
            <a:avLst/>
          </a:prstGeom>
        </p:spPr>
      </p:pic>
      <p:sp>
        <p:nvSpPr>
          <p:cNvPr id="24" name="Rectangle 23">
            <a:extLst>
              <a:ext uri="{FF2B5EF4-FFF2-40B4-BE49-F238E27FC236}">
                <a16:creationId xmlns:a16="http://schemas.microsoft.com/office/drawing/2014/main" id="{585AEF43-9AC5-8E42-9E9A-A08D5D74CC5B}"/>
              </a:ext>
            </a:extLst>
          </p:cNvPr>
          <p:cNvSpPr/>
          <p:nvPr/>
        </p:nvSpPr>
        <p:spPr>
          <a:xfrm>
            <a:off x="650747" y="3874431"/>
            <a:ext cx="3256084" cy="646331"/>
          </a:xfrm>
          <a:prstGeom prst="rect">
            <a:avLst/>
          </a:prstGeom>
        </p:spPr>
        <p:txBody>
          <a:bodyPr wrap="square">
            <a:spAutoFit/>
          </a:bodyPr>
          <a:lstStyle/>
          <a:p>
            <a:r>
              <a:rPr lang="en-US" b="1" dirty="0">
                <a:solidFill>
                  <a:srgbClr val="D6542B"/>
                </a:solidFill>
                <a:latin typeface="LiberationSans"/>
              </a:rPr>
              <a:t>Rotational and Translational Kinetic Energies and Inertia </a:t>
            </a:r>
            <a:endParaRPr lang="en-US" dirty="0"/>
          </a:p>
        </p:txBody>
      </p:sp>
    </p:spTree>
    <p:extLst>
      <p:ext uri="{BB962C8B-B14F-4D97-AF65-F5344CB8AC3E}">
        <p14:creationId xmlns:p14="http://schemas.microsoft.com/office/powerpoint/2010/main" val="1313374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458570" y="89044"/>
            <a:ext cx="7274860" cy="523220"/>
          </a:xfrm>
          <a:prstGeom prst="rect">
            <a:avLst/>
          </a:prstGeom>
        </p:spPr>
        <p:txBody>
          <a:bodyPr wrap="square">
            <a:spAutoFit/>
          </a:bodyPr>
          <a:lstStyle/>
          <a:p>
            <a:r>
              <a:rPr lang="en-US" sz="2800" dirty="0">
                <a:solidFill>
                  <a:srgbClr val="C00000"/>
                </a:solidFill>
                <a:latin typeface="NewBaskervilleStd-Roman"/>
              </a:rPr>
              <a:t>Moment of Inertia and Rotational Kinetic Energy </a:t>
            </a:r>
          </a:p>
        </p:txBody>
      </p:sp>
      <p:pic>
        <p:nvPicPr>
          <p:cNvPr id="7" name="Picture 6" descr="A picture containing text, clock&#10;&#10;Description automatically generated">
            <a:extLst>
              <a:ext uri="{FF2B5EF4-FFF2-40B4-BE49-F238E27FC236}">
                <a16:creationId xmlns:a16="http://schemas.microsoft.com/office/drawing/2014/main" id="{D2410F05-5959-A640-BE40-949AB2FD16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131303"/>
            <a:ext cx="1447800" cy="774700"/>
          </a:xfrm>
          <a:prstGeom prst="rect">
            <a:avLst/>
          </a:prstGeom>
        </p:spPr>
      </p:pic>
      <p:pic>
        <p:nvPicPr>
          <p:cNvPr id="8" name="Picture 7" descr="Text, logo&#10;&#10;Description automatically generated">
            <a:extLst>
              <a:ext uri="{FF2B5EF4-FFF2-40B4-BE49-F238E27FC236}">
                <a16:creationId xmlns:a16="http://schemas.microsoft.com/office/drawing/2014/main" id="{3EB0C3D5-8F55-3441-B372-C3849F257A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3368" y="1068894"/>
            <a:ext cx="1469571" cy="914400"/>
          </a:xfrm>
          <a:prstGeom prst="rect">
            <a:avLst/>
          </a:prstGeom>
        </p:spPr>
      </p:pic>
      <p:sp>
        <p:nvSpPr>
          <p:cNvPr id="3" name="Rectangle 2">
            <a:extLst>
              <a:ext uri="{FF2B5EF4-FFF2-40B4-BE49-F238E27FC236}">
                <a16:creationId xmlns:a16="http://schemas.microsoft.com/office/drawing/2014/main" id="{C0361B58-EE21-424E-A3F6-653ABA2623F1}"/>
              </a:ext>
            </a:extLst>
          </p:cNvPr>
          <p:cNvSpPr/>
          <p:nvPr/>
        </p:nvSpPr>
        <p:spPr>
          <a:xfrm>
            <a:off x="5868880" y="1906003"/>
            <a:ext cx="1982722" cy="369332"/>
          </a:xfrm>
          <a:prstGeom prst="rect">
            <a:avLst/>
          </a:prstGeom>
        </p:spPr>
        <p:txBody>
          <a:bodyPr wrap="none">
            <a:spAutoFit/>
          </a:bodyPr>
          <a:lstStyle/>
          <a:p>
            <a:r>
              <a:rPr lang="en-US" b="1" dirty="0">
                <a:solidFill>
                  <a:srgbClr val="008000"/>
                </a:solidFill>
                <a:latin typeface="LiberationSerif"/>
              </a:rPr>
              <a:t>moment of inertia </a:t>
            </a:r>
            <a:endParaRPr lang="en-US" dirty="0"/>
          </a:p>
        </p:txBody>
      </p:sp>
      <p:sp>
        <p:nvSpPr>
          <p:cNvPr id="4" name="Rectangle 3">
            <a:extLst>
              <a:ext uri="{FF2B5EF4-FFF2-40B4-BE49-F238E27FC236}">
                <a16:creationId xmlns:a16="http://schemas.microsoft.com/office/drawing/2014/main" id="{F9286EB7-2A7C-8A45-9FD8-2262F5E7E57F}"/>
              </a:ext>
            </a:extLst>
          </p:cNvPr>
          <p:cNvSpPr/>
          <p:nvPr/>
        </p:nvSpPr>
        <p:spPr>
          <a:xfrm>
            <a:off x="7972418" y="1913444"/>
            <a:ext cx="4151906" cy="369332"/>
          </a:xfrm>
          <a:prstGeom prst="rect">
            <a:avLst/>
          </a:prstGeom>
        </p:spPr>
        <p:txBody>
          <a:bodyPr wrap="none">
            <a:spAutoFit/>
          </a:bodyPr>
          <a:lstStyle/>
          <a:p>
            <a:r>
              <a:rPr lang="en-US" dirty="0">
                <a:solidFill>
                  <a:srgbClr val="C00000"/>
                </a:solidFill>
                <a:latin typeface="LiberationSerif"/>
              </a:rPr>
              <a:t>The kinetic energy of a rotating rigid body </a:t>
            </a:r>
            <a:endParaRPr lang="en-US" dirty="0">
              <a:solidFill>
                <a:srgbClr val="C00000"/>
              </a:solidFill>
            </a:endParaRPr>
          </a:p>
        </p:txBody>
      </p:sp>
      <p:sp>
        <p:nvSpPr>
          <p:cNvPr id="9" name="Rectangle 8">
            <a:extLst>
              <a:ext uri="{FF2B5EF4-FFF2-40B4-BE49-F238E27FC236}">
                <a16:creationId xmlns:a16="http://schemas.microsoft.com/office/drawing/2014/main" id="{DE5C57ED-F3DA-654C-8548-122BBAC36BEF}"/>
              </a:ext>
            </a:extLst>
          </p:cNvPr>
          <p:cNvSpPr/>
          <p:nvPr/>
        </p:nvSpPr>
        <p:spPr>
          <a:xfrm>
            <a:off x="568753" y="1732000"/>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sp>
        <p:nvSpPr>
          <p:cNvPr id="10" name="Rectangle 9">
            <a:extLst>
              <a:ext uri="{FF2B5EF4-FFF2-40B4-BE49-F238E27FC236}">
                <a16:creationId xmlns:a16="http://schemas.microsoft.com/office/drawing/2014/main" id="{57D4B0AF-588C-314C-A12B-2E01A2B04370}"/>
              </a:ext>
            </a:extLst>
          </p:cNvPr>
          <p:cNvSpPr/>
          <p:nvPr/>
        </p:nvSpPr>
        <p:spPr>
          <a:xfrm>
            <a:off x="568753" y="2093304"/>
            <a:ext cx="7218985" cy="2554545"/>
          </a:xfrm>
          <a:prstGeom prst="rect">
            <a:avLst/>
          </a:prstGeom>
        </p:spPr>
        <p:txBody>
          <a:bodyPr wrap="square">
            <a:spAutoFit/>
          </a:bodyPr>
          <a:lstStyle/>
          <a:p>
            <a:r>
              <a:rPr lang="en-US" sz="2000" b="1" dirty="0">
                <a:solidFill>
                  <a:srgbClr val="213866"/>
                </a:solidFill>
                <a:latin typeface="LiberationSans"/>
              </a:rPr>
              <a:t>Moment of Inertia of a System of Particles </a:t>
            </a:r>
            <a:endParaRPr lang="en-US" sz="2000" dirty="0"/>
          </a:p>
          <a:p>
            <a:r>
              <a:rPr lang="en-US" sz="2000" dirty="0">
                <a:solidFill>
                  <a:srgbClr val="3B124D"/>
                </a:solidFill>
                <a:latin typeface="LiberationSerif"/>
              </a:rPr>
              <a:t>Six small washers are spaced 10 cm apart on a rod of negligible mass and 0.5 m in length. The mass of each washer is 20 g. The rod rotates about an axis located at 25 cm, as shown in </a:t>
            </a:r>
            <a:r>
              <a:rPr lang="en-US" sz="2000" dirty="0">
                <a:solidFill>
                  <a:srgbClr val="3B124D"/>
                </a:solidFill>
                <a:latin typeface="LiberationSans"/>
              </a:rPr>
              <a:t>Figure</a:t>
            </a:r>
            <a:r>
              <a:rPr lang="en-US" sz="2000" dirty="0">
                <a:solidFill>
                  <a:srgbClr val="3B124D"/>
                </a:solidFill>
                <a:latin typeface="LiberationSerif"/>
              </a:rPr>
              <a:t>. (a) What is the moment of inertia of the system? (b) If the two washers closest to the axis are removed, what is the moment of inertia of the remaining four washers? (c) If the system with six washers rotates at 5 rev/s, what is its rotational kinetic energy? </a:t>
            </a:r>
            <a:endParaRPr lang="en-US" sz="2000" dirty="0">
              <a:solidFill>
                <a:srgbClr val="3B124D"/>
              </a:solidFill>
            </a:endParaRPr>
          </a:p>
        </p:txBody>
      </p:sp>
      <p:pic>
        <p:nvPicPr>
          <p:cNvPr id="11" name="Picture Placeholder 1" descr="Figure shows six washers spaced 10 cm apart on a rod rotating about a vertical axis.">
            <a:extLst>
              <a:ext uri="{FF2B5EF4-FFF2-40B4-BE49-F238E27FC236}">
                <a16:creationId xmlns:a16="http://schemas.microsoft.com/office/drawing/2014/main" id="{11446081-8BD8-094B-93BD-47DBF05F8979}"/>
              </a:ext>
            </a:extLst>
          </p:cNvPr>
          <p:cNvPicPr>
            <a:picLocks noChangeAspect="1"/>
          </p:cNvPicPr>
          <p:nvPr/>
        </p:nvPicPr>
        <p:blipFill>
          <a:blip r:embed="rId5">
            <a:extLst>
              <a:ext uri="{28A0092B-C50C-407E-A947-70E740481C1C}">
                <a14:useLocalDpi xmlns:a14="http://schemas.microsoft.com/office/drawing/2010/main" val="0"/>
              </a:ext>
            </a:extLst>
          </a:blip>
          <a:srcRect l="-21020" r="-21020"/>
          <a:stretch>
            <a:fillRect/>
          </a:stretch>
        </p:blipFill>
        <p:spPr>
          <a:xfrm>
            <a:off x="7195983" y="2337652"/>
            <a:ext cx="5333159" cy="2315098"/>
          </a:xfrm>
          <a:prstGeom prst="rect">
            <a:avLst/>
          </a:prstGeom>
        </p:spPr>
      </p:pic>
      <p:pic>
        <p:nvPicPr>
          <p:cNvPr id="13" name="Picture 12" descr="Text&#10;&#10;Description automatically generated">
            <a:extLst>
              <a:ext uri="{FF2B5EF4-FFF2-40B4-BE49-F238E27FC236}">
                <a16:creationId xmlns:a16="http://schemas.microsoft.com/office/drawing/2014/main" id="{377EDA7E-2A6F-AA45-A2CC-906003BF37B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4136" y="4624091"/>
            <a:ext cx="8813800" cy="2070100"/>
          </a:xfrm>
          <a:prstGeom prst="rect">
            <a:avLst/>
          </a:prstGeom>
        </p:spPr>
      </p:pic>
    </p:spTree>
    <p:extLst>
      <p:ext uri="{BB962C8B-B14F-4D97-AF65-F5344CB8AC3E}">
        <p14:creationId xmlns:p14="http://schemas.microsoft.com/office/powerpoint/2010/main" val="5886096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pic>
        <p:nvPicPr>
          <p:cNvPr id="3" name="Picture 2" descr="Diagram&#10;&#10;Description automatically generated">
            <a:extLst>
              <a:ext uri="{FF2B5EF4-FFF2-40B4-BE49-F238E27FC236}">
                <a16:creationId xmlns:a16="http://schemas.microsoft.com/office/drawing/2014/main" id="{D489D5DC-A55E-DE4D-99E0-C22D7AFF95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76" y="457200"/>
            <a:ext cx="5298609" cy="6400800"/>
          </a:xfrm>
          <a:prstGeom prst="rect">
            <a:avLst/>
          </a:prstGeom>
        </p:spPr>
      </p:pic>
      <p:sp>
        <p:nvSpPr>
          <p:cNvPr id="7" name="Rectangle 6">
            <a:extLst>
              <a:ext uri="{FF2B5EF4-FFF2-40B4-BE49-F238E27FC236}">
                <a16:creationId xmlns:a16="http://schemas.microsoft.com/office/drawing/2014/main" id="{EFCC1DF7-A252-A248-AB7A-41EADC0C7808}"/>
              </a:ext>
            </a:extLst>
          </p:cNvPr>
          <p:cNvSpPr/>
          <p:nvPr/>
        </p:nvSpPr>
        <p:spPr>
          <a:xfrm>
            <a:off x="67676" y="220653"/>
            <a:ext cx="5665910" cy="369332"/>
          </a:xfrm>
          <a:prstGeom prst="rect">
            <a:avLst/>
          </a:prstGeom>
        </p:spPr>
        <p:txBody>
          <a:bodyPr wrap="none">
            <a:spAutoFit/>
          </a:bodyPr>
          <a:lstStyle/>
          <a:p>
            <a:r>
              <a:rPr lang="en-US" dirty="0">
                <a:solidFill>
                  <a:srgbClr val="C00000"/>
                </a:solidFill>
                <a:latin typeface="LiberationSerif"/>
              </a:rPr>
              <a:t>Values of rotational inertia for common shapes of objects. </a:t>
            </a:r>
            <a:endParaRPr lang="en-US" dirty="0">
              <a:solidFill>
                <a:srgbClr val="C00000"/>
              </a:solidFill>
            </a:endParaRPr>
          </a:p>
        </p:txBody>
      </p:sp>
      <p:sp>
        <p:nvSpPr>
          <p:cNvPr id="8" name="Rectangle 7">
            <a:extLst>
              <a:ext uri="{FF2B5EF4-FFF2-40B4-BE49-F238E27FC236}">
                <a16:creationId xmlns:a16="http://schemas.microsoft.com/office/drawing/2014/main" id="{0AE35B5D-9C46-2048-961A-B22E0307B8BA}"/>
              </a:ext>
            </a:extLst>
          </p:cNvPr>
          <p:cNvSpPr/>
          <p:nvPr/>
        </p:nvSpPr>
        <p:spPr>
          <a:xfrm>
            <a:off x="5530317" y="4058198"/>
            <a:ext cx="6096000" cy="1785104"/>
          </a:xfrm>
          <a:prstGeom prst="rect">
            <a:avLst/>
          </a:prstGeom>
        </p:spPr>
        <p:txBody>
          <a:bodyPr>
            <a:spAutoFit/>
          </a:bodyPr>
          <a:lstStyle/>
          <a:p>
            <a:r>
              <a:rPr lang="en-US" sz="2200" dirty="0">
                <a:solidFill>
                  <a:srgbClr val="002060"/>
                </a:solidFill>
                <a:latin typeface="LiberationSerif"/>
              </a:rPr>
              <a:t>Similarly, the moment of inertia is the quantitative measure of rotational inertia. </a:t>
            </a:r>
            <a:r>
              <a:rPr lang="en-US" sz="2200" dirty="0">
                <a:solidFill>
                  <a:srgbClr val="C00000"/>
                </a:solidFill>
                <a:latin typeface="LiberationSerif"/>
              </a:rPr>
              <a:t>The greater the moment of inertia of a rigid body is, the greater is its resistance to change in angular velocity about a fixed axis of rotation. </a:t>
            </a:r>
            <a:endParaRPr lang="en-US" sz="2200" dirty="0">
              <a:solidFill>
                <a:srgbClr val="C00000"/>
              </a:solidFill>
            </a:endParaRPr>
          </a:p>
        </p:txBody>
      </p:sp>
      <p:sp>
        <p:nvSpPr>
          <p:cNvPr id="9" name="Rectangle 8">
            <a:extLst>
              <a:ext uri="{FF2B5EF4-FFF2-40B4-BE49-F238E27FC236}">
                <a16:creationId xmlns:a16="http://schemas.microsoft.com/office/drawing/2014/main" id="{C127290B-D475-2845-8D40-779A95B1F0D4}"/>
              </a:ext>
            </a:extLst>
          </p:cNvPr>
          <p:cNvSpPr/>
          <p:nvPr/>
        </p:nvSpPr>
        <p:spPr>
          <a:xfrm>
            <a:off x="5530317" y="1706962"/>
            <a:ext cx="6096000" cy="1446550"/>
          </a:xfrm>
          <a:prstGeom prst="rect">
            <a:avLst/>
          </a:prstGeom>
        </p:spPr>
        <p:txBody>
          <a:bodyPr wrap="square">
            <a:spAutoFit/>
          </a:bodyPr>
          <a:lstStyle/>
          <a:p>
            <a:r>
              <a:rPr lang="en-US" sz="2200" dirty="0">
                <a:solidFill>
                  <a:srgbClr val="3B124D"/>
                </a:solidFill>
                <a:latin typeface="LiberationSerif"/>
              </a:rPr>
              <a:t>Recall that mass is the quantitative measure of linear inertia—that is, the more massive an object is, the more inertia it has, and the greater is its resistance to change in linear velocity.</a:t>
            </a:r>
            <a:endParaRPr lang="en-US" sz="2200" dirty="0">
              <a:solidFill>
                <a:srgbClr val="3B124D"/>
              </a:solidFill>
            </a:endParaRPr>
          </a:p>
        </p:txBody>
      </p:sp>
    </p:spTree>
    <p:extLst>
      <p:ext uri="{BB962C8B-B14F-4D97-AF65-F5344CB8AC3E}">
        <p14:creationId xmlns:p14="http://schemas.microsoft.com/office/powerpoint/2010/main" val="7448334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458570" y="89044"/>
            <a:ext cx="7274860" cy="523220"/>
          </a:xfrm>
          <a:prstGeom prst="rect">
            <a:avLst/>
          </a:prstGeom>
        </p:spPr>
        <p:txBody>
          <a:bodyPr wrap="square">
            <a:spAutoFit/>
          </a:bodyPr>
          <a:lstStyle/>
          <a:p>
            <a:r>
              <a:rPr lang="en-US" sz="2800" dirty="0">
                <a:solidFill>
                  <a:srgbClr val="C00000"/>
                </a:solidFill>
                <a:latin typeface="NewBaskervilleStd-Roman"/>
              </a:rPr>
              <a:t>Moment of Inertia and Rotational Kinetic Energy </a:t>
            </a:r>
          </a:p>
        </p:txBody>
      </p:sp>
      <p:sp>
        <p:nvSpPr>
          <p:cNvPr id="4" name="Rectangle 3">
            <a:extLst>
              <a:ext uri="{FF2B5EF4-FFF2-40B4-BE49-F238E27FC236}">
                <a16:creationId xmlns:a16="http://schemas.microsoft.com/office/drawing/2014/main" id="{18293AAA-3A64-DF44-B7FD-4130878266E5}"/>
              </a:ext>
            </a:extLst>
          </p:cNvPr>
          <p:cNvSpPr/>
          <p:nvPr/>
        </p:nvSpPr>
        <p:spPr>
          <a:xfrm>
            <a:off x="555306" y="612264"/>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sp>
        <p:nvSpPr>
          <p:cNvPr id="2" name="Rectangle 1">
            <a:extLst>
              <a:ext uri="{FF2B5EF4-FFF2-40B4-BE49-F238E27FC236}">
                <a16:creationId xmlns:a16="http://schemas.microsoft.com/office/drawing/2014/main" id="{7F795FDA-09C0-924E-ACE8-518F0F0E1970}"/>
              </a:ext>
            </a:extLst>
          </p:cNvPr>
          <p:cNvSpPr/>
          <p:nvPr/>
        </p:nvSpPr>
        <p:spPr>
          <a:xfrm>
            <a:off x="555305" y="996984"/>
            <a:ext cx="10968823" cy="1938992"/>
          </a:xfrm>
          <a:prstGeom prst="rect">
            <a:avLst/>
          </a:prstGeom>
        </p:spPr>
        <p:txBody>
          <a:bodyPr wrap="square">
            <a:spAutoFit/>
          </a:bodyPr>
          <a:lstStyle/>
          <a:p>
            <a:r>
              <a:rPr lang="en-US" sz="2000" b="1" dirty="0">
                <a:solidFill>
                  <a:srgbClr val="213866"/>
                </a:solidFill>
                <a:latin typeface="LiberationSans"/>
              </a:rPr>
              <a:t>Calculating Helicopter Energies </a:t>
            </a:r>
            <a:endParaRPr lang="en-US" sz="2000" dirty="0"/>
          </a:p>
          <a:p>
            <a:r>
              <a:rPr lang="en-US" sz="2000" dirty="0">
                <a:latin typeface="LiberationSerif"/>
              </a:rPr>
              <a:t>A typical small rescue helicopter has four blades: Each is 4.00 m long and has a mass of 50.0 kg (</a:t>
            </a:r>
            <a:r>
              <a:rPr lang="en-US" sz="2000" b="1" dirty="0">
                <a:solidFill>
                  <a:srgbClr val="D6542B"/>
                </a:solidFill>
                <a:latin typeface="LiberationSans"/>
              </a:rPr>
              <a:t>Figure 10.21</a:t>
            </a:r>
            <a:r>
              <a:rPr lang="en-US" sz="2000" dirty="0">
                <a:latin typeface="LiberationSerif"/>
              </a:rPr>
              <a:t>). The blades can be approximated as thin rods that rotate about one end of an axis perpendicular to their length. The helicopter has a total loaded mass of 1000 kg. (a) Calculate the rotational kinetic energy in the blades when they rotate at 300 rpm. (b) Calculate the translational kinetic energy of the helicopter when it flies at 20.0 m/s, and compare it with the rotational energy in the blades. </a:t>
            </a:r>
            <a:endParaRPr lang="en-US" sz="2000" dirty="0"/>
          </a:p>
        </p:txBody>
      </p:sp>
      <p:pic>
        <p:nvPicPr>
          <p:cNvPr id="8" name="Picture 7" descr="Diagram&#10;&#10;Description automatically generated">
            <a:extLst>
              <a:ext uri="{FF2B5EF4-FFF2-40B4-BE49-F238E27FC236}">
                <a16:creationId xmlns:a16="http://schemas.microsoft.com/office/drawing/2014/main" id="{C91DDBCA-E274-464F-8096-C25F080870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304" y="2882188"/>
            <a:ext cx="3835400" cy="2984500"/>
          </a:xfrm>
          <a:prstGeom prst="rect">
            <a:avLst/>
          </a:prstGeom>
        </p:spPr>
      </p:pic>
      <p:pic>
        <p:nvPicPr>
          <p:cNvPr id="10" name="Picture 9" descr="Diagram&#10;&#10;Description automatically generated">
            <a:extLst>
              <a:ext uri="{FF2B5EF4-FFF2-40B4-BE49-F238E27FC236}">
                <a16:creationId xmlns:a16="http://schemas.microsoft.com/office/drawing/2014/main" id="{BF443FF0-3765-9F43-B762-FA9060CF97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303" y="5066588"/>
            <a:ext cx="2476500" cy="1600200"/>
          </a:xfrm>
          <a:prstGeom prst="rect">
            <a:avLst/>
          </a:prstGeom>
        </p:spPr>
      </p:pic>
      <p:pic>
        <p:nvPicPr>
          <p:cNvPr id="11" name="Picture 10" descr="Text, logo&#10;&#10;Description automatically generated">
            <a:extLst>
              <a:ext uri="{FF2B5EF4-FFF2-40B4-BE49-F238E27FC236}">
                <a16:creationId xmlns:a16="http://schemas.microsoft.com/office/drawing/2014/main" id="{69026BC1-D704-854E-AD09-A268B7381B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90704" y="2935976"/>
            <a:ext cx="1469571" cy="914400"/>
          </a:xfrm>
          <a:prstGeom prst="rect">
            <a:avLst/>
          </a:prstGeom>
        </p:spPr>
      </p:pic>
      <p:sp>
        <p:nvSpPr>
          <p:cNvPr id="13" name="Rectangle 12">
            <a:extLst>
              <a:ext uri="{FF2B5EF4-FFF2-40B4-BE49-F238E27FC236}">
                <a16:creationId xmlns:a16="http://schemas.microsoft.com/office/drawing/2014/main" id="{0A6EAB34-1724-2543-A266-46E15EBD1E5B}"/>
              </a:ext>
            </a:extLst>
          </p:cNvPr>
          <p:cNvSpPr/>
          <p:nvPr/>
        </p:nvSpPr>
        <p:spPr>
          <a:xfrm>
            <a:off x="6617490" y="3194138"/>
            <a:ext cx="365806" cy="369332"/>
          </a:xfrm>
          <a:prstGeom prst="rect">
            <a:avLst/>
          </a:prstGeom>
        </p:spPr>
        <p:txBody>
          <a:bodyPr wrap="none">
            <a:spAutoFit/>
          </a:bodyPr>
          <a:lstStyle/>
          <a:p>
            <a:r>
              <a:rPr lang="en-US" dirty="0">
                <a:latin typeface="LiberationSerif"/>
              </a:rPr>
              <a:t>a)</a:t>
            </a:r>
            <a:endParaRPr lang="en-US" dirty="0"/>
          </a:p>
        </p:txBody>
      </p:sp>
      <p:pic>
        <p:nvPicPr>
          <p:cNvPr id="15" name="Picture 14" descr="Text&#10;&#10;Description automatically generated with medium confidence">
            <a:extLst>
              <a:ext uri="{FF2B5EF4-FFF2-40B4-BE49-F238E27FC236}">
                <a16:creationId xmlns:a16="http://schemas.microsoft.com/office/drawing/2014/main" id="{7E2F079D-9DE1-2A44-9DB4-6003BF2AD3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83296" y="3015896"/>
            <a:ext cx="4130040" cy="731520"/>
          </a:xfrm>
          <a:prstGeom prst="rect">
            <a:avLst/>
          </a:prstGeom>
        </p:spPr>
      </p:pic>
      <p:pic>
        <p:nvPicPr>
          <p:cNvPr id="17" name="Picture 16" descr="A picture containing text&#10;&#10;Description automatically generated">
            <a:extLst>
              <a:ext uri="{FF2B5EF4-FFF2-40B4-BE49-F238E27FC236}">
                <a16:creationId xmlns:a16="http://schemas.microsoft.com/office/drawing/2014/main" id="{25882C39-734D-0F4F-858A-EDC0619C95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83296" y="3850376"/>
            <a:ext cx="4720374" cy="731520"/>
          </a:xfrm>
          <a:prstGeom prst="rect">
            <a:avLst/>
          </a:prstGeom>
        </p:spPr>
      </p:pic>
      <p:pic>
        <p:nvPicPr>
          <p:cNvPr id="19" name="Picture 18">
            <a:extLst>
              <a:ext uri="{FF2B5EF4-FFF2-40B4-BE49-F238E27FC236}">
                <a16:creationId xmlns:a16="http://schemas.microsoft.com/office/drawing/2014/main" id="{2EBB194D-CB75-2346-8E56-FE1C0014FDC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00393" y="4684856"/>
            <a:ext cx="4937760" cy="548640"/>
          </a:xfrm>
          <a:prstGeom prst="rect">
            <a:avLst/>
          </a:prstGeom>
        </p:spPr>
      </p:pic>
      <p:sp>
        <p:nvSpPr>
          <p:cNvPr id="20" name="Rectangle 19">
            <a:extLst>
              <a:ext uri="{FF2B5EF4-FFF2-40B4-BE49-F238E27FC236}">
                <a16:creationId xmlns:a16="http://schemas.microsoft.com/office/drawing/2014/main" id="{C6FA1704-7739-D147-B508-5E23002AD032}"/>
              </a:ext>
            </a:extLst>
          </p:cNvPr>
          <p:cNvSpPr/>
          <p:nvPr/>
        </p:nvSpPr>
        <p:spPr>
          <a:xfrm>
            <a:off x="4429568" y="5288698"/>
            <a:ext cx="7538314" cy="646331"/>
          </a:xfrm>
          <a:prstGeom prst="rect">
            <a:avLst/>
          </a:prstGeom>
        </p:spPr>
        <p:txBody>
          <a:bodyPr wrap="square">
            <a:spAutoFit/>
          </a:bodyPr>
          <a:lstStyle/>
          <a:p>
            <a:r>
              <a:rPr lang="en-US" dirty="0">
                <a:latin typeface="LiberationSans"/>
              </a:rPr>
              <a:t>b) </a:t>
            </a:r>
            <a:r>
              <a:rPr lang="en-US" dirty="0">
                <a:latin typeface="LiberationSerif"/>
              </a:rPr>
              <a:t>Entering the given values into the equation for translational kinetic energy, we obtain </a:t>
            </a:r>
            <a:endParaRPr lang="en-US" dirty="0"/>
          </a:p>
        </p:txBody>
      </p:sp>
      <p:pic>
        <p:nvPicPr>
          <p:cNvPr id="22" name="Picture 21">
            <a:extLst>
              <a:ext uri="{FF2B5EF4-FFF2-40B4-BE49-F238E27FC236}">
                <a16:creationId xmlns:a16="http://schemas.microsoft.com/office/drawing/2014/main" id="{D1108FCA-E21A-7A43-956F-991F0C4FAA4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24000" y="5662941"/>
            <a:ext cx="5314153" cy="640080"/>
          </a:xfrm>
          <a:prstGeom prst="rect">
            <a:avLst/>
          </a:prstGeom>
        </p:spPr>
      </p:pic>
      <p:pic>
        <p:nvPicPr>
          <p:cNvPr id="24" name="Picture 23" descr="A picture containing diagram&#10;&#10;Description automatically generated">
            <a:extLst>
              <a:ext uri="{FF2B5EF4-FFF2-40B4-BE49-F238E27FC236}">
                <a16:creationId xmlns:a16="http://schemas.microsoft.com/office/drawing/2014/main" id="{FE0F79FC-52E5-CD4B-A8A5-F3E8BE3F271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168480" y="6126480"/>
            <a:ext cx="2255520" cy="731520"/>
          </a:xfrm>
          <a:prstGeom prst="rect">
            <a:avLst/>
          </a:prstGeom>
        </p:spPr>
      </p:pic>
      <p:sp>
        <p:nvSpPr>
          <p:cNvPr id="25" name="Rectangle 24">
            <a:extLst>
              <a:ext uri="{FF2B5EF4-FFF2-40B4-BE49-F238E27FC236}">
                <a16:creationId xmlns:a16="http://schemas.microsoft.com/office/drawing/2014/main" id="{354C22D2-73AE-B343-A48D-0C6DDA0E0F23}"/>
              </a:ext>
            </a:extLst>
          </p:cNvPr>
          <p:cNvSpPr/>
          <p:nvPr/>
        </p:nvSpPr>
        <p:spPr>
          <a:xfrm>
            <a:off x="6431289" y="6231448"/>
            <a:ext cx="4984423" cy="646331"/>
          </a:xfrm>
          <a:prstGeom prst="rect">
            <a:avLst/>
          </a:prstGeom>
        </p:spPr>
        <p:txBody>
          <a:bodyPr wrap="square">
            <a:spAutoFit/>
          </a:bodyPr>
          <a:lstStyle/>
          <a:p>
            <a:r>
              <a:rPr lang="en-US" dirty="0">
                <a:solidFill>
                  <a:srgbClr val="C00000"/>
                </a:solidFill>
              </a:rPr>
              <a:t>most of the kinetic energy of the helicopter is in its spinning blades. </a:t>
            </a:r>
          </a:p>
        </p:txBody>
      </p:sp>
    </p:spTree>
    <p:extLst>
      <p:ext uri="{BB962C8B-B14F-4D97-AF65-F5344CB8AC3E}">
        <p14:creationId xmlns:p14="http://schemas.microsoft.com/office/powerpoint/2010/main" val="19343698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3316"/>
            <a:ext cx="7274860" cy="523220"/>
          </a:xfrm>
          <a:prstGeom prst="rect">
            <a:avLst/>
          </a:prstGeom>
        </p:spPr>
        <p:txBody>
          <a:bodyPr wrap="square">
            <a:spAutoFit/>
          </a:bodyPr>
          <a:lstStyle/>
          <a:p>
            <a:r>
              <a:rPr lang="en-US" sz="2800" dirty="0">
                <a:solidFill>
                  <a:srgbClr val="C00000"/>
                </a:solidFill>
                <a:latin typeface="NewBaskervilleStd-Roman"/>
              </a:rPr>
              <a:t>Rotation with Constant Angular Acceleration </a:t>
            </a:r>
          </a:p>
        </p:txBody>
      </p:sp>
      <p:pic>
        <p:nvPicPr>
          <p:cNvPr id="4" name="Picture 3" descr="Diagram&#10;&#10;Description automatically generated">
            <a:extLst>
              <a:ext uri="{FF2B5EF4-FFF2-40B4-BE49-F238E27FC236}">
                <a16:creationId xmlns:a16="http://schemas.microsoft.com/office/drawing/2014/main" id="{626D03AC-E1BD-9A4A-B98D-3C5BDC983F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76" y="457200"/>
            <a:ext cx="5298609" cy="6400800"/>
          </a:xfrm>
          <a:prstGeom prst="rect">
            <a:avLst/>
          </a:prstGeom>
        </p:spPr>
      </p:pic>
      <p:sp>
        <p:nvSpPr>
          <p:cNvPr id="7" name="Rectangle 6">
            <a:extLst>
              <a:ext uri="{FF2B5EF4-FFF2-40B4-BE49-F238E27FC236}">
                <a16:creationId xmlns:a16="http://schemas.microsoft.com/office/drawing/2014/main" id="{573AD6B5-6D54-4F44-B0EC-B04D1B437D16}"/>
              </a:ext>
            </a:extLst>
          </p:cNvPr>
          <p:cNvSpPr/>
          <p:nvPr/>
        </p:nvSpPr>
        <p:spPr>
          <a:xfrm>
            <a:off x="5775178" y="3175731"/>
            <a:ext cx="6096000" cy="769441"/>
          </a:xfrm>
          <a:prstGeom prst="rect">
            <a:avLst/>
          </a:prstGeom>
        </p:spPr>
        <p:txBody>
          <a:bodyPr wrap="square">
            <a:spAutoFit/>
          </a:bodyPr>
          <a:lstStyle/>
          <a:p>
            <a:r>
              <a:rPr lang="en-US" sz="2200" dirty="0">
                <a:solidFill>
                  <a:srgbClr val="0000CC"/>
                </a:solidFill>
              </a:rPr>
              <a:t>Assignment 3</a:t>
            </a:r>
          </a:p>
          <a:p>
            <a:endParaRPr lang="en-US" sz="2200" dirty="0">
              <a:solidFill>
                <a:srgbClr val="0000CC"/>
              </a:solidFill>
            </a:endParaRPr>
          </a:p>
        </p:txBody>
      </p:sp>
      <p:sp>
        <p:nvSpPr>
          <p:cNvPr id="2" name="Rectangle 1">
            <a:extLst>
              <a:ext uri="{FF2B5EF4-FFF2-40B4-BE49-F238E27FC236}">
                <a16:creationId xmlns:a16="http://schemas.microsoft.com/office/drawing/2014/main" id="{BD0BD5F3-C63D-4A48-A6D6-D994647BB724}"/>
              </a:ext>
            </a:extLst>
          </p:cNvPr>
          <p:cNvSpPr/>
          <p:nvPr/>
        </p:nvSpPr>
        <p:spPr>
          <a:xfrm>
            <a:off x="5775178" y="3548658"/>
            <a:ext cx="5824258" cy="1569660"/>
          </a:xfrm>
          <a:prstGeom prst="rect">
            <a:avLst/>
          </a:prstGeom>
        </p:spPr>
        <p:txBody>
          <a:bodyPr wrap="square">
            <a:spAutoFit/>
          </a:bodyPr>
          <a:lstStyle/>
          <a:p>
            <a:r>
              <a:rPr lang="en-US" sz="2400" dirty="0">
                <a:latin typeface="LiberationSerif"/>
              </a:rPr>
              <a:t>Calculate the rotational kinetic energy of a 12-kg motorcycle wheel if its angular velocity is 120 rad/s and its inner radius is 0.280 m and outer radius 0.330 m. </a:t>
            </a:r>
            <a:endParaRPr lang="en-US" sz="2400" dirty="0"/>
          </a:p>
        </p:txBody>
      </p:sp>
      <p:pic>
        <p:nvPicPr>
          <p:cNvPr id="8" name="Picture 7" descr="Text, logo&#10;&#10;Description automatically generated">
            <a:extLst>
              <a:ext uri="{FF2B5EF4-FFF2-40B4-BE49-F238E27FC236}">
                <a16:creationId xmlns:a16="http://schemas.microsoft.com/office/drawing/2014/main" id="{0E221004-F86B-2A48-92FD-267E82A1F0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7895" y="1617668"/>
            <a:ext cx="1469571" cy="914400"/>
          </a:xfrm>
          <a:prstGeom prst="rect">
            <a:avLst/>
          </a:prstGeom>
        </p:spPr>
      </p:pic>
    </p:spTree>
    <p:extLst>
      <p:ext uri="{BB962C8B-B14F-4D97-AF65-F5344CB8AC3E}">
        <p14:creationId xmlns:p14="http://schemas.microsoft.com/office/powerpoint/2010/main" val="3278991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Calculating Moments of Inertia </a:t>
            </a:r>
          </a:p>
        </p:txBody>
      </p:sp>
      <p:sp>
        <p:nvSpPr>
          <p:cNvPr id="4" name="Rectangle 3">
            <a:extLst>
              <a:ext uri="{FF2B5EF4-FFF2-40B4-BE49-F238E27FC236}">
                <a16:creationId xmlns:a16="http://schemas.microsoft.com/office/drawing/2014/main" id="{5734ECCF-C2F4-3248-B8F9-34A57C22D4E5}"/>
              </a:ext>
            </a:extLst>
          </p:cNvPr>
          <p:cNvSpPr/>
          <p:nvPr/>
        </p:nvSpPr>
        <p:spPr>
          <a:xfrm>
            <a:off x="2314713" y="676448"/>
            <a:ext cx="9643925" cy="1446550"/>
          </a:xfrm>
          <a:prstGeom prst="rect">
            <a:avLst/>
          </a:prstGeom>
        </p:spPr>
        <p:txBody>
          <a:bodyPr wrap="square">
            <a:spAutoFit/>
          </a:bodyPr>
          <a:lstStyle/>
          <a:p>
            <a:r>
              <a:rPr lang="en-US" sz="2200" dirty="0">
                <a:solidFill>
                  <a:srgbClr val="3B124D"/>
                </a:solidFill>
                <a:latin typeface="LiberationSerif"/>
              </a:rPr>
              <a:t>The moment of inertia is </a:t>
            </a:r>
            <a:r>
              <a:rPr lang="en-US" sz="2200" dirty="0">
                <a:solidFill>
                  <a:srgbClr val="3B124D"/>
                </a:solidFill>
              </a:rPr>
              <a:t>for all the point masses that make up the object. </a:t>
            </a:r>
          </a:p>
          <a:p>
            <a:r>
              <a:rPr lang="en-US" sz="2200" dirty="0">
                <a:solidFill>
                  <a:srgbClr val="C00000"/>
                </a:solidFill>
              </a:rPr>
              <a:t>Because r is the distance to the axis of rotation from each piece of mass that makes up the object, the moment of inertia for any object depends on the chosen axis. </a:t>
            </a:r>
          </a:p>
          <a:p>
            <a:endParaRPr lang="en-US" sz="2200" dirty="0">
              <a:solidFill>
                <a:srgbClr val="3B124D"/>
              </a:solidFill>
            </a:endParaRPr>
          </a:p>
        </p:txBody>
      </p:sp>
      <p:pic>
        <p:nvPicPr>
          <p:cNvPr id="7" name="Picture 6" descr="A picture containing text, clock&#10;&#10;Description automatically generated">
            <a:extLst>
              <a:ext uri="{FF2B5EF4-FFF2-40B4-BE49-F238E27FC236}">
                <a16:creationId xmlns:a16="http://schemas.microsoft.com/office/drawing/2014/main" id="{A5C77ABF-2385-9B43-889F-48F416C374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227" y="802276"/>
            <a:ext cx="1447800" cy="774700"/>
          </a:xfrm>
          <a:prstGeom prst="rect">
            <a:avLst/>
          </a:prstGeom>
        </p:spPr>
      </p:pic>
      <p:sp>
        <p:nvSpPr>
          <p:cNvPr id="2" name="Rectangle 1">
            <a:extLst>
              <a:ext uri="{FF2B5EF4-FFF2-40B4-BE49-F238E27FC236}">
                <a16:creationId xmlns:a16="http://schemas.microsoft.com/office/drawing/2014/main" id="{57E78D13-2A79-6C4B-B2A3-8A47082AC704}"/>
              </a:ext>
            </a:extLst>
          </p:cNvPr>
          <p:cNvSpPr/>
          <p:nvPr/>
        </p:nvSpPr>
        <p:spPr>
          <a:xfrm>
            <a:off x="701226" y="1885861"/>
            <a:ext cx="11257411" cy="1015663"/>
          </a:xfrm>
          <a:prstGeom prst="rect">
            <a:avLst/>
          </a:prstGeom>
        </p:spPr>
        <p:txBody>
          <a:bodyPr wrap="square">
            <a:spAutoFit/>
          </a:bodyPr>
          <a:lstStyle/>
          <a:p>
            <a:r>
              <a:rPr lang="en-US" sz="2000" dirty="0">
                <a:solidFill>
                  <a:srgbClr val="7030A0"/>
                </a:solidFill>
                <a:latin typeface="LiberationSerif"/>
              </a:rPr>
              <a:t>Each piece of mass should have the same magnitude of velocity, which means the whole piece has to have a single distance </a:t>
            </a:r>
            <a:r>
              <a:rPr lang="en-US" sz="2000" i="1" dirty="0">
                <a:solidFill>
                  <a:srgbClr val="7030A0"/>
                </a:solidFill>
                <a:latin typeface="LiberationSerif"/>
              </a:rPr>
              <a:t>r </a:t>
            </a:r>
            <a:r>
              <a:rPr lang="en-US" sz="2000" dirty="0">
                <a:solidFill>
                  <a:srgbClr val="7030A0"/>
                </a:solidFill>
                <a:latin typeface="LiberationSerif"/>
              </a:rPr>
              <a:t>to the axis of rotation. However, this is not possible unless we take an infinitesimally small piece of mass </a:t>
            </a:r>
            <a:r>
              <a:rPr lang="en-US" sz="2000" i="1" dirty="0">
                <a:solidFill>
                  <a:srgbClr val="7030A0"/>
                </a:solidFill>
                <a:latin typeface="LiberationSerif"/>
              </a:rPr>
              <a:t>dm</a:t>
            </a:r>
            <a:r>
              <a:rPr lang="en-US" sz="2000" dirty="0">
                <a:solidFill>
                  <a:srgbClr val="7030A0"/>
                </a:solidFill>
                <a:latin typeface="LiberationSerif"/>
              </a:rPr>
              <a:t>, as shown in </a:t>
            </a:r>
            <a:r>
              <a:rPr lang="en-US" sz="2000" dirty="0">
                <a:solidFill>
                  <a:srgbClr val="7030A0"/>
                </a:solidFill>
                <a:latin typeface="LiberationSans"/>
              </a:rPr>
              <a:t>figure below.</a:t>
            </a:r>
            <a:endParaRPr lang="en-US" sz="2000" dirty="0">
              <a:solidFill>
                <a:srgbClr val="7030A0"/>
              </a:solidFill>
            </a:endParaRPr>
          </a:p>
        </p:txBody>
      </p:sp>
      <p:pic>
        <p:nvPicPr>
          <p:cNvPr id="9" name="Picture 8" descr="Diagram&#10;&#10;Description automatically generated">
            <a:extLst>
              <a:ext uri="{FF2B5EF4-FFF2-40B4-BE49-F238E27FC236}">
                <a16:creationId xmlns:a16="http://schemas.microsoft.com/office/drawing/2014/main" id="{8E975FC7-A363-6541-A562-D3C2D8B512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821" y="2901524"/>
            <a:ext cx="3324359" cy="3200400"/>
          </a:xfrm>
          <a:prstGeom prst="rect">
            <a:avLst/>
          </a:prstGeom>
        </p:spPr>
      </p:pic>
      <p:sp>
        <p:nvSpPr>
          <p:cNvPr id="10" name="Text Placeholder 6">
            <a:extLst>
              <a:ext uri="{FF2B5EF4-FFF2-40B4-BE49-F238E27FC236}">
                <a16:creationId xmlns:a16="http://schemas.microsoft.com/office/drawing/2014/main" id="{9387E430-2FB2-9E43-B468-5CA1FADBE038}"/>
              </a:ext>
            </a:extLst>
          </p:cNvPr>
          <p:cNvSpPr txBox="1">
            <a:spLocks/>
          </p:cNvSpPr>
          <p:nvPr/>
        </p:nvSpPr>
        <p:spPr>
          <a:xfrm>
            <a:off x="277345" y="6101924"/>
            <a:ext cx="4743450"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3B124D"/>
                </a:solidFill>
              </a:rPr>
              <a:t>Using an infinitesimally small piece of mass to calculate the contribution to the total moment of inertia.</a:t>
            </a:r>
          </a:p>
        </p:txBody>
      </p:sp>
      <p:sp>
        <p:nvSpPr>
          <p:cNvPr id="11" name="Rectangle 10">
            <a:extLst>
              <a:ext uri="{FF2B5EF4-FFF2-40B4-BE49-F238E27FC236}">
                <a16:creationId xmlns:a16="http://schemas.microsoft.com/office/drawing/2014/main" id="{94ECA36C-6315-9041-9A87-F8389ADF4CF8}"/>
              </a:ext>
            </a:extLst>
          </p:cNvPr>
          <p:cNvSpPr/>
          <p:nvPr/>
        </p:nvSpPr>
        <p:spPr>
          <a:xfrm>
            <a:off x="4598656" y="3422699"/>
            <a:ext cx="7208100" cy="707886"/>
          </a:xfrm>
          <a:prstGeom prst="rect">
            <a:avLst/>
          </a:prstGeom>
        </p:spPr>
        <p:txBody>
          <a:bodyPr wrap="square">
            <a:spAutoFit/>
          </a:bodyPr>
          <a:lstStyle/>
          <a:p>
            <a:r>
              <a:rPr lang="en-US" sz="2000" dirty="0">
                <a:latin typeface="LiberationSerif"/>
              </a:rPr>
              <a:t>Thus, we should have integral over infinitesimal masses rather than doing a discrete sum over finite masses: </a:t>
            </a:r>
            <a:endParaRPr lang="en-US" sz="2000" dirty="0"/>
          </a:p>
        </p:txBody>
      </p:sp>
      <p:pic>
        <p:nvPicPr>
          <p:cNvPr id="13" name="Picture 12" descr="A picture containing text&#10;&#10;Description automatically generated">
            <a:extLst>
              <a:ext uri="{FF2B5EF4-FFF2-40B4-BE49-F238E27FC236}">
                <a16:creationId xmlns:a16="http://schemas.microsoft.com/office/drawing/2014/main" id="{FF793FE8-F89F-224F-81F7-6741798ED8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4201854"/>
            <a:ext cx="4278702" cy="914400"/>
          </a:xfrm>
          <a:prstGeom prst="rect">
            <a:avLst/>
          </a:prstGeom>
        </p:spPr>
      </p:pic>
    </p:spTree>
    <p:extLst>
      <p:ext uri="{BB962C8B-B14F-4D97-AF65-F5344CB8AC3E}">
        <p14:creationId xmlns:p14="http://schemas.microsoft.com/office/powerpoint/2010/main" val="40765907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Calculating Moments of Inertia </a:t>
            </a:r>
          </a:p>
        </p:txBody>
      </p:sp>
      <p:pic>
        <p:nvPicPr>
          <p:cNvPr id="4" name="Picture 3" descr="A picture containing text&#10;&#10;Description automatically generated">
            <a:extLst>
              <a:ext uri="{FF2B5EF4-FFF2-40B4-BE49-F238E27FC236}">
                <a16:creationId xmlns:a16="http://schemas.microsoft.com/office/drawing/2014/main" id="{AF18F60D-1593-1A4B-9D95-23E607DB63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8836" y="612264"/>
            <a:ext cx="4278702" cy="914400"/>
          </a:xfrm>
          <a:prstGeom prst="rect">
            <a:avLst/>
          </a:prstGeom>
        </p:spPr>
      </p:pic>
      <p:sp>
        <p:nvSpPr>
          <p:cNvPr id="2" name="Rectangle 1">
            <a:extLst>
              <a:ext uri="{FF2B5EF4-FFF2-40B4-BE49-F238E27FC236}">
                <a16:creationId xmlns:a16="http://schemas.microsoft.com/office/drawing/2014/main" id="{701B697F-D3DA-A943-85D2-187EAF44EE96}"/>
              </a:ext>
            </a:extLst>
          </p:cNvPr>
          <p:cNvSpPr/>
          <p:nvPr/>
        </p:nvSpPr>
        <p:spPr>
          <a:xfrm>
            <a:off x="555306" y="1215731"/>
            <a:ext cx="5049652" cy="369332"/>
          </a:xfrm>
          <a:prstGeom prst="rect">
            <a:avLst/>
          </a:prstGeom>
        </p:spPr>
        <p:txBody>
          <a:bodyPr wrap="none">
            <a:spAutoFit/>
          </a:bodyPr>
          <a:lstStyle/>
          <a:p>
            <a:r>
              <a:rPr lang="en-US" b="1" dirty="0">
                <a:solidFill>
                  <a:srgbClr val="5189BC"/>
                </a:solidFill>
                <a:latin typeface="LiberationSans"/>
              </a:rPr>
              <a:t>A uniform thin rod with an axis through the center </a:t>
            </a:r>
            <a:endParaRPr lang="en-US" dirty="0"/>
          </a:p>
        </p:txBody>
      </p:sp>
      <p:sp>
        <p:nvSpPr>
          <p:cNvPr id="7" name="Rectangle 6">
            <a:extLst>
              <a:ext uri="{FF2B5EF4-FFF2-40B4-BE49-F238E27FC236}">
                <a16:creationId xmlns:a16="http://schemas.microsoft.com/office/drawing/2014/main" id="{90AEFD4E-C953-A244-9D5E-C2497E8C18F2}"/>
              </a:ext>
            </a:extLst>
          </p:cNvPr>
          <p:cNvSpPr/>
          <p:nvPr/>
        </p:nvSpPr>
        <p:spPr>
          <a:xfrm>
            <a:off x="555306" y="884798"/>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pic>
        <p:nvPicPr>
          <p:cNvPr id="8" name="Picture 7" descr="Diagram&#10;&#10;Description automatically generated with medium confidence">
            <a:extLst>
              <a:ext uri="{FF2B5EF4-FFF2-40B4-BE49-F238E27FC236}">
                <a16:creationId xmlns:a16="http://schemas.microsoft.com/office/drawing/2014/main" id="{58B9350C-99A3-C949-93B8-2E16FD2CB0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306" y="1654239"/>
            <a:ext cx="4432300" cy="1498600"/>
          </a:xfrm>
          <a:prstGeom prst="rect">
            <a:avLst/>
          </a:prstGeom>
        </p:spPr>
      </p:pic>
      <p:sp>
        <p:nvSpPr>
          <p:cNvPr id="9" name="Rectangle 8">
            <a:extLst>
              <a:ext uri="{FF2B5EF4-FFF2-40B4-BE49-F238E27FC236}">
                <a16:creationId xmlns:a16="http://schemas.microsoft.com/office/drawing/2014/main" id="{4BAB903B-365B-1E4F-8A96-D5A9DAF01279}"/>
              </a:ext>
            </a:extLst>
          </p:cNvPr>
          <p:cNvSpPr/>
          <p:nvPr/>
        </p:nvSpPr>
        <p:spPr>
          <a:xfrm>
            <a:off x="493561" y="3222015"/>
            <a:ext cx="5173141" cy="646331"/>
          </a:xfrm>
          <a:prstGeom prst="rect">
            <a:avLst/>
          </a:prstGeom>
        </p:spPr>
        <p:txBody>
          <a:bodyPr wrap="square">
            <a:spAutoFit/>
          </a:bodyPr>
          <a:lstStyle/>
          <a:p>
            <a:r>
              <a:rPr lang="en-US" dirty="0">
                <a:solidFill>
                  <a:srgbClr val="C00000"/>
                </a:solidFill>
                <a:latin typeface="LiberationSerif"/>
              </a:rPr>
              <a:t>Calculation of the moment of inertia </a:t>
            </a:r>
            <a:r>
              <a:rPr lang="en-US" i="1" dirty="0">
                <a:solidFill>
                  <a:srgbClr val="C00000"/>
                </a:solidFill>
                <a:latin typeface="LiberationSerif"/>
              </a:rPr>
              <a:t>I </a:t>
            </a:r>
            <a:r>
              <a:rPr lang="en-US" dirty="0">
                <a:solidFill>
                  <a:srgbClr val="C00000"/>
                </a:solidFill>
                <a:latin typeface="LiberationSerif"/>
              </a:rPr>
              <a:t>for a uniform thin rod about an axis through the center of the rod. </a:t>
            </a:r>
            <a:endParaRPr lang="en-US" dirty="0">
              <a:solidFill>
                <a:srgbClr val="C00000"/>
              </a:solidFill>
            </a:endParaRPr>
          </a:p>
        </p:txBody>
      </p:sp>
      <p:sp>
        <p:nvSpPr>
          <p:cNvPr id="10" name="Rectangle 9">
            <a:extLst>
              <a:ext uri="{FF2B5EF4-FFF2-40B4-BE49-F238E27FC236}">
                <a16:creationId xmlns:a16="http://schemas.microsoft.com/office/drawing/2014/main" id="{39B89B4C-D028-9149-9E16-7E1DF3B42881}"/>
              </a:ext>
            </a:extLst>
          </p:cNvPr>
          <p:cNvSpPr/>
          <p:nvPr/>
        </p:nvSpPr>
        <p:spPr>
          <a:xfrm>
            <a:off x="5983676" y="1766396"/>
            <a:ext cx="2073003" cy="369332"/>
          </a:xfrm>
          <a:prstGeom prst="rect">
            <a:avLst/>
          </a:prstGeom>
        </p:spPr>
        <p:txBody>
          <a:bodyPr wrap="none">
            <a:spAutoFit/>
          </a:bodyPr>
          <a:lstStyle/>
          <a:p>
            <a:r>
              <a:rPr lang="en-US" b="1" dirty="0">
                <a:solidFill>
                  <a:srgbClr val="3B124D"/>
                </a:solidFill>
                <a:latin typeface="LiberationSerif"/>
              </a:rPr>
              <a:t>linear mass density </a:t>
            </a:r>
            <a:endParaRPr lang="en-US" dirty="0">
              <a:solidFill>
                <a:srgbClr val="3B124D"/>
              </a:solidFill>
            </a:endParaRPr>
          </a:p>
        </p:txBody>
      </p:sp>
      <p:sp>
        <p:nvSpPr>
          <p:cNvPr id="11" name="Rectangle 10">
            <a:extLst>
              <a:ext uri="{FF2B5EF4-FFF2-40B4-BE49-F238E27FC236}">
                <a16:creationId xmlns:a16="http://schemas.microsoft.com/office/drawing/2014/main" id="{CCF9868F-3791-ED4F-85CC-07F112EF5817}"/>
              </a:ext>
            </a:extLst>
          </p:cNvPr>
          <p:cNvSpPr/>
          <p:nvPr/>
        </p:nvSpPr>
        <p:spPr>
          <a:xfrm>
            <a:off x="5975719" y="2331030"/>
            <a:ext cx="4798237" cy="1477328"/>
          </a:xfrm>
          <a:prstGeom prst="rect">
            <a:avLst/>
          </a:prstGeom>
        </p:spPr>
        <p:txBody>
          <a:bodyPr wrap="none">
            <a:spAutoFit/>
          </a:bodyPr>
          <a:lstStyle/>
          <a:p>
            <a:r>
              <a:rPr lang="en-US" dirty="0">
                <a:solidFill>
                  <a:srgbClr val="3B124D"/>
                </a:solidFill>
                <a:latin typeface="LiberationSerif"/>
              </a:rPr>
              <a:t>take the differential of each side of this equation,</a:t>
            </a:r>
          </a:p>
          <a:p>
            <a:endParaRPr lang="en-US" dirty="0">
              <a:solidFill>
                <a:srgbClr val="3B124D"/>
              </a:solidFill>
              <a:latin typeface="LiberationSerif"/>
            </a:endParaRPr>
          </a:p>
          <a:p>
            <a:endParaRPr lang="en-US" dirty="0">
              <a:solidFill>
                <a:srgbClr val="3B124D"/>
              </a:solidFill>
              <a:latin typeface="LiberationSerif"/>
            </a:endParaRPr>
          </a:p>
          <a:p>
            <a:endParaRPr lang="en-US" dirty="0">
              <a:solidFill>
                <a:srgbClr val="3B124D"/>
              </a:solidFill>
              <a:latin typeface="LiberationSerif"/>
            </a:endParaRPr>
          </a:p>
          <a:p>
            <a:r>
              <a:rPr lang="en-US" dirty="0">
                <a:solidFill>
                  <a:srgbClr val="3B124D"/>
                </a:solidFill>
                <a:latin typeface="LiberationSerif"/>
              </a:rPr>
              <a:t>                                                       in our case </a:t>
            </a:r>
            <a:endParaRPr lang="en-US" dirty="0">
              <a:solidFill>
                <a:srgbClr val="3B124D"/>
              </a:solidFill>
            </a:endParaRPr>
          </a:p>
        </p:txBody>
      </p:sp>
      <p:pic>
        <p:nvPicPr>
          <p:cNvPr id="13" name="Picture 12" descr="Text&#10;&#10;Description automatically generated with low confidence">
            <a:extLst>
              <a:ext uri="{FF2B5EF4-FFF2-40B4-BE49-F238E27FC236}">
                <a16:creationId xmlns:a16="http://schemas.microsoft.com/office/drawing/2014/main" id="{B6C71F32-12D6-A64D-BE1D-0E1B5DA97F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84376" y="1676742"/>
            <a:ext cx="2049332" cy="548640"/>
          </a:xfrm>
          <a:prstGeom prst="rect">
            <a:avLst/>
          </a:prstGeom>
        </p:spPr>
      </p:pic>
      <p:pic>
        <p:nvPicPr>
          <p:cNvPr id="15" name="Picture 14" descr="Text&#10;&#10;Description automatically generated with medium confidence">
            <a:extLst>
              <a:ext uri="{FF2B5EF4-FFF2-40B4-BE49-F238E27FC236}">
                <a16:creationId xmlns:a16="http://schemas.microsoft.com/office/drawing/2014/main" id="{02EC1903-4F46-DF4A-A16F-FB18030C8C4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01287" y="2806010"/>
            <a:ext cx="2177935" cy="548640"/>
          </a:xfrm>
          <a:prstGeom prst="rect">
            <a:avLst/>
          </a:prstGeom>
        </p:spPr>
      </p:pic>
      <p:pic>
        <p:nvPicPr>
          <p:cNvPr id="17" name="Picture 16" descr="Text&#10;&#10;Description automatically generated">
            <a:extLst>
              <a:ext uri="{FF2B5EF4-FFF2-40B4-BE49-F238E27FC236}">
                <a16:creationId xmlns:a16="http://schemas.microsoft.com/office/drawing/2014/main" id="{8C3FBD0F-36EA-4840-852F-8F396B9CC37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20695" y="3340204"/>
            <a:ext cx="952500" cy="482600"/>
          </a:xfrm>
          <a:prstGeom prst="rect">
            <a:avLst/>
          </a:prstGeom>
        </p:spPr>
      </p:pic>
      <p:pic>
        <p:nvPicPr>
          <p:cNvPr id="19" name="Picture 18" descr="Text&#10;&#10;Description automatically generated with medium confidence">
            <a:extLst>
              <a:ext uri="{FF2B5EF4-FFF2-40B4-BE49-F238E27FC236}">
                <a16:creationId xmlns:a16="http://schemas.microsoft.com/office/drawing/2014/main" id="{F0F280BA-C798-4144-98FB-76314D75B92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20177" y="3926765"/>
            <a:ext cx="4140200" cy="749300"/>
          </a:xfrm>
          <a:prstGeom prst="rect">
            <a:avLst/>
          </a:prstGeom>
        </p:spPr>
      </p:pic>
      <p:sp>
        <p:nvSpPr>
          <p:cNvPr id="20" name="Rectangle 19">
            <a:extLst>
              <a:ext uri="{FF2B5EF4-FFF2-40B4-BE49-F238E27FC236}">
                <a16:creationId xmlns:a16="http://schemas.microsoft.com/office/drawing/2014/main" id="{C8155D73-40DA-0843-BCD8-62FD5198B385}"/>
              </a:ext>
            </a:extLst>
          </p:cNvPr>
          <p:cNvSpPr/>
          <p:nvPr/>
        </p:nvSpPr>
        <p:spPr>
          <a:xfrm>
            <a:off x="3031059" y="4346628"/>
            <a:ext cx="2422778" cy="1015663"/>
          </a:xfrm>
          <a:prstGeom prst="rect">
            <a:avLst/>
          </a:prstGeom>
        </p:spPr>
        <p:txBody>
          <a:bodyPr wrap="none">
            <a:spAutoFit/>
          </a:bodyPr>
          <a:lstStyle/>
          <a:p>
            <a:pPr algn="r"/>
            <a:r>
              <a:rPr lang="en-US" sz="2000" dirty="0">
                <a:solidFill>
                  <a:srgbClr val="3B124D"/>
                </a:solidFill>
                <a:latin typeface="LiberationSerif"/>
              </a:rPr>
              <a:t>The rod extends from</a:t>
            </a:r>
          </a:p>
          <a:p>
            <a:pPr algn="r"/>
            <a:r>
              <a:rPr lang="en-US" sz="2000" dirty="0">
                <a:solidFill>
                  <a:srgbClr val="3B124D"/>
                </a:solidFill>
                <a:latin typeface="LiberationSerif"/>
              </a:rPr>
              <a:t> </a:t>
            </a:r>
            <a:r>
              <a:rPr lang="en-US" sz="2000" i="1" dirty="0">
                <a:solidFill>
                  <a:srgbClr val="3B124D"/>
                </a:solidFill>
                <a:latin typeface="STIXGeneral" pitchFamily="2" charset="2"/>
              </a:rPr>
              <a:t>x </a:t>
            </a:r>
            <a:r>
              <a:rPr lang="en-US" sz="2000" dirty="0">
                <a:solidFill>
                  <a:srgbClr val="3B124D"/>
                </a:solidFill>
                <a:latin typeface="STIXGeneral" pitchFamily="2" charset="2"/>
              </a:rPr>
              <a:t>= −</a:t>
            </a:r>
            <a:r>
              <a:rPr lang="en-US" sz="2000" i="1" dirty="0">
                <a:solidFill>
                  <a:srgbClr val="3B124D"/>
                </a:solidFill>
                <a:latin typeface="STIXGeneral" pitchFamily="2" charset="2"/>
              </a:rPr>
              <a:t>L</a:t>
            </a:r>
            <a:r>
              <a:rPr lang="en-US" sz="2000" dirty="0">
                <a:solidFill>
                  <a:srgbClr val="3B124D"/>
                </a:solidFill>
                <a:latin typeface="STIXGeneral" pitchFamily="2" charset="2"/>
              </a:rPr>
              <a:t>/2 </a:t>
            </a:r>
            <a:r>
              <a:rPr lang="en-US" sz="2000" dirty="0">
                <a:solidFill>
                  <a:srgbClr val="3B124D"/>
                </a:solidFill>
                <a:latin typeface="LiberationSerif"/>
              </a:rPr>
              <a:t>to </a:t>
            </a:r>
            <a:r>
              <a:rPr lang="en-US" sz="2000" i="1" dirty="0">
                <a:solidFill>
                  <a:srgbClr val="3B124D"/>
                </a:solidFill>
                <a:latin typeface="STIXGeneral" pitchFamily="2" charset="2"/>
              </a:rPr>
              <a:t>x </a:t>
            </a:r>
            <a:r>
              <a:rPr lang="en-US" sz="2000" dirty="0">
                <a:solidFill>
                  <a:srgbClr val="3B124D"/>
                </a:solidFill>
                <a:latin typeface="STIXGeneral" pitchFamily="2" charset="2"/>
              </a:rPr>
              <a:t>= </a:t>
            </a:r>
            <a:r>
              <a:rPr lang="en-US" sz="2000" i="1" dirty="0">
                <a:solidFill>
                  <a:srgbClr val="3B124D"/>
                </a:solidFill>
                <a:latin typeface="STIXGeneral" pitchFamily="2" charset="2"/>
              </a:rPr>
              <a:t>L</a:t>
            </a:r>
            <a:r>
              <a:rPr lang="en-US" sz="2000" dirty="0">
                <a:solidFill>
                  <a:srgbClr val="3B124D"/>
                </a:solidFill>
                <a:latin typeface="STIXGeneral" pitchFamily="2" charset="2"/>
              </a:rPr>
              <a:t>/2, </a:t>
            </a:r>
          </a:p>
          <a:p>
            <a:pPr algn="r"/>
            <a:r>
              <a:rPr lang="en-US" sz="2000" dirty="0">
                <a:solidFill>
                  <a:srgbClr val="3B124D"/>
                </a:solidFill>
                <a:latin typeface="STIXGeneral" pitchFamily="2" charset="2"/>
              </a:rPr>
              <a:t>this gives </a:t>
            </a:r>
            <a:endParaRPr lang="en-US" sz="2000" dirty="0">
              <a:solidFill>
                <a:srgbClr val="3B124D"/>
              </a:solidFill>
            </a:endParaRPr>
          </a:p>
        </p:txBody>
      </p:sp>
      <p:pic>
        <p:nvPicPr>
          <p:cNvPr id="22" name="Picture 21" descr="Text&#10;&#10;Description automatically generated with medium confidence">
            <a:extLst>
              <a:ext uri="{FF2B5EF4-FFF2-40B4-BE49-F238E27FC236}">
                <a16:creationId xmlns:a16="http://schemas.microsoft.com/office/drawing/2014/main" id="{95F02D47-3AB9-0E45-BFA3-F066346793F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453837" y="4794472"/>
            <a:ext cx="5842000" cy="1854200"/>
          </a:xfrm>
          <a:prstGeom prst="rect">
            <a:avLst/>
          </a:prstGeom>
        </p:spPr>
      </p:pic>
      <p:pic>
        <p:nvPicPr>
          <p:cNvPr id="24" name="Picture 23" descr="Diagram&#10;&#10;Description automatically generated">
            <a:extLst>
              <a:ext uri="{FF2B5EF4-FFF2-40B4-BE49-F238E27FC236}">
                <a16:creationId xmlns:a16="http://schemas.microsoft.com/office/drawing/2014/main" id="{31EB80F6-9858-FD4C-9FF0-1D3852EE215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83810" y="4590898"/>
            <a:ext cx="2505759" cy="1828800"/>
          </a:xfrm>
          <a:prstGeom prst="rect">
            <a:avLst/>
          </a:prstGeom>
        </p:spPr>
      </p:pic>
    </p:spTree>
    <p:extLst>
      <p:ext uri="{BB962C8B-B14F-4D97-AF65-F5344CB8AC3E}">
        <p14:creationId xmlns:p14="http://schemas.microsoft.com/office/powerpoint/2010/main" val="40540366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Calculating Moments of Inertia </a:t>
            </a:r>
          </a:p>
        </p:txBody>
      </p:sp>
      <p:pic>
        <p:nvPicPr>
          <p:cNvPr id="4" name="Picture 3" descr="A picture containing text&#10;&#10;Description automatically generated">
            <a:extLst>
              <a:ext uri="{FF2B5EF4-FFF2-40B4-BE49-F238E27FC236}">
                <a16:creationId xmlns:a16="http://schemas.microsoft.com/office/drawing/2014/main" id="{2FFE7A83-AF50-7947-B5BF-AC33D9CD5C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8836" y="612264"/>
            <a:ext cx="4278702" cy="914400"/>
          </a:xfrm>
          <a:prstGeom prst="rect">
            <a:avLst/>
          </a:prstGeom>
        </p:spPr>
      </p:pic>
      <p:sp>
        <p:nvSpPr>
          <p:cNvPr id="7" name="Rectangle 6">
            <a:extLst>
              <a:ext uri="{FF2B5EF4-FFF2-40B4-BE49-F238E27FC236}">
                <a16:creationId xmlns:a16="http://schemas.microsoft.com/office/drawing/2014/main" id="{65FCF09E-5806-9044-AD53-470FC9DE7BB1}"/>
              </a:ext>
            </a:extLst>
          </p:cNvPr>
          <p:cNvSpPr/>
          <p:nvPr/>
        </p:nvSpPr>
        <p:spPr>
          <a:xfrm>
            <a:off x="555306" y="884798"/>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sp>
        <p:nvSpPr>
          <p:cNvPr id="8" name="Rectangle 7">
            <a:extLst>
              <a:ext uri="{FF2B5EF4-FFF2-40B4-BE49-F238E27FC236}">
                <a16:creationId xmlns:a16="http://schemas.microsoft.com/office/drawing/2014/main" id="{C3A9B0C9-BD84-1148-BD0C-0CCC1693C9F6}"/>
              </a:ext>
            </a:extLst>
          </p:cNvPr>
          <p:cNvSpPr/>
          <p:nvPr/>
        </p:nvSpPr>
        <p:spPr>
          <a:xfrm>
            <a:off x="5983676" y="1766396"/>
            <a:ext cx="2073003" cy="369332"/>
          </a:xfrm>
          <a:prstGeom prst="rect">
            <a:avLst/>
          </a:prstGeom>
        </p:spPr>
        <p:txBody>
          <a:bodyPr wrap="none">
            <a:spAutoFit/>
          </a:bodyPr>
          <a:lstStyle/>
          <a:p>
            <a:r>
              <a:rPr lang="en-US" b="1" dirty="0">
                <a:solidFill>
                  <a:srgbClr val="3B124D"/>
                </a:solidFill>
                <a:latin typeface="LiberationSerif"/>
              </a:rPr>
              <a:t>linear mass density </a:t>
            </a:r>
            <a:endParaRPr lang="en-US" dirty="0">
              <a:solidFill>
                <a:srgbClr val="3B124D"/>
              </a:solidFill>
            </a:endParaRPr>
          </a:p>
        </p:txBody>
      </p:sp>
      <p:sp>
        <p:nvSpPr>
          <p:cNvPr id="9" name="Rectangle 8">
            <a:extLst>
              <a:ext uri="{FF2B5EF4-FFF2-40B4-BE49-F238E27FC236}">
                <a16:creationId xmlns:a16="http://schemas.microsoft.com/office/drawing/2014/main" id="{B1CEA472-E1FF-114F-B961-5F2946877D79}"/>
              </a:ext>
            </a:extLst>
          </p:cNvPr>
          <p:cNvSpPr/>
          <p:nvPr/>
        </p:nvSpPr>
        <p:spPr>
          <a:xfrm>
            <a:off x="5975719" y="2331030"/>
            <a:ext cx="4798237" cy="1477328"/>
          </a:xfrm>
          <a:prstGeom prst="rect">
            <a:avLst/>
          </a:prstGeom>
        </p:spPr>
        <p:txBody>
          <a:bodyPr wrap="none">
            <a:spAutoFit/>
          </a:bodyPr>
          <a:lstStyle/>
          <a:p>
            <a:r>
              <a:rPr lang="en-US" dirty="0">
                <a:solidFill>
                  <a:srgbClr val="3B124D"/>
                </a:solidFill>
                <a:latin typeface="LiberationSerif"/>
              </a:rPr>
              <a:t>take the differential of each side of this equation,</a:t>
            </a:r>
          </a:p>
          <a:p>
            <a:endParaRPr lang="en-US" dirty="0">
              <a:solidFill>
                <a:srgbClr val="3B124D"/>
              </a:solidFill>
              <a:latin typeface="LiberationSerif"/>
            </a:endParaRPr>
          </a:p>
          <a:p>
            <a:endParaRPr lang="en-US" dirty="0">
              <a:solidFill>
                <a:srgbClr val="3B124D"/>
              </a:solidFill>
              <a:latin typeface="LiberationSerif"/>
            </a:endParaRPr>
          </a:p>
          <a:p>
            <a:endParaRPr lang="en-US" dirty="0">
              <a:solidFill>
                <a:srgbClr val="3B124D"/>
              </a:solidFill>
              <a:latin typeface="LiberationSerif"/>
            </a:endParaRPr>
          </a:p>
          <a:p>
            <a:r>
              <a:rPr lang="en-US" dirty="0">
                <a:solidFill>
                  <a:srgbClr val="3B124D"/>
                </a:solidFill>
                <a:latin typeface="LiberationSerif"/>
              </a:rPr>
              <a:t>                                                       in our case </a:t>
            </a:r>
            <a:endParaRPr lang="en-US" dirty="0">
              <a:solidFill>
                <a:srgbClr val="3B124D"/>
              </a:solidFill>
            </a:endParaRPr>
          </a:p>
        </p:txBody>
      </p:sp>
      <p:pic>
        <p:nvPicPr>
          <p:cNvPr id="10" name="Picture 9" descr="Text&#10;&#10;Description automatically generated">
            <a:extLst>
              <a:ext uri="{FF2B5EF4-FFF2-40B4-BE49-F238E27FC236}">
                <a16:creationId xmlns:a16="http://schemas.microsoft.com/office/drawing/2014/main" id="{DFAEA5BA-4C3B-FD4C-A506-FE59EB8F7F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0695" y="3340204"/>
            <a:ext cx="952500" cy="482600"/>
          </a:xfrm>
          <a:prstGeom prst="rect">
            <a:avLst/>
          </a:prstGeom>
        </p:spPr>
      </p:pic>
      <p:pic>
        <p:nvPicPr>
          <p:cNvPr id="11" name="Picture 10" descr="Text&#10;&#10;Description automatically generated with medium confidence">
            <a:extLst>
              <a:ext uri="{FF2B5EF4-FFF2-40B4-BE49-F238E27FC236}">
                <a16:creationId xmlns:a16="http://schemas.microsoft.com/office/drawing/2014/main" id="{AC5A30ED-21A8-FA4F-B508-D2A93F17D7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20177" y="3926765"/>
            <a:ext cx="4140200" cy="749300"/>
          </a:xfrm>
          <a:prstGeom prst="rect">
            <a:avLst/>
          </a:prstGeom>
        </p:spPr>
      </p:pic>
      <p:sp>
        <p:nvSpPr>
          <p:cNvPr id="2" name="Rectangle 1">
            <a:extLst>
              <a:ext uri="{FF2B5EF4-FFF2-40B4-BE49-F238E27FC236}">
                <a16:creationId xmlns:a16="http://schemas.microsoft.com/office/drawing/2014/main" id="{6106C06A-89AE-9A41-929D-4E2E60A46CE3}"/>
              </a:ext>
            </a:extLst>
          </p:cNvPr>
          <p:cNvSpPr/>
          <p:nvPr/>
        </p:nvSpPr>
        <p:spPr>
          <a:xfrm>
            <a:off x="555306" y="1269518"/>
            <a:ext cx="3944413" cy="369332"/>
          </a:xfrm>
          <a:prstGeom prst="rect">
            <a:avLst/>
          </a:prstGeom>
        </p:spPr>
        <p:txBody>
          <a:bodyPr wrap="none">
            <a:spAutoFit/>
          </a:bodyPr>
          <a:lstStyle/>
          <a:p>
            <a:r>
              <a:rPr lang="en-US" b="1" dirty="0">
                <a:solidFill>
                  <a:srgbClr val="5189BC"/>
                </a:solidFill>
                <a:latin typeface="LiberationSans"/>
              </a:rPr>
              <a:t>A uniform thin rod with axis at the end </a:t>
            </a:r>
            <a:endParaRPr lang="en-US" dirty="0"/>
          </a:p>
        </p:txBody>
      </p:sp>
      <p:pic>
        <p:nvPicPr>
          <p:cNvPr id="12" name="Picture 11" descr="A picture containing diagram&#10;&#10;Description automatically generated">
            <a:extLst>
              <a:ext uri="{FF2B5EF4-FFF2-40B4-BE49-F238E27FC236}">
                <a16:creationId xmlns:a16="http://schemas.microsoft.com/office/drawing/2014/main" id="{8CB960DE-FE8A-3548-81D5-31ABB73A6A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9657" y="1670419"/>
            <a:ext cx="4965700" cy="1778000"/>
          </a:xfrm>
          <a:prstGeom prst="rect">
            <a:avLst/>
          </a:prstGeom>
        </p:spPr>
      </p:pic>
      <p:sp>
        <p:nvSpPr>
          <p:cNvPr id="13" name="Rectangle 12">
            <a:extLst>
              <a:ext uri="{FF2B5EF4-FFF2-40B4-BE49-F238E27FC236}">
                <a16:creationId xmlns:a16="http://schemas.microsoft.com/office/drawing/2014/main" id="{26BE2116-693C-704A-8D18-1D19225A221A}"/>
              </a:ext>
            </a:extLst>
          </p:cNvPr>
          <p:cNvSpPr/>
          <p:nvPr/>
        </p:nvSpPr>
        <p:spPr>
          <a:xfrm>
            <a:off x="771514" y="3499638"/>
            <a:ext cx="5204205" cy="646331"/>
          </a:xfrm>
          <a:prstGeom prst="rect">
            <a:avLst/>
          </a:prstGeom>
        </p:spPr>
        <p:txBody>
          <a:bodyPr wrap="square">
            <a:spAutoFit/>
          </a:bodyPr>
          <a:lstStyle/>
          <a:p>
            <a:r>
              <a:rPr lang="en-US" dirty="0">
                <a:solidFill>
                  <a:srgbClr val="7030A0"/>
                </a:solidFill>
                <a:latin typeface="LiberationSerif"/>
              </a:rPr>
              <a:t>Calculation of the moment of inertia </a:t>
            </a:r>
            <a:r>
              <a:rPr lang="en-US" i="1" dirty="0">
                <a:solidFill>
                  <a:srgbClr val="7030A0"/>
                </a:solidFill>
                <a:latin typeface="LiberationSerif"/>
              </a:rPr>
              <a:t>I </a:t>
            </a:r>
            <a:r>
              <a:rPr lang="en-US" dirty="0">
                <a:solidFill>
                  <a:srgbClr val="7030A0"/>
                </a:solidFill>
                <a:latin typeface="LiberationSerif"/>
              </a:rPr>
              <a:t>for a uniform thin rod about an axis through the end of the rod. </a:t>
            </a:r>
            <a:endParaRPr lang="en-US" dirty="0">
              <a:solidFill>
                <a:srgbClr val="7030A0"/>
              </a:solidFill>
            </a:endParaRPr>
          </a:p>
        </p:txBody>
      </p:sp>
      <p:sp>
        <p:nvSpPr>
          <p:cNvPr id="14" name="Rectangle 13">
            <a:extLst>
              <a:ext uri="{FF2B5EF4-FFF2-40B4-BE49-F238E27FC236}">
                <a16:creationId xmlns:a16="http://schemas.microsoft.com/office/drawing/2014/main" id="{4FC749DC-B6F9-3341-A8A3-D5B82FCCE27B}"/>
              </a:ext>
            </a:extLst>
          </p:cNvPr>
          <p:cNvSpPr/>
          <p:nvPr/>
        </p:nvSpPr>
        <p:spPr>
          <a:xfrm>
            <a:off x="3031059" y="4346628"/>
            <a:ext cx="2422778" cy="1015663"/>
          </a:xfrm>
          <a:prstGeom prst="rect">
            <a:avLst/>
          </a:prstGeom>
        </p:spPr>
        <p:txBody>
          <a:bodyPr wrap="none">
            <a:spAutoFit/>
          </a:bodyPr>
          <a:lstStyle/>
          <a:p>
            <a:pPr algn="r"/>
            <a:r>
              <a:rPr lang="en-US" sz="2000" dirty="0">
                <a:solidFill>
                  <a:srgbClr val="3B124D"/>
                </a:solidFill>
                <a:latin typeface="LiberationSerif"/>
              </a:rPr>
              <a:t>The rod extends from</a:t>
            </a:r>
          </a:p>
          <a:p>
            <a:pPr algn="r"/>
            <a:r>
              <a:rPr lang="en-US" sz="2000" dirty="0">
                <a:solidFill>
                  <a:srgbClr val="3B124D"/>
                </a:solidFill>
                <a:latin typeface="LiberationSerif"/>
              </a:rPr>
              <a:t> </a:t>
            </a:r>
            <a:r>
              <a:rPr lang="en-US" sz="2000" i="1" dirty="0">
                <a:solidFill>
                  <a:srgbClr val="3B124D"/>
                </a:solidFill>
                <a:latin typeface="STIXGeneral" pitchFamily="2" charset="2"/>
              </a:rPr>
              <a:t>x </a:t>
            </a:r>
            <a:r>
              <a:rPr lang="en-US" sz="2000" dirty="0">
                <a:solidFill>
                  <a:srgbClr val="3B124D"/>
                </a:solidFill>
                <a:latin typeface="STIXGeneral" pitchFamily="2" charset="2"/>
              </a:rPr>
              <a:t>= 0 </a:t>
            </a:r>
            <a:r>
              <a:rPr lang="en-US" sz="2000" dirty="0">
                <a:solidFill>
                  <a:srgbClr val="3B124D"/>
                </a:solidFill>
                <a:latin typeface="LiberationSerif"/>
              </a:rPr>
              <a:t>to </a:t>
            </a:r>
            <a:r>
              <a:rPr lang="en-US" sz="2000" i="1" dirty="0">
                <a:solidFill>
                  <a:srgbClr val="3B124D"/>
                </a:solidFill>
                <a:latin typeface="STIXGeneral" pitchFamily="2" charset="2"/>
              </a:rPr>
              <a:t>x </a:t>
            </a:r>
            <a:r>
              <a:rPr lang="en-US" sz="2000" dirty="0">
                <a:solidFill>
                  <a:srgbClr val="3B124D"/>
                </a:solidFill>
                <a:latin typeface="STIXGeneral" pitchFamily="2" charset="2"/>
              </a:rPr>
              <a:t>= </a:t>
            </a:r>
            <a:r>
              <a:rPr lang="en-US" sz="2000" i="1" dirty="0">
                <a:solidFill>
                  <a:srgbClr val="3B124D"/>
                </a:solidFill>
                <a:latin typeface="STIXGeneral" pitchFamily="2" charset="2"/>
              </a:rPr>
              <a:t>L</a:t>
            </a:r>
            <a:r>
              <a:rPr lang="en-US" sz="2000" dirty="0">
                <a:solidFill>
                  <a:srgbClr val="3B124D"/>
                </a:solidFill>
                <a:latin typeface="STIXGeneral" pitchFamily="2" charset="2"/>
              </a:rPr>
              <a:t>, </a:t>
            </a:r>
          </a:p>
          <a:p>
            <a:pPr algn="r"/>
            <a:r>
              <a:rPr lang="en-US" sz="2000" dirty="0">
                <a:solidFill>
                  <a:srgbClr val="3B124D"/>
                </a:solidFill>
                <a:latin typeface="STIXGeneral" pitchFamily="2" charset="2"/>
              </a:rPr>
              <a:t>this gives </a:t>
            </a:r>
            <a:endParaRPr lang="en-US" sz="2000" dirty="0">
              <a:solidFill>
                <a:srgbClr val="3B124D"/>
              </a:solidFill>
            </a:endParaRPr>
          </a:p>
        </p:txBody>
      </p:sp>
      <p:pic>
        <p:nvPicPr>
          <p:cNvPr id="16" name="Picture 15" descr="Text&#10;&#10;Description automatically generated">
            <a:extLst>
              <a:ext uri="{FF2B5EF4-FFF2-40B4-BE49-F238E27FC236}">
                <a16:creationId xmlns:a16="http://schemas.microsoft.com/office/drawing/2014/main" id="{055CF883-D183-8E45-A72E-76520F8D12A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98003" y="4739357"/>
            <a:ext cx="5098942" cy="1828800"/>
          </a:xfrm>
          <a:prstGeom prst="rect">
            <a:avLst/>
          </a:prstGeom>
        </p:spPr>
      </p:pic>
      <p:pic>
        <p:nvPicPr>
          <p:cNvPr id="18" name="Picture 17" descr="Diagram&#10;&#10;Description automatically generated">
            <a:extLst>
              <a:ext uri="{FF2B5EF4-FFF2-40B4-BE49-F238E27FC236}">
                <a16:creationId xmlns:a16="http://schemas.microsoft.com/office/drawing/2014/main" id="{4E5BFB4D-25E2-DF41-9BAD-AF961FF64F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3107" y="4544466"/>
            <a:ext cx="2819400" cy="1917700"/>
          </a:xfrm>
          <a:prstGeom prst="rect">
            <a:avLst/>
          </a:prstGeom>
        </p:spPr>
      </p:pic>
      <p:pic>
        <p:nvPicPr>
          <p:cNvPr id="19" name="Picture 18" descr="Text&#10;&#10;Description automatically generated with low confidence">
            <a:extLst>
              <a:ext uri="{FF2B5EF4-FFF2-40B4-BE49-F238E27FC236}">
                <a16:creationId xmlns:a16="http://schemas.microsoft.com/office/drawing/2014/main" id="{B2B18207-1CFE-2C4D-B130-8F9412EC7E2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84376" y="1676742"/>
            <a:ext cx="2049332" cy="548640"/>
          </a:xfrm>
          <a:prstGeom prst="rect">
            <a:avLst/>
          </a:prstGeom>
        </p:spPr>
      </p:pic>
      <p:pic>
        <p:nvPicPr>
          <p:cNvPr id="20" name="Picture 19" descr="Text&#10;&#10;Description automatically generated with medium confidence">
            <a:extLst>
              <a:ext uri="{FF2B5EF4-FFF2-40B4-BE49-F238E27FC236}">
                <a16:creationId xmlns:a16="http://schemas.microsoft.com/office/drawing/2014/main" id="{06803DD5-5A3B-6E48-B2B8-B0BB273550F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01287" y="2806010"/>
            <a:ext cx="2177935" cy="548640"/>
          </a:xfrm>
          <a:prstGeom prst="rect">
            <a:avLst/>
          </a:prstGeom>
        </p:spPr>
      </p:pic>
    </p:spTree>
    <p:extLst>
      <p:ext uri="{BB962C8B-B14F-4D97-AF65-F5344CB8AC3E}">
        <p14:creationId xmlns:p14="http://schemas.microsoft.com/office/powerpoint/2010/main" val="34269573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Calculating Moments of Inertia </a:t>
            </a:r>
          </a:p>
        </p:txBody>
      </p:sp>
      <p:sp>
        <p:nvSpPr>
          <p:cNvPr id="2" name="Rectangle 1">
            <a:extLst>
              <a:ext uri="{FF2B5EF4-FFF2-40B4-BE49-F238E27FC236}">
                <a16:creationId xmlns:a16="http://schemas.microsoft.com/office/drawing/2014/main" id="{54B95F52-9FB9-3241-BE96-6F8718013573}"/>
              </a:ext>
            </a:extLst>
          </p:cNvPr>
          <p:cNvSpPr/>
          <p:nvPr/>
        </p:nvSpPr>
        <p:spPr>
          <a:xfrm>
            <a:off x="638815" y="612264"/>
            <a:ext cx="3579634" cy="461665"/>
          </a:xfrm>
          <a:prstGeom prst="rect">
            <a:avLst/>
          </a:prstGeom>
        </p:spPr>
        <p:txBody>
          <a:bodyPr wrap="none">
            <a:spAutoFit/>
          </a:bodyPr>
          <a:lstStyle/>
          <a:p>
            <a:r>
              <a:rPr lang="en-US" sz="2400" b="1" dirty="0">
                <a:solidFill>
                  <a:srgbClr val="008000"/>
                </a:solidFill>
                <a:latin typeface="LiberationSans"/>
              </a:rPr>
              <a:t>The Parallel-Axis Theorem </a:t>
            </a:r>
            <a:endParaRPr lang="en-US" sz="2400" dirty="0">
              <a:solidFill>
                <a:srgbClr val="008000"/>
              </a:solidFill>
            </a:endParaRPr>
          </a:p>
        </p:txBody>
      </p:sp>
      <p:sp>
        <p:nvSpPr>
          <p:cNvPr id="3" name="Rectangle 2">
            <a:extLst>
              <a:ext uri="{FF2B5EF4-FFF2-40B4-BE49-F238E27FC236}">
                <a16:creationId xmlns:a16="http://schemas.microsoft.com/office/drawing/2014/main" id="{411E734E-9AEA-9A40-9E70-D90D0721A179}"/>
              </a:ext>
            </a:extLst>
          </p:cNvPr>
          <p:cNvSpPr/>
          <p:nvPr/>
        </p:nvSpPr>
        <p:spPr>
          <a:xfrm>
            <a:off x="638814" y="1073929"/>
            <a:ext cx="11194597" cy="1323439"/>
          </a:xfrm>
          <a:prstGeom prst="rect">
            <a:avLst/>
          </a:prstGeom>
        </p:spPr>
        <p:txBody>
          <a:bodyPr wrap="square">
            <a:spAutoFit/>
          </a:bodyPr>
          <a:lstStyle/>
          <a:p>
            <a:r>
              <a:rPr lang="en-US" sz="2000" dirty="0">
                <a:latin typeface="LiberationSerif"/>
              </a:rPr>
              <a:t>The similarity between the process of finding the moment of inertia of a rod about an axis through its middle and about an axis through its end is striking and suggests that there might be a simpler method for determining the moment of inertia for a rod about any axis parallel to the axis through the center of mass. Such an axis is called a </a:t>
            </a:r>
            <a:r>
              <a:rPr lang="en-US" sz="2000" b="1" dirty="0">
                <a:solidFill>
                  <a:srgbClr val="008000"/>
                </a:solidFill>
                <a:latin typeface="LiberationSerif"/>
              </a:rPr>
              <a:t>parallel axis</a:t>
            </a:r>
            <a:r>
              <a:rPr lang="en-US" sz="2000" dirty="0">
                <a:solidFill>
                  <a:srgbClr val="008000"/>
                </a:solidFill>
                <a:latin typeface="LiberationSerif"/>
              </a:rPr>
              <a:t>. </a:t>
            </a:r>
            <a:r>
              <a:rPr lang="en-US" sz="2000" dirty="0">
                <a:latin typeface="LiberationSerif"/>
              </a:rPr>
              <a:t>There is a theorem for this, called the </a:t>
            </a:r>
            <a:r>
              <a:rPr lang="en-US" sz="2000" b="1" dirty="0">
                <a:solidFill>
                  <a:srgbClr val="008000"/>
                </a:solidFill>
                <a:latin typeface="LiberationSerif"/>
              </a:rPr>
              <a:t>parallel-axis theorem:</a:t>
            </a:r>
            <a:endParaRPr lang="en-US" sz="2000" dirty="0">
              <a:solidFill>
                <a:srgbClr val="008000"/>
              </a:solidFill>
            </a:endParaRPr>
          </a:p>
        </p:txBody>
      </p:sp>
      <p:pic>
        <p:nvPicPr>
          <p:cNvPr id="7" name="Picture 6" descr="Graphical user interface, text, application&#10;&#10;Description automatically generated">
            <a:extLst>
              <a:ext uri="{FF2B5EF4-FFF2-40B4-BE49-F238E27FC236}">
                <a16:creationId xmlns:a16="http://schemas.microsoft.com/office/drawing/2014/main" id="{7F1DC541-6D6C-2F4F-9ED9-E2D3FF338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112" y="2397368"/>
            <a:ext cx="11430000" cy="1672683"/>
          </a:xfrm>
          <a:prstGeom prst="rect">
            <a:avLst/>
          </a:prstGeom>
        </p:spPr>
      </p:pic>
      <p:pic>
        <p:nvPicPr>
          <p:cNvPr id="9" name="Picture 8" descr="Shape&#10;&#10;Description automatically generated with low confidence">
            <a:extLst>
              <a:ext uri="{FF2B5EF4-FFF2-40B4-BE49-F238E27FC236}">
                <a16:creationId xmlns:a16="http://schemas.microsoft.com/office/drawing/2014/main" id="{4F9BE46A-51FF-5D40-9F19-4894D552AE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85549" y="3368180"/>
            <a:ext cx="1778000" cy="622300"/>
          </a:xfrm>
          <a:prstGeom prst="rect">
            <a:avLst/>
          </a:prstGeom>
        </p:spPr>
      </p:pic>
      <p:sp>
        <p:nvSpPr>
          <p:cNvPr id="10" name="Rectangle 9">
            <a:extLst>
              <a:ext uri="{FF2B5EF4-FFF2-40B4-BE49-F238E27FC236}">
                <a16:creationId xmlns:a16="http://schemas.microsoft.com/office/drawing/2014/main" id="{48B69BCE-8E5F-6243-81C6-2D62E303F0BA}"/>
              </a:ext>
            </a:extLst>
          </p:cNvPr>
          <p:cNvSpPr/>
          <p:nvPr/>
        </p:nvSpPr>
        <p:spPr>
          <a:xfrm>
            <a:off x="7893423" y="5407873"/>
            <a:ext cx="4070126" cy="707886"/>
          </a:xfrm>
          <a:prstGeom prst="rect">
            <a:avLst/>
          </a:prstGeom>
        </p:spPr>
        <p:txBody>
          <a:bodyPr wrap="square">
            <a:spAutoFit/>
          </a:bodyPr>
          <a:lstStyle/>
          <a:p>
            <a:r>
              <a:rPr lang="en-US" sz="2000" dirty="0">
                <a:solidFill>
                  <a:srgbClr val="3B124D"/>
                </a:solidFill>
                <a:latin typeface="LiberationSerif"/>
              </a:rPr>
              <a:t>Let’s apply this to the rod examples we just solved: </a:t>
            </a:r>
            <a:endParaRPr lang="en-US" sz="2000" dirty="0">
              <a:solidFill>
                <a:srgbClr val="3B124D"/>
              </a:solidFill>
            </a:endParaRPr>
          </a:p>
        </p:txBody>
      </p:sp>
      <p:pic>
        <p:nvPicPr>
          <p:cNvPr id="12" name="Picture 11">
            <a:extLst>
              <a:ext uri="{FF2B5EF4-FFF2-40B4-BE49-F238E27FC236}">
                <a16:creationId xmlns:a16="http://schemas.microsoft.com/office/drawing/2014/main" id="{44E8DD5A-1596-B44F-8390-BC18762B48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55224" y="6155449"/>
            <a:ext cx="6769100" cy="673100"/>
          </a:xfrm>
          <a:prstGeom prst="rect">
            <a:avLst/>
          </a:prstGeom>
        </p:spPr>
      </p:pic>
      <p:pic>
        <p:nvPicPr>
          <p:cNvPr id="14" name="Picture 13" descr="A picture containing graphical user interface&#10;&#10;Description automatically generated">
            <a:extLst>
              <a:ext uri="{FF2B5EF4-FFF2-40B4-BE49-F238E27FC236}">
                <a16:creationId xmlns:a16="http://schemas.microsoft.com/office/drawing/2014/main" id="{D3D9F5C4-07F3-4E4E-A670-F49C84829A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1112" y="4171068"/>
            <a:ext cx="7150100" cy="1905000"/>
          </a:xfrm>
          <a:prstGeom prst="rect">
            <a:avLst/>
          </a:prstGeom>
        </p:spPr>
      </p:pic>
      <p:cxnSp>
        <p:nvCxnSpPr>
          <p:cNvPr id="16" name="Straight Arrow Connector 15">
            <a:extLst>
              <a:ext uri="{FF2B5EF4-FFF2-40B4-BE49-F238E27FC236}">
                <a16:creationId xmlns:a16="http://schemas.microsoft.com/office/drawing/2014/main" id="{408B94CF-0BA2-D64E-9608-8E362CDFE530}"/>
              </a:ext>
            </a:extLst>
          </p:cNvPr>
          <p:cNvCxnSpPr/>
          <p:nvPr/>
        </p:nvCxnSpPr>
        <p:spPr>
          <a:xfrm flipH="1">
            <a:off x="5355224" y="4531659"/>
            <a:ext cx="507694" cy="295835"/>
          </a:xfrm>
          <a:prstGeom prst="straightConnector1">
            <a:avLst/>
          </a:prstGeom>
          <a:ln>
            <a:headEnd type="triangle"/>
            <a:tailEnd type="triangle"/>
          </a:ln>
        </p:spPr>
        <p:style>
          <a:lnRef idx="3">
            <a:schemeClr val="accent5"/>
          </a:lnRef>
          <a:fillRef idx="0">
            <a:schemeClr val="accent5"/>
          </a:fillRef>
          <a:effectRef idx="2">
            <a:schemeClr val="accent5"/>
          </a:effectRef>
          <a:fontRef idx="minor">
            <a:schemeClr val="tx1"/>
          </a:fontRef>
        </p:style>
      </p:cxnSp>
      <p:sp>
        <p:nvSpPr>
          <p:cNvPr id="17" name="Rectangle 16">
            <a:extLst>
              <a:ext uri="{FF2B5EF4-FFF2-40B4-BE49-F238E27FC236}">
                <a16:creationId xmlns:a16="http://schemas.microsoft.com/office/drawing/2014/main" id="{AC5AED50-CE41-534B-A31D-5DC9E9093A39}"/>
              </a:ext>
            </a:extLst>
          </p:cNvPr>
          <p:cNvSpPr/>
          <p:nvPr/>
        </p:nvSpPr>
        <p:spPr>
          <a:xfrm>
            <a:off x="5383259" y="4451130"/>
            <a:ext cx="292068" cy="338554"/>
          </a:xfrm>
          <a:prstGeom prst="rect">
            <a:avLst/>
          </a:prstGeom>
        </p:spPr>
        <p:txBody>
          <a:bodyPr wrap="none">
            <a:spAutoFit/>
          </a:bodyPr>
          <a:lstStyle/>
          <a:p>
            <a:r>
              <a:rPr lang="en-US" sz="1600" i="1" dirty="0">
                <a:solidFill>
                  <a:srgbClr val="C00000"/>
                </a:solidFill>
                <a:latin typeface="LiberationSerif"/>
              </a:rPr>
              <a:t>d</a:t>
            </a:r>
            <a:endParaRPr lang="en-US" sz="1600" i="1" dirty="0">
              <a:solidFill>
                <a:srgbClr val="C00000"/>
              </a:solidFill>
            </a:endParaRPr>
          </a:p>
        </p:txBody>
      </p:sp>
      <p:sp>
        <p:nvSpPr>
          <p:cNvPr id="18" name="Rectangle 17">
            <a:extLst>
              <a:ext uri="{FF2B5EF4-FFF2-40B4-BE49-F238E27FC236}">
                <a16:creationId xmlns:a16="http://schemas.microsoft.com/office/drawing/2014/main" id="{9CF1B467-F5AC-5C44-A95E-7FD50EE3344A}"/>
              </a:ext>
            </a:extLst>
          </p:cNvPr>
          <p:cNvSpPr/>
          <p:nvPr/>
        </p:nvSpPr>
        <p:spPr>
          <a:xfrm>
            <a:off x="5290241" y="4464577"/>
            <a:ext cx="327334" cy="769441"/>
          </a:xfrm>
          <a:prstGeom prst="rect">
            <a:avLst/>
          </a:prstGeom>
        </p:spPr>
        <p:txBody>
          <a:bodyPr wrap="none">
            <a:spAutoFit/>
          </a:bodyPr>
          <a:lstStyle/>
          <a:p>
            <a:r>
              <a:rPr lang="en-US" sz="4400" dirty="0">
                <a:solidFill>
                  <a:srgbClr val="C00000"/>
                </a:solidFill>
                <a:latin typeface="LiberationSerif"/>
              </a:rPr>
              <a:t>.</a:t>
            </a:r>
            <a:endParaRPr lang="en-US" sz="4400" dirty="0">
              <a:solidFill>
                <a:srgbClr val="C00000"/>
              </a:solidFill>
            </a:endParaRPr>
          </a:p>
        </p:txBody>
      </p:sp>
    </p:spTree>
    <p:extLst>
      <p:ext uri="{BB962C8B-B14F-4D97-AF65-F5344CB8AC3E}">
        <p14:creationId xmlns:p14="http://schemas.microsoft.com/office/powerpoint/2010/main" val="26549639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Calculating Moments of Inertia </a:t>
            </a:r>
          </a:p>
        </p:txBody>
      </p:sp>
      <p:pic>
        <p:nvPicPr>
          <p:cNvPr id="7" name="Picture 6" descr="Graphical user interface, text, application&#10;&#10;Description automatically generated">
            <a:extLst>
              <a:ext uri="{FF2B5EF4-FFF2-40B4-BE49-F238E27FC236}">
                <a16:creationId xmlns:a16="http://schemas.microsoft.com/office/drawing/2014/main" id="{7F1DC541-6D6C-2F4F-9ED9-E2D3FF338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112" y="2397368"/>
            <a:ext cx="11430000" cy="1672683"/>
          </a:xfrm>
          <a:prstGeom prst="rect">
            <a:avLst/>
          </a:prstGeom>
        </p:spPr>
      </p:pic>
      <p:pic>
        <p:nvPicPr>
          <p:cNvPr id="9" name="Picture 8" descr="Shape&#10;&#10;Description automatically generated with low confidence">
            <a:extLst>
              <a:ext uri="{FF2B5EF4-FFF2-40B4-BE49-F238E27FC236}">
                <a16:creationId xmlns:a16="http://schemas.microsoft.com/office/drawing/2014/main" id="{4F9BE46A-51FF-5D40-9F19-4894D552AE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85549" y="3368180"/>
            <a:ext cx="1778000" cy="622300"/>
          </a:xfrm>
          <a:prstGeom prst="rect">
            <a:avLst/>
          </a:prstGeom>
        </p:spPr>
      </p:pic>
      <p:sp>
        <p:nvSpPr>
          <p:cNvPr id="10" name="Rectangle 9">
            <a:extLst>
              <a:ext uri="{FF2B5EF4-FFF2-40B4-BE49-F238E27FC236}">
                <a16:creationId xmlns:a16="http://schemas.microsoft.com/office/drawing/2014/main" id="{48B69BCE-8E5F-6243-81C6-2D62E303F0BA}"/>
              </a:ext>
            </a:extLst>
          </p:cNvPr>
          <p:cNvSpPr/>
          <p:nvPr/>
        </p:nvSpPr>
        <p:spPr>
          <a:xfrm>
            <a:off x="7893423" y="5407873"/>
            <a:ext cx="4070126" cy="707886"/>
          </a:xfrm>
          <a:prstGeom prst="rect">
            <a:avLst/>
          </a:prstGeom>
        </p:spPr>
        <p:txBody>
          <a:bodyPr wrap="square">
            <a:spAutoFit/>
          </a:bodyPr>
          <a:lstStyle/>
          <a:p>
            <a:r>
              <a:rPr lang="en-US" sz="2000" dirty="0">
                <a:solidFill>
                  <a:srgbClr val="3B124D"/>
                </a:solidFill>
                <a:latin typeface="LiberationSerif"/>
              </a:rPr>
              <a:t>Let’s apply this to the rod examples we just solved: </a:t>
            </a:r>
            <a:endParaRPr lang="en-US" sz="2000" dirty="0">
              <a:solidFill>
                <a:srgbClr val="3B124D"/>
              </a:solidFill>
            </a:endParaRPr>
          </a:p>
        </p:txBody>
      </p:sp>
      <p:pic>
        <p:nvPicPr>
          <p:cNvPr id="12" name="Picture 11">
            <a:extLst>
              <a:ext uri="{FF2B5EF4-FFF2-40B4-BE49-F238E27FC236}">
                <a16:creationId xmlns:a16="http://schemas.microsoft.com/office/drawing/2014/main" id="{44E8DD5A-1596-B44F-8390-BC18762B48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55224" y="6155449"/>
            <a:ext cx="6769100" cy="673100"/>
          </a:xfrm>
          <a:prstGeom prst="rect">
            <a:avLst/>
          </a:prstGeom>
        </p:spPr>
      </p:pic>
      <p:pic>
        <p:nvPicPr>
          <p:cNvPr id="14" name="Picture 13" descr="A picture containing graphical user interface&#10;&#10;Description automatically generated">
            <a:extLst>
              <a:ext uri="{FF2B5EF4-FFF2-40B4-BE49-F238E27FC236}">
                <a16:creationId xmlns:a16="http://schemas.microsoft.com/office/drawing/2014/main" id="{D3D9F5C4-07F3-4E4E-A670-F49C84829A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1112" y="4171068"/>
            <a:ext cx="7150100" cy="1905000"/>
          </a:xfrm>
          <a:prstGeom prst="rect">
            <a:avLst/>
          </a:prstGeom>
        </p:spPr>
      </p:pic>
      <p:cxnSp>
        <p:nvCxnSpPr>
          <p:cNvPr id="16" name="Straight Arrow Connector 15">
            <a:extLst>
              <a:ext uri="{FF2B5EF4-FFF2-40B4-BE49-F238E27FC236}">
                <a16:creationId xmlns:a16="http://schemas.microsoft.com/office/drawing/2014/main" id="{408B94CF-0BA2-D64E-9608-8E362CDFE530}"/>
              </a:ext>
            </a:extLst>
          </p:cNvPr>
          <p:cNvCxnSpPr/>
          <p:nvPr/>
        </p:nvCxnSpPr>
        <p:spPr>
          <a:xfrm flipH="1">
            <a:off x="5355224" y="4531659"/>
            <a:ext cx="507694" cy="295835"/>
          </a:xfrm>
          <a:prstGeom prst="straightConnector1">
            <a:avLst/>
          </a:prstGeom>
          <a:ln>
            <a:headEnd type="triangle"/>
            <a:tailEnd type="triangle"/>
          </a:ln>
        </p:spPr>
        <p:style>
          <a:lnRef idx="3">
            <a:schemeClr val="accent5"/>
          </a:lnRef>
          <a:fillRef idx="0">
            <a:schemeClr val="accent5"/>
          </a:fillRef>
          <a:effectRef idx="2">
            <a:schemeClr val="accent5"/>
          </a:effectRef>
          <a:fontRef idx="minor">
            <a:schemeClr val="tx1"/>
          </a:fontRef>
        </p:style>
      </p:cxnSp>
      <p:sp>
        <p:nvSpPr>
          <p:cNvPr id="17" name="Rectangle 16">
            <a:extLst>
              <a:ext uri="{FF2B5EF4-FFF2-40B4-BE49-F238E27FC236}">
                <a16:creationId xmlns:a16="http://schemas.microsoft.com/office/drawing/2014/main" id="{AC5AED50-CE41-534B-A31D-5DC9E9093A39}"/>
              </a:ext>
            </a:extLst>
          </p:cNvPr>
          <p:cNvSpPr/>
          <p:nvPr/>
        </p:nvSpPr>
        <p:spPr>
          <a:xfrm>
            <a:off x="5383259" y="4451130"/>
            <a:ext cx="292068" cy="338554"/>
          </a:xfrm>
          <a:prstGeom prst="rect">
            <a:avLst/>
          </a:prstGeom>
        </p:spPr>
        <p:txBody>
          <a:bodyPr wrap="none">
            <a:spAutoFit/>
          </a:bodyPr>
          <a:lstStyle/>
          <a:p>
            <a:r>
              <a:rPr lang="en-US" sz="1600" i="1" dirty="0">
                <a:solidFill>
                  <a:srgbClr val="C00000"/>
                </a:solidFill>
                <a:latin typeface="LiberationSerif"/>
              </a:rPr>
              <a:t>d</a:t>
            </a:r>
            <a:endParaRPr lang="en-US" sz="1600" i="1" dirty="0">
              <a:solidFill>
                <a:srgbClr val="C00000"/>
              </a:solidFill>
            </a:endParaRPr>
          </a:p>
        </p:txBody>
      </p:sp>
      <p:sp>
        <p:nvSpPr>
          <p:cNvPr id="18" name="Rectangle 17">
            <a:extLst>
              <a:ext uri="{FF2B5EF4-FFF2-40B4-BE49-F238E27FC236}">
                <a16:creationId xmlns:a16="http://schemas.microsoft.com/office/drawing/2014/main" id="{9CF1B467-F5AC-5C44-A95E-7FD50EE3344A}"/>
              </a:ext>
            </a:extLst>
          </p:cNvPr>
          <p:cNvSpPr/>
          <p:nvPr/>
        </p:nvSpPr>
        <p:spPr>
          <a:xfrm>
            <a:off x="5290241" y="4464577"/>
            <a:ext cx="327334" cy="769441"/>
          </a:xfrm>
          <a:prstGeom prst="rect">
            <a:avLst/>
          </a:prstGeom>
        </p:spPr>
        <p:txBody>
          <a:bodyPr wrap="none">
            <a:spAutoFit/>
          </a:bodyPr>
          <a:lstStyle/>
          <a:p>
            <a:r>
              <a:rPr lang="en-US" sz="4400" dirty="0">
                <a:solidFill>
                  <a:srgbClr val="C00000"/>
                </a:solidFill>
                <a:latin typeface="LiberationSerif"/>
              </a:rPr>
              <a:t>.</a:t>
            </a:r>
            <a:endParaRPr lang="en-US" sz="4400" dirty="0">
              <a:solidFill>
                <a:srgbClr val="C00000"/>
              </a:solidFill>
            </a:endParaRPr>
          </a:p>
        </p:txBody>
      </p:sp>
      <p:pic>
        <p:nvPicPr>
          <p:cNvPr id="13" name="Picture 12" descr="Diagram&#10;&#10;Description automatically generated with low confidence">
            <a:extLst>
              <a:ext uri="{FF2B5EF4-FFF2-40B4-BE49-F238E27FC236}">
                <a16:creationId xmlns:a16="http://schemas.microsoft.com/office/drawing/2014/main" id="{C2B09B32-7776-E149-A263-E23DE1AC982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0102" y="568568"/>
            <a:ext cx="4621876" cy="1828800"/>
          </a:xfrm>
          <a:prstGeom prst="rect">
            <a:avLst/>
          </a:prstGeom>
        </p:spPr>
      </p:pic>
      <p:sp>
        <p:nvSpPr>
          <p:cNvPr id="19" name="Rectangle 18">
            <a:extLst>
              <a:ext uri="{FF2B5EF4-FFF2-40B4-BE49-F238E27FC236}">
                <a16:creationId xmlns:a16="http://schemas.microsoft.com/office/drawing/2014/main" id="{80D7952D-9D0E-7148-8DC4-88C6D85E3BEF}"/>
              </a:ext>
            </a:extLst>
          </p:cNvPr>
          <p:cNvSpPr/>
          <p:nvPr/>
        </p:nvSpPr>
        <p:spPr>
          <a:xfrm>
            <a:off x="786319" y="674825"/>
            <a:ext cx="6096000" cy="769441"/>
          </a:xfrm>
          <a:prstGeom prst="rect">
            <a:avLst/>
          </a:prstGeom>
        </p:spPr>
        <p:txBody>
          <a:bodyPr wrap="square">
            <a:spAutoFit/>
          </a:bodyPr>
          <a:lstStyle/>
          <a:p>
            <a:r>
              <a:rPr lang="en-US" sz="2200" dirty="0">
                <a:solidFill>
                  <a:srgbClr val="0000CC"/>
                </a:solidFill>
              </a:rPr>
              <a:t>Assignment 4</a:t>
            </a:r>
          </a:p>
          <a:p>
            <a:endParaRPr lang="en-US" sz="2200" dirty="0">
              <a:solidFill>
                <a:srgbClr val="0000CC"/>
              </a:solidFill>
            </a:endParaRPr>
          </a:p>
        </p:txBody>
      </p:sp>
      <p:sp>
        <p:nvSpPr>
          <p:cNvPr id="15" name="Rectangle 14">
            <a:extLst>
              <a:ext uri="{FF2B5EF4-FFF2-40B4-BE49-F238E27FC236}">
                <a16:creationId xmlns:a16="http://schemas.microsoft.com/office/drawing/2014/main" id="{C514B903-6157-4B41-B1A8-CE53AAECDD42}"/>
              </a:ext>
            </a:extLst>
          </p:cNvPr>
          <p:cNvSpPr/>
          <p:nvPr/>
        </p:nvSpPr>
        <p:spPr>
          <a:xfrm>
            <a:off x="786319" y="1059545"/>
            <a:ext cx="4889008" cy="1107996"/>
          </a:xfrm>
          <a:prstGeom prst="rect">
            <a:avLst/>
          </a:prstGeom>
        </p:spPr>
        <p:txBody>
          <a:bodyPr wrap="square">
            <a:spAutoFit/>
          </a:bodyPr>
          <a:lstStyle/>
          <a:p>
            <a:r>
              <a:rPr lang="en-US" sz="2200" dirty="0">
                <a:latin typeface="LiberationSerif"/>
              </a:rPr>
              <a:t>Using the parallel axis theorem, what is the moment of inertia of the rod of mass </a:t>
            </a:r>
            <a:r>
              <a:rPr lang="en-US" sz="2200" i="1" dirty="0">
                <a:latin typeface="LiberationSerif"/>
              </a:rPr>
              <a:t>m </a:t>
            </a:r>
            <a:r>
              <a:rPr lang="en-US" sz="2200" dirty="0">
                <a:latin typeface="LiberationSerif"/>
              </a:rPr>
              <a:t>about the axis shown on the right? </a:t>
            </a:r>
            <a:endParaRPr lang="en-US" sz="2200" dirty="0"/>
          </a:p>
        </p:txBody>
      </p:sp>
    </p:spTree>
    <p:extLst>
      <p:ext uri="{BB962C8B-B14F-4D97-AF65-F5344CB8AC3E}">
        <p14:creationId xmlns:p14="http://schemas.microsoft.com/office/powerpoint/2010/main" val="19680260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Calculating Moments of Inertia </a:t>
            </a:r>
          </a:p>
        </p:txBody>
      </p:sp>
      <p:sp>
        <p:nvSpPr>
          <p:cNvPr id="2" name="Rectangle 1">
            <a:extLst>
              <a:ext uri="{FF2B5EF4-FFF2-40B4-BE49-F238E27FC236}">
                <a16:creationId xmlns:a16="http://schemas.microsoft.com/office/drawing/2014/main" id="{C0A452B0-03F6-4F4F-8086-374EAAD73709}"/>
              </a:ext>
            </a:extLst>
          </p:cNvPr>
          <p:cNvSpPr/>
          <p:nvPr/>
        </p:nvSpPr>
        <p:spPr>
          <a:xfrm>
            <a:off x="498020" y="586832"/>
            <a:ext cx="6821419" cy="430887"/>
          </a:xfrm>
          <a:prstGeom prst="rect">
            <a:avLst/>
          </a:prstGeom>
        </p:spPr>
        <p:txBody>
          <a:bodyPr wrap="none">
            <a:spAutoFit/>
          </a:bodyPr>
          <a:lstStyle/>
          <a:p>
            <a:r>
              <a:rPr lang="en-US" sz="2200" b="1" dirty="0">
                <a:solidFill>
                  <a:srgbClr val="5189BC"/>
                </a:solidFill>
                <a:latin typeface="LiberationSans"/>
              </a:rPr>
              <a:t>Calculating the moment of inertia for compound objects </a:t>
            </a:r>
            <a:endParaRPr lang="en-US" sz="2200" dirty="0"/>
          </a:p>
        </p:txBody>
      </p:sp>
      <p:sp>
        <p:nvSpPr>
          <p:cNvPr id="3" name="Rectangle 2">
            <a:extLst>
              <a:ext uri="{FF2B5EF4-FFF2-40B4-BE49-F238E27FC236}">
                <a16:creationId xmlns:a16="http://schemas.microsoft.com/office/drawing/2014/main" id="{187B1FB1-19CC-0E41-B133-B445F0D19DE0}"/>
              </a:ext>
            </a:extLst>
          </p:cNvPr>
          <p:cNvSpPr/>
          <p:nvPr/>
        </p:nvSpPr>
        <p:spPr>
          <a:xfrm>
            <a:off x="498020" y="961509"/>
            <a:ext cx="11195960" cy="769441"/>
          </a:xfrm>
          <a:prstGeom prst="rect">
            <a:avLst/>
          </a:prstGeom>
        </p:spPr>
        <p:txBody>
          <a:bodyPr wrap="square">
            <a:spAutoFit/>
          </a:bodyPr>
          <a:lstStyle/>
          <a:p>
            <a:r>
              <a:rPr lang="en-US" sz="2200" dirty="0">
                <a:solidFill>
                  <a:srgbClr val="7030A0"/>
                </a:solidFill>
                <a:latin typeface="LiberationSerif"/>
              </a:rPr>
              <a:t>For a compound object we cannot easily integrate to find the moment of inertia because it is not a uniformly shaped object. </a:t>
            </a:r>
            <a:endParaRPr lang="en-US" sz="2200" dirty="0">
              <a:solidFill>
                <a:srgbClr val="7030A0"/>
              </a:solidFill>
            </a:endParaRPr>
          </a:p>
        </p:txBody>
      </p:sp>
      <p:sp>
        <p:nvSpPr>
          <p:cNvPr id="4" name="Rectangle 3">
            <a:extLst>
              <a:ext uri="{FF2B5EF4-FFF2-40B4-BE49-F238E27FC236}">
                <a16:creationId xmlns:a16="http://schemas.microsoft.com/office/drawing/2014/main" id="{51C9DA6A-B63C-104B-9B96-7F435094CC96}"/>
              </a:ext>
            </a:extLst>
          </p:cNvPr>
          <p:cNvSpPr/>
          <p:nvPr/>
        </p:nvSpPr>
        <p:spPr>
          <a:xfrm>
            <a:off x="1450280" y="1695474"/>
            <a:ext cx="9291439" cy="769441"/>
          </a:xfrm>
          <a:prstGeom prst="rect">
            <a:avLst/>
          </a:prstGeom>
        </p:spPr>
        <p:txBody>
          <a:bodyPr wrap="square">
            <a:spAutoFit/>
          </a:bodyPr>
          <a:lstStyle/>
          <a:p>
            <a:r>
              <a:rPr lang="en-US" sz="2200" dirty="0">
                <a:latin typeface="LiberationSerif"/>
              </a:rPr>
              <a:t>However, the compound object’s moment of inertia can be found from the sum of each part of the object. </a:t>
            </a:r>
            <a:endParaRPr lang="en-US" sz="2200" dirty="0"/>
          </a:p>
        </p:txBody>
      </p:sp>
      <p:pic>
        <p:nvPicPr>
          <p:cNvPr id="8" name="Picture 7" descr="A picture containing text, clock&#10;&#10;Description automatically generated">
            <a:extLst>
              <a:ext uri="{FF2B5EF4-FFF2-40B4-BE49-F238E27FC236}">
                <a16:creationId xmlns:a16="http://schemas.microsoft.com/office/drawing/2014/main" id="{1EE7518C-7372-F747-A1B8-9BBDDAE726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3282" y="2248589"/>
            <a:ext cx="1524000" cy="698500"/>
          </a:xfrm>
          <a:prstGeom prst="rect">
            <a:avLst/>
          </a:prstGeom>
        </p:spPr>
      </p:pic>
      <p:pic>
        <p:nvPicPr>
          <p:cNvPr id="10" name="Picture 9" descr="Diagram&#10;&#10;Description automatically generated">
            <a:extLst>
              <a:ext uri="{FF2B5EF4-FFF2-40B4-BE49-F238E27FC236}">
                <a16:creationId xmlns:a16="http://schemas.microsoft.com/office/drawing/2014/main" id="{76A796DA-230A-7C41-83E7-8836FFD3BD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4594" y="2867007"/>
            <a:ext cx="3581400" cy="2997200"/>
          </a:xfrm>
          <a:prstGeom prst="rect">
            <a:avLst/>
          </a:prstGeom>
        </p:spPr>
      </p:pic>
      <p:sp>
        <p:nvSpPr>
          <p:cNvPr id="11" name="Rectangle 10">
            <a:extLst>
              <a:ext uri="{FF2B5EF4-FFF2-40B4-BE49-F238E27FC236}">
                <a16:creationId xmlns:a16="http://schemas.microsoft.com/office/drawing/2014/main" id="{39EE2E83-0862-EA4B-8846-A9D2F8B71E98}"/>
              </a:ext>
            </a:extLst>
          </p:cNvPr>
          <p:cNvSpPr/>
          <p:nvPr/>
        </p:nvSpPr>
        <p:spPr>
          <a:xfrm>
            <a:off x="146797" y="5864207"/>
            <a:ext cx="4636994" cy="646331"/>
          </a:xfrm>
          <a:prstGeom prst="rect">
            <a:avLst/>
          </a:prstGeom>
        </p:spPr>
        <p:txBody>
          <a:bodyPr wrap="square">
            <a:spAutoFit/>
          </a:bodyPr>
          <a:lstStyle/>
          <a:p>
            <a:pPr algn="ctr"/>
            <a:r>
              <a:rPr lang="en-US" dirty="0">
                <a:solidFill>
                  <a:srgbClr val="3B124D"/>
                </a:solidFill>
                <a:latin typeface="LiberationSerif"/>
              </a:rPr>
              <a:t>Compound object consisting of a disk at the end of a rod. The axis of rotation is located at </a:t>
            </a:r>
            <a:r>
              <a:rPr lang="en-US" i="1" dirty="0">
                <a:solidFill>
                  <a:srgbClr val="3B124D"/>
                </a:solidFill>
                <a:latin typeface="LiberationSerif"/>
              </a:rPr>
              <a:t>A</a:t>
            </a:r>
            <a:r>
              <a:rPr lang="en-US" dirty="0">
                <a:solidFill>
                  <a:srgbClr val="3B124D"/>
                </a:solidFill>
                <a:latin typeface="LiberationSerif"/>
              </a:rPr>
              <a:t>. </a:t>
            </a:r>
            <a:endParaRPr lang="en-US" dirty="0">
              <a:solidFill>
                <a:srgbClr val="3B124D"/>
              </a:solidFill>
            </a:endParaRPr>
          </a:p>
        </p:txBody>
      </p:sp>
      <p:sp>
        <p:nvSpPr>
          <p:cNvPr id="12" name="Rectangle 11">
            <a:extLst>
              <a:ext uri="{FF2B5EF4-FFF2-40B4-BE49-F238E27FC236}">
                <a16:creationId xmlns:a16="http://schemas.microsoft.com/office/drawing/2014/main" id="{FB77B0FA-CBD1-1946-A138-D9E68504EEAD}"/>
              </a:ext>
            </a:extLst>
          </p:cNvPr>
          <p:cNvSpPr/>
          <p:nvPr/>
        </p:nvSpPr>
        <p:spPr>
          <a:xfrm>
            <a:off x="4474877" y="3307386"/>
            <a:ext cx="4191147" cy="369332"/>
          </a:xfrm>
          <a:prstGeom prst="rect">
            <a:avLst/>
          </a:prstGeom>
        </p:spPr>
        <p:txBody>
          <a:bodyPr wrap="none">
            <a:spAutoFit/>
          </a:bodyPr>
          <a:lstStyle/>
          <a:p>
            <a:r>
              <a:rPr lang="en-US" dirty="0">
                <a:solidFill>
                  <a:srgbClr val="3B124D"/>
                </a:solidFill>
                <a:latin typeface="LiberationSerif"/>
              </a:rPr>
              <a:t>The moment of inertia of the rod is simply </a:t>
            </a:r>
            <a:endParaRPr lang="en-US" dirty="0">
              <a:solidFill>
                <a:srgbClr val="3B124D"/>
              </a:solidFill>
            </a:endParaRPr>
          </a:p>
        </p:txBody>
      </p:sp>
      <p:pic>
        <p:nvPicPr>
          <p:cNvPr id="14" name="Picture 13" descr="Text, logo&#10;&#10;Description automatically generated">
            <a:extLst>
              <a:ext uri="{FF2B5EF4-FFF2-40B4-BE49-F238E27FC236}">
                <a16:creationId xmlns:a16="http://schemas.microsoft.com/office/drawing/2014/main" id="{DDC99F8A-B30B-8746-BFA4-AAE63F80AF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63230" y="3208949"/>
            <a:ext cx="774700" cy="558800"/>
          </a:xfrm>
          <a:prstGeom prst="rect">
            <a:avLst/>
          </a:prstGeom>
        </p:spPr>
      </p:pic>
      <p:sp>
        <p:nvSpPr>
          <p:cNvPr id="15" name="Rectangle 14">
            <a:extLst>
              <a:ext uri="{FF2B5EF4-FFF2-40B4-BE49-F238E27FC236}">
                <a16:creationId xmlns:a16="http://schemas.microsoft.com/office/drawing/2014/main" id="{A14DF034-E7D2-DF4C-8CA9-2568298F9D7D}"/>
              </a:ext>
            </a:extLst>
          </p:cNvPr>
          <p:cNvSpPr/>
          <p:nvPr/>
        </p:nvSpPr>
        <p:spPr>
          <a:xfrm>
            <a:off x="4474877" y="2982554"/>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sp>
        <p:nvSpPr>
          <p:cNvPr id="16" name="Rectangle 15">
            <a:extLst>
              <a:ext uri="{FF2B5EF4-FFF2-40B4-BE49-F238E27FC236}">
                <a16:creationId xmlns:a16="http://schemas.microsoft.com/office/drawing/2014/main" id="{107FB748-D5C6-BB4D-AE7A-58C7CF2775FD}"/>
              </a:ext>
            </a:extLst>
          </p:cNvPr>
          <p:cNvSpPr/>
          <p:nvPr/>
        </p:nvSpPr>
        <p:spPr>
          <a:xfrm>
            <a:off x="4474876" y="3868176"/>
            <a:ext cx="7649447" cy="646331"/>
          </a:xfrm>
          <a:prstGeom prst="rect">
            <a:avLst/>
          </a:prstGeom>
        </p:spPr>
        <p:txBody>
          <a:bodyPr wrap="square">
            <a:spAutoFit/>
          </a:bodyPr>
          <a:lstStyle/>
          <a:p>
            <a:r>
              <a:rPr lang="en-US" dirty="0">
                <a:solidFill>
                  <a:srgbClr val="3B124D"/>
                </a:solidFill>
                <a:latin typeface="LiberationSerif"/>
              </a:rPr>
              <a:t>We have to use the parallel-axis theorem to find the moment of inertia of the disk about the axis shown. </a:t>
            </a:r>
            <a:endParaRPr lang="en-US" dirty="0">
              <a:solidFill>
                <a:srgbClr val="3B124D"/>
              </a:solidFill>
            </a:endParaRPr>
          </a:p>
        </p:txBody>
      </p:sp>
      <p:sp>
        <p:nvSpPr>
          <p:cNvPr id="17" name="Rectangle 16">
            <a:extLst>
              <a:ext uri="{FF2B5EF4-FFF2-40B4-BE49-F238E27FC236}">
                <a16:creationId xmlns:a16="http://schemas.microsoft.com/office/drawing/2014/main" id="{C679659A-81C2-C945-902C-486CEF61E1CE}"/>
              </a:ext>
            </a:extLst>
          </p:cNvPr>
          <p:cNvSpPr/>
          <p:nvPr/>
        </p:nvSpPr>
        <p:spPr>
          <a:xfrm>
            <a:off x="4474876" y="4468589"/>
            <a:ext cx="5115183" cy="369332"/>
          </a:xfrm>
          <a:prstGeom prst="rect">
            <a:avLst/>
          </a:prstGeom>
        </p:spPr>
        <p:txBody>
          <a:bodyPr wrap="none">
            <a:spAutoFit/>
          </a:bodyPr>
          <a:lstStyle/>
          <a:p>
            <a:r>
              <a:rPr lang="en-US" dirty="0">
                <a:solidFill>
                  <a:srgbClr val="3B124D"/>
                </a:solidFill>
                <a:latin typeface="LiberationSerif"/>
              </a:rPr>
              <a:t>The moment of inertia of the disk about its center is </a:t>
            </a:r>
            <a:endParaRPr lang="en-US" dirty="0">
              <a:solidFill>
                <a:srgbClr val="3B124D"/>
              </a:solidFill>
            </a:endParaRPr>
          </a:p>
        </p:txBody>
      </p:sp>
      <p:sp>
        <p:nvSpPr>
          <p:cNvPr id="18" name="Rectangle 17">
            <a:extLst>
              <a:ext uri="{FF2B5EF4-FFF2-40B4-BE49-F238E27FC236}">
                <a16:creationId xmlns:a16="http://schemas.microsoft.com/office/drawing/2014/main" id="{A01A7F80-347F-9B4A-B4DB-D78552B28F51}"/>
              </a:ext>
            </a:extLst>
          </p:cNvPr>
          <p:cNvSpPr/>
          <p:nvPr/>
        </p:nvSpPr>
        <p:spPr>
          <a:xfrm>
            <a:off x="4521818" y="4796850"/>
            <a:ext cx="3148362" cy="369332"/>
          </a:xfrm>
          <a:prstGeom prst="rect">
            <a:avLst/>
          </a:prstGeom>
        </p:spPr>
        <p:txBody>
          <a:bodyPr wrap="none">
            <a:spAutoFit/>
          </a:bodyPr>
          <a:lstStyle/>
          <a:p>
            <a:r>
              <a:rPr lang="en-US" dirty="0">
                <a:solidFill>
                  <a:srgbClr val="3B124D"/>
                </a:solidFill>
                <a:latin typeface="LiberationSerif"/>
              </a:rPr>
              <a:t>Apply the parallel-axis theorem </a:t>
            </a:r>
            <a:endParaRPr lang="en-US" dirty="0">
              <a:solidFill>
                <a:srgbClr val="3B124D"/>
              </a:solidFill>
            </a:endParaRPr>
          </a:p>
        </p:txBody>
      </p:sp>
      <p:pic>
        <p:nvPicPr>
          <p:cNvPr id="20" name="Picture 19" descr="Text, logo&#10;&#10;Description automatically generated">
            <a:extLst>
              <a:ext uri="{FF2B5EF4-FFF2-40B4-BE49-F238E27FC236}">
                <a16:creationId xmlns:a16="http://schemas.microsoft.com/office/drawing/2014/main" id="{15C1937D-1610-2A49-9AED-867802DF75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98480" y="4332238"/>
            <a:ext cx="850900" cy="596900"/>
          </a:xfrm>
          <a:prstGeom prst="rect">
            <a:avLst/>
          </a:prstGeom>
        </p:spPr>
      </p:pic>
      <p:pic>
        <p:nvPicPr>
          <p:cNvPr id="22" name="Picture 21" descr="Text&#10;&#10;Description automatically generated">
            <a:extLst>
              <a:ext uri="{FF2B5EF4-FFF2-40B4-BE49-F238E27FC236}">
                <a16:creationId xmlns:a16="http://schemas.microsoft.com/office/drawing/2014/main" id="{A50B0466-18DE-D64E-ACFA-6833D2ECD22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12680" y="5127184"/>
            <a:ext cx="3543300" cy="622300"/>
          </a:xfrm>
          <a:prstGeom prst="rect">
            <a:avLst/>
          </a:prstGeom>
        </p:spPr>
      </p:pic>
      <p:sp>
        <p:nvSpPr>
          <p:cNvPr id="23" name="Rectangle 22">
            <a:extLst>
              <a:ext uri="{FF2B5EF4-FFF2-40B4-BE49-F238E27FC236}">
                <a16:creationId xmlns:a16="http://schemas.microsoft.com/office/drawing/2014/main" id="{08B64F47-2095-6645-9FE4-82F3F62F8AA1}"/>
              </a:ext>
            </a:extLst>
          </p:cNvPr>
          <p:cNvSpPr/>
          <p:nvPr/>
        </p:nvSpPr>
        <p:spPr>
          <a:xfrm>
            <a:off x="5091953" y="5749903"/>
            <a:ext cx="6096000" cy="369332"/>
          </a:xfrm>
          <a:prstGeom prst="rect">
            <a:avLst/>
          </a:prstGeom>
        </p:spPr>
        <p:txBody>
          <a:bodyPr>
            <a:spAutoFit/>
          </a:bodyPr>
          <a:lstStyle/>
          <a:p>
            <a:r>
              <a:rPr lang="en-US" dirty="0">
                <a:solidFill>
                  <a:srgbClr val="C00000"/>
                </a:solidFill>
                <a:latin typeface="LiberationSerif"/>
              </a:rPr>
              <a:t>Thus, the moment of inertia for the compound object is </a:t>
            </a:r>
            <a:endParaRPr lang="en-US" dirty="0">
              <a:solidFill>
                <a:srgbClr val="C00000"/>
              </a:solidFill>
            </a:endParaRPr>
          </a:p>
        </p:txBody>
      </p:sp>
      <p:pic>
        <p:nvPicPr>
          <p:cNvPr id="25" name="Picture 24" descr="Text&#10;&#10;Description automatically generated">
            <a:extLst>
              <a:ext uri="{FF2B5EF4-FFF2-40B4-BE49-F238E27FC236}">
                <a16:creationId xmlns:a16="http://schemas.microsoft.com/office/drawing/2014/main" id="{CA7C7FF0-2939-B841-8F96-CEA81A998D6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67282" y="6148681"/>
            <a:ext cx="3848100" cy="584200"/>
          </a:xfrm>
          <a:prstGeom prst="rect">
            <a:avLst/>
          </a:prstGeom>
        </p:spPr>
      </p:pic>
      <p:pic>
        <p:nvPicPr>
          <p:cNvPr id="29" name="Picture 28" descr="Diagram&#10;&#10;Description automatically generated">
            <a:extLst>
              <a:ext uri="{FF2B5EF4-FFF2-40B4-BE49-F238E27FC236}">
                <a16:creationId xmlns:a16="http://schemas.microsoft.com/office/drawing/2014/main" id="{D8074A89-2B48-7F43-AE0F-0C84292D360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091332" y="2273245"/>
            <a:ext cx="1436038" cy="914400"/>
          </a:xfrm>
          <a:prstGeom prst="rect">
            <a:avLst/>
          </a:prstGeom>
        </p:spPr>
      </p:pic>
      <p:pic>
        <p:nvPicPr>
          <p:cNvPr id="31" name="Picture 30" descr="Diagram&#10;&#10;Description automatically generated">
            <a:extLst>
              <a:ext uri="{FF2B5EF4-FFF2-40B4-BE49-F238E27FC236}">
                <a16:creationId xmlns:a16="http://schemas.microsoft.com/office/drawing/2014/main" id="{D37622FB-E117-FB44-9444-C20735E7F27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577327" y="2248589"/>
            <a:ext cx="1448356" cy="914400"/>
          </a:xfrm>
          <a:prstGeom prst="rect">
            <a:avLst/>
          </a:prstGeom>
        </p:spPr>
      </p:pic>
      <p:pic>
        <p:nvPicPr>
          <p:cNvPr id="9" name="Picture 8" descr="Background pattern&#10;&#10;Description automatically generated with low confidence">
            <a:extLst>
              <a:ext uri="{FF2B5EF4-FFF2-40B4-BE49-F238E27FC236}">
                <a16:creationId xmlns:a16="http://schemas.microsoft.com/office/drawing/2014/main" id="{6F0E1A60-7B76-A848-B9A7-D64146AE188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870575" y="4365607"/>
            <a:ext cx="1752600" cy="959428"/>
          </a:xfrm>
          <a:prstGeom prst="rect">
            <a:avLst/>
          </a:prstGeom>
        </p:spPr>
      </p:pic>
      <p:cxnSp>
        <p:nvCxnSpPr>
          <p:cNvPr id="19" name="Straight Connector 18">
            <a:extLst>
              <a:ext uri="{FF2B5EF4-FFF2-40B4-BE49-F238E27FC236}">
                <a16:creationId xmlns:a16="http://schemas.microsoft.com/office/drawing/2014/main" id="{9A7710AC-D4BA-0D4C-98EB-DB67321C1C8F}"/>
              </a:ext>
            </a:extLst>
          </p:cNvPr>
          <p:cNvCxnSpPr/>
          <p:nvPr/>
        </p:nvCxnSpPr>
        <p:spPr>
          <a:xfrm>
            <a:off x="1584750" y="4956032"/>
            <a:ext cx="916402" cy="0"/>
          </a:xfrm>
          <a:prstGeom prst="line">
            <a:avLst/>
          </a:prstGeom>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5E9015C6-0620-C944-A1CB-DDDF45E4B279}"/>
              </a:ext>
            </a:extLst>
          </p:cNvPr>
          <p:cNvCxnSpPr/>
          <p:nvPr/>
        </p:nvCxnSpPr>
        <p:spPr>
          <a:xfrm>
            <a:off x="2003612" y="4365607"/>
            <a:ext cx="0" cy="5904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113ADE7B-3C8A-6A44-8F70-DE21EF9417FF}"/>
              </a:ext>
            </a:extLst>
          </p:cNvPr>
          <p:cNvCxnSpPr/>
          <p:nvPr/>
        </p:nvCxnSpPr>
        <p:spPr>
          <a:xfrm>
            <a:off x="2003612" y="4956032"/>
            <a:ext cx="0" cy="369003"/>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
        <p:nvSpPr>
          <p:cNvPr id="28" name="Rectangle 27">
            <a:extLst>
              <a:ext uri="{FF2B5EF4-FFF2-40B4-BE49-F238E27FC236}">
                <a16:creationId xmlns:a16="http://schemas.microsoft.com/office/drawing/2014/main" id="{F51851CE-CD98-1141-9DA0-D4168187A277}"/>
              </a:ext>
            </a:extLst>
          </p:cNvPr>
          <p:cNvSpPr/>
          <p:nvPr/>
        </p:nvSpPr>
        <p:spPr>
          <a:xfrm>
            <a:off x="2003612" y="4966310"/>
            <a:ext cx="309700" cy="369332"/>
          </a:xfrm>
          <a:prstGeom prst="rect">
            <a:avLst/>
          </a:prstGeom>
        </p:spPr>
        <p:txBody>
          <a:bodyPr wrap="none">
            <a:spAutoFit/>
          </a:bodyPr>
          <a:lstStyle/>
          <a:p>
            <a:r>
              <a:rPr lang="en-US" dirty="0">
                <a:latin typeface="LiberationSerif"/>
              </a:rPr>
              <a:t>R</a:t>
            </a:r>
            <a:endParaRPr lang="en-US" dirty="0"/>
          </a:p>
        </p:txBody>
      </p:sp>
    </p:spTree>
    <p:extLst>
      <p:ext uri="{BB962C8B-B14F-4D97-AF65-F5344CB8AC3E}">
        <p14:creationId xmlns:p14="http://schemas.microsoft.com/office/powerpoint/2010/main" val="15100378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Calculating Moments of Inertia </a:t>
            </a:r>
          </a:p>
        </p:txBody>
      </p:sp>
      <p:sp>
        <p:nvSpPr>
          <p:cNvPr id="4" name="Rectangle 3">
            <a:extLst>
              <a:ext uri="{FF2B5EF4-FFF2-40B4-BE49-F238E27FC236}">
                <a16:creationId xmlns:a16="http://schemas.microsoft.com/office/drawing/2014/main" id="{E9A2F97C-2AAC-7846-BAEB-5963579ABBCC}"/>
              </a:ext>
            </a:extLst>
          </p:cNvPr>
          <p:cNvSpPr/>
          <p:nvPr/>
        </p:nvSpPr>
        <p:spPr>
          <a:xfrm>
            <a:off x="545571" y="473580"/>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sp>
        <p:nvSpPr>
          <p:cNvPr id="2" name="Rectangle 1">
            <a:extLst>
              <a:ext uri="{FF2B5EF4-FFF2-40B4-BE49-F238E27FC236}">
                <a16:creationId xmlns:a16="http://schemas.microsoft.com/office/drawing/2014/main" id="{BCD583FD-E9C4-5048-AE6B-8D1EEB95C6D7}"/>
              </a:ext>
            </a:extLst>
          </p:cNvPr>
          <p:cNvSpPr/>
          <p:nvPr/>
        </p:nvSpPr>
        <p:spPr>
          <a:xfrm>
            <a:off x="545571" y="795279"/>
            <a:ext cx="11481858" cy="1015663"/>
          </a:xfrm>
          <a:prstGeom prst="rect">
            <a:avLst/>
          </a:prstGeom>
        </p:spPr>
        <p:txBody>
          <a:bodyPr wrap="square">
            <a:spAutoFit/>
          </a:bodyPr>
          <a:lstStyle/>
          <a:p>
            <a:r>
              <a:rPr lang="en-US" sz="2000" b="1" dirty="0">
                <a:solidFill>
                  <a:srgbClr val="213866"/>
                </a:solidFill>
                <a:latin typeface="LiberationSans"/>
              </a:rPr>
              <a:t>Angular Velocity of a Pendulum </a:t>
            </a:r>
            <a:endParaRPr lang="en-US" sz="2000" dirty="0"/>
          </a:p>
          <a:p>
            <a:r>
              <a:rPr lang="en-US" sz="2000" dirty="0">
                <a:latin typeface="LiberationSerif"/>
              </a:rPr>
              <a:t>A pendulum in the shape of a rod is released from rest at an angle of </a:t>
            </a:r>
            <a:r>
              <a:rPr lang="en-US" sz="2000" dirty="0">
                <a:latin typeface="STIXGeneral" pitchFamily="2" charset="2"/>
              </a:rPr>
              <a:t>30°</a:t>
            </a:r>
            <a:r>
              <a:rPr lang="en-US" sz="2000" dirty="0">
                <a:latin typeface="LiberationSerif"/>
              </a:rPr>
              <a:t>. It has a length 30 cm and mass 300 g. What is its angular velocity at its lowest point? </a:t>
            </a:r>
            <a:endParaRPr lang="en-US" sz="2000" dirty="0"/>
          </a:p>
        </p:txBody>
      </p:sp>
      <p:pic>
        <p:nvPicPr>
          <p:cNvPr id="7" name="Picture 6" descr="Diagram&#10;&#10;Description automatically generated">
            <a:extLst>
              <a:ext uri="{FF2B5EF4-FFF2-40B4-BE49-F238E27FC236}">
                <a16:creationId xmlns:a16="http://schemas.microsoft.com/office/drawing/2014/main" id="{AB9C25FA-27CF-3140-ABEA-5787467993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571" y="1824389"/>
            <a:ext cx="4622800" cy="3454400"/>
          </a:xfrm>
          <a:prstGeom prst="rect">
            <a:avLst/>
          </a:prstGeom>
        </p:spPr>
      </p:pic>
      <p:sp>
        <p:nvSpPr>
          <p:cNvPr id="8" name="Rectangle 7">
            <a:extLst>
              <a:ext uri="{FF2B5EF4-FFF2-40B4-BE49-F238E27FC236}">
                <a16:creationId xmlns:a16="http://schemas.microsoft.com/office/drawing/2014/main" id="{AC0E32F9-86FF-854F-85B4-174A0D0A6ACC}"/>
              </a:ext>
            </a:extLst>
          </p:cNvPr>
          <p:cNvSpPr/>
          <p:nvPr/>
        </p:nvSpPr>
        <p:spPr>
          <a:xfrm>
            <a:off x="5320552" y="1824389"/>
            <a:ext cx="6803771" cy="369332"/>
          </a:xfrm>
          <a:prstGeom prst="rect">
            <a:avLst/>
          </a:prstGeom>
        </p:spPr>
        <p:txBody>
          <a:bodyPr wrap="square">
            <a:spAutoFit/>
          </a:bodyPr>
          <a:lstStyle/>
          <a:p>
            <a:r>
              <a:rPr lang="en-US" dirty="0">
                <a:solidFill>
                  <a:srgbClr val="C00000"/>
                </a:solidFill>
                <a:latin typeface="LiberationSerif"/>
              </a:rPr>
              <a:t>Use conservation of energy to solve the problem.</a:t>
            </a:r>
            <a:endParaRPr lang="en-US" dirty="0">
              <a:solidFill>
                <a:srgbClr val="C00000"/>
              </a:solidFill>
            </a:endParaRPr>
          </a:p>
        </p:txBody>
      </p:sp>
      <p:sp>
        <p:nvSpPr>
          <p:cNvPr id="9" name="Rectangle 8">
            <a:extLst>
              <a:ext uri="{FF2B5EF4-FFF2-40B4-BE49-F238E27FC236}">
                <a16:creationId xmlns:a16="http://schemas.microsoft.com/office/drawing/2014/main" id="{318B2308-0B6D-2C4D-BEED-6A1F8613756F}"/>
              </a:ext>
            </a:extLst>
          </p:cNvPr>
          <p:cNvSpPr/>
          <p:nvPr/>
        </p:nvSpPr>
        <p:spPr>
          <a:xfrm>
            <a:off x="5320552" y="2119194"/>
            <a:ext cx="6825965" cy="1754326"/>
          </a:xfrm>
          <a:prstGeom prst="rect">
            <a:avLst/>
          </a:prstGeom>
        </p:spPr>
        <p:txBody>
          <a:bodyPr wrap="square">
            <a:spAutoFit/>
          </a:bodyPr>
          <a:lstStyle/>
          <a:p>
            <a:r>
              <a:rPr lang="en-US" dirty="0">
                <a:solidFill>
                  <a:srgbClr val="3B124D"/>
                </a:solidFill>
                <a:latin typeface="LiberationSerif"/>
              </a:rPr>
              <a:t>The change in potential energy of center of the mass is equal to the change in rotational kinetic energy: </a:t>
            </a:r>
            <a:r>
              <a:rPr lang="en-US" dirty="0">
                <a:latin typeface="Symbol" pitchFamily="2" charset="2"/>
              </a:rPr>
              <a:t>D</a:t>
            </a:r>
            <a:r>
              <a:rPr lang="en-US" dirty="0">
                <a:latin typeface="LiberationSerif"/>
              </a:rPr>
              <a:t>U+</a:t>
            </a:r>
            <a:r>
              <a:rPr lang="en-US" dirty="0">
                <a:latin typeface="Symbol" pitchFamily="2" charset="2"/>
              </a:rPr>
              <a:t>D</a:t>
            </a:r>
            <a:r>
              <a:rPr lang="en-US" dirty="0">
                <a:latin typeface="LiberationSerif"/>
              </a:rPr>
              <a:t>K=0</a:t>
            </a:r>
            <a:endParaRPr lang="en-US" dirty="0">
              <a:solidFill>
                <a:srgbClr val="3B124D"/>
              </a:solidFill>
              <a:latin typeface="LiberationSerif"/>
            </a:endParaRPr>
          </a:p>
          <a:p>
            <a:r>
              <a:rPr lang="en-US" dirty="0">
                <a:solidFill>
                  <a:srgbClr val="3B124D"/>
                </a:solidFill>
                <a:latin typeface="LiberationSerif"/>
              </a:rPr>
              <a:t>For center of the mass, at the top of the swing</a:t>
            </a:r>
          </a:p>
          <a:p>
            <a:endParaRPr lang="en-US" dirty="0">
              <a:solidFill>
                <a:srgbClr val="3B124D"/>
              </a:solidFill>
              <a:latin typeface="LiberationSerif"/>
            </a:endParaRPr>
          </a:p>
          <a:p>
            <a:endParaRPr lang="en-US" dirty="0">
              <a:solidFill>
                <a:srgbClr val="3B124D"/>
              </a:solidFill>
              <a:latin typeface="LiberationSerif"/>
            </a:endParaRPr>
          </a:p>
          <a:p>
            <a:r>
              <a:rPr lang="en-US" dirty="0">
                <a:solidFill>
                  <a:srgbClr val="3B124D"/>
                </a:solidFill>
                <a:latin typeface="LiberationSerif"/>
              </a:rPr>
              <a:t>At the bottom of the swing </a:t>
            </a:r>
            <a:endParaRPr lang="en-US" dirty="0">
              <a:solidFill>
                <a:srgbClr val="3B124D"/>
              </a:solidFill>
            </a:endParaRPr>
          </a:p>
        </p:txBody>
      </p:sp>
      <p:pic>
        <p:nvPicPr>
          <p:cNvPr id="15" name="Picture 14" descr="Text, logo&#10;&#10;Description automatically generated with medium confidence">
            <a:extLst>
              <a:ext uri="{FF2B5EF4-FFF2-40B4-BE49-F238E27FC236}">
                <a16:creationId xmlns:a16="http://schemas.microsoft.com/office/drawing/2014/main" id="{3C8A7D05-F496-9445-BC20-88F6937D0E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4296" y="3079133"/>
            <a:ext cx="685800" cy="444500"/>
          </a:xfrm>
          <a:prstGeom prst="rect">
            <a:avLst/>
          </a:prstGeom>
        </p:spPr>
      </p:pic>
      <p:pic>
        <p:nvPicPr>
          <p:cNvPr id="17" name="Picture 16" descr="Text&#10;&#10;Description automatically generated">
            <a:extLst>
              <a:ext uri="{FF2B5EF4-FFF2-40B4-BE49-F238E27FC236}">
                <a16:creationId xmlns:a16="http://schemas.microsoft.com/office/drawing/2014/main" id="{DA6B1433-0242-6643-A5BF-3C80442CFC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23631" y="3900087"/>
            <a:ext cx="1130300" cy="622300"/>
          </a:xfrm>
          <a:prstGeom prst="rect">
            <a:avLst/>
          </a:prstGeom>
        </p:spPr>
      </p:pic>
      <p:sp>
        <p:nvSpPr>
          <p:cNvPr id="22" name="Rectangle 21">
            <a:extLst>
              <a:ext uri="{FF2B5EF4-FFF2-40B4-BE49-F238E27FC236}">
                <a16:creationId xmlns:a16="http://schemas.microsoft.com/office/drawing/2014/main" id="{895C1A59-2EBC-B844-AC5C-A6671F996024}"/>
              </a:ext>
            </a:extLst>
          </p:cNvPr>
          <p:cNvSpPr/>
          <p:nvPr/>
        </p:nvSpPr>
        <p:spPr>
          <a:xfrm>
            <a:off x="5676461" y="4710725"/>
            <a:ext cx="1220078" cy="369332"/>
          </a:xfrm>
          <a:prstGeom prst="rect">
            <a:avLst/>
          </a:prstGeom>
        </p:spPr>
        <p:txBody>
          <a:bodyPr wrap="none">
            <a:spAutoFit/>
          </a:bodyPr>
          <a:lstStyle/>
          <a:p>
            <a:r>
              <a:rPr lang="en-US" dirty="0">
                <a:solidFill>
                  <a:srgbClr val="3B124D"/>
                </a:solidFill>
                <a:latin typeface="LiberationSerif"/>
              </a:rPr>
              <a:t>Therefore: </a:t>
            </a:r>
            <a:endParaRPr lang="en-US" dirty="0">
              <a:solidFill>
                <a:srgbClr val="3B124D"/>
              </a:solidFill>
            </a:endParaRPr>
          </a:p>
        </p:txBody>
      </p:sp>
      <p:pic>
        <p:nvPicPr>
          <p:cNvPr id="24" name="Picture 23" descr="Text&#10;&#10;Description automatically generated">
            <a:extLst>
              <a:ext uri="{FF2B5EF4-FFF2-40B4-BE49-F238E27FC236}">
                <a16:creationId xmlns:a16="http://schemas.microsoft.com/office/drawing/2014/main" id="{8C409621-A509-0A47-B0D6-41F668908D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23631" y="5197089"/>
            <a:ext cx="2540000" cy="647700"/>
          </a:xfrm>
          <a:prstGeom prst="rect">
            <a:avLst/>
          </a:prstGeom>
        </p:spPr>
      </p:pic>
      <p:pic>
        <p:nvPicPr>
          <p:cNvPr id="26" name="Picture 25">
            <a:extLst>
              <a:ext uri="{FF2B5EF4-FFF2-40B4-BE49-F238E27FC236}">
                <a16:creationId xmlns:a16="http://schemas.microsoft.com/office/drawing/2014/main" id="{7380B531-AE41-D64A-B213-2B26515BC19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4075" y="5881274"/>
            <a:ext cx="6248400" cy="685800"/>
          </a:xfrm>
          <a:prstGeom prst="rect">
            <a:avLst/>
          </a:prstGeom>
        </p:spPr>
      </p:pic>
      <p:pic>
        <p:nvPicPr>
          <p:cNvPr id="28" name="Picture 27" descr="Text&#10;&#10;Description automatically generated with medium confidence">
            <a:extLst>
              <a:ext uri="{FF2B5EF4-FFF2-40B4-BE49-F238E27FC236}">
                <a16:creationId xmlns:a16="http://schemas.microsoft.com/office/drawing/2014/main" id="{F6774C22-29B7-7A46-8EA1-2E091ED4E8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30817" y="5938589"/>
            <a:ext cx="3924300" cy="558800"/>
          </a:xfrm>
          <a:prstGeom prst="rect">
            <a:avLst/>
          </a:prstGeom>
        </p:spPr>
      </p:pic>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D771147-5D04-784D-A0EC-BE4309F6677B}"/>
                  </a:ext>
                </a:extLst>
              </p:cNvPr>
              <p:cNvSpPr txBox="1"/>
              <p:nvPr/>
            </p:nvSpPr>
            <p:spPr>
              <a:xfrm>
                <a:off x="6924536" y="4610994"/>
                <a:ext cx="4158446" cy="5262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d>
                        <m:dPr>
                          <m:ctrlPr>
                            <a:rPr lang="en-US" b="0" i="1" smtClean="0">
                              <a:latin typeface="Cambria Math" panose="02040503050406030204" pitchFamily="18" charset="0"/>
                            </a:rPr>
                          </m:ctrlPr>
                        </m:dPr>
                        <m:e>
                          <m:r>
                            <a:rPr lang="en-US" b="0" i="1" smtClean="0">
                              <a:latin typeface="Cambria Math" panose="02040503050406030204" pitchFamily="18" charset="0"/>
                            </a:rPr>
                            <m:t>𝑚𝑔</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r>
                                <a:rPr lang="en-US" b="0" i="1" smtClean="0">
                                  <a:latin typeface="Cambria Math" panose="02040503050406030204" pitchFamily="18" charset="0"/>
                                </a:rPr>
                                <m:t>2</m:t>
                              </m:r>
                            </m:den>
                          </m:f>
                          <m:r>
                            <a:rPr lang="en-US" b="0" i="1" smtClean="0">
                              <a:latin typeface="Cambria Math" panose="02040503050406030204" pitchFamily="18" charset="0"/>
                            </a:rPr>
                            <m:t>−</m:t>
                          </m:r>
                          <m:r>
                            <a:rPr lang="en-US" i="1">
                              <a:latin typeface="Cambria Math" panose="02040503050406030204" pitchFamily="18" charset="0"/>
                            </a:rPr>
                            <m:t>𝑚𝑔</m:t>
                          </m:r>
                          <m:f>
                            <m:fPr>
                              <m:ctrlPr>
                                <a:rPr lang="en-US" i="1">
                                  <a:latin typeface="Cambria Math" panose="02040503050406030204" pitchFamily="18" charset="0"/>
                                </a:rPr>
                              </m:ctrlPr>
                            </m:fPr>
                            <m:num>
                              <m:r>
                                <a:rPr lang="en-US" i="1">
                                  <a:latin typeface="Cambria Math" panose="02040503050406030204" pitchFamily="18" charset="0"/>
                                </a:rPr>
                                <m:t>𝐿</m:t>
                              </m:r>
                            </m:num>
                            <m:den>
                              <m:r>
                                <a:rPr lang="en-US" i="1">
                                  <a:latin typeface="Cambria Math" panose="02040503050406030204" pitchFamily="18" charset="0"/>
                                </a:rPr>
                                <m:t>2</m:t>
                              </m:r>
                            </m:den>
                          </m:f>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ea typeface="Cambria Math" panose="02040503050406030204" pitchFamily="18" charset="0"/>
                                </a:rPr>
                                <m:t>𝜃</m:t>
                              </m:r>
                            </m:e>
                          </m:func>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𝐼</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𝜔</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−0=0</m:t>
                      </m:r>
                    </m:oMath>
                  </m:oMathPara>
                </a14:m>
                <a:endParaRPr lang="en-US" dirty="0"/>
              </a:p>
            </p:txBody>
          </p:sp>
        </mc:Choice>
        <mc:Fallback xmlns="">
          <p:sp>
            <p:nvSpPr>
              <p:cNvPr id="31" name="TextBox 30">
                <a:extLst>
                  <a:ext uri="{FF2B5EF4-FFF2-40B4-BE49-F238E27FC236}">
                    <a16:creationId xmlns:a16="http://schemas.microsoft.com/office/drawing/2014/main" id="{5D771147-5D04-784D-A0EC-BE4309F6677B}"/>
                  </a:ext>
                </a:extLst>
              </p:cNvPr>
              <p:cNvSpPr txBox="1">
                <a:spLocks noRot="1" noChangeAspect="1" noMove="1" noResize="1" noEditPoints="1" noAdjustHandles="1" noChangeArrowheads="1" noChangeShapeType="1" noTextEdit="1"/>
              </p:cNvSpPr>
              <p:nvPr/>
            </p:nvSpPr>
            <p:spPr>
              <a:xfrm>
                <a:off x="6924536" y="4610994"/>
                <a:ext cx="4158446" cy="526298"/>
              </a:xfrm>
              <a:prstGeom prst="rect">
                <a:avLst/>
              </a:prstGeom>
              <a:blipFill>
                <a:blip r:embed="rId9"/>
                <a:stretch>
                  <a:fillRect l="-915" t="-4651" r="-915" b="-11628"/>
                </a:stretch>
              </a:blipFill>
            </p:spPr>
            <p:txBody>
              <a:bodyPr/>
              <a:lstStyle/>
              <a:p>
                <a:r>
                  <a:rPr lang="en-US">
                    <a:noFill/>
                  </a:rPr>
                  <a:t> </a:t>
                </a:r>
              </a:p>
            </p:txBody>
          </p:sp>
        </mc:Fallback>
      </mc:AlternateContent>
      <p:sp>
        <p:nvSpPr>
          <p:cNvPr id="32" name="Rectangle 31">
            <a:extLst>
              <a:ext uri="{FF2B5EF4-FFF2-40B4-BE49-F238E27FC236}">
                <a16:creationId xmlns:a16="http://schemas.microsoft.com/office/drawing/2014/main" id="{6A77E282-F673-BC4A-89C1-C9ABBC3B93E2}"/>
              </a:ext>
            </a:extLst>
          </p:cNvPr>
          <p:cNvSpPr/>
          <p:nvPr/>
        </p:nvSpPr>
        <p:spPr>
          <a:xfrm>
            <a:off x="7234296" y="6489297"/>
            <a:ext cx="5168369" cy="276999"/>
          </a:xfrm>
          <a:prstGeom prst="rect">
            <a:avLst/>
          </a:prstGeom>
        </p:spPr>
        <p:txBody>
          <a:bodyPr wrap="square">
            <a:spAutoFit/>
          </a:bodyPr>
          <a:lstStyle/>
          <a:p>
            <a:r>
              <a:rPr lang="en-US" sz="1200" dirty="0">
                <a:solidFill>
                  <a:srgbClr val="C00000"/>
                </a:solidFill>
                <a:latin typeface="LiberationSerif"/>
              </a:rPr>
              <a:t>Note that the angular velocity of the pendulum does not depend on its mass. </a:t>
            </a:r>
            <a:endParaRPr lang="en-US" sz="1200" dirty="0">
              <a:solidFill>
                <a:srgbClr val="C00000"/>
              </a:solidFill>
            </a:endParaRP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25B4D16-C87D-A049-8FE0-1E2A4CF8E297}"/>
                  </a:ext>
                </a:extLst>
              </p:cNvPr>
              <p:cNvSpPr/>
              <p:nvPr/>
            </p:nvSpPr>
            <p:spPr>
              <a:xfrm>
                <a:off x="8485732" y="3034706"/>
                <a:ext cx="2375650" cy="6167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i="1">
                          <a:latin typeface="Cambria Math" panose="02040503050406030204" pitchFamily="18" charset="0"/>
                        </a:rPr>
                        <m:t>𝑚𝑔</m:t>
                      </m:r>
                      <m:d>
                        <m:dPr>
                          <m:ctrlPr>
                            <a:rPr lang="en-US" i="1" smtClean="0">
                              <a:latin typeface="Cambria Math" panose="02040503050406030204" pitchFamily="18" charset="0"/>
                            </a:rPr>
                          </m:ctrlPr>
                        </m:dPr>
                        <m:e>
                          <m:f>
                            <m:fPr>
                              <m:ctrlPr>
                                <a:rPr lang="en-US" i="1" smtClean="0">
                                  <a:latin typeface="Cambria Math" panose="02040503050406030204" pitchFamily="18" charset="0"/>
                                </a:rPr>
                              </m:ctrlPr>
                            </m:fPr>
                            <m:num>
                              <m:r>
                                <a:rPr lang="en-US" b="0" i="1" smtClean="0">
                                  <a:latin typeface="Cambria Math" panose="02040503050406030204" pitchFamily="18" charset="0"/>
                                </a:rPr>
                                <m:t>𝐿</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𝐿</m:t>
                              </m:r>
                            </m:num>
                            <m:den>
                              <m:r>
                                <a:rPr lang="en-US" i="1">
                                  <a:latin typeface="Cambria Math" panose="02040503050406030204" pitchFamily="18" charset="0"/>
                                </a:rPr>
                                <m:t>2</m:t>
                              </m:r>
                            </m:den>
                          </m:f>
                          <m:func>
                            <m:funcPr>
                              <m:ctrlPr>
                                <a:rPr lang="en-US" i="1">
                                  <a:latin typeface="Cambria Math" panose="02040503050406030204" pitchFamily="18" charset="0"/>
                                </a:rPr>
                              </m:ctrlPr>
                            </m:funcPr>
                            <m:fName>
                              <m:r>
                                <m:rPr>
                                  <m:sty m:val="p"/>
                                </m:rPr>
                                <a:rPr lang="en-US">
                                  <a:latin typeface="Cambria Math" panose="02040503050406030204" pitchFamily="18" charset="0"/>
                                </a:rPr>
                                <m:t>cos</m:t>
                              </m:r>
                            </m:fName>
                            <m:e>
                              <m:r>
                                <a:rPr lang="en-US" i="1">
                                  <a:latin typeface="Cambria Math" panose="02040503050406030204" pitchFamily="18" charset="0"/>
                                  <a:ea typeface="Cambria Math" panose="02040503050406030204" pitchFamily="18" charset="0"/>
                                </a:rPr>
                                <m:t>𝜃</m:t>
                              </m:r>
                            </m:e>
                          </m:func>
                        </m:e>
                      </m:d>
                    </m:oMath>
                  </m:oMathPara>
                </a14:m>
                <a:endParaRPr lang="en-US" dirty="0"/>
              </a:p>
            </p:txBody>
          </p:sp>
        </mc:Choice>
        <mc:Fallback xmlns="">
          <p:sp>
            <p:nvSpPr>
              <p:cNvPr id="3" name="Rectangle 2">
                <a:extLst>
                  <a:ext uri="{FF2B5EF4-FFF2-40B4-BE49-F238E27FC236}">
                    <a16:creationId xmlns:a16="http://schemas.microsoft.com/office/drawing/2014/main" id="{225B4D16-C87D-A049-8FE0-1E2A4CF8E297}"/>
                  </a:ext>
                </a:extLst>
              </p:cNvPr>
              <p:cNvSpPr>
                <a:spLocks noRot="1" noChangeAspect="1" noMove="1" noResize="1" noEditPoints="1" noAdjustHandles="1" noChangeArrowheads="1" noChangeShapeType="1" noTextEdit="1"/>
              </p:cNvSpPr>
              <p:nvPr/>
            </p:nvSpPr>
            <p:spPr>
              <a:xfrm>
                <a:off x="8485732" y="3034706"/>
                <a:ext cx="2375650" cy="616772"/>
              </a:xfrm>
              <a:prstGeom prst="rect">
                <a:avLst/>
              </a:prstGeom>
              <a:blipFill>
                <a:blip r:embed="rId10"/>
                <a:stretch>
                  <a:fillRect b="-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893AC8F6-69E4-7E4F-A4A3-77C7B221D177}"/>
                  </a:ext>
                </a:extLst>
              </p:cNvPr>
              <p:cNvSpPr/>
              <p:nvPr/>
            </p:nvSpPr>
            <p:spPr>
              <a:xfrm>
                <a:off x="8485732" y="4059264"/>
                <a:ext cx="3192734" cy="615553"/>
              </a:xfrm>
              <a:prstGeom prst="rect">
                <a:avLst/>
              </a:prstGeom>
            </p:spPr>
            <p:txBody>
              <a:bodyPr wrap="none">
                <a:spAutoFit/>
              </a:bodyPr>
              <a:lstStyle/>
              <a:p>
                <a:pPr algn="r"/>
                <a14:m>
                  <m:oMath xmlns:m="http://schemas.openxmlformats.org/officeDocument/2006/math">
                    <m:r>
                      <a:rPr lang="en-US" i="1" smtClean="0">
                        <a:latin typeface="Cambria Math" panose="02040503050406030204" pitchFamily="18" charset="0"/>
                      </a:rPr>
                      <m:t>𝑈</m:t>
                    </m:r>
                    <m:r>
                      <a:rPr lang="en-US" i="1" smtClean="0">
                        <a:latin typeface="Cambria Math" panose="02040503050406030204" pitchFamily="18" charset="0"/>
                      </a:rPr>
                      <m:t>=0</m:t>
                    </m:r>
                  </m:oMath>
                </a14:m>
                <a:r>
                  <a:rPr lang="en-US" dirty="0"/>
                  <a:t> </a:t>
                </a:r>
                <a:r>
                  <a:rPr lang="en-US" sz="1600" dirty="0">
                    <a:solidFill>
                      <a:srgbClr val="C00000"/>
                    </a:solidFill>
                  </a:rPr>
                  <a:t>assuming CM lowest point is</a:t>
                </a:r>
              </a:p>
              <a:p>
                <a:pPr algn="r"/>
                <a:r>
                  <a:rPr lang="en-US" sz="1600" dirty="0">
                    <a:solidFill>
                      <a:srgbClr val="C00000"/>
                    </a:solidFill>
                  </a:rPr>
                  <a:t> zero height</a:t>
                </a:r>
              </a:p>
            </p:txBody>
          </p:sp>
        </mc:Choice>
        <mc:Fallback xmlns="">
          <p:sp>
            <p:nvSpPr>
              <p:cNvPr id="10" name="Rectangle 9">
                <a:extLst>
                  <a:ext uri="{FF2B5EF4-FFF2-40B4-BE49-F238E27FC236}">
                    <a16:creationId xmlns:a16="http://schemas.microsoft.com/office/drawing/2014/main" id="{893AC8F6-69E4-7E4F-A4A3-77C7B221D177}"/>
                  </a:ext>
                </a:extLst>
              </p:cNvPr>
              <p:cNvSpPr>
                <a:spLocks noRot="1" noChangeAspect="1" noMove="1" noResize="1" noEditPoints="1" noAdjustHandles="1" noChangeArrowheads="1" noChangeShapeType="1" noTextEdit="1"/>
              </p:cNvSpPr>
              <p:nvPr/>
            </p:nvSpPr>
            <p:spPr>
              <a:xfrm>
                <a:off x="8485732" y="4059264"/>
                <a:ext cx="3192734" cy="615553"/>
              </a:xfrm>
              <a:prstGeom prst="rect">
                <a:avLst/>
              </a:prstGeom>
              <a:blipFill>
                <a:blip r:embed="rId11"/>
                <a:stretch>
                  <a:fillRect r="-1190" b="-10000"/>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7B4D9A12-C38B-8141-A9BB-2C5BA678E26D}"/>
              </a:ext>
            </a:extLst>
          </p:cNvPr>
          <p:cNvCxnSpPr/>
          <p:nvPr/>
        </p:nvCxnSpPr>
        <p:spPr>
          <a:xfrm>
            <a:off x="2554941" y="3624584"/>
            <a:ext cx="0" cy="222042"/>
          </a:xfrm>
          <a:prstGeom prst="straightConnector1">
            <a:avLst/>
          </a:prstGeom>
          <a:ln>
            <a:headEnd type="triangle"/>
            <a:tailEnd type="triangle"/>
          </a:ln>
        </p:spPr>
        <p:style>
          <a:lnRef idx="3">
            <a:schemeClr val="accent5"/>
          </a:lnRef>
          <a:fillRef idx="0">
            <a:schemeClr val="accent5"/>
          </a:fillRef>
          <a:effectRef idx="2">
            <a:schemeClr val="accent5"/>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9B36879B-138E-D84D-A4ED-7C3B8A73BB2A}"/>
                  </a:ext>
                </a:extLst>
              </p:cNvPr>
              <p:cNvSpPr/>
              <p:nvPr/>
            </p:nvSpPr>
            <p:spPr>
              <a:xfrm>
                <a:off x="713789" y="3429000"/>
                <a:ext cx="1768561" cy="55855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solidFill>
                            <a:srgbClr val="C00000"/>
                          </a:solidFill>
                          <a:latin typeface="Cambria Math" panose="02040503050406030204" pitchFamily="18" charset="0"/>
                        </a:rPr>
                        <m:t>h</m:t>
                      </m:r>
                      <m:r>
                        <a:rPr lang="en-US" sz="1600" b="0" i="1" smtClean="0">
                          <a:solidFill>
                            <a:srgbClr val="C00000"/>
                          </a:solidFill>
                          <a:latin typeface="Cambria Math" panose="02040503050406030204" pitchFamily="18" charset="0"/>
                        </a:rPr>
                        <m:t>=</m:t>
                      </m:r>
                      <m:d>
                        <m:dPr>
                          <m:ctrlPr>
                            <a:rPr lang="en-US" sz="1600" i="1">
                              <a:solidFill>
                                <a:srgbClr val="C00000"/>
                              </a:solidFill>
                              <a:latin typeface="Cambria Math" panose="02040503050406030204" pitchFamily="18" charset="0"/>
                            </a:rPr>
                          </m:ctrlPr>
                        </m:dPr>
                        <m:e>
                          <m:f>
                            <m:fPr>
                              <m:ctrlPr>
                                <a:rPr lang="en-US" sz="1600" i="1">
                                  <a:solidFill>
                                    <a:srgbClr val="C00000"/>
                                  </a:solidFill>
                                  <a:latin typeface="Cambria Math" panose="02040503050406030204" pitchFamily="18" charset="0"/>
                                </a:rPr>
                              </m:ctrlPr>
                            </m:fPr>
                            <m:num>
                              <m:r>
                                <a:rPr lang="en-US" sz="1600" i="1">
                                  <a:solidFill>
                                    <a:srgbClr val="C00000"/>
                                  </a:solidFill>
                                  <a:latin typeface="Cambria Math" panose="02040503050406030204" pitchFamily="18" charset="0"/>
                                </a:rPr>
                                <m:t>𝐿</m:t>
                              </m:r>
                            </m:num>
                            <m:den>
                              <m:r>
                                <a:rPr lang="en-US" sz="1600" i="1">
                                  <a:solidFill>
                                    <a:srgbClr val="C00000"/>
                                  </a:solidFill>
                                  <a:latin typeface="Cambria Math" panose="02040503050406030204" pitchFamily="18" charset="0"/>
                                </a:rPr>
                                <m:t>2</m:t>
                              </m:r>
                            </m:den>
                          </m:f>
                          <m:r>
                            <a:rPr lang="en-US" sz="1600" i="1">
                              <a:solidFill>
                                <a:srgbClr val="C00000"/>
                              </a:solidFill>
                              <a:latin typeface="Cambria Math" panose="02040503050406030204" pitchFamily="18" charset="0"/>
                            </a:rPr>
                            <m:t>−</m:t>
                          </m:r>
                          <m:f>
                            <m:fPr>
                              <m:ctrlPr>
                                <a:rPr lang="en-US" sz="1600" i="1">
                                  <a:solidFill>
                                    <a:srgbClr val="C00000"/>
                                  </a:solidFill>
                                  <a:latin typeface="Cambria Math" panose="02040503050406030204" pitchFamily="18" charset="0"/>
                                </a:rPr>
                              </m:ctrlPr>
                            </m:fPr>
                            <m:num>
                              <m:r>
                                <a:rPr lang="en-US" sz="1600" i="1">
                                  <a:solidFill>
                                    <a:srgbClr val="C00000"/>
                                  </a:solidFill>
                                  <a:latin typeface="Cambria Math" panose="02040503050406030204" pitchFamily="18" charset="0"/>
                                </a:rPr>
                                <m:t>𝐿</m:t>
                              </m:r>
                            </m:num>
                            <m:den>
                              <m:r>
                                <a:rPr lang="en-US" sz="1600" i="1">
                                  <a:solidFill>
                                    <a:srgbClr val="C00000"/>
                                  </a:solidFill>
                                  <a:latin typeface="Cambria Math" panose="02040503050406030204" pitchFamily="18" charset="0"/>
                                </a:rPr>
                                <m:t>2</m:t>
                              </m:r>
                            </m:den>
                          </m:f>
                          <m:func>
                            <m:funcPr>
                              <m:ctrlPr>
                                <a:rPr lang="en-US" sz="1600" i="1">
                                  <a:solidFill>
                                    <a:srgbClr val="C00000"/>
                                  </a:solidFill>
                                  <a:latin typeface="Cambria Math" panose="02040503050406030204" pitchFamily="18" charset="0"/>
                                </a:rPr>
                              </m:ctrlPr>
                            </m:funcPr>
                            <m:fName>
                              <m:r>
                                <m:rPr>
                                  <m:sty m:val="p"/>
                                </m:rPr>
                                <a:rPr lang="en-US" sz="1600">
                                  <a:solidFill>
                                    <a:srgbClr val="C00000"/>
                                  </a:solidFill>
                                  <a:latin typeface="Cambria Math" panose="02040503050406030204" pitchFamily="18" charset="0"/>
                                </a:rPr>
                                <m:t>cos</m:t>
                              </m:r>
                            </m:fName>
                            <m:e>
                              <m:r>
                                <a:rPr lang="en-US" sz="1600" i="1">
                                  <a:solidFill>
                                    <a:srgbClr val="C00000"/>
                                  </a:solidFill>
                                  <a:latin typeface="Cambria Math" panose="02040503050406030204" pitchFamily="18" charset="0"/>
                                  <a:ea typeface="Cambria Math" panose="02040503050406030204" pitchFamily="18" charset="0"/>
                                </a:rPr>
                                <m:t>𝜃</m:t>
                              </m:r>
                            </m:e>
                          </m:func>
                        </m:e>
                      </m:d>
                    </m:oMath>
                  </m:oMathPara>
                </a14:m>
                <a:endParaRPr lang="en-US" sz="1600" dirty="0">
                  <a:solidFill>
                    <a:srgbClr val="C00000"/>
                  </a:solidFill>
                </a:endParaRPr>
              </a:p>
            </p:txBody>
          </p:sp>
        </mc:Choice>
        <mc:Fallback xmlns="">
          <p:sp>
            <p:nvSpPr>
              <p:cNvPr id="14" name="Rectangle 13">
                <a:extLst>
                  <a:ext uri="{FF2B5EF4-FFF2-40B4-BE49-F238E27FC236}">
                    <a16:creationId xmlns:a16="http://schemas.microsoft.com/office/drawing/2014/main" id="{9B36879B-138E-D84D-A4ED-7C3B8A73BB2A}"/>
                  </a:ext>
                </a:extLst>
              </p:cNvPr>
              <p:cNvSpPr>
                <a:spLocks noRot="1" noChangeAspect="1" noMove="1" noResize="1" noEditPoints="1" noAdjustHandles="1" noChangeArrowheads="1" noChangeShapeType="1" noTextEdit="1"/>
              </p:cNvSpPr>
              <p:nvPr/>
            </p:nvSpPr>
            <p:spPr>
              <a:xfrm>
                <a:off x="713789" y="3429000"/>
                <a:ext cx="1768561" cy="558551"/>
              </a:xfrm>
              <a:prstGeom prst="rect">
                <a:avLst/>
              </a:prstGeom>
              <a:blipFill>
                <a:blip r:embed="rId12"/>
                <a:stretch>
                  <a:fillRect b="-2273"/>
                </a:stretch>
              </a:blipFill>
            </p:spPr>
            <p:txBody>
              <a:bodyPr/>
              <a:lstStyle/>
              <a:p>
                <a:r>
                  <a:rPr lang="en-US">
                    <a:noFill/>
                  </a:rPr>
                  <a:t> </a:t>
                </a:r>
              </a:p>
            </p:txBody>
          </p:sp>
        </mc:Fallback>
      </mc:AlternateContent>
      <p:pic>
        <p:nvPicPr>
          <p:cNvPr id="18" name="Picture 17" descr="A picture containing shape&#10;&#10;Description automatically generated">
            <a:extLst>
              <a:ext uri="{FF2B5EF4-FFF2-40B4-BE49-F238E27FC236}">
                <a16:creationId xmlns:a16="http://schemas.microsoft.com/office/drawing/2014/main" id="{3F6DF669-18BD-CB4D-9BCF-5044A6EFA30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75124" y="2339792"/>
            <a:ext cx="939800" cy="1003300"/>
          </a:xfrm>
          <a:prstGeom prst="rect">
            <a:avLst/>
          </a:prstGeom>
        </p:spPr>
      </p:pic>
    </p:spTree>
    <p:extLst>
      <p:ext uri="{BB962C8B-B14F-4D97-AF65-F5344CB8AC3E}">
        <p14:creationId xmlns:p14="http://schemas.microsoft.com/office/powerpoint/2010/main" val="32951100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4849090" y="89044"/>
            <a:ext cx="5074839" cy="523220"/>
          </a:xfrm>
          <a:prstGeom prst="rect">
            <a:avLst/>
          </a:prstGeom>
        </p:spPr>
        <p:txBody>
          <a:bodyPr wrap="square">
            <a:spAutoFit/>
          </a:bodyPr>
          <a:lstStyle/>
          <a:p>
            <a:r>
              <a:rPr lang="en-US" sz="2800" dirty="0">
                <a:solidFill>
                  <a:srgbClr val="C00000"/>
                </a:solidFill>
                <a:latin typeface="NewBaskervilleStd-Roman"/>
              </a:rPr>
              <a:t>Torque </a:t>
            </a:r>
          </a:p>
        </p:txBody>
      </p:sp>
      <p:sp>
        <p:nvSpPr>
          <p:cNvPr id="2" name="Rectangle 1">
            <a:extLst>
              <a:ext uri="{FF2B5EF4-FFF2-40B4-BE49-F238E27FC236}">
                <a16:creationId xmlns:a16="http://schemas.microsoft.com/office/drawing/2014/main" id="{ADB5BFB3-32FA-3541-AB6B-6DEBE490F701}"/>
              </a:ext>
            </a:extLst>
          </p:cNvPr>
          <p:cNvSpPr/>
          <p:nvPr/>
        </p:nvSpPr>
        <p:spPr>
          <a:xfrm>
            <a:off x="650470" y="612264"/>
            <a:ext cx="10074136" cy="1107996"/>
          </a:xfrm>
          <a:prstGeom prst="rect">
            <a:avLst/>
          </a:prstGeom>
        </p:spPr>
        <p:txBody>
          <a:bodyPr wrap="square">
            <a:spAutoFit/>
          </a:bodyPr>
          <a:lstStyle/>
          <a:p>
            <a:r>
              <a:rPr lang="en-US" sz="2200" dirty="0">
                <a:solidFill>
                  <a:srgbClr val="7030A0"/>
                </a:solidFill>
                <a:latin typeface="LiberationSerif"/>
              </a:rPr>
              <a:t>Since forces change the translational motion of objects, the rotational counterpart must be related to changing the rotational motion of an object about an axis. </a:t>
            </a:r>
          </a:p>
          <a:p>
            <a:r>
              <a:rPr lang="en-US" sz="2200" dirty="0">
                <a:solidFill>
                  <a:srgbClr val="C00000"/>
                </a:solidFill>
                <a:latin typeface="LiberationSerif"/>
              </a:rPr>
              <a:t>We call this rotational counterpart </a:t>
            </a:r>
            <a:r>
              <a:rPr lang="en-US" sz="2200" b="1" dirty="0">
                <a:solidFill>
                  <a:srgbClr val="C00000"/>
                </a:solidFill>
                <a:latin typeface="LiberationSerif"/>
              </a:rPr>
              <a:t>torque</a:t>
            </a:r>
            <a:r>
              <a:rPr lang="en-US" sz="2200" dirty="0">
                <a:solidFill>
                  <a:srgbClr val="C00000"/>
                </a:solidFill>
                <a:latin typeface="LiberationSerif"/>
              </a:rPr>
              <a:t>. </a:t>
            </a:r>
            <a:endParaRPr lang="en-US" sz="2200" dirty="0">
              <a:solidFill>
                <a:srgbClr val="C00000"/>
              </a:solidFill>
            </a:endParaRPr>
          </a:p>
        </p:txBody>
      </p:sp>
      <p:pic>
        <p:nvPicPr>
          <p:cNvPr id="7" name="Picture Placeholder 1" descr="Figure A is a schematic drawing of a door with force F is applied at a distance r from the hinges at a 90 degree angle. Figure B is a schematic drawing of a door with force smaller F is applied at a distance r from the hinges at a 90 degree angle. Figure C is a schematic drawing of a door with force smaller F is applied at a smaller distance r from the hinges at a 90 degree angle. Figure D is a schematic drawing of a door with force F is applied at a distance r from the hinges under the angle theta that is less than 90 degrees.">
            <a:extLst>
              <a:ext uri="{FF2B5EF4-FFF2-40B4-BE49-F238E27FC236}">
                <a16:creationId xmlns:a16="http://schemas.microsoft.com/office/drawing/2014/main" id="{4D60454F-D5AF-474E-8F1A-148C986F5DBB}"/>
              </a:ext>
            </a:extLst>
          </p:cNvPr>
          <p:cNvPicPr>
            <a:picLocks noChangeAspect="1"/>
          </p:cNvPicPr>
          <p:nvPr/>
        </p:nvPicPr>
        <p:blipFill>
          <a:blip r:embed="rId3" cstate="email">
            <a:extLst>
              <a:ext uri="{28A0092B-C50C-407E-A947-70E740481C1C}">
                <a14:useLocalDpi xmlns:a14="http://schemas.microsoft.com/office/drawing/2010/main" val="0"/>
              </a:ext>
            </a:extLst>
          </a:blip>
          <a:srcRect l="-11554" r="-11554"/>
          <a:stretch>
            <a:fillRect/>
          </a:stretch>
        </p:blipFill>
        <p:spPr>
          <a:xfrm>
            <a:off x="-444844" y="2461366"/>
            <a:ext cx="8062913" cy="3500071"/>
          </a:xfrm>
          <a:prstGeom prst="rect">
            <a:avLst/>
          </a:prstGeom>
        </p:spPr>
      </p:pic>
      <mc:AlternateContent xmlns:mc="http://schemas.openxmlformats.org/markup-compatibility/2006" xmlns:a14="http://schemas.microsoft.com/office/drawing/2010/main">
        <mc:Choice Requires="a14">
          <p:sp>
            <p:nvSpPr>
              <p:cNvPr id="8" name="Text Placeholder 6">
                <a:extLst>
                  <a:ext uri="{FF2B5EF4-FFF2-40B4-BE49-F238E27FC236}">
                    <a16:creationId xmlns:a16="http://schemas.microsoft.com/office/drawing/2014/main" id="{3A3DEE2B-AC00-D648-8625-2C000B1A908E}"/>
                  </a:ext>
                </a:extLst>
              </p:cNvPr>
              <p:cNvSpPr txBox="1">
                <a:spLocks/>
              </p:cNvSpPr>
              <p:nvPr/>
            </p:nvSpPr>
            <p:spPr>
              <a:xfrm>
                <a:off x="6858000" y="1799583"/>
                <a:ext cx="5334000" cy="482363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3B124D"/>
                    </a:solidFill>
                  </a:rPr>
                  <a:t>Torque is the turning or twisting effectiveness of a force, illustrated here for door rotation on its hinges (as viewed from overhead). Torque has both magnitude and direction.</a:t>
                </a:r>
              </a:p>
              <a:p>
                <a:pPr>
                  <a:buFont typeface="Arial" panose="020B0604020202020204" pitchFamily="34" charset="0"/>
                  <a:buAutoNum type="alphaLcParenBoth"/>
                </a:pPr>
                <a:r>
                  <a:rPr lang="en-US" sz="1800" dirty="0">
                    <a:solidFill>
                      <a:srgbClr val="C00000"/>
                    </a:solidFill>
                  </a:rPr>
                  <a:t>A counterclockwise torque is produced by a force </a:t>
                </a:r>
                <a14:m>
                  <m:oMath xmlns:m="http://schemas.openxmlformats.org/officeDocument/2006/math">
                    <m:acc>
                      <m:accPr>
                        <m:chr m:val="⃗"/>
                        <m:ctrlPr>
                          <a:rPr lang="en-US" sz="1800" i="1" smtClean="0">
                            <a:solidFill>
                              <a:srgbClr val="C00000"/>
                            </a:solidFill>
                            <a:latin typeface="Cambria Math" panose="02040503050406030204" pitchFamily="18" charset="0"/>
                          </a:rPr>
                        </m:ctrlPr>
                      </m:accPr>
                      <m:e>
                        <m:r>
                          <a:rPr lang="en-US" sz="1800" b="1" smtClean="0">
                            <a:solidFill>
                              <a:srgbClr val="C00000"/>
                            </a:solidFill>
                            <a:latin typeface="Cambria Math"/>
                          </a:rPr>
                          <m:t>𝐅</m:t>
                        </m:r>
                      </m:e>
                    </m:acc>
                  </m:oMath>
                </a14:m>
                <a:r>
                  <a:rPr lang="en-US" sz="1800" dirty="0">
                    <a:solidFill>
                      <a:srgbClr val="C00000"/>
                    </a:solidFill>
                  </a:rPr>
                  <a:t> acting at a distance </a:t>
                </a:r>
                <a:r>
                  <a:rPr lang="en-US" sz="1800" i="1" dirty="0">
                    <a:solidFill>
                      <a:srgbClr val="C00000"/>
                    </a:solidFill>
                  </a:rPr>
                  <a:t>r</a:t>
                </a:r>
                <a:r>
                  <a:rPr lang="en-US" sz="1800" dirty="0">
                    <a:solidFill>
                      <a:srgbClr val="C00000"/>
                    </a:solidFill>
                  </a:rPr>
                  <a:t> from the hinges (the pivot point).</a:t>
                </a:r>
              </a:p>
              <a:p>
                <a:pPr>
                  <a:buFont typeface="Arial" panose="020B0604020202020204" pitchFamily="34" charset="0"/>
                  <a:buAutoNum type="alphaLcParenBoth"/>
                </a:pPr>
                <a:r>
                  <a:rPr lang="en-US" sz="1800" dirty="0">
                    <a:solidFill>
                      <a:srgbClr val="7030A0"/>
                    </a:solidFill>
                  </a:rPr>
                  <a:t>A smaller counterclockwise torque is produced when a smaller force </a:t>
                </a:r>
                <a14:m>
                  <m:oMath xmlns:m="http://schemas.openxmlformats.org/officeDocument/2006/math">
                    <m:acc>
                      <m:accPr>
                        <m:chr m:val="⃗"/>
                        <m:ctrlPr>
                          <a:rPr lang="en-US" sz="1800" i="1">
                            <a:solidFill>
                              <a:srgbClr val="7030A0"/>
                            </a:solidFill>
                            <a:latin typeface="Cambria Math" panose="02040503050406030204" pitchFamily="18" charset="0"/>
                          </a:rPr>
                        </m:ctrlPr>
                      </m:accPr>
                      <m:e>
                        <m:r>
                          <a:rPr lang="en-US" sz="1800" b="1">
                            <a:solidFill>
                              <a:srgbClr val="7030A0"/>
                            </a:solidFill>
                            <a:latin typeface="Cambria Math"/>
                          </a:rPr>
                          <m:t>𝐅</m:t>
                        </m:r>
                      </m:e>
                    </m:acc>
                  </m:oMath>
                </a14:m>
                <a:r>
                  <a:rPr lang="en-US" sz="1800" dirty="0">
                    <a:solidFill>
                      <a:srgbClr val="7030A0"/>
                    </a:solidFill>
                  </a:rPr>
                  <a:t>′ acts at the same distance</a:t>
                </a:r>
                <a:r>
                  <a:rPr lang="en-US" sz="1800" i="1" dirty="0">
                    <a:solidFill>
                      <a:srgbClr val="7030A0"/>
                    </a:solidFill>
                  </a:rPr>
                  <a:t> r </a:t>
                </a:r>
                <a:r>
                  <a:rPr lang="en-US" sz="1800" dirty="0">
                    <a:solidFill>
                      <a:srgbClr val="7030A0"/>
                    </a:solidFill>
                  </a:rPr>
                  <a:t>from the hinges.</a:t>
                </a:r>
              </a:p>
              <a:p>
                <a:pPr>
                  <a:buFont typeface="Arial" panose="020B0604020202020204" pitchFamily="34" charset="0"/>
                  <a:buAutoNum type="alphaLcParenBoth"/>
                </a:pPr>
                <a:r>
                  <a:rPr lang="en-US" sz="1800" dirty="0"/>
                  <a:t> </a:t>
                </a:r>
                <a:r>
                  <a:rPr lang="en-US" sz="1800" dirty="0">
                    <a:solidFill>
                      <a:srgbClr val="C00000"/>
                    </a:solidFill>
                  </a:rPr>
                  <a:t>The same force as in (a) produces a smaller counterclockwise torque when applied at a smaller distance from the hinges. </a:t>
                </a:r>
              </a:p>
              <a:p>
                <a:pPr>
                  <a:buFont typeface="Arial" panose="020B0604020202020204" pitchFamily="34" charset="0"/>
                  <a:buAutoNum type="alphaLcParenBoth"/>
                </a:pPr>
                <a:r>
                  <a:rPr lang="en-US" sz="1800" dirty="0">
                    <a:solidFill>
                      <a:srgbClr val="008000"/>
                    </a:solidFill>
                  </a:rPr>
                  <a:t> A smaller counterclockwise torque is produced by the same magnitude force as (a) acting at the same distance as (a) but at an angle </a:t>
                </a:r>
                <a14:m>
                  <m:oMath xmlns:m="http://schemas.openxmlformats.org/officeDocument/2006/math">
                    <m:r>
                      <a:rPr lang="en-US" sz="1800" i="1" dirty="0" smtClean="0">
                        <a:solidFill>
                          <a:srgbClr val="008000"/>
                        </a:solidFill>
                        <a:latin typeface="Cambria Math"/>
                        <a:ea typeface="Cambria Math"/>
                      </a:rPr>
                      <m:t>𝜃</m:t>
                    </m:r>
                  </m:oMath>
                </a14:m>
                <a:r>
                  <a:rPr lang="en-US" sz="1800" dirty="0">
                    <a:solidFill>
                      <a:srgbClr val="008000"/>
                    </a:solidFill>
                  </a:rPr>
                  <a:t> that is less than 90°.</a:t>
                </a:r>
                <a:endParaRPr lang="en-US" sz="1800" dirty="0">
                  <a:solidFill>
                    <a:srgbClr val="003399"/>
                  </a:solidFill>
                </a:endParaRPr>
              </a:p>
            </p:txBody>
          </p:sp>
        </mc:Choice>
        <mc:Fallback xmlns="">
          <p:sp>
            <p:nvSpPr>
              <p:cNvPr id="8" name="Text Placeholder 6">
                <a:extLst>
                  <a:ext uri="{FF2B5EF4-FFF2-40B4-BE49-F238E27FC236}">
                    <a16:creationId xmlns:a16="http://schemas.microsoft.com/office/drawing/2014/main" id="{3A3DEE2B-AC00-D648-8625-2C000B1A908E}"/>
                  </a:ext>
                </a:extLst>
              </p:cNvPr>
              <p:cNvSpPr txBox="1">
                <a:spLocks noRot="1" noChangeAspect="1" noMove="1" noResize="1" noEditPoints="1" noAdjustHandles="1" noChangeArrowheads="1" noChangeShapeType="1" noTextEdit="1"/>
              </p:cNvSpPr>
              <p:nvPr/>
            </p:nvSpPr>
            <p:spPr>
              <a:xfrm>
                <a:off x="6858000" y="1799583"/>
                <a:ext cx="5334000" cy="4823638"/>
              </a:xfrm>
              <a:prstGeom prst="rect">
                <a:avLst/>
              </a:prstGeom>
              <a:blipFill>
                <a:blip r:embed="rId4"/>
                <a:stretch>
                  <a:fillRect l="-950" t="-1050" r="-1663"/>
                </a:stretch>
              </a:blipFill>
            </p:spPr>
            <p:txBody>
              <a:bodyPr/>
              <a:lstStyle/>
              <a:p>
                <a:r>
                  <a:rPr lang="en-US">
                    <a:noFill/>
                  </a:rPr>
                  <a:t> </a:t>
                </a:r>
              </a:p>
            </p:txBody>
          </p:sp>
        </mc:Fallback>
      </mc:AlternateContent>
    </p:spTree>
    <p:extLst>
      <p:ext uri="{BB962C8B-B14F-4D97-AF65-F5344CB8AC3E}">
        <p14:creationId xmlns:p14="http://schemas.microsoft.com/office/powerpoint/2010/main" val="689315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4849090" y="89044"/>
            <a:ext cx="5074839" cy="523220"/>
          </a:xfrm>
          <a:prstGeom prst="rect">
            <a:avLst/>
          </a:prstGeom>
        </p:spPr>
        <p:txBody>
          <a:bodyPr wrap="square">
            <a:spAutoFit/>
          </a:bodyPr>
          <a:lstStyle/>
          <a:p>
            <a:r>
              <a:rPr lang="en-US" sz="2800" dirty="0">
                <a:solidFill>
                  <a:srgbClr val="C00000"/>
                </a:solidFill>
                <a:latin typeface="NewBaskervilleStd-Roman"/>
              </a:rPr>
              <a:t>Torque </a:t>
            </a:r>
          </a:p>
        </p:txBody>
      </p:sp>
      <p:pic>
        <p:nvPicPr>
          <p:cNvPr id="3" name="Picture 2" descr="Chart, scatter chart&#10;&#10;Description automatically generated">
            <a:extLst>
              <a:ext uri="{FF2B5EF4-FFF2-40B4-BE49-F238E27FC236}">
                <a16:creationId xmlns:a16="http://schemas.microsoft.com/office/drawing/2014/main" id="{7AD89D6F-29B8-0447-8457-3D7CC1B329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547" y="612264"/>
            <a:ext cx="10477500" cy="1651000"/>
          </a:xfrm>
          <a:prstGeom prst="rect">
            <a:avLst/>
          </a:prstGeom>
        </p:spPr>
      </p:pic>
      <p:pic>
        <p:nvPicPr>
          <p:cNvPr id="7" name="Picture 6" descr="Shape&#10;&#10;Description automatically generated with low confidence">
            <a:extLst>
              <a:ext uri="{FF2B5EF4-FFF2-40B4-BE49-F238E27FC236}">
                <a16:creationId xmlns:a16="http://schemas.microsoft.com/office/drawing/2014/main" id="{88976CB6-0B08-4E40-AB53-0B3D5D92C5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8611" y="1666364"/>
            <a:ext cx="1066800" cy="596900"/>
          </a:xfrm>
          <a:prstGeom prst="rect">
            <a:avLst/>
          </a:prstGeom>
        </p:spPr>
      </p:pic>
      <p:pic>
        <p:nvPicPr>
          <p:cNvPr id="10" name="Picture 9" descr="Diagram&#10;&#10;Description automatically generated">
            <a:extLst>
              <a:ext uri="{FF2B5EF4-FFF2-40B4-BE49-F238E27FC236}">
                <a16:creationId xmlns:a16="http://schemas.microsoft.com/office/drawing/2014/main" id="{5759F0C9-7CB9-C845-B358-3990756CFD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547" y="2196956"/>
            <a:ext cx="5934456" cy="4572000"/>
          </a:xfrm>
          <a:prstGeom prst="rect">
            <a:avLst/>
          </a:prstGeom>
        </p:spPr>
      </p:pic>
      <mc:AlternateContent xmlns:mc="http://schemas.openxmlformats.org/markup-compatibility/2006" xmlns:a14="http://schemas.microsoft.com/office/drawing/2010/main">
        <mc:Choice Requires="a14">
          <p:sp>
            <p:nvSpPr>
              <p:cNvPr id="11" name="Text Placeholder 6">
                <a:extLst>
                  <a:ext uri="{FF2B5EF4-FFF2-40B4-BE49-F238E27FC236}">
                    <a16:creationId xmlns:a16="http://schemas.microsoft.com/office/drawing/2014/main" id="{18D7889E-E106-3141-A3AB-919B1CBDDC4F}"/>
                  </a:ext>
                </a:extLst>
              </p:cNvPr>
              <p:cNvSpPr txBox="1">
                <a:spLocks/>
              </p:cNvSpPr>
              <p:nvPr/>
            </p:nvSpPr>
            <p:spPr>
              <a:xfrm>
                <a:off x="7114789" y="3135568"/>
                <a:ext cx="5171431"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8000"/>
                    </a:solidFill>
                  </a:rPr>
                  <a:t>The torque is perpendicular to the plane defined by </a:t>
                </a:r>
                <a14:m>
                  <m:oMath xmlns:m="http://schemas.openxmlformats.org/officeDocument/2006/math">
                    <m:acc>
                      <m:accPr>
                        <m:chr m:val="⃗"/>
                        <m:ctrlPr>
                          <a:rPr lang="en-US" sz="2000" i="1">
                            <a:solidFill>
                              <a:srgbClr val="008000"/>
                            </a:solidFill>
                            <a:latin typeface="Cambria Math" panose="02040503050406030204" pitchFamily="18" charset="0"/>
                          </a:rPr>
                        </m:ctrlPr>
                      </m:accPr>
                      <m:e>
                        <m:r>
                          <a:rPr lang="en-US" sz="2000" b="1" smtClean="0">
                            <a:solidFill>
                              <a:srgbClr val="008000"/>
                            </a:solidFill>
                            <a:latin typeface="Cambria Math"/>
                          </a:rPr>
                          <m:t>𝐫</m:t>
                        </m:r>
                      </m:e>
                    </m:acc>
                  </m:oMath>
                </a14:m>
                <a:r>
                  <a:rPr lang="en-US" sz="2000" dirty="0">
                    <a:solidFill>
                      <a:srgbClr val="008000"/>
                    </a:solidFill>
                  </a:rPr>
                  <a:t> and </a:t>
                </a:r>
                <a14:m>
                  <m:oMath xmlns:m="http://schemas.openxmlformats.org/officeDocument/2006/math">
                    <m:acc>
                      <m:accPr>
                        <m:chr m:val="⃗"/>
                        <m:ctrlPr>
                          <a:rPr lang="en-US" sz="2000" i="1">
                            <a:solidFill>
                              <a:srgbClr val="008000"/>
                            </a:solidFill>
                            <a:latin typeface="Cambria Math" panose="02040503050406030204" pitchFamily="18" charset="0"/>
                          </a:rPr>
                        </m:ctrlPr>
                      </m:accPr>
                      <m:e>
                        <m:r>
                          <a:rPr lang="en-US" sz="2000" b="1">
                            <a:solidFill>
                              <a:srgbClr val="008000"/>
                            </a:solidFill>
                            <a:latin typeface="Cambria Math"/>
                          </a:rPr>
                          <m:t>𝐅</m:t>
                        </m:r>
                      </m:e>
                    </m:acc>
                    <m:r>
                      <a:rPr lang="en-US" sz="2000" smtClean="0">
                        <a:solidFill>
                          <a:srgbClr val="008000"/>
                        </a:solidFill>
                        <a:latin typeface="Cambria Math"/>
                      </a:rPr>
                      <m:t> </m:t>
                    </m:r>
                  </m:oMath>
                </a14:m>
                <a:r>
                  <a:rPr lang="en-US" sz="2000" dirty="0">
                    <a:solidFill>
                      <a:srgbClr val="008000"/>
                    </a:solidFill>
                  </a:rPr>
                  <a:t>and its direction is determined by the right-hand rule.</a:t>
                </a:r>
              </a:p>
            </p:txBody>
          </p:sp>
        </mc:Choice>
        <mc:Fallback xmlns="">
          <p:sp>
            <p:nvSpPr>
              <p:cNvPr id="11" name="Text Placeholder 6">
                <a:extLst>
                  <a:ext uri="{FF2B5EF4-FFF2-40B4-BE49-F238E27FC236}">
                    <a16:creationId xmlns:a16="http://schemas.microsoft.com/office/drawing/2014/main" id="{18D7889E-E106-3141-A3AB-919B1CBDDC4F}"/>
                  </a:ext>
                </a:extLst>
              </p:cNvPr>
              <p:cNvSpPr txBox="1">
                <a:spLocks noRot="1" noChangeAspect="1" noMove="1" noResize="1" noEditPoints="1" noAdjustHandles="1" noChangeArrowheads="1" noChangeShapeType="1" noTextEdit="1"/>
              </p:cNvSpPr>
              <p:nvPr/>
            </p:nvSpPr>
            <p:spPr>
              <a:xfrm>
                <a:off x="7114789" y="3135568"/>
                <a:ext cx="5171431" cy="1166382"/>
              </a:xfrm>
              <a:prstGeom prst="rect">
                <a:avLst/>
              </a:prstGeom>
              <a:blipFill>
                <a:blip r:embed="rId6"/>
                <a:stretch>
                  <a:fillRect l="-1225" t="-5376"/>
                </a:stretch>
              </a:blipFill>
            </p:spPr>
            <p:txBody>
              <a:bodyPr/>
              <a:lstStyle/>
              <a:p>
                <a:r>
                  <a:rPr lang="en-US">
                    <a:noFill/>
                  </a:rPr>
                  <a:t> </a:t>
                </a:r>
              </a:p>
            </p:txBody>
          </p:sp>
        </mc:Fallback>
      </mc:AlternateContent>
      <p:pic>
        <p:nvPicPr>
          <p:cNvPr id="13" name="Picture 12" descr="A picture containing clock, antenna&#10;&#10;Description automatically generated">
            <a:extLst>
              <a:ext uri="{FF2B5EF4-FFF2-40B4-BE49-F238E27FC236}">
                <a16:creationId xmlns:a16="http://schemas.microsoft.com/office/drawing/2014/main" id="{D4859F96-0FED-4045-94A2-1B96BDB233E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36011" y="4385666"/>
            <a:ext cx="2819400" cy="736600"/>
          </a:xfrm>
          <a:prstGeom prst="rect">
            <a:avLst/>
          </a:prstGeom>
        </p:spPr>
      </p:pic>
    </p:spTree>
    <p:extLst>
      <p:ext uri="{BB962C8B-B14F-4D97-AF65-F5344CB8AC3E}">
        <p14:creationId xmlns:p14="http://schemas.microsoft.com/office/powerpoint/2010/main" val="15357734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4849090" y="89044"/>
            <a:ext cx="5074839" cy="523220"/>
          </a:xfrm>
          <a:prstGeom prst="rect">
            <a:avLst/>
          </a:prstGeom>
        </p:spPr>
        <p:txBody>
          <a:bodyPr wrap="square">
            <a:spAutoFit/>
          </a:bodyPr>
          <a:lstStyle/>
          <a:p>
            <a:r>
              <a:rPr lang="en-US" sz="2800" dirty="0">
                <a:solidFill>
                  <a:srgbClr val="C00000"/>
                </a:solidFill>
                <a:latin typeface="NewBaskervilleStd-Roman"/>
              </a:rPr>
              <a:t>Torque </a:t>
            </a:r>
          </a:p>
        </p:txBody>
      </p:sp>
      <p:pic>
        <p:nvPicPr>
          <p:cNvPr id="4" name="Picture Placeholder 1" descr="Figure shows a disk that rotates counterclockwise about its axis through the center.">
            <a:extLst>
              <a:ext uri="{FF2B5EF4-FFF2-40B4-BE49-F238E27FC236}">
                <a16:creationId xmlns:a16="http://schemas.microsoft.com/office/drawing/2014/main" id="{DAB26248-337D-4D4A-A9C7-44A72D2956BD}"/>
              </a:ext>
            </a:extLst>
          </p:cNvPr>
          <p:cNvPicPr>
            <a:picLocks noChangeAspect="1"/>
          </p:cNvPicPr>
          <p:nvPr/>
        </p:nvPicPr>
        <p:blipFill>
          <a:blip r:embed="rId3">
            <a:extLst>
              <a:ext uri="{28A0092B-C50C-407E-A947-70E740481C1C}">
                <a14:useLocalDpi xmlns:a14="http://schemas.microsoft.com/office/drawing/2010/main" val="0"/>
              </a:ext>
            </a:extLst>
          </a:blip>
          <a:srcRect l="-10350" r="-10350"/>
          <a:stretch>
            <a:fillRect/>
          </a:stretch>
        </p:blipFill>
        <p:spPr>
          <a:xfrm>
            <a:off x="67676" y="714612"/>
            <a:ext cx="8067707" cy="3502152"/>
          </a:xfrm>
          <a:prstGeom prst="rect">
            <a:avLst/>
          </a:prstGeom>
        </p:spPr>
      </p:pic>
      <p:sp>
        <p:nvSpPr>
          <p:cNvPr id="7" name="Text Placeholder 6">
            <a:extLst>
              <a:ext uri="{FF2B5EF4-FFF2-40B4-BE49-F238E27FC236}">
                <a16:creationId xmlns:a16="http://schemas.microsoft.com/office/drawing/2014/main" id="{3BB3E9E0-6664-1B47-9F3B-8C7FED10A494}"/>
              </a:ext>
            </a:extLst>
          </p:cNvPr>
          <p:cNvSpPr txBox="1">
            <a:spLocks/>
          </p:cNvSpPr>
          <p:nvPr/>
        </p:nvSpPr>
        <p:spPr>
          <a:xfrm>
            <a:off x="7685903" y="1147190"/>
            <a:ext cx="4213654" cy="270354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3B124D"/>
                </a:solidFill>
              </a:rPr>
              <a:t>A disk is free to rotate about its axis through the center. The magnitude of the torque on the disk is </a:t>
            </a:r>
            <a:r>
              <a:rPr lang="el-GR" sz="2000" i="1" dirty="0">
                <a:solidFill>
                  <a:srgbClr val="3B124D"/>
                </a:solidFill>
              </a:rPr>
              <a:t> </a:t>
            </a:r>
            <a:r>
              <a:rPr lang="el-GR" sz="2000" i="1" dirty="0" err="1">
                <a:solidFill>
                  <a:srgbClr val="3B124D"/>
                </a:solidFill>
              </a:rPr>
              <a:t>rF</a:t>
            </a:r>
            <a:r>
              <a:rPr lang="en-US" sz="2000" i="1" dirty="0">
                <a:solidFill>
                  <a:srgbClr val="3B124D"/>
                </a:solidFill>
              </a:rPr>
              <a:t> </a:t>
            </a:r>
            <a:r>
              <a:rPr lang="el-GR" sz="2000" dirty="0" err="1">
                <a:solidFill>
                  <a:srgbClr val="3B124D"/>
                </a:solidFill>
              </a:rPr>
              <a:t>sin</a:t>
            </a:r>
            <a:r>
              <a:rPr lang="el-GR" sz="2000" i="1" dirty="0">
                <a:solidFill>
                  <a:srgbClr val="3B124D"/>
                </a:solidFill>
                <a:latin typeface="STIXGeneral" pitchFamily="2" charset="2"/>
              </a:rPr>
              <a:t> θ</a:t>
            </a:r>
            <a:r>
              <a:rPr lang="en-US" sz="2000" dirty="0">
                <a:solidFill>
                  <a:srgbClr val="3B124D"/>
                </a:solidFill>
              </a:rPr>
              <a:t>. </a:t>
            </a:r>
          </a:p>
          <a:p>
            <a:pPr marL="0" indent="0">
              <a:buNone/>
            </a:pPr>
            <a:r>
              <a:rPr lang="en-US" sz="2000" dirty="0">
                <a:solidFill>
                  <a:srgbClr val="7030A0"/>
                </a:solidFill>
              </a:rPr>
              <a:t>When </a:t>
            </a:r>
            <a:r>
              <a:rPr lang="el-GR" sz="2000" i="1" dirty="0">
                <a:solidFill>
                  <a:srgbClr val="7030A0"/>
                </a:solidFill>
                <a:latin typeface="STIXGeneral" pitchFamily="2" charset="2"/>
              </a:rPr>
              <a:t>θ</a:t>
            </a:r>
            <a:r>
              <a:rPr lang="en-US" sz="2000" dirty="0">
                <a:solidFill>
                  <a:srgbClr val="7030A0"/>
                </a:solidFill>
              </a:rPr>
              <a:t> = 0</a:t>
            </a:r>
            <a:r>
              <a:rPr lang="en-US" sz="2000" b="1" dirty="0">
                <a:solidFill>
                  <a:srgbClr val="7030A0"/>
                </a:solidFill>
              </a:rPr>
              <a:t>°</a:t>
            </a:r>
            <a:r>
              <a:rPr lang="en-US" sz="2000" dirty="0">
                <a:solidFill>
                  <a:srgbClr val="7030A0"/>
                </a:solidFill>
              </a:rPr>
              <a:t>, the torque is zero and the disk does not rotate. </a:t>
            </a:r>
          </a:p>
          <a:p>
            <a:pPr marL="0" indent="0">
              <a:buNone/>
            </a:pPr>
            <a:r>
              <a:rPr lang="en-US" sz="2000" dirty="0">
                <a:solidFill>
                  <a:srgbClr val="C00000"/>
                </a:solidFill>
              </a:rPr>
              <a:t>When </a:t>
            </a:r>
            <a:r>
              <a:rPr lang="el-GR" sz="2000" i="1" dirty="0">
                <a:solidFill>
                  <a:srgbClr val="C00000"/>
                </a:solidFill>
                <a:latin typeface="STIXGeneral" pitchFamily="2" charset="2"/>
              </a:rPr>
              <a:t>θ</a:t>
            </a:r>
            <a:r>
              <a:rPr lang="en-US" sz="2000" dirty="0">
                <a:solidFill>
                  <a:srgbClr val="C00000"/>
                </a:solidFill>
              </a:rPr>
              <a:t> = 90</a:t>
            </a:r>
            <a:r>
              <a:rPr lang="en-US" sz="2000" b="1" dirty="0">
                <a:solidFill>
                  <a:srgbClr val="C00000"/>
                </a:solidFill>
              </a:rPr>
              <a:t>°</a:t>
            </a:r>
            <a:r>
              <a:rPr lang="en-US" sz="2000" dirty="0">
                <a:solidFill>
                  <a:srgbClr val="C00000"/>
                </a:solidFill>
              </a:rPr>
              <a:t>, the torque is maximum, and the disk rotates with maximum angular acceleration.</a:t>
            </a:r>
          </a:p>
        </p:txBody>
      </p:sp>
      <p:pic>
        <p:nvPicPr>
          <p:cNvPr id="10" name="Picture 9" descr="A picture containing clock, antenna&#10;&#10;Description automatically generated">
            <a:extLst>
              <a:ext uri="{FF2B5EF4-FFF2-40B4-BE49-F238E27FC236}">
                <a16:creationId xmlns:a16="http://schemas.microsoft.com/office/drawing/2014/main" id="{C8DD18E1-1FEB-F743-8A87-D44579F564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6011" y="4385666"/>
            <a:ext cx="2819400" cy="736600"/>
          </a:xfrm>
          <a:prstGeom prst="rect">
            <a:avLst/>
          </a:prstGeom>
        </p:spPr>
      </p:pic>
      <p:sp>
        <p:nvSpPr>
          <p:cNvPr id="2" name="Rectangle 1">
            <a:extLst>
              <a:ext uri="{FF2B5EF4-FFF2-40B4-BE49-F238E27FC236}">
                <a16:creationId xmlns:a16="http://schemas.microsoft.com/office/drawing/2014/main" id="{208291F1-1979-494C-9DB8-1B7E21C1BB52}"/>
              </a:ext>
            </a:extLst>
          </p:cNvPr>
          <p:cNvSpPr/>
          <p:nvPr/>
        </p:nvSpPr>
        <p:spPr>
          <a:xfrm>
            <a:off x="827903" y="5300835"/>
            <a:ext cx="7117492" cy="1323439"/>
          </a:xfrm>
          <a:prstGeom prst="rect">
            <a:avLst/>
          </a:prstGeom>
        </p:spPr>
        <p:txBody>
          <a:bodyPr wrap="square">
            <a:spAutoFit/>
          </a:bodyPr>
          <a:lstStyle/>
          <a:p>
            <a:r>
              <a:rPr lang="en-US" sz="2000" dirty="0">
                <a:latin typeface="LiberationSerif"/>
              </a:rPr>
              <a:t>The cylindrical head bolts on a car are to be tightened with a torque of 62.0 N </a:t>
            </a:r>
            <a:r>
              <a:rPr lang="en-US" sz="2000" dirty="0">
                <a:latin typeface="STIXGeneral" pitchFamily="2" charset="2"/>
              </a:rPr>
              <a:t>· m </a:t>
            </a:r>
            <a:r>
              <a:rPr lang="en-US" sz="2000" dirty="0">
                <a:latin typeface="LiberationSerif"/>
              </a:rPr>
              <a:t>. If a mechanic uses a wrench of length 20 cm, what perpendicular force must he exert on the end of the wrench to tighten a bolt correctly? </a:t>
            </a:r>
            <a:endParaRPr lang="en-US" sz="2000" dirty="0"/>
          </a:p>
        </p:txBody>
      </p:sp>
      <p:sp>
        <p:nvSpPr>
          <p:cNvPr id="11" name="Rectangle 10">
            <a:extLst>
              <a:ext uri="{FF2B5EF4-FFF2-40B4-BE49-F238E27FC236}">
                <a16:creationId xmlns:a16="http://schemas.microsoft.com/office/drawing/2014/main" id="{F1381BB5-29A2-7145-A878-3FF8A8755244}"/>
              </a:ext>
            </a:extLst>
          </p:cNvPr>
          <p:cNvSpPr/>
          <p:nvPr/>
        </p:nvSpPr>
        <p:spPr>
          <a:xfrm>
            <a:off x="827903" y="4916114"/>
            <a:ext cx="6096000" cy="769441"/>
          </a:xfrm>
          <a:prstGeom prst="rect">
            <a:avLst/>
          </a:prstGeom>
        </p:spPr>
        <p:txBody>
          <a:bodyPr wrap="square">
            <a:spAutoFit/>
          </a:bodyPr>
          <a:lstStyle/>
          <a:p>
            <a:r>
              <a:rPr lang="en-US" sz="2200" dirty="0">
                <a:solidFill>
                  <a:srgbClr val="0000CC"/>
                </a:solidFill>
              </a:rPr>
              <a:t>Assignment 5</a:t>
            </a:r>
          </a:p>
          <a:p>
            <a:endParaRPr lang="en-US" sz="2200" dirty="0">
              <a:solidFill>
                <a:srgbClr val="0000CC"/>
              </a:solidFill>
            </a:endParaRPr>
          </a:p>
        </p:txBody>
      </p:sp>
    </p:spTree>
    <p:extLst>
      <p:ext uri="{BB962C8B-B14F-4D97-AF65-F5344CB8AC3E}">
        <p14:creationId xmlns:p14="http://schemas.microsoft.com/office/powerpoint/2010/main" val="27198147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4849090" y="89044"/>
            <a:ext cx="5074839" cy="523220"/>
          </a:xfrm>
          <a:prstGeom prst="rect">
            <a:avLst/>
          </a:prstGeom>
        </p:spPr>
        <p:txBody>
          <a:bodyPr wrap="square">
            <a:spAutoFit/>
          </a:bodyPr>
          <a:lstStyle/>
          <a:p>
            <a:r>
              <a:rPr lang="en-US" sz="2800" dirty="0">
                <a:solidFill>
                  <a:srgbClr val="C00000"/>
                </a:solidFill>
                <a:latin typeface="NewBaskervilleStd-Roman"/>
              </a:rPr>
              <a:t>Torque </a:t>
            </a:r>
          </a:p>
        </p:txBody>
      </p:sp>
      <p:sp>
        <p:nvSpPr>
          <p:cNvPr id="2" name="Rectangle 1">
            <a:extLst>
              <a:ext uri="{FF2B5EF4-FFF2-40B4-BE49-F238E27FC236}">
                <a16:creationId xmlns:a16="http://schemas.microsoft.com/office/drawing/2014/main" id="{0E1EC579-FB07-6E49-A7FF-D51C74D6D412}"/>
              </a:ext>
            </a:extLst>
          </p:cNvPr>
          <p:cNvSpPr/>
          <p:nvPr/>
        </p:nvSpPr>
        <p:spPr>
          <a:xfrm>
            <a:off x="499512" y="612264"/>
            <a:ext cx="8452022" cy="769441"/>
          </a:xfrm>
          <a:prstGeom prst="rect">
            <a:avLst/>
          </a:prstGeom>
        </p:spPr>
        <p:txBody>
          <a:bodyPr wrap="square">
            <a:spAutoFit/>
          </a:bodyPr>
          <a:lstStyle/>
          <a:p>
            <a:r>
              <a:rPr lang="en-US" sz="2200" dirty="0">
                <a:solidFill>
                  <a:srgbClr val="7030A0"/>
                </a:solidFill>
                <a:latin typeface="LiberationSerif"/>
              </a:rPr>
              <a:t>Any number of torques can be calculated about a given axis. </a:t>
            </a:r>
          </a:p>
          <a:p>
            <a:r>
              <a:rPr lang="en-US" sz="2200" dirty="0">
                <a:solidFill>
                  <a:srgbClr val="7030A0"/>
                </a:solidFill>
                <a:latin typeface="LiberationSerif"/>
              </a:rPr>
              <a:t>The individual torques add to produce a net torque about the axis. </a:t>
            </a:r>
            <a:endParaRPr lang="en-US" sz="2200" dirty="0">
              <a:solidFill>
                <a:srgbClr val="7030A0"/>
              </a:solidFill>
            </a:endParaRPr>
          </a:p>
        </p:txBody>
      </p:sp>
      <p:pic>
        <p:nvPicPr>
          <p:cNvPr id="4" name="Picture 3" descr="A picture containing text, clock&#10;&#10;Description automatically generated">
            <a:extLst>
              <a:ext uri="{FF2B5EF4-FFF2-40B4-BE49-F238E27FC236}">
                <a16:creationId xmlns:a16="http://schemas.microsoft.com/office/drawing/2014/main" id="{BC87A41C-860D-4643-8C22-9FC2D43576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2299" y="2134969"/>
            <a:ext cx="1968500" cy="863600"/>
          </a:xfrm>
          <a:prstGeom prst="rect">
            <a:avLst/>
          </a:prstGeom>
        </p:spPr>
      </p:pic>
      <p:pic>
        <p:nvPicPr>
          <p:cNvPr id="8" name="Picture 7" descr="Text&#10;&#10;Description automatically generated">
            <a:extLst>
              <a:ext uri="{FF2B5EF4-FFF2-40B4-BE49-F238E27FC236}">
                <a16:creationId xmlns:a16="http://schemas.microsoft.com/office/drawing/2014/main" id="{72C01A0E-F5CC-1144-8493-5641B26C1A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512" y="5069531"/>
            <a:ext cx="9944100" cy="1587500"/>
          </a:xfrm>
          <a:prstGeom prst="rect">
            <a:avLst/>
          </a:prstGeom>
        </p:spPr>
      </p:pic>
      <p:sp>
        <p:nvSpPr>
          <p:cNvPr id="9" name="Rectangle 8">
            <a:extLst>
              <a:ext uri="{FF2B5EF4-FFF2-40B4-BE49-F238E27FC236}">
                <a16:creationId xmlns:a16="http://schemas.microsoft.com/office/drawing/2014/main" id="{012E6EF5-6A3D-EC4E-B154-0E93198B158B}"/>
              </a:ext>
            </a:extLst>
          </p:cNvPr>
          <p:cNvSpPr/>
          <p:nvPr/>
        </p:nvSpPr>
        <p:spPr>
          <a:xfrm>
            <a:off x="464247" y="4615434"/>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pic>
        <p:nvPicPr>
          <p:cNvPr id="10" name="Picture Placeholder 1" descr="Figure shows a flywheel with three forces acting on it at different locations and angles. Force F3 is applied at the center and is perpendicular to the axis of rotation. Force F2 is applied at the left edge and is perpendicular to the axis of rotation. Force F1 is applied at the center and forms 30 degree angle with the axis of rotation.">
            <a:extLst>
              <a:ext uri="{FF2B5EF4-FFF2-40B4-BE49-F238E27FC236}">
                <a16:creationId xmlns:a16="http://schemas.microsoft.com/office/drawing/2014/main" id="{A28C41A7-7417-1846-9386-0C9C29695DD4}"/>
              </a:ext>
            </a:extLst>
          </p:cNvPr>
          <p:cNvPicPr>
            <a:picLocks noChangeAspect="1"/>
          </p:cNvPicPr>
          <p:nvPr/>
        </p:nvPicPr>
        <p:blipFill>
          <a:blip r:embed="rId5" cstate="email">
            <a:extLst>
              <a:ext uri="{28A0092B-C50C-407E-A947-70E740481C1C}">
                <a14:useLocalDpi xmlns:a14="http://schemas.microsoft.com/office/drawing/2010/main" val="0"/>
              </a:ext>
            </a:extLst>
          </a:blip>
          <a:srcRect l="-37575" r="-37575"/>
          <a:stretch>
            <a:fillRect/>
          </a:stretch>
        </p:blipFill>
        <p:spPr>
          <a:xfrm>
            <a:off x="4104373" y="1569460"/>
            <a:ext cx="8062913" cy="3500071"/>
          </a:xfrm>
          <a:prstGeom prst="rect">
            <a:avLst/>
          </a:prstGeom>
        </p:spPr>
      </p:pic>
      <p:sp>
        <p:nvSpPr>
          <p:cNvPr id="11" name="Rectangle 10">
            <a:extLst>
              <a:ext uri="{FF2B5EF4-FFF2-40B4-BE49-F238E27FC236}">
                <a16:creationId xmlns:a16="http://schemas.microsoft.com/office/drawing/2014/main" id="{B06F21AD-B6F9-8E41-9AE6-4420CA948831}"/>
              </a:ext>
            </a:extLst>
          </p:cNvPr>
          <p:cNvSpPr/>
          <p:nvPr/>
        </p:nvSpPr>
        <p:spPr>
          <a:xfrm>
            <a:off x="1285553" y="3408410"/>
            <a:ext cx="2639825" cy="646331"/>
          </a:xfrm>
          <a:prstGeom prst="rect">
            <a:avLst/>
          </a:prstGeom>
        </p:spPr>
        <p:txBody>
          <a:bodyPr wrap="none">
            <a:spAutoFit/>
          </a:bodyPr>
          <a:lstStyle/>
          <a:p>
            <a:r>
              <a:rPr lang="en-US" dirty="0">
                <a:solidFill>
                  <a:srgbClr val="C00000"/>
                </a:solidFill>
                <a:latin typeface="LiberationSerif"/>
              </a:rPr>
              <a:t>Counterclockwise-positive</a:t>
            </a:r>
          </a:p>
          <a:p>
            <a:r>
              <a:rPr lang="en-US" dirty="0">
                <a:solidFill>
                  <a:srgbClr val="FF6600"/>
                </a:solidFill>
                <a:latin typeface="LiberationSerif"/>
              </a:rPr>
              <a:t>Clockwise-negative</a:t>
            </a:r>
            <a:endParaRPr lang="en-US" dirty="0">
              <a:solidFill>
                <a:srgbClr val="FF6600"/>
              </a:solidFill>
            </a:endParaRPr>
          </a:p>
        </p:txBody>
      </p:sp>
      <p:pic>
        <p:nvPicPr>
          <p:cNvPr id="12" name="Picture 11" descr="A picture containing clock, antenna&#10;&#10;Description automatically generated">
            <a:extLst>
              <a:ext uri="{FF2B5EF4-FFF2-40B4-BE49-F238E27FC236}">
                <a16:creationId xmlns:a16="http://schemas.microsoft.com/office/drawing/2014/main" id="{68FBBA71-45F1-D34E-95F6-8903E3238D5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51534" y="4255618"/>
            <a:ext cx="2819400" cy="736600"/>
          </a:xfrm>
          <a:prstGeom prst="rect">
            <a:avLst/>
          </a:prstGeom>
        </p:spPr>
      </p:pic>
    </p:spTree>
    <p:extLst>
      <p:ext uri="{BB962C8B-B14F-4D97-AF65-F5344CB8AC3E}">
        <p14:creationId xmlns:p14="http://schemas.microsoft.com/office/powerpoint/2010/main" val="32155039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Newton’s Second Law for Rotation </a:t>
            </a:r>
          </a:p>
        </p:txBody>
      </p:sp>
      <p:pic>
        <p:nvPicPr>
          <p:cNvPr id="4" name="Picture Placeholder 1" descr="Figure shows a table with a frictionless tabletop. An object with the mass m is supported by a horizontal frictionless table and is attached to a pivot point by a cord with the length r. A force F is applied to the object perpendicular to the cord r.">
            <a:extLst>
              <a:ext uri="{FF2B5EF4-FFF2-40B4-BE49-F238E27FC236}">
                <a16:creationId xmlns:a16="http://schemas.microsoft.com/office/drawing/2014/main" id="{C620AC13-95C6-904C-AF18-813C910CBF67}"/>
              </a:ext>
            </a:extLst>
          </p:cNvPr>
          <p:cNvPicPr>
            <a:picLocks noChangeAspect="1"/>
          </p:cNvPicPr>
          <p:nvPr/>
        </p:nvPicPr>
        <p:blipFill>
          <a:blip r:embed="rId3">
            <a:extLst>
              <a:ext uri="{28A0092B-C50C-407E-A947-70E740481C1C}">
                <a14:useLocalDpi xmlns:a14="http://schemas.microsoft.com/office/drawing/2010/main" val="0"/>
              </a:ext>
            </a:extLst>
          </a:blip>
          <a:srcRect l="-39306" r="-39306"/>
          <a:stretch>
            <a:fillRect/>
          </a:stretch>
        </p:blipFill>
        <p:spPr>
          <a:xfrm>
            <a:off x="-148282" y="1678964"/>
            <a:ext cx="8062913" cy="3500071"/>
          </a:xfrm>
          <a:prstGeom prst="rect">
            <a:avLst/>
          </a:prstGeom>
        </p:spPr>
      </p:pic>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BE75E6E2-A666-624D-9BEE-AE341BD4AC0E}"/>
                  </a:ext>
                </a:extLst>
              </p:cNvPr>
              <p:cNvSpPr txBox="1">
                <a:spLocks/>
              </p:cNvSpPr>
              <p:nvPr/>
            </p:nvSpPr>
            <p:spPr>
              <a:xfrm>
                <a:off x="358345" y="5352554"/>
                <a:ext cx="8062913" cy="141640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solidFill>
                      <a:srgbClr val="3B124D"/>
                    </a:solidFill>
                  </a:rPr>
                  <a:t>An object is supported by a horizontal frictionless table and is attached to a pivot point by a cord that supplies centripetal force. A force </a:t>
                </a:r>
                <a14:m>
                  <m:oMath xmlns:m="http://schemas.openxmlformats.org/officeDocument/2006/math">
                    <m:acc>
                      <m:accPr>
                        <m:chr m:val="⃗"/>
                        <m:ctrlPr>
                          <a:rPr lang="en-US" sz="2200" i="1" smtClean="0">
                            <a:solidFill>
                              <a:srgbClr val="3B124D"/>
                            </a:solidFill>
                            <a:latin typeface="Cambria Math" panose="02040503050406030204" pitchFamily="18" charset="0"/>
                          </a:rPr>
                        </m:ctrlPr>
                      </m:accPr>
                      <m:e>
                        <m:r>
                          <a:rPr lang="en-US" sz="2200" b="1" smtClean="0">
                            <a:solidFill>
                              <a:srgbClr val="3B124D"/>
                            </a:solidFill>
                            <a:latin typeface="Cambria Math"/>
                          </a:rPr>
                          <m:t>𝐅</m:t>
                        </m:r>
                      </m:e>
                    </m:acc>
                  </m:oMath>
                </a14:m>
                <a:r>
                  <a:rPr lang="en-US" sz="2200" dirty="0">
                    <a:solidFill>
                      <a:srgbClr val="3B124D"/>
                    </a:solidFill>
                  </a:rPr>
                  <a:t> is applied to the object perpendicular to the radius </a:t>
                </a:r>
                <a:r>
                  <a:rPr lang="en-US" sz="2200" i="1" dirty="0">
                    <a:solidFill>
                      <a:srgbClr val="3B124D"/>
                    </a:solidFill>
                  </a:rPr>
                  <a:t>r</a:t>
                </a:r>
                <a:r>
                  <a:rPr lang="en-US" sz="2200" dirty="0">
                    <a:solidFill>
                      <a:srgbClr val="3B124D"/>
                    </a:solidFill>
                  </a:rPr>
                  <a:t>, causing it to accelerate about the pivot point. The force is perpendicular to </a:t>
                </a:r>
                <a:r>
                  <a:rPr lang="en-US" sz="2200" i="1" dirty="0">
                    <a:solidFill>
                      <a:srgbClr val="3B124D"/>
                    </a:solidFill>
                  </a:rPr>
                  <a:t>r</a:t>
                </a:r>
                <a:r>
                  <a:rPr lang="en-US" sz="2200" dirty="0">
                    <a:solidFill>
                      <a:srgbClr val="3B124D"/>
                    </a:solidFill>
                  </a:rPr>
                  <a:t>.</a:t>
                </a:r>
              </a:p>
            </p:txBody>
          </p:sp>
        </mc:Choice>
        <mc:Fallback xmlns="">
          <p:sp>
            <p:nvSpPr>
              <p:cNvPr id="7" name="Text Placeholder 6">
                <a:extLst>
                  <a:ext uri="{FF2B5EF4-FFF2-40B4-BE49-F238E27FC236}">
                    <a16:creationId xmlns:a16="http://schemas.microsoft.com/office/drawing/2014/main" id="{BE75E6E2-A666-624D-9BEE-AE341BD4AC0E}"/>
                  </a:ext>
                </a:extLst>
              </p:cNvPr>
              <p:cNvSpPr txBox="1">
                <a:spLocks noRot="1" noChangeAspect="1" noMove="1" noResize="1" noEditPoints="1" noAdjustHandles="1" noChangeArrowheads="1" noChangeShapeType="1" noTextEdit="1"/>
              </p:cNvSpPr>
              <p:nvPr/>
            </p:nvSpPr>
            <p:spPr>
              <a:xfrm>
                <a:off x="358345" y="5352554"/>
                <a:ext cx="8062913" cy="1416401"/>
              </a:xfrm>
              <a:prstGeom prst="rect">
                <a:avLst/>
              </a:prstGeom>
              <a:blipFill>
                <a:blip r:embed="rId4"/>
                <a:stretch>
                  <a:fillRect l="-945" t="-5357" b="-3571"/>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BBF865D2-7BF1-8B4B-A065-E001B4B7C790}"/>
              </a:ext>
            </a:extLst>
          </p:cNvPr>
          <p:cNvSpPr/>
          <p:nvPr/>
        </p:nvSpPr>
        <p:spPr>
          <a:xfrm>
            <a:off x="458566" y="746633"/>
            <a:ext cx="10829183" cy="707886"/>
          </a:xfrm>
          <a:prstGeom prst="rect">
            <a:avLst/>
          </a:prstGeom>
        </p:spPr>
        <p:txBody>
          <a:bodyPr wrap="none">
            <a:spAutoFit/>
          </a:bodyPr>
          <a:lstStyle/>
          <a:p>
            <a:r>
              <a:rPr lang="en-US" sz="2000" dirty="0">
                <a:solidFill>
                  <a:srgbClr val="7030A0"/>
                </a:solidFill>
                <a:latin typeface="LiberationSerif"/>
              </a:rPr>
              <a:t>Is there an analogous equation to Newton’s second law, </a:t>
            </a:r>
            <a:r>
              <a:rPr lang="en-US" sz="2000" dirty="0">
                <a:solidFill>
                  <a:srgbClr val="7030A0"/>
                </a:solidFill>
              </a:rPr>
              <a:t>which involves torque and rotational motion? </a:t>
            </a:r>
          </a:p>
          <a:p>
            <a:r>
              <a:rPr lang="en-US" sz="2000" dirty="0">
                <a:solidFill>
                  <a:srgbClr val="7030A0"/>
                </a:solidFill>
                <a:latin typeface="LiberationSerif"/>
              </a:rPr>
              <a:t> </a:t>
            </a:r>
            <a:endParaRPr lang="en-US" sz="2000" dirty="0">
              <a:solidFill>
                <a:srgbClr val="7030A0"/>
              </a:solidFill>
            </a:endParaRPr>
          </a:p>
        </p:txBody>
      </p:sp>
      <p:pic>
        <p:nvPicPr>
          <p:cNvPr id="8" name="Picture 7" descr="A picture containing logo&#10;&#10;Description automatically generated">
            <a:extLst>
              <a:ext uri="{FF2B5EF4-FFF2-40B4-BE49-F238E27FC236}">
                <a16:creationId xmlns:a16="http://schemas.microsoft.com/office/drawing/2014/main" id="{2329301B-6676-184E-B450-9FD7D88879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00663" y="1269853"/>
            <a:ext cx="1346200" cy="444500"/>
          </a:xfrm>
          <a:prstGeom prst="rect">
            <a:avLst/>
          </a:prstGeom>
        </p:spPr>
      </p:pic>
      <p:pic>
        <p:nvPicPr>
          <p:cNvPr id="10" name="Picture 9" descr="Text&#10;&#10;Description automatically generated">
            <a:extLst>
              <a:ext uri="{FF2B5EF4-FFF2-40B4-BE49-F238E27FC236}">
                <a16:creationId xmlns:a16="http://schemas.microsoft.com/office/drawing/2014/main" id="{98E24F60-7777-5C4A-B671-8F0C250246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53468" y="1714353"/>
            <a:ext cx="711200" cy="317500"/>
          </a:xfrm>
          <a:prstGeom prst="rect">
            <a:avLst/>
          </a:prstGeom>
        </p:spPr>
      </p:pic>
      <p:cxnSp>
        <p:nvCxnSpPr>
          <p:cNvPr id="12" name="Straight Arrow Connector 11">
            <a:extLst>
              <a:ext uri="{FF2B5EF4-FFF2-40B4-BE49-F238E27FC236}">
                <a16:creationId xmlns:a16="http://schemas.microsoft.com/office/drawing/2014/main" id="{7BBE2B86-E2C0-FF42-9A23-1A0DAA590AC9}"/>
              </a:ext>
            </a:extLst>
          </p:cNvPr>
          <p:cNvCxnSpPr>
            <a:stCxn id="10" idx="1"/>
          </p:cNvCxnSpPr>
          <p:nvPr/>
        </p:nvCxnSpPr>
        <p:spPr>
          <a:xfrm flipH="1" flipV="1">
            <a:off x="9746863" y="1588888"/>
            <a:ext cx="406605" cy="28421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pic>
        <p:nvPicPr>
          <p:cNvPr id="14" name="Picture 13" descr="Logo&#10;&#10;Description automatically generated">
            <a:extLst>
              <a:ext uri="{FF2B5EF4-FFF2-40B4-BE49-F238E27FC236}">
                <a16:creationId xmlns:a16="http://schemas.microsoft.com/office/drawing/2014/main" id="{27877825-E6DF-264D-95AA-7EEF66D80B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60949" y="2101559"/>
            <a:ext cx="1346200" cy="490967"/>
          </a:xfrm>
          <a:prstGeom prst="rect">
            <a:avLst/>
          </a:prstGeom>
        </p:spPr>
      </p:pic>
      <p:sp>
        <p:nvSpPr>
          <p:cNvPr id="15" name="Rectangle 14">
            <a:extLst>
              <a:ext uri="{FF2B5EF4-FFF2-40B4-BE49-F238E27FC236}">
                <a16:creationId xmlns:a16="http://schemas.microsoft.com/office/drawing/2014/main" id="{B56BE780-F1AE-F244-AE78-FAFDD6534CB5}"/>
              </a:ext>
            </a:extLst>
          </p:cNvPr>
          <p:cNvSpPr/>
          <p:nvPr/>
        </p:nvSpPr>
        <p:spPr>
          <a:xfrm>
            <a:off x="7559921" y="2662232"/>
            <a:ext cx="4036618" cy="369332"/>
          </a:xfrm>
          <a:prstGeom prst="rect">
            <a:avLst/>
          </a:prstGeom>
        </p:spPr>
        <p:txBody>
          <a:bodyPr wrap="none">
            <a:spAutoFit/>
          </a:bodyPr>
          <a:lstStyle/>
          <a:p>
            <a:r>
              <a:rPr lang="en-US" dirty="0">
                <a:solidFill>
                  <a:srgbClr val="3B124D"/>
                </a:solidFill>
                <a:latin typeface="LiberationSerif"/>
              </a:rPr>
              <a:t>Multiply both sides of this equation by </a:t>
            </a:r>
            <a:r>
              <a:rPr lang="en-US" i="1" dirty="0">
                <a:solidFill>
                  <a:srgbClr val="3B124D"/>
                </a:solidFill>
                <a:latin typeface="LiberationSerif"/>
              </a:rPr>
              <a:t>r</a:t>
            </a:r>
            <a:r>
              <a:rPr lang="en-US" dirty="0">
                <a:solidFill>
                  <a:srgbClr val="3B124D"/>
                </a:solidFill>
                <a:latin typeface="LiberationSerif"/>
              </a:rPr>
              <a:t>, </a:t>
            </a:r>
            <a:endParaRPr lang="en-US" dirty="0">
              <a:solidFill>
                <a:srgbClr val="3B124D"/>
              </a:solidFill>
            </a:endParaRPr>
          </a:p>
        </p:txBody>
      </p:sp>
      <p:pic>
        <p:nvPicPr>
          <p:cNvPr id="17" name="Picture 16" descr="Logo&#10;&#10;Description automatically generated">
            <a:extLst>
              <a:ext uri="{FF2B5EF4-FFF2-40B4-BE49-F238E27FC236}">
                <a16:creationId xmlns:a16="http://schemas.microsoft.com/office/drawing/2014/main" id="{5EAF985D-FAC6-904C-8920-74D17D2352D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60185" y="3067221"/>
            <a:ext cx="1295400" cy="457200"/>
          </a:xfrm>
          <a:prstGeom prst="rect">
            <a:avLst/>
          </a:prstGeom>
        </p:spPr>
      </p:pic>
      <p:pic>
        <p:nvPicPr>
          <p:cNvPr id="19" name="Picture 18" descr="Logo&#10;&#10;Description automatically generated">
            <a:extLst>
              <a:ext uri="{FF2B5EF4-FFF2-40B4-BE49-F238E27FC236}">
                <a16:creationId xmlns:a16="http://schemas.microsoft.com/office/drawing/2014/main" id="{24CE7785-BC0B-994C-9DD2-E8D5619DF2F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784417" y="3733059"/>
            <a:ext cx="825500" cy="393700"/>
          </a:xfrm>
          <a:prstGeom prst="rect">
            <a:avLst/>
          </a:prstGeom>
        </p:spPr>
      </p:pic>
      <p:cxnSp>
        <p:nvCxnSpPr>
          <p:cNvPr id="20" name="Straight Arrow Connector 19">
            <a:extLst>
              <a:ext uri="{FF2B5EF4-FFF2-40B4-BE49-F238E27FC236}">
                <a16:creationId xmlns:a16="http://schemas.microsoft.com/office/drawing/2014/main" id="{4954724B-50AB-8B44-9874-A378B445F961}"/>
              </a:ext>
            </a:extLst>
          </p:cNvPr>
          <p:cNvCxnSpPr>
            <a:cxnSpLocks/>
          </p:cNvCxnSpPr>
          <p:nvPr/>
        </p:nvCxnSpPr>
        <p:spPr>
          <a:xfrm>
            <a:off x="9304638" y="3428999"/>
            <a:ext cx="996501" cy="39169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23" name="Straight Arrow Connector 22">
            <a:extLst>
              <a:ext uri="{FF2B5EF4-FFF2-40B4-BE49-F238E27FC236}">
                <a16:creationId xmlns:a16="http://schemas.microsoft.com/office/drawing/2014/main" id="{3754980B-43F8-C34C-8795-F447693D9C73}"/>
              </a:ext>
            </a:extLst>
          </p:cNvPr>
          <p:cNvCxnSpPr>
            <a:cxnSpLocks/>
          </p:cNvCxnSpPr>
          <p:nvPr/>
        </p:nvCxnSpPr>
        <p:spPr>
          <a:xfrm>
            <a:off x="8658953" y="3517758"/>
            <a:ext cx="0" cy="93472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pic>
        <p:nvPicPr>
          <p:cNvPr id="26" name="Picture 25" descr="Logo&#10;&#10;Description automatically generated with medium confidence">
            <a:extLst>
              <a:ext uri="{FF2B5EF4-FFF2-40B4-BE49-F238E27FC236}">
                <a16:creationId xmlns:a16="http://schemas.microsoft.com/office/drawing/2014/main" id="{4688E6E5-45C1-6B4F-9669-532D3AACF9C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60185" y="4477196"/>
            <a:ext cx="876300" cy="520700"/>
          </a:xfrm>
          <a:prstGeom prst="rect">
            <a:avLst/>
          </a:prstGeom>
        </p:spPr>
      </p:pic>
      <p:pic>
        <p:nvPicPr>
          <p:cNvPr id="28" name="Picture 27" descr="Text&#10;&#10;Description automatically generated">
            <a:extLst>
              <a:ext uri="{FF2B5EF4-FFF2-40B4-BE49-F238E27FC236}">
                <a16:creationId xmlns:a16="http://schemas.microsoft.com/office/drawing/2014/main" id="{931B7C57-3F9B-9841-B1A9-7E655470877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734990" y="5641654"/>
            <a:ext cx="1346200" cy="838200"/>
          </a:xfrm>
          <a:prstGeom prst="rect">
            <a:avLst/>
          </a:prstGeom>
        </p:spPr>
      </p:pic>
      <p:sp>
        <p:nvSpPr>
          <p:cNvPr id="29" name="Rectangle 28">
            <a:extLst>
              <a:ext uri="{FF2B5EF4-FFF2-40B4-BE49-F238E27FC236}">
                <a16:creationId xmlns:a16="http://schemas.microsoft.com/office/drawing/2014/main" id="{37A20862-E542-4D4F-A050-E8E34249AC13}"/>
              </a:ext>
            </a:extLst>
          </p:cNvPr>
          <p:cNvSpPr/>
          <p:nvPr/>
        </p:nvSpPr>
        <p:spPr>
          <a:xfrm>
            <a:off x="8541683" y="5285067"/>
            <a:ext cx="3518912" cy="369332"/>
          </a:xfrm>
          <a:prstGeom prst="rect">
            <a:avLst/>
          </a:prstGeom>
        </p:spPr>
        <p:txBody>
          <a:bodyPr wrap="none">
            <a:spAutoFit/>
          </a:bodyPr>
          <a:lstStyle/>
          <a:p>
            <a:r>
              <a:rPr lang="en-US" b="1" dirty="0">
                <a:solidFill>
                  <a:srgbClr val="5189BC"/>
                </a:solidFill>
                <a:latin typeface="LiberationSans"/>
              </a:rPr>
              <a:t>Newton’s Second Law for Rotation </a:t>
            </a:r>
            <a:endParaRPr lang="en-US" dirty="0">
              <a:effectLst/>
            </a:endParaRPr>
          </a:p>
        </p:txBody>
      </p:sp>
    </p:spTree>
    <p:extLst>
      <p:ext uri="{BB962C8B-B14F-4D97-AF65-F5344CB8AC3E}">
        <p14:creationId xmlns:p14="http://schemas.microsoft.com/office/powerpoint/2010/main" val="8298599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Newton’s Second Law for Rotation </a:t>
            </a:r>
          </a:p>
        </p:txBody>
      </p:sp>
      <p:sp>
        <p:nvSpPr>
          <p:cNvPr id="2" name="Rectangle 1">
            <a:extLst>
              <a:ext uri="{FF2B5EF4-FFF2-40B4-BE49-F238E27FC236}">
                <a16:creationId xmlns:a16="http://schemas.microsoft.com/office/drawing/2014/main" id="{6EA5CB61-47AD-8C42-B250-2DDC7C91C1EA}"/>
              </a:ext>
            </a:extLst>
          </p:cNvPr>
          <p:cNvSpPr/>
          <p:nvPr/>
        </p:nvSpPr>
        <p:spPr>
          <a:xfrm>
            <a:off x="454111" y="1084586"/>
            <a:ext cx="11099457" cy="2462213"/>
          </a:xfrm>
          <a:prstGeom prst="rect">
            <a:avLst/>
          </a:prstGeom>
        </p:spPr>
        <p:txBody>
          <a:bodyPr wrap="square">
            <a:spAutoFit/>
          </a:bodyPr>
          <a:lstStyle/>
          <a:p>
            <a:r>
              <a:rPr lang="en-US" sz="2200" b="1" dirty="0">
                <a:solidFill>
                  <a:srgbClr val="213866"/>
                </a:solidFill>
                <a:latin typeface="LiberationSans"/>
              </a:rPr>
              <a:t>Calculating the Effect of Mass Distribution on a Merry-Go-Round </a:t>
            </a:r>
            <a:endParaRPr lang="en-US" sz="2200" dirty="0"/>
          </a:p>
          <a:p>
            <a:r>
              <a:rPr lang="en-US" sz="2200" dirty="0">
                <a:solidFill>
                  <a:srgbClr val="3B124D"/>
                </a:solidFill>
                <a:latin typeface="LiberationSerif"/>
              </a:rPr>
              <a:t>Consider the father pushing a playground merry-go-round in </a:t>
            </a:r>
            <a:r>
              <a:rPr lang="en-US" sz="2200" dirty="0">
                <a:solidFill>
                  <a:srgbClr val="3B124D"/>
                </a:solidFill>
                <a:latin typeface="LiberationSans"/>
              </a:rPr>
              <a:t>figure below</a:t>
            </a:r>
            <a:r>
              <a:rPr lang="en-US" sz="2200" dirty="0">
                <a:solidFill>
                  <a:srgbClr val="3B124D"/>
                </a:solidFill>
                <a:latin typeface="LiberationSerif"/>
              </a:rPr>
              <a:t>. He exerts a force of 250 N at the edge of the 50.0-kg merry-go-round, which has a 1.50-m radius. </a:t>
            </a:r>
          </a:p>
          <a:p>
            <a:r>
              <a:rPr lang="en-US" sz="2200" dirty="0">
                <a:solidFill>
                  <a:srgbClr val="3B124D"/>
                </a:solidFill>
                <a:latin typeface="LiberationSerif"/>
              </a:rPr>
              <a:t>Calculate the angular acceleration produced </a:t>
            </a:r>
          </a:p>
          <a:p>
            <a:pPr marL="457200" indent="-457200">
              <a:buAutoNum type="alphaLcParenBoth"/>
            </a:pPr>
            <a:r>
              <a:rPr lang="en-US" sz="2200" dirty="0">
                <a:solidFill>
                  <a:srgbClr val="3B124D"/>
                </a:solidFill>
                <a:latin typeface="LiberationSerif"/>
              </a:rPr>
              <a:t>when no one is on the merry-go-round and </a:t>
            </a:r>
          </a:p>
          <a:p>
            <a:pPr marL="457200" indent="-457200">
              <a:buAutoNum type="alphaLcParenBoth"/>
            </a:pPr>
            <a:r>
              <a:rPr lang="en-US" sz="2200" dirty="0">
                <a:solidFill>
                  <a:srgbClr val="3B124D"/>
                </a:solidFill>
                <a:latin typeface="LiberationSerif"/>
              </a:rPr>
              <a:t>when an 18.0-kg child sits 1.25 m away from the center. Consider the merry-go-round itself to be a uniform disk with negligible friction. </a:t>
            </a:r>
            <a:endParaRPr lang="en-US" sz="2200" dirty="0">
              <a:solidFill>
                <a:srgbClr val="3B124D"/>
              </a:solidFill>
            </a:endParaRPr>
          </a:p>
        </p:txBody>
      </p:sp>
      <p:sp>
        <p:nvSpPr>
          <p:cNvPr id="7" name="Rectangle 6">
            <a:extLst>
              <a:ext uri="{FF2B5EF4-FFF2-40B4-BE49-F238E27FC236}">
                <a16:creationId xmlns:a16="http://schemas.microsoft.com/office/drawing/2014/main" id="{2A3E3140-53FF-A84A-9D32-C7194EFEB83D}"/>
              </a:ext>
            </a:extLst>
          </p:cNvPr>
          <p:cNvSpPr/>
          <p:nvPr/>
        </p:nvSpPr>
        <p:spPr>
          <a:xfrm>
            <a:off x="464247" y="699866"/>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pic>
        <p:nvPicPr>
          <p:cNvPr id="8" name="Picture Placeholder 1" descr="Figure shows a man that pushes a merry-go-round at its edge and perpendicular to its radius.">
            <a:extLst>
              <a:ext uri="{FF2B5EF4-FFF2-40B4-BE49-F238E27FC236}">
                <a16:creationId xmlns:a16="http://schemas.microsoft.com/office/drawing/2014/main" id="{CD1520FE-CA09-0148-9CC7-32900D7C3EAE}"/>
              </a:ext>
            </a:extLst>
          </p:cNvPr>
          <p:cNvPicPr>
            <a:picLocks noChangeAspect="1"/>
          </p:cNvPicPr>
          <p:nvPr/>
        </p:nvPicPr>
        <p:blipFill>
          <a:blip r:embed="rId3">
            <a:extLst>
              <a:ext uri="{28A0092B-C50C-407E-A947-70E740481C1C}">
                <a14:useLocalDpi xmlns:a14="http://schemas.microsoft.com/office/drawing/2010/main" val="0"/>
              </a:ext>
            </a:extLst>
          </a:blip>
          <a:srcRect l="-34729" r="-34729"/>
          <a:stretch>
            <a:fillRect/>
          </a:stretch>
        </p:blipFill>
        <p:spPr>
          <a:xfrm>
            <a:off x="4794421" y="3268885"/>
            <a:ext cx="8062913" cy="3500071"/>
          </a:xfrm>
          <a:prstGeom prst="rect">
            <a:avLst/>
          </a:prstGeom>
        </p:spPr>
      </p:pic>
      <p:pic>
        <p:nvPicPr>
          <p:cNvPr id="9" name="Picture 8" descr="Text&#10;&#10;Description automatically generated">
            <a:extLst>
              <a:ext uri="{FF2B5EF4-FFF2-40B4-BE49-F238E27FC236}">
                <a16:creationId xmlns:a16="http://schemas.microsoft.com/office/drawing/2014/main" id="{F5FA053A-A302-4448-A6E9-98FB5C8FA0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79580" y="4599820"/>
            <a:ext cx="1346200" cy="838200"/>
          </a:xfrm>
          <a:prstGeom prst="rect">
            <a:avLst/>
          </a:prstGeom>
        </p:spPr>
      </p:pic>
      <p:sp>
        <p:nvSpPr>
          <p:cNvPr id="3" name="Rectangle 2">
            <a:extLst>
              <a:ext uri="{FF2B5EF4-FFF2-40B4-BE49-F238E27FC236}">
                <a16:creationId xmlns:a16="http://schemas.microsoft.com/office/drawing/2014/main" id="{B8A8360F-BDA7-6B48-B8AC-0AE6CEB0C8EC}"/>
              </a:ext>
            </a:extLst>
          </p:cNvPr>
          <p:cNvSpPr/>
          <p:nvPr/>
        </p:nvSpPr>
        <p:spPr>
          <a:xfrm>
            <a:off x="464247" y="4230488"/>
            <a:ext cx="4839530" cy="369332"/>
          </a:xfrm>
          <a:prstGeom prst="rect">
            <a:avLst/>
          </a:prstGeom>
        </p:spPr>
        <p:txBody>
          <a:bodyPr wrap="none">
            <a:spAutoFit/>
          </a:bodyPr>
          <a:lstStyle/>
          <a:p>
            <a:r>
              <a:rPr lang="en-US" dirty="0">
                <a:solidFill>
                  <a:srgbClr val="7030A0"/>
                </a:solidFill>
                <a:latin typeface="LiberationSerif"/>
              </a:rPr>
              <a:t>The net torque is given directly by the expression </a:t>
            </a:r>
            <a:endParaRPr lang="en-US" dirty="0">
              <a:solidFill>
                <a:srgbClr val="7030A0"/>
              </a:solidFill>
            </a:endParaRPr>
          </a:p>
        </p:txBody>
      </p:sp>
      <p:sp>
        <p:nvSpPr>
          <p:cNvPr id="4" name="Rectangle 3">
            <a:extLst>
              <a:ext uri="{FF2B5EF4-FFF2-40B4-BE49-F238E27FC236}">
                <a16:creationId xmlns:a16="http://schemas.microsoft.com/office/drawing/2014/main" id="{9B281C1C-5601-AC4D-B298-83D0DD6555C5}"/>
              </a:ext>
            </a:extLst>
          </p:cNvPr>
          <p:cNvSpPr/>
          <p:nvPr/>
        </p:nvSpPr>
        <p:spPr>
          <a:xfrm>
            <a:off x="454111" y="5551743"/>
            <a:ext cx="5366951" cy="923330"/>
          </a:xfrm>
          <a:prstGeom prst="rect">
            <a:avLst/>
          </a:prstGeom>
        </p:spPr>
        <p:txBody>
          <a:bodyPr wrap="square">
            <a:spAutoFit/>
          </a:bodyPr>
          <a:lstStyle/>
          <a:p>
            <a:r>
              <a:rPr lang="en-US" dirty="0">
                <a:solidFill>
                  <a:srgbClr val="7030A0"/>
                </a:solidFill>
                <a:latin typeface="LiberationSerif"/>
              </a:rPr>
              <a:t>To solve for </a:t>
            </a:r>
            <a:r>
              <a:rPr lang="el-GR" i="1" dirty="0">
                <a:solidFill>
                  <a:srgbClr val="7030A0"/>
                </a:solidFill>
                <a:latin typeface="STIXGeneral" pitchFamily="2" charset="2"/>
              </a:rPr>
              <a:t>α </a:t>
            </a:r>
            <a:r>
              <a:rPr lang="el-GR" dirty="0">
                <a:solidFill>
                  <a:srgbClr val="7030A0"/>
                </a:solidFill>
                <a:latin typeface="LiberationSerif"/>
              </a:rPr>
              <a:t>, </a:t>
            </a:r>
            <a:r>
              <a:rPr lang="en-US" dirty="0">
                <a:solidFill>
                  <a:srgbClr val="7030A0"/>
                </a:solidFill>
                <a:latin typeface="LiberationSerif"/>
              </a:rPr>
              <a:t>we must first calculate the net torque </a:t>
            </a:r>
            <a:r>
              <a:rPr lang="el-GR" i="1" dirty="0">
                <a:solidFill>
                  <a:srgbClr val="7030A0"/>
                </a:solidFill>
                <a:latin typeface="STIXGeneral" pitchFamily="2" charset="2"/>
              </a:rPr>
              <a:t>τ </a:t>
            </a:r>
            <a:r>
              <a:rPr lang="el-GR" dirty="0">
                <a:solidFill>
                  <a:srgbClr val="7030A0"/>
                </a:solidFill>
                <a:latin typeface="LiberationSerif"/>
              </a:rPr>
              <a:t>(</a:t>
            </a:r>
            <a:r>
              <a:rPr lang="en-US" dirty="0">
                <a:solidFill>
                  <a:srgbClr val="7030A0"/>
                </a:solidFill>
                <a:latin typeface="LiberationSerif"/>
              </a:rPr>
              <a:t>which is the same in both cases) and moment of inertia </a:t>
            </a:r>
            <a:r>
              <a:rPr lang="en-US" i="1" dirty="0">
                <a:solidFill>
                  <a:srgbClr val="7030A0"/>
                </a:solidFill>
                <a:latin typeface="LiberationSerif"/>
              </a:rPr>
              <a:t>I </a:t>
            </a:r>
            <a:r>
              <a:rPr lang="en-US" dirty="0">
                <a:solidFill>
                  <a:srgbClr val="7030A0"/>
                </a:solidFill>
                <a:latin typeface="LiberationSerif"/>
              </a:rPr>
              <a:t>(which is greater in the second case). </a:t>
            </a:r>
            <a:endParaRPr lang="en-US" dirty="0">
              <a:solidFill>
                <a:srgbClr val="7030A0"/>
              </a:solidFill>
            </a:endParaRPr>
          </a:p>
        </p:txBody>
      </p:sp>
    </p:spTree>
    <p:extLst>
      <p:ext uri="{BB962C8B-B14F-4D97-AF65-F5344CB8AC3E}">
        <p14:creationId xmlns:p14="http://schemas.microsoft.com/office/powerpoint/2010/main" val="16033450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Newton’s Second Law for Rotation </a:t>
            </a:r>
          </a:p>
        </p:txBody>
      </p:sp>
      <p:pic>
        <p:nvPicPr>
          <p:cNvPr id="4" name="Picture 3" descr="Logo&#10;&#10;Description automatically generated with medium confidence">
            <a:extLst>
              <a:ext uri="{FF2B5EF4-FFF2-40B4-BE49-F238E27FC236}">
                <a16:creationId xmlns:a16="http://schemas.microsoft.com/office/drawing/2014/main" id="{CFA7A9FE-1417-154F-8A11-A02F300DB1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7805" y="1269297"/>
            <a:ext cx="1219275" cy="724497"/>
          </a:xfrm>
          <a:prstGeom prst="rect">
            <a:avLst/>
          </a:prstGeom>
        </p:spPr>
      </p:pic>
      <p:sp>
        <p:nvSpPr>
          <p:cNvPr id="7" name="Rectangle 6">
            <a:extLst>
              <a:ext uri="{FF2B5EF4-FFF2-40B4-BE49-F238E27FC236}">
                <a16:creationId xmlns:a16="http://schemas.microsoft.com/office/drawing/2014/main" id="{818D19F8-BB03-3743-97D6-FDAC55001F9E}"/>
              </a:ext>
            </a:extLst>
          </p:cNvPr>
          <p:cNvSpPr/>
          <p:nvPr/>
        </p:nvSpPr>
        <p:spPr>
          <a:xfrm>
            <a:off x="1075038" y="2607087"/>
            <a:ext cx="6096000" cy="769441"/>
          </a:xfrm>
          <a:prstGeom prst="rect">
            <a:avLst/>
          </a:prstGeom>
        </p:spPr>
        <p:txBody>
          <a:bodyPr wrap="square">
            <a:spAutoFit/>
          </a:bodyPr>
          <a:lstStyle/>
          <a:p>
            <a:r>
              <a:rPr lang="en-US" sz="2200" dirty="0">
                <a:solidFill>
                  <a:srgbClr val="0000CC"/>
                </a:solidFill>
              </a:rPr>
              <a:t>Assignment 6</a:t>
            </a:r>
          </a:p>
          <a:p>
            <a:endParaRPr lang="en-US" sz="2200" dirty="0">
              <a:solidFill>
                <a:srgbClr val="0000CC"/>
              </a:solidFill>
            </a:endParaRPr>
          </a:p>
        </p:txBody>
      </p:sp>
      <p:pic>
        <p:nvPicPr>
          <p:cNvPr id="3" name="Picture 2" descr="Text&#10;&#10;Description automatically generated">
            <a:extLst>
              <a:ext uri="{FF2B5EF4-FFF2-40B4-BE49-F238E27FC236}">
                <a16:creationId xmlns:a16="http://schemas.microsoft.com/office/drawing/2014/main" id="{6F04F583-CAB3-7840-9ECC-7DB1A9BED0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5038" y="2993142"/>
            <a:ext cx="7450329" cy="2233312"/>
          </a:xfrm>
          <a:prstGeom prst="rect">
            <a:avLst/>
          </a:prstGeom>
        </p:spPr>
      </p:pic>
    </p:spTree>
    <p:extLst>
      <p:ext uri="{BB962C8B-B14F-4D97-AF65-F5344CB8AC3E}">
        <p14:creationId xmlns:p14="http://schemas.microsoft.com/office/powerpoint/2010/main" val="8765398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Work and Power for Rotational Motion </a:t>
            </a:r>
          </a:p>
        </p:txBody>
      </p:sp>
      <p:pic>
        <p:nvPicPr>
          <p:cNvPr id="3" name="Picture 2" descr="Diagram&#10;&#10;Description automatically generated">
            <a:extLst>
              <a:ext uri="{FF2B5EF4-FFF2-40B4-BE49-F238E27FC236}">
                <a16:creationId xmlns:a16="http://schemas.microsoft.com/office/drawing/2014/main" id="{E5222065-31A6-A542-9EE4-E24B922B5B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2950" y="1270181"/>
            <a:ext cx="4572240" cy="4317637"/>
          </a:xfrm>
          <a:prstGeom prst="rect">
            <a:avLst/>
          </a:prstGeom>
        </p:spPr>
      </p:pic>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EB2CC270-0FF0-9945-BEEE-A15B175E8472}"/>
                  </a:ext>
                </a:extLst>
              </p:cNvPr>
              <p:cNvSpPr txBox="1">
                <a:spLocks/>
              </p:cNvSpPr>
              <p:nvPr/>
            </p:nvSpPr>
            <p:spPr>
              <a:xfrm>
                <a:off x="416712" y="686990"/>
                <a:ext cx="10082528"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solidFill>
                      <a:srgbClr val="3B124D"/>
                    </a:solidFill>
                  </a:rPr>
                  <a:t>A rigid body rotates through an angle </a:t>
                </a:r>
                <a14:m>
                  <m:oMath xmlns:m="http://schemas.openxmlformats.org/officeDocument/2006/math">
                    <m:r>
                      <a:rPr lang="en-US" sz="2200" i="1" smtClean="0">
                        <a:solidFill>
                          <a:srgbClr val="3B124D"/>
                        </a:solidFill>
                        <a:latin typeface="Cambria Math"/>
                      </a:rPr>
                      <m:t>𝑑</m:t>
                    </m:r>
                    <m:r>
                      <a:rPr lang="en-US" sz="2200" i="1" smtClean="0">
                        <a:solidFill>
                          <a:srgbClr val="3B124D"/>
                        </a:solidFill>
                        <a:latin typeface="Cambria Math"/>
                        <a:ea typeface="Cambria Math"/>
                      </a:rPr>
                      <m:t>𝜃</m:t>
                    </m:r>
                  </m:oMath>
                </a14:m>
                <a:r>
                  <a:rPr lang="en-US" sz="2200" dirty="0">
                    <a:solidFill>
                      <a:srgbClr val="3B124D"/>
                    </a:solidFill>
                  </a:rPr>
                  <a:t> from </a:t>
                </a:r>
                <a:r>
                  <a:rPr lang="en-US" sz="2200" i="1" dirty="0">
                    <a:solidFill>
                      <a:srgbClr val="3B124D"/>
                    </a:solidFill>
                  </a:rPr>
                  <a:t>A</a:t>
                </a:r>
                <a:r>
                  <a:rPr lang="en-US" sz="2200" dirty="0">
                    <a:solidFill>
                      <a:srgbClr val="3B124D"/>
                    </a:solidFill>
                  </a:rPr>
                  <a:t> to </a:t>
                </a:r>
                <a:r>
                  <a:rPr lang="en-US" sz="2200" i="1" dirty="0">
                    <a:solidFill>
                      <a:srgbClr val="3B124D"/>
                    </a:solidFill>
                  </a:rPr>
                  <a:t>B</a:t>
                </a:r>
                <a:r>
                  <a:rPr lang="en-US" sz="2200" dirty="0">
                    <a:solidFill>
                      <a:srgbClr val="3B124D"/>
                    </a:solidFill>
                  </a:rPr>
                  <a:t> by the action of an external force  </a:t>
                </a:r>
                <a14:m>
                  <m:oMath xmlns:m="http://schemas.openxmlformats.org/officeDocument/2006/math">
                    <m:acc>
                      <m:accPr>
                        <m:chr m:val="⃗"/>
                        <m:ctrlPr>
                          <a:rPr lang="en-US" sz="2200" i="1">
                            <a:solidFill>
                              <a:srgbClr val="3B124D"/>
                            </a:solidFill>
                            <a:latin typeface="Cambria Math" panose="02040503050406030204" pitchFamily="18" charset="0"/>
                          </a:rPr>
                        </m:ctrlPr>
                      </m:accPr>
                      <m:e>
                        <m:r>
                          <a:rPr lang="en-US" sz="2200" b="1">
                            <a:solidFill>
                              <a:srgbClr val="3B124D"/>
                            </a:solidFill>
                            <a:latin typeface="Cambria Math"/>
                          </a:rPr>
                          <m:t>𝐅</m:t>
                        </m:r>
                      </m:e>
                    </m:acc>
                  </m:oMath>
                </a14:m>
                <a:r>
                  <a:rPr lang="en-US" sz="2200" dirty="0">
                    <a:solidFill>
                      <a:srgbClr val="3B124D"/>
                    </a:solidFill>
                  </a:rPr>
                  <a:t> applied to point </a:t>
                </a:r>
                <a:r>
                  <a:rPr lang="en-US" sz="2200" i="1" dirty="0">
                    <a:solidFill>
                      <a:srgbClr val="3B124D"/>
                    </a:solidFill>
                  </a:rPr>
                  <a:t>P</a:t>
                </a:r>
                <a:r>
                  <a:rPr lang="en-US" sz="2200" dirty="0">
                    <a:solidFill>
                      <a:srgbClr val="3B124D"/>
                    </a:solidFill>
                  </a:rPr>
                  <a:t>.</a:t>
                </a:r>
              </a:p>
            </p:txBody>
          </p:sp>
        </mc:Choice>
        <mc:Fallback xmlns="">
          <p:sp>
            <p:nvSpPr>
              <p:cNvPr id="7" name="Text Placeholder 6">
                <a:extLst>
                  <a:ext uri="{FF2B5EF4-FFF2-40B4-BE49-F238E27FC236}">
                    <a16:creationId xmlns:a16="http://schemas.microsoft.com/office/drawing/2014/main" id="{EB2CC270-0FF0-9945-BEEE-A15B175E8472}"/>
                  </a:ext>
                </a:extLst>
              </p:cNvPr>
              <p:cNvSpPr txBox="1">
                <a:spLocks noRot="1" noChangeAspect="1" noMove="1" noResize="1" noEditPoints="1" noAdjustHandles="1" noChangeArrowheads="1" noChangeShapeType="1" noTextEdit="1"/>
              </p:cNvSpPr>
              <p:nvPr/>
            </p:nvSpPr>
            <p:spPr>
              <a:xfrm>
                <a:off x="416712" y="686990"/>
                <a:ext cx="10082528" cy="1166382"/>
              </a:xfrm>
              <a:prstGeom prst="rect">
                <a:avLst/>
              </a:prstGeom>
              <a:blipFill>
                <a:blip r:embed="rId4"/>
                <a:stretch>
                  <a:fillRect l="-755" t="-6522" r="-755"/>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398E4A62-5586-B04D-9940-1F0F66841FD9}"/>
              </a:ext>
            </a:extLst>
          </p:cNvPr>
          <p:cNvSpPr/>
          <p:nvPr/>
        </p:nvSpPr>
        <p:spPr>
          <a:xfrm>
            <a:off x="4988952" y="1422485"/>
            <a:ext cx="5213287" cy="430887"/>
          </a:xfrm>
          <a:prstGeom prst="rect">
            <a:avLst/>
          </a:prstGeom>
        </p:spPr>
        <p:txBody>
          <a:bodyPr wrap="none">
            <a:spAutoFit/>
          </a:bodyPr>
          <a:lstStyle/>
          <a:p>
            <a:r>
              <a:rPr lang="en-US" sz="2200" dirty="0">
                <a:latin typeface="LiberationSerif"/>
              </a:rPr>
              <a:t>The </a:t>
            </a:r>
            <a:r>
              <a:rPr lang="en-US" sz="2200" b="1" dirty="0">
                <a:solidFill>
                  <a:srgbClr val="C00000"/>
                </a:solidFill>
                <a:latin typeface="LiberationSerif"/>
              </a:rPr>
              <a:t>rotational work </a:t>
            </a:r>
            <a:r>
              <a:rPr lang="en-US" sz="2200" dirty="0">
                <a:latin typeface="LiberationSerif"/>
              </a:rPr>
              <a:t>done on a rigid body is </a:t>
            </a:r>
            <a:endParaRPr lang="en-US" sz="2200" dirty="0"/>
          </a:p>
        </p:txBody>
      </p:sp>
      <p:pic>
        <p:nvPicPr>
          <p:cNvPr id="10" name="Picture 9" descr="Logo&#10;&#10;Description automatically generated">
            <a:extLst>
              <a:ext uri="{FF2B5EF4-FFF2-40B4-BE49-F238E27FC236}">
                <a16:creationId xmlns:a16="http://schemas.microsoft.com/office/drawing/2014/main" id="{41E878B4-0995-194C-9D44-85580EB5B4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22302" y="1928098"/>
            <a:ext cx="2032000" cy="622300"/>
          </a:xfrm>
          <a:prstGeom prst="rect">
            <a:avLst/>
          </a:prstGeom>
        </p:spPr>
      </p:pic>
      <p:sp>
        <p:nvSpPr>
          <p:cNvPr id="11" name="Rectangle 10">
            <a:extLst>
              <a:ext uri="{FF2B5EF4-FFF2-40B4-BE49-F238E27FC236}">
                <a16:creationId xmlns:a16="http://schemas.microsoft.com/office/drawing/2014/main" id="{D268201F-E516-B442-AA9D-E4051F1002BE}"/>
              </a:ext>
            </a:extLst>
          </p:cNvPr>
          <p:cNvSpPr/>
          <p:nvPr/>
        </p:nvSpPr>
        <p:spPr>
          <a:xfrm>
            <a:off x="5123934" y="2625124"/>
            <a:ext cx="6705115" cy="707886"/>
          </a:xfrm>
          <a:prstGeom prst="rect">
            <a:avLst/>
          </a:prstGeom>
        </p:spPr>
        <p:txBody>
          <a:bodyPr wrap="square">
            <a:spAutoFit/>
          </a:bodyPr>
          <a:lstStyle/>
          <a:p>
            <a:r>
              <a:rPr lang="en-US" sz="2000" i="1" dirty="0">
                <a:solidFill>
                  <a:srgbClr val="7030A0"/>
                </a:solidFill>
                <a:latin typeface="LiberationSerif"/>
              </a:rPr>
              <a:t>The total work done on a rigid body is the sum of the torques integrated over the angle through which the body rotates</a:t>
            </a:r>
            <a:r>
              <a:rPr lang="en-US" sz="2000" dirty="0">
                <a:solidFill>
                  <a:srgbClr val="7030A0"/>
                </a:solidFill>
                <a:latin typeface="LiberationSerif"/>
              </a:rPr>
              <a:t>. </a:t>
            </a:r>
            <a:endParaRPr lang="en-US" sz="2000" dirty="0">
              <a:solidFill>
                <a:srgbClr val="7030A0"/>
              </a:solidFill>
            </a:endParaRPr>
          </a:p>
        </p:txBody>
      </p:sp>
      <p:sp>
        <p:nvSpPr>
          <p:cNvPr id="12" name="Rectangle 11">
            <a:extLst>
              <a:ext uri="{FF2B5EF4-FFF2-40B4-BE49-F238E27FC236}">
                <a16:creationId xmlns:a16="http://schemas.microsoft.com/office/drawing/2014/main" id="{D9C75DF7-BE99-E442-BB01-A3E99D67E9E2}"/>
              </a:ext>
            </a:extLst>
          </p:cNvPr>
          <p:cNvSpPr/>
          <p:nvPr/>
        </p:nvSpPr>
        <p:spPr>
          <a:xfrm>
            <a:off x="5123934" y="3476165"/>
            <a:ext cx="6096000" cy="400110"/>
          </a:xfrm>
          <a:prstGeom prst="rect">
            <a:avLst/>
          </a:prstGeom>
        </p:spPr>
        <p:txBody>
          <a:bodyPr>
            <a:spAutoFit/>
          </a:bodyPr>
          <a:lstStyle/>
          <a:p>
            <a:r>
              <a:rPr lang="en-US" sz="2000" dirty="0">
                <a:solidFill>
                  <a:srgbClr val="3B124D"/>
                </a:solidFill>
                <a:latin typeface="LiberationSerif"/>
              </a:rPr>
              <a:t>The incremental work is </a:t>
            </a:r>
            <a:endParaRPr lang="en-US" sz="2000" dirty="0">
              <a:solidFill>
                <a:srgbClr val="3B124D"/>
              </a:solidFill>
            </a:endParaRPr>
          </a:p>
        </p:txBody>
      </p:sp>
      <p:pic>
        <p:nvPicPr>
          <p:cNvPr id="14" name="Picture 13" descr="Text&#10;&#10;Description automatically generated with medium confidence">
            <a:extLst>
              <a:ext uri="{FF2B5EF4-FFF2-40B4-BE49-F238E27FC236}">
                <a16:creationId xmlns:a16="http://schemas.microsoft.com/office/drawing/2014/main" id="{56FA334F-9EB1-354E-99B6-0B8F211129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77342" y="3286881"/>
            <a:ext cx="1790700" cy="787400"/>
          </a:xfrm>
          <a:prstGeom prst="rect">
            <a:avLst/>
          </a:prstGeom>
        </p:spPr>
      </p:pic>
      <p:sp>
        <p:nvSpPr>
          <p:cNvPr id="15" name="Rectangle 14">
            <a:extLst>
              <a:ext uri="{FF2B5EF4-FFF2-40B4-BE49-F238E27FC236}">
                <a16:creationId xmlns:a16="http://schemas.microsoft.com/office/drawing/2014/main" id="{4B6A69B9-10AE-E248-A960-5E01A026E977}"/>
              </a:ext>
            </a:extLst>
          </p:cNvPr>
          <p:cNvSpPr/>
          <p:nvPr/>
        </p:nvSpPr>
        <p:spPr>
          <a:xfrm>
            <a:off x="8887513" y="4412872"/>
            <a:ext cx="2711923" cy="646331"/>
          </a:xfrm>
          <a:prstGeom prst="rect">
            <a:avLst/>
          </a:prstGeom>
        </p:spPr>
        <p:txBody>
          <a:bodyPr wrap="square">
            <a:spAutoFit/>
          </a:bodyPr>
          <a:lstStyle/>
          <a:p>
            <a:r>
              <a:rPr lang="en-US" dirty="0">
                <a:solidFill>
                  <a:srgbClr val="7030A0"/>
                </a:solidFill>
                <a:latin typeface="LiberationSerif"/>
              </a:rPr>
              <a:t>the net torque on the body due to external forces. </a:t>
            </a:r>
            <a:endParaRPr lang="en-US" dirty="0">
              <a:solidFill>
                <a:srgbClr val="7030A0"/>
              </a:solidFill>
            </a:endParaRPr>
          </a:p>
        </p:txBody>
      </p:sp>
      <p:cxnSp>
        <p:nvCxnSpPr>
          <p:cNvPr id="17" name="Straight Arrow Connector 16">
            <a:extLst>
              <a:ext uri="{FF2B5EF4-FFF2-40B4-BE49-F238E27FC236}">
                <a16:creationId xmlns:a16="http://schemas.microsoft.com/office/drawing/2014/main" id="{A2826497-B9E5-4042-904B-D60E2BC95F1B}"/>
              </a:ext>
            </a:extLst>
          </p:cNvPr>
          <p:cNvCxnSpPr/>
          <p:nvPr/>
        </p:nvCxnSpPr>
        <p:spPr>
          <a:xfrm flipH="1" flipV="1">
            <a:off x="9008076" y="4104762"/>
            <a:ext cx="679621" cy="29424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40734766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Rectangle 5">
            <a:extLst>
              <a:ext uri="{FF2B5EF4-FFF2-40B4-BE49-F238E27FC236}">
                <a16:creationId xmlns:a16="http://schemas.microsoft.com/office/drawing/2014/main" id="{795D2EED-83AC-EB47-9A2E-9291BFC75C63}"/>
              </a:ext>
            </a:extLst>
          </p:cNvPr>
          <p:cNvSpPr/>
          <p:nvPr/>
        </p:nvSpPr>
        <p:spPr>
          <a:xfrm>
            <a:off x="2649070" y="89044"/>
            <a:ext cx="7274860" cy="523220"/>
          </a:xfrm>
          <a:prstGeom prst="rect">
            <a:avLst/>
          </a:prstGeom>
        </p:spPr>
        <p:txBody>
          <a:bodyPr wrap="square">
            <a:spAutoFit/>
          </a:bodyPr>
          <a:lstStyle/>
          <a:p>
            <a:r>
              <a:rPr lang="en-US" sz="2800" dirty="0">
                <a:solidFill>
                  <a:srgbClr val="C00000"/>
                </a:solidFill>
                <a:latin typeface="NewBaskervilleStd-Roman"/>
              </a:rPr>
              <a:t>Work and Power for Rotational Motion </a:t>
            </a:r>
          </a:p>
        </p:txBody>
      </p:sp>
      <p:pic>
        <p:nvPicPr>
          <p:cNvPr id="3" name="Picture 2" descr="Text&#10;&#10;Description automatically generated">
            <a:extLst>
              <a:ext uri="{FF2B5EF4-FFF2-40B4-BE49-F238E27FC236}">
                <a16:creationId xmlns:a16="http://schemas.microsoft.com/office/drawing/2014/main" id="{6D9E3A19-B270-EC49-B3DA-0268E48C72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192" y="612263"/>
            <a:ext cx="8290174" cy="4145087"/>
          </a:xfrm>
          <a:prstGeom prst="rect">
            <a:avLst/>
          </a:prstGeom>
        </p:spPr>
      </p:pic>
      <p:sp>
        <p:nvSpPr>
          <p:cNvPr id="4" name="Rectangle 3">
            <a:extLst>
              <a:ext uri="{FF2B5EF4-FFF2-40B4-BE49-F238E27FC236}">
                <a16:creationId xmlns:a16="http://schemas.microsoft.com/office/drawing/2014/main" id="{0BA4E931-21A0-C042-B36E-49610D500C78}"/>
              </a:ext>
            </a:extLst>
          </p:cNvPr>
          <p:cNvSpPr/>
          <p:nvPr/>
        </p:nvSpPr>
        <p:spPr>
          <a:xfrm>
            <a:off x="272192" y="4757350"/>
            <a:ext cx="11647616" cy="1754326"/>
          </a:xfrm>
          <a:prstGeom prst="rect">
            <a:avLst/>
          </a:prstGeom>
        </p:spPr>
        <p:txBody>
          <a:bodyPr wrap="square">
            <a:spAutoFit/>
          </a:bodyPr>
          <a:lstStyle/>
          <a:p>
            <a:r>
              <a:rPr lang="en-US" dirty="0">
                <a:solidFill>
                  <a:srgbClr val="C00000"/>
                </a:solidFill>
                <a:latin typeface="LiberationSerif"/>
              </a:rPr>
              <a:t>From </a:t>
            </a:r>
            <a:r>
              <a:rPr lang="en-US" dirty="0">
                <a:solidFill>
                  <a:srgbClr val="C00000"/>
                </a:solidFill>
                <a:latin typeface="LiberationSans"/>
              </a:rPr>
              <a:t>Work and Kinetic Energy</a:t>
            </a:r>
            <a:r>
              <a:rPr lang="en-US" dirty="0">
                <a:solidFill>
                  <a:srgbClr val="C00000"/>
                </a:solidFill>
                <a:latin typeface="LiberationSerif"/>
              </a:rPr>
              <a:t>, the power is defined as the rate of doing work:</a:t>
            </a:r>
          </a:p>
          <a:p>
            <a:endParaRPr lang="en-US" dirty="0">
              <a:solidFill>
                <a:srgbClr val="C00000"/>
              </a:solidFill>
              <a:latin typeface="LiberationSerif"/>
            </a:endParaRPr>
          </a:p>
          <a:p>
            <a:endParaRPr lang="en-US" dirty="0">
              <a:solidFill>
                <a:srgbClr val="C00000"/>
              </a:solidFill>
              <a:latin typeface="LiberationSerif"/>
            </a:endParaRPr>
          </a:p>
          <a:p>
            <a:endParaRPr lang="en-US" dirty="0">
              <a:solidFill>
                <a:srgbClr val="C00000"/>
              </a:solidFill>
              <a:latin typeface="LiberationSerif"/>
            </a:endParaRPr>
          </a:p>
          <a:p>
            <a:endParaRPr lang="en-US" dirty="0">
              <a:solidFill>
                <a:srgbClr val="C00000"/>
              </a:solidFill>
              <a:latin typeface="LiberationSerif"/>
            </a:endParaRPr>
          </a:p>
          <a:p>
            <a:r>
              <a:rPr lang="en-US" dirty="0">
                <a:solidFill>
                  <a:srgbClr val="C00000"/>
                </a:solidFill>
                <a:latin typeface="LiberationSerif"/>
              </a:rPr>
              <a:t>							or</a:t>
            </a:r>
            <a:endParaRPr lang="en-US" dirty="0">
              <a:solidFill>
                <a:srgbClr val="C00000"/>
              </a:solidFill>
            </a:endParaRPr>
          </a:p>
        </p:txBody>
      </p:sp>
      <p:pic>
        <p:nvPicPr>
          <p:cNvPr id="8" name="Picture 7" descr="Text, letter&#10;&#10;Description automatically generated">
            <a:extLst>
              <a:ext uri="{FF2B5EF4-FFF2-40B4-BE49-F238E27FC236}">
                <a16:creationId xmlns:a16="http://schemas.microsoft.com/office/drawing/2014/main" id="{86F3682D-12DF-224E-8C96-449626AC2C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9029" y="5178176"/>
            <a:ext cx="2476500" cy="647700"/>
          </a:xfrm>
          <a:prstGeom prst="rect">
            <a:avLst/>
          </a:prstGeom>
        </p:spPr>
      </p:pic>
      <p:pic>
        <p:nvPicPr>
          <p:cNvPr id="12" name="Picture 11" descr="Text&#10;&#10;Description automatically generated">
            <a:extLst>
              <a:ext uri="{FF2B5EF4-FFF2-40B4-BE49-F238E27FC236}">
                <a16:creationId xmlns:a16="http://schemas.microsoft.com/office/drawing/2014/main" id="{089BD828-B2B4-8047-B4FC-A83824F3EE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8435" y="5964710"/>
            <a:ext cx="1123545" cy="685800"/>
          </a:xfrm>
          <a:prstGeom prst="rect">
            <a:avLst/>
          </a:prstGeom>
        </p:spPr>
      </p:pic>
      <p:sp>
        <p:nvSpPr>
          <p:cNvPr id="13" name="Rectangle 12">
            <a:extLst>
              <a:ext uri="{FF2B5EF4-FFF2-40B4-BE49-F238E27FC236}">
                <a16:creationId xmlns:a16="http://schemas.microsoft.com/office/drawing/2014/main" id="{244566AF-A633-244B-86B9-9F7FDADFCE7E}"/>
              </a:ext>
            </a:extLst>
          </p:cNvPr>
          <p:cNvSpPr/>
          <p:nvPr/>
        </p:nvSpPr>
        <p:spPr>
          <a:xfrm>
            <a:off x="6261795" y="5623362"/>
            <a:ext cx="401072" cy="369332"/>
          </a:xfrm>
          <a:prstGeom prst="rect">
            <a:avLst/>
          </a:prstGeom>
        </p:spPr>
        <p:txBody>
          <a:bodyPr wrap="none">
            <a:spAutoFit/>
          </a:bodyPr>
          <a:lstStyle/>
          <a:p>
            <a:r>
              <a:rPr lang="el-GR" i="1" dirty="0">
                <a:solidFill>
                  <a:srgbClr val="C00000"/>
                </a:solidFill>
                <a:latin typeface="STIXGeneral" pitchFamily="2" charset="2"/>
              </a:rPr>
              <a:t>ω </a:t>
            </a:r>
            <a:endParaRPr lang="el-GR" dirty="0">
              <a:solidFill>
                <a:srgbClr val="C00000"/>
              </a:solidFill>
            </a:endParaRPr>
          </a:p>
        </p:txBody>
      </p:sp>
      <p:cxnSp>
        <p:nvCxnSpPr>
          <p:cNvPr id="15" name="Straight Arrow Connector 14">
            <a:extLst>
              <a:ext uri="{FF2B5EF4-FFF2-40B4-BE49-F238E27FC236}">
                <a16:creationId xmlns:a16="http://schemas.microsoft.com/office/drawing/2014/main" id="{F8104103-E0F8-EA47-B6BF-8D57AD115EAB}"/>
              </a:ext>
            </a:extLst>
          </p:cNvPr>
          <p:cNvCxnSpPr/>
          <p:nvPr/>
        </p:nvCxnSpPr>
        <p:spPr>
          <a:xfrm flipH="1" flipV="1">
            <a:off x="5535828" y="5502026"/>
            <a:ext cx="775386" cy="28522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6" name="Rectangle 15">
            <a:extLst>
              <a:ext uri="{FF2B5EF4-FFF2-40B4-BE49-F238E27FC236}">
                <a16:creationId xmlns:a16="http://schemas.microsoft.com/office/drawing/2014/main" id="{6B374AEF-F346-A249-87F7-C87C3F28169F}"/>
              </a:ext>
            </a:extLst>
          </p:cNvPr>
          <p:cNvSpPr/>
          <p:nvPr/>
        </p:nvSpPr>
        <p:spPr>
          <a:xfrm>
            <a:off x="7794368" y="5445517"/>
            <a:ext cx="4397632" cy="1323439"/>
          </a:xfrm>
          <a:prstGeom prst="rect">
            <a:avLst/>
          </a:prstGeom>
        </p:spPr>
        <p:txBody>
          <a:bodyPr wrap="square">
            <a:spAutoFit/>
          </a:bodyPr>
          <a:lstStyle/>
          <a:p>
            <a:r>
              <a:rPr lang="en-US" sz="2000" b="1" dirty="0">
                <a:solidFill>
                  <a:srgbClr val="213866"/>
                </a:solidFill>
                <a:latin typeface="LiberationSans"/>
              </a:rPr>
              <a:t>Torque on a Boat Propeller </a:t>
            </a:r>
            <a:endParaRPr lang="en-US" sz="2000" dirty="0"/>
          </a:p>
          <a:p>
            <a:r>
              <a:rPr lang="en-US" sz="2000" dirty="0">
                <a:latin typeface="LiberationSerif"/>
              </a:rPr>
              <a:t>A boat engine operating at </a:t>
            </a:r>
            <a:r>
              <a:rPr lang="en-US" sz="2000" dirty="0">
                <a:latin typeface="STIXGeneral" pitchFamily="2" charset="2"/>
              </a:rPr>
              <a:t>9.0 × 10</a:t>
            </a:r>
            <a:r>
              <a:rPr lang="en-US" sz="2000" baseline="30000" dirty="0">
                <a:latin typeface="STIXGeneral" pitchFamily="2" charset="2"/>
              </a:rPr>
              <a:t>4</a:t>
            </a:r>
            <a:r>
              <a:rPr lang="en-US" sz="2000" dirty="0">
                <a:latin typeface="STIXGeneral" pitchFamily="2" charset="2"/>
              </a:rPr>
              <a:t> W </a:t>
            </a:r>
            <a:r>
              <a:rPr lang="en-US" sz="2000" dirty="0">
                <a:latin typeface="LiberationSerif"/>
              </a:rPr>
              <a:t>is running at 300 rev/min. What is the torque on the propeller shaft? </a:t>
            </a:r>
            <a:endParaRPr lang="en-US" sz="2000" dirty="0"/>
          </a:p>
        </p:txBody>
      </p:sp>
      <p:sp>
        <p:nvSpPr>
          <p:cNvPr id="17" name="Rectangle 16">
            <a:extLst>
              <a:ext uri="{FF2B5EF4-FFF2-40B4-BE49-F238E27FC236}">
                <a16:creationId xmlns:a16="http://schemas.microsoft.com/office/drawing/2014/main" id="{A875FB04-C98C-3A40-B103-5B405B35CF45}"/>
              </a:ext>
            </a:extLst>
          </p:cNvPr>
          <p:cNvSpPr/>
          <p:nvPr/>
        </p:nvSpPr>
        <p:spPr>
          <a:xfrm>
            <a:off x="7794368" y="5153796"/>
            <a:ext cx="6922262" cy="769441"/>
          </a:xfrm>
          <a:prstGeom prst="rect">
            <a:avLst/>
          </a:prstGeom>
        </p:spPr>
        <p:txBody>
          <a:bodyPr wrap="square">
            <a:spAutoFit/>
          </a:bodyPr>
          <a:lstStyle/>
          <a:p>
            <a:r>
              <a:rPr lang="en-US" sz="2200" dirty="0">
                <a:solidFill>
                  <a:srgbClr val="008000"/>
                </a:solidFill>
                <a:latin typeface="LiberationSans"/>
              </a:rPr>
              <a:t>Example</a:t>
            </a:r>
          </a:p>
          <a:p>
            <a:endParaRPr lang="en-US" sz="2200" dirty="0">
              <a:solidFill>
                <a:srgbClr val="003399"/>
              </a:solidFill>
            </a:endParaRPr>
          </a:p>
        </p:txBody>
      </p:sp>
      <p:pic>
        <p:nvPicPr>
          <p:cNvPr id="19" name="Picture 18" descr="Text&#10;&#10;Description automatically generated with medium confidence">
            <a:extLst>
              <a:ext uri="{FF2B5EF4-FFF2-40B4-BE49-F238E27FC236}">
                <a16:creationId xmlns:a16="http://schemas.microsoft.com/office/drawing/2014/main" id="{332AF999-E6F6-AD43-945D-F71BD5EE86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98992" y="1556950"/>
            <a:ext cx="3493008" cy="3200400"/>
          </a:xfrm>
          <a:prstGeom prst="rect">
            <a:avLst/>
          </a:prstGeom>
        </p:spPr>
      </p:pic>
      <p:sp>
        <p:nvSpPr>
          <p:cNvPr id="20" name="Rectangle 19">
            <a:extLst>
              <a:ext uri="{FF2B5EF4-FFF2-40B4-BE49-F238E27FC236}">
                <a16:creationId xmlns:a16="http://schemas.microsoft.com/office/drawing/2014/main" id="{DD1E3E71-E8FC-E04C-88D5-226372DFA576}"/>
              </a:ext>
            </a:extLst>
          </p:cNvPr>
          <p:cNvSpPr/>
          <p:nvPr/>
        </p:nvSpPr>
        <p:spPr>
          <a:xfrm>
            <a:off x="8756170" y="1036197"/>
            <a:ext cx="3353937" cy="584775"/>
          </a:xfrm>
          <a:prstGeom prst="rect">
            <a:avLst/>
          </a:prstGeom>
        </p:spPr>
        <p:txBody>
          <a:bodyPr wrap="square">
            <a:spAutoFit/>
          </a:bodyPr>
          <a:lstStyle/>
          <a:p>
            <a:r>
              <a:rPr lang="en-US" sz="1600" b="1" dirty="0">
                <a:solidFill>
                  <a:srgbClr val="D6542B"/>
                </a:solidFill>
                <a:latin typeface="LiberationSans"/>
              </a:rPr>
              <a:t>Rotational and Translational Equations: Dynamics </a:t>
            </a:r>
            <a:endParaRPr lang="en-US" sz="1600" dirty="0"/>
          </a:p>
        </p:txBody>
      </p:sp>
    </p:spTree>
    <p:extLst>
      <p:ext uri="{BB962C8B-B14F-4D97-AF65-F5344CB8AC3E}">
        <p14:creationId xmlns:p14="http://schemas.microsoft.com/office/powerpoint/2010/main" val="17236187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9BB3579-A34D-462C-BD05-B0BFCC66F7F5}"/>
              </a:ext>
            </a:extLst>
          </p:cNvPr>
          <p:cNvSpPr>
            <a:spLocks noGrp="1"/>
          </p:cNvSpPr>
          <p:nvPr>
            <p:ph type="title"/>
          </p:nvPr>
        </p:nvSpPr>
        <p:spPr/>
        <p:txBody>
          <a:bodyPr>
            <a:normAutofit/>
          </a:bodyPr>
          <a:lstStyle/>
          <a:p>
            <a:r>
              <a:rPr lang="en-US" dirty="0"/>
              <a:t>Attribution</a:t>
            </a:r>
          </a:p>
        </p:txBody>
      </p:sp>
      <p:sp>
        <p:nvSpPr>
          <p:cNvPr id="13" name="Text Placeholder 12">
            <a:extLst>
              <a:ext uri="{FF2B5EF4-FFF2-40B4-BE49-F238E27FC236}">
                <a16:creationId xmlns:a16="http://schemas.microsoft.com/office/drawing/2014/main" id="{1D300BD5-7725-41CA-8827-BBF2FEBB4465}"/>
              </a:ext>
            </a:extLst>
          </p:cNvPr>
          <p:cNvSpPr>
            <a:spLocks noGrp="1"/>
          </p:cNvSpPr>
          <p:nvPr>
            <p:ph type="body" idx="1"/>
          </p:nvPr>
        </p:nvSpPr>
        <p:spPr/>
        <p:txBody>
          <a:bodyPr/>
          <a:lstStyle/>
          <a:p>
            <a:r>
              <a:rPr lang="en-US" dirty="0"/>
              <a:t>These slides are a derivative of the “</a:t>
            </a:r>
            <a:r>
              <a:rPr lang="en-US" dirty="0">
                <a:hlinkClick r:id="rId2"/>
              </a:rPr>
              <a:t>University Physics Vol. 1</a:t>
            </a:r>
            <a:r>
              <a:rPr lang="en-US" dirty="0"/>
              <a:t>” slides by </a:t>
            </a:r>
            <a:r>
              <a:rPr lang="en-US" dirty="0">
                <a:hlinkClick r:id="rId3"/>
              </a:rPr>
              <a:t>OpenStax</a:t>
            </a:r>
            <a:r>
              <a:rPr lang="en-US" dirty="0"/>
              <a:t>, used under a </a:t>
            </a:r>
            <a:r>
              <a:rPr lang="en-US" dirty="0">
                <a:hlinkClick r:id="rId4"/>
              </a:rPr>
              <a:t>Creative Commons Attribution 4.0 </a:t>
            </a:r>
            <a:r>
              <a:rPr lang="en-US" dirty="0"/>
              <a:t>license by Mkhitar Hobosyan.</a:t>
            </a:r>
          </a:p>
        </p:txBody>
      </p:sp>
    </p:spTree>
    <p:extLst>
      <p:ext uri="{BB962C8B-B14F-4D97-AF65-F5344CB8AC3E}">
        <p14:creationId xmlns:p14="http://schemas.microsoft.com/office/powerpoint/2010/main" val="2322645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11005</TotalTime>
  <Words>3255</Words>
  <Application>Microsoft Office PowerPoint</Application>
  <PresentationFormat>Widescreen</PresentationFormat>
  <Paragraphs>257</Paragraphs>
  <Slides>35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Arial</vt:lpstr>
      <vt:lpstr>Calibri</vt:lpstr>
      <vt:lpstr>Calibri Light</vt:lpstr>
      <vt:lpstr>Cambria Math</vt:lpstr>
      <vt:lpstr>LiberationSans</vt:lpstr>
      <vt:lpstr>LiberationSerif</vt:lpstr>
      <vt:lpstr>NewBaskervilleStd-Roman</vt:lpstr>
      <vt:lpstr>STIXGeneral</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Mkhitar Hobosyan</dc:creator>
  <cp:lastModifiedBy>Justin White</cp:lastModifiedBy>
  <cp:revision>318</cp:revision>
  <dcterms:created xsi:type="dcterms:W3CDTF">2020-07-24T02:56:39Z</dcterms:created>
  <dcterms:modified xsi:type="dcterms:W3CDTF">2021-12-15T17:54:15Z</dcterms:modified>
</cp:coreProperties>
</file>