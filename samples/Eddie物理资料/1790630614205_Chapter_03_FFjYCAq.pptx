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8"/>
  </p:notesMasterIdLst>
  <p:sldIdLst>
    <p:sldId id="298" r:id="rId2"/>
    <p:sldId id="337" r:id="rId3"/>
    <p:sldId id="424" r:id="rId4"/>
    <p:sldId id="429" r:id="rId5"/>
    <p:sldId id="451" r:id="rId6"/>
    <p:sldId id="453" r:id="rId7"/>
    <p:sldId id="425" r:id="rId8"/>
    <p:sldId id="426" r:id="rId9"/>
    <p:sldId id="430" r:id="rId10"/>
    <p:sldId id="427" r:id="rId11"/>
    <p:sldId id="452" r:id="rId12"/>
    <p:sldId id="428" r:id="rId13"/>
    <p:sldId id="404" r:id="rId14"/>
    <p:sldId id="431" r:id="rId15"/>
    <p:sldId id="432" r:id="rId16"/>
    <p:sldId id="434" r:id="rId17"/>
    <p:sldId id="454" r:id="rId18"/>
    <p:sldId id="433" r:id="rId19"/>
    <p:sldId id="435" r:id="rId20"/>
    <p:sldId id="441" r:id="rId21"/>
    <p:sldId id="436" r:id="rId22"/>
    <p:sldId id="455" r:id="rId23"/>
    <p:sldId id="437" r:id="rId24"/>
    <p:sldId id="448" r:id="rId25"/>
    <p:sldId id="449" r:id="rId26"/>
    <p:sldId id="36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008000"/>
    <a:srgbClr val="0000CC"/>
    <a:srgbClr val="003399"/>
    <a:srgbClr val="3B124D"/>
    <a:srgbClr val="3611D3"/>
    <a:srgbClr val="A50021"/>
    <a:srgbClr val="FF6600"/>
    <a:srgbClr val="CCECFF"/>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404" autoAdjust="0"/>
    <p:restoredTop sz="94113" autoAdjust="0"/>
  </p:normalViewPr>
  <p:slideViewPr>
    <p:cSldViewPr snapToGrid="0">
      <p:cViewPr varScale="1">
        <p:scale>
          <a:sx n="78" d="100"/>
          <a:sy n="78" d="100"/>
        </p:scale>
        <p:origin x="82" y="125"/>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8A8A30-7305-4ECD-9707-8185AE31915A}" type="datetimeFigureOut">
              <a:rPr lang="en-US" smtClean="0"/>
              <a:t>12/15/2021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271F1-787B-4F17-8E58-0893057F05A7}" type="slidenum">
              <a:rPr lang="en-US" smtClean="0"/>
              <a:t>‹#›</a:t>
            </a:fld>
            <a:endParaRPr lang="en-US"/>
          </a:p>
        </p:txBody>
      </p:sp>
    </p:spTree>
    <p:extLst>
      <p:ext uri="{BB962C8B-B14F-4D97-AF65-F5344CB8AC3E}">
        <p14:creationId xmlns:p14="http://schemas.microsoft.com/office/powerpoint/2010/main" val="1295167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7923343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6773116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0256117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9486571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6CE86D-487B-4DC5-AD96-B605C5D30EBA}" type="datetimeFigureOut">
              <a:rPr lang="en-US" smtClean="0"/>
              <a:t>12/15/2021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23568542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6CE86D-487B-4DC5-AD96-B605C5D30EBA}" type="datetimeFigureOut">
              <a:rPr lang="en-US" smtClean="0"/>
              <a:t>12/15/2021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7110350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6CE86D-487B-4DC5-AD96-B605C5D30EBA}" type="datetimeFigureOut">
              <a:rPr lang="en-US" smtClean="0"/>
              <a:t>12/15/2021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649651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5890743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6CE86D-487B-4DC5-AD96-B605C5D30EBA}" type="datetimeFigureOut">
              <a:rPr lang="en-US" smtClean="0"/>
              <a:t>12/15/2021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4917863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32419522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6CE86D-487B-4DC5-AD96-B605C5D30EBA}" type="datetimeFigureOut">
              <a:rPr lang="en-US" smtClean="0"/>
              <a:t>12/15/2021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A1DDD8-2086-495A-9395-F2E7DBF98025}" type="slidenum">
              <a:rPr lang="en-US" smtClean="0"/>
              <a:t>‹#›</a:t>
            </a:fld>
            <a:endParaRPr lang="en-US"/>
          </a:p>
        </p:txBody>
      </p:sp>
    </p:spTree>
    <p:extLst>
      <p:ext uri="{BB962C8B-B14F-4D97-AF65-F5344CB8AC3E}">
        <p14:creationId xmlns:p14="http://schemas.microsoft.com/office/powerpoint/2010/main" val="14244272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6CE86D-487B-4DC5-AD96-B605C5D30EBA}" type="datetimeFigureOut">
              <a:rPr lang="en-US" smtClean="0"/>
              <a:t>12/15/2021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A1DDD8-2086-495A-9395-F2E7DBF98025}" type="slidenum">
              <a:rPr lang="en-US" smtClean="0"/>
              <a:t>‹#›</a:t>
            </a:fld>
            <a:endParaRPr lang="en-US"/>
          </a:p>
        </p:txBody>
      </p:sp>
    </p:spTree>
    <p:extLst>
      <p:ext uri="{BB962C8B-B14F-4D97-AF65-F5344CB8AC3E}">
        <p14:creationId xmlns:p14="http://schemas.microsoft.com/office/powerpoint/2010/main" val="18687958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hyperlink" Target="https://openstax.org/details/books/university-physics-volume-1"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hyperlink" Target="http://www.projectglobalawakening.com/cartesian-coordinate-system/" TargetMode="Externa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16.jpe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10.png"/><Relationship Id="rId7" Type="http://schemas.openxmlformats.org/officeDocument/2006/relationships/image" Target="../media/image17.jp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9.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jp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7" Type="http://schemas.openxmlformats.org/officeDocument/2006/relationships/image" Target="../media/image25.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jp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hyperlink" Target="https://phet.colorado.edu/sims/cheerpj/moving-man/latest/moving-man.html?simulation=moving-man" TargetMode="External"/><Relationship Id="rId5" Type="http://schemas.openxmlformats.org/officeDocument/2006/relationships/image" Target="../media/image28.jpg"/><Relationship Id="rId4" Type="http://schemas.openxmlformats.org/officeDocument/2006/relationships/image" Target="../media/image27.jp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1.jpe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18" Type="http://schemas.openxmlformats.org/officeDocument/2006/relationships/image" Target="../media/image51.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17" Type="http://schemas.openxmlformats.org/officeDocument/2006/relationships/image" Target="../media/image50.png"/><Relationship Id="rId2" Type="http://schemas.openxmlformats.org/officeDocument/2006/relationships/image" Target="../media/image3.jpeg"/><Relationship Id="rId16"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2.jpeg"/></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2.jpeg"/></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54.jpg"/><Relationship Id="rId4" Type="http://schemas.openxmlformats.org/officeDocument/2006/relationships/image" Target="../media/image53.jpeg"/></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23.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6.jpeg"/><Relationship Id="rId7" Type="http://schemas.openxmlformats.org/officeDocument/2006/relationships/image" Target="../media/image58.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hyperlink" Target="https://www.youtube.com/watch?v=KDp1tiUsZw8&amp;ab_channel=AIRBOYD" TargetMode="External"/><Relationship Id="rId4" Type="http://schemas.openxmlformats.org/officeDocument/2006/relationships/hyperlink" Target="https://www.youtube.com/watch?v=E43-CfukEgs&amp;ab_channel=BBC" TargetMode="External"/><Relationship Id="rId9"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jp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2.pn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26.xml.rels><?xml version="1.0" encoding="UTF-8" standalone="yes"?>
<Relationships xmlns="http://schemas.openxmlformats.org/package/2006/relationships"><Relationship Id="rId3" Type="http://schemas.openxmlformats.org/officeDocument/2006/relationships/hyperlink" Target="https://openstax.org/" TargetMode="External"/><Relationship Id="rId2" Type="http://schemas.openxmlformats.org/officeDocument/2006/relationships/hyperlink" Target="https://openstax.org/details/books/university-physics-volume-1" TargetMode="External"/><Relationship Id="rId1" Type="http://schemas.openxmlformats.org/officeDocument/2006/relationships/slideLayout" Target="../slideLayouts/slideLayout3.xml"/><Relationship Id="rId4" Type="http://schemas.openxmlformats.org/officeDocument/2006/relationships/hyperlink" Target="https://creativecommons.org/licenses/by/4.0/"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0" name="Freeform: Shape 69">
            <a:extLst>
              <a:ext uri="{FF2B5EF4-FFF2-40B4-BE49-F238E27FC236}">
                <a16:creationId xmlns:a16="http://schemas.microsoft.com/office/drawing/2014/main" id="{0C526D66-3621-4347-B1EF-342CBF4DB9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3466"/>
            <a:ext cx="5393770" cy="6374535"/>
          </a:xfrm>
          <a:custGeom>
            <a:avLst/>
            <a:gdLst>
              <a:gd name="connsiteX0" fmla="*/ 2047752 w 5393770"/>
              <a:gd name="connsiteY0" fmla="*/ 0 h 6374535"/>
              <a:gd name="connsiteX1" fmla="*/ 5393770 w 5393770"/>
              <a:gd name="connsiteY1" fmla="*/ 3346018 h 6374535"/>
              <a:gd name="connsiteX2" fmla="*/ 3642663 w 5393770"/>
              <a:gd name="connsiteY2" fmla="*/ 6288190 h 6374535"/>
              <a:gd name="connsiteX3" fmla="*/ 3463422 w 5393770"/>
              <a:gd name="connsiteY3" fmla="*/ 6374535 h 6374535"/>
              <a:gd name="connsiteX4" fmla="*/ 624279 w 5393770"/>
              <a:gd name="connsiteY4" fmla="*/ 6374535 h 6374535"/>
              <a:gd name="connsiteX5" fmla="*/ 382249 w 5393770"/>
              <a:gd name="connsiteY5" fmla="*/ 6248727 h 6374535"/>
              <a:gd name="connsiteX6" fmla="*/ 143729 w 5393770"/>
              <a:gd name="connsiteY6" fmla="*/ 6097845 h 6374535"/>
              <a:gd name="connsiteX7" fmla="*/ 0 w 5393770"/>
              <a:gd name="connsiteY7" fmla="*/ 5989017 h 6374535"/>
              <a:gd name="connsiteX8" fmla="*/ 0 w 5393770"/>
              <a:gd name="connsiteY8" fmla="*/ 703020 h 6374535"/>
              <a:gd name="connsiteX9" fmla="*/ 143728 w 5393770"/>
              <a:gd name="connsiteY9" fmla="*/ 594191 h 6374535"/>
              <a:gd name="connsiteX10" fmla="*/ 2047752 w 5393770"/>
              <a:gd name="connsiteY10" fmla="*/ 0 h 6374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393770" h="6374535">
                <a:moveTo>
                  <a:pt x="2047752" y="0"/>
                </a:moveTo>
                <a:cubicBezTo>
                  <a:pt x="3895707" y="0"/>
                  <a:pt x="5393770" y="1498063"/>
                  <a:pt x="5393770" y="3346018"/>
                </a:cubicBezTo>
                <a:cubicBezTo>
                  <a:pt x="5393770" y="4616487"/>
                  <a:pt x="4685701" y="5721578"/>
                  <a:pt x="3642663" y="6288190"/>
                </a:cubicBezTo>
                <a:lnTo>
                  <a:pt x="3463422" y="6374535"/>
                </a:lnTo>
                <a:lnTo>
                  <a:pt x="624279" y="6374535"/>
                </a:lnTo>
                <a:lnTo>
                  <a:pt x="382249" y="6248727"/>
                </a:lnTo>
                <a:cubicBezTo>
                  <a:pt x="300507" y="6201724"/>
                  <a:pt x="220937" y="6151368"/>
                  <a:pt x="143729" y="6097845"/>
                </a:cubicBezTo>
                <a:lnTo>
                  <a:pt x="0" y="5989017"/>
                </a:lnTo>
                <a:lnTo>
                  <a:pt x="0" y="703020"/>
                </a:lnTo>
                <a:lnTo>
                  <a:pt x="143728" y="594191"/>
                </a:lnTo>
                <a:cubicBezTo>
                  <a:pt x="684187" y="219535"/>
                  <a:pt x="1340332" y="0"/>
                  <a:pt x="2047752"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2" name="Freeform: Shape 71">
            <a:extLst>
              <a:ext uri="{FF2B5EF4-FFF2-40B4-BE49-F238E27FC236}">
                <a16:creationId xmlns:a16="http://schemas.microsoft.com/office/drawing/2014/main" id="{0193166D-DDF1-4F9A-A786-A7AEF5375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7373"/>
            <a:ext cx="5229863" cy="6210629"/>
          </a:xfrm>
          <a:custGeom>
            <a:avLst/>
            <a:gdLst>
              <a:gd name="connsiteX0" fmla="*/ 2047751 w 5229863"/>
              <a:gd name="connsiteY0" fmla="*/ 0 h 6210629"/>
              <a:gd name="connsiteX1" fmla="*/ 5229863 w 5229863"/>
              <a:gd name="connsiteY1" fmla="*/ 3182112 h 6210629"/>
              <a:gd name="connsiteX2" fmla="*/ 3286373 w 5229863"/>
              <a:gd name="connsiteY2" fmla="*/ 6114158 h 6210629"/>
              <a:gd name="connsiteX3" fmla="*/ 3022794 w 5229863"/>
              <a:gd name="connsiteY3" fmla="*/ 6210629 h 6210629"/>
              <a:gd name="connsiteX4" fmla="*/ 1077939 w 5229863"/>
              <a:gd name="connsiteY4" fmla="*/ 6210629 h 6210629"/>
              <a:gd name="connsiteX5" fmla="*/ 953634 w 5229863"/>
              <a:gd name="connsiteY5" fmla="*/ 6171135 h 6210629"/>
              <a:gd name="connsiteX6" fmla="*/ 23632 w 5229863"/>
              <a:gd name="connsiteY6" fmla="*/ 5637585 h 6210629"/>
              <a:gd name="connsiteX7" fmla="*/ 0 w 5229863"/>
              <a:gd name="connsiteY7" fmla="*/ 5616107 h 6210629"/>
              <a:gd name="connsiteX8" fmla="*/ 0 w 5229863"/>
              <a:gd name="connsiteY8" fmla="*/ 748118 h 6210629"/>
              <a:gd name="connsiteX9" fmla="*/ 23632 w 5229863"/>
              <a:gd name="connsiteY9" fmla="*/ 726640 h 6210629"/>
              <a:gd name="connsiteX10" fmla="*/ 2047751 w 5229863"/>
              <a:gd name="connsiteY10" fmla="*/ 0 h 62106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29863" h="6210629">
                <a:moveTo>
                  <a:pt x="2047751" y="0"/>
                </a:moveTo>
                <a:cubicBezTo>
                  <a:pt x="3805183" y="0"/>
                  <a:pt x="5229863" y="1424680"/>
                  <a:pt x="5229863" y="3182112"/>
                </a:cubicBezTo>
                <a:cubicBezTo>
                  <a:pt x="5229863" y="4500186"/>
                  <a:pt x="4428481" y="5631087"/>
                  <a:pt x="3286373" y="6114158"/>
                </a:cubicBezTo>
                <a:lnTo>
                  <a:pt x="3022794" y="6210629"/>
                </a:lnTo>
                <a:lnTo>
                  <a:pt x="1077939" y="6210629"/>
                </a:lnTo>
                <a:lnTo>
                  <a:pt x="953634" y="6171135"/>
                </a:lnTo>
                <a:cubicBezTo>
                  <a:pt x="612471" y="6046219"/>
                  <a:pt x="298661" y="5864559"/>
                  <a:pt x="23632" y="5637585"/>
                </a:cubicBezTo>
                <a:lnTo>
                  <a:pt x="0" y="5616107"/>
                </a:lnTo>
                <a:lnTo>
                  <a:pt x="0" y="748118"/>
                </a:lnTo>
                <a:lnTo>
                  <a:pt x="23632" y="726640"/>
                </a:lnTo>
                <a:cubicBezTo>
                  <a:pt x="573689" y="272693"/>
                  <a:pt x="1278875" y="0"/>
                  <a:pt x="2047751"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4" name="Freeform: Shape 73">
            <a:extLst>
              <a:ext uri="{FF2B5EF4-FFF2-40B4-BE49-F238E27FC236}">
                <a16:creationId xmlns:a16="http://schemas.microsoft.com/office/drawing/2014/main" id="{8A177BCC-4208-4795-8572-4D623BA1E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33763" y="1"/>
            <a:ext cx="4480560" cy="2513993"/>
          </a:xfrm>
          <a:custGeom>
            <a:avLst/>
            <a:gdLst>
              <a:gd name="connsiteX0" fmla="*/ 18382 w 4480560"/>
              <a:gd name="connsiteY0" fmla="*/ 0 h 2513993"/>
              <a:gd name="connsiteX1" fmla="*/ 4462178 w 4480560"/>
              <a:gd name="connsiteY1" fmla="*/ 0 h 2513993"/>
              <a:gd name="connsiteX2" fmla="*/ 4468994 w 4480560"/>
              <a:gd name="connsiteY2" fmla="*/ 44657 h 2513993"/>
              <a:gd name="connsiteX3" fmla="*/ 4480560 w 4480560"/>
              <a:gd name="connsiteY3" fmla="*/ 273713 h 2513993"/>
              <a:gd name="connsiteX4" fmla="*/ 2240280 w 4480560"/>
              <a:gd name="connsiteY4" fmla="*/ 2513993 h 2513993"/>
              <a:gd name="connsiteX5" fmla="*/ 0 w 4480560"/>
              <a:gd name="connsiteY5" fmla="*/ 273713 h 2513993"/>
              <a:gd name="connsiteX6" fmla="*/ 11567 w 4480560"/>
              <a:gd name="connsiteY6" fmla="*/ 44657 h 25139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0560" h="2513993">
                <a:moveTo>
                  <a:pt x="18382" y="0"/>
                </a:moveTo>
                <a:lnTo>
                  <a:pt x="4462178" y="0"/>
                </a:lnTo>
                <a:lnTo>
                  <a:pt x="4468994" y="44657"/>
                </a:lnTo>
                <a:cubicBezTo>
                  <a:pt x="4476642" y="119969"/>
                  <a:pt x="4480560" y="196384"/>
                  <a:pt x="4480560" y="273713"/>
                </a:cubicBezTo>
                <a:cubicBezTo>
                  <a:pt x="4480560" y="1510985"/>
                  <a:pt x="3477552" y="2513993"/>
                  <a:pt x="2240280" y="2513993"/>
                </a:cubicBezTo>
                <a:cubicBezTo>
                  <a:pt x="1003008" y="2513993"/>
                  <a:pt x="0" y="1510985"/>
                  <a:pt x="0" y="273713"/>
                </a:cubicBezTo>
                <a:cubicBezTo>
                  <a:pt x="0" y="196384"/>
                  <a:pt x="3918" y="119969"/>
                  <a:pt x="11567" y="44657"/>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6" name="Freeform: Shape 75">
            <a:extLst>
              <a:ext uri="{FF2B5EF4-FFF2-40B4-BE49-F238E27FC236}">
                <a16:creationId xmlns:a16="http://schemas.microsoft.com/office/drawing/2014/main" id="{E4EE7214-AC05-465E-A501-65AA04EF5E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98355" y="2"/>
            <a:ext cx="4151376" cy="2349401"/>
          </a:xfrm>
          <a:custGeom>
            <a:avLst/>
            <a:gdLst>
              <a:gd name="connsiteX0" fmla="*/ 20101 w 4151376"/>
              <a:gd name="connsiteY0" fmla="*/ 0 h 2349401"/>
              <a:gd name="connsiteX1" fmla="*/ 4131276 w 4151376"/>
              <a:gd name="connsiteY1" fmla="*/ 0 h 2349401"/>
              <a:gd name="connsiteX2" fmla="*/ 4140659 w 4151376"/>
              <a:gd name="connsiteY2" fmla="*/ 61486 h 2349401"/>
              <a:gd name="connsiteX3" fmla="*/ 4151376 w 4151376"/>
              <a:gd name="connsiteY3" fmla="*/ 273713 h 2349401"/>
              <a:gd name="connsiteX4" fmla="*/ 2075688 w 4151376"/>
              <a:gd name="connsiteY4" fmla="*/ 2349401 h 2349401"/>
              <a:gd name="connsiteX5" fmla="*/ 0 w 4151376"/>
              <a:gd name="connsiteY5" fmla="*/ 273713 h 2349401"/>
              <a:gd name="connsiteX6" fmla="*/ 10717 w 4151376"/>
              <a:gd name="connsiteY6" fmla="*/ 61486 h 2349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51376" h="2349401">
                <a:moveTo>
                  <a:pt x="20101" y="0"/>
                </a:moveTo>
                <a:lnTo>
                  <a:pt x="4131276" y="0"/>
                </a:lnTo>
                <a:lnTo>
                  <a:pt x="4140659" y="61486"/>
                </a:lnTo>
                <a:cubicBezTo>
                  <a:pt x="4147746" y="131265"/>
                  <a:pt x="4151376" y="202065"/>
                  <a:pt x="4151376" y="273713"/>
                </a:cubicBezTo>
                <a:cubicBezTo>
                  <a:pt x="4151376" y="1420084"/>
                  <a:pt x="3222059" y="2349401"/>
                  <a:pt x="2075688" y="2349401"/>
                </a:cubicBezTo>
                <a:cubicBezTo>
                  <a:pt x="929317" y="2349401"/>
                  <a:pt x="0" y="1420084"/>
                  <a:pt x="0" y="273713"/>
                </a:cubicBezTo>
                <a:cubicBezTo>
                  <a:pt x="0" y="202065"/>
                  <a:pt x="3630" y="131265"/>
                  <a:pt x="10717" y="6148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2">
            <a:extLst>
              <a:ext uri="{FF2B5EF4-FFF2-40B4-BE49-F238E27FC236}">
                <a16:creationId xmlns:a16="http://schemas.microsoft.com/office/drawing/2014/main" id="{5E62A1D4-056C-4BD6-8BAE-F355EA770FD7}"/>
              </a:ext>
            </a:extLst>
          </p:cNvPr>
          <p:cNvSpPr txBox="1">
            <a:spLocks/>
          </p:cNvSpPr>
          <p:nvPr/>
        </p:nvSpPr>
        <p:spPr>
          <a:xfrm>
            <a:off x="8284867" y="4582740"/>
            <a:ext cx="3801498" cy="1587648"/>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t>Chapter 3 </a:t>
            </a:r>
          </a:p>
          <a:p>
            <a:pPr>
              <a:spcAft>
                <a:spcPts val="600"/>
              </a:spcAft>
            </a:pPr>
            <a:r>
              <a:rPr lang="en-US" altLang="en-US" sz="3200" dirty="0"/>
              <a:t>Motion along a </a:t>
            </a:r>
          </a:p>
          <a:p>
            <a:pPr>
              <a:spcAft>
                <a:spcPts val="600"/>
              </a:spcAft>
            </a:pPr>
            <a:r>
              <a:rPr lang="en-US" altLang="en-US" sz="3200" dirty="0"/>
              <a:t>straight line</a:t>
            </a:r>
          </a:p>
        </p:txBody>
      </p:sp>
      <p:sp>
        <p:nvSpPr>
          <p:cNvPr id="4" name="Rectangle 2">
            <a:extLst>
              <a:ext uri="{FF2B5EF4-FFF2-40B4-BE49-F238E27FC236}">
                <a16:creationId xmlns:a16="http://schemas.microsoft.com/office/drawing/2014/main" id="{0546D111-6592-4E70-8C6B-D34F7E8A89B8}"/>
              </a:ext>
            </a:extLst>
          </p:cNvPr>
          <p:cNvSpPr txBox="1">
            <a:spLocks/>
          </p:cNvSpPr>
          <p:nvPr/>
        </p:nvSpPr>
        <p:spPr>
          <a:xfrm>
            <a:off x="4578397" y="102044"/>
            <a:ext cx="5756227" cy="1587648"/>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Aft>
                <a:spcPts val="600"/>
              </a:spcAft>
            </a:pPr>
            <a:r>
              <a:rPr lang="en-US" altLang="en-US" sz="3200" dirty="0">
                <a:solidFill>
                  <a:srgbClr val="0000CC"/>
                </a:solidFill>
              </a:rPr>
              <a:t>PHYS 2425  </a:t>
            </a:r>
          </a:p>
          <a:p>
            <a:pPr>
              <a:spcAft>
                <a:spcPts val="600"/>
              </a:spcAft>
            </a:pPr>
            <a:r>
              <a:rPr lang="en-US" altLang="en-US" sz="3200" dirty="0">
                <a:solidFill>
                  <a:srgbClr val="0000CC"/>
                </a:solidFill>
              </a:rPr>
              <a:t>Physics for Scientists </a:t>
            </a:r>
          </a:p>
          <a:p>
            <a:pPr>
              <a:spcAft>
                <a:spcPts val="600"/>
              </a:spcAft>
            </a:pPr>
            <a:r>
              <a:rPr lang="en-US" altLang="en-US" sz="3200" dirty="0">
                <a:solidFill>
                  <a:srgbClr val="0000CC"/>
                </a:solidFill>
              </a:rPr>
              <a:t>and Engineers I</a:t>
            </a:r>
          </a:p>
        </p:txBody>
      </p:sp>
      <p:pic>
        <p:nvPicPr>
          <p:cNvPr id="5" name="Picture 4" descr="A picture containing text&#10;&#10;Description automatically generated">
            <a:extLst>
              <a:ext uri="{FF2B5EF4-FFF2-40B4-BE49-F238E27FC236}">
                <a16:creationId xmlns:a16="http://schemas.microsoft.com/office/drawing/2014/main" id="{00364511-71A3-4D48-AC90-C9D92CFAE6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635" y="1320950"/>
            <a:ext cx="3888245" cy="5029200"/>
          </a:xfrm>
          <a:prstGeom prst="rect">
            <a:avLst/>
          </a:prstGeom>
        </p:spPr>
      </p:pic>
      <p:sp>
        <p:nvSpPr>
          <p:cNvPr id="9" name="Rectangle 8">
            <a:extLst>
              <a:ext uri="{FF2B5EF4-FFF2-40B4-BE49-F238E27FC236}">
                <a16:creationId xmlns:a16="http://schemas.microsoft.com/office/drawing/2014/main" id="{524225FA-6C77-8B48-B8FF-D02A53285D2F}"/>
              </a:ext>
            </a:extLst>
          </p:cNvPr>
          <p:cNvSpPr/>
          <p:nvPr/>
        </p:nvSpPr>
        <p:spPr>
          <a:xfrm>
            <a:off x="895268" y="6317187"/>
            <a:ext cx="2018620" cy="553998"/>
          </a:xfrm>
          <a:prstGeom prst="rect">
            <a:avLst/>
          </a:prstGeom>
        </p:spPr>
        <p:txBody>
          <a:bodyPr wrap="square">
            <a:spAutoFit/>
          </a:bodyPr>
          <a:lstStyle/>
          <a:p>
            <a:r>
              <a:rPr lang="en-US" sz="1000" dirty="0">
                <a:solidFill>
                  <a:srgbClr val="A50021"/>
                </a:solidFill>
                <a:latin typeface="Calibri" panose="020F0502020204030204" pitchFamily="34" charset="0"/>
              </a:rPr>
              <a:t>Download the textbook for free at </a:t>
            </a:r>
            <a:r>
              <a:rPr lang="en-US" sz="1000" dirty="0">
                <a:solidFill>
                  <a:srgbClr val="A50021"/>
                </a:solidFill>
                <a:latin typeface="Calibri" panose="020F0502020204030204" pitchFamily="34" charset="0"/>
                <a:hlinkClick r:id="rId4"/>
              </a:rPr>
              <a:t>https://openstax.org/details/books/university-physics-volume-1</a:t>
            </a:r>
            <a:r>
              <a:rPr lang="en-US" sz="1000" dirty="0">
                <a:solidFill>
                  <a:srgbClr val="A50021"/>
                </a:solidFill>
                <a:latin typeface="Calibri" panose="020F0502020204030204" pitchFamily="34" charset="0"/>
              </a:rPr>
              <a:t> </a:t>
            </a:r>
            <a:endParaRPr lang="en-US" sz="1000" dirty="0">
              <a:solidFill>
                <a:srgbClr val="A50021"/>
              </a:solidFill>
              <a:effectLst/>
            </a:endParaRPr>
          </a:p>
        </p:txBody>
      </p:sp>
      <p:sp>
        <p:nvSpPr>
          <p:cNvPr id="10" name="Rectangle 9">
            <a:extLst>
              <a:ext uri="{FF2B5EF4-FFF2-40B4-BE49-F238E27FC236}">
                <a16:creationId xmlns:a16="http://schemas.microsoft.com/office/drawing/2014/main" id="{0F7B427F-99C8-C74D-B61F-8F041FEB891B}"/>
              </a:ext>
            </a:extLst>
          </p:cNvPr>
          <p:cNvSpPr/>
          <p:nvPr/>
        </p:nvSpPr>
        <p:spPr>
          <a:xfrm>
            <a:off x="8751059" y="6624964"/>
            <a:ext cx="3801498" cy="246221"/>
          </a:xfrm>
          <a:prstGeom prst="rect">
            <a:avLst/>
          </a:prstGeom>
        </p:spPr>
        <p:txBody>
          <a:bodyPr wrap="square">
            <a:spAutoFit/>
          </a:bodyPr>
          <a:lstStyle/>
          <a:p>
            <a:r>
              <a:rPr lang="en-US" sz="1000" dirty="0"/>
              <a:t>Image credit: modification of work by “Maryland </a:t>
            </a:r>
            <a:r>
              <a:rPr lang="en-US" sz="1000" dirty="0" err="1"/>
              <a:t>GovPics</a:t>
            </a:r>
            <a:r>
              <a:rPr lang="en-US" sz="1000" dirty="0"/>
              <a:t>”/Flickr </a:t>
            </a:r>
          </a:p>
        </p:txBody>
      </p:sp>
    </p:spTree>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710733-338A-9A45-A77B-9B015AFDC0F8}"/>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Position, Displacement, and Average Velocity </a:t>
            </a:r>
          </a:p>
        </p:txBody>
      </p:sp>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pic>
        <p:nvPicPr>
          <p:cNvPr id="11" name="Picture Placeholder 1" descr="Picture shows three people riding bicycles next to a canal.">
            <a:extLst>
              <a:ext uri="{FF2B5EF4-FFF2-40B4-BE49-F238E27FC236}">
                <a16:creationId xmlns:a16="http://schemas.microsoft.com/office/drawing/2014/main" id="{5741A47B-AACA-F644-80AF-1469E55453E5}"/>
              </a:ext>
            </a:extLst>
          </p:cNvPr>
          <p:cNvPicPr>
            <a:picLocks noChangeAspect="1"/>
          </p:cNvPicPr>
          <p:nvPr/>
        </p:nvPicPr>
        <p:blipFill>
          <a:blip r:embed="rId3">
            <a:extLst>
              <a:ext uri="{28A0092B-C50C-407E-A947-70E740481C1C}">
                <a14:useLocalDpi xmlns:a14="http://schemas.microsoft.com/office/drawing/2010/main" val="0"/>
              </a:ext>
            </a:extLst>
          </a:blip>
          <a:srcRect l="-36564" r="-36564"/>
          <a:stretch>
            <a:fillRect/>
          </a:stretch>
        </p:blipFill>
        <p:spPr>
          <a:xfrm>
            <a:off x="5294022" y="1266023"/>
            <a:ext cx="8062913" cy="3500071"/>
          </a:xfrm>
          <a:prstGeom prst="rect">
            <a:avLst/>
          </a:prstGeom>
        </p:spPr>
      </p:pic>
      <p:sp>
        <p:nvSpPr>
          <p:cNvPr id="12" name="Text Placeholder 6">
            <a:extLst>
              <a:ext uri="{FF2B5EF4-FFF2-40B4-BE49-F238E27FC236}">
                <a16:creationId xmlns:a16="http://schemas.microsoft.com/office/drawing/2014/main" id="{87A79925-B4A8-FB4A-BA78-CEF572860AC4}"/>
              </a:ext>
            </a:extLst>
          </p:cNvPr>
          <p:cNvSpPr txBox="1">
            <a:spLocks/>
          </p:cNvSpPr>
          <p:nvPr/>
        </p:nvSpPr>
        <p:spPr>
          <a:xfrm>
            <a:off x="6912267" y="4823246"/>
            <a:ext cx="5154026" cy="1729664"/>
          </a:xfrm>
          <a:prstGeom prst="rect">
            <a:avLst/>
          </a:prstGeom>
        </p:spPr>
        <p:txBody>
          <a:bodyPr>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0066"/>
                </a:solidFill>
              </a:rPr>
              <a:t>These cyclists in Vietnam can be described by their position relative to buildings or a canal. Their motion can be described by their change in position, or displacement, in a frame of reference. </a:t>
            </a:r>
          </a:p>
          <a:p>
            <a:pPr marL="0" indent="0">
              <a:buNone/>
            </a:pPr>
            <a:r>
              <a:rPr lang="en-US" sz="1200" dirty="0">
                <a:solidFill>
                  <a:srgbClr val="000066"/>
                </a:solidFill>
              </a:rPr>
              <a:t>(credit: Suzan Black)</a:t>
            </a:r>
          </a:p>
        </p:txBody>
      </p:sp>
      <p:sp>
        <p:nvSpPr>
          <p:cNvPr id="3" name="Rectangle 2">
            <a:extLst>
              <a:ext uri="{FF2B5EF4-FFF2-40B4-BE49-F238E27FC236}">
                <a16:creationId xmlns:a16="http://schemas.microsoft.com/office/drawing/2014/main" id="{3417EE56-C07D-7242-8828-4679BD8DDA92}"/>
              </a:ext>
            </a:extLst>
          </p:cNvPr>
          <p:cNvSpPr/>
          <p:nvPr/>
        </p:nvSpPr>
        <p:spPr>
          <a:xfrm>
            <a:off x="979430" y="1266023"/>
            <a:ext cx="5721408" cy="892552"/>
          </a:xfrm>
          <a:prstGeom prst="rect">
            <a:avLst/>
          </a:prstGeom>
        </p:spPr>
        <p:txBody>
          <a:bodyPr wrap="square">
            <a:spAutoFit/>
          </a:bodyPr>
          <a:lstStyle/>
          <a:p>
            <a:r>
              <a:rPr lang="en-US" sz="2600" dirty="0">
                <a:solidFill>
                  <a:srgbClr val="000066"/>
                </a:solidFill>
                <a:latin typeface="LiberationSerif"/>
              </a:rPr>
              <a:t>Position of an object shows </a:t>
            </a:r>
          </a:p>
          <a:p>
            <a:r>
              <a:rPr lang="en-US" sz="2600" i="1" dirty="0">
                <a:solidFill>
                  <a:srgbClr val="000066"/>
                </a:solidFill>
                <a:latin typeface="LiberationSerif"/>
              </a:rPr>
              <a:t>	</a:t>
            </a:r>
            <a:r>
              <a:rPr lang="en-US" sz="2600" i="1" dirty="0">
                <a:solidFill>
                  <a:srgbClr val="C00000"/>
                </a:solidFill>
                <a:latin typeface="LiberationSerif"/>
              </a:rPr>
              <a:t>where it is at any particular time</a:t>
            </a:r>
            <a:r>
              <a:rPr lang="en-US" sz="2600" dirty="0">
                <a:solidFill>
                  <a:srgbClr val="C00000"/>
                </a:solidFill>
                <a:latin typeface="LiberationSerif"/>
              </a:rPr>
              <a:t>. </a:t>
            </a:r>
            <a:endParaRPr lang="en-US" sz="2600" dirty="0">
              <a:solidFill>
                <a:srgbClr val="C00000"/>
              </a:solidFill>
            </a:endParaRPr>
          </a:p>
        </p:txBody>
      </p:sp>
      <p:sp>
        <p:nvSpPr>
          <p:cNvPr id="13" name="Rectangle 3">
            <a:extLst>
              <a:ext uri="{FF2B5EF4-FFF2-40B4-BE49-F238E27FC236}">
                <a16:creationId xmlns:a16="http://schemas.microsoft.com/office/drawing/2014/main" id="{2BAB78ED-8C0F-B64D-9803-C6DC813FCA4B}"/>
              </a:ext>
            </a:extLst>
          </p:cNvPr>
          <p:cNvSpPr txBox="1">
            <a:spLocks noChangeArrowheads="1"/>
          </p:cNvSpPr>
          <p:nvPr/>
        </p:nvSpPr>
        <p:spPr>
          <a:xfrm>
            <a:off x="979430" y="2403292"/>
            <a:ext cx="5534025" cy="40353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200" dirty="0"/>
              <a:t>The position is defined in terms of a </a:t>
            </a:r>
            <a:r>
              <a:rPr lang="en-US" altLang="en-US" sz="2200" dirty="0">
                <a:solidFill>
                  <a:srgbClr val="C00000"/>
                </a:solidFill>
              </a:rPr>
              <a:t>frame of reference. </a:t>
            </a:r>
            <a:r>
              <a:rPr lang="en-US" altLang="en-US" sz="2200" dirty="0">
                <a:solidFill>
                  <a:srgbClr val="000066"/>
                </a:solidFill>
              </a:rPr>
              <a:t>You need to</a:t>
            </a:r>
          </a:p>
          <a:p>
            <a:r>
              <a:rPr lang="en-US" altLang="en-US" sz="2200" dirty="0">
                <a:solidFill>
                  <a:srgbClr val="000066"/>
                </a:solidFill>
              </a:rPr>
              <a:t>Specify a coordinate axis</a:t>
            </a:r>
          </a:p>
          <a:p>
            <a:r>
              <a:rPr lang="en-US" altLang="en-US" sz="2200" dirty="0">
                <a:solidFill>
                  <a:srgbClr val="000066"/>
                </a:solidFill>
              </a:rPr>
              <a:t>Choose starting point to measure the motion</a:t>
            </a:r>
          </a:p>
          <a:p>
            <a:pPr lvl="1"/>
            <a:r>
              <a:rPr lang="en-US" altLang="en-US" sz="1800" dirty="0">
                <a:solidFill>
                  <a:srgbClr val="C00000"/>
                </a:solidFill>
              </a:rPr>
              <a:t>For one dimensional motion, we usually choose x coordinate (horizontal motion) or y coordinate (vertical motion)</a:t>
            </a:r>
          </a:p>
        </p:txBody>
      </p:sp>
      <p:pic>
        <p:nvPicPr>
          <p:cNvPr id="15" name="Picture 14" descr="A picture containing antenna&#10;&#10;Description automatically generated">
            <a:extLst>
              <a:ext uri="{FF2B5EF4-FFF2-40B4-BE49-F238E27FC236}">
                <a16:creationId xmlns:a16="http://schemas.microsoft.com/office/drawing/2014/main" id="{2E656614-3062-2D49-8F28-E9E3E4AF1D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9555" y="4988409"/>
            <a:ext cx="5803900" cy="1143000"/>
          </a:xfrm>
          <a:prstGeom prst="rect">
            <a:avLst/>
          </a:prstGeom>
        </p:spPr>
      </p:pic>
      <p:sp>
        <p:nvSpPr>
          <p:cNvPr id="16" name="Rectangle 15">
            <a:extLst>
              <a:ext uri="{FF2B5EF4-FFF2-40B4-BE49-F238E27FC236}">
                <a16:creationId xmlns:a16="http://schemas.microsoft.com/office/drawing/2014/main" id="{1811F9C0-89D6-5A42-B5B1-D139964E340F}"/>
              </a:ext>
            </a:extLst>
          </p:cNvPr>
          <p:cNvSpPr/>
          <p:nvPr/>
        </p:nvSpPr>
        <p:spPr>
          <a:xfrm>
            <a:off x="709555" y="6520094"/>
            <a:ext cx="5175712" cy="276999"/>
          </a:xfrm>
          <a:prstGeom prst="rect">
            <a:avLst/>
          </a:prstGeom>
        </p:spPr>
        <p:txBody>
          <a:bodyPr wrap="none">
            <a:spAutoFit/>
          </a:bodyPr>
          <a:lstStyle/>
          <a:p>
            <a:r>
              <a:rPr lang="en-US" sz="1200" dirty="0">
                <a:solidFill>
                  <a:srgbClr val="000066"/>
                </a:solidFill>
              </a:rPr>
              <a:t>(credit: </a:t>
            </a:r>
            <a:r>
              <a:rPr lang="en-US" sz="1200" dirty="0">
                <a:solidFill>
                  <a:srgbClr val="000066"/>
                </a:solidFill>
                <a:hlinkClick r:id="rId5"/>
              </a:rPr>
              <a:t>http://www.projectglobalawakening.com/cartesian-coordinate-system/</a:t>
            </a:r>
            <a:r>
              <a:rPr lang="en-US" sz="1200" dirty="0">
                <a:solidFill>
                  <a:srgbClr val="000066"/>
                </a:solidFill>
                <a:sym typeface="Wingdings" pitchFamily="2" charset="2"/>
              </a:rPr>
              <a:t>)</a:t>
            </a:r>
            <a:endParaRPr lang="en-US" sz="1200" dirty="0">
              <a:solidFill>
                <a:srgbClr val="000066"/>
              </a:solidFill>
            </a:endParaRPr>
          </a:p>
        </p:txBody>
      </p:sp>
    </p:spTree>
    <p:extLst>
      <p:ext uri="{BB962C8B-B14F-4D97-AF65-F5344CB8AC3E}">
        <p14:creationId xmlns:p14="http://schemas.microsoft.com/office/powerpoint/2010/main" val="35926106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710733-338A-9A45-A77B-9B015AFDC0F8}"/>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Position, Displacement, and Average Velocity </a:t>
            </a:r>
          </a:p>
        </p:txBody>
      </p:sp>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62710AC-0552-A24A-A575-41F06E3DBC6A}"/>
              </a:ext>
            </a:extLst>
          </p:cNvPr>
          <p:cNvSpPr/>
          <p:nvPr/>
        </p:nvSpPr>
        <p:spPr>
          <a:xfrm>
            <a:off x="501800" y="802276"/>
            <a:ext cx="10444162" cy="1107996"/>
          </a:xfrm>
          <a:prstGeom prst="rect">
            <a:avLst/>
          </a:prstGeom>
        </p:spPr>
        <p:txBody>
          <a:bodyPr wrap="square">
            <a:spAutoFit/>
          </a:bodyPr>
          <a:lstStyle/>
          <a:p>
            <a:r>
              <a:rPr lang="en-US" sz="2200" dirty="0">
                <a:latin typeface="LiberationSerif"/>
              </a:rPr>
              <a:t>If an object moves relative to a frame of reference, then the object’s position changes. This change in position is called </a:t>
            </a:r>
            <a:r>
              <a:rPr lang="en-US" sz="2200" b="1" dirty="0">
                <a:solidFill>
                  <a:srgbClr val="C00000"/>
                </a:solidFill>
                <a:latin typeface="LiberationSerif"/>
              </a:rPr>
              <a:t>displacement</a:t>
            </a:r>
            <a:r>
              <a:rPr lang="en-US" sz="2200" dirty="0">
                <a:solidFill>
                  <a:srgbClr val="C00000"/>
                </a:solidFill>
                <a:latin typeface="LiberationSerif"/>
              </a:rPr>
              <a:t>. </a:t>
            </a:r>
            <a:r>
              <a:rPr lang="en-US" sz="2200" dirty="0">
                <a:latin typeface="LiberationSerif"/>
              </a:rPr>
              <a:t>The word </a:t>
            </a:r>
            <a:r>
              <a:rPr lang="en-US" sz="2200" i="1" dirty="0">
                <a:latin typeface="LiberationSerif"/>
              </a:rPr>
              <a:t>displacement </a:t>
            </a:r>
            <a:r>
              <a:rPr lang="en-US" sz="2200" dirty="0">
                <a:latin typeface="LiberationSerif"/>
              </a:rPr>
              <a:t>implies that an object has moved or has been displaced. </a:t>
            </a:r>
            <a:endParaRPr lang="en-US" sz="2200" dirty="0"/>
          </a:p>
        </p:txBody>
      </p:sp>
      <p:pic>
        <p:nvPicPr>
          <p:cNvPr id="6" name="Picture Placeholder 1" descr="Illustration shows professor at two different locations. The first location is marked as 1.5 meters at the x axis; the second location is marked as 3.5 meters at the x axis. The displacement between the two locations is 2 meters.">
            <a:extLst>
              <a:ext uri="{FF2B5EF4-FFF2-40B4-BE49-F238E27FC236}">
                <a16:creationId xmlns:a16="http://schemas.microsoft.com/office/drawing/2014/main" id="{C909106A-5F6A-004F-B0C0-49EC373A6EB5}"/>
              </a:ext>
            </a:extLst>
          </p:cNvPr>
          <p:cNvPicPr>
            <a:picLocks noChangeAspect="1"/>
          </p:cNvPicPr>
          <p:nvPr/>
        </p:nvPicPr>
        <p:blipFill>
          <a:blip r:embed="rId3" cstate="email">
            <a:extLst>
              <a:ext uri="{28A0092B-C50C-407E-A947-70E740481C1C}">
                <a14:useLocalDpi xmlns:a14="http://schemas.microsoft.com/office/drawing/2010/main" val="0"/>
              </a:ext>
            </a:extLst>
          </a:blip>
          <a:srcRect l="-40942" r="-40942"/>
          <a:stretch>
            <a:fillRect/>
          </a:stretch>
        </p:blipFill>
        <p:spPr>
          <a:xfrm>
            <a:off x="2064543" y="1900255"/>
            <a:ext cx="8062913" cy="3500071"/>
          </a:xfrm>
          <a:prstGeom prst="rect">
            <a:avLst/>
          </a:prstGeom>
        </p:spPr>
      </p:pic>
      <p:sp>
        <p:nvSpPr>
          <p:cNvPr id="7" name="Text Placeholder 6">
            <a:extLst>
              <a:ext uri="{FF2B5EF4-FFF2-40B4-BE49-F238E27FC236}">
                <a16:creationId xmlns:a16="http://schemas.microsoft.com/office/drawing/2014/main" id="{CC90DBEE-DB95-4247-A0C8-B669E0279FD7}"/>
              </a:ext>
            </a:extLst>
          </p:cNvPr>
          <p:cNvSpPr txBox="1">
            <a:spLocks/>
          </p:cNvSpPr>
          <p:nvPr/>
        </p:nvSpPr>
        <p:spPr>
          <a:xfrm>
            <a:off x="3712373" y="5403532"/>
            <a:ext cx="5405437" cy="81039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0066"/>
                </a:solidFill>
              </a:rPr>
              <a:t>A professor paces left and right while lecturing. Her position relative to Earth is given by </a:t>
            </a:r>
            <a:r>
              <a:rPr lang="en-US" sz="2000" i="1" dirty="0">
                <a:solidFill>
                  <a:srgbClr val="000066"/>
                </a:solidFill>
              </a:rPr>
              <a:t>x</a:t>
            </a:r>
            <a:r>
              <a:rPr lang="en-US" sz="2000" dirty="0">
                <a:solidFill>
                  <a:srgbClr val="000066"/>
                </a:solidFill>
              </a:rPr>
              <a:t>. </a:t>
            </a:r>
          </a:p>
        </p:txBody>
      </p:sp>
      <p:sp>
        <p:nvSpPr>
          <p:cNvPr id="4" name="Rectangle 3">
            <a:extLst>
              <a:ext uri="{FF2B5EF4-FFF2-40B4-BE49-F238E27FC236}">
                <a16:creationId xmlns:a16="http://schemas.microsoft.com/office/drawing/2014/main" id="{E0853A6B-3C3E-8F4E-B783-0116573FF50D}"/>
              </a:ext>
            </a:extLst>
          </p:cNvPr>
          <p:cNvSpPr/>
          <p:nvPr/>
        </p:nvSpPr>
        <p:spPr>
          <a:xfrm>
            <a:off x="501800" y="2494397"/>
            <a:ext cx="3488533" cy="1015663"/>
          </a:xfrm>
          <a:prstGeom prst="rect">
            <a:avLst/>
          </a:prstGeom>
        </p:spPr>
        <p:txBody>
          <a:bodyPr wrap="square">
            <a:spAutoFit/>
          </a:bodyPr>
          <a:lstStyle/>
          <a:p>
            <a:r>
              <a:rPr lang="en-US" sz="2000" dirty="0">
                <a:solidFill>
                  <a:srgbClr val="C00000"/>
                </a:solidFill>
                <a:latin typeface="LiberationSerif"/>
              </a:rPr>
              <a:t>Displacement </a:t>
            </a:r>
            <a:r>
              <a:rPr lang="el-GR" sz="2000" dirty="0">
                <a:solidFill>
                  <a:srgbClr val="C00000"/>
                </a:solidFill>
                <a:latin typeface="STIXGeneral" pitchFamily="2" charset="2"/>
              </a:rPr>
              <a:t>Δ</a:t>
            </a:r>
            <a:r>
              <a:rPr lang="en-US" sz="2000" i="1" dirty="0">
                <a:solidFill>
                  <a:srgbClr val="C00000"/>
                </a:solidFill>
                <a:latin typeface="STIXGeneral" pitchFamily="2" charset="2"/>
              </a:rPr>
              <a:t>x </a:t>
            </a:r>
            <a:r>
              <a:rPr lang="en-US" sz="2000" dirty="0">
                <a:solidFill>
                  <a:srgbClr val="C00000"/>
                </a:solidFill>
                <a:latin typeface="LiberationSerif"/>
              </a:rPr>
              <a:t>is the change in position of an object:</a:t>
            </a:r>
            <a:br>
              <a:rPr lang="en-US" sz="2000" dirty="0">
                <a:solidFill>
                  <a:srgbClr val="C00000"/>
                </a:solidFill>
                <a:latin typeface="LiberationSerif"/>
              </a:rPr>
            </a:br>
            <a:endParaRPr lang="en-US" sz="2000" dirty="0">
              <a:solidFill>
                <a:srgbClr val="C00000"/>
              </a:solidFill>
              <a:effectLst/>
            </a:endParaRPr>
          </a:p>
        </p:txBody>
      </p:sp>
      <p:sp>
        <p:nvSpPr>
          <p:cNvPr id="8" name="Rectangle 7">
            <a:extLst>
              <a:ext uri="{FF2B5EF4-FFF2-40B4-BE49-F238E27FC236}">
                <a16:creationId xmlns:a16="http://schemas.microsoft.com/office/drawing/2014/main" id="{DA8EF870-184C-DA43-8544-BB3520D4DFC0}"/>
              </a:ext>
            </a:extLst>
          </p:cNvPr>
          <p:cNvSpPr/>
          <p:nvPr/>
        </p:nvSpPr>
        <p:spPr>
          <a:xfrm>
            <a:off x="521814" y="4047376"/>
            <a:ext cx="3085458" cy="1015663"/>
          </a:xfrm>
          <a:prstGeom prst="rect">
            <a:avLst/>
          </a:prstGeom>
        </p:spPr>
        <p:txBody>
          <a:bodyPr wrap="square">
            <a:spAutoFit/>
          </a:bodyPr>
          <a:lstStyle/>
          <a:p>
            <a:r>
              <a:rPr lang="en-US" sz="2000" dirty="0">
                <a:solidFill>
                  <a:srgbClr val="C00000"/>
                </a:solidFill>
                <a:latin typeface="LiberationSerif"/>
              </a:rPr>
              <a:t>where </a:t>
            </a:r>
            <a:r>
              <a:rPr lang="el-GR" sz="2000" dirty="0">
                <a:solidFill>
                  <a:srgbClr val="C00000"/>
                </a:solidFill>
                <a:latin typeface="STIXGeneral" pitchFamily="2" charset="2"/>
              </a:rPr>
              <a:t>Δ</a:t>
            </a:r>
            <a:r>
              <a:rPr lang="en-US" sz="2000" i="1" dirty="0">
                <a:solidFill>
                  <a:srgbClr val="C00000"/>
                </a:solidFill>
                <a:latin typeface="STIXGeneral" pitchFamily="2" charset="2"/>
              </a:rPr>
              <a:t>x </a:t>
            </a:r>
            <a:r>
              <a:rPr lang="en-US" sz="2000" dirty="0">
                <a:solidFill>
                  <a:srgbClr val="C00000"/>
                </a:solidFill>
                <a:latin typeface="LiberationSerif"/>
              </a:rPr>
              <a:t>is displacement, </a:t>
            </a:r>
            <a:r>
              <a:rPr lang="en-US" sz="2000" i="1" dirty="0" err="1">
                <a:solidFill>
                  <a:srgbClr val="C00000"/>
                </a:solidFill>
                <a:latin typeface="STIXGeneral" pitchFamily="2" charset="2"/>
              </a:rPr>
              <a:t>x</a:t>
            </a:r>
            <a:r>
              <a:rPr lang="en-US" sz="2000" baseline="-25000" dirty="0" err="1">
                <a:solidFill>
                  <a:srgbClr val="C00000"/>
                </a:solidFill>
                <a:latin typeface="STIXGeneral" pitchFamily="2" charset="2"/>
              </a:rPr>
              <a:t>f</a:t>
            </a:r>
            <a:r>
              <a:rPr lang="en-US" sz="2000" dirty="0">
                <a:solidFill>
                  <a:srgbClr val="C00000"/>
                </a:solidFill>
                <a:latin typeface="STIXGeneral" pitchFamily="2" charset="2"/>
              </a:rPr>
              <a:t> </a:t>
            </a:r>
            <a:r>
              <a:rPr lang="en-US" sz="2000" dirty="0">
                <a:solidFill>
                  <a:srgbClr val="C00000"/>
                </a:solidFill>
                <a:latin typeface="LiberationSerif"/>
              </a:rPr>
              <a:t>is the final position, and </a:t>
            </a:r>
            <a:r>
              <a:rPr lang="en-US" sz="2000" i="1" dirty="0">
                <a:solidFill>
                  <a:srgbClr val="C00000"/>
                </a:solidFill>
                <a:latin typeface="STIXGeneral" pitchFamily="2" charset="2"/>
              </a:rPr>
              <a:t>x</a:t>
            </a:r>
            <a:r>
              <a:rPr lang="en-US" sz="2000" baseline="-25000" dirty="0">
                <a:solidFill>
                  <a:srgbClr val="C00000"/>
                </a:solidFill>
                <a:latin typeface="STIXGeneral" pitchFamily="2" charset="2"/>
              </a:rPr>
              <a:t>0</a:t>
            </a:r>
            <a:r>
              <a:rPr lang="en-US" sz="2000" dirty="0">
                <a:solidFill>
                  <a:srgbClr val="C00000"/>
                </a:solidFill>
                <a:latin typeface="STIXGeneral" pitchFamily="2" charset="2"/>
              </a:rPr>
              <a:t> </a:t>
            </a:r>
            <a:r>
              <a:rPr lang="en-US" sz="2000" dirty="0">
                <a:solidFill>
                  <a:srgbClr val="C00000"/>
                </a:solidFill>
                <a:latin typeface="LiberationSerif"/>
              </a:rPr>
              <a:t>is the initial position. </a:t>
            </a:r>
            <a:endParaRPr lang="en-US" sz="2000" dirty="0">
              <a:solidFill>
                <a:srgbClr val="C00000"/>
              </a:solidFill>
              <a:effectLst/>
            </a:endParaRPr>
          </a:p>
        </p:txBody>
      </p:sp>
      <p:pic>
        <p:nvPicPr>
          <p:cNvPr id="10" name="Picture 9" descr="Diagram, schematic&#10;&#10;Description automatically generated">
            <a:extLst>
              <a:ext uri="{FF2B5EF4-FFF2-40B4-BE49-F238E27FC236}">
                <a16:creationId xmlns:a16="http://schemas.microsoft.com/office/drawing/2014/main" id="{55B2CB05-C6A7-174D-B799-04A463517B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4875" y="3309813"/>
            <a:ext cx="1952897" cy="594360"/>
          </a:xfrm>
          <a:prstGeom prst="rect">
            <a:avLst/>
          </a:prstGeom>
        </p:spPr>
      </p:pic>
      <p:sp>
        <p:nvSpPr>
          <p:cNvPr id="11" name="Rectangle 10">
            <a:extLst>
              <a:ext uri="{FF2B5EF4-FFF2-40B4-BE49-F238E27FC236}">
                <a16:creationId xmlns:a16="http://schemas.microsoft.com/office/drawing/2014/main" id="{C9DBED23-672D-3A4F-BD21-8CC86076627B}"/>
              </a:ext>
            </a:extLst>
          </p:cNvPr>
          <p:cNvSpPr/>
          <p:nvPr/>
        </p:nvSpPr>
        <p:spPr>
          <a:xfrm>
            <a:off x="8584730" y="3115826"/>
            <a:ext cx="3266338" cy="2400657"/>
          </a:xfrm>
          <a:prstGeom prst="rect">
            <a:avLst/>
          </a:prstGeom>
        </p:spPr>
        <p:txBody>
          <a:bodyPr wrap="square">
            <a:spAutoFit/>
          </a:bodyPr>
          <a:lstStyle/>
          <a:p>
            <a:r>
              <a:rPr lang="en-US" sz="2200" dirty="0">
                <a:solidFill>
                  <a:srgbClr val="C00000"/>
                </a:solidFill>
              </a:rPr>
              <a:t>The +2.0-m displacement of the professor relative to Earth is represented by an arrow pointing to the right.</a:t>
            </a:r>
          </a:p>
          <a:p>
            <a:endParaRPr lang="en-US" sz="2200" dirty="0">
              <a:solidFill>
                <a:srgbClr val="C00000"/>
              </a:solidFill>
            </a:endParaRPr>
          </a:p>
          <a:p>
            <a:r>
              <a:rPr lang="en-US" sz="2200" dirty="0">
                <a:solidFill>
                  <a:srgbClr val="0000CC"/>
                </a:solidFill>
              </a:rPr>
              <a:t>Displacement is a vector</a:t>
            </a:r>
          </a:p>
          <a:p>
            <a:r>
              <a:rPr lang="en-US" dirty="0">
                <a:solidFill>
                  <a:srgbClr val="000066"/>
                </a:solidFill>
              </a:rPr>
              <a:t>(has magnitude and direction)</a:t>
            </a:r>
          </a:p>
        </p:txBody>
      </p:sp>
      <p:sp>
        <p:nvSpPr>
          <p:cNvPr id="12" name="Rectangle 11">
            <a:extLst>
              <a:ext uri="{FF2B5EF4-FFF2-40B4-BE49-F238E27FC236}">
                <a16:creationId xmlns:a16="http://schemas.microsoft.com/office/drawing/2014/main" id="{C224DD80-6229-7A4A-AC07-8D981F65FBF1}"/>
              </a:ext>
            </a:extLst>
          </p:cNvPr>
          <p:cNvSpPr/>
          <p:nvPr/>
        </p:nvSpPr>
        <p:spPr>
          <a:xfrm>
            <a:off x="2562215" y="6002412"/>
            <a:ext cx="7755087" cy="707886"/>
          </a:xfrm>
          <a:prstGeom prst="rect">
            <a:avLst/>
          </a:prstGeom>
        </p:spPr>
        <p:txBody>
          <a:bodyPr wrap="square">
            <a:spAutoFit/>
          </a:bodyPr>
          <a:lstStyle/>
          <a:p>
            <a:r>
              <a:rPr lang="en-US" sz="2000" dirty="0">
                <a:latin typeface="LiberationSerif"/>
              </a:rPr>
              <a:t>The total displacement </a:t>
            </a:r>
            <a:r>
              <a:rPr lang="el-GR" sz="2000" dirty="0">
                <a:latin typeface="STIXGeneral" pitchFamily="2" charset="2"/>
              </a:rPr>
              <a:t>Δ</a:t>
            </a:r>
            <a:r>
              <a:rPr lang="en-US" sz="2000" i="1" dirty="0" err="1">
                <a:latin typeface="STIXGeneral" pitchFamily="2" charset="2"/>
              </a:rPr>
              <a:t>x</a:t>
            </a:r>
            <a:r>
              <a:rPr lang="en-US" sz="2000" baseline="-25000" dirty="0" err="1">
                <a:latin typeface="STIXGeneral" pitchFamily="2" charset="2"/>
              </a:rPr>
              <a:t>Total</a:t>
            </a:r>
            <a:r>
              <a:rPr lang="en-US" sz="2000" dirty="0">
                <a:latin typeface="STIXGeneral" pitchFamily="2" charset="2"/>
              </a:rPr>
              <a:t> </a:t>
            </a:r>
            <a:r>
              <a:rPr lang="en-US" sz="2000" dirty="0">
                <a:latin typeface="LiberationSerif"/>
              </a:rPr>
              <a:t>is </a:t>
            </a:r>
            <a:r>
              <a:rPr lang="en-US" sz="2000" i="1" dirty="0">
                <a:latin typeface="LiberationSerif"/>
              </a:rPr>
              <a:t>the sum of the individual displacements</a:t>
            </a:r>
            <a:r>
              <a:rPr lang="en-US" sz="2000" dirty="0">
                <a:latin typeface="LiberationSerif"/>
              </a:rPr>
              <a:t> </a:t>
            </a:r>
            <a:r>
              <a:rPr lang="en-US" sz="2000" dirty="0"/>
              <a:t>where </a:t>
            </a:r>
            <a:r>
              <a:rPr lang="el-GR" sz="2000" dirty="0"/>
              <a:t>Δ</a:t>
            </a:r>
            <a:r>
              <a:rPr lang="en-US" sz="2000" i="1" dirty="0"/>
              <a:t>x</a:t>
            </a:r>
            <a:r>
              <a:rPr lang="en-US" sz="2000" i="1" baseline="-25000" dirty="0"/>
              <a:t>i</a:t>
            </a:r>
            <a:r>
              <a:rPr lang="en-US" sz="2000" i="1" dirty="0"/>
              <a:t> </a:t>
            </a:r>
            <a:r>
              <a:rPr lang="en-US" sz="2000" dirty="0"/>
              <a:t>are the individual displacements.</a:t>
            </a:r>
          </a:p>
        </p:txBody>
      </p:sp>
      <p:pic>
        <p:nvPicPr>
          <p:cNvPr id="14" name="Picture 13" descr="A picture containing text&#10;&#10;Description automatically generated">
            <a:extLst>
              <a:ext uri="{FF2B5EF4-FFF2-40B4-BE49-F238E27FC236}">
                <a16:creationId xmlns:a16="http://schemas.microsoft.com/office/drawing/2014/main" id="{F5DA0EC3-D9FF-104E-ABDA-5AD47CD1D5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77478" y="5904358"/>
            <a:ext cx="1816100" cy="533400"/>
          </a:xfrm>
          <a:prstGeom prst="rect">
            <a:avLst/>
          </a:prstGeom>
        </p:spPr>
      </p:pic>
    </p:spTree>
    <p:extLst>
      <p:ext uri="{BB962C8B-B14F-4D97-AF65-F5344CB8AC3E}">
        <p14:creationId xmlns:p14="http://schemas.microsoft.com/office/powerpoint/2010/main" val="37459108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710733-338A-9A45-A77B-9B015AFDC0F8}"/>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Position, Displacement, and Average Velocity </a:t>
            </a:r>
          </a:p>
        </p:txBody>
      </p:sp>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62710AC-0552-A24A-A575-41F06E3DBC6A}"/>
              </a:ext>
            </a:extLst>
          </p:cNvPr>
          <p:cNvSpPr/>
          <p:nvPr/>
        </p:nvSpPr>
        <p:spPr>
          <a:xfrm>
            <a:off x="501800" y="802276"/>
            <a:ext cx="10444162" cy="1107996"/>
          </a:xfrm>
          <a:prstGeom prst="rect">
            <a:avLst/>
          </a:prstGeom>
        </p:spPr>
        <p:txBody>
          <a:bodyPr wrap="square">
            <a:spAutoFit/>
          </a:bodyPr>
          <a:lstStyle/>
          <a:p>
            <a:r>
              <a:rPr lang="en-US" sz="2200" dirty="0">
                <a:latin typeface="LiberationSerif"/>
              </a:rPr>
              <a:t>If an object moves relative to a frame of reference, then the object’s position changes. This change in position is called </a:t>
            </a:r>
            <a:r>
              <a:rPr lang="en-US" sz="2200" b="1" dirty="0">
                <a:solidFill>
                  <a:srgbClr val="C00000"/>
                </a:solidFill>
                <a:latin typeface="LiberationSerif"/>
              </a:rPr>
              <a:t>displacement</a:t>
            </a:r>
            <a:r>
              <a:rPr lang="en-US" sz="2200" dirty="0">
                <a:solidFill>
                  <a:srgbClr val="C00000"/>
                </a:solidFill>
                <a:latin typeface="LiberationSerif"/>
              </a:rPr>
              <a:t>. </a:t>
            </a:r>
            <a:r>
              <a:rPr lang="en-US" sz="2200" dirty="0">
                <a:latin typeface="LiberationSerif"/>
              </a:rPr>
              <a:t>The word </a:t>
            </a:r>
            <a:r>
              <a:rPr lang="en-US" sz="2200" i="1" dirty="0">
                <a:latin typeface="LiberationSerif"/>
              </a:rPr>
              <a:t>displacement </a:t>
            </a:r>
            <a:r>
              <a:rPr lang="en-US" sz="2200" dirty="0">
                <a:latin typeface="LiberationSerif"/>
              </a:rPr>
              <a:t>implies that an object has moved or has been displaced. </a:t>
            </a:r>
            <a:endParaRPr lang="en-US" sz="2200" dirty="0"/>
          </a:p>
        </p:txBody>
      </p:sp>
      <p:sp>
        <p:nvSpPr>
          <p:cNvPr id="4" name="Rectangle 3">
            <a:extLst>
              <a:ext uri="{FF2B5EF4-FFF2-40B4-BE49-F238E27FC236}">
                <a16:creationId xmlns:a16="http://schemas.microsoft.com/office/drawing/2014/main" id="{E0853A6B-3C3E-8F4E-B783-0116573FF50D}"/>
              </a:ext>
            </a:extLst>
          </p:cNvPr>
          <p:cNvSpPr/>
          <p:nvPr/>
        </p:nvSpPr>
        <p:spPr>
          <a:xfrm>
            <a:off x="501800" y="2494397"/>
            <a:ext cx="3488533" cy="1015663"/>
          </a:xfrm>
          <a:prstGeom prst="rect">
            <a:avLst/>
          </a:prstGeom>
        </p:spPr>
        <p:txBody>
          <a:bodyPr wrap="square">
            <a:spAutoFit/>
          </a:bodyPr>
          <a:lstStyle/>
          <a:p>
            <a:r>
              <a:rPr lang="en-US" sz="2000" dirty="0">
                <a:solidFill>
                  <a:srgbClr val="C00000"/>
                </a:solidFill>
                <a:latin typeface="LiberationSerif"/>
              </a:rPr>
              <a:t>Displacement </a:t>
            </a:r>
            <a:r>
              <a:rPr lang="el-GR" sz="2000" dirty="0">
                <a:solidFill>
                  <a:srgbClr val="C00000"/>
                </a:solidFill>
                <a:latin typeface="STIXGeneral" pitchFamily="2" charset="2"/>
              </a:rPr>
              <a:t>Δ</a:t>
            </a:r>
            <a:r>
              <a:rPr lang="en-US" sz="2000" i="1" dirty="0">
                <a:solidFill>
                  <a:srgbClr val="C00000"/>
                </a:solidFill>
                <a:latin typeface="STIXGeneral" pitchFamily="2" charset="2"/>
              </a:rPr>
              <a:t>x </a:t>
            </a:r>
            <a:r>
              <a:rPr lang="en-US" sz="2000" dirty="0">
                <a:solidFill>
                  <a:srgbClr val="C00000"/>
                </a:solidFill>
                <a:latin typeface="LiberationSerif"/>
              </a:rPr>
              <a:t>is the change in position of an object:</a:t>
            </a:r>
            <a:br>
              <a:rPr lang="en-US" sz="2000" dirty="0">
                <a:solidFill>
                  <a:srgbClr val="C00000"/>
                </a:solidFill>
                <a:latin typeface="LiberationSerif"/>
              </a:rPr>
            </a:br>
            <a:endParaRPr lang="en-US" sz="2000" dirty="0">
              <a:solidFill>
                <a:srgbClr val="C00000"/>
              </a:solidFill>
              <a:effectLst/>
            </a:endParaRPr>
          </a:p>
        </p:txBody>
      </p:sp>
      <p:sp>
        <p:nvSpPr>
          <p:cNvPr id="8" name="Rectangle 7">
            <a:extLst>
              <a:ext uri="{FF2B5EF4-FFF2-40B4-BE49-F238E27FC236}">
                <a16:creationId xmlns:a16="http://schemas.microsoft.com/office/drawing/2014/main" id="{DA8EF870-184C-DA43-8544-BB3520D4DFC0}"/>
              </a:ext>
            </a:extLst>
          </p:cNvPr>
          <p:cNvSpPr/>
          <p:nvPr/>
        </p:nvSpPr>
        <p:spPr>
          <a:xfrm>
            <a:off x="521814" y="4047376"/>
            <a:ext cx="3085458" cy="1015663"/>
          </a:xfrm>
          <a:prstGeom prst="rect">
            <a:avLst/>
          </a:prstGeom>
        </p:spPr>
        <p:txBody>
          <a:bodyPr wrap="square">
            <a:spAutoFit/>
          </a:bodyPr>
          <a:lstStyle/>
          <a:p>
            <a:r>
              <a:rPr lang="en-US" sz="2000" dirty="0">
                <a:solidFill>
                  <a:srgbClr val="C00000"/>
                </a:solidFill>
                <a:latin typeface="LiberationSerif"/>
              </a:rPr>
              <a:t>where </a:t>
            </a:r>
            <a:r>
              <a:rPr lang="el-GR" sz="2000" dirty="0">
                <a:solidFill>
                  <a:srgbClr val="C00000"/>
                </a:solidFill>
                <a:latin typeface="STIXGeneral" pitchFamily="2" charset="2"/>
              </a:rPr>
              <a:t>Δ</a:t>
            </a:r>
            <a:r>
              <a:rPr lang="en-US" sz="2000" i="1" dirty="0">
                <a:solidFill>
                  <a:srgbClr val="C00000"/>
                </a:solidFill>
                <a:latin typeface="STIXGeneral" pitchFamily="2" charset="2"/>
              </a:rPr>
              <a:t>x </a:t>
            </a:r>
            <a:r>
              <a:rPr lang="en-US" sz="2000" dirty="0">
                <a:solidFill>
                  <a:srgbClr val="C00000"/>
                </a:solidFill>
                <a:latin typeface="LiberationSerif"/>
              </a:rPr>
              <a:t>is displacement, </a:t>
            </a:r>
            <a:r>
              <a:rPr lang="en-US" sz="2000" i="1" dirty="0" err="1">
                <a:solidFill>
                  <a:srgbClr val="C00000"/>
                </a:solidFill>
                <a:latin typeface="STIXGeneral" pitchFamily="2" charset="2"/>
              </a:rPr>
              <a:t>x</a:t>
            </a:r>
            <a:r>
              <a:rPr lang="en-US" sz="2000" baseline="-25000" dirty="0" err="1">
                <a:solidFill>
                  <a:srgbClr val="C00000"/>
                </a:solidFill>
                <a:latin typeface="STIXGeneral" pitchFamily="2" charset="2"/>
              </a:rPr>
              <a:t>f</a:t>
            </a:r>
            <a:r>
              <a:rPr lang="en-US" sz="2000" dirty="0">
                <a:solidFill>
                  <a:srgbClr val="C00000"/>
                </a:solidFill>
                <a:latin typeface="STIXGeneral" pitchFamily="2" charset="2"/>
              </a:rPr>
              <a:t> </a:t>
            </a:r>
            <a:r>
              <a:rPr lang="en-US" sz="2000" dirty="0">
                <a:solidFill>
                  <a:srgbClr val="C00000"/>
                </a:solidFill>
                <a:latin typeface="LiberationSerif"/>
              </a:rPr>
              <a:t>is the final position, and </a:t>
            </a:r>
            <a:r>
              <a:rPr lang="en-US" sz="2000" i="1" dirty="0">
                <a:solidFill>
                  <a:srgbClr val="C00000"/>
                </a:solidFill>
                <a:latin typeface="STIXGeneral" pitchFamily="2" charset="2"/>
              </a:rPr>
              <a:t>x</a:t>
            </a:r>
            <a:r>
              <a:rPr lang="en-US" sz="2000" baseline="-25000" dirty="0">
                <a:solidFill>
                  <a:srgbClr val="C00000"/>
                </a:solidFill>
                <a:latin typeface="STIXGeneral" pitchFamily="2" charset="2"/>
              </a:rPr>
              <a:t>0</a:t>
            </a:r>
            <a:r>
              <a:rPr lang="en-US" sz="2000" dirty="0">
                <a:solidFill>
                  <a:srgbClr val="C00000"/>
                </a:solidFill>
                <a:latin typeface="STIXGeneral" pitchFamily="2" charset="2"/>
              </a:rPr>
              <a:t> </a:t>
            </a:r>
            <a:r>
              <a:rPr lang="en-US" sz="2000" dirty="0">
                <a:solidFill>
                  <a:srgbClr val="C00000"/>
                </a:solidFill>
                <a:latin typeface="LiberationSerif"/>
              </a:rPr>
              <a:t>is the initial position. </a:t>
            </a:r>
            <a:endParaRPr lang="en-US" sz="2000" dirty="0">
              <a:solidFill>
                <a:srgbClr val="C00000"/>
              </a:solidFill>
              <a:effectLst/>
            </a:endParaRPr>
          </a:p>
        </p:txBody>
      </p:sp>
      <p:pic>
        <p:nvPicPr>
          <p:cNvPr id="10" name="Picture 9" descr="Diagram, schematic&#10;&#10;Description automatically generated">
            <a:extLst>
              <a:ext uri="{FF2B5EF4-FFF2-40B4-BE49-F238E27FC236}">
                <a16:creationId xmlns:a16="http://schemas.microsoft.com/office/drawing/2014/main" id="{55B2CB05-C6A7-174D-B799-04A463517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875" y="3309813"/>
            <a:ext cx="1952897" cy="594360"/>
          </a:xfrm>
          <a:prstGeom prst="rect">
            <a:avLst/>
          </a:prstGeom>
        </p:spPr>
      </p:pic>
      <p:sp>
        <p:nvSpPr>
          <p:cNvPr id="12" name="Rectangle 11">
            <a:extLst>
              <a:ext uri="{FF2B5EF4-FFF2-40B4-BE49-F238E27FC236}">
                <a16:creationId xmlns:a16="http://schemas.microsoft.com/office/drawing/2014/main" id="{C224DD80-6229-7A4A-AC07-8D981F65FBF1}"/>
              </a:ext>
            </a:extLst>
          </p:cNvPr>
          <p:cNvSpPr/>
          <p:nvPr/>
        </p:nvSpPr>
        <p:spPr>
          <a:xfrm>
            <a:off x="2562215" y="6002412"/>
            <a:ext cx="7755087" cy="707886"/>
          </a:xfrm>
          <a:prstGeom prst="rect">
            <a:avLst/>
          </a:prstGeom>
        </p:spPr>
        <p:txBody>
          <a:bodyPr wrap="square">
            <a:spAutoFit/>
          </a:bodyPr>
          <a:lstStyle/>
          <a:p>
            <a:r>
              <a:rPr lang="en-US" sz="2000" dirty="0">
                <a:latin typeface="LiberationSerif"/>
              </a:rPr>
              <a:t>The total displacement </a:t>
            </a:r>
            <a:r>
              <a:rPr lang="el-GR" sz="2000" dirty="0">
                <a:latin typeface="STIXGeneral" pitchFamily="2" charset="2"/>
              </a:rPr>
              <a:t>Δ</a:t>
            </a:r>
            <a:r>
              <a:rPr lang="en-US" sz="2000" i="1" dirty="0" err="1">
                <a:latin typeface="STIXGeneral" pitchFamily="2" charset="2"/>
              </a:rPr>
              <a:t>x</a:t>
            </a:r>
            <a:r>
              <a:rPr lang="en-US" sz="2000" baseline="-25000" dirty="0" err="1">
                <a:latin typeface="STIXGeneral" pitchFamily="2" charset="2"/>
              </a:rPr>
              <a:t>Total</a:t>
            </a:r>
            <a:r>
              <a:rPr lang="en-US" sz="2000" dirty="0">
                <a:latin typeface="STIXGeneral" pitchFamily="2" charset="2"/>
              </a:rPr>
              <a:t> </a:t>
            </a:r>
            <a:r>
              <a:rPr lang="en-US" sz="2000" dirty="0">
                <a:latin typeface="LiberationSerif"/>
              </a:rPr>
              <a:t>is </a:t>
            </a:r>
            <a:r>
              <a:rPr lang="en-US" sz="2000" i="1" dirty="0">
                <a:latin typeface="LiberationSerif"/>
              </a:rPr>
              <a:t>the sum of the individual displacements</a:t>
            </a:r>
            <a:r>
              <a:rPr lang="en-US" sz="2000" dirty="0">
                <a:latin typeface="LiberationSerif"/>
              </a:rPr>
              <a:t> </a:t>
            </a:r>
            <a:r>
              <a:rPr lang="en-US" sz="2000" dirty="0"/>
              <a:t>where </a:t>
            </a:r>
            <a:r>
              <a:rPr lang="el-GR" sz="2000" dirty="0"/>
              <a:t>Δ</a:t>
            </a:r>
            <a:r>
              <a:rPr lang="en-US" sz="2000" i="1" dirty="0"/>
              <a:t>x</a:t>
            </a:r>
            <a:r>
              <a:rPr lang="en-US" sz="2000" i="1" baseline="-25000" dirty="0"/>
              <a:t>i</a:t>
            </a:r>
            <a:r>
              <a:rPr lang="en-US" sz="2000" i="1" dirty="0"/>
              <a:t> </a:t>
            </a:r>
            <a:r>
              <a:rPr lang="en-US" sz="2000" dirty="0"/>
              <a:t>are the individual displacements.</a:t>
            </a:r>
          </a:p>
        </p:txBody>
      </p:sp>
      <p:pic>
        <p:nvPicPr>
          <p:cNvPr id="14" name="Picture 13" descr="A picture containing text&#10;&#10;Description automatically generated">
            <a:extLst>
              <a:ext uri="{FF2B5EF4-FFF2-40B4-BE49-F238E27FC236}">
                <a16:creationId xmlns:a16="http://schemas.microsoft.com/office/drawing/2014/main" id="{F5DA0EC3-D9FF-104E-ABDA-5AD47CD1D5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77478" y="5904358"/>
            <a:ext cx="1816100" cy="533400"/>
          </a:xfrm>
          <a:prstGeom prst="rect">
            <a:avLst/>
          </a:prstGeom>
        </p:spPr>
      </p:pic>
      <p:sp>
        <p:nvSpPr>
          <p:cNvPr id="13" name="Rectangle 12">
            <a:extLst>
              <a:ext uri="{FF2B5EF4-FFF2-40B4-BE49-F238E27FC236}">
                <a16:creationId xmlns:a16="http://schemas.microsoft.com/office/drawing/2014/main" id="{E88F78A5-02A5-C241-842A-1B3A53EB05CD}"/>
              </a:ext>
            </a:extLst>
          </p:cNvPr>
          <p:cNvSpPr/>
          <p:nvPr/>
        </p:nvSpPr>
        <p:spPr>
          <a:xfrm>
            <a:off x="4559405" y="2491178"/>
            <a:ext cx="1152623" cy="430887"/>
          </a:xfrm>
          <a:prstGeom prst="rect">
            <a:avLst/>
          </a:prstGeom>
        </p:spPr>
        <p:txBody>
          <a:bodyPr wrap="none">
            <a:spAutoFit/>
          </a:bodyPr>
          <a:lstStyle/>
          <a:p>
            <a:r>
              <a:rPr lang="en-US" sz="2200" dirty="0">
                <a:solidFill>
                  <a:srgbClr val="008000"/>
                </a:solidFill>
              </a:rPr>
              <a:t>Example</a:t>
            </a:r>
            <a:endParaRPr lang="en-US" sz="2200" dirty="0"/>
          </a:p>
        </p:txBody>
      </p:sp>
      <p:sp>
        <p:nvSpPr>
          <p:cNvPr id="9" name="Rectangle 8">
            <a:extLst>
              <a:ext uri="{FF2B5EF4-FFF2-40B4-BE49-F238E27FC236}">
                <a16:creationId xmlns:a16="http://schemas.microsoft.com/office/drawing/2014/main" id="{7B6C589F-3EC7-BA4B-97D8-9CB48330C545}"/>
              </a:ext>
            </a:extLst>
          </p:cNvPr>
          <p:cNvSpPr/>
          <p:nvPr/>
        </p:nvSpPr>
        <p:spPr>
          <a:xfrm>
            <a:off x="4579467" y="2888510"/>
            <a:ext cx="6839909" cy="1323439"/>
          </a:xfrm>
          <a:prstGeom prst="rect">
            <a:avLst/>
          </a:prstGeom>
        </p:spPr>
        <p:txBody>
          <a:bodyPr wrap="square">
            <a:spAutoFit/>
          </a:bodyPr>
          <a:lstStyle/>
          <a:p>
            <a:r>
              <a:rPr lang="en-US" sz="2000" dirty="0">
                <a:latin typeface="LiberationSerif"/>
              </a:rPr>
              <a:t>A cyclist rides 8.0 km east, then he turns and heads west 3.2 km. Finally, he rides east for 16.0 km. a) What is the total displacement of the cyclist? B) What is the distance traveled in this trip?</a:t>
            </a:r>
            <a:endParaRPr lang="en-US" sz="2000" dirty="0"/>
          </a:p>
        </p:txBody>
      </p:sp>
    </p:spTree>
    <p:extLst>
      <p:ext uri="{BB962C8B-B14F-4D97-AF65-F5344CB8AC3E}">
        <p14:creationId xmlns:p14="http://schemas.microsoft.com/office/powerpoint/2010/main" val="32006685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710733-338A-9A45-A77B-9B015AFDC0F8}"/>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Position, Displacement, and Average Velocity </a:t>
            </a:r>
          </a:p>
        </p:txBody>
      </p:sp>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62710AC-0552-A24A-A575-41F06E3DBC6A}"/>
              </a:ext>
            </a:extLst>
          </p:cNvPr>
          <p:cNvSpPr/>
          <p:nvPr/>
        </p:nvSpPr>
        <p:spPr>
          <a:xfrm>
            <a:off x="501800" y="802276"/>
            <a:ext cx="10444162" cy="1107996"/>
          </a:xfrm>
          <a:prstGeom prst="rect">
            <a:avLst/>
          </a:prstGeom>
        </p:spPr>
        <p:txBody>
          <a:bodyPr wrap="square">
            <a:spAutoFit/>
          </a:bodyPr>
          <a:lstStyle/>
          <a:p>
            <a:r>
              <a:rPr lang="en-US" sz="2200" dirty="0">
                <a:latin typeface="LiberationSerif"/>
              </a:rPr>
              <a:t>If an object moves relative to a frame of reference, then the object’s position changes. This change in position is called </a:t>
            </a:r>
            <a:r>
              <a:rPr lang="en-US" sz="2200" b="1" dirty="0">
                <a:solidFill>
                  <a:srgbClr val="C00000"/>
                </a:solidFill>
                <a:latin typeface="LiberationSerif"/>
              </a:rPr>
              <a:t>displacement</a:t>
            </a:r>
            <a:r>
              <a:rPr lang="en-US" sz="2200" dirty="0">
                <a:solidFill>
                  <a:srgbClr val="C00000"/>
                </a:solidFill>
                <a:latin typeface="LiberationSerif"/>
              </a:rPr>
              <a:t>. </a:t>
            </a:r>
            <a:r>
              <a:rPr lang="en-US" sz="2200" dirty="0">
                <a:latin typeface="LiberationSerif"/>
              </a:rPr>
              <a:t>The word </a:t>
            </a:r>
            <a:r>
              <a:rPr lang="en-US" sz="2200" i="1" dirty="0">
                <a:latin typeface="LiberationSerif"/>
              </a:rPr>
              <a:t>displacement </a:t>
            </a:r>
            <a:r>
              <a:rPr lang="en-US" sz="2200" dirty="0">
                <a:latin typeface="LiberationSerif"/>
              </a:rPr>
              <a:t>implies that an object has moved or has been displaced. </a:t>
            </a:r>
            <a:endParaRPr lang="en-US" sz="2200" dirty="0"/>
          </a:p>
        </p:txBody>
      </p:sp>
      <p:sp>
        <p:nvSpPr>
          <p:cNvPr id="4" name="Rectangle 3">
            <a:extLst>
              <a:ext uri="{FF2B5EF4-FFF2-40B4-BE49-F238E27FC236}">
                <a16:creationId xmlns:a16="http://schemas.microsoft.com/office/drawing/2014/main" id="{E0853A6B-3C3E-8F4E-B783-0116573FF50D}"/>
              </a:ext>
            </a:extLst>
          </p:cNvPr>
          <p:cNvSpPr/>
          <p:nvPr/>
        </p:nvSpPr>
        <p:spPr>
          <a:xfrm>
            <a:off x="501800" y="2494397"/>
            <a:ext cx="3488533" cy="1015663"/>
          </a:xfrm>
          <a:prstGeom prst="rect">
            <a:avLst/>
          </a:prstGeom>
        </p:spPr>
        <p:txBody>
          <a:bodyPr wrap="square">
            <a:spAutoFit/>
          </a:bodyPr>
          <a:lstStyle/>
          <a:p>
            <a:r>
              <a:rPr lang="en-US" sz="2000" dirty="0">
                <a:solidFill>
                  <a:srgbClr val="C00000"/>
                </a:solidFill>
                <a:latin typeface="LiberationSerif"/>
              </a:rPr>
              <a:t>Displacement </a:t>
            </a:r>
            <a:r>
              <a:rPr lang="el-GR" sz="2000" dirty="0">
                <a:solidFill>
                  <a:srgbClr val="C00000"/>
                </a:solidFill>
                <a:latin typeface="STIXGeneral" pitchFamily="2" charset="2"/>
              </a:rPr>
              <a:t>Δ</a:t>
            </a:r>
            <a:r>
              <a:rPr lang="en-US" sz="2000" i="1" dirty="0">
                <a:solidFill>
                  <a:srgbClr val="C00000"/>
                </a:solidFill>
                <a:latin typeface="STIXGeneral" pitchFamily="2" charset="2"/>
              </a:rPr>
              <a:t>x </a:t>
            </a:r>
            <a:r>
              <a:rPr lang="en-US" sz="2000" dirty="0">
                <a:solidFill>
                  <a:srgbClr val="C00000"/>
                </a:solidFill>
                <a:latin typeface="LiberationSerif"/>
              </a:rPr>
              <a:t>is the change in position of an object:</a:t>
            </a:r>
            <a:br>
              <a:rPr lang="en-US" sz="2000" dirty="0">
                <a:solidFill>
                  <a:srgbClr val="C00000"/>
                </a:solidFill>
                <a:latin typeface="LiberationSerif"/>
              </a:rPr>
            </a:br>
            <a:endParaRPr lang="en-US" sz="2000" dirty="0">
              <a:solidFill>
                <a:srgbClr val="C00000"/>
              </a:solidFill>
              <a:effectLst/>
            </a:endParaRPr>
          </a:p>
        </p:txBody>
      </p:sp>
      <p:sp>
        <p:nvSpPr>
          <p:cNvPr id="8" name="Rectangle 7">
            <a:extLst>
              <a:ext uri="{FF2B5EF4-FFF2-40B4-BE49-F238E27FC236}">
                <a16:creationId xmlns:a16="http://schemas.microsoft.com/office/drawing/2014/main" id="{DA8EF870-184C-DA43-8544-BB3520D4DFC0}"/>
              </a:ext>
            </a:extLst>
          </p:cNvPr>
          <p:cNvSpPr/>
          <p:nvPr/>
        </p:nvSpPr>
        <p:spPr>
          <a:xfrm>
            <a:off x="521814" y="4047376"/>
            <a:ext cx="3085458" cy="1015663"/>
          </a:xfrm>
          <a:prstGeom prst="rect">
            <a:avLst/>
          </a:prstGeom>
        </p:spPr>
        <p:txBody>
          <a:bodyPr wrap="square">
            <a:spAutoFit/>
          </a:bodyPr>
          <a:lstStyle/>
          <a:p>
            <a:r>
              <a:rPr lang="en-US" sz="2000" dirty="0">
                <a:solidFill>
                  <a:srgbClr val="C00000"/>
                </a:solidFill>
                <a:latin typeface="LiberationSerif"/>
              </a:rPr>
              <a:t>where </a:t>
            </a:r>
            <a:r>
              <a:rPr lang="el-GR" sz="2000" dirty="0">
                <a:solidFill>
                  <a:srgbClr val="C00000"/>
                </a:solidFill>
                <a:latin typeface="STIXGeneral" pitchFamily="2" charset="2"/>
              </a:rPr>
              <a:t>Δ</a:t>
            </a:r>
            <a:r>
              <a:rPr lang="en-US" sz="2000" i="1" dirty="0">
                <a:solidFill>
                  <a:srgbClr val="C00000"/>
                </a:solidFill>
                <a:latin typeface="STIXGeneral" pitchFamily="2" charset="2"/>
              </a:rPr>
              <a:t>x </a:t>
            </a:r>
            <a:r>
              <a:rPr lang="en-US" sz="2000" dirty="0">
                <a:solidFill>
                  <a:srgbClr val="C00000"/>
                </a:solidFill>
                <a:latin typeface="LiberationSerif"/>
              </a:rPr>
              <a:t>is displacement, </a:t>
            </a:r>
            <a:r>
              <a:rPr lang="en-US" sz="2000" i="1" dirty="0" err="1">
                <a:solidFill>
                  <a:srgbClr val="C00000"/>
                </a:solidFill>
                <a:latin typeface="STIXGeneral" pitchFamily="2" charset="2"/>
              </a:rPr>
              <a:t>x</a:t>
            </a:r>
            <a:r>
              <a:rPr lang="en-US" sz="2000" baseline="-25000" dirty="0" err="1">
                <a:solidFill>
                  <a:srgbClr val="C00000"/>
                </a:solidFill>
                <a:latin typeface="STIXGeneral" pitchFamily="2" charset="2"/>
              </a:rPr>
              <a:t>f</a:t>
            </a:r>
            <a:r>
              <a:rPr lang="en-US" sz="2000" dirty="0">
                <a:solidFill>
                  <a:srgbClr val="C00000"/>
                </a:solidFill>
                <a:latin typeface="STIXGeneral" pitchFamily="2" charset="2"/>
              </a:rPr>
              <a:t> </a:t>
            </a:r>
            <a:r>
              <a:rPr lang="en-US" sz="2000" dirty="0">
                <a:solidFill>
                  <a:srgbClr val="C00000"/>
                </a:solidFill>
                <a:latin typeface="LiberationSerif"/>
              </a:rPr>
              <a:t>is the final position, and </a:t>
            </a:r>
            <a:r>
              <a:rPr lang="en-US" sz="2000" i="1" dirty="0">
                <a:solidFill>
                  <a:srgbClr val="C00000"/>
                </a:solidFill>
                <a:latin typeface="STIXGeneral" pitchFamily="2" charset="2"/>
              </a:rPr>
              <a:t>x</a:t>
            </a:r>
            <a:r>
              <a:rPr lang="en-US" sz="2000" baseline="-25000" dirty="0">
                <a:solidFill>
                  <a:srgbClr val="C00000"/>
                </a:solidFill>
                <a:latin typeface="STIXGeneral" pitchFamily="2" charset="2"/>
              </a:rPr>
              <a:t>0</a:t>
            </a:r>
            <a:r>
              <a:rPr lang="en-US" sz="2000" dirty="0">
                <a:solidFill>
                  <a:srgbClr val="C00000"/>
                </a:solidFill>
                <a:latin typeface="STIXGeneral" pitchFamily="2" charset="2"/>
              </a:rPr>
              <a:t> </a:t>
            </a:r>
            <a:r>
              <a:rPr lang="en-US" sz="2000" dirty="0">
                <a:solidFill>
                  <a:srgbClr val="C00000"/>
                </a:solidFill>
                <a:latin typeface="LiberationSerif"/>
              </a:rPr>
              <a:t>is the initial position. </a:t>
            </a:r>
            <a:endParaRPr lang="en-US" sz="2000" dirty="0">
              <a:solidFill>
                <a:srgbClr val="C00000"/>
              </a:solidFill>
              <a:effectLst/>
            </a:endParaRPr>
          </a:p>
        </p:txBody>
      </p:sp>
      <p:pic>
        <p:nvPicPr>
          <p:cNvPr id="10" name="Picture 9" descr="Diagram, schematic&#10;&#10;Description automatically generated">
            <a:extLst>
              <a:ext uri="{FF2B5EF4-FFF2-40B4-BE49-F238E27FC236}">
                <a16:creationId xmlns:a16="http://schemas.microsoft.com/office/drawing/2014/main" id="{55B2CB05-C6A7-174D-B799-04A463517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875" y="3309813"/>
            <a:ext cx="1952897" cy="594360"/>
          </a:xfrm>
          <a:prstGeom prst="rect">
            <a:avLst/>
          </a:prstGeom>
        </p:spPr>
      </p:pic>
      <p:sp>
        <p:nvSpPr>
          <p:cNvPr id="12" name="Rectangle 11">
            <a:extLst>
              <a:ext uri="{FF2B5EF4-FFF2-40B4-BE49-F238E27FC236}">
                <a16:creationId xmlns:a16="http://schemas.microsoft.com/office/drawing/2014/main" id="{C224DD80-6229-7A4A-AC07-8D981F65FBF1}"/>
              </a:ext>
            </a:extLst>
          </p:cNvPr>
          <p:cNvSpPr/>
          <p:nvPr/>
        </p:nvSpPr>
        <p:spPr>
          <a:xfrm>
            <a:off x="2562215" y="6002412"/>
            <a:ext cx="7755087" cy="707886"/>
          </a:xfrm>
          <a:prstGeom prst="rect">
            <a:avLst/>
          </a:prstGeom>
        </p:spPr>
        <p:txBody>
          <a:bodyPr wrap="square">
            <a:spAutoFit/>
          </a:bodyPr>
          <a:lstStyle/>
          <a:p>
            <a:r>
              <a:rPr lang="en-US" sz="2000" dirty="0">
                <a:latin typeface="LiberationSerif"/>
              </a:rPr>
              <a:t>The total displacement </a:t>
            </a:r>
            <a:r>
              <a:rPr lang="el-GR" sz="2000" dirty="0">
                <a:latin typeface="STIXGeneral" pitchFamily="2" charset="2"/>
              </a:rPr>
              <a:t>Δ</a:t>
            </a:r>
            <a:r>
              <a:rPr lang="en-US" sz="2000" i="1" dirty="0" err="1">
                <a:latin typeface="STIXGeneral" pitchFamily="2" charset="2"/>
              </a:rPr>
              <a:t>x</a:t>
            </a:r>
            <a:r>
              <a:rPr lang="en-US" sz="2000" baseline="-25000" dirty="0" err="1">
                <a:latin typeface="STIXGeneral" pitchFamily="2" charset="2"/>
              </a:rPr>
              <a:t>Total</a:t>
            </a:r>
            <a:r>
              <a:rPr lang="en-US" sz="2000" dirty="0">
                <a:latin typeface="STIXGeneral" pitchFamily="2" charset="2"/>
              </a:rPr>
              <a:t> </a:t>
            </a:r>
            <a:r>
              <a:rPr lang="en-US" sz="2000" dirty="0">
                <a:latin typeface="LiberationSerif"/>
              </a:rPr>
              <a:t>is </a:t>
            </a:r>
            <a:r>
              <a:rPr lang="en-US" sz="2000" i="1" dirty="0">
                <a:latin typeface="LiberationSerif"/>
              </a:rPr>
              <a:t>the sum of the individual displacements</a:t>
            </a:r>
            <a:r>
              <a:rPr lang="en-US" sz="2000" dirty="0">
                <a:latin typeface="LiberationSerif"/>
              </a:rPr>
              <a:t> </a:t>
            </a:r>
            <a:r>
              <a:rPr lang="en-US" sz="2000" dirty="0"/>
              <a:t>where </a:t>
            </a:r>
            <a:r>
              <a:rPr lang="el-GR" sz="2000" dirty="0"/>
              <a:t>Δ</a:t>
            </a:r>
            <a:r>
              <a:rPr lang="en-US" sz="2000" i="1" dirty="0"/>
              <a:t>x</a:t>
            </a:r>
            <a:r>
              <a:rPr lang="en-US" sz="2000" i="1" baseline="-25000" dirty="0"/>
              <a:t>i</a:t>
            </a:r>
            <a:r>
              <a:rPr lang="en-US" sz="2000" i="1" dirty="0"/>
              <a:t> </a:t>
            </a:r>
            <a:r>
              <a:rPr lang="en-US" sz="2000" dirty="0"/>
              <a:t>are the individual displacements.</a:t>
            </a:r>
          </a:p>
        </p:txBody>
      </p:sp>
      <p:pic>
        <p:nvPicPr>
          <p:cNvPr id="14" name="Picture 13" descr="A picture containing text&#10;&#10;Description automatically generated">
            <a:extLst>
              <a:ext uri="{FF2B5EF4-FFF2-40B4-BE49-F238E27FC236}">
                <a16:creationId xmlns:a16="http://schemas.microsoft.com/office/drawing/2014/main" id="{F5DA0EC3-D9FF-104E-ABDA-5AD47CD1D5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77478" y="5904358"/>
            <a:ext cx="1816100" cy="533400"/>
          </a:xfrm>
          <a:prstGeom prst="rect">
            <a:avLst/>
          </a:prstGeom>
        </p:spPr>
      </p:pic>
      <p:sp>
        <p:nvSpPr>
          <p:cNvPr id="15" name="Rectangle 14">
            <a:extLst>
              <a:ext uri="{FF2B5EF4-FFF2-40B4-BE49-F238E27FC236}">
                <a16:creationId xmlns:a16="http://schemas.microsoft.com/office/drawing/2014/main" id="{D2967010-D043-6540-B90F-AD743F3B81E3}"/>
              </a:ext>
            </a:extLst>
          </p:cNvPr>
          <p:cNvSpPr/>
          <p:nvPr/>
        </p:nvSpPr>
        <p:spPr>
          <a:xfrm>
            <a:off x="4849962" y="3288867"/>
            <a:ext cx="5195886" cy="400110"/>
          </a:xfrm>
          <a:prstGeom prst="rect">
            <a:avLst/>
          </a:prstGeom>
        </p:spPr>
        <p:txBody>
          <a:bodyPr wrap="square">
            <a:spAutoFit/>
          </a:bodyPr>
          <a:lstStyle/>
          <a:p>
            <a:r>
              <a:rPr lang="en-US" sz="2000" dirty="0">
                <a:solidFill>
                  <a:srgbClr val="0000CC"/>
                </a:solidFill>
              </a:rPr>
              <a:t>Assignment 1</a:t>
            </a:r>
          </a:p>
        </p:txBody>
      </p:sp>
      <p:sp>
        <p:nvSpPr>
          <p:cNvPr id="6" name="Rectangle 5">
            <a:extLst>
              <a:ext uri="{FF2B5EF4-FFF2-40B4-BE49-F238E27FC236}">
                <a16:creationId xmlns:a16="http://schemas.microsoft.com/office/drawing/2014/main" id="{98B7F738-A2F0-A645-A291-78E30A66AB3F}"/>
              </a:ext>
            </a:extLst>
          </p:cNvPr>
          <p:cNvSpPr/>
          <p:nvPr/>
        </p:nvSpPr>
        <p:spPr>
          <a:xfrm>
            <a:off x="4849962" y="3620782"/>
            <a:ext cx="6096000" cy="646331"/>
          </a:xfrm>
          <a:prstGeom prst="rect">
            <a:avLst/>
          </a:prstGeom>
        </p:spPr>
        <p:txBody>
          <a:bodyPr>
            <a:spAutoFit/>
          </a:bodyPr>
          <a:lstStyle/>
          <a:p>
            <a:r>
              <a:rPr lang="en-US" dirty="0"/>
              <a:t>A rabbit runs 40 ft to south, sees the farmer, turns back and runs 60 ft to north. What is the displacement of the rabbit?</a:t>
            </a:r>
          </a:p>
        </p:txBody>
      </p:sp>
      <p:pic>
        <p:nvPicPr>
          <p:cNvPr id="16" name="Picture Placeholder 1" descr="A photograph of a student’s hand, working on a problem with an open textbook, a calculator, and an eraser.">
            <a:extLst>
              <a:ext uri="{FF2B5EF4-FFF2-40B4-BE49-F238E27FC236}">
                <a16:creationId xmlns:a16="http://schemas.microsoft.com/office/drawing/2014/main" id="{F7E05528-88B6-0147-B4C7-1CBC2C0DD289}"/>
              </a:ext>
            </a:extLst>
          </p:cNvPr>
          <p:cNvPicPr>
            <a:picLocks noChangeAspect="1"/>
          </p:cNvPicPr>
          <p:nvPr/>
        </p:nvPicPr>
        <p:blipFill>
          <a:blip r:embed="rId5" cstate="email">
            <a:extLst>
              <a:ext uri="{28A0092B-C50C-407E-A947-70E740481C1C}">
                <a14:useLocalDpi xmlns:a14="http://schemas.microsoft.com/office/drawing/2010/main" val="0"/>
              </a:ext>
            </a:extLst>
          </a:blip>
          <a:srcRect l="-26893" r="-26893"/>
          <a:stretch>
            <a:fillRect/>
          </a:stretch>
        </p:blipFill>
        <p:spPr>
          <a:xfrm>
            <a:off x="6621830" y="1762881"/>
            <a:ext cx="3159677" cy="1371600"/>
          </a:xfrm>
          <a:prstGeom prst="rect">
            <a:avLst/>
          </a:prstGeom>
        </p:spPr>
      </p:pic>
    </p:spTree>
    <p:extLst>
      <p:ext uri="{BB962C8B-B14F-4D97-AF65-F5344CB8AC3E}">
        <p14:creationId xmlns:p14="http://schemas.microsoft.com/office/powerpoint/2010/main" val="7405163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710733-338A-9A45-A77B-9B015AFDC0F8}"/>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Position, Displacement, and Average Velocity </a:t>
            </a:r>
          </a:p>
        </p:txBody>
      </p:sp>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62710AC-0552-A24A-A575-41F06E3DBC6A}"/>
              </a:ext>
            </a:extLst>
          </p:cNvPr>
          <p:cNvSpPr/>
          <p:nvPr/>
        </p:nvSpPr>
        <p:spPr>
          <a:xfrm>
            <a:off x="501800" y="802276"/>
            <a:ext cx="10444162" cy="1107996"/>
          </a:xfrm>
          <a:prstGeom prst="rect">
            <a:avLst/>
          </a:prstGeom>
        </p:spPr>
        <p:txBody>
          <a:bodyPr wrap="square">
            <a:spAutoFit/>
          </a:bodyPr>
          <a:lstStyle/>
          <a:p>
            <a:r>
              <a:rPr lang="en-US" sz="2200" dirty="0">
                <a:latin typeface="LiberationSerif"/>
              </a:rPr>
              <a:t>If an object moves relative to a frame of reference, then the object’s position changes. This change in position is called </a:t>
            </a:r>
            <a:r>
              <a:rPr lang="en-US" sz="2200" b="1" dirty="0">
                <a:solidFill>
                  <a:srgbClr val="C00000"/>
                </a:solidFill>
                <a:latin typeface="LiberationSerif"/>
              </a:rPr>
              <a:t>displacement</a:t>
            </a:r>
            <a:r>
              <a:rPr lang="en-US" sz="2200" dirty="0">
                <a:solidFill>
                  <a:srgbClr val="C00000"/>
                </a:solidFill>
                <a:latin typeface="LiberationSerif"/>
              </a:rPr>
              <a:t>. </a:t>
            </a:r>
            <a:r>
              <a:rPr lang="en-US" sz="2200" dirty="0">
                <a:latin typeface="LiberationSerif"/>
              </a:rPr>
              <a:t>The word </a:t>
            </a:r>
            <a:r>
              <a:rPr lang="en-US" sz="2200" i="1" dirty="0">
                <a:latin typeface="LiberationSerif"/>
              </a:rPr>
              <a:t>displacement </a:t>
            </a:r>
            <a:r>
              <a:rPr lang="en-US" sz="2200" dirty="0">
                <a:latin typeface="LiberationSerif"/>
              </a:rPr>
              <a:t>implies that an object has moved or has been displaced. </a:t>
            </a:r>
            <a:endParaRPr lang="en-US" sz="2200" dirty="0"/>
          </a:p>
        </p:txBody>
      </p:sp>
      <p:sp>
        <p:nvSpPr>
          <p:cNvPr id="4" name="Rectangle 3">
            <a:extLst>
              <a:ext uri="{FF2B5EF4-FFF2-40B4-BE49-F238E27FC236}">
                <a16:creationId xmlns:a16="http://schemas.microsoft.com/office/drawing/2014/main" id="{E0853A6B-3C3E-8F4E-B783-0116573FF50D}"/>
              </a:ext>
            </a:extLst>
          </p:cNvPr>
          <p:cNvSpPr/>
          <p:nvPr/>
        </p:nvSpPr>
        <p:spPr>
          <a:xfrm>
            <a:off x="501800" y="2494397"/>
            <a:ext cx="3488533" cy="1015663"/>
          </a:xfrm>
          <a:prstGeom prst="rect">
            <a:avLst/>
          </a:prstGeom>
        </p:spPr>
        <p:txBody>
          <a:bodyPr wrap="square">
            <a:spAutoFit/>
          </a:bodyPr>
          <a:lstStyle/>
          <a:p>
            <a:r>
              <a:rPr lang="en-US" sz="2000" dirty="0">
                <a:solidFill>
                  <a:srgbClr val="C00000"/>
                </a:solidFill>
                <a:latin typeface="LiberationSerif"/>
              </a:rPr>
              <a:t>Displacement </a:t>
            </a:r>
            <a:r>
              <a:rPr lang="el-GR" sz="2000" dirty="0">
                <a:solidFill>
                  <a:srgbClr val="C00000"/>
                </a:solidFill>
                <a:latin typeface="STIXGeneral" pitchFamily="2" charset="2"/>
              </a:rPr>
              <a:t>Δ</a:t>
            </a:r>
            <a:r>
              <a:rPr lang="en-US" sz="2000" i="1" dirty="0">
                <a:solidFill>
                  <a:srgbClr val="C00000"/>
                </a:solidFill>
                <a:latin typeface="STIXGeneral" pitchFamily="2" charset="2"/>
              </a:rPr>
              <a:t>x </a:t>
            </a:r>
            <a:r>
              <a:rPr lang="en-US" sz="2000" dirty="0">
                <a:solidFill>
                  <a:srgbClr val="C00000"/>
                </a:solidFill>
                <a:latin typeface="LiberationSerif"/>
              </a:rPr>
              <a:t>is the change in position of an object:</a:t>
            </a:r>
            <a:br>
              <a:rPr lang="en-US" sz="2000" dirty="0">
                <a:solidFill>
                  <a:srgbClr val="C00000"/>
                </a:solidFill>
                <a:latin typeface="LiberationSerif"/>
              </a:rPr>
            </a:br>
            <a:endParaRPr lang="en-US" sz="2000" dirty="0">
              <a:solidFill>
                <a:srgbClr val="C00000"/>
              </a:solidFill>
              <a:effectLst/>
            </a:endParaRPr>
          </a:p>
        </p:txBody>
      </p:sp>
      <p:sp>
        <p:nvSpPr>
          <p:cNvPr id="8" name="Rectangle 7">
            <a:extLst>
              <a:ext uri="{FF2B5EF4-FFF2-40B4-BE49-F238E27FC236}">
                <a16:creationId xmlns:a16="http://schemas.microsoft.com/office/drawing/2014/main" id="{DA8EF870-184C-DA43-8544-BB3520D4DFC0}"/>
              </a:ext>
            </a:extLst>
          </p:cNvPr>
          <p:cNvSpPr/>
          <p:nvPr/>
        </p:nvSpPr>
        <p:spPr>
          <a:xfrm>
            <a:off x="521814" y="4047376"/>
            <a:ext cx="3085458" cy="1015663"/>
          </a:xfrm>
          <a:prstGeom prst="rect">
            <a:avLst/>
          </a:prstGeom>
        </p:spPr>
        <p:txBody>
          <a:bodyPr wrap="square">
            <a:spAutoFit/>
          </a:bodyPr>
          <a:lstStyle/>
          <a:p>
            <a:r>
              <a:rPr lang="en-US" sz="2000" dirty="0">
                <a:solidFill>
                  <a:srgbClr val="C00000"/>
                </a:solidFill>
                <a:latin typeface="LiberationSerif"/>
              </a:rPr>
              <a:t>where </a:t>
            </a:r>
            <a:r>
              <a:rPr lang="el-GR" sz="2000" dirty="0">
                <a:solidFill>
                  <a:srgbClr val="C00000"/>
                </a:solidFill>
                <a:latin typeface="STIXGeneral" pitchFamily="2" charset="2"/>
              </a:rPr>
              <a:t>Δ</a:t>
            </a:r>
            <a:r>
              <a:rPr lang="en-US" sz="2000" i="1" dirty="0">
                <a:solidFill>
                  <a:srgbClr val="C00000"/>
                </a:solidFill>
                <a:latin typeface="STIXGeneral" pitchFamily="2" charset="2"/>
              </a:rPr>
              <a:t>x </a:t>
            </a:r>
            <a:r>
              <a:rPr lang="en-US" sz="2000" dirty="0">
                <a:solidFill>
                  <a:srgbClr val="C00000"/>
                </a:solidFill>
                <a:latin typeface="LiberationSerif"/>
              </a:rPr>
              <a:t>is displacement, </a:t>
            </a:r>
            <a:r>
              <a:rPr lang="en-US" sz="2000" i="1" dirty="0" err="1">
                <a:solidFill>
                  <a:srgbClr val="C00000"/>
                </a:solidFill>
                <a:latin typeface="STIXGeneral" pitchFamily="2" charset="2"/>
              </a:rPr>
              <a:t>x</a:t>
            </a:r>
            <a:r>
              <a:rPr lang="en-US" sz="2000" baseline="-25000" dirty="0" err="1">
                <a:solidFill>
                  <a:srgbClr val="C00000"/>
                </a:solidFill>
                <a:latin typeface="STIXGeneral" pitchFamily="2" charset="2"/>
              </a:rPr>
              <a:t>f</a:t>
            </a:r>
            <a:r>
              <a:rPr lang="en-US" sz="2000" dirty="0">
                <a:solidFill>
                  <a:srgbClr val="C00000"/>
                </a:solidFill>
                <a:latin typeface="STIXGeneral" pitchFamily="2" charset="2"/>
              </a:rPr>
              <a:t> </a:t>
            </a:r>
            <a:r>
              <a:rPr lang="en-US" sz="2000" dirty="0">
                <a:solidFill>
                  <a:srgbClr val="C00000"/>
                </a:solidFill>
                <a:latin typeface="LiberationSerif"/>
              </a:rPr>
              <a:t>is the final position, and </a:t>
            </a:r>
            <a:r>
              <a:rPr lang="en-US" sz="2000" i="1" dirty="0">
                <a:solidFill>
                  <a:srgbClr val="C00000"/>
                </a:solidFill>
                <a:latin typeface="STIXGeneral" pitchFamily="2" charset="2"/>
              </a:rPr>
              <a:t>x</a:t>
            </a:r>
            <a:r>
              <a:rPr lang="en-US" sz="2000" baseline="-25000" dirty="0">
                <a:solidFill>
                  <a:srgbClr val="C00000"/>
                </a:solidFill>
                <a:latin typeface="STIXGeneral" pitchFamily="2" charset="2"/>
              </a:rPr>
              <a:t>0</a:t>
            </a:r>
            <a:r>
              <a:rPr lang="en-US" sz="2000" dirty="0">
                <a:solidFill>
                  <a:srgbClr val="C00000"/>
                </a:solidFill>
                <a:latin typeface="STIXGeneral" pitchFamily="2" charset="2"/>
              </a:rPr>
              <a:t> </a:t>
            </a:r>
            <a:r>
              <a:rPr lang="en-US" sz="2000" dirty="0">
                <a:solidFill>
                  <a:srgbClr val="C00000"/>
                </a:solidFill>
                <a:latin typeface="LiberationSerif"/>
              </a:rPr>
              <a:t>is the initial position. </a:t>
            </a:r>
            <a:endParaRPr lang="en-US" sz="2000" dirty="0">
              <a:solidFill>
                <a:srgbClr val="C00000"/>
              </a:solidFill>
              <a:effectLst/>
            </a:endParaRPr>
          </a:p>
        </p:txBody>
      </p:sp>
      <p:pic>
        <p:nvPicPr>
          <p:cNvPr id="10" name="Picture 9" descr="Diagram, schematic&#10;&#10;Description automatically generated">
            <a:extLst>
              <a:ext uri="{FF2B5EF4-FFF2-40B4-BE49-F238E27FC236}">
                <a16:creationId xmlns:a16="http://schemas.microsoft.com/office/drawing/2014/main" id="{55B2CB05-C6A7-174D-B799-04A463517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875" y="3309813"/>
            <a:ext cx="1952897" cy="594360"/>
          </a:xfrm>
          <a:prstGeom prst="rect">
            <a:avLst/>
          </a:prstGeom>
        </p:spPr>
      </p:pic>
      <p:sp>
        <p:nvSpPr>
          <p:cNvPr id="12" name="Rectangle 11">
            <a:extLst>
              <a:ext uri="{FF2B5EF4-FFF2-40B4-BE49-F238E27FC236}">
                <a16:creationId xmlns:a16="http://schemas.microsoft.com/office/drawing/2014/main" id="{C224DD80-6229-7A4A-AC07-8D981F65FBF1}"/>
              </a:ext>
            </a:extLst>
          </p:cNvPr>
          <p:cNvSpPr/>
          <p:nvPr/>
        </p:nvSpPr>
        <p:spPr>
          <a:xfrm>
            <a:off x="2562215" y="6002412"/>
            <a:ext cx="7755087" cy="707886"/>
          </a:xfrm>
          <a:prstGeom prst="rect">
            <a:avLst/>
          </a:prstGeom>
        </p:spPr>
        <p:txBody>
          <a:bodyPr wrap="square">
            <a:spAutoFit/>
          </a:bodyPr>
          <a:lstStyle/>
          <a:p>
            <a:r>
              <a:rPr lang="en-US" sz="2000" dirty="0">
                <a:latin typeface="LiberationSerif"/>
              </a:rPr>
              <a:t>The total displacement </a:t>
            </a:r>
            <a:r>
              <a:rPr lang="el-GR" sz="2000" dirty="0">
                <a:latin typeface="STIXGeneral" pitchFamily="2" charset="2"/>
              </a:rPr>
              <a:t>Δ</a:t>
            </a:r>
            <a:r>
              <a:rPr lang="en-US" sz="2000" i="1" dirty="0" err="1">
                <a:latin typeface="STIXGeneral" pitchFamily="2" charset="2"/>
              </a:rPr>
              <a:t>x</a:t>
            </a:r>
            <a:r>
              <a:rPr lang="en-US" sz="2000" baseline="-25000" dirty="0" err="1">
                <a:latin typeface="STIXGeneral" pitchFamily="2" charset="2"/>
              </a:rPr>
              <a:t>Total</a:t>
            </a:r>
            <a:r>
              <a:rPr lang="en-US" sz="2000" dirty="0">
                <a:latin typeface="STIXGeneral" pitchFamily="2" charset="2"/>
              </a:rPr>
              <a:t> </a:t>
            </a:r>
            <a:r>
              <a:rPr lang="en-US" sz="2000" dirty="0">
                <a:latin typeface="LiberationSerif"/>
              </a:rPr>
              <a:t>is </a:t>
            </a:r>
            <a:r>
              <a:rPr lang="en-US" sz="2000" i="1" dirty="0">
                <a:latin typeface="LiberationSerif"/>
              </a:rPr>
              <a:t>the sum of the individual displacements</a:t>
            </a:r>
            <a:r>
              <a:rPr lang="en-US" sz="2000" dirty="0">
                <a:latin typeface="LiberationSerif"/>
              </a:rPr>
              <a:t> </a:t>
            </a:r>
            <a:r>
              <a:rPr lang="en-US" sz="2000" dirty="0"/>
              <a:t>where </a:t>
            </a:r>
            <a:r>
              <a:rPr lang="el-GR" sz="2000" dirty="0"/>
              <a:t>Δ</a:t>
            </a:r>
            <a:r>
              <a:rPr lang="en-US" sz="2000" i="1" dirty="0"/>
              <a:t>x</a:t>
            </a:r>
            <a:r>
              <a:rPr lang="en-US" sz="2000" i="1" baseline="-25000" dirty="0"/>
              <a:t>i</a:t>
            </a:r>
            <a:r>
              <a:rPr lang="en-US" sz="2000" i="1" dirty="0"/>
              <a:t> </a:t>
            </a:r>
            <a:r>
              <a:rPr lang="en-US" sz="2000" dirty="0"/>
              <a:t>are the individual displacements.</a:t>
            </a:r>
          </a:p>
        </p:txBody>
      </p:sp>
      <p:pic>
        <p:nvPicPr>
          <p:cNvPr id="14" name="Picture 13" descr="A picture containing text&#10;&#10;Description automatically generated">
            <a:extLst>
              <a:ext uri="{FF2B5EF4-FFF2-40B4-BE49-F238E27FC236}">
                <a16:creationId xmlns:a16="http://schemas.microsoft.com/office/drawing/2014/main" id="{F5DA0EC3-D9FF-104E-ABDA-5AD47CD1D5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77478" y="5904358"/>
            <a:ext cx="1816100" cy="533400"/>
          </a:xfrm>
          <a:prstGeom prst="rect">
            <a:avLst/>
          </a:prstGeom>
        </p:spPr>
      </p:pic>
      <p:sp>
        <p:nvSpPr>
          <p:cNvPr id="13" name="Rectangle 12">
            <a:extLst>
              <a:ext uri="{FF2B5EF4-FFF2-40B4-BE49-F238E27FC236}">
                <a16:creationId xmlns:a16="http://schemas.microsoft.com/office/drawing/2014/main" id="{812A5E8A-9110-7841-96D3-BAE9706E9AAF}"/>
              </a:ext>
            </a:extLst>
          </p:cNvPr>
          <p:cNvSpPr/>
          <p:nvPr/>
        </p:nvSpPr>
        <p:spPr>
          <a:xfrm>
            <a:off x="4849962" y="3351212"/>
            <a:ext cx="5195886" cy="400110"/>
          </a:xfrm>
          <a:prstGeom prst="rect">
            <a:avLst/>
          </a:prstGeom>
        </p:spPr>
        <p:txBody>
          <a:bodyPr wrap="square">
            <a:spAutoFit/>
          </a:bodyPr>
          <a:lstStyle/>
          <a:p>
            <a:r>
              <a:rPr lang="en-US" sz="2000" dirty="0">
                <a:solidFill>
                  <a:srgbClr val="0000CC"/>
                </a:solidFill>
              </a:rPr>
              <a:t>Assignment 2</a:t>
            </a:r>
          </a:p>
        </p:txBody>
      </p:sp>
      <p:sp>
        <p:nvSpPr>
          <p:cNvPr id="7" name="Rectangle 6">
            <a:extLst>
              <a:ext uri="{FF2B5EF4-FFF2-40B4-BE49-F238E27FC236}">
                <a16:creationId xmlns:a16="http://schemas.microsoft.com/office/drawing/2014/main" id="{F8CBE124-3A85-1044-8388-948DD42DBDC2}"/>
              </a:ext>
            </a:extLst>
          </p:cNvPr>
          <p:cNvSpPr/>
          <p:nvPr/>
        </p:nvSpPr>
        <p:spPr>
          <a:xfrm>
            <a:off x="4849962" y="3672438"/>
            <a:ext cx="6096000" cy="646331"/>
          </a:xfrm>
          <a:prstGeom prst="rect">
            <a:avLst/>
          </a:prstGeom>
        </p:spPr>
        <p:txBody>
          <a:bodyPr>
            <a:spAutoFit/>
          </a:bodyPr>
          <a:lstStyle/>
          <a:p>
            <a:r>
              <a:rPr lang="en-US" dirty="0"/>
              <a:t>The puppy runs 8.0 ft to west, then turns left and runs 15 ft south. What is the magnitude of puppy's total displacement?</a:t>
            </a:r>
          </a:p>
        </p:txBody>
      </p:sp>
      <p:pic>
        <p:nvPicPr>
          <p:cNvPr id="16" name="Picture Placeholder 1" descr="A photograph of a student’s hand, working on a problem with an open textbook, a calculator, and an eraser.">
            <a:extLst>
              <a:ext uri="{FF2B5EF4-FFF2-40B4-BE49-F238E27FC236}">
                <a16:creationId xmlns:a16="http://schemas.microsoft.com/office/drawing/2014/main" id="{F7E05528-88B6-0147-B4C7-1CBC2C0DD289}"/>
              </a:ext>
            </a:extLst>
          </p:cNvPr>
          <p:cNvPicPr>
            <a:picLocks noChangeAspect="1"/>
          </p:cNvPicPr>
          <p:nvPr/>
        </p:nvPicPr>
        <p:blipFill>
          <a:blip r:embed="rId5" cstate="email">
            <a:extLst>
              <a:ext uri="{28A0092B-C50C-407E-A947-70E740481C1C}">
                <a14:useLocalDpi xmlns:a14="http://schemas.microsoft.com/office/drawing/2010/main" val="0"/>
              </a:ext>
            </a:extLst>
          </a:blip>
          <a:srcRect l="-26893" r="-26893"/>
          <a:stretch>
            <a:fillRect/>
          </a:stretch>
        </p:blipFill>
        <p:spPr>
          <a:xfrm>
            <a:off x="6621830" y="1762881"/>
            <a:ext cx="3159677" cy="1371600"/>
          </a:xfrm>
          <a:prstGeom prst="rect">
            <a:avLst/>
          </a:prstGeom>
        </p:spPr>
      </p:pic>
    </p:spTree>
    <p:extLst>
      <p:ext uri="{BB962C8B-B14F-4D97-AF65-F5344CB8AC3E}">
        <p14:creationId xmlns:p14="http://schemas.microsoft.com/office/powerpoint/2010/main" val="5628072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710733-338A-9A45-A77B-9B015AFDC0F8}"/>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Position, Displacement, and Average Velocity </a:t>
            </a:r>
          </a:p>
        </p:txBody>
      </p:sp>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AC0E4A84-45C0-F641-AA2E-36680816D497}"/>
              </a:ext>
            </a:extLst>
          </p:cNvPr>
          <p:cNvSpPr/>
          <p:nvPr/>
        </p:nvSpPr>
        <p:spPr>
          <a:xfrm>
            <a:off x="611338" y="659399"/>
            <a:ext cx="10234611" cy="2800767"/>
          </a:xfrm>
          <a:prstGeom prst="rect">
            <a:avLst/>
          </a:prstGeom>
        </p:spPr>
        <p:txBody>
          <a:bodyPr wrap="square">
            <a:spAutoFit/>
          </a:bodyPr>
          <a:lstStyle/>
          <a:p>
            <a:r>
              <a:rPr lang="en-US" sz="2200" dirty="0">
                <a:solidFill>
                  <a:srgbClr val="000066"/>
                </a:solidFill>
                <a:latin typeface="LiberationSerif"/>
              </a:rPr>
              <a:t>The average velocity is the total displacement between two points divided by the time taken to travel between them</a:t>
            </a:r>
          </a:p>
          <a:p>
            <a:endParaRPr lang="en-US" sz="2200" dirty="0">
              <a:solidFill>
                <a:srgbClr val="000066"/>
              </a:solidFill>
              <a:latin typeface="LiberationSerif"/>
            </a:endParaRPr>
          </a:p>
          <a:p>
            <a:endParaRPr lang="en-US" sz="2200" dirty="0">
              <a:solidFill>
                <a:srgbClr val="000066"/>
              </a:solidFill>
              <a:latin typeface="LiberationSerif"/>
            </a:endParaRPr>
          </a:p>
          <a:p>
            <a:endParaRPr lang="en-US" sz="2200" dirty="0">
              <a:solidFill>
                <a:srgbClr val="000066"/>
              </a:solidFill>
              <a:latin typeface="LiberationSerif"/>
            </a:endParaRPr>
          </a:p>
          <a:p>
            <a:r>
              <a:rPr lang="en-US" sz="2200" dirty="0">
                <a:solidFill>
                  <a:srgbClr val="000066"/>
                </a:solidFill>
                <a:latin typeface="LiberationSerif"/>
              </a:rPr>
              <a:t>where </a:t>
            </a:r>
            <a:r>
              <a:rPr lang="en-US" sz="2200" i="1" dirty="0">
                <a:solidFill>
                  <a:srgbClr val="000066"/>
                </a:solidFill>
              </a:rPr>
              <a:t>x</a:t>
            </a:r>
            <a:r>
              <a:rPr lang="en-US" sz="2200" baseline="-25000" dirty="0">
                <a:solidFill>
                  <a:srgbClr val="000066"/>
                </a:solidFill>
              </a:rPr>
              <a:t>1</a:t>
            </a:r>
            <a:r>
              <a:rPr lang="en-US" sz="2200" dirty="0">
                <a:solidFill>
                  <a:srgbClr val="000066"/>
                </a:solidFill>
              </a:rPr>
              <a:t> and </a:t>
            </a:r>
            <a:r>
              <a:rPr lang="en-US" sz="2200" i="1" dirty="0">
                <a:solidFill>
                  <a:srgbClr val="000066"/>
                </a:solidFill>
              </a:rPr>
              <a:t>x</a:t>
            </a:r>
            <a:r>
              <a:rPr lang="en-US" sz="2200" baseline="-25000" dirty="0">
                <a:solidFill>
                  <a:srgbClr val="000066"/>
                </a:solidFill>
              </a:rPr>
              <a:t>2 </a:t>
            </a:r>
            <a:r>
              <a:rPr lang="en-US" sz="2200" dirty="0">
                <a:solidFill>
                  <a:srgbClr val="000066"/>
                </a:solidFill>
              </a:rPr>
              <a:t>are the positions of an object at times </a:t>
            </a:r>
            <a:r>
              <a:rPr lang="en-US" sz="2200" i="1" dirty="0">
                <a:solidFill>
                  <a:srgbClr val="000066"/>
                </a:solidFill>
              </a:rPr>
              <a:t>t</a:t>
            </a:r>
            <a:r>
              <a:rPr lang="en-US" sz="2200" baseline="-25000" dirty="0">
                <a:solidFill>
                  <a:srgbClr val="000066"/>
                </a:solidFill>
              </a:rPr>
              <a:t>1</a:t>
            </a:r>
            <a:r>
              <a:rPr lang="en-US" sz="2200" dirty="0">
                <a:solidFill>
                  <a:srgbClr val="000066"/>
                </a:solidFill>
              </a:rPr>
              <a:t> and </a:t>
            </a:r>
            <a:r>
              <a:rPr lang="en-US" sz="2200" i="1" dirty="0">
                <a:solidFill>
                  <a:srgbClr val="000066"/>
                </a:solidFill>
              </a:rPr>
              <a:t>t</a:t>
            </a:r>
            <a:r>
              <a:rPr lang="en-US" sz="2200" baseline="-25000" dirty="0">
                <a:solidFill>
                  <a:srgbClr val="000066"/>
                </a:solidFill>
              </a:rPr>
              <a:t>2 </a:t>
            </a:r>
            <a:r>
              <a:rPr lang="en-US" sz="2200" dirty="0">
                <a:solidFill>
                  <a:srgbClr val="000066"/>
                </a:solidFill>
              </a:rPr>
              <a:t>, respectively.</a:t>
            </a:r>
            <a:br>
              <a:rPr lang="en-US" sz="2200" dirty="0">
                <a:solidFill>
                  <a:srgbClr val="000066"/>
                </a:solidFill>
              </a:rPr>
            </a:br>
            <a:endParaRPr lang="en-US" sz="2200" dirty="0">
              <a:solidFill>
                <a:srgbClr val="000066"/>
              </a:solidFill>
            </a:endParaRPr>
          </a:p>
          <a:p>
            <a:endParaRPr lang="en-US" sz="2200" dirty="0">
              <a:solidFill>
                <a:srgbClr val="000066"/>
              </a:solidFill>
            </a:endParaRPr>
          </a:p>
        </p:txBody>
      </p:sp>
      <p:pic>
        <p:nvPicPr>
          <p:cNvPr id="6" name="Picture 5">
            <a:extLst>
              <a:ext uri="{FF2B5EF4-FFF2-40B4-BE49-F238E27FC236}">
                <a16:creationId xmlns:a16="http://schemas.microsoft.com/office/drawing/2014/main" id="{DD48FCDE-9B7B-6B4D-A2A1-0DC2E94A77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6535" y="1475975"/>
            <a:ext cx="6553200" cy="777240"/>
          </a:xfrm>
          <a:prstGeom prst="rect">
            <a:avLst/>
          </a:prstGeom>
        </p:spPr>
      </p:pic>
      <p:pic>
        <p:nvPicPr>
          <p:cNvPr id="12" name="Picture 11" descr="A picture containing text, clock, watch&#10;&#10;Description automatically generated">
            <a:extLst>
              <a:ext uri="{FF2B5EF4-FFF2-40B4-BE49-F238E27FC236}">
                <a16:creationId xmlns:a16="http://schemas.microsoft.com/office/drawing/2014/main" id="{3371088D-5037-7B45-90ED-6FA64442CB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79735" y="1475975"/>
            <a:ext cx="2464420" cy="777240"/>
          </a:xfrm>
          <a:prstGeom prst="rect">
            <a:avLst/>
          </a:prstGeom>
        </p:spPr>
      </p:pic>
      <p:sp>
        <p:nvSpPr>
          <p:cNvPr id="13" name="Rectangle 12">
            <a:extLst>
              <a:ext uri="{FF2B5EF4-FFF2-40B4-BE49-F238E27FC236}">
                <a16:creationId xmlns:a16="http://schemas.microsoft.com/office/drawing/2014/main" id="{B7AD0EE8-4209-EA4B-A992-632C3ECF5D50}"/>
              </a:ext>
            </a:extLst>
          </p:cNvPr>
          <p:cNvSpPr/>
          <p:nvPr/>
        </p:nvSpPr>
        <p:spPr>
          <a:xfrm>
            <a:off x="4749949" y="2699683"/>
            <a:ext cx="6096000" cy="707886"/>
          </a:xfrm>
          <a:prstGeom prst="rect">
            <a:avLst/>
          </a:prstGeom>
        </p:spPr>
        <p:txBody>
          <a:bodyPr>
            <a:spAutoFit/>
          </a:bodyPr>
          <a:lstStyle/>
          <a:p>
            <a:r>
              <a:rPr lang="en-US" sz="2000" dirty="0">
                <a:solidFill>
                  <a:srgbClr val="C00000"/>
                </a:solidFill>
                <a:latin typeface="LiberationSerif"/>
              </a:rPr>
              <a:t>Note: average velocity is a vector and can be negative, depending on positions </a:t>
            </a:r>
            <a:r>
              <a:rPr lang="en-US" sz="2000" i="1" dirty="0">
                <a:solidFill>
                  <a:srgbClr val="C00000"/>
                </a:solidFill>
                <a:latin typeface="STIXGeneral" pitchFamily="2" charset="2"/>
              </a:rPr>
              <a:t>x</a:t>
            </a:r>
            <a:r>
              <a:rPr lang="en-US" sz="2000" baseline="-25000" dirty="0">
                <a:solidFill>
                  <a:srgbClr val="C00000"/>
                </a:solidFill>
                <a:latin typeface="STIXGeneral" pitchFamily="2" charset="2"/>
              </a:rPr>
              <a:t>1</a:t>
            </a:r>
            <a:r>
              <a:rPr lang="en-US" sz="2000" dirty="0">
                <a:solidFill>
                  <a:srgbClr val="C00000"/>
                </a:solidFill>
                <a:latin typeface="STIXGeneral" pitchFamily="2" charset="2"/>
              </a:rPr>
              <a:t> </a:t>
            </a:r>
            <a:r>
              <a:rPr lang="en-US" sz="2000" dirty="0">
                <a:solidFill>
                  <a:srgbClr val="C00000"/>
                </a:solidFill>
                <a:latin typeface="LiberationSerif"/>
              </a:rPr>
              <a:t>and </a:t>
            </a:r>
            <a:r>
              <a:rPr lang="en-US" sz="2000" i="1" dirty="0">
                <a:solidFill>
                  <a:srgbClr val="C00000"/>
                </a:solidFill>
                <a:latin typeface="STIXGeneral" pitchFamily="2" charset="2"/>
              </a:rPr>
              <a:t>x</a:t>
            </a:r>
            <a:r>
              <a:rPr lang="en-US" sz="2000" baseline="-25000" dirty="0">
                <a:solidFill>
                  <a:srgbClr val="C00000"/>
                </a:solidFill>
                <a:latin typeface="STIXGeneral" pitchFamily="2" charset="2"/>
              </a:rPr>
              <a:t>2</a:t>
            </a:r>
            <a:r>
              <a:rPr lang="en-US" sz="2000" dirty="0">
                <a:solidFill>
                  <a:srgbClr val="C00000"/>
                </a:solidFill>
                <a:latin typeface="STIXGeneral" pitchFamily="2" charset="2"/>
              </a:rPr>
              <a:t> </a:t>
            </a:r>
            <a:r>
              <a:rPr lang="en-US" sz="2000" dirty="0">
                <a:solidFill>
                  <a:srgbClr val="C00000"/>
                </a:solidFill>
                <a:latin typeface="LiberationSerif"/>
              </a:rPr>
              <a:t>. </a:t>
            </a:r>
            <a:endParaRPr lang="en-US" sz="2000" dirty="0">
              <a:solidFill>
                <a:srgbClr val="C00000"/>
              </a:solidFill>
            </a:endParaRPr>
          </a:p>
        </p:txBody>
      </p:sp>
      <p:sp>
        <p:nvSpPr>
          <p:cNvPr id="14" name="Rectangle 13">
            <a:extLst>
              <a:ext uri="{FF2B5EF4-FFF2-40B4-BE49-F238E27FC236}">
                <a16:creationId xmlns:a16="http://schemas.microsoft.com/office/drawing/2014/main" id="{525FF0AB-81B4-174E-9806-4B211D801C2E}"/>
              </a:ext>
            </a:extLst>
          </p:cNvPr>
          <p:cNvSpPr/>
          <p:nvPr/>
        </p:nvSpPr>
        <p:spPr>
          <a:xfrm>
            <a:off x="382738" y="3439271"/>
            <a:ext cx="1152623" cy="430887"/>
          </a:xfrm>
          <a:prstGeom prst="rect">
            <a:avLst/>
          </a:prstGeom>
        </p:spPr>
        <p:txBody>
          <a:bodyPr wrap="none">
            <a:spAutoFit/>
          </a:bodyPr>
          <a:lstStyle/>
          <a:p>
            <a:r>
              <a:rPr lang="en-US" sz="2200" dirty="0">
                <a:solidFill>
                  <a:srgbClr val="008000"/>
                </a:solidFill>
              </a:rPr>
              <a:t>Example</a:t>
            </a:r>
            <a:endParaRPr lang="en-US" sz="2200" dirty="0"/>
          </a:p>
        </p:txBody>
      </p:sp>
      <p:sp>
        <p:nvSpPr>
          <p:cNvPr id="15" name="Rectangle 14">
            <a:extLst>
              <a:ext uri="{FF2B5EF4-FFF2-40B4-BE49-F238E27FC236}">
                <a16:creationId xmlns:a16="http://schemas.microsoft.com/office/drawing/2014/main" id="{45AE9363-4ECF-8748-A0F7-13F3AA184B98}"/>
              </a:ext>
            </a:extLst>
          </p:cNvPr>
          <p:cNvSpPr/>
          <p:nvPr/>
        </p:nvSpPr>
        <p:spPr>
          <a:xfrm>
            <a:off x="366712" y="3778044"/>
            <a:ext cx="11458575" cy="2862322"/>
          </a:xfrm>
          <a:prstGeom prst="rect">
            <a:avLst/>
          </a:prstGeom>
        </p:spPr>
        <p:txBody>
          <a:bodyPr wrap="square">
            <a:spAutoFit/>
          </a:bodyPr>
          <a:lstStyle/>
          <a:p>
            <a:r>
              <a:rPr lang="en-US" dirty="0">
                <a:solidFill>
                  <a:srgbClr val="000066"/>
                </a:solidFill>
                <a:latin typeface="LiberationSerif"/>
              </a:rPr>
              <a:t>Jill sets out from her home to deliver flyers for her yard sale, traveling due east along her street lined with houses. At </a:t>
            </a:r>
            <a:r>
              <a:rPr lang="en-US" dirty="0">
                <a:solidFill>
                  <a:srgbClr val="000066"/>
                </a:solidFill>
                <a:latin typeface="STIXGeneral" pitchFamily="2" charset="2"/>
              </a:rPr>
              <a:t>0.5 </a:t>
            </a:r>
            <a:r>
              <a:rPr lang="en-US" dirty="0">
                <a:solidFill>
                  <a:srgbClr val="000066"/>
                </a:solidFill>
                <a:latin typeface="LiberationSerif"/>
              </a:rPr>
              <a:t>km and 9 minutes later she runs out of flyers and has to retrace her steps back to her house to get more. </a:t>
            </a:r>
            <a:endParaRPr lang="en-US" dirty="0">
              <a:solidFill>
                <a:srgbClr val="000066"/>
              </a:solidFill>
            </a:endParaRPr>
          </a:p>
          <a:p>
            <a:r>
              <a:rPr lang="en-US" dirty="0">
                <a:solidFill>
                  <a:srgbClr val="000066"/>
                </a:solidFill>
                <a:latin typeface="LiberationSerif"/>
              </a:rPr>
              <a:t>This takes an additional 9 minutes. After picking up more flyers, she sets out again on the same path, continuing where she left off, and ends up 1.0 km from her house. This third leg of her trip takes </a:t>
            </a:r>
            <a:r>
              <a:rPr lang="en-US" dirty="0">
                <a:solidFill>
                  <a:srgbClr val="000066"/>
                </a:solidFill>
                <a:latin typeface="STIXGeneral" pitchFamily="2" charset="2"/>
              </a:rPr>
              <a:t>15 </a:t>
            </a:r>
            <a:r>
              <a:rPr lang="en-US" dirty="0">
                <a:solidFill>
                  <a:srgbClr val="000066"/>
                </a:solidFill>
                <a:latin typeface="LiberationSerif"/>
              </a:rPr>
              <a:t>minutes. At this point </a:t>
            </a:r>
            <a:endParaRPr lang="en-US" dirty="0">
              <a:solidFill>
                <a:srgbClr val="000066"/>
              </a:solidFill>
            </a:endParaRPr>
          </a:p>
          <a:p>
            <a:r>
              <a:rPr lang="en-US" dirty="0">
                <a:solidFill>
                  <a:srgbClr val="000066"/>
                </a:solidFill>
                <a:latin typeface="LiberationSerif"/>
              </a:rPr>
              <a:t>she turns back toward her house, heading west. After </a:t>
            </a:r>
            <a:r>
              <a:rPr lang="en-US" dirty="0">
                <a:solidFill>
                  <a:srgbClr val="000066"/>
                </a:solidFill>
                <a:latin typeface="STIXGeneral" pitchFamily="2" charset="2"/>
              </a:rPr>
              <a:t>1.75 </a:t>
            </a:r>
            <a:r>
              <a:rPr lang="en-US" dirty="0">
                <a:solidFill>
                  <a:srgbClr val="000066"/>
                </a:solidFill>
                <a:latin typeface="LiberationSerif"/>
              </a:rPr>
              <a:t>km and </a:t>
            </a:r>
            <a:r>
              <a:rPr lang="en-US" dirty="0">
                <a:solidFill>
                  <a:srgbClr val="000066"/>
                </a:solidFill>
                <a:latin typeface="STIXGeneral" pitchFamily="2" charset="2"/>
              </a:rPr>
              <a:t>25 </a:t>
            </a:r>
            <a:r>
              <a:rPr lang="en-US" dirty="0">
                <a:solidFill>
                  <a:srgbClr val="000066"/>
                </a:solidFill>
                <a:latin typeface="LiberationSerif"/>
              </a:rPr>
              <a:t>minutes she stops to rest. </a:t>
            </a:r>
            <a:endParaRPr lang="en-US" dirty="0">
              <a:solidFill>
                <a:srgbClr val="000066"/>
              </a:solidFill>
            </a:endParaRPr>
          </a:p>
          <a:p>
            <a:r>
              <a:rPr lang="en-US" dirty="0">
                <a:solidFill>
                  <a:srgbClr val="000066"/>
                </a:solidFill>
                <a:latin typeface="LiberationSerif"/>
              </a:rPr>
              <a:t>a. What is Jill’s total displacement when she stops to rest? </a:t>
            </a:r>
            <a:endParaRPr lang="en-US" dirty="0">
              <a:solidFill>
                <a:srgbClr val="000066"/>
              </a:solidFill>
              <a:latin typeface="LiberationSans"/>
            </a:endParaRPr>
          </a:p>
          <a:p>
            <a:r>
              <a:rPr lang="en-US" dirty="0">
                <a:solidFill>
                  <a:srgbClr val="000066"/>
                </a:solidFill>
                <a:latin typeface="LiberationSerif"/>
              </a:rPr>
              <a:t>b. What is the magnitude of the final displacement? </a:t>
            </a:r>
            <a:endParaRPr lang="en-US" dirty="0">
              <a:solidFill>
                <a:srgbClr val="000066"/>
              </a:solidFill>
              <a:latin typeface="LiberationSans"/>
            </a:endParaRPr>
          </a:p>
          <a:p>
            <a:r>
              <a:rPr lang="en-US" dirty="0">
                <a:solidFill>
                  <a:srgbClr val="000066"/>
                </a:solidFill>
                <a:latin typeface="LiberationSerif"/>
              </a:rPr>
              <a:t>c. What is the average velocity during her entire trip? </a:t>
            </a:r>
            <a:endParaRPr lang="en-US" dirty="0">
              <a:solidFill>
                <a:srgbClr val="000066"/>
              </a:solidFill>
              <a:latin typeface="LiberationSans"/>
            </a:endParaRPr>
          </a:p>
          <a:p>
            <a:r>
              <a:rPr lang="en-US" dirty="0">
                <a:solidFill>
                  <a:srgbClr val="000066"/>
                </a:solidFill>
                <a:latin typeface="LiberationSerif"/>
              </a:rPr>
              <a:t>d. What is the total distance traveled? </a:t>
            </a:r>
            <a:endParaRPr lang="en-US" dirty="0">
              <a:solidFill>
                <a:srgbClr val="000066"/>
              </a:solidFill>
              <a:latin typeface="LiberationSans"/>
            </a:endParaRPr>
          </a:p>
          <a:p>
            <a:r>
              <a:rPr lang="en-US" dirty="0">
                <a:solidFill>
                  <a:srgbClr val="000066"/>
                </a:solidFill>
                <a:latin typeface="LiberationSerif"/>
              </a:rPr>
              <a:t>e. Make a graph of position versus time. </a:t>
            </a:r>
            <a:endParaRPr lang="en-US" dirty="0">
              <a:solidFill>
                <a:srgbClr val="000066"/>
              </a:solidFill>
              <a:latin typeface="LiberationSans"/>
            </a:endParaRPr>
          </a:p>
        </p:txBody>
      </p:sp>
    </p:spTree>
    <p:extLst>
      <p:ext uri="{BB962C8B-B14F-4D97-AF65-F5344CB8AC3E}">
        <p14:creationId xmlns:p14="http://schemas.microsoft.com/office/powerpoint/2010/main" val="39775380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710733-338A-9A45-A77B-9B015AFDC0F8}"/>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Position, Displacement, and Average Velocity </a:t>
            </a:r>
          </a:p>
        </p:txBody>
      </p:sp>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5A0E352-9862-9F45-9CC3-C5D9DA400616}"/>
              </a:ext>
            </a:extLst>
          </p:cNvPr>
          <p:cNvSpPr/>
          <p:nvPr/>
        </p:nvSpPr>
        <p:spPr>
          <a:xfrm>
            <a:off x="382738" y="3439271"/>
            <a:ext cx="1152623" cy="430887"/>
          </a:xfrm>
          <a:prstGeom prst="rect">
            <a:avLst/>
          </a:prstGeom>
        </p:spPr>
        <p:txBody>
          <a:bodyPr wrap="none">
            <a:spAutoFit/>
          </a:bodyPr>
          <a:lstStyle/>
          <a:p>
            <a:r>
              <a:rPr lang="en-US" sz="2200" dirty="0">
                <a:solidFill>
                  <a:srgbClr val="008000"/>
                </a:solidFill>
              </a:rPr>
              <a:t>Example</a:t>
            </a:r>
            <a:endParaRPr lang="en-US" sz="2200" dirty="0"/>
          </a:p>
        </p:txBody>
      </p:sp>
      <p:pic>
        <p:nvPicPr>
          <p:cNvPr id="7" name="Picture Placeholder 1" descr="Figure shows a timeline of a person’s movement. First displacement is from the home to the right by 0.5 kilometers. Second displacement is back to the starting point. Third displacement is to the right by 1.0 kilometer. Fourth displacement is from the final point to the left by 1.75 kilometers.">
            <a:extLst>
              <a:ext uri="{FF2B5EF4-FFF2-40B4-BE49-F238E27FC236}">
                <a16:creationId xmlns:a16="http://schemas.microsoft.com/office/drawing/2014/main" id="{B796764B-26BB-7148-BDD2-93F97D194AC6}"/>
              </a:ext>
            </a:extLst>
          </p:cNvPr>
          <p:cNvPicPr>
            <a:picLocks noChangeAspect="1"/>
          </p:cNvPicPr>
          <p:nvPr/>
        </p:nvPicPr>
        <p:blipFill>
          <a:blip r:embed="rId3">
            <a:extLst>
              <a:ext uri="{28A0092B-C50C-407E-A947-70E740481C1C}">
                <a14:useLocalDpi xmlns:a14="http://schemas.microsoft.com/office/drawing/2010/main" val="0"/>
              </a:ext>
            </a:extLst>
          </a:blip>
          <a:srcRect t="-1166" b="-1166"/>
          <a:stretch>
            <a:fillRect/>
          </a:stretch>
        </p:blipFill>
        <p:spPr>
          <a:xfrm>
            <a:off x="382738" y="625768"/>
            <a:ext cx="6319353" cy="2743200"/>
          </a:xfrm>
          <a:prstGeom prst="rect">
            <a:avLst/>
          </a:prstGeom>
        </p:spPr>
      </p:pic>
      <p:pic>
        <p:nvPicPr>
          <p:cNvPr id="8" name="Picture 7" descr="Table&#10;&#10;Description automatically generated">
            <a:extLst>
              <a:ext uri="{FF2B5EF4-FFF2-40B4-BE49-F238E27FC236}">
                <a16:creationId xmlns:a16="http://schemas.microsoft.com/office/drawing/2014/main" id="{6E486998-46F0-2E41-A1F5-A012F10E11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30425" y="1311568"/>
            <a:ext cx="4794862" cy="2057400"/>
          </a:xfrm>
          <a:prstGeom prst="rect">
            <a:avLst/>
          </a:prstGeom>
        </p:spPr>
      </p:pic>
      <p:sp>
        <p:nvSpPr>
          <p:cNvPr id="11" name="Rectangle 10">
            <a:extLst>
              <a:ext uri="{FF2B5EF4-FFF2-40B4-BE49-F238E27FC236}">
                <a16:creationId xmlns:a16="http://schemas.microsoft.com/office/drawing/2014/main" id="{7FDA3493-A713-C24E-8DF0-20977B231129}"/>
              </a:ext>
            </a:extLst>
          </p:cNvPr>
          <p:cNvSpPr/>
          <p:nvPr/>
        </p:nvSpPr>
        <p:spPr>
          <a:xfrm>
            <a:off x="366712" y="3778044"/>
            <a:ext cx="11458575" cy="2862322"/>
          </a:xfrm>
          <a:prstGeom prst="rect">
            <a:avLst/>
          </a:prstGeom>
        </p:spPr>
        <p:txBody>
          <a:bodyPr wrap="square">
            <a:spAutoFit/>
          </a:bodyPr>
          <a:lstStyle/>
          <a:p>
            <a:r>
              <a:rPr lang="en-US" dirty="0">
                <a:solidFill>
                  <a:srgbClr val="000066"/>
                </a:solidFill>
                <a:latin typeface="LiberationSerif"/>
              </a:rPr>
              <a:t>Jill sets out from her home to deliver flyers for her yard sale, traveling due east along her street lined with houses. At </a:t>
            </a:r>
            <a:r>
              <a:rPr lang="en-US" dirty="0">
                <a:solidFill>
                  <a:srgbClr val="000066"/>
                </a:solidFill>
                <a:latin typeface="STIXGeneral" pitchFamily="2" charset="2"/>
              </a:rPr>
              <a:t>0.5 </a:t>
            </a:r>
            <a:r>
              <a:rPr lang="en-US" dirty="0">
                <a:solidFill>
                  <a:srgbClr val="000066"/>
                </a:solidFill>
                <a:latin typeface="LiberationSerif"/>
              </a:rPr>
              <a:t>km and 9 minutes later she runs out of flyers and has to retrace her steps back to her house to get more. </a:t>
            </a:r>
            <a:endParaRPr lang="en-US" dirty="0">
              <a:solidFill>
                <a:srgbClr val="000066"/>
              </a:solidFill>
            </a:endParaRPr>
          </a:p>
          <a:p>
            <a:r>
              <a:rPr lang="en-US" dirty="0">
                <a:solidFill>
                  <a:srgbClr val="000066"/>
                </a:solidFill>
                <a:latin typeface="LiberationSerif"/>
              </a:rPr>
              <a:t>This takes an additional 9 minutes. After picking up more flyers, she sets out again on the same path, continuing where she left off, and ends up 1.0 km from her house. This third leg of her trip takes </a:t>
            </a:r>
            <a:r>
              <a:rPr lang="en-US" dirty="0">
                <a:solidFill>
                  <a:srgbClr val="000066"/>
                </a:solidFill>
                <a:latin typeface="STIXGeneral" pitchFamily="2" charset="2"/>
              </a:rPr>
              <a:t>15 </a:t>
            </a:r>
            <a:r>
              <a:rPr lang="en-US" dirty="0">
                <a:solidFill>
                  <a:srgbClr val="000066"/>
                </a:solidFill>
                <a:latin typeface="LiberationSerif"/>
              </a:rPr>
              <a:t>minutes. At this point </a:t>
            </a:r>
            <a:endParaRPr lang="en-US" dirty="0">
              <a:solidFill>
                <a:srgbClr val="000066"/>
              </a:solidFill>
            </a:endParaRPr>
          </a:p>
          <a:p>
            <a:r>
              <a:rPr lang="en-US" dirty="0">
                <a:solidFill>
                  <a:srgbClr val="000066"/>
                </a:solidFill>
                <a:latin typeface="LiberationSerif"/>
              </a:rPr>
              <a:t>she turns back toward her house, heading west. After </a:t>
            </a:r>
            <a:r>
              <a:rPr lang="en-US" dirty="0">
                <a:solidFill>
                  <a:srgbClr val="000066"/>
                </a:solidFill>
                <a:latin typeface="STIXGeneral" pitchFamily="2" charset="2"/>
              </a:rPr>
              <a:t>1.75 </a:t>
            </a:r>
            <a:r>
              <a:rPr lang="en-US" dirty="0">
                <a:solidFill>
                  <a:srgbClr val="000066"/>
                </a:solidFill>
                <a:latin typeface="LiberationSerif"/>
              </a:rPr>
              <a:t>km and </a:t>
            </a:r>
            <a:r>
              <a:rPr lang="en-US" dirty="0">
                <a:solidFill>
                  <a:srgbClr val="000066"/>
                </a:solidFill>
                <a:latin typeface="STIXGeneral" pitchFamily="2" charset="2"/>
              </a:rPr>
              <a:t>25 </a:t>
            </a:r>
            <a:r>
              <a:rPr lang="en-US" dirty="0">
                <a:solidFill>
                  <a:srgbClr val="000066"/>
                </a:solidFill>
                <a:latin typeface="LiberationSerif"/>
              </a:rPr>
              <a:t>minutes she stops to rest. </a:t>
            </a:r>
            <a:endParaRPr lang="en-US" dirty="0">
              <a:solidFill>
                <a:srgbClr val="000066"/>
              </a:solidFill>
            </a:endParaRPr>
          </a:p>
          <a:p>
            <a:r>
              <a:rPr lang="en-US" dirty="0">
                <a:solidFill>
                  <a:srgbClr val="000066"/>
                </a:solidFill>
                <a:latin typeface="LiberationSerif"/>
              </a:rPr>
              <a:t>a. What is Jill’s total displacement when she stops to rest? </a:t>
            </a:r>
            <a:endParaRPr lang="en-US" dirty="0">
              <a:solidFill>
                <a:srgbClr val="000066"/>
              </a:solidFill>
              <a:latin typeface="LiberationSans"/>
            </a:endParaRPr>
          </a:p>
          <a:p>
            <a:r>
              <a:rPr lang="en-US" dirty="0">
                <a:solidFill>
                  <a:srgbClr val="000066"/>
                </a:solidFill>
                <a:latin typeface="LiberationSerif"/>
              </a:rPr>
              <a:t>b. What is the magnitude of the final displacement? </a:t>
            </a:r>
            <a:endParaRPr lang="en-US" dirty="0">
              <a:solidFill>
                <a:srgbClr val="000066"/>
              </a:solidFill>
              <a:latin typeface="LiberationSans"/>
            </a:endParaRPr>
          </a:p>
          <a:p>
            <a:r>
              <a:rPr lang="en-US" dirty="0">
                <a:solidFill>
                  <a:srgbClr val="000066"/>
                </a:solidFill>
                <a:latin typeface="LiberationSerif"/>
              </a:rPr>
              <a:t>c. What is the average velocity during her entire trip? </a:t>
            </a:r>
            <a:endParaRPr lang="en-US" dirty="0">
              <a:solidFill>
                <a:srgbClr val="000066"/>
              </a:solidFill>
              <a:latin typeface="LiberationSans"/>
            </a:endParaRPr>
          </a:p>
          <a:p>
            <a:r>
              <a:rPr lang="en-US" dirty="0">
                <a:solidFill>
                  <a:srgbClr val="000066"/>
                </a:solidFill>
                <a:latin typeface="LiberationSerif"/>
              </a:rPr>
              <a:t>d. What is the total distance traveled? </a:t>
            </a:r>
            <a:endParaRPr lang="en-US" dirty="0">
              <a:solidFill>
                <a:srgbClr val="000066"/>
              </a:solidFill>
              <a:latin typeface="LiberationSans"/>
            </a:endParaRPr>
          </a:p>
          <a:p>
            <a:r>
              <a:rPr lang="en-US" dirty="0">
                <a:solidFill>
                  <a:srgbClr val="000066"/>
                </a:solidFill>
                <a:latin typeface="LiberationSerif"/>
              </a:rPr>
              <a:t>e. Make a graph of position versus time. </a:t>
            </a:r>
            <a:endParaRPr lang="en-US" dirty="0">
              <a:solidFill>
                <a:srgbClr val="000066"/>
              </a:solidFill>
              <a:latin typeface="LiberationSans"/>
            </a:endParaRPr>
          </a:p>
        </p:txBody>
      </p:sp>
      <p:pic>
        <p:nvPicPr>
          <p:cNvPr id="13" name="Picture 12" descr="Text&#10;&#10;Description automatically generated">
            <a:extLst>
              <a:ext uri="{FF2B5EF4-FFF2-40B4-BE49-F238E27FC236}">
                <a16:creationId xmlns:a16="http://schemas.microsoft.com/office/drawing/2014/main" id="{D260C7EE-8608-1A4A-AD6D-B85FFD1218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02237" y="5178915"/>
            <a:ext cx="6294827" cy="1600200"/>
          </a:xfrm>
          <a:prstGeom prst="rect">
            <a:avLst/>
          </a:prstGeom>
        </p:spPr>
      </p:pic>
    </p:spTree>
    <p:extLst>
      <p:ext uri="{BB962C8B-B14F-4D97-AF65-F5344CB8AC3E}">
        <p14:creationId xmlns:p14="http://schemas.microsoft.com/office/powerpoint/2010/main" val="12880912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710733-338A-9A45-A77B-9B015AFDC0F8}"/>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Position, Displacement, and Average Velocity </a:t>
            </a:r>
          </a:p>
        </p:txBody>
      </p:sp>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5A0E352-9862-9F45-9CC3-C5D9DA400616}"/>
              </a:ext>
            </a:extLst>
          </p:cNvPr>
          <p:cNvSpPr/>
          <p:nvPr/>
        </p:nvSpPr>
        <p:spPr>
          <a:xfrm>
            <a:off x="382738" y="3439271"/>
            <a:ext cx="1152623" cy="430887"/>
          </a:xfrm>
          <a:prstGeom prst="rect">
            <a:avLst/>
          </a:prstGeom>
        </p:spPr>
        <p:txBody>
          <a:bodyPr wrap="none">
            <a:spAutoFit/>
          </a:bodyPr>
          <a:lstStyle/>
          <a:p>
            <a:r>
              <a:rPr lang="en-US" sz="2200" dirty="0">
                <a:solidFill>
                  <a:srgbClr val="008000"/>
                </a:solidFill>
              </a:rPr>
              <a:t>Example</a:t>
            </a:r>
            <a:endParaRPr lang="en-US" sz="2200" dirty="0"/>
          </a:p>
        </p:txBody>
      </p:sp>
      <p:pic>
        <p:nvPicPr>
          <p:cNvPr id="8" name="Picture 7" descr="Table&#10;&#10;Description automatically generated">
            <a:extLst>
              <a:ext uri="{FF2B5EF4-FFF2-40B4-BE49-F238E27FC236}">
                <a16:creationId xmlns:a16="http://schemas.microsoft.com/office/drawing/2014/main" id="{6E486998-46F0-2E41-A1F5-A012F10E11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0425" y="1311568"/>
            <a:ext cx="4794862" cy="2057400"/>
          </a:xfrm>
          <a:prstGeom prst="rect">
            <a:avLst/>
          </a:prstGeom>
        </p:spPr>
      </p:pic>
      <p:sp>
        <p:nvSpPr>
          <p:cNvPr id="11" name="Rectangle 10">
            <a:extLst>
              <a:ext uri="{FF2B5EF4-FFF2-40B4-BE49-F238E27FC236}">
                <a16:creationId xmlns:a16="http://schemas.microsoft.com/office/drawing/2014/main" id="{7FDA3493-A713-C24E-8DF0-20977B231129}"/>
              </a:ext>
            </a:extLst>
          </p:cNvPr>
          <p:cNvSpPr/>
          <p:nvPr/>
        </p:nvSpPr>
        <p:spPr>
          <a:xfrm>
            <a:off x="366712" y="3778044"/>
            <a:ext cx="11458575" cy="2862322"/>
          </a:xfrm>
          <a:prstGeom prst="rect">
            <a:avLst/>
          </a:prstGeom>
        </p:spPr>
        <p:txBody>
          <a:bodyPr wrap="square">
            <a:spAutoFit/>
          </a:bodyPr>
          <a:lstStyle/>
          <a:p>
            <a:r>
              <a:rPr lang="en-US" dirty="0">
                <a:solidFill>
                  <a:srgbClr val="000066"/>
                </a:solidFill>
                <a:latin typeface="LiberationSerif"/>
              </a:rPr>
              <a:t>Jill sets out from her home to deliver flyers for her yard sale, traveling due east along her street lined with houses. At </a:t>
            </a:r>
            <a:r>
              <a:rPr lang="en-US" dirty="0">
                <a:solidFill>
                  <a:srgbClr val="000066"/>
                </a:solidFill>
                <a:latin typeface="STIXGeneral" pitchFamily="2" charset="2"/>
              </a:rPr>
              <a:t>0.5 </a:t>
            </a:r>
            <a:r>
              <a:rPr lang="en-US" dirty="0">
                <a:solidFill>
                  <a:srgbClr val="000066"/>
                </a:solidFill>
                <a:latin typeface="LiberationSerif"/>
              </a:rPr>
              <a:t>km and 9 minutes later she runs out of flyers and has to retrace her steps back to her house to get more. </a:t>
            </a:r>
            <a:endParaRPr lang="en-US" dirty="0">
              <a:solidFill>
                <a:srgbClr val="000066"/>
              </a:solidFill>
            </a:endParaRPr>
          </a:p>
          <a:p>
            <a:r>
              <a:rPr lang="en-US" dirty="0">
                <a:solidFill>
                  <a:srgbClr val="000066"/>
                </a:solidFill>
                <a:latin typeface="LiberationSerif"/>
              </a:rPr>
              <a:t>This takes an additional 9 minutes. After picking up more flyers, she sets out again on the same path, continuing where she left off, and ends up 1.0 km from her house. This third leg of her trip takes </a:t>
            </a:r>
            <a:r>
              <a:rPr lang="en-US" dirty="0">
                <a:solidFill>
                  <a:srgbClr val="000066"/>
                </a:solidFill>
                <a:latin typeface="STIXGeneral" pitchFamily="2" charset="2"/>
              </a:rPr>
              <a:t>15 </a:t>
            </a:r>
            <a:r>
              <a:rPr lang="en-US" dirty="0">
                <a:solidFill>
                  <a:srgbClr val="000066"/>
                </a:solidFill>
                <a:latin typeface="LiberationSerif"/>
              </a:rPr>
              <a:t>minutes. At this point </a:t>
            </a:r>
            <a:endParaRPr lang="en-US" dirty="0">
              <a:solidFill>
                <a:srgbClr val="000066"/>
              </a:solidFill>
            </a:endParaRPr>
          </a:p>
          <a:p>
            <a:r>
              <a:rPr lang="en-US" dirty="0">
                <a:solidFill>
                  <a:srgbClr val="000066"/>
                </a:solidFill>
                <a:latin typeface="LiberationSerif"/>
              </a:rPr>
              <a:t>she turns back toward her house, heading west. After </a:t>
            </a:r>
            <a:r>
              <a:rPr lang="en-US" dirty="0">
                <a:solidFill>
                  <a:srgbClr val="000066"/>
                </a:solidFill>
                <a:latin typeface="STIXGeneral" pitchFamily="2" charset="2"/>
              </a:rPr>
              <a:t>1.75 </a:t>
            </a:r>
            <a:r>
              <a:rPr lang="en-US" dirty="0">
                <a:solidFill>
                  <a:srgbClr val="000066"/>
                </a:solidFill>
                <a:latin typeface="LiberationSerif"/>
              </a:rPr>
              <a:t>km and </a:t>
            </a:r>
            <a:r>
              <a:rPr lang="en-US" dirty="0">
                <a:solidFill>
                  <a:srgbClr val="000066"/>
                </a:solidFill>
                <a:latin typeface="STIXGeneral" pitchFamily="2" charset="2"/>
              </a:rPr>
              <a:t>25 </a:t>
            </a:r>
            <a:r>
              <a:rPr lang="en-US" dirty="0">
                <a:solidFill>
                  <a:srgbClr val="000066"/>
                </a:solidFill>
                <a:latin typeface="LiberationSerif"/>
              </a:rPr>
              <a:t>minutes she stops to rest. </a:t>
            </a:r>
            <a:endParaRPr lang="en-US" dirty="0">
              <a:solidFill>
                <a:srgbClr val="000066"/>
              </a:solidFill>
            </a:endParaRPr>
          </a:p>
          <a:p>
            <a:r>
              <a:rPr lang="en-US" dirty="0">
                <a:solidFill>
                  <a:srgbClr val="000066"/>
                </a:solidFill>
                <a:latin typeface="LiberationSerif"/>
              </a:rPr>
              <a:t>a. What is Jill’s total displacement when she stops to rest? </a:t>
            </a:r>
            <a:endParaRPr lang="en-US" dirty="0">
              <a:solidFill>
                <a:srgbClr val="000066"/>
              </a:solidFill>
              <a:latin typeface="LiberationSans"/>
            </a:endParaRPr>
          </a:p>
          <a:p>
            <a:r>
              <a:rPr lang="en-US" dirty="0">
                <a:solidFill>
                  <a:srgbClr val="000066"/>
                </a:solidFill>
                <a:latin typeface="LiberationSerif"/>
              </a:rPr>
              <a:t>b. What is the magnitude of the final displacement? </a:t>
            </a:r>
            <a:endParaRPr lang="en-US" dirty="0">
              <a:solidFill>
                <a:srgbClr val="000066"/>
              </a:solidFill>
              <a:latin typeface="LiberationSans"/>
            </a:endParaRPr>
          </a:p>
          <a:p>
            <a:r>
              <a:rPr lang="en-US" dirty="0">
                <a:solidFill>
                  <a:srgbClr val="000066"/>
                </a:solidFill>
                <a:latin typeface="LiberationSerif"/>
              </a:rPr>
              <a:t>c. What is the average velocity during her entire trip? </a:t>
            </a:r>
            <a:endParaRPr lang="en-US" dirty="0">
              <a:solidFill>
                <a:srgbClr val="000066"/>
              </a:solidFill>
              <a:latin typeface="LiberationSans"/>
            </a:endParaRPr>
          </a:p>
          <a:p>
            <a:r>
              <a:rPr lang="en-US" dirty="0">
                <a:solidFill>
                  <a:srgbClr val="000066"/>
                </a:solidFill>
                <a:latin typeface="LiberationSerif"/>
              </a:rPr>
              <a:t>d. What is the total distance traveled? </a:t>
            </a:r>
            <a:endParaRPr lang="en-US" dirty="0">
              <a:solidFill>
                <a:srgbClr val="000066"/>
              </a:solidFill>
              <a:latin typeface="LiberationSans"/>
            </a:endParaRPr>
          </a:p>
          <a:p>
            <a:r>
              <a:rPr lang="en-US" dirty="0">
                <a:solidFill>
                  <a:srgbClr val="000066"/>
                </a:solidFill>
                <a:latin typeface="LiberationSerif"/>
              </a:rPr>
              <a:t>e. Make a graph of position versus time. </a:t>
            </a:r>
            <a:endParaRPr lang="en-US" dirty="0">
              <a:solidFill>
                <a:srgbClr val="000066"/>
              </a:solidFill>
              <a:latin typeface="LiberationSans"/>
            </a:endParaRPr>
          </a:p>
        </p:txBody>
      </p:sp>
      <p:sp>
        <p:nvSpPr>
          <p:cNvPr id="9" name="Rectangle 8">
            <a:extLst>
              <a:ext uri="{FF2B5EF4-FFF2-40B4-BE49-F238E27FC236}">
                <a16:creationId xmlns:a16="http://schemas.microsoft.com/office/drawing/2014/main" id="{D16EBD2D-4B2C-4243-AED4-E0597CF91F08}"/>
              </a:ext>
            </a:extLst>
          </p:cNvPr>
          <p:cNvSpPr/>
          <p:nvPr/>
        </p:nvSpPr>
        <p:spPr>
          <a:xfrm>
            <a:off x="6263448" y="5131942"/>
            <a:ext cx="4429124" cy="646331"/>
          </a:xfrm>
          <a:prstGeom prst="rect">
            <a:avLst/>
          </a:prstGeom>
        </p:spPr>
        <p:txBody>
          <a:bodyPr wrap="square">
            <a:spAutoFit/>
          </a:bodyPr>
          <a:lstStyle/>
          <a:p>
            <a:r>
              <a:rPr lang="en-US" dirty="0">
                <a:latin typeface="LiberationSerif"/>
              </a:rPr>
              <a:t>d. The total distance traveled (sum of magnitudes of individual displacements) is </a:t>
            </a:r>
            <a:endParaRPr lang="en-US" dirty="0">
              <a:latin typeface="LiberationSans"/>
            </a:endParaRPr>
          </a:p>
        </p:txBody>
      </p:sp>
      <p:sp>
        <p:nvSpPr>
          <p:cNvPr id="10" name="Rectangle 9">
            <a:extLst>
              <a:ext uri="{FF2B5EF4-FFF2-40B4-BE49-F238E27FC236}">
                <a16:creationId xmlns:a16="http://schemas.microsoft.com/office/drawing/2014/main" id="{2C019DFC-C3EC-E44C-BD58-AD7F5D2CA8B0}"/>
              </a:ext>
            </a:extLst>
          </p:cNvPr>
          <p:cNvSpPr/>
          <p:nvPr/>
        </p:nvSpPr>
        <p:spPr>
          <a:xfrm>
            <a:off x="6263448" y="6130197"/>
            <a:ext cx="5561839" cy="646331"/>
          </a:xfrm>
          <a:prstGeom prst="rect">
            <a:avLst/>
          </a:prstGeom>
        </p:spPr>
        <p:txBody>
          <a:bodyPr wrap="square">
            <a:spAutoFit/>
          </a:bodyPr>
          <a:lstStyle/>
          <a:p>
            <a:r>
              <a:rPr lang="en-US" dirty="0">
                <a:latin typeface="LiberationSerif"/>
              </a:rPr>
              <a:t>e. We can graph Jill’s position versus time as a useful aid to see the motion; the graph is shown in </a:t>
            </a:r>
            <a:r>
              <a:rPr lang="en-US" dirty="0">
                <a:latin typeface="LiberationSans"/>
              </a:rPr>
              <a:t>figure above. </a:t>
            </a:r>
          </a:p>
        </p:txBody>
      </p:sp>
      <p:pic>
        <p:nvPicPr>
          <p:cNvPr id="14" name="Picture 13">
            <a:extLst>
              <a:ext uri="{FF2B5EF4-FFF2-40B4-BE49-F238E27FC236}">
                <a16:creationId xmlns:a16="http://schemas.microsoft.com/office/drawing/2014/main" id="{BEC3DF18-E365-5540-B71C-6AFC44F084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5133" y="5733573"/>
            <a:ext cx="4855217" cy="429768"/>
          </a:xfrm>
          <a:prstGeom prst="rect">
            <a:avLst/>
          </a:prstGeom>
        </p:spPr>
      </p:pic>
      <p:pic>
        <p:nvPicPr>
          <p:cNvPr id="15" name="Picture Placeholder 1" descr="Graph shows position in kilometers plotted as a function of time in minutes.">
            <a:extLst>
              <a:ext uri="{FF2B5EF4-FFF2-40B4-BE49-F238E27FC236}">
                <a16:creationId xmlns:a16="http://schemas.microsoft.com/office/drawing/2014/main" id="{11FC6976-260E-D744-8D13-8280DE517F80}"/>
              </a:ext>
            </a:extLst>
          </p:cNvPr>
          <p:cNvPicPr>
            <a:picLocks noChangeAspect="1"/>
          </p:cNvPicPr>
          <p:nvPr/>
        </p:nvPicPr>
        <p:blipFill>
          <a:blip r:embed="rId5" cstate="email">
            <a:extLst>
              <a:ext uri="{28A0092B-C50C-407E-A947-70E740481C1C}">
                <a14:useLocalDpi xmlns:a14="http://schemas.microsoft.com/office/drawing/2010/main" val="0"/>
              </a:ext>
            </a:extLst>
          </a:blip>
          <a:srcRect l="-60162" r="-60162"/>
          <a:stretch>
            <a:fillRect/>
          </a:stretch>
        </p:blipFill>
        <p:spPr>
          <a:xfrm>
            <a:off x="1632044" y="682914"/>
            <a:ext cx="6845966" cy="2971800"/>
          </a:xfrm>
          <a:prstGeom prst="rect">
            <a:avLst/>
          </a:prstGeom>
        </p:spPr>
      </p:pic>
      <p:sp>
        <p:nvSpPr>
          <p:cNvPr id="16" name="Text Placeholder 6">
            <a:extLst>
              <a:ext uri="{FF2B5EF4-FFF2-40B4-BE49-F238E27FC236}">
                <a16:creationId xmlns:a16="http://schemas.microsoft.com/office/drawing/2014/main" id="{6C5A6DAF-047E-344C-9918-F52FE484D9E3}"/>
              </a:ext>
            </a:extLst>
          </p:cNvPr>
          <p:cNvSpPr txBox="1">
            <a:spLocks/>
          </p:cNvSpPr>
          <p:nvPr/>
        </p:nvSpPr>
        <p:spPr>
          <a:xfrm>
            <a:off x="623621" y="1424618"/>
            <a:ext cx="2776805" cy="148839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This graph depicts Jill’s position versus time. </a:t>
            </a:r>
          </a:p>
          <a:p>
            <a:pPr marL="0" indent="0">
              <a:buNone/>
            </a:pPr>
            <a:r>
              <a:rPr lang="en-US" sz="1800" dirty="0"/>
              <a:t>The average velocity is the slope of a line connecting the initial and final points.</a:t>
            </a:r>
          </a:p>
        </p:txBody>
      </p:sp>
    </p:spTree>
    <p:extLst>
      <p:ext uri="{BB962C8B-B14F-4D97-AF65-F5344CB8AC3E}">
        <p14:creationId xmlns:p14="http://schemas.microsoft.com/office/powerpoint/2010/main" val="22041654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710733-338A-9A45-A77B-9B015AFDC0F8}"/>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Position, Displacement, and Average Velocity </a:t>
            </a:r>
          </a:p>
        </p:txBody>
      </p:sp>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2986904-E961-3941-ADCA-EFEE63FC61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0777" y="5114102"/>
            <a:ext cx="5396753" cy="640080"/>
          </a:xfrm>
          <a:prstGeom prst="rect">
            <a:avLst/>
          </a:prstGeom>
        </p:spPr>
      </p:pic>
      <p:pic>
        <p:nvPicPr>
          <p:cNvPr id="7" name="Picture 6" descr="A picture containing text, clock, watch&#10;&#10;Description automatically generated">
            <a:extLst>
              <a:ext uri="{FF2B5EF4-FFF2-40B4-BE49-F238E27FC236}">
                <a16:creationId xmlns:a16="http://schemas.microsoft.com/office/drawing/2014/main" id="{03197119-C49F-8548-AB08-DDED1FB371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27530" y="5137512"/>
            <a:ext cx="2029522" cy="640080"/>
          </a:xfrm>
          <a:prstGeom prst="rect">
            <a:avLst/>
          </a:prstGeom>
        </p:spPr>
      </p:pic>
      <p:sp>
        <p:nvSpPr>
          <p:cNvPr id="8" name="Rectangle 7">
            <a:extLst>
              <a:ext uri="{FF2B5EF4-FFF2-40B4-BE49-F238E27FC236}">
                <a16:creationId xmlns:a16="http://schemas.microsoft.com/office/drawing/2014/main" id="{87528F2E-055B-A04B-93EC-6E47D9BE69CF}"/>
              </a:ext>
            </a:extLst>
          </p:cNvPr>
          <p:cNvSpPr/>
          <p:nvPr/>
        </p:nvSpPr>
        <p:spPr>
          <a:xfrm>
            <a:off x="584066" y="3185540"/>
            <a:ext cx="3488533" cy="1015663"/>
          </a:xfrm>
          <a:prstGeom prst="rect">
            <a:avLst/>
          </a:prstGeom>
        </p:spPr>
        <p:txBody>
          <a:bodyPr wrap="square">
            <a:spAutoFit/>
          </a:bodyPr>
          <a:lstStyle/>
          <a:p>
            <a:r>
              <a:rPr lang="en-US" sz="2000" dirty="0">
                <a:solidFill>
                  <a:srgbClr val="C00000"/>
                </a:solidFill>
                <a:latin typeface="LiberationSerif"/>
              </a:rPr>
              <a:t>Displacement </a:t>
            </a:r>
            <a:r>
              <a:rPr lang="el-GR" sz="2000" dirty="0">
                <a:solidFill>
                  <a:srgbClr val="C00000"/>
                </a:solidFill>
                <a:latin typeface="STIXGeneral" pitchFamily="2" charset="2"/>
              </a:rPr>
              <a:t>Δ</a:t>
            </a:r>
            <a:r>
              <a:rPr lang="en-US" sz="2000" i="1" dirty="0">
                <a:solidFill>
                  <a:srgbClr val="C00000"/>
                </a:solidFill>
                <a:latin typeface="STIXGeneral" pitchFamily="2" charset="2"/>
              </a:rPr>
              <a:t>x </a:t>
            </a:r>
            <a:r>
              <a:rPr lang="en-US" sz="2000" dirty="0">
                <a:solidFill>
                  <a:srgbClr val="C00000"/>
                </a:solidFill>
                <a:latin typeface="LiberationSerif"/>
              </a:rPr>
              <a:t>is the change in position of an object:</a:t>
            </a:r>
            <a:br>
              <a:rPr lang="en-US" sz="2000" dirty="0">
                <a:solidFill>
                  <a:srgbClr val="C00000"/>
                </a:solidFill>
                <a:latin typeface="LiberationSerif"/>
              </a:rPr>
            </a:br>
            <a:endParaRPr lang="en-US" sz="2000" dirty="0">
              <a:solidFill>
                <a:srgbClr val="C00000"/>
              </a:solidFill>
              <a:effectLst/>
            </a:endParaRPr>
          </a:p>
        </p:txBody>
      </p:sp>
      <p:sp>
        <p:nvSpPr>
          <p:cNvPr id="9" name="Rectangle 8">
            <a:extLst>
              <a:ext uri="{FF2B5EF4-FFF2-40B4-BE49-F238E27FC236}">
                <a16:creationId xmlns:a16="http://schemas.microsoft.com/office/drawing/2014/main" id="{634B892F-8C50-9540-BA4F-8AA118D827BF}"/>
              </a:ext>
            </a:extLst>
          </p:cNvPr>
          <p:cNvSpPr/>
          <p:nvPr/>
        </p:nvSpPr>
        <p:spPr>
          <a:xfrm>
            <a:off x="604080" y="4738519"/>
            <a:ext cx="3085458" cy="1015663"/>
          </a:xfrm>
          <a:prstGeom prst="rect">
            <a:avLst/>
          </a:prstGeom>
        </p:spPr>
        <p:txBody>
          <a:bodyPr wrap="square">
            <a:spAutoFit/>
          </a:bodyPr>
          <a:lstStyle/>
          <a:p>
            <a:r>
              <a:rPr lang="en-US" sz="2000" dirty="0">
                <a:solidFill>
                  <a:srgbClr val="C00000"/>
                </a:solidFill>
                <a:latin typeface="LiberationSerif"/>
              </a:rPr>
              <a:t>where </a:t>
            </a:r>
            <a:r>
              <a:rPr lang="el-GR" sz="2000" dirty="0">
                <a:solidFill>
                  <a:srgbClr val="C00000"/>
                </a:solidFill>
                <a:latin typeface="STIXGeneral" pitchFamily="2" charset="2"/>
              </a:rPr>
              <a:t>Δ</a:t>
            </a:r>
            <a:r>
              <a:rPr lang="en-US" sz="2000" i="1" dirty="0">
                <a:solidFill>
                  <a:srgbClr val="C00000"/>
                </a:solidFill>
                <a:latin typeface="STIXGeneral" pitchFamily="2" charset="2"/>
              </a:rPr>
              <a:t>x </a:t>
            </a:r>
            <a:r>
              <a:rPr lang="en-US" sz="2000" dirty="0">
                <a:solidFill>
                  <a:srgbClr val="C00000"/>
                </a:solidFill>
                <a:latin typeface="LiberationSerif"/>
              </a:rPr>
              <a:t>is displacement, </a:t>
            </a:r>
            <a:r>
              <a:rPr lang="en-US" sz="2000" i="1" dirty="0" err="1">
                <a:solidFill>
                  <a:srgbClr val="C00000"/>
                </a:solidFill>
                <a:latin typeface="STIXGeneral" pitchFamily="2" charset="2"/>
              </a:rPr>
              <a:t>x</a:t>
            </a:r>
            <a:r>
              <a:rPr lang="en-US" sz="2000" baseline="-25000" dirty="0" err="1">
                <a:solidFill>
                  <a:srgbClr val="C00000"/>
                </a:solidFill>
                <a:latin typeface="STIXGeneral" pitchFamily="2" charset="2"/>
              </a:rPr>
              <a:t>f</a:t>
            </a:r>
            <a:r>
              <a:rPr lang="en-US" sz="2000" dirty="0">
                <a:solidFill>
                  <a:srgbClr val="C00000"/>
                </a:solidFill>
                <a:latin typeface="STIXGeneral" pitchFamily="2" charset="2"/>
              </a:rPr>
              <a:t> </a:t>
            </a:r>
            <a:r>
              <a:rPr lang="en-US" sz="2000" dirty="0">
                <a:solidFill>
                  <a:srgbClr val="C00000"/>
                </a:solidFill>
                <a:latin typeface="LiberationSerif"/>
              </a:rPr>
              <a:t>is the final position, and </a:t>
            </a:r>
            <a:r>
              <a:rPr lang="en-US" sz="2000" i="1" dirty="0">
                <a:solidFill>
                  <a:srgbClr val="C00000"/>
                </a:solidFill>
                <a:latin typeface="STIXGeneral" pitchFamily="2" charset="2"/>
              </a:rPr>
              <a:t>x</a:t>
            </a:r>
            <a:r>
              <a:rPr lang="en-US" sz="2000" baseline="-25000" dirty="0">
                <a:solidFill>
                  <a:srgbClr val="C00000"/>
                </a:solidFill>
                <a:latin typeface="STIXGeneral" pitchFamily="2" charset="2"/>
              </a:rPr>
              <a:t>0</a:t>
            </a:r>
            <a:r>
              <a:rPr lang="en-US" sz="2000" dirty="0">
                <a:solidFill>
                  <a:srgbClr val="C00000"/>
                </a:solidFill>
                <a:latin typeface="STIXGeneral" pitchFamily="2" charset="2"/>
              </a:rPr>
              <a:t> </a:t>
            </a:r>
            <a:r>
              <a:rPr lang="en-US" sz="2000" dirty="0">
                <a:solidFill>
                  <a:srgbClr val="C00000"/>
                </a:solidFill>
                <a:latin typeface="LiberationSerif"/>
              </a:rPr>
              <a:t>is the initial position. </a:t>
            </a:r>
            <a:endParaRPr lang="en-US" sz="2000" dirty="0">
              <a:solidFill>
                <a:srgbClr val="C00000"/>
              </a:solidFill>
              <a:effectLst/>
            </a:endParaRPr>
          </a:p>
        </p:txBody>
      </p:sp>
      <p:pic>
        <p:nvPicPr>
          <p:cNvPr id="10" name="Picture 9" descr="Diagram, schematic&#10;&#10;Description automatically generated">
            <a:extLst>
              <a:ext uri="{FF2B5EF4-FFF2-40B4-BE49-F238E27FC236}">
                <a16:creationId xmlns:a16="http://schemas.microsoft.com/office/drawing/2014/main" id="{BF4EEC75-AD41-CB40-A1E4-54C54F49B1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7141" y="4000956"/>
            <a:ext cx="1952897" cy="594360"/>
          </a:xfrm>
          <a:prstGeom prst="rect">
            <a:avLst/>
          </a:prstGeom>
        </p:spPr>
      </p:pic>
      <p:sp>
        <p:nvSpPr>
          <p:cNvPr id="11" name="Rectangle 10">
            <a:extLst>
              <a:ext uri="{FF2B5EF4-FFF2-40B4-BE49-F238E27FC236}">
                <a16:creationId xmlns:a16="http://schemas.microsoft.com/office/drawing/2014/main" id="{B80B6D4A-E118-8748-8DAF-BCD3DDC86DC0}"/>
              </a:ext>
            </a:extLst>
          </p:cNvPr>
          <p:cNvSpPr/>
          <p:nvPr/>
        </p:nvSpPr>
        <p:spPr>
          <a:xfrm>
            <a:off x="2562215" y="6002412"/>
            <a:ext cx="7755087" cy="707886"/>
          </a:xfrm>
          <a:prstGeom prst="rect">
            <a:avLst/>
          </a:prstGeom>
        </p:spPr>
        <p:txBody>
          <a:bodyPr wrap="square">
            <a:spAutoFit/>
          </a:bodyPr>
          <a:lstStyle/>
          <a:p>
            <a:r>
              <a:rPr lang="en-US" sz="2000" dirty="0">
                <a:latin typeface="LiberationSerif"/>
              </a:rPr>
              <a:t>The total displacement </a:t>
            </a:r>
            <a:r>
              <a:rPr lang="el-GR" sz="2000" dirty="0">
                <a:latin typeface="STIXGeneral" pitchFamily="2" charset="2"/>
              </a:rPr>
              <a:t>Δ</a:t>
            </a:r>
            <a:r>
              <a:rPr lang="en-US" sz="2000" i="1" dirty="0" err="1">
                <a:latin typeface="STIXGeneral" pitchFamily="2" charset="2"/>
              </a:rPr>
              <a:t>x</a:t>
            </a:r>
            <a:r>
              <a:rPr lang="en-US" sz="2000" baseline="-25000" dirty="0" err="1">
                <a:latin typeface="STIXGeneral" pitchFamily="2" charset="2"/>
              </a:rPr>
              <a:t>Total</a:t>
            </a:r>
            <a:r>
              <a:rPr lang="en-US" sz="2000" dirty="0">
                <a:latin typeface="STIXGeneral" pitchFamily="2" charset="2"/>
              </a:rPr>
              <a:t> </a:t>
            </a:r>
            <a:r>
              <a:rPr lang="en-US" sz="2000" dirty="0">
                <a:latin typeface="LiberationSerif"/>
              </a:rPr>
              <a:t>is </a:t>
            </a:r>
            <a:r>
              <a:rPr lang="en-US" sz="2000" i="1" dirty="0">
                <a:latin typeface="LiberationSerif"/>
              </a:rPr>
              <a:t>the sum of the individual displacements</a:t>
            </a:r>
            <a:r>
              <a:rPr lang="en-US" sz="2000" dirty="0">
                <a:latin typeface="LiberationSerif"/>
              </a:rPr>
              <a:t> </a:t>
            </a:r>
            <a:r>
              <a:rPr lang="en-US" sz="2000" dirty="0"/>
              <a:t>where </a:t>
            </a:r>
            <a:r>
              <a:rPr lang="el-GR" sz="2000" dirty="0"/>
              <a:t>Δ</a:t>
            </a:r>
            <a:r>
              <a:rPr lang="en-US" sz="2000" i="1" dirty="0"/>
              <a:t>x</a:t>
            </a:r>
            <a:r>
              <a:rPr lang="en-US" sz="2000" i="1" baseline="-25000" dirty="0"/>
              <a:t>i</a:t>
            </a:r>
            <a:r>
              <a:rPr lang="en-US" sz="2000" i="1" dirty="0"/>
              <a:t> </a:t>
            </a:r>
            <a:r>
              <a:rPr lang="en-US" sz="2000" dirty="0"/>
              <a:t>are the individual displacements.</a:t>
            </a:r>
          </a:p>
        </p:txBody>
      </p:sp>
      <p:pic>
        <p:nvPicPr>
          <p:cNvPr id="12" name="Picture 11" descr="A picture containing text&#10;&#10;Description automatically generated">
            <a:extLst>
              <a:ext uri="{FF2B5EF4-FFF2-40B4-BE49-F238E27FC236}">
                <a16:creationId xmlns:a16="http://schemas.microsoft.com/office/drawing/2014/main" id="{34B2C574-73F7-EF4A-A93F-1D9361AC8C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77478" y="5904358"/>
            <a:ext cx="1816100" cy="533400"/>
          </a:xfrm>
          <a:prstGeom prst="rect">
            <a:avLst/>
          </a:prstGeom>
        </p:spPr>
      </p:pic>
      <p:sp>
        <p:nvSpPr>
          <p:cNvPr id="13" name="Rectangle 12">
            <a:extLst>
              <a:ext uri="{FF2B5EF4-FFF2-40B4-BE49-F238E27FC236}">
                <a16:creationId xmlns:a16="http://schemas.microsoft.com/office/drawing/2014/main" id="{FE495007-B760-2C4F-A5CD-E375B8EDFD39}"/>
              </a:ext>
            </a:extLst>
          </p:cNvPr>
          <p:cNvSpPr/>
          <p:nvPr/>
        </p:nvSpPr>
        <p:spPr>
          <a:xfrm>
            <a:off x="5019692" y="3158110"/>
            <a:ext cx="5195886" cy="400110"/>
          </a:xfrm>
          <a:prstGeom prst="rect">
            <a:avLst/>
          </a:prstGeom>
        </p:spPr>
        <p:txBody>
          <a:bodyPr wrap="square">
            <a:spAutoFit/>
          </a:bodyPr>
          <a:lstStyle/>
          <a:p>
            <a:r>
              <a:rPr lang="en-US" sz="2000" dirty="0">
                <a:solidFill>
                  <a:srgbClr val="0000CC"/>
                </a:solidFill>
              </a:rPr>
              <a:t>Assignment 3</a:t>
            </a:r>
          </a:p>
        </p:txBody>
      </p:sp>
      <p:sp>
        <p:nvSpPr>
          <p:cNvPr id="3" name="Rectangle 2">
            <a:extLst>
              <a:ext uri="{FF2B5EF4-FFF2-40B4-BE49-F238E27FC236}">
                <a16:creationId xmlns:a16="http://schemas.microsoft.com/office/drawing/2014/main" id="{094600A5-6C54-A14C-9459-3AC9EEE50DA2}"/>
              </a:ext>
            </a:extLst>
          </p:cNvPr>
          <p:cNvSpPr/>
          <p:nvPr/>
        </p:nvSpPr>
        <p:spPr>
          <a:xfrm>
            <a:off x="5018104" y="3504842"/>
            <a:ext cx="6096000" cy="1477328"/>
          </a:xfrm>
          <a:prstGeom prst="rect">
            <a:avLst/>
          </a:prstGeom>
        </p:spPr>
        <p:txBody>
          <a:bodyPr>
            <a:spAutoFit/>
          </a:bodyPr>
          <a:lstStyle/>
          <a:p>
            <a:r>
              <a:rPr lang="en-US" dirty="0">
                <a:solidFill>
                  <a:srgbClr val="000066"/>
                </a:solidFill>
                <a:latin typeface="LiberationSerif"/>
              </a:rPr>
              <a:t>A cyclist rides 3 km west for 10 minutes and then turns around and rides 2 km east in 5 minutes. </a:t>
            </a:r>
          </a:p>
          <a:p>
            <a:pPr marL="342900" indent="-342900">
              <a:buAutoNum type="alphaLcParenBoth"/>
            </a:pPr>
            <a:r>
              <a:rPr lang="en-US" dirty="0">
                <a:solidFill>
                  <a:srgbClr val="000066"/>
                </a:solidFill>
                <a:latin typeface="LiberationSerif"/>
              </a:rPr>
              <a:t>What is his displacement? </a:t>
            </a:r>
          </a:p>
          <a:p>
            <a:pPr marL="342900" indent="-342900">
              <a:buAutoNum type="alphaLcParenBoth"/>
            </a:pPr>
            <a:r>
              <a:rPr lang="en-US" dirty="0">
                <a:solidFill>
                  <a:srgbClr val="000066"/>
                </a:solidFill>
                <a:latin typeface="LiberationSerif"/>
              </a:rPr>
              <a:t>What is the distance traveled? </a:t>
            </a:r>
          </a:p>
          <a:p>
            <a:pPr marL="342900" indent="-342900">
              <a:buAutoNum type="alphaLcParenBoth"/>
            </a:pPr>
            <a:r>
              <a:rPr lang="en-US" dirty="0">
                <a:solidFill>
                  <a:srgbClr val="000066"/>
                </a:solidFill>
                <a:latin typeface="LiberationSerif"/>
              </a:rPr>
              <a:t>What is his average velocity in km/h?</a:t>
            </a:r>
            <a:endParaRPr lang="en-US" dirty="0">
              <a:solidFill>
                <a:srgbClr val="000066"/>
              </a:solidFill>
            </a:endParaRPr>
          </a:p>
        </p:txBody>
      </p:sp>
      <p:pic>
        <p:nvPicPr>
          <p:cNvPr id="14" name="Picture Placeholder 1" descr="Figure shows timeline of cyclist’s movement. First displacement is to the left by 3.0 kilometers. Second displacement is from the final point to the right by 2.0 kilometers.">
            <a:extLst>
              <a:ext uri="{FF2B5EF4-FFF2-40B4-BE49-F238E27FC236}">
                <a16:creationId xmlns:a16="http://schemas.microsoft.com/office/drawing/2014/main" id="{D5DA6258-14ED-C14A-80D9-F55C81932EF8}"/>
              </a:ext>
            </a:extLst>
          </p:cNvPr>
          <p:cNvPicPr>
            <a:picLocks noChangeAspect="1"/>
          </p:cNvPicPr>
          <p:nvPr/>
        </p:nvPicPr>
        <p:blipFill>
          <a:blip r:embed="rId7">
            <a:extLst>
              <a:ext uri="{28A0092B-C50C-407E-A947-70E740481C1C}">
                <a14:useLocalDpi xmlns:a14="http://schemas.microsoft.com/office/drawing/2010/main" val="0"/>
              </a:ext>
            </a:extLst>
          </a:blip>
          <a:srcRect t="-21752" b="-21752"/>
          <a:stretch>
            <a:fillRect/>
          </a:stretch>
        </p:blipFill>
        <p:spPr>
          <a:xfrm>
            <a:off x="2936323" y="479815"/>
            <a:ext cx="6319353" cy="2743200"/>
          </a:xfrm>
          <a:prstGeom prst="rect">
            <a:avLst/>
          </a:prstGeom>
        </p:spPr>
      </p:pic>
      <p:pic>
        <p:nvPicPr>
          <p:cNvPr id="16" name="Picture Placeholder 1" descr="A photograph of a student’s hand, working on a problem with an open textbook, a calculator, and an eraser.">
            <a:extLst>
              <a:ext uri="{FF2B5EF4-FFF2-40B4-BE49-F238E27FC236}">
                <a16:creationId xmlns:a16="http://schemas.microsoft.com/office/drawing/2014/main" id="{3211CF4D-B88F-A944-8EC7-A77093EDE612}"/>
              </a:ext>
            </a:extLst>
          </p:cNvPr>
          <p:cNvPicPr>
            <a:picLocks noChangeAspect="1"/>
          </p:cNvPicPr>
          <p:nvPr/>
        </p:nvPicPr>
        <p:blipFill>
          <a:blip r:embed="rId8" cstate="email">
            <a:extLst>
              <a:ext uri="{28A0092B-C50C-407E-A947-70E740481C1C}">
                <a14:useLocalDpi xmlns:a14="http://schemas.microsoft.com/office/drawing/2010/main" val="0"/>
              </a:ext>
            </a:extLst>
          </a:blip>
          <a:srcRect l="-26893" r="-26893"/>
          <a:stretch>
            <a:fillRect/>
          </a:stretch>
        </p:blipFill>
        <p:spPr>
          <a:xfrm>
            <a:off x="8220077" y="1967979"/>
            <a:ext cx="3159677" cy="1371600"/>
          </a:xfrm>
          <a:prstGeom prst="rect">
            <a:avLst/>
          </a:prstGeom>
        </p:spPr>
      </p:pic>
    </p:spTree>
    <p:extLst>
      <p:ext uri="{BB962C8B-B14F-4D97-AF65-F5344CB8AC3E}">
        <p14:creationId xmlns:p14="http://schemas.microsoft.com/office/powerpoint/2010/main" val="14377558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710733-338A-9A45-A77B-9B015AFDC0F8}"/>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Position, Displacement, and Average Velocity </a:t>
            </a:r>
          </a:p>
        </p:txBody>
      </p:sp>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2986904-E961-3941-ADCA-EFEE63FC61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30777" y="5114102"/>
            <a:ext cx="5396753" cy="640080"/>
          </a:xfrm>
          <a:prstGeom prst="rect">
            <a:avLst/>
          </a:prstGeom>
        </p:spPr>
      </p:pic>
      <p:pic>
        <p:nvPicPr>
          <p:cNvPr id="7" name="Picture 6" descr="A picture containing text, clock, watch&#10;&#10;Description automatically generated">
            <a:extLst>
              <a:ext uri="{FF2B5EF4-FFF2-40B4-BE49-F238E27FC236}">
                <a16:creationId xmlns:a16="http://schemas.microsoft.com/office/drawing/2014/main" id="{03197119-C49F-8548-AB08-DDED1FB371B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27530" y="5137512"/>
            <a:ext cx="2029522" cy="640080"/>
          </a:xfrm>
          <a:prstGeom prst="rect">
            <a:avLst/>
          </a:prstGeom>
        </p:spPr>
      </p:pic>
      <p:sp>
        <p:nvSpPr>
          <p:cNvPr id="8" name="Rectangle 7">
            <a:extLst>
              <a:ext uri="{FF2B5EF4-FFF2-40B4-BE49-F238E27FC236}">
                <a16:creationId xmlns:a16="http://schemas.microsoft.com/office/drawing/2014/main" id="{87528F2E-055B-A04B-93EC-6E47D9BE69CF}"/>
              </a:ext>
            </a:extLst>
          </p:cNvPr>
          <p:cNvSpPr/>
          <p:nvPr/>
        </p:nvSpPr>
        <p:spPr>
          <a:xfrm>
            <a:off x="584066" y="3185540"/>
            <a:ext cx="3488533" cy="1015663"/>
          </a:xfrm>
          <a:prstGeom prst="rect">
            <a:avLst/>
          </a:prstGeom>
        </p:spPr>
        <p:txBody>
          <a:bodyPr wrap="square">
            <a:spAutoFit/>
          </a:bodyPr>
          <a:lstStyle/>
          <a:p>
            <a:r>
              <a:rPr lang="en-US" sz="2000" dirty="0">
                <a:solidFill>
                  <a:srgbClr val="C00000"/>
                </a:solidFill>
                <a:latin typeface="LiberationSerif"/>
              </a:rPr>
              <a:t>Displacement </a:t>
            </a:r>
            <a:r>
              <a:rPr lang="el-GR" sz="2000" dirty="0">
                <a:solidFill>
                  <a:srgbClr val="C00000"/>
                </a:solidFill>
                <a:latin typeface="STIXGeneral" pitchFamily="2" charset="2"/>
              </a:rPr>
              <a:t>Δ</a:t>
            </a:r>
            <a:r>
              <a:rPr lang="en-US" sz="2000" i="1" dirty="0">
                <a:solidFill>
                  <a:srgbClr val="C00000"/>
                </a:solidFill>
                <a:latin typeface="STIXGeneral" pitchFamily="2" charset="2"/>
              </a:rPr>
              <a:t>x </a:t>
            </a:r>
            <a:r>
              <a:rPr lang="en-US" sz="2000" dirty="0">
                <a:solidFill>
                  <a:srgbClr val="C00000"/>
                </a:solidFill>
                <a:latin typeface="LiberationSerif"/>
              </a:rPr>
              <a:t>is the change in position of an object:</a:t>
            </a:r>
            <a:br>
              <a:rPr lang="en-US" sz="2000" dirty="0">
                <a:solidFill>
                  <a:srgbClr val="C00000"/>
                </a:solidFill>
                <a:latin typeface="LiberationSerif"/>
              </a:rPr>
            </a:br>
            <a:endParaRPr lang="en-US" sz="2000" dirty="0">
              <a:solidFill>
                <a:srgbClr val="C00000"/>
              </a:solidFill>
              <a:effectLst/>
            </a:endParaRPr>
          </a:p>
        </p:txBody>
      </p:sp>
      <p:sp>
        <p:nvSpPr>
          <p:cNvPr id="9" name="Rectangle 8">
            <a:extLst>
              <a:ext uri="{FF2B5EF4-FFF2-40B4-BE49-F238E27FC236}">
                <a16:creationId xmlns:a16="http://schemas.microsoft.com/office/drawing/2014/main" id="{634B892F-8C50-9540-BA4F-8AA118D827BF}"/>
              </a:ext>
            </a:extLst>
          </p:cNvPr>
          <p:cNvSpPr/>
          <p:nvPr/>
        </p:nvSpPr>
        <p:spPr>
          <a:xfrm>
            <a:off x="604080" y="4738519"/>
            <a:ext cx="3085458" cy="1015663"/>
          </a:xfrm>
          <a:prstGeom prst="rect">
            <a:avLst/>
          </a:prstGeom>
        </p:spPr>
        <p:txBody>
          <a:bodyPr wrap="square">
            <a:spAutoFit/>
          </a:bodyPr>
          <a:lstStyle/>
          <a:p>
            <a:r>
              <a:rPr lang="en-US" sz="2000" dirty="0">
                <a:solidFill>
                  <a:srgbClr val="C00000"/>
                </a:solidFill>
                <a:latin typeface="LiberationSerif"/>
              </a:rPr>
              <a:t>where </a:t>
            </a:r>
            <a:r>
              <a:rPr lang="el-GR" sz="2000" dirty="0">
                <a:solidFill>
                  <a:srgbClr val="C00000"/>
                </a:solidFill>
                <a:latin typeface="STIXGeneral" pitchFamily="2" charset="2"/>
              </a:rPr>
              <a:t>Δ</a:t>
            </a:r>
            <a:r>
              <a:rPr lang="en-US" sz="2000" i="1" dirty="0">
                <a:solidFill>
                  <a:srgbClr val="C00000"/>
                </a:solidFill>
                <a:latin typeface="STIXGeneral" pitchFamily="2" charset="2"/>
              </a:rPr>
              <a:t>x </a:t>
            </a:r>
            <a:r>
              <a:rPr lang="en-US" sz="2000" dirty="0">
                <a:solidFill>
                  <a:srgbClr val="C00000"/>
                </a:solidFill>
                <a:latin typeface="LiberationSerif"/>
              </a:rPr>
              <a:t>is displacement, </a:t>
            </a:r>
            <a:r>
              <a:rPr lang="en-US" sz="2000" i="1" dirty="0" err="1">
                <a:solidFill>
                  <a:srgbClr val="C00000"/>
                </a:solidFill>
                <a:latin typeface="STIXGeneral" pitchFamily="2" charset="2"/>
              </a:rPr>
              <a:t>x</a:t>
            </a:r>
            <a:r>
              <a:rPr lang="en-US" sz="2000" baseline="-25000" dirty="0" err="1">
                <a:solidFill>
                  <a:srgbClr val="C00000"/>
                </a:solidFill>
                <a:latin typeface="STIXGeneral" pitchFamily="2" charset="2"/>
              </a:rPr>
              <a:t>f</a:t>
            </a:r>
            <a:r>
              <a:rPr lang="en-US" sz="2000" dirty="0">
                <a:solidFill>
                  <a:srgbClr val="C00000"/>
                </a:solidFill>
                <a:latin typeface="STIXGeneral" pitchFamily="2" charset="2"/>
              </a:rPr>
              <a:t> </a:t>
            </a:r>
            <a:r>
              <a:rPr lang="en-US" sz="2000" dirty="0">
                <a:solidFill>
                  <a:srgbClr val="C00000"/>
                </a:solidFill>
                <a:latin typeface="LiberationSerif"/>
              </a:rPr>
              <a:t>is the final position, and </a:t>
            </a:r>
            <a:r>
              <a:rPr lang="en-US" sz="2000" i="1" dirty="0">
                <a:solidFill>
                  <a:srgbClr val="C00000"/>
                </a:solidFill>
                <a:latin typeface="STIXGeneral" pitchFamily="2" charset="2"/>
              </a:rPr>
              <a:t>x</a:t>
            </a:r>
            <a:r>
              <a:rPr lang="en-US" sz="2000" baseline="-25000" dirty="0">
                <a:solidFill>
                  <a:srgbClr val="C00000"/>
                </a:solidFill>
                <a:latin typeface="STIXGeneral" pitchFamily="2" charset="2"/>
              </a:rPr>
              <a:t>0</a:t>
            </a:r>
            <a:r>
              <a:rPr lang="en-US" sz="2000" dirty="0">
                <a:solidFill>
                  <a:srgbClr val="C00000"/>
                </a:solidFill>
                <a:latin typeface="STIXGeneral" pitchFamily="2" charset="2"/>
              </a:rPr>
              <a:t> </a:t>
            </a:r>
            <a:r>
              <a:rPr lang="en-US" sz="2000" dirty="0">
                <a:solidFill>
                  <a:srgbClr val="C00000"/>
                </a:solidFill>
                <a:latin typeface="LiberationSerif"/>
              </a:rPr>
              <a:t>is the initial position. </a:t>
            </a:r>
            <a:endParaRPr lang="en-US" sz="2000" dirty="0">
              <a:solidFill>
                <a:srgbClr val="C00000"/>
              </a:solidFill>
              <a:effectLst/>
            </a:endParaRPr>
          </a:p>
        </p:txBody>
      </p:sp>
      <p:pic>
        <p:nvPicPr>
          <p:cNvPr id="10" name="Picture 9" descr="Diagram, schematic&#10;&#10;Description automatically generated">
            <a:extLst>
              <a:ext uri="{FF2B5EF4-FFF2-40B4-BE49-F238E27FC236}">
                <a16:creationId xmlns:a16="http://schemas.microsoft.com/office/drawing/2014/main" id="{BF4EEC75-AD41-CB40-A1E4-54C54F49B1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7141" y="4000956"/>
            <a:ext cx="1952897" cy="594360"/>
          </a:xfrm>
          <a:prstGeom prst="rect">
            <a:avLst/>
          </a:prstGeom>
        </p:spPr>
      </p:pic>
      <p:sp>
        <p:nvSpPr>
          <p:cNvPr id="11" name="Rectangle 10">
            <a:extLst>
              <a:ext uri="{FF2B5EF4-FFF2-40B4-BE49-F238E27FC236}">
                <a16:creationId xmlns:a16="http://schemas.microsoft.com/office/drawing/2014/main" id="{B80B6D4A-E118-8748-8DAF-BCD3DDC86DC0}"/>
              </a:ext>
            </a:extLst>
          </p:cNvPr>
          <p:cNvSpPr/>
          <p:nvPr/>
        </p:nvSpPr>
        <p:spPr>
          <a:xfrm>
            <a:off x="2562215" y="6002412"/>
            <a:ext cx="7755087" cy="707886"/>
          </a:xfrm>
          <a:prstGeom prst="rect">
            <a:avLst/>
          </a:prstGeom>
        </p:spPr>
        <p:txBody>
          <a:bodyPr wrap="square">
            <a:spAutoFit/>
          </a:bodyPr>
          <a:lstStyle/>
          <a:p>
            <a:r>
              <a:rPr lang="en-US" sz="2000" dirty="0">
                <a:latin typeface="LiberationSerif"/>
              </a:rPr>
              <a:t>The total displacement </a:t>
            </a:r>
            <a:r>
              <a:rPr lang="el-GR" sz="2000" dirty="0">
                <a:latin typeface="STIXGeneral" pitchFamily="2" charset="2"/>
              </a:rPr>
              <a:t>Δ</a:t>
            </a:r>
            <a:r>
              <a:rPr lang="en-US" sz="2000" i="1" dirty="0" err="1">
                <a:latin typeface="STIXGeneral" pitchFamily="2" charset="2"/>
              </a:rPr>
              <a:t>x</a:t>
            </a:r>
            <a:r>
              <a:rPr lang="en-US" sz="2000" baseline="-25000" dirty="0" err="1">
                <a:latin typeface="STIXGeneral" pitchFamily="2" charset="2"/>
              </a:rPr>
              <a:t>Total</a:t>
            </a:r>
            <a:r>
              <a:rPr lang="en-US" sz="2000" dirty="0">
                <a:latin typeface="STIXGeneral" pitchFamily="2" charset="2"/>
              </a:rPr>
              <a:t> </a:t>
            </a:r>
            <a:r>
              <a:rPr lang="en-US" sz="2000" dirty="0">
                <a:latin typeface="LiberationSerif"/>
              </a:rPr>
              <a:t>is </a:t>
            </a:r>
            <a:r>
              <a:rPr lang="en-US" sz="2000" i="1" dirty="0">
                <a:latin typeface="LiberationSerif"/>
              </a:rPr>
              <a:t>the sum of the individual displacements</a:t>
            </a:r>
            <a:r>
              <a:rPr lang="en-US" sz="2000" dirty="0">
                <a:latin typeface="LiberationSerif"/>
              </a:rPr>
              <a:t> </a:t>
            </a:r>
            <a:r>
              <a:rPr lang="en-US" sz="2000" dirty="0"/>
              <a:t>where </a:t>
            </a:r>
            <a:r>
              <a:rPr lang="el-GR" sz="2000" dirty="0"/>
              <a:t>Δ</a:t>
            </a:r>
            <a:r>
              <a:rPr lang="en-US" sz="2000" i="1" dirty="0"/>
              <a:t>x</a:t>
            </a:r>
            <a:r>
              <a:rPr lang="en-US" sz="2000" i="1" baseline="-25000" dirty="0"/>
              <a:t>i</a:t>
            </a:r>
            <a:r>
              <a:rPr lang="en-US" sz="2000" i="1" dirty="0"/>
              <a:t> </a:t>
            </a:r>
            <a:r>
              <a:rPr lang="en-US" sz="2000" dirty="0"/>
              <a:t>are the individual displacements.</a:t>
            </a:r>
          </a:p>
        </p:txBody>
      </p:sp>
      <p:pic>
        <p:nvPicPr>
          <p:cNvPr id="12" name="Picture 11" descr="A picture containing text&#10;&#10;Description automatically generated">
            <a:extLst>
              <a:ext uri="{FF2B5EF4-FFF2-40B4-BE49-F238E27FC236}">
                <a16:creationId xmlns:a16="http://schemas.microsoft.com/office/drawing/2014/main" id="{34B2C574-73F7-EF4A-A93F-1D9361AC8C5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177478" y="5904358"/>
            <a:ext cx="1816100" cy="533400"/>
          </a:xfrm>
          <a:prstGeom prst="rect">
            <a:avLst/>
          </a:prstGeom>
        </p:spPr>
      </p:pic>
      <p:sp>
        <p:nvSpPr>
          <p:cNvPr id="13" name="Rectangle 12">
            <a:extLst>
              <a:ext uri="{FF2B5EF4-FFF2-40B4-BE49-F238E27FC236}">
                <a16:creationId xmlns:a16="http://schemas.microsoft.com/office/drawing/2014/main" id="{FE495007-B760-2C4F-A5CD-E375B8EDFD39}"/>
              </a:ext>
            </a:extLst>
          </p:cNvPr>
          <p:cNvSpPr/>
          <p:nvPr/>
        </p:nvSpPr>
        <p:spPr>
          <a:xfrm>
            <a:off x="4830750" y="2196807"/>
            <a:ext cx="5195886" cy="400110"/>
          </a:xfrm>
          <a:prstGeom prst="rect">
            <a:avLst/>
          </a:prstGeom>
        </p:spPr>
        <p:txBody>
          <a:bodyPr wrap="square">
            <a:spAutoFit/>
          </a:bodyPr>
          <a:lstStyle/>
          <a:p>
            <a:r>
              <a:rPr lang="en-US" sz="2000" dirty="0">
                <a:solidFill>
                  <a:srgbClr val="0000CC"/>
                </a:solidFill>
              </a:rPr>
              <a:t>Assignment 4</a:t>
            </a:r>
          </a:p>
        </p:txBody>
      </p:sp>
      <p:sp>
        <p:nvSpPr>
          <p:cNvPr id="4" name="Rectangle 3">
            <a:extLst>
              <a:ext uri="{FF2B5EF4-FFF2-40B4-BE49-F238E27FC236}">
                <a16:creationId xmlns:a16="http://schemas.microsoft.com/office/drawing/2014/main" id="{2A5F0E54-1F22-424B-B572-2179B4CF5353}"/>
              </a:ext>
            </a:extLst>
          </p:cNvPr>
          <p:cNvSpPr/>
          <p:nvPr/>
        </p:nvSpPr>
        <p:spPr>
          <a:xfrm>
            <a:off x="4819650" y="2523628"/>
            <a:ext cx="6096000" cy="1477328"/>
          </a:xfrm>
          <a:prstGeom prst="rect">
            <a:avLst/>
          </a:prstGeom>
        </p:spPr>
        <p:txBody>
          <a:bodyPr>
            <a:spAutoFit/>
          </a:bodyPr>
          <a:lstStyle/>
          <a:p>
            <a:r>
              <a:rPr lang="en-US" dirty="0"/>
              <a:t>John walks 12 meters from his apartment in the 10</a:t>
            </a:r>
            <a:r>
              <a:rPr lang="en-US" baseline="30000" dirty="0"/>
              <a:t>th</a:t>
            </a:r>
            <a:r>
              <a:rPr lang="en-US" dirty="0"/>
              <a:t> floor to reach the elevator in 22 seconds, then rides the elevator which brings him to the ground floor at the street in 38 seconds. If the height of each floor is 2.8 meters, calculate the magnitude of average velocity for the John from his apartment to the street.</a:t>
            </a:r>
          </a:p>
        </p:txBody>
      </p:sp>
      <p:pic>
        <p:nvPicPr>
          <p:cNvPr id="15" name="Picture Placeholder 1" descr="A photograph of a student’s hand, working on a problem with an open textbook, a calculator, and an eraser.">
            <a:extLst>
              <a:ext uri="{FF2B5EF4-FFF2-40B4-BE49-F238E27FC236}">
                <a16:creationId xmlns:a16="http://schemas.microsoft.com/office/drawing/2014/main" id="{A7C9544B-A978-A24D-8A36-F644EFD8D5D4}"/>
              </a:ext>
            </a:extLst>
          </p:cNvPr>
          <p:cNvPicPr>
            <a:picLocks noChangeAspect="1"/>
          </p:cNvPicPr>
          <p:nvPr/>
        </p:nvPicPr>
        <p:blipFill>
          <a:blip r:embed="rId7" cstate="email">
            <a:extLst>
              <a:ext uri="{28A0092B-C50C-407E-A947-70E740481C1C}">
                <a14:useLocalDpi xmlns:a14="http://schemas.microsoft.com/office/drawing/2010/main" val="0"/>
              </a:ext>
            </a:extLst>
          </a:blip>
          <a:srcRect l="-26893" r="-26893"/>
          <a:stretch>
            <a:fillRect/>
          </a:stretch>
        </p:blipFill>
        <p:spPr>
          <a:xfrm>
            <a:off x="-23823" y="1034383"/>
            <a:ext cx="4212902" cy="1828800"/>
          </a:xfrm>
          <a:prstGeom prst="rect">
            <a:avLst/>
          </a:prstGeom>
        </p:spPr>
      </p:pic>
    </p:spTree>
    <p:extLst>
      <p:ext uri="{BB962C8B-B14F-4D97-AF65-F5344CB8AC3E}">
        <p14:creationId xmlns:p14="http://schemas.microsoft.com/office/powerpoint/2010/main" val="174934104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710733-338A-9A45-A77B-9B015AFDC0F8}"/>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Instantaneous Velocity and Speed </a:t>
            </a:r>
          </a:p>
        </p:txBody>
      </p:sp>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386929BE-16F6-BF49-88A7-0491D7E6C9A5}"/>
              </a:ext>
            </a:extLst>
          </p:cNvPr>
          <p:cNvSpPr/>
          <p:nvPr/>
        </p:nvSpPr>
        <p:spPr>
          <a:xfrm>
            <a:off x="473869" y="802276"/>
            <a:ext cx="11244261" cy="769441"/>
          </a:xfrm>
          <a:prstGeom prst="rect">
            <a:avLst/>
          </a:prstGeom>
        </p:spPr>
        <p:txBody>
          <a:bodyPr wrap="square">
            <a:spAutoFit/>
          </a:bodyPr>
          <a:lstStyle/>
          <a:p>
            <a:r>
              <a:rPr lang="en-US" sz="2200" dirty="0">
                <a:solidFill>
                  <a:srgbClr val="000066"/>
                </a:solidFill>
                <a:latin typeface="LiberationSerif"/>
              </a:rPr>
              <a:t>The quantity that tells us how fast an object is moving anywhere along its path is the</a:t>
            </a:r>
            <a:r>
              <a:rPr lang="en-US" sz="2200" dirty="0">
                <a:solidFill>
                  <a:srgbClr val="C00000"/>
                </a:solidFill>
                <a:latin typeface="LiberationSerif"/>
              </a:rPr>
              <a:t> instantaneous velocity.</a:t>
            </a:r>
            <a:endParaRPr lang="en-US" sz="2200" dirty="0">
              <a:solidFill>
                <a:srgbClr val="C00000"/>
              </a:solidFill>
            </a:endParaRPr>
          </a:p>
        </p:txBody>
      </p:sp>
      <p:sp>
        <p:nvSpPr>
          <p:cNvPr id="4" name="Rectangle 3">
            <a:extLst>
              <a:ext uri="{FF2B5EF4-FFF2-40B4-BE49-F238E27FC236}">
                <a16:creationId xmlns:a16="http://schemas.microsoft.com/office/drawing/2014/main" id="{8809480C-44D2-1A4A-8067-4BD5F6D955BE}"/>
              </a:ext>
            </a:extLst>
          </p:cNvPr>
          <p:cNvSpPr/>
          <p:nvPr/>
        </p:nvSpPr>
        <p:spPr>
          <a:xfrm>
            <a:off x="473869" y="1571717"/>
            <a:ext cx="9248776" cy="2246769"/>
          </a:xfrm>
          <a:prstGeom prst="rect">
            <a:avLst/>
          </a:prstGeom>
        </p:spPr>
        <p:txBody>
          <a:bodyPr wrap="square">
            <a:spAutoFit/>
          </a:bodyPr>
          <a:lstStyle/>
          <a:p>
            <a:pPr marL="342900" indent="-342900">
              <a:buFont typeface="Arial" panose="020B0604020202020204" pitchFamily="34" charset="0"/>
              <a:buChar char="•"/>
            </a:pPr>
            <a:r>
              <a:rPr lang="en-US" sz="2000" dirty="0">
                <a:solidFill>
                  <a:srgbClr val="000066"/>
                </a:solidFill>
                <a:latin typeface="LiberationSerif"/>
              </a:rPr>
              <a:t>It is the average velocity between two points on the path in the limit that the time (and therefore the displacement) between the two points approaches zero.</a:t>
            </a:r>
          </a:p>
          <a:p>
            <a:pPr marL="342900" indent="-342900">
              <a:buFont typeface="Arial" panose="020B0604020202020204" pitchFamily="34" charset="0"/>
              <a:buChar char="•"/>
            </a:pPr>
            <a:endParaRPr lang="en-US" sz="2000" dirty="0">
              <a:solidFill>
                <a:srgbClr val="000066"/>
              </a:solidFill>
              <a:latin typeface="LiberationSerif"/>
            </a:endParaRPr>
          </a:p>
          <a:p>
            <a:pPr marL="342900" indent="-342900">
              <a:buFont typeface="Arial" panose="020B0604020202020204" pitchFamily="34" charset="0"/>
              <a:buChar char="•"/>
            </a:pPr>
            <a:endParaRPr lang="en-US" sz="2000" dirty="0">
              <a:solidFill>
                <a:srgbClr val="000066"/>
              </a:solidFill>
              <a:latin typeface="LiberationSerif"/>
            </a:endParaRPr>
          </a:p>
          <a:p>
            <a:endParaRPr lang="en-US" sz="2000" dirty="0">
              <a:solidFill>
                <a:srgbClr val="000066"/>
              </a:solidFill>
              <a:latin typeface="LiberationSerif"/>
            </a:endParaRPr>
          </a:p>
          <a:p>
            <a:r>
              <a:rPr lang="en-US" sz="2000" dirty="0">
                <a:solidFill>
                  <a:srgbClr val="000066"/>
                </a:solidFill>
                <a:latin typeface="LiberationSerif"/>
              </a:rPr>
              <a:t>By other words, the instantaneous velocity of an object is the limit of the average velocity as the elapsed time approaches zero, or the derivative of x with respect to t: </a:t>
            </a:r>
            <a:endParaRPr lang="en-US" sz="2000" dirty="0">
              <a:solidFill>
                <a:srgbClr val="000066"/>
              </a:solidFill>
            </a:endParaRPr>
          </a:p>
        </p:txBody>
      </p:sp>
      <p:pic>
        <p:nvPicPr>
          <p:cNvPr id="7" name="Picture 6" descr="Diagram, schematic&#10;&#10;Description automatically generated">
            <a:extLst>
              <a:ext uri="{FF2B5EF4-FFF2-40B4-BE49-F238E27FC236}">
                <a16:creationId xmlns:a16="http://schemas.microsoft.com/office/drawing/2014/main" id="{9B81AE60-ADD8-B648-909F-7F53F96CB7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7961" y="2284949"/>
            <a:ext cx="4383634" cy="777240"/>
          </a:xfrm>
          <a:prstGeom prst="rect">
            <a:avLst/>
          </a:prstGeom>
        </p:spPr>
      </p:pic>
      <p:pic>
        <p:nvPicPr>
          <p:cNvPr id="9" name="Picture 8" descr="Text&#10;&#10;Description automatically generated">
            <a:extLst>
              <a:ext uri="{FF2B5EF4-FFF2-40B4-BE49-F238E27FC236}">
                <a16:creationId xmlns:a16="http://schemas.microsoft.com/office/drawing/2014/main" id="{C06D9F3C-C025-9F4C-989E-7500C14B90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08652" y="3197542"/>
            <a:ext cx="2128157" cy="777240"/>
          </a:xfrm>
          <a:prstGeom prst="rect">
            <a:avLst/>
          </a:prstGeom>
        </p:spPr>
      </p:pic>
      <p:pic>
        <p:nvPicPr>
          <p:cNvPr id="10" name="Picture Placeholder 1" descr="Graph shows position plotted versus time. Position increases from t1 to t2 and reaches maximum at t0. It decreases to at and continues to decrease at t4. The slope of the tangent line at t0 is indicated as the instantaneous velocity.">
            <a:extLst>
              <a:ext uri="{FF2B5EF4-FFF2-40B4-BE49-F238E27FC236}">
                <a16:creationId xmlns:a16="http://schemas.microsoft.com/office/drawing/2014/main" id="{29C0A410-8C70-DE49-800B-5F1ABBC9019C}"/>
              </a:ext>
            </a:extLst>
          </p:cNvPr>
          <p:cNvPicPr>
            <a:picLocks noChangeAspect="1"/>
          </p:cNvPicPr>
          <p:nvPr/>
        </p:nvPicPr>
        <p:blipFill>
          <a:blip r:embed="rId5">
            <a:extLst>
              <a:ext uri="{28A0092B-C50C-407E-A947-70E740481C1C}">
                <a14:useLocalDpi xmlns:a14="http://schemas.microsoft.com/office/drawing/2010/main" val="0"/>
              </a:ext>
            </a:extLst>
          </a:blip>
          <a:srcRect l="-47933" r="-47933"/>
          <a:stretch>
            <a:fillRect/>
          </a:stretch>
        </p:blipFill>
        <p:spPr>
          <a:xfrm>
            <a:off x="3881922" y="3789910"/>
            <a:ext cx="6845966" cy="2971800"/>
          </a:xfrm>
          <a:prstGeom prst="rect">
            <a:avLst/>
          </a:prstGeom>
        </p:spPr>
      </p:pic>
      <mc:AlternateContent xmlns:mc="http://schemas.openxmlformats.org/markup-compatibility/2006" xmlns:a14="http://schemas.microsoft.com/office/drawing/2010/main">
        <mc:Choice Requires="a14">
          <p:sp>
            <p:nvSpPr>
              <p:cNvPr id="11" name="Text Placeholder 6">
                <a:extLst>
                  <a:ext uri="{FF2B5EF4-FFF2-40B4-BE49-F238E27FC236}">
                    <a16:creationId xmlns:a16="http://schemas.microsoft.com/office/drawing/2014/main" id="{97C8B5F6-2908-6D49-8DC7-A5782809CBA5}"/>
                  </a:ext>
                </a:extLst>
              </p:cNvPr>
              <p:cNvSpPr txBox="1">
                <a:spLocks/>
              </p:cNvSpPr>
              <p:nvPr/>
            </p:nvSpPr>
            <p:spPr>
              <a:xfrm>
                <a:off x="469105" y="3874765"/>
                <a:ext cx="5117306" cy="258318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en-US" sz="1800" dirty="0"/>
                  <a:t>In a graph of position versus time, the instantaneous velocity is the slope of the tangent line at a given point. The average velocities  </a:t>
                </a:r>
                <a14:m>
                  <m:oMath xmlns:m="http://schemas.openxmlformats.org/officeDocument/2006/math">
                    <m:acc>
                      <m:accPr>
                        <m:chr m:val="̅"/>
                        <m:ctrlPr>
                          <a:rPr lang="en-US" sz="1800" i="1" smtClean="0">
                            <a:latin typeface="Cambria Math" panose="02040503050406030204" pitchFamily="18" charset="0"/>
                          </a:rPr>
                        </m:ctrlPr>
                      </m:accPr>
                      <m:e>
                        <m:r>
                          <a:rPr lang="en-US" sz="1800" i="1" smtClean="0">
                            <a:latin typeface="Cambria Math"/>
                          </a:rPr>
                          <m:t>𝑣</m:t>
                        </m:r>
                      </m:e>
                    </m:acc>
                    <m:r>
                      <a:rPr lang="en-US" sz="1800" i="1" smtClean="0">
                        <a:latin typeface="Cambria Math"/>
                      </a:rPr>
                      <m:t> = </m:t>
                    </m:r>
                    <m:f>
                      <m:fPr>
                        <m:ctrlPr>
                          <a:rPr lang="en-US" sz="1800" i="1" smtClean="0">
                            <a:latin typeface="Cambria Math" panose="02040503050406030204" pitchFamily="18" charset="0"/>
                          </a:rPr>
                        </m:ctrlPr>
                      </m:fPr>
                      <m:num>
                        <m:r>
                          <m:rPr>
                            <m:sty m:val="p"/>
                          </m:rPr>
                          <a:rPr lang="el-GR" sz="1800" smtClean="0">
                            <a:latin typeface="Cambria Math"/>
                          </a:rPr>
                          <m:t>Δ</m:t>
                        </m:r>
                        <m:r>
                          <a:rPr lang="en-US" sz="1800" i="1" smtClean="0">
                            <a:latin typeface="Cambria Math"/>
                          </a:rPr>
                          <m:t>𝑥</m:t>
                        </m:r>
                      </m:num>
                      <m:den>
                        <m:r>
                          <m:rPr>
                            <m:sty m:val="p"/>
                          </m:rPr>
                          <a:rPr lang="el-GR" sz="1800" smtClean="0">
                            <a:latin typeface="Cambria Math"/>
                          </a:rPr>
                          <m:t>Δ</m:t>
                        </m:r>
                        <m:r>
                          <a:rPr lang="en-US" sz="1800" i="1" smtClean="0">
                            <a:latin typeface="Cambria Math"/>
                          </a:rPr>
                          <m:t>𝑡</m:t>
                        </m:r>
                      </m:den>
                    </m:f>
                    <m:r>
                      <a:rPr lang="en-US" sz="1800" i="1" smtClean="0">
                        <a:latin typeface="Cambria Math"/>
                      </a:rPr>
                      <m:t> = </m:t>
                    </m:r>
                    <m:box>
                      <m:boxPr>
                        <m:ctrlPr>
                          <a:rPr lang="en-US" sz="1800" i="1" smtClean="0">
                            <a:latin typeface="Cambria Math" panose="02040503050406030204" pitchFamily="18" charset="0"/>
                          </a:rPr>
                        </m:ctrlPr>
                      </m:boxPr>
                      <m:e>
                        <m:argPr>
                          <m:argSz m:val="-1"/>
                        </m:argPr>
                        <m:f>
                          <m:fPr>
                            <m:ctrlPr>
                              <a:rPr lang="en-US" sz="1800" i="1" smtClean="0">
                                <a:latin typeface="Cambria Math" panose="02040503050406030204" pitchFamily="18" charset="0"/>
                              </a:rPr>
                            </m:ctrlPr>
                          </m:fPr>
                          <m:num>
                            <m:sSub>
                              <m:sSubPr>
                                <m:ctrlPr>
                                  <a:rPr lang="en-US" sz="1800" i="1" dirty="0">
                                    <a:latin typeface="Cambria Math" panose="02040503050406030204" pitchFamily="18" charset="0"/>
                                  </a:rPr>
                                </m:ctrlPr>
                              </m:sSubPr>
                              <m:e>
                                <m:r>
                                  <a:rPr lang="en-US" sz="1800" i="1" dirty="0">
                                    <a:latin typeface="Cambria Math"/>
                                  </a:rPr>
                                  <m:t>𝑥</m:t>
                                </m:r>
                              </m:e>
                              <m:sub>
                                <m:r>
                                  <a:rPr lang="en-US" sz="1800" i="1" dirty="0">
                                    <a:latin typeface="Cambria Math"/>
                                  </a:rPr>
                                  <m:t>𝑓</m:t>
                                </m:r>
                                <m:r>
                                  <a:rPr lang="en-US" sz="1800" i="1" dirty="0" smtClean="0">
                                    <a:latin typeface="Cambria Math"/>
                                  </a:rPr>
                                  <m:t> </m:t>
                                </m:r>
                              </m:sub>
                            </m:sSub>
                            <m:r>
                              <a:rPr lang="en-US" sz="1800" i="1" smtClean="0">
                                <a:latin typeface="Cambria Math"/>
                              </a:rPr>
                              <m:t>− </m:t>
                            </m:r>
                            <m:sSub>
                              <m:sSubPr>
                                <m:ctrlPr>
                                  <a:rPr lang="en-US" sz="1800" i="1" dirty="0">
                                    <a:latin typeface="Cambria Math" panose="02040503050406030204" pitchFamily="18" charset="0"/>
                                  </a:rPr>
                                </m:ctrlPr>
                              </m:sSubPr>
                              <m:e>
                                <m:r>
                                  <a:rPr lang="en-US" sz="1800" i="1" dirty="0">
                                    <a:latin typeface="Cambria Math"/>
                                  </a:rPr>
                                  <m:t>𝑥</m:t>
                                </m:r>
                              </m:e>
                              <m:sub>
                                <m:r>
                                  <a:rPr lang="en-US" sz="1800" i="1" dirty="0" smtClean="0">
                                    <a:latin typeface="Cambria Math"/>
                                  </a:rPr>
                                  <m:t>𝑖</m:t>
                                </m:r>
                              </m:sub>
                            </m:sSub>
                          </m:num>
                          <m:den>
                            <m:sSub>
                              <m:sSubPr>
                                <m:ctrlPr>
                                  <a:rPr lang="en-US" sz="1800" i="1" dirty="0">
                                    <a:latin typeface="Cambria Math" panose="02040503050406030204" pitchFamily="18" charset="0"/>
                                  </a:rPr>
                                </m:ctrlPr>
                              </m:sSubPr>
                              <m:e>
                                <m:r>
                                  <a:rPr lang="en-US" sz="1800" i="1" dirty="0" smtClean="0">
                                    <a:latin typeface="Cambria Math"/>
                                  </a:rPr>
                                  <m:t>𝑡</m:t>
                                </m:r>
                              </m:e>
                              <m:sub>
                                <m:r>
                                  <a:rPr lang="en-US" sz="1800" i="1" dirty="0">
                                    <a:latin typeface="Cambria Math"/>
                                  </a:rPr>
                                  <m:t>𝑓</m:t>
                                </m:r>
                              </m:sub>
                            </m:sSub>
                            <m:r>
                              <a:rPr lang="en-US" sz="1800" i="1" smtClean="0">
                                <a:latin typeface="Cambria Math"/>
                              </a:rPr>
                              <m:t>−</m:t>
                            </m:r>
                            <m:sSub>
                              <m:sSubPr>
                                <m:ctrlPr>
                                  <a:rPr lang="en-US" sz="1800" i="1" dirty="0">
                                    <a:latin typeface="Cambria Math" panose="02040503050406030204" pitchFamily="18" charset="0"/>
                                  </a:rPr>
                                </m:ctrlPr>
                              </m:sSubPr>
                              <m:e>
                                <m:r>
                                  <a:rPr lang="en-US" sz="1800" i="1" dirty="0" smtClean="0">
                                    <a:latin typeface="Cambria Math"/>
                                  </a:rPr>
                                  <m:t> </m:t>
                                </m:r>
                                <m:r>
                                  <a:rPr lang="en-US" sz="1800" i="1" dirty="0" smtClean="0">
                                    <a:latin typeface="Cambria Math"/>
                                  </a:rPr>
                                  <m:t>𝑡</m:t>
                                </m:r>
                              </m:e>
                              <m:sub>
                                <m:r>
                                  <a:rPr lang="en-US" sz="1800" i="1" dirty="0" smtClean="0">
                                    <a:latin typeface="Cambria Math"/>
                                  </a:rPr>
                                  <m:t>𝑖</m:t>
                                </m:r>
                              </m:sub>
                            </m:sSub>
                          </m:den>
                        </m:f>
                      </m:e>
                    </m:box>
                  </m:oMath>
                </a14:m>
                <a:r>
                  <a:rPr lang="en-US" sz="1800" dirty="0"/>
                  <a:t>  between times </a:t>
                </a:r>
                <a14:m>
                  <m:oMath xmlns:m="http://schemas.openxmlformats.org/officeDocument/2006/math">
                    <m:r>
                      <a:rPr lang="en-US" sz="1800" i="1" dirty="0" smtClean="0">
                        <a:latin typeface="Cambria Math"/>
                        <a:ea typeface="Cambria Math"/>
                      </a:rPr>
                      <m:t>∆</m:t>
                    </m:r>
                    <m:r>
                      <a:rPr lang="en-US" sz="1800" i="1" dirty="0" smtClean="0">
                        <a:latin typeface="Cambria Math"/>
                        <a:ea typeface="Cambria Math"/>
                      </a:rPr>
                      <m:t>𝑡</m:t>
                    </m:r>
                    <m:r>
                      <a:rPr lang="en-US" sz="1800" i="1" dirty="0" smtClean="0">
                        <a:latin typeface="Cambria Math"/>
                        <a:ea typeface="Cambria Math"/>
                      </a:rPr>
                      <m:t> = </m:t>
                    </m:r>
                    <m:sSub>
                      <m:sSubPr>
                        <m:ctrlPr>
                          <a:rPr lang="en-US" sz="1800" i="1" dirty="0" smtClean="0">
                            <a:latin typeface="Cambria Math" panose="02040503050406030204" pitchFamily="18" charset="0"/>
                            <a:ea typeface="Cambria Math"/>
                          </a:rPr>
                        </m:ctrlPr>
                      </m:sSubPr>
                      <m:e>
                        <m:r>
                          <a:rPr lang="en-US" sz="1800" i="1" dirty="0" smtClean="0">
                            <a:latin typeface="Cambria Math"/>
                            <a:ea typeface="Cambria Math"/>
                          </a:rPr>
                          <m:t>𝑡</m:t>
                        </m:r>
                      </m:e>
                      <m:sub>
                        <m:r>
                          <a:rPr lang="en-US" sz="1800" i="1" dirty="0" smtClean="0">
                            <a:latin typeface="Cambria Math"/>
                            <a:ea typeface="Cambria Math"/>
                          </a:rPr>
                          <m:t>6</m:t>
                        </m:r>
                      </m:sub>
                    </m:sSub>
                    <m:r>
                      <a:rPr lang="en-US" sz="1800" i="1" dirty="0" smtClean="0">
                        <a:latin typeface="Cambria Math"/>
                        <a:ea typeface="Cambria Math"/>
                      </a:rPr>
                      <m:t> − </m:t>
                    </m:r>
                    <m:sSub>
                      <m:sSubPr>
                        <m:ctrlPr>
                          <a:rPr lang="en-US" sz="1800" i="1" dirty="0">
                            <a:latin typeface="Cambria Math" panose="02040503050406030204" pitchFamily="18" charset="0"/>
                            <a:ea typeface="Cambria Math"/>
                          </a:rPr>
                        </m:ctrlPr>
                      </m:sSubPr>
                      <m:e>
                        <m:r>
                          <a:rPr lang="en-US" sz="1800" i="1" dirty="0">
                            <a:latin typeface="Cambria Math"/>
                            <a:ea typeface="Cambria Math"/>
                          </a:rPr>
                          <m:t>𝑡</m:t>
                        </m:r>
                      </m:e>
                      <m:sub>
                        <m:r>
                          <a:rPr lang="en-US" sz="1800" i="1" dirty="0" smtClean="0">
                            <a:latin typeface="Cambria Math"/>
                            <a:ea typeface="Cambria Math"/>
                          </a:rPr>
                          <m:t>1</m:t>
                        </m:r>
                      </m:sub>
                    </m:sSub>
                    <m:r>
                      <a:rPr lang="en-US" sz="1800" i="1" dirty="0" smtClean="0">
                        <a:latin typeface="Cambria Math"/>
                        <a:ea typeface="Cambria Math"/>
                      </a:rPr>
                      <m:t>,  </m:t>
                    </m:r>
                    <m:r>
                      <a:rPr lang="en-US" sz="1800" i="1" dirty="0">
                        <a:latin typeface="Cambria Math"/>
                        <a:ea typeface="Cambria Math"/>
                      </a:rPr>
                      <m:t>∆</m:t>
                    </m:r>
                    <m:r>
                      <a:rPr lang="en-US" sz="1800" i="1" dirty="0">
                        <a:latin typeface="Cambria Math"/>
                        <a:ea typeface="Cambria Math"/>
                      </a:rPr>
                      <m:t>𝑡</m:t>
                    </m:r>
                    <m:r>
                      <a:rPr lang="en-US" sz="1800" i="1" dirty="0" smtClean="0">
                        <a:latin typeface="Cambria Math"/>
                        <a:ea typeface="Cambria Math"/>
                      </a:rPr>
                      <m:t> </m:t>
                    </m:r>
                    <m:r>
                      <a:rPr lang="en-US" sz="1800" i="1" dirty="0">
                        <a:latin typeface="Cambria Math"/>
                        <a:ea typeface="Cambria Math"/>
                      </a:rPr>
                      <m:t>=</m:t>
                    </m:r>
                    <m:sSub>
                      <m:sSubPr>
                        <m:ctrlPr>
                          <a:rPr lang="en-US" sz="1800" i="1" dirty="0">
                            <a:latin typeface="Cambria Math" panose="02040503050406030204" pitchFamily="18" charset="0"/>
                            <a:ea typeface="Cambria Math"/>
                          </a:rPr>
                        </m:ctrlPr>
                      </m:sSubPr>
                      <m:e>
                        <m:r>
                          <a:rPr lang="en-US" sz="1800" i="1" dirty="0">
                            <a:latin typeface="Cambria Math"/>
                            <a:ea typeface="Cambria Math"/>
                          </a:rPr>
                          <m:t>𝑡</m:t>
                        </m:r>
                      </m:e>
                      <m:sub>
                        <m:r>
                          <a:rPr lang="en-US" sz="1800" i="1" dirty="0" smtClean="0">
                            <a:latin typeface="Cambria Math"/>
                            <a:ea typeface="Cambria Math"/>
                          </a:rPr>
                          <m:t>5</m:t>
                        </m:r>
                      </m:sub>
                    </m:sSub>
                    <m:r>
                      <a:rPr lang="en-US" sz="1800" i="1" dirty="0" smtClean="0">
                        <a:latin typeface="Cambria Math"/>
                        <a:ea typeface="Cambria Math"/>
                      </a:rPr>
                      <m:t> </m:t>
                    </m:r>
                    <m:r>
                      <a:rPr lang="en-US" sz="1800" i="1" dirty="0">
                        <a:latin typeface="Cambria Math"/>
                        <a:ea typeface="Cambria Math"/>
                      </a:rPr>
                      <m:t>−</m:t>
                    </m:r>
                    <m:r>
                      <a:rPr lang="en-US" sz="1800" i="1" dirty="0" smtClean="0">
                        <a:latin typeface="Cambria Math"/>
                        <a:ea typeface="Cambria Math"/>
                      </a:rPr>
                      <m:t> </m:t>
                    </m:r>
                    <m:sSub>
                      <m:sSubPr>
                        <m:ctrlPr>
                          <a:rPr lang="en-US" sz="1800" i="1" dirty="0">
                            <a:latin typeface="Cambria Math" panose="02040503050406030204" pitchFamily="18" charset="0"/>
                            <a:ea typeface="Cambria Math"/>
                          </a:rPr>
                        </m:ctrlPr>
                      </m:sSubPr>
                      <m:e>
                        <m:r>
                          <a:rPr lang="en-US" sz="1800" i="1" dirty="0">
                            <a:latin typeface="Cambria Math"/>
                            <a:ea typeface="Cambria Math"/>
                          </a:rPr>
                          <m:t>𝑡</m:t>
                        </m:r>
                      </m:e>
                      <m:sub>
                        <m:r>
                          <a:rPr lang="en-US" sz="1800" i="1" dirty="0" smtClean="0">
                            <a:latin typeface="Cambria Math"/>
                            <a:ea typeface="Cambria Math"/>
                          </a:rPr>
                          <m:t>2</m:t>
                        </m:r>
                      </m:sub>
                    </m:sSub>
                  </m:oMath>
                </a14:m>
                <a:r>
                  <a:rPr lang="en-US" sz="1800" dirty="0"/>
                  <a:t>, and  </a:t>
                </a:r>
                <a14:m>
                  <m:oMath xmlns:m="http://schemas.openxmlformats.org/officeDocument/2006/math">
                    <m:r>
                      <a:rPr lang="en-US" sz="1800" i="1" dirty="0">
                        <a:latin typeface="Cambria Math"/>
                        <a:ea typeface="Cambria Math"/>
                      </a:rPr>
                      <m:t>∆</m:t>
                    </m:r>
                    <m:r>
                      <a:rPr lang="en-US" sz="1800" i="1" dirty="0">
                        <a:latin typeface="Cambria Math"/>
                        <a:ea typeface="Cambria Math"/>
                      </a:rPr>
                      <m:t>𝑡</m:t>
                    </m:r>
                    <m:r>
                      <a:rPr lang="en-US" sz="1800" i="1" dirty="0" smtClean="0">
                        <a:latin typeface="Cambria Math"/>
                        <a:ea typeface="Cambria Math"/>
                      </a:rPr>
                      <m:t> </m:t>
                    </m:r>
                    <m:r>
                      <a:rPr lang="en-US" sz="1800" i="1" dirty="0">
                        <a:latin typeface="Cambria Math"/>
                        <a:ea typeface="Cambria Math"/>
                      </a:rPr>
                      <m:t>=</m:t>
                    </m:r>
                    <m:r>
                      <a:rPr lang="en-US" sz="1800" i="1" dirty="0" smtClean="0">
                        <a:latin typeface="Cambria Math"/>
                        <a:ea typeface="Cambria Math"/>
                      </a:rPr>
                      <m:t> </m:t>
                    </m:r>
                    <m:sSub>
                      <m:sSubPr>
                        <m:ctrlPr>
                          <a:rPr lang="en-US" sz="1800" i="1" dirty="0">
                            <a:latin typeface="Cambria Math" panose="02040503050406030204" pitchFamily="18" charset="0"/>
                            <a:ea typeface="Cambria Math"/>
                          </a:rPr>
                        </m:ctrlPr>
                      </m:sSubPr>
                      <m:e>
                        <m:r>
                          <a:rPr lang="en-US" sz="1800" i="1" dirty="0">
                            <a:latin typeface="Cambria Math"/>
                            <a:ea typeface="Cambria Math"/>
                          </a:rPr>
                          <m:t>𝑡</m:t>
                        </m:r>
                      </m:e>
                      <m:sub>
                        <m:r>
                          <a:rPr lang="en-US" sz="1800" i="1" dirty="0" smtClean="0">
                            <a:latin typeface="Cambria Math"/>
                            <a:ea typeface="Cambria Math"/>
                          </a:rPr>
                          <m:t>4</m:t>
                        </m:r>
                      </m:sub>
                    </m:sSub>
                    <m:r>
                      <a:rPr lang="en-US" sz="1800" i="1" dirty="0" smtClean="0">
                        <a:latin typeface="Cambria Math"/>
                        <a:ea typeface="Cambria Math"/>
                      </a:rPr>
                      <m:t> </m:t>
                    </m:r>
                    <m:r>
                      <a:rPr lang="en-US" sz="1800" i="1" dirty="0">
                        <a:latin typeface="Cambria Math"/>
                        <a:ea typeface="Cambria Math"/>
                      </a:rPr>
                      <m:t>−</m:t>
                    </m:r>
                    <m:sSub>
                      <m:sSubPr>
                        <m:ctrlPr>
                          <a:rPr lang="en-US" sz="1800" i="1" dirty="0">
                            <a:latin typeface="Cambria Math" panose="02040503050406030204" pitchFamily="18" charset="0"/>
                            <a:ea typeface="Cambria Math"/>
                          </a:rPr>
                        </m:ctrlPr>
                      </m:sSubPr>
                      <m:e>
                        <m:r>
                          <a:rPr lang="en-US" sz="1800" i="1" dirty="0" smtClean="0">
                            <a:latin typeface="Cambria Math"/>
                            <a:ea typeface="Cambria Math"/>
                          </a:rPr>
                          <m:t>  </m:t>
                        </m:r>
                        <m:r>
                          <a:rPr lang="en-US" sz="1800" i="1" dirty="0">
                            <a:latin typeface="Cambria Math"/>
                            <a:ea typeface="Cambria Math"/>
                          </a:rPr>
                          <m:t>𝑡</m:t>
                        </m:r>
                      </m:e>
                      <m:sub>
                        <m:r>
                          <a:rPr lang="en-US" sz="1800" i="1" dirty="0" smtClean="0">
                            <a:latin typeface="Cambria Math"/>
                            <a:ea typeface="Cambria Math"/>
                          </a:rPr>
                          <m:t>3</m:t>
                        </m:r>
                      </m:sub>
                    </m:sSub>
                  </m:oMath>
                </a14:m>
                <a:r>
                  <a:rPr lang="en-US" sz="1800" dirty="0"/>
                  <a:t>  are shown. When  </a:t>
                </a:r>
                <a14:m>
                  <m:oMath xmlns:m="http://schemas.openxmlformats.org/officeDocument/2006/math">
                    <m:r>
                      <a:rPr lang="en-US" sz="1800" i="1" dirty="0">
                        <a:latin typeface="Cambria Math"/>
                        <a:ea typeface="Cambria Math"/>
                      </a:rPr>
                      <m:t>∆</m:t>
                    </m:r>
                    <m:r>
                      <a:rPr lang="en-US" sz="1800" i="1" dirty="0">
                        <a:latin typeface="Cambria Math"/>
                        <a:ea typeface="Cambria Math"/>
                      </a:rPr>
                      <m:t>𝑡</m:t>
                    </m:r>
                  </m:oMath>
                </a14:m>
                <a:r>
                  <a:rPr lang="en-US" sz="1800" dirty="0"/>
                  <a:t> </a:t>
                </a:r>
                <a:r>
                  <a:rPr lang="en-US" sz="1800" dirty="0">
                    <a:latin typeface="Cambria Math" panose="02040503050406030204" pitchFamily="18" charset="0"/>
                    <a:ea typeface="Cambria Math" panose="02040503050406030204" pitchFamily="18" charset="0"/>
                  </a:rPr>
                  <a:t>→</a:t>
                </a:r>
                <a:r>
                  <a:rPr lang="en-US" sz="1800" dirty="0"/>
                  <a:t> </a:t>
                </a:r>
                <a:r>
                  <a:rPr lang="en-US" sz="1800" dirty="0">
                    <a:latin typeface="Cambria Math" panose="02040503050406030204" pitchFamily="18" charset="0"/>
                    <a:ea typeface="Cambria Math" panose="02040503050406030204" pitchFamily="18" charset="0"/>
                  </a:rPr>
                  <a:t>0</a:t>
                </a:r>
                <a:r>
                  <a:rPr lang="en-US" sz="1800" dirty="0"/>
                  <a:t>, the average velocity approaches the instantaneous velocity at  </a:t>
                </a:r>
                <a14:m>
                  <m:oMath xmlns:m="http://schemas.openxmlformats.org/officeDocument/2006/math">
                    <m:r>
                      <a:rPr lang="en-US" sz="1800" i="1" dirty="0">
                        <a:latin typeface="Cambria Math"/>
                        <a:ea typeface="Cambria Math"/>
                      </a:rPr>
                      <m:t>𝑡</m:t>
                    </m:r>
                    <m:r>
                      <a:rPr lang="en-US" sz="1800" i="1" dirty="0">
                        <a:latin typeface="Cambria Math"/>
                        <a:ea typeface="Cambria Math"/>
                      </a:rPr>
                      <m:t> = </m:t>
                    </m:r>
                    <m:sSub>
                      <m:sSubPr>
                        <m:ctrlPr>
                          <a:rPr lang="en-US" sz="1800" i="1" dirty="0">
                            <a:latin typeface="Cambria Math" panose="02040503050406030204" pitchFamily="18" charset="0"/>
                            <a:ea typeface="Cambria Math"/>
                          </a:rPr>
                        </m:ctrlPr>
                      </m:sSubPr>
                      <m:e>
                        <m:r>
                          <a:rPr lang="en-US" sz="1800" i="1" dirty="0">
                            <a:latin typeface="Cambria Math"/>
                            <a:ea typeface="Cambria Math"/>
                          </a:rPr>
                          <m:t>𝑡</m:t>
                        </m:r>
                      </m:e>
                      <m:sub>
                        <m:r>
                          <a:rPr lang="en-US" sz="1800" i="1" dirty="0" smtClean="0">
                            <a:latin typeface="Cambria Math"/>
                            <a:ea typeface="Cambria Math"/>
                          </a:rPr>
                          <m:t>0</m:t>
                        </m:r>
                      </m:sub>
                    </m:sSub>
                  </m:oMath>
                </a14:m>
                <a:r>
                  <a:rPr lang="en-US" sz="1800" dirty="0"/>
                  <a:t> .</a:t>
                </a:r>
              </a:p>
            </p:txBody>
          </p:sp>
        </mc:Choice>
        <mc:Fallback xmlns="">
          <p:sp>
            <p:nvSpPr>
              <p:cNvPr id="11" name="Text Placeholder 6">
                <a:extLst>
                  <a:ext uri="{FF2B5EF4-FFF2-40B4-BE49-F238E27FC236}">
                    <a16:creationId xmlns:a16="http://schemas.microsoft.com/office/drawing/2014/main" id="{97C8B5F6-2908-6D49-8DC7-A5782809CBA5}"/>
                  </a:ext>
                </a:extLst>
              </p:cNvPr>
              <p:cNvSpPr txBox="1">
                <a:spLocks noRot="1" noChangeAspect="1" noMove="1" noResize="1" noEditPoints="1" noAdjustHandles="1" noChangeArrowheads="1" noChangeShapeType="1" noTextEdit="1"/>
              </p:cNvSpPr>
              <p:nvPr/>
            </p:nvSpPr>
            <p:spPr>
              <a:xfrm>
                <a:off x="469105" y="3874765"/>
                <a:ext cx="5117306" cy="2583181"/>
              </a:xfrm>
              <a:prstGeom prst="rect">
                <a:avLst/>
              </a:prstGeom>
              <a:blipFill>
                <a:blip r:embed="rId6"/>
                <a:stretch>
                  <a:fillRect l="-743" t="-980" r="-990"/>
                </a:stretch>
              </a:blipFill>
            </p:spPr>
            <p:txBody>
              <a:bodyPr/>
              <a:lstStyle/>
              <a:p>
                <a:r>
                  <a:rPr lang="en-US">
                    <a:noFill/>
                  </a:rPr>
                  <a:t> </a:t>
                </a:r>
              </a:p>
            </p:txBody>
          </p:sp>
        </mc:Fallback>
      </mc:AlternateContent>
      <p:sp>
        <p:nvSpPr>
          <p:cNvPr id="13" name="Rectangle 12">
            <a:extLst>
              <a:ext uri="{FF2B5EF4-FFF2-40B4-BE49-F238E27FC236}">
                <a16:creationId xmlns:a16="http://schemas.microsoft.com/office/drawing/2014/main" id="{EB6EF540-6073-764D-B0E7-3E7D44A22298}"/>
              </a:ext>
            </a:extLst>
          </p:cNvPr>
          <p:cNvSpPr/>
          <p:nvPr/>
        </p:nvSpPr>
        <p:spPr>
          <a:xfrm>
            <a:off x="9308652" y="4929955"/>
            <a:ext cx="2747962" cy="1477328"/>
          </a:xfrm>
          <a:prstGeom prst="rect">
            <a:avLst/>
          </a:prstGeom>
        </p:spPr>
        <p:txBody>
          <a:bodyPr wrap="square">
            <a:spAutoFit/>
          </a:bodyPr>
          <a:lstStyle/>
          <a:p>
            <a:r>
              <a:rPr lang="en-US" dirty="0">
                <a:latin typeface="LiberationSerif"/>
              </a:rPr>
              <a:t>A particle moves along the </a:t>
            </a:r>
            <a:r>
              <a:rPr lang="en-US" i="1" dirty="0">
                <a:latin typeface="LiberationSerif"/>
              </a:rPr>
              <a:t>x-</a:t>
            </a:r>
            <a:r>
              <a:rPr lang="en-US" dirty="0">
                <a:latin typeface="LiberationSerif"/>
              </a:rPr>
              <a:t>axis according to </a:t>
            </a:r>
            <a:endParaRPr lang="en-US" dirty="0"/>
          </a:p>
          <a:p>
            <a:r>
              <a:rPr lang="en-US" i="1" dirty="0">
                <a:latin typeface="STIXGeneral" pitchFamily="2" charset="2"/>
              </a:rPr>
              <a:t>x</a:t>
            </a:r>
            <a:r>
              <a:rPr lang="en-US" dirty="0">
                <a:latin typeface="STIXGeneral" pitchFamily="2" charset="2"/>
              </a:rPr>
              <a:t>(</a:t>
            </a:r>
            <a:r>
              <a:rPr lang="en-US" i="1" dirty="0">
                <a:latin typeface="STIXGeneral" pitchFamily="2" charset="2"/>
              </a:rPr>
              <a:t>t</a:t>
            </a:r>
            <a:r>
              <a:rPr lang="en-US" dirty="0">
                <a:latin typeface="STIXGeneral" pitchFamily="2" charset="2"/>
              </a:rPr>
              <a:t>) = 10</a:t>
            </a:r>
            <a:r>
              <a:rPr lang="en-US" i="1" dirty="0">
                <a:latin typeface="STIXGeneral" pitchFamily="2" charset="2"/>
              </a:rPr>
              <a:t>t </a:t>
            </a:r>
            <a:r>
              <a:rPr lang="en-US" dirty="0">
                <a:latin typeface="STIXGeneral" pitchFamily="2" charset="2"/>
              </a:rPr>
              <a:t>− 2</a:t>
            </a:r>
            <a:r>
              <a:rPr lang="en-US" i="1" dirty="0">
                <a:latin typeface="STIXGeneral" pitchFamily="2" charset="2"/>
              </a:rPr>
              <a:t>t</a:t>
            </a:r>
            <a:r>
              <a:rPr lang="en-US" i="1" baseline="30000" dirty="0">
                <a:latin typeface="STIXGeneral" pitchFamily="2" charset="2"/>
              </a:rPr>
              <a:t>2</a:t>
            </a:r>
            <a:r>
              <a:rPr lang="en-US" sz="1400" dirty="0">
                <a:latin typeface="STIXGeneral" pitchFamily="2" charset="2"/>
              </a:rPr>
              <a:t> </a:t>
            </a:r>
            <a:r>
              <a:rPr lang="en-US" dirty="0">
                <a:latin typeface="STIXGeneral" pitchFamily="2" charset="2"/>
              </a:rPr>
              <a:t>m. </a:t>
            </a:r>
            <a:r>
              <a:rPr lang="en-US" dirty="0">
                <a:latin typeface="LiberationSerif"/>
              </a:rPr>
              <a:t>What is the instantaneous velocity at </a:t>
            </a:r>
            <a:r>
              <a:rPr lang="en-US" i="1" dirty="0">
                <a:latin typeface="LiberationSerif"/>
              </a:rPr>
              <a:t>t </a:t>
            </a:r>
            <a:r>
              <a:rPr lang="en-US" dirty="0">
                <a:latin typeface="LiberationSerif"/>
              </a:rPr>
              <a:t>= 2 s and </a:t>
            </a:r>
            <a:r>
              <a:rPr lang="en-US" i="1" dirty="0">
                <a:latin typeface="LiberationSerif"/>
              </a:rPr>
              <a:t>t </a:t>
            </a:r>
            <a:r>
              <a:rPr lang="en-US" dirty="0">
                <a:latin typeface="LiberationSerif"/>
              </a:rPr>
              <a:t>= 3 s? </a:t>
            </a:r>
            <a:endParaRPr lang="en-US" dirty="0"/>
          </a:p>
        </p:txBody>
      </p:sp>
      <p:sp>
        <p:nvSpPr>
          <p:cNvPr id="14" name="Rectangle 13">
            <a:extLst>
              <a:ext uri="{FF2B5EF4-FFF2-40B4-BE49-F238E27FC236}">
                <a16:creationId xmlns:a16="http://schemas.microsoft.com/office/drawing/2014/main" id="{95932856-4108-104C-A2EB-29B8AA303A2B}"/>
              </a:ext>
            </a:extLst>
          </p:cNvPr>
          <p:cNvSpPr/>
          <p:nvPr/>
        </p:nvSpPr>
        <p:spPr>
          <a:xfrm>
            <a:off x="9308652" y="4587927"/>
            <a:ext cx="1604700" cy="400110"/>
          </a:xfrm>
          <a:prstGeom prst="rect">
            <a:avLst/>
          </a:prstGeom>
        </p:spPr>
        <p:txBody>
          <a:bodyPr wrap="square">
            <a:spAutoFit/>
          </a:bodyPr>
          <a:lstStyle/>
          <a:p>
            <a:r>
              <a:rPr lang="en-US" sz="2000" dirty="0">
                <a:solidFill>
                  <a:srgbClr val="0000CC"/>
                </a:solidFill>
              </a:rPr>
              <a:t>Assignment 5</a:t>
            </a:r>
          </a:p>
        </p:txBody>
      </p:sp>
    </p:spTree>
    <p:extLst>
      <p:ext uri="{BB962C8B-B14F-4D97-AF65-F5344CB8AC3E}">
        <p14:creationId xmlns:p14="http://schemas.microsoft.com/office/powerpoint/2010/main" val="15232232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left)">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B9C82B2-7556-4942-81E9-F659D21722A9}"/>
              </a:ext>
            </a:extLst>
          </p:cNvPr>
          <p:cNvSpPr/>
          <p:nvPr/>
        </p:nvSpPr>
        <p:spPr>
          <a:xfrm>
            <a:off x="573193" y="522346"/>
            <a:ext cx="1152623" cy="430887"/>
          </a:xfrm>
          <a:prstGeom prst="rect">
            <a:avLst/>
          </a:prstGeom>
        </p:spPr>
        <p:txBody>
          <a:bodyPr wrap="none">
            <a:spAutoFit/>
          </a:bodyPr>
          <a:lstStyle/>
          <a:p>
            <a:r>
              <a:rPr lang="en-US" sz="2200" dirty="0">
                <a:solidFill>
                  <a:srgbClr val="008000"/>
                </a:solidFill>
              </a:rPr>
              <a:t>Example</a:t>
            </a:r>
            <a:endParaRPr lang="en-US" sz="2200" dirty="0"/>
          </a:p>
        </p:txBody>
      </p:sp>
      <p:sp>
        <p:nvSpPr>
          <p:cNvPr id="6" name="Rectangle 5">
            <a:extLst>
              <a:ext uri="{FF2B5EF4-FFF2-40B4-BE49-F238E27FC236}">
                <a16:creationId xmlns:a16="http://schemas.microsoft.com/office/drawing/2014/main" id="{91BCDE13-F902-E842-9904-BFF240283A36}"/>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Instantaneous Velocity and Speed </a:t>
            </a:r>
          </a:p>
        </p:txBody>
      </p:sp>
      <p:sp>
        <p:nvSpPr>
          <p:cNvPr id="3" name="Rectangle 2">
            <a:extLst>
              <a:ext uri="{FF2B5EF4-FFF2-40B4-BE49-F238E27FC236}">
                <a16:creationId xmlns:a16="http://schemas.microsoft.com/office/drawing/2014/main" id="{51D968DF-1A9B-6446-8547-E5B863FA720E}"/>
              </a:ext>
            </a:extLst>
          </p:cNvPr>
          <p:cNvSpPr/>
          <p:nvPr/>
        </p:nvSpPr>
        <p:spPr>
          <a:xfrm>
            <a:off x="573193" y="901014"/>
            <a:ext cx="10372725" cy="400110"/>
          </a:xfrm>
          <a:prstGeom prst="rect">
            <a:avLst/>
          </a:prstGeom>
        </p:spPr>
        <p:txBody>
          <a:bodyPr wrap="square">
            <a:spAutoFit/>
          </a:bodyPr>
          <a:lstStyle/>
          <a:p>
            <a:r>
              <a:rPr lang="en-US" sz="2000" dirty="0">
                <a:solidFill>
                  <a:srgbClr val="000066"/>
                </a:solidFill>
                <a:latin typeface="LiberationSerif"/>
              </a:rPr>
              <a:t>Given the position-versus-time graph of </a:t>
            </a:r>
            <a:r>
              <a:rPr lang="en-US" sz="2000" dirty="0">
                <a:solidFill>
                  <a:srgbClr val="000066"/>
                </a:solidFill>
                <a:latin typeface="LiberationSans"/>
              </a:rPr>
              <a:t>Figure below</a:t>
            </a:r>
            <a:r>
              <a:rPr lang="en-US" sz="2000" dirty="0">
                <a:solidFill>
                  <a:srgbClr val="000066"/>
                </a:solidFill>
                <a:latin typeface="LiberationSerif"/>
              </a:rPr>
              <a:t>, find the velocity-versus-time graph. </a:t>
            </a:r>
            <a:endParaRPr lang="en-US" sz="2000" dirty="0">
              <a:solidFill>
                <a:srgbClr val="000066"/>
              </a:solidFill>
            </a:endParaRPr>
          </a:p>
        </p:txBody>
      </p:sp>
      <p:pic>
        <p:nvPicPr>
          <p:cNvPr id="7" name="Picture Placeholder 1" descr="Graph shows position in kilometers plotted as a function of time at minutes. It starts at the origin, reaches 0.5 kilometers at 0.5 minutes, remains constant between 0.5 and 0.9 minutes, and decreases to 0 at 2.0 minutes.">
            <a:extLst>
              <a:ext uri="{FF2B5EF4-FFF2-40B4-BE49-F238E27FC236}">
                <a16:creationId xmlns:a16="http://schemas.microsoft.com/office/drawing/2014/main" id="{D7BC383D-9276-B740-908A-4F5F20FF2E69}"/>
              </a:ext>
            </a:extLst>
          </p:cNvPr>
          <p:cNvPicPr>
            <a:picLocks noChangeAspect="1"/>
          </p:cNvPicPr>
          <p:nvPr/>
        </p:nvPicPr>
        <p:blipFill>
          <a:blip r:embed="rId3" cstate="email">
            <a:extLst>
              <a:ext uri="{28A0092B-C50C-407E-A947-70E740481C1C}">
                <a14:useLocalDpi xmlns:a14="http://schemas.microsoft.com/office/drawing/2010/main" val="0"/>
              </a:ext>
            </a:extLst>
          </a:blip>
          <a:srcRect l="-58726" r="-58726"/>
          <a:stretch>
            <a:fillRect/>
          </a:stretch>
        </p:blipFill>
        <p:spPr>
          <a:xfrm>
            <a:off x="-1647821" y="2137521"/>
            <a:ext cx="8062913" cy="3500071"/>
          </a:xfrm>
          <a:prstGeom prst="rect">
            <a:avLst/>
          </a:prstGeom>
        </p:spPr>
      </p:pic>
      <p:sp>
        <p:nvSpPr>
          <p:cNvPr id="8" name="Text Placeholder 6">
            <a:extLst>
              <a:ext uri="{FF2B5EF4-FFF2-40B4-BE49-F238E27FC236}">
                <a16:creationId xmlns:a16="http://schemas.microsoft.com/office/drawing/2014/main" id="{C34C268E-FB09-7749-88C6-B16D6678A829}"/>
              </a:ext>
            </a:extLst>
          </p:cNvPr>
          <p:cNvSpPr txBox="1">
            <a:spLocks/>
          </p:cNvSpPr>
          <p:nvPr/>
        </p:nvSpPr>
        <p:spPr>
          <a:xfrm>
            <a:off x="573193" y="1291194"/>
            <a:ext cx="4527445"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The object starts out in the positive direction, stops for a short time, and then reverses direction, heading back toward the origin. </a:t>
            </a:r>
          </a:p>
        </p:txBody>
      </p:sp>
      <p:pic>
        <p:nvPicPr>
          <p:cNvPr id="9" name="Picture Placeholder 1" descr="Graph shows velocity in meters per second plotted as a function of time at seconds. The velocity is 1 meter per second between 0 and 0.5 seconds, zero between 0.5 and 1.0 seconds, and -0.5 between 1.0 and 2.0 seconds.">
            <a:extLst>
              <a:ext uri="{FF2B5EF4-FFF2-40B4-BE49-F238E27FC236}">
                <a16:creationId xmlns:a16="http://schemas.microsoft.com/office/drawing/2014/main" id="{221767A2-19DD-A849-87E0-2216BDBACFFA}"/>
              </a:ext>
            </a:extLst>
          </p:cNvPr>
          <p:cNvPicPr>
            <a:picLocks noChangeAspect="1"/>
          </p:cNvPicPr>
          <p:nvPr/>
        </p:nvPicPr>
        <p:blipFill>
          <a:blip r:embed="rId4">
            <a:extLst>
              <a:ext uri="{28A0092B-C50C-407E-A947-70E740481C1C}">
                <a14:useLocalDpi xmlns:a14="http://schemas.microsoft.com/office/drawing/2010/main" val="0"/>
              </a:ext>
            </a:extLst>
          </a:blip>
          <a:srcRect l="-37639" r="-37639"/>
          <a:stretch>
            <a:fillRect/>
          </a:stretch>
        </p:blipFill>
        <p:spPr>
          <a:xfrm>
            <a:off x="5314949" y="1888353"/>
            <a:ext cx="8062913" cy="3500071"/>
          </a:xfrm>
          <a:prstGeom prst="rect">
            <a:avLst/>
          </a:prstGeom>
        </p:spPr>
      </p:pic>
      <p:sp>
        <p:nvSpPr>
          <p:cNvPr id="10" name="Text Placeholder 6">
            <a:extLst>
              <a:ext uri="{FF2B5EF4-FFF2-40B4-BE49-F238E27FC236}">
                <a16:creationId xmlns:a16="http://schemas.microsoft.com/office/drawing/2014/main" id="{9D2CE805-DB74-A04D-92E2-E9282E37F54D}"/>
              </a:ext>
            </a:extLst>
          </p:cNvPr>
          <p:cNvSpPr txBox="1">
            <a:spLocks/>
          </p:cNvSpPr>
          <p:nvPr/>
        </p:nvSpPr>
        <p:spPr>
          <a:xfrm>
            <a:off x="7156345" y="5479867"/>
            <a:ext cx="4705350"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The velocity is positive for the first part of the trip, zero when the object is stopped, and negative when the object reverses direction.</a:t>
            </a:r>
          </a:p>
        </p:txBody>
      </p:sp>
      <p:pic>
        <p:nvPicPr>
          <p:cNvPr id="12" name="Picture 11" descr="A picture containing text&#10;&#10;Description automatically generated">
            <a:extLst>
              <a:ext uri="{FF2B5EF4-FFF2-40B4-BE49-F238E27FC236}">
                <a16:creationId xmlns:a16="http://schemas.microsoft.com/office/drawing/2014/main" id="{9C2F0F0F-117E-4044-8838-EC9BBFA518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9504" y="5804467"/>
            <a:ext cx="3327400" cy="622300"/>
          </a:xfrm>
          <a:prstGeom prst="rect">
            <a:avLst/>
          </a:prstGeom>
        </p:spPr>
      </p:pic>
      <p:cxnSp>
        <p:nvCxnSpPr>
          <p:cNvPr id="14" name="Straight Arrow Connector 13">
            <a:extLst>
              <a:ext uri="{FF2B5EF4-FFF2-40B4-BE49-F238E27FC236}">
                <a16:creationId xmlns:a16="http://schemas.microsoft.com/office/drawing/2014/main" id="{BC4AC3C0-9E10-0A46-8A63-FEAD222CEAA5}"/>
              </a:ext>
            </a:extLst>
          </p:cNvPr>
          <p:cNvCxnSpPr>
            <a:cxnSpLocks/>
          </p:cNvCxnSpPr>
          <p:nvPr/>
        </p:nvCxnSpPr>
        <p:spPr>
          <a:xfrm flipH="1">
            <a:off x="1271588" y="4800600"/>
            <a:ext cx="114300" cy="1171577"/>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pic>
        <p:nvPicPr>
          <p:cNvPr id="17" name="Picture 16" descr="A picture containing text&#10;&#10;Description automatically generated">
            <a:extLst>
              <a:ext uri="{FF2B5EF4-FFF2-40B4-BE49-F238E27FC236}">
                <a16:creationId xmlns:a16="http://schemas.microsoft.com/office/drawing/2014/main" id="{AB519461-F81B-B248-9041-D4EE60D96F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36915" y="2763896"/>
            <a:ext cx="3314700" cy="508000"/>
          </a:xfrm>
          <a:prstGeom prst="rect">
            <a:avLst/>
          </a:prstGeom>
        </p:spPr>
      </p:pic>
      <p:cxnSp>
        <p:nvCxnSpPr>
          <p:cNvPr id="19" name="Straight Arrow Connector 18">
            <a:extLst>
              <a:ext uri="{FF2B5EF4-FFF2-40B4-BE49-F238E27FC236}">
                <a16:creationId xmlns:a16="http://schemas.microsoft.com/office/drawing/2014/main" id="{923B3368-FED9-6A47-9588-C74370A46204}"/>
              </a:ext>
            </a:extLst>
          </p:cNvPr>
          <p:cNvCxnSpPr/>
          <p:nvPr/>
        </p:nvCxnSpPr>
        <p:spPr>
          <a:xfrm flipV="1">
            <a:off x="2271713" y="3017896"/>
            <a:ext cx="541491" cy="754004"/>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pic>
        <p:nvPicPr>
          <p:cNvPr id="21" name="Picture 20" descr="A screenshot of a text message&#10;&#10;Description automatically generated with low confidence">
            <a:extLst>
              <a:ext uri="{FF2B5EF4-FFF2-40B4-BE49-F238E27FC236}">
                <a16:creationId xmlns:a16="http://schemas.microsoft.com/office/drawing/2014/main" id="{0F2C78F6-8D5A-484E-876D-B894E92C886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34661" y="3771360"/>
            <a:ext cx="3492500" cy="558800"/>
          </a:xfrm>
          <a:prstGeom prst="rect">
            <a:avLst/>
          </a:prstGeom>
        </p:spPr>
      </p:pic>
      <p:cxnSp>
        <p:nvCxnSpPr>
          <p:cNvPr id="23" name="Straight Arrow Connector 22">
            <a:extLst>
              <a:ext uri="{FF2B5EF4-FFF2-40B4-BE49-F238E27FC236}">
                <a16:creationId xmlns:a16="http://schemas.microsoft.com/office/drawing/2014/main" id="{97DBB12F-B382-D245-8F83-63F05D5BF21B}"/>
              </a:ext>
            </a:extLst>
          </p:cNvPr>
          <p:cNvCxnSpPr>
            <a:cxnSpLocks/>
            <a:endCxn id="21" idx="1"/>
          </p:cNvCxnSpPr>
          <p:nvPr/>
        </p:nvCxnSpPr>
        <p:spPr>
          <a:xfrm flipV="1">
            <a:off x="3100388" y="4050760"/>
            <a:ext cx="334273" cy="135478"/>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4751653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Average and Instantaneous Acceleration </a:t>
            </a:r>
          </a:p>
        </p:txBody>
      </p:sp>
      <p:sp>
        <p:nvSpPr>
          <p:cNvPr id="2" name="Rectangle 1">
            <a:extLst>
              <a:ext uri="{FF2B5EF4-FFF2-40B4-BE49-F238E27FC236}">
                <a16:creationId xmlns:a16="http://schemas.microsoft.com/office/drawing/2014/main" id="{37559C5B-2C68-2C4C-A660-CFB717E3B546}"/>
              </a:ext>
            </a:extLst>
          </p:cNvPr>
          <p:cNvSpPr/>
          <p:nvPr/>
        </p:nvSpPr>
        <p:spPr>
          <a:xfrm>
            <a:off x="649958" y="802276"/>
            <a:ext cx="6891182" cy="430887"/>
          </a:xfrm>
          <a:prstGeom prst="rect">
            <a:avLst/>
          </a:prstGeom>
        </p:spPr>
        <p:txBody>
          <a:bodyPr wrap="none">
            <a:spAutoFit/>
          </a:bodyPr>
          <a:lstStyle/>
          <a:p>
            <a:r>
              <a:rPr lang="en-US" sz="2200" dirty="0">
                <a:solidFill>
                  <a:srgbClr val="000066"/>
                </a:solidFill>
                <a:latin typeface="LiberationSerif"/>
              </a:rPr>
              <a:t>Average acceleration is the rate at which velocity changes: </a:t>
            </a:r>
            <a:endParaRPr lang="en-US" sz="2200" dirty="0">
              <a:solidFill>
                <a:srgbClr val="000066"/>
              </a:solidFill>
              <a:effectLst/>
            </a:endParaRPr>
          </a:p>
        </p:txBody>
      </p:sp>
      <p:pic>
        <p:nvPicPr>
          <p:cNvPr id="7" name="Picture 6" descr="A picture containing text, clock&#10;&#10;Description automatically generated">
            <a:extLst>
              <a:ext uri="{FF2B5EF4-FFF2-40B4-BE49-F238E27FC236}">
                <a16:creationId xmlns:a16="http://schemas.microsoft.com/office/drawing/2014/main" id="{1037022E-71DE-D54A-A73C-9D5B132715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84420" y="1233163"/>
            <a:ext cx="2423160" cy="777240"/>
          </a:xfrm>
          <a:prstGeom prst="rect">
            <a:avLst/>
          </a:prstGeom>
        </p:spPr>
      </p:pic>
      <p:sp>
        <p:nvSpPr>
          <p:cNvPr id="8" name="Rectangle 7">
            <a:extLst>
              <a:ext uri="{FF2B5EF4-FFF2-40B4-BE49-F238E27FC236}">
                <a16:creationId xmlns:a16="http://schemas.microsoft.com/office/drawing/2014/main" id="{FA68892E-7ED8-D44D-B5D2-539CD5F9B2E6}"/>
              </a:ext>
            </a:extLst>
          </p:cNvPr>
          <p:cNvSpPr/>
          <p:nvPr/>
        </p:nvSpPr>
        <p:spPr>
          <a:xfrm>
            <a:off x="4884420" y="2071958"/>
            <a:ext cx="4706225" cy="369332"/>
          </a:xfrm>
          <a:prstGeom prst="rect">
            <a:avLst/>
          </a:prstGeom>
        </p:spPr>
        <p:txBody>
          <a:bodyPr wrap="none">
            <a:spAutoFit/>
          </a:bodyPr>
          <a:lstStyle/>
          <a:p>
            <a:r>
              <a:rPr lang="en-US" dirty="0">
                <a:solidFill>
                  <a:srgbClr val="C00000"/>
                </a:solidFill>
                <a:latin typeface="LiberationSerif"/>
              </a:rPr>
              <a:t>The bar over the </a:t>
            </a:r>
            <a:r>
              <a:rPr lang="en-US" i="1" dirty="0">
                <a:solidFill>
                  <a:srgbClr val="C00000"/>
                </a:solidFill>
                <a:latin typeface="LiberationSerif"/>
              </a:rPr>
              <a:t>a </a:t>
            </a:r>
            <a:r>
              <a:rPr lang="en-US" dirty="0">
                <a:solidFill>
                  <a:srgbClr val="C00000"/>
                </a:solidFill>
                <a:latin typeface="LiberationSerif"/>
              </a:rPr>
              <a:t>means </a:t>
            </a:r>
            <a:r>
              <a:rPr lang="en-US" i="1" dirty="0">
                <a:solidFill>
                  <a:srgbClr val="C00000"/>
                </a:solidFill>
                <a:latin typeface="LiberationSerif"/>
              </a:rPr>
              <a:t>average </a:t>
            </a:r>
            <a:r>
              <a:rPr lang="en-US" dirty="0">
                <a:solidFill>
                  <a:srgbClr val="C00000"/>
                </a:solidFill>
                <a:latin typeface="LiberationSerif"/>
              </a:rPr>
              <a:t>acceleration. </a:t>
            </a:r>
            <a:endParaRPr lang="en-US" dirty="0">
              <a:solidFill>
                <a:srgbClr val="C00000"/>
              </a:solidFill>
            </a:endParaRPr>
          </a:p>
        </p:txBody>
      </p:sp>
      <p:sp>
        <p:nvSpPr>
          <p:cNvPr id="9" name="Rectangle 8">
            <a:extLst>
              <a:ext uri="{FF2B5EF4-FFF2-40B4-BE49-F238E27FC236}">
                <a16:creationId xmlns:a16="http://schemas.microsoft.com/office/drawing/2014/main" id="{E3B01F95-7BBA-C04D-92F6-6B76F0466B9D}"/>
              </a:ext>
            </a:extLst>
          </p:cNvPr>
          <p:cNvSpPr/>
          <p:nvPr/>
        </p:nvSpPr>
        <p:spPr>
          <a:xfrm>
            <a:off x="642338" y="2490875"/>
            <a:ext cx="10637167" cy="646331"/>
          </a:xfrm>
          <a:prstGeom prst="rect">
            <a:avLst/>
          </a:prstGeom>
        </p:spPr>
        <p:txBody>
          <a:bodyPr wrap="square">
            <a:spAutoFit/>
          </a:bodyPr>
          <a:lstStyle/>
          <a:p>
            <a:r>
              <a:rPr lang="en-US" dirty="0">
                <a:solidFill>
                  <a:srgbClr val="000066"/>
                </a:solidFill>
                <a:latin typeface="LiberationSerif"/>
              </a:rPr>
              <a:t>Acceleration is a vector in the same direction as the </a:t>
            </a:r>
            <a:r>
              <a:rPr lang="en-US" i="1" dirty="0">
                <a:solidFill>
                  <a:srgbClr val="C00000"/>
                </a:solidFill>
                <a:latin typeface="LiberationSerif"/>
              </a:rPr>
              <a:t>change </a:t>
            </a:r>
            <a:r>
              <a:rPr lang="en-US" dirty="0">
                <a:solidFill>
                  <a:srgbClr val="C00000"/>
                </a:solidFill>
                <a:latin typeface="LiberationSerif"/>
              </a:rPr>
              <a:t>i</a:t>
            </a:r>
            <a:r>
              <a:rPr lang="en-US" dirty="0">
                <a:solidFill>
                  <a:srgbClr val="000066"/>
                </a:solidFill>
                <a:latin typeface="LiberationSerif"/>
              </a:rPr>
              <a:t>n velocity, </a:t>
            </a:r>
            <a:r>
              <a:rPr lang="el-GR" dirty="0">
                <a:solidFill>
                  <a:srgbClr val="000066"/>
                </a:solidFill>
                <a:latin typeface="STIXGeneral" pitchFamily="2" charset="2"/>
              </a:rPr>
              <a:t>Δ</a:t>
            </a:r>
            <a:r>
              <a:rPr lang="en-US" i="1" dirty="0">
                <a:solidFill>
                  <a:srgbClr val="000066"/>
                </a:solidFill>
                <a:latin typeface="STIXGeneral" pitchFamily="2" charset="2"/>
              </a:rPr>
              <a:t>v </a:t>
            </a:r>
            <a:r>
              <a:rPr lang="en-US" dirty="0">
                <a:solidFill>
                  <a:srgbClr val="000066"/>
                </a:solidFill>
                <a:latin typeface="LiberationSerif"/>
              </a:rPr>
              <a:t>. Since velocity is a vector, it can change in magnitude or in direction, or both. Acceleration is, therefore, a change in speed or direction, or both. </a:t>
            </a:r>
            <a:endParaRPr lang="en-US" dirty="0">
              <a:solidFill>
                <a:srgbClr val="000066"/>
              </a:solidFill>
              <a:effectLst/>
            </a:endParaRPr>
          </a:p>
        </p:txBody>
      </p:sp>
      <p:sp>
        <p:nvSpPr>
          <p:cNvPr id="10" name="Rectangle 9">
            <a:extLst>
              <a:ext uri="{FF2B5EF4-FFF2-40B4-BE49-F238E27FC236}">
                <a16:creationId xmlns:a16="http://schemas.microsoft.com/office/drawing/2014/main" id="{DAD20922-2962-AF41-BE30-068921540023}"/>
              </a:ext>
            </a:extLst>
          </p:cNvPr>
          <p:cNvSpPr/>
          <p:nvPr/>
        </p:nvSpPr>
        <p:spPr>
          <a:xfrm>
            <a:off x="476250" y="5355544"/>
            <a:ext cx="5619750" cy="1200329"/>
          </a:xfrm>
          <a:prstGeom prst="rect">
            <a:avLst/>
          </a:prstGeom>
        </p:spPr>
        <p:txBody>
          <a:bodyPr wrap="square">
            <a:spAutoFit/>
          </a:bodyPr>
          <a:lstStyle/>
          <a:p>
            <a:r>
              <a:rPr lang="en-US" dirty="0">
                <a:solidFill>
                  <a:srgbClr val="000066"/>
                </a:solidFill>
                <a:latin typeface="LiberationSerif"/>
              </a:rPr>
              <a:t>When an object slows down, its acceleration is opposite to the direction of its motion. Although this is commonly referred to as </a:t>
            </a:r>
            <a:r>
              <a:rPr lang="en-US" i="1" dirty="0">
                <a:solidFill>
                  <a:srgbClr val="000066"/>
                </a:solidFill>
                <a:latin typeface="LiberationSerif"/>
              </a:rPr>
              <a:t>deceleration</a:t>
            </a:r>
            <a:r>
              <a:rPr lang="en-US" dirty="0">
                <a:solidFill>
                  <a:srgbClr val="000066"/>
                </a:solidFill>
                <a:latin typeface="LiberationSerif"/>
              </a:rPr>
              <a:t>, we say the train is accelerating in a direction opposite to its direction of motion. </a:t>
            </a:r>
            <a:endParaRPr lang="en-US" dirty="0">
              <a:solidFill>
                <a:srgbClr val="000066"/>
              </a:solidFill>
            </a:endParaRPr>
          </a:p>
        </p:txBody>
      </p:sp>
      <p:pic>
        <p:nvPicPr>
          <p:cNvPr id="11" name="Picture Placeholder 2" descr="Picture shows a subway train coming into a station.">
            <a:extLst>
              <a:ext uri="{FF2B5EF4-FFF2-40B4-BE49-F238E27FC236}">
                <a16:creationId xmlns:a16="http://schemas.microsoft.com/office/drawing/2014/main" id="{1AB17A81-B26C-3E47-B30B-85793FEF4B3B}"/>
              </a:ext>
            </a:extLst>
          </p:cNvPr>
          <p:cNvPicPr>
            <a:picLocks noChangeAspect="1"/>
          </p:cNvPicPr>
          <p:nvPr/>
        </p:nvPicPr>
        <p:blipFill>
          <a:blip r:embed="rId4">
            <a:extLst>
              <a:ext uri="{28A0092B-C50C-407E-A947-70E740481C1C}">
                <a14:useLocalDpi xmlns:a14="http://schemas.microsoft.com/office/drawing/2010/main" val="0"/>
              </a:ext>
            </a:extLst>
          </a:blip>
          <a:srcRect l="-26237" r="-26237"/>
          <a:stretch>
            <a:fillRect/>
          </a:stretch>
        </p:blipFill>
        <p:spPr>
          <a:xfrm>
            <a:off x="642338" y="3243947"/>
            <a:ext cx="4212902" cy="1828800"/>
          </a:xfrm>
          <a:prstGeom prst="rect">
            <a:avLst/>
          </a:prstGeom>
        </p:spPr>
      </p:pic>
      <p:pic>
        <p:nvPicPr>
          <p:cNvPr id="12" name="Picture Placeholder 1" descr="Figure shows three vectors: a directed to the west, vf directed to the west, and vo directed to the east.">
            <a:extLst>
              <a:ext uri="{FF2B5EF4-FFF2-40B4-BE49-F238E27FC236}">
                <a16:creationId xmlns:a16="http://schemas.microsoft.com/office/drawing/2014/main" id="{B2ED5E52-7326-9348-A763-7279973D16E6}"/>
              </a:ext>
            </a:extLst>
          </p:cNvPr>
          <p:cNvPicPr>
            <a:picLocks noChangeAspect="1"/>
          </p:cNvPicPr>
          <p:nvPr/>
        </p:nvPicPr>
        <p:blipFill>
          <a:blip r:embed="rId5">
            <a:extLst>
              <a:ext uri="{28A0092B-C50C-407E-A947-70E740481C1C}">
                <a14:useLocalDpi xmlns:a14="http://schemas.microsoft.com/office/drawing/2010/main" val="0"/>
              </a:ext>
            </a:extLst>
          </a:blip>
          <a:srcRect t="-21034" b="-21034"/>
          <a:stretch>
            <a:fillRect/>
          </a:stretch>
        </p:blipFill>
        <p:spPr>
          <a:xfrm>
            <a:off x="5280083" y="2865565"/>
            <a:ext cx="6319353" cy="2743200"/>
          </a:xfrm>
          <a:prstGeom prst="rect">
            <a:avLst/>
          </a:prstGeom>
        </p:spPr>
      </p:pic>
      <p:sp>
        <p:nvSpPr>
          <p:cNvPr id="13" name="Text Placeholder 6">
            <a:extLst>
              <a:ext uri="{FF2B5EF4-FFF2-40B4-BE49-F238E27FC236}">
                <a16:creationId xmlns:a16="http://schemas.microsoft.com/office/drawing/2014/main" id="{DB4C3EF3-9A16-F54C-AE36-EE7511457153}"/>
              </a:ext>
            </a:extLst>
          </p:cNvPr>
          <p:cNvSpPr txBox="1">
            <a:spLocks/>
          </p:cNvSpPr>
          <p:nvPr/>
        </p:nvSpPr>
        <p:spPr>
          <a:xfrm>
            <a:off x="6600825" y="5407064"/>
            <a:ext cx="5114925"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An object in motion with a velocity vector toward the east under negative acceleration comes to a rest and reverses direction. It passes the origin going in the opposite direction after a long enough time.</a:t>
            </a:r>
          </a:p>
        </p:txBody>
      </p:sp>
      <p:sp>
        <p:nvSpPr>
          <p:cNvPr id="14" name="Rectangle 13">
            <a:extLst>
              <a:ext uri="{FF2B5EF4-FFF2-40B4-BE49-F238E27FC236}">
                <a16:creationId xmlns:a16="http://schemas.microsoft.com/office/drawing/2014/main" id="{6FBFE609-8790-6D46-A647-512546EE91C1}"/>
              </a:ext>
            </a:extLst>
          </p:cNvPr>
          <p:cNvSpPr/>
          <p:nvPr/>
        </p:nvSpPr>
        <p:spPr>
          <a:xfrm>
            <a:off x="6548445" y="6371048"/>
            <a:ext cx="5511949" cy="369332"/>
          </a:xfrm>
          <a:prstGeom prst="rect">
            <a:avLst/>
          </a:prstGeom>
        </p:spPr>
        <p:txBody>
          <a:bodyPr wrap="square">
            <a:spAutoFit/>
          </a:bodyPr>
          <a:lstStyle/>
          <a:p>
            <a:r>
              <a:rPr lang="en-US" dirty="0">
                <a:solidFill>
                  <a:srgbClr val="0000CC"/>
                </a:solidFill>
                <a:hlinkClick r:id="rId6">
                  <a:extLst>
                    <a:ext uri="{A12FA001-AC4F-418D-AE19-62706E023703}">
                      <ahyp:hlinkClr xmlns:ahyp="http://schemas.microsoft.com/office/drawing/2018/hyperlinkcolor" val="tx"/>
                    </a:ext>
                  </a:extLst>
                </a:hlinkClick>
              </a:rPr>
              <a:t>https://The moving man: </a:t>
            </a:r>
            <a:r>
              <a:rPr lang="en-US" dirty="0">
                <a:solidFill>
                  <a:srgbClr val="C00000"/>
                </a:solidFill>
                <a:hlinkClick r:id="rId6">
                  <a:extLst>
                    <a:ext uri="{A12FA001-AC4F-418D-AE19-62706E023703}">
                      <ahyp:hlinkClr xmlns:ahyp="http://schemas.microsoft.com/office/drawing/2018/hyperlinkcolor" val="tx"/>
                    </a:ext>
                  </a:extLst>
                </a:hlinkClick>
              </a:rPr>
              <a:t>set position –9, v=9, a=-3</a:t>
            </a:r>
            <a:endParaRPr lang="en-US" dirty="0">
              <a:solidFill>
                <a:srgbClr val="C00000"/>
              </a:solidFill>
            </a:endParaRPr>
          </a:p>
        </p:txBody>
      </p:sp>
    </p:spTree>
    <p:extLst>
      <p:ext uri="{BB962C8B-B14F-4D97-AF65-F5344CB8AC3E}">
        <p14:creationId xmlns:p14="http://schemas.microsoft.com/office/powerpoint/2010/main" val="50505357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Average and Instantaneous Acceleration </a:t>
            </a:r>
          </a:p>
        </p:txBody>
      </p:sp>
      <p:sp>
        <p:nvSpPr>
          <p:cNvPr id="4" name="Rectangle 3">
            <a:extLst>
              <a:ext uri="{FF2B5EF4-FFF2-40B4-BE49-F238E27FC236}">
                <a16:creationId xmlns:a16="http://schemas.microsoft.com/office/drawing/2014/main" id="{48801E5D-61E2-F043-B945-5188D67E7AAC}"/>
              </a:ext>
            </a:extLst>
          </p:cNvPr>
          <p:cNvSpPr/>
          <p:nvPr/>
        </p:nvSpPr>
        <p:spPr>
          <a:xfrm>
            <a:off x="473869" y="802276"/>
            <a:ext cx="11244261" cy="1107996"/>
          </a:xfrm>
          <a:prstGeom prst="rect">
            <a:avLst/>
          </a:prstGeom>
        </p:spPr>
        <p:txBody>
          <a:bodyPr wrap="square">
            <a:spAutoFit/>
          </a:bodyPr>
          <a:lstStyle/>
          <a:p>
            <a:r>
              <a:rPr lang="en-US" sz="2200" dirty="0">
                <a:solidFill>
                  <a:srgbClr val="000066"/>
                </a:solidFill>
                <a:latin typeface="LiberationSerif"/>
              </a:rPr>
              <a:t>Instantaneous acceleration is calculated using the same process discussed for instantaneous velocity. </a:t>
            </a:r>
          </a:p>
          <a:p>
            <a:endParaRPr lang="en-US" sz="2200" dirty="0">
              <a:solidFill>
                <a:srgbClr val="C00000"/>
              </a:solidFill>
            </a:endParaRPr>
          </a:p>
        </p:txBody>
      </p:sp>
      <p:pic>
        <p:nvPicPr>
          <p:cNvPr id="3" name="Picture 2" descr="Text, letter&#10;&#10;Description automatically generated">
            <a:extLst>
              <a:ext uri="{FF2B5EF4-FFF2-40B4-BE49-F238E27FC236}">
                <a16:creationId xmlns:a16="http://schemas.microsoft.com/office/drawing/2014/main" id="{4C64DAD3-D59E-0F4B-908A-00D549CCFD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1380" y="1496453"/>
            <a:ext cx="1803197" cy="777240"/>
          </a:xfrm>
          <a:prstGeom prst="rect">
            <a:avLst/>
          </a:prstGeom>
        </p:spPr>
      </p:pic>
      <p:sp>
        <p:nvSpPr>
          <p:cNvPr id="7" name="Rectangle 6">
            <a:extLst>
              <a:ext uri="{FF2B5EF4-FFF2-40B4-BE49-F238E27FC236}">
                <a16:creationId xmlns:a16="http://schemas.microsoft.com/office/drawing/2014/main" id="{73BF2767-4B17-2E48-BE27-B4A3A170FCFD}"/>
              </a:ext>
            </a:extLst>
          </p:cNvPr>
          <p:cNvSpPr/>
          <p:nvPr/>
        </p:nvSpPr>
        <p:spPr>
          <a:xfrm>
            <a:off x="531021" y="2312208"/>
            <a:ext cx="4683917" cy="1323439"/>
          </a:xfrm>
          <a:prstGeom prst="rect">
            <a:avLst/>
          </a:prstGeom>
        </p:spPr>
        <p:txBody>
          <a:bodyPr wrap="square">
            <a:spAutoFit/>
          </a:bodyPr>
          <a:lstStyle/>
          <a:p>
            <a:pPr>
              <a:lnSpc>
                <a:spcPct val="200000"/>
              </a:lnSpc>
            </a:pPr>
            <a:r>
              <a:rPr lang="en-US" sz="2000" dirty="0">
                <a:latin typeface="LiberationSerif"/>
              </a:rPr>
              <a:t>Average acceleration</a:t>
            </a:r>
          </a:p>
          <a:p>
            <a:r>
              <a:rPr lang="en-US" sz="2000" dirty="0">
                <a:latin typeface="LiberationSerif"/>
              </a:rPr>
              <a:t>approaches instantaneous acceleration as </a:t>
            </a:r>
            <a:r>
              <a:rPr lang="el-GR" sz="2000" dirty="0">
                <a:latin typeface="STIXGeneral" pitchFamily="2" charset="2"/>
              </a:rPr>
              <a:t>Δ</a:t>
            </a:r>
            <a:r>
              <a:rPr lang="en-US" sz="2000" i="1" dirty="0">
                <a:latin typeface="STIXGeneral" pitchFamily="2" charset="2"/>
              </a:rPr>
              <a:t>t </a:t>
            </a:r>
            <a:r>
              <a:rPr lang="en-US" sz="2000" dirty="0">
                <a:latin typeface="LiberationSerif"/>
              </a:rPr>
              <a:t>approaches zero. </a:t>
            </a:r>
            <a:endParaRPr lang="en-US" sz="2000" dirty="0"/>
          </a:p>
        </p:txBody>
      </p:sp>
      <p:pic>
        <p:nvPicPr>
          <p:cNvPr id="9" name="Picture 8" descr="Text&#10;&#10;Description automatically generated">
            <a:extLst>
              <a:ext uri="{FF2B5EF4-FFF2-40B4-BE49-F238E27FC236}">
                <a16:creationId xmlns:a16="http://schemas.microsoft.com/office/drawing/2014/main" id="{FF14E8DE-8EF9-B14F-B78D-5D0793E713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78126" y="2512710"/>
            <a:ext cx="863600" cy="495300"/>
          </a:xfrm>
          <a:prstGeom prst="rect">
            <a:avLst/>
          </a:prstGeom>
        </p:spPr>
      </p:pic>
      <p:pic>
        <p:nvPicPr>
          <p:cNvPr id="10" name="Picture Placeholder 1" descr="Graph A shows velocity plotted versus time. Velocity increases from t1 to t2 and t3. It reaches maximum at t0. It decreases to t4 and continues to decrease to t5 and t6. The slope of the tangent line at t0 is indicated as the instantaneous velocity. Graph B shows velocity plotted versus time. Velocity decreases from t1 to t2 and t3. It reaches minimum at t0. It increases to t4 and continues to increase to t5 and t6. The slope of the tangent line at t0 is indicated as the instantaneous velocity.">
            <a:extLst>
              <a:ext uri="{FF2B5EF4-FFF2-40B4-BE49-F238E27FC236}">
                <a16:creationId xmlns:a16="http://schemas.microsoft.com/office/drawing/2014/main" id="{AE7DC972-4273-D640-8078-9320503EFF17}"/>
              </a:ext>
            </a:extLst>
          </p:cNvPr>
          <p:cNvPicPr>
            <a:picLocks noChangeAspect="1"/>
          </p:cNvPicPr>
          <p:nvPr/>
        </p:nvPicPr>
        <p:blipFill>
          <a:blip r:embed="rId5" cstate="email">
            <a:extLst>
              <a:ext uri="{28A0092B-C50C-407E-A947-70E740481C1C}">
                <a14:useLocalDpi xmlns:a14="http://schemas.microsoft.com/office/drawing/2010/main" val="0"/>
              </a:ext>
            </a:extLst>
          </a:blip>
          <a:srcRect l="-843" r="-843"/>
          <a:stretch>
            <a:fillRect/>
          </a:stretch>
        </p:blipFill>
        <p:spPr>
          <a:xfrm>
            <a:off x="5341626" y="1356274"/>
            <a:ext cx="6319353" cy="2743200"/>
          </a:xfrm>
          <a:prstGeom prst="rect">
            <a:avLst/>
          </a:prstGeom>
        </p:spPr>
      </p:pic>
      <mc:AlternateContent xmlns:mc="http://schemas.openxmlformats.org/markup-compatibility/2006" xmlns:a14="http://schemas.microsoft.com/office/drawing/2010/main">
        <mc:Choice Requires="a14">
          <p:sp>
            <p:nvSpPr>
              <p:cNvPr id="11" name="Text Placeholder 6">
                <a:extLst>
                  <a:ext uri="{FF2B5EF4-FFF2-40B4-BE49-F238E27FC236}">
                    <a16:creationId xmlns:a16="http://schemas.microsoft.com/office/drawing/2014/main" id="{AD24102A-D9B7-7044-B231-A0CAC3381C67}"/>
                  </a:ext>
                </a:extLst>
              </p:cNvPr>
              <p:cNvSpPr txBox="1">
                <a:spLocks/>
              </p:cNvSpPr>
              <p:nvPr/>
            </p:nvSpPr>
            <p:spPr>
              <a:xfrm>
                <a:off x="1971380" y="4210460"/>
                <a:ext cx="9870286" cy="2647540"/>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66"/>
                    </a:solidFill>
                  </a:rPr>
                  <a:t>In a graph of velocity versus time, instantaneous acceleration is the slope of the tangent line.</a:t>
                </a:r>
              </a:p>
              <a:p>
                <a:pPr>
                  <a:buFont typeface="Arial" panose="020B0604020202020204" pitchFamily="34" charset="0"/>
                  <a:buAutoNum type="alphaLcParenBoth"/>
                </a:pPr>
                <a:r>
                  <a:rPr lang="en-US" sz="1800" dirty="0">
                    <a:solidFill>
                      <a:srgbClr val="000066"/>
                    </a:solidFill>
                  </a:rPr>
                  <a:t>Shown is average acceleration  </a:t>
                </a:r>
                <a14:m>
                  <m:oMath xmlns:m="http://schemas.openxmlformats.org/officeDocument/2006/math">
                    <m:acc>
                      <m:accPr>
                        <m:chr m:val="̅"/>
                        <m:ctrlPr>
                          <a:rPr lang="en-US" sz="1800" i="1">
                            <a:solidFill>
                              <a:srgbClr val="000066"/>
                            </a:solidFill>
                            <a:latin typeface="Cambria Math" panose="02040503050406030204" pitchFamily="18" charset="0"/>
                          </a:rPr>
                        </m:ctrlPr>
                      </m:accPr>
                      <m:e>
                        <m:r>
                          <a:rPr lang="en-US" sz="1800" i="1" smtClean="0">
                            <a:solidFill>
                              <a:srgbClr val="000066"/>
                            </a:solidFill>
                            <a:latin typeface="Cambria Math"/>
                          </a:rPr>
                          <m:t>𝑎</m:t>
                        </m:r>
                      </m:e>
                    </m:acc>
                    <m:r>
                      <a:rPr lang="en-US" sz="1800" i="1">
                        <a:solidFill>
                          <a:srgbClr val="000066"/>
                        </a:solidFill>
                        <a:latin typeface="Cambria Math"/>
                      </a:rPr>
                      <m:t> = </m:t>
                    </m:r>
                    <m:f>
                      <m:fPr>
                        <m:ctrlPr>
                          <a:rPr lang="en-US" sz="1800" i="1">
                            <a:solidFill>
                              <a:srgbClr val="000066"/>
                            </a:solidFill>
                            <a:latin typeface="Cambria Math" panose="02040503050406030204" pitchFamily="18" charset="0"/>
                          </a:rPr>
                        </m:ctrlPr>
                      </m:fPr>
                      <m:num>
                        <m:r>
                          <m:rPr>
                            <m:sty m:val="p"/>
                          </m:rPr>
                          <a:rPr lang="el-GR" sz="1800">
                            <a:solidFill>
                              <a:srgbClr val="000066"/>
                            </a:solidFill>
                            <a:latin typeface="Cambria Math"/>
                          </a:rPr>
                          <m:t>Δ</m:t>
                        </m:r>
                        <m:r>
                          <a:rPr lang="en-US" sz="1800" i="1" smtClean="0">
                            <a:solidFill>
                              <a:srgbClr val="000066"/>
                            </a:solidFill>
                            <a:latin typeface="Cambria Math"/>
                          </a:rPr>
                          <m:t>𝑣</m:t>
                        </m:r>
                      </m:num>
                      <m:den>
                        <m:r>
                          <m:rPr>
                            <m:sty m:val="p"/>
                          </m:rPr>
                          <a:rPr lang="el-GR" sz="1800">
                            <a:solidFill>
                              <a:srgbClr val="000066"/>
                            </a:solidFill>
                            <a:latin typeface="Cambria Math"/>
                          </a:rPr>
                          <m:t>Δ</m:t>
                        </m:r>
                        <m:r>
                          <a:rPr lang="en-US" sz="1800" i="1">
                            <a:solidFill>
                              <a:srgbClr val="000066"/>
                            </a:solidFill>
                            <a:latin typeface="Cambria Math"/>
                          </a:rPr>
                          <m:t>𝑡</m:t>
                        </m:r>
                      </m:den>
                    </m:f>
                    <m:r>
                      <a:rPr lang="en-US" sz="1800" i="1">
                        <a:solidFill>
                          <a:srgbClr val="000066"/>
                        </a:solidFill>
                        <a:latin typeface="Cambria Math"/>
                      </a:rPr>
                      <m:t> = </m:t>
                    </m:r>
                    <m:box>
                      <m:boxPr>
                        <m:ctrlPr>
                          <a:rPr lang="en-US" sz="1800" i="1">
                            <a:solidFill>
                              <a:srgbClr val="000066"/>
                            </a:solidFill>
                            <a:latin typeface="Cambria Math" panose="02040503050406030204" pitchFamily="18" charset="0"/>
                          </a:rPr>
                        </m:ctrlPr>
                      </m:boxPr>
                      <m:e>
                        <m:argPr>
                          <m:argSz m:val="-1"/>
                        </m:argPr>
                        <m:f>
                          <m:fPr>
                            <m:ctrlPr>
                              <a:rPr lang="en-US" sz="1800" i="1">
                                <a:solidFill>
                                  <a:srgbClr val="000066"/>
                                </a:solidFill>
                                <a:latin typeface="Cambria Math" panose="02040503050406030204" pitchFamily="18" charset="0"/>
                              </a:rPr>
                            </m:ctrlPr>
                          </m:fPr>
                          <m:num>
                            <m:sSub>
                              <m:sSubPr>
                                <m:ctrlPr>
                                  <a:rPr lang="en-US" sz="1800" i="1" dirty="0">
                                    <a:solidFill>
                                      <a:srgbClr val="000066"/>
                                    </a:solidFill>
                                    <a:latin typeface="Cambria Math" panose="02040503050406030204" pitchFamily="18" charset="0"/>
                                  </a:rPr>
                                </m:ctrlPr>
                              </m:sSubPr>
                              <m:e>
                                <m:r>
                                  <a:rPr lang="en-US" sz="1800" i="1" dirty="0" smtClean="0">
                                    <a:solidFill>
                                      <a:srgbClr val="000066"/>
                                    </a:solidFill>
                                    <a:latin typeface="Cambria Math"/>
                                  </a:rPr>
                                  <m:t>𝑣</m:t>
                                </m:r>
                              </m:e>
                              <m:sub>
                                <m:r>
                                  <a:rPr lang="en-US" sz="1800" i="1" dirty="0">
                                    <a:solidFill>
                                      <a:srgbClr val="000066"/>
                                    </a:solidFill>
                                    <a:latin typeface="Cambria Math"/>
                                  </a:rPr>
                                  <m:t>𝑓</m:t>
                                </m:r>
                                <m:r>
                                  <a:rPr lang="en-US" sz="1800" i="1" dirty="0">
                                    <a:solidFill>
                                      <a:srgbClr val="000066"/>
                                    </a:solidFill>
                                    <a:latin typeface="Cambria Math"/>
                                  </a:rPr>
                                  <m:t> </m:t>
                                </m:r>
                              </m:sub>
                            </m:sSub>
                            <m:r>
                              <a:rPr lang="en-US" sz="1800" i="1">
                                <a:solidFill>
                                  <a:srgbClr val="000066"/>
                                </a:solidFill>
                                <a:latin typeface="Cambria Math"/>
                              </a:rPr>
                              <m:t>− </m:t>
                            </m:r>
                            <m:sSub>
                              <m:sSubPr>
                                <m:ctrlPr>
                                  <a:rPr lang="en-US" sz="1800" i="1" dirty="0">
                                    <a:solidFill>
                                      <a:srgbClr val="000066"/>
                                    </a:solidFill>
                                    <a:latin typeface="Cambria Math" panose="02040503050406030204" pitchFamily="18" charset="0"/>
                                  </a:rPr>
                                </m:ctrlPr>
                              </m:sSubPr>
                              <m:e>
                                <m:r>
                                  <a:rPr lang="en-US" sz="1800" i="1" dirty="0" smtClean="0">
                                    <a:solidFill>
                                      <a:srgbClr val="000066"/>
                                    </a:solidFill>
                                    <a:latin typeface="Cambria Math"/>
                                  </a:rPr>
                                  <m:t>𝑣</m:t>
                                </m:r>
                              </m:e>
                              <m:sub>
                                <m:r>
                                  <a:rPr lang="en-US" sz="1800" i="1" dirty="0">
                                    <a:solidFill>
                                      <a:srgbClr val="000066"/>
                                    </a:solidFill>
                                    <a:latin typeface="Cambria Math"/>
                                  </a:rPr>
                                  <m:t>𝑖</m:t>
                                </m:r>
                              </m:sub>
                            </m:sSub>
                          </m:num>
                          <m:den>
                            <m:sSub>
                              <m:sSubPr>
                                <m:ctrlPr>
                                  <a:rPr lang="en-US" sz="1800" i="1" dirty="0">
                                    <a:solidFill>
                                      <a:srgbClr val="000066"/>
                                    </a:solidFill>
                                    <a:latin typeface="Cambria Math" panose="02040503050406030204" pitchFamily="18" charset="0"/>
                                  </a:rPr>
                                </m:ctrlPr>
                              </m:sSubPr>
                              <m:e>
                                <m:r>
                                  <a:rPr lang="en-US" sz="1800" i="1" dirty="0">
                                    <a:solidFill>
                                      <a:srgbClr val="000066"/>
                                    </a:solidFill>
                                    <a:latin typeface="Cambria Math"/>
                                  </a:rPr>
                                  <m:t>𝑡</m:t>
                                </m:r>
                              </m:e>
                              <m:sub>
                                <m:r>
                                  <a:rPr lang="en-US" sz="1800" i="1" dirty="0">
                                    <a:solidFill>
                                      <a:srgbClr val="000066"/>
                                    </a:solidFill>
                                    <a:latin typeface="Cambria Math"/>
                                  </a:rPr>
                                  <m:t>𝑓</m:t>
                                </m:r>
                              </m:sub>
                            </m:sSub>
                            <m:r>
                              <a:rPr lang="en-US" sz="1800" i="1">
                                <a:solidFill>
                                  <a:srgbClr val="000066"/>
                                </a:solidFill>
                                <a:latin typeface="Cambria Math"/>
                              </a:rPr>
                              <m:t>−</m:t>
                            </m:r>
                            <m:sSub>
                              <m:sSubPr>
                                <m:ctrlPr>
                                  <a:rPr lang="en-US" sz="1800" i="1" dirty="0">
                                    <a:solidFill>
                                      <a:srgbClr val="000066"/>
                                    </a:solidFill>
                                    <a:latin typeface="Cambria Math" panose="02040503050406030204" pitchFamily="18" charset="0"/>
                                  </a:rPr>
                                </m:ctrlPr>
                              </m:sSubPr>
                              <m:e>
                                <m:r>
                                  <a:rPr lang="en-US" sz="1800" i="1" dirty="0">
                                    <a:solidFill>
                                      <a:srgbClr val="000066"/>
                                    </a:solidFill>
                                    <a:latin typeface="Cambria Math"/>
                                  </a:rPr>
                                  <m:t> </m:t>
                                </m:r>
                                <m:r>
                                  <a:rPr lang="en-US" sz="1800" i="1" dirty="0">
                                    <a:solidFill>
                                      <a:srgbClr val="000066"/>
                                    </a:solidFill>
                                    <a:latin typeface="Cambria Math"/>
                                  </a:rPr>
                                  <m:t>𝑡</m:t>
                                </m:r>
                              </m:e>
                              <m:sub>
                                <m:r>
                                  <a:rPr lang="en-US" sz="1800" i="1" dirty="0">
                                    <a:solidFill>
                                      <a:srgbClr val="000066"/>
                                    </a:solidFill>
                                    <a:latin typeface="Cambria Math"/>
                                  </a:rPr>
                                  <m:t>𝑖</m:t>
                                </m:r>
                              </m:sub>
                            </m:sSub>
                          </m:den>
                        </m:f>
                      </m:e>
                    </m:box>
                  </m:oMath>
                </a14:m>
                <a:r>
                  <a:rPr lang="en-US" sz="1800" dirty="0">
                    <a:solidFill>
                      <a:srgbClr val="000066"/>
                    </a:solidFill>
                  </a:rPr>
                  <a:t>  between times </a:t>
                </a:r>
                <a14:m>
                  <m:oMath xmlns:m="http://schemas.openxmlformats.org/officeDocument/2006/math">
                    <m:r>
                      <a:rPr lang="en-US" sz="1800" i="1" dirty="0">
                        <a:solidFill>
                          <a:srgbClr val="000066"/>
                        </a:solidFill>
                        <a:latin typeface="Cambria Math"/>
                        <a:ea typeface="Cambria Math"/>
                      </a:rPr>
                      <m:t>∆</m:t>
                    </m:r>
                    <m:r>
                      <a:rPr lang="en-US" sz="1800" i="1" dirty="0">
                        <a:solidFill>
                          <a:srgbClr val="000066"/>
                        </a:solidFill>
                        <a:latin typeface="Cambria Math"/>
                        <a:ea typeface="Cambria Math"/>
                      </a:rPr>
                      <m:t>𝑡</m:t>
                    </m:r>
                    <m:r>
                      <a:rPr lang="en-US" sz="1800" i="1" dirty="0">
                        <a:solidFill>
                          <a:srgbClr val="000066"/>
                        </a:solidFill>
                        <a:latin typeface="Cambria Math"/>
                        <a:ea typeface="Cambria Math"/>
                      </a:rPr>
                      <m:t> = </m:t>
                    </m:r>
                    <m:sSub>
                      <m:sSubPr>
                        <m:ctrlPr>
                          <a:rPr lang="en-US" sz="1800" i="1" dirty="0">
                            <a:solidFill>
                              <a:srgbClr val="000066"/>
                            </a:solidFill>
                            <a:latin typeface="Cambria Math" panose="02040503050406030204" pitchFamily="18" charset="0"/>
                            <a:ea typeface="Cambria Math"/>
                          </a:rPr>
                        </m:ctrlPr>
                      </m:sSubPr>
                      <m:e>
                        <m:r>
                          <a:rPr lang="en-US" sz="1800" i="1" dirty="0">
                            <a:solidFill>
                              <a:srgbClr val="000066"/>
                            </a:solidFill>
                            <a:latin typeface="Cambria Math"/>
                            <a:ea typeface="Cambria Math"/>
                          </a:rPr>
                          <m:t>𝑡</m:t>
                        </m:r>
                      </m:e>
                      <m:sub>
                        <m:r>
                          <a:rPr lang="en-US" sz="1800" i="1" dirty="0">
                            <a:solidFill>
                              <a:srgbClr val="000066"/>
                            </a:solidFill>
                            <a:latin typeface="Cambria Math"/>
                            <a:ea typeface="Cambria Math"/>
                          </a:rPr>
                          <m:t>6</m:t>
                        </m:r>
                      </m:sub>
                    </m:sSub>
                    <m:r>
                      <a:rPr lang="en-US" sz="1800" i="1" dirty="0">
                        <a:solidFill>
                          <a:srgbClr val="000066"/>
                        </a:solidFill>
                        <a:latin typeface="Cambria Math"/>
                        <a:ea typeface="Cambria Math"/>
                      </a:rPr>
                      <m:t> − </m:t>
                    </m:r>
                    <m:sSub>
                      <m:sSubPr>
                        <m:ctrlPr>
                          <a:rPr lang="en-US" sz="1800" i="1" dirty="0">
                            <a:solidFill>
                              <a:srgbClr val="000066"/>
                            </a:solidFill>
                            <a:latin typeface="Cambria Math" panose="02040503050406030204" pitchFamily="18" charset="0"/>
                            <a:ea typeface="Cambria Math"/>
                          </a:rPr>
                        </m:ctrlPr>
                      </m:sSubPr>
                      <m:e>
                        <m:r>
                          <a:rPr lang="en-US" sz="1800" i="1" dirty="0">
                            <a:solidFill>
                              <a:srgbClr val="000066"/>
                            </a:solidFill>
                            <a:latin typeface="Cambria Math"/>
                            <a:ea typeface="Cambria Math"/>
                          </a:rPr>
                          <m:t>𝑡</m:t>
                        </m:r>
                      </m:e>
                      <m:sub>
                        <m:r>
                          <a:rPr lang="en-US" sz="1800" i="1" dirty="0">
                            <a:solidFill>
                              <a:srgbClr val="000066"/>
                            </a:solidFill>
                            <a:latin typeface="Cambria Math"/>
                            <a:ea typeface="Cambria Math"/>
                          </a:rPr>
                          <m:t>1</m:t>
                        </m:r>
                      </m:sub>
                    </m:sSub>
                    <m:r>
                      <a:rPr lang="en-US" sz="1800" i="1" dirty="0">
                        <a:solidFill>
                          <a:srgbClr val="000066"/>
                        </a:solidFill>
                        <a:latin typeface="Cambria Math"/>
                        <a:ea typeface="Cambria Math"/>
                      </a:rPr>
                      <m:t>,  ∆</m:t>
                    </m:r>
                    <m:r>
                      <a:rPr lang="en-US" sz="1800" i="1" dirty="0">
                        <a:solidFill>
                          <a:srgbClr val="000066"/>
                        </a:solidFill>
                        <a:latin typeface="Cambria Math"/>
                        <a:ea typeface="Cambria Math"/>
                      </a:rPr>
                      <m:t>𝑡</m:t>
                    </m:r>
                    <m:r>
                      <a:rPr lang="en-US" sz="1800" i="1" dirty="0">
                        <a:solidFill>
                          <a:srgbClr val="000066"/>
                        </a:solidFill>
                        <a:latin typeface="Cambria Math"/>
                        <a:ea typeface="Cambria Math"/>
                      </a:rPr>
                      <m:t> =</m:t>
                    </m:r>
                    <m:sSub>
                      <m:sSubPr>
                        <m:ctrlPr>
                          <a:rPr lang="en-US" sz="1800" i="1" dirty="0">
                            <a:solidFill>
                              <a:srgbClr val="000066"/>
                            </a:solidFill>
                            <a:latin typeface="Cambria Math" panose="02040503050406030204" pitchFamily="18" charset="0"/>
                            <a:ea typeface="Cambria Math"/>
                          </a:rPr>
                        </m:ctrlPr>
                      </m:sSubPr>
                      <m:e>
                        <m:r>
                          <a:rPr lang="en-US" sz="1800" i="1" dirty="0">
                            <a:solidFill>
                              <a:srgbClr val="000066"/>
                            </a:solidFill>
                            <a:latin typeface="Cambria Math"/>
                            <a:ea typeface="Cambria Math"/>
                          </a:rPr>
                          <m:t>𝑡</m:t>
                        </m:r>
                      </m:e>
                      <m:sub>
                        <m:r>
                          <a:rPr lang="en-US" sz="1800" i="1" dirty="0">
                            <a:solidFill>
                              <a:srgbClr val="000066"/>
                            </a:solidFill>
                            <a:latin typeface="Cambria Math"/>
                            <a:ea typeface="Cambria Math"/>
                          </a:rPr>
                          <m:t>5</m:t>
                        </m:r>
                      </m:sub>
                    </m:sSub>
                    <m:r>
                      <a:rPr lang="en-US" sz="1800" i="1" dirty="0">
                        <a:solidFill>
                          <a:srgbClr val="000066"/>
                        </a:solidFill>
                        <a:latin typeface="Cambria Math"/>
                        <a:ea typeface="Cambria Math"/>
                      </a:rPr>
                      <m:t> − </m:t>
                    </m:r>
                    <m:sSub>
                      <m:sSubPr>
                        <m:ctrlPr>
                          <a:rPr lang="en-US" sz="1800" i="1" dirty="0">
                            <a:solidFill>
                              <a:srgbClr val="000066"/>
                            </a:solidFill>
                            <a:latin typeface="Cambria Math" panose="02040503050406030204" pitchFamily="18" charset="0"/>
                            <a:ea typeface="Cambria Math"/>
                          </a:rPr>
                        </m:ctrlPr>
                      </m:sSubPr>
                      <m:e>
                        <m:r>
                          <a:rPr lang="en-US" sz="1800" i="1" dirty="0">
                            <a:solidFill>
                              <a:srgbClr val="000066"/>
                            </a:solidFill>
                            <a:latin typeface="Cambria Math"/>
                            <a:ea typeface="Cambria Math"/>
                          </a:rPr>
                          <m:t>𝑡</m:t>
                        </m:r>
                      </m:e>
                      <m:sub>
                        <m:r>
                          <a:rPr lang="en-US" sz="1800" i="1" dirty="0">
                            <a:solidFill>
                              <a:srgbClr val="000066"/>
                            </a:solidFill>
                            <a:latin typeface="Cambria Math"/>
                            <a:ea typeface="Cambria Math"/>
                          </a:rPr>
                          <m:t>2</m:t>
                        </m:r>
                      </m:sub>
                    </m:sSub>
                  </m:oMath>
                </a14:m>
                <a:r>
                  <a:rPr lang="en-US" sz="1800" dirty="0">
                    <a:solidFill>
                      <a:srgbClr val="000066"/>
                    </a:solidFill>
                  </a:rPr>
                  <a:t>, and  </a:t>
                </a:r>
                <a14:m>
                  <m:oMath xmlns:m="http://schemas.openxmlformats.org/officeDocument/2006/math">
                    <m:r>
                      <a:rPr lang="en-US" sz="1800" i="1" dirty="0">
                        <a:solidFill>
                          <a:srgbClr val="000066"/>
                        </a:solidFill>
                        <a:latin typeface="Cambria Math"/>
                        <a:ea typeface="Cambria Math"/>
                      </a:rPr>
                      <m:t>∆</m:t>
                    </m:r>
                    <m:r>
                      <a:rPr lang="en-US" sz="1800" i="1" dirty="0">
                        <a:solidFill>
                          <a:srgbClr val="000066"/>
                        </a:solidFill>
                        <a:latin typeface="Cambria Math"/>
                        <a:ea typeface="Cambria Math"/>
                      </a:rPr>
                      <m:t>𝑡</m:t>
                    </m:r>
                    <m:r>
                      <a:rPr lang="en-US" sz="1800" i="1" dirty="0">
                        <a:solidFill>
                          <a:srgbClr val="000066"/>
                        </a:solidFill>
                        <a:latin typeface="Cambria Math"/>
                        <a:ea typeface="Cambria Math"/>
                      </a:rPr>
                      <m:t> = </m:t>
                    </m:r>
                    <m:sSub>
                      <m:sSubPr>
                        <m:ctrlPr>
                          <a:rPr lang="en-US" sz="1800" i="1" dirty="0">
                            <a:solidFill>
                              <a:srgbClr val="000066"/>
                            </a:solidFill>
                            <a:latin typeface="Cambria Math" panose="02040503050406030204" pitchFamily="18" charset="0"/>
                            <a:ea typeface="Cambria Math"/>
                          </a:rPr>
                        </m:ctrlPr>
                      </m:sSubPr>
                      <m:e>
                        <m:r>
                          <a:rPr lang="en-US" sz="1800" i="1" dirty="0">
                            <a:solidFill>
                              <a:srgbClr val="000066"/>
                            </a:solidFill>
                            <a:latin typeface="Cambria Math"/>
                            <a:ea typeface="Cambria Math"/>
                          </a:rPr>
                          <m:t>𝑡</m:t>
                        </m:r>
                      </m:e>
                      <m:sub>
                        <m:r>
                          <a:rPr lang="en-US" sz="1800" i="1" dirty="0">
                            <a:solidFill>
                              <a:srgbClr val="000066"/>
                            </a:solidFill>
                            <a:latin typeface="Cambria Math"/>
                            <a:ea typeface="Cambria Math"/>
                          </a:rPr>
                          <m:t>4</m:t>
                        </m:r>
                      </m:sub>
                    </m:sSub>
                    <m:r>
                      <a:rPr lang="en-US" sz="1800" i="1" dirty="0">
                        <a:solidFill>
                          <a:srgbClr val="000066"/>
                        </a:solidFill>
                        <a:latin typeface="Cambria Math"/>
                        <a:ea typeface="Cambria Math"/>
                      </a:rPr>
                      <m:t> −</m:t>
                    </m:r>
                    <m:sSub>
                      <m:sSubPr>
                        <m:ctrlPr>
                          <a:rPr lang="en-US" sz="1800" i="1" dirty="0">
                            <a:solidFill>
                              <a:srgbClr val="000066"/>
                            </a:solidFill>
                            <a:latin typeface="Cambria Math" panose="02040503050406030204" pitchFamily="18" charset="0"/>
                            <a:ea typeface="Cambria Math"/>
                          </a:rPr>
                        </m:ctrlPr>
                      </m:sSubPr>
                      <m:e>
                        <m:r>
                          <a:rPr lang="en-US" sz="1800" i="1" dirty="0">
                            <a:solidFill>
                              <a:srgbClr val="000066"/>
                            </a:solidFill>
                            <a:latin typeface="Cambria Math"/>
                            <a:ea typeface="Cambria Math"/>
                          </a:rPr>
                          <m:t>  </m:t>
                        </m:r>
                        <m:r>
                          <a:rPr lang="en-US" sz="1800" i="1" dirty="0">
                            <a:solidFill>
                              <a:srgbClr val="000066"/>
                            </a:solidFill>
                            <a:latin typeface="Cambria Math"/>
                            <a:ea typeface="Cambria Math"/>
                          </a:rPr>
                          <m:t>𝑡</m:t>
                        </m:r>
                      </m:e>
                      <m:sub>
                        <m:r>
                          <a:rPr lang="en-US" sz="1800" i="1" dirty="0">
                            <a:solidFill>
                              <a:srgbClr val="000066"/>
                            </a:solidFill>
                            <a:latin typeface="Cambria Math"/>
                            <a:ea typeface="Cambria Math"/>
                          </a:rPr>
                          <m:t>3</m:t>
                        </m:r>
                      </m:sub>
                    </m:sSub>
                  </m:oMath>
                </a14:m>
                <a:r>
                  <a:rPr lang="en-US" sz="1800" dirty="0">
                    <a:solidFill>
                      <a:srgbClr val="000066"/>
                    </a:solidFill>
                  </a:rPr>
                  <a:t>. When </a:t>
                </a:r>
                <a14:m>
                  <m:oMath xmlns:m="http://schemas.openxmlformats.org/officeDocument/2006/math">
                    <m:r>
                      <a:rPr lang="en-US" sz="1800" i="1" dirty="0">
                        <a:solidFill>
                          <a:srgbClr val="000066"/>
                        </a:solidFill>
                        <a:latin typeface="Cambria Math"/>
                        <a:ea typeface="Cambria Math"/>
                      </a:rPr>
                      <m:t>∆</m:t>
                    </m:r>
                    <m:r>
                      <a:rPr lang="en-US" sz="1800" i="1" dirty="0">
                        <a:solidFill>
                          <a:srgbClr val="000066"/>
                        </a:solidFill>
                        <a:latin typeface="Cambria Math"/>
                        <a:ea typeface="Cambria Math"/>
                      </a:rPr>
                      <m:t>𝑡</m:t>
                    </m:r>
                  </m:oMath>
                </a14:m>
                <a:r>
                  <a:rPr lang="en-US" sz="1800" dirty="0">
                    <a:solidFill>
                      <a:srgbClr val="000066"/>
                    </a:solidFill>
                  </a:rPr>
                  <a:t> </a:t>
                </a:r>
                <a:r>
                  <a:rPr lang="en-US" sz="1800" dirty="0">
                    <a:solidFill>
                      <a:srgbClr val="000066"/>
                    </a:solidFill>
                    <a:latin typeface="Cambria Math" panose="02040503050406030204" pitchFamily="18" charset="0"/>
                    <a:ea typeface="Cambria Math" panose="02040503050406030204" pitchFamily="18" charset="0"/>
                  </a:rPr>
                  <a:t>→</a:t>
                </a:r>
                <a:r>
                  <a:rPr lang="en-US" sz="1800" dirty="0">
                    <a:solidFill>
                      <a:srgbClr val="000066"/>
                    </a:solidFill>
                  </a:rPr>
                  <a:t> </a:t>
                </a:r>
                <a:r>
                  <a:rPr lang="en-US" sz="1800" dirty="0">
                    <a:solidFill>
                      <a:srgbClr val="000066"/>
                    </a:solidFill>
                    <a:latin typeface="Cambria Math" panose="02040503050406030204" pitchFamily="18" charset="0"/>
                    <a:ea typeface="Cambria Math" panose="02040503050406030204" pitchFamily="18" charset="0"/>
                  </a:rPr>
                  <a:t>0</a:t>
                </a:r>
                <a:r>
                  <a:rPr lang="en-US" sz="1800" dirty="0">
                    <a:solidFill>
                      <a:srgbClr val="000066"/>
                    </a:solidFill>
                  </a:rPr>
                  <a:t>, the average acceleration approaches instantaneous acceleration at time </a:t>
                </a:r>
                <a14:m>
                  <m:oMath xmlns:m="http://schemas.openxmlformats.org/officeDocument/2006/math">
                    <m:sSub>
                      <m:sSubPr>
                        <m:ctrlPr>
                          <a:rPr lang="en-US" sz="1800" i="1" dirty="0" smtClean="0">
                            <a:solidFill>
                              <a:srgbClr val="000066"/>
                            </a:solidFill>
                            <a:latin typeface="Cambria Math" panose="02040503050406030204" pitchFamily="18" charset="0"/>
                            <a:ea typeface="Cambria Math"/>
                          </a:rPr>
                        </m:ctrlPr>
                      </m:sSubPr>
                      <m:e>
                        <m:r>
                          <a:rPr lang="en-US" sz="1800" i="1" dirty="0">
                            <a:solidFill>
                              <a:srgbClr val="000066"/>
                            </a:solidFill>
                            <a:latin typeface="Cambria Math"/>
                            <a:ea typeface="Cambria Math"/>
                          </a:rPr>
                          <m:t>𝑡</m:t>
                        </m:r>
                      </m:e>
                      <m:sub>
                        <m:r>
                          <a:rPr lang="en-US" sz="1800" i="1" dirty="0" smtClean="0">
                            <a:solidFill>
                              <a:srgbClr val="000066"/>
                            </a:solidFill>
                            <a:latin typeface="Cambria Math"/>
                            <a:ea typeface="Cambria Math"/>
                          </a:rPr>
                          <m:t>0</m:t>
                        </m:r>
                      </m:sub>
                    </m:sSub>
                    <m:r>
                      <a:rPr lang="en-US" sz="1800" i="1" dirty="0">
                        <a:solidFill>
                          <a:srgbClr val="000066"/>
                        </a:solidFill>
                        <a:latin typeface="Cambria Math"/>
                        <a:ea typeface="Cambria Math"/>
                      </a:rPr>
                      <m:t> </m:t>
                    </m:r>
                  </m:oMath>
                </a14:m>
                <a:r>
                  <a:rPr lang="en-US" sz="1800" dirty="0">
                    <a:solidFill>
                      <a:srgbClr val="000066"/>
                    </a:solidFill>
                  </a:rPr>
                  <a:t>. In view (a), instantaneous acceleration is shown for the point on the velocity curve at maximum velocity. At this point, instantaneous acceleration is the slope of the tangent line, which is zero. At any other time, the slope of the tangent line—and  thus instantaneous acceleration—would not be zero.</a:t>
                </a:r>
              </a:p>
              <a:p>
                <a:pPr>
                  <a:buFont typeface="Arial" panose="020B0604020202020204" pitchFamily="34" charset="0"/>
                  <a:buAutoNum type="alphaLcParenBoth"/>
                </a:pPr>
                <a:r>
                  <a:rPr lang="en-US" sz="1800" dirty="0">
                    <a:solidFill>
                      <a:srgbClr val="000066"/>
                    </a:solidFill>
                  </a:rPr>
                  <a:t> Same as (a) but shown for instantaneous acceleration at minimum velocity.</a:t>
                </a:r>
              </a:p>
            </p:txBody>
          </p:sp>
        </mc:Choice>
        <mc:Fallback xmlns="">
          <p:sp>
            <p:nvSpPr>
              <p:cNvPr id="11" name="Text Placeholder 6">
                <a:extLst>
                  <a:ext uri="{FF2B5EF4-FFF2-40B4-BE49-F238E27FC236}">
                    <a16:creationId xmlns:a16="http://schemas.microsoft.com/office/drawing/2014/main" id="{AD24102A-D9B7-7044-B231-A0CAC3381C67}"/>
                  </a:ext>
                </a:extLst>
              </p:cNvPr>
              <p:cNvSpPr txBox="1">
                <a:spLocks noRot="1" noChangeAspect="1" noMove="1" noResize="1" noEditPoints="1" noAdjustHandles="1" noChangeArrowheads="1" noChangeShapeType="1" noTextEdit="1"/>
              </p:cNvSpPr>
              <p:nvPr/>
            </p:nvSpPr>
            <p:spPr>
              <a:xfrm>
                <a:off x="1971380" y="4210460"/>
                <a:ext cx="9870286" cy="2647540"/>
              </a:xfrm>
              <a:prstGeom prst="rect">
                <a:avLst/>
              </a:prstGeom>
              <a:blipFill>
                <a:blip r:embed="rId6"/>
                <a:stretch>
                  <a:fillRect l="-514" t="-1914" r="-1285"/>
                </a:stretch>
              </a:blipFill>
            </p:spPr>
            <p:txBody>
              <a:bodyPr/>
              <a:lstStyle/>
              <a:p>
                <a:r>
                  <a:rPr lang="en-US">
                    <a:noFill/>
                  </a:rPr>
                  <a:t> </a:t>
                </a:r>
              </a:p>
            </p:txBody>
          </p:sp>
        </mc:Fallback>
      </mc:AlternateContent>
    </p:spTree>
    <p:extLst>
      <p:ext uri="{BB962C8B-B14F-4D97-AF65-F5344CB8AC3E}">
        <p14:creationId xmlns:p14="http://schemas.microsoft.com/office/powerpoint/2010/main" val="30551832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Average and Instantaneous Acceleration </a:t>
            </a:r>
          </a:p>
        </p:txBody>
      </p:sp>
      <p:pic>
        <p:nvPicPr>
          <p:cNvPr id="3" name="Picture 2" descr="Diagram, line chart&#10;&#10;Description automatically generated">
            <a:extLst>
              <a:ext uri="{FF2B5EF4-FFF2-40B4-BE49-F238E27FC236}">
                <a16:creationId xmlns:a16="http://schemas.microsoft.com/office/drawing/2014/main" id="{7B7CA265-97B5-9E41-A5ED-9A9FEFE0A7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930" y="845138"/>
            <a:ext cx="5520266" cy="3657600"/>
          </a:xfrm>
          <a:prstGeom prst="rect">
            <a:avLst/>
          </a:prstGeom>
        </p:spPr>
      </p:pic>
      <p:sp>
        <p:nvSpPr>
          <p:cNvPr id="7" name="Rectangle 6">
            <a:extLst>
              <a:ext uri="{FF2B5EF4-FFF2-40B4-BE49-F238E27FC236}">
                <a16:creationId xmlns:a16="http://schemas.microsoft.com/office/drawing/2014/main" id="{6CD34567-2E82-5E4F-928B-BDBE8DA8855C}"/>
              </a:ext>
            </a:extLst>
          </p:cNvPr>
          <p:cNvSpPr/>
          <p:nvPr/>
        </p:nvSpPr>
        <p:spPr>
          <a:xfrm>
            <a:off x="5693575" y="5109214"/>
            <a:ext cx="6430749" cy="1015663"/>
          </a:xfrm>
          <a:prstGeom prst="rect">
            <a:avLst/>
          </a:prstGeom>
        </p:spPr>
        <p:txBody>
          <a:bodyPr wrap="square">
            <a:spAutoFit/>
          </a:bodyPr>
          <a:lstStyle/>
          <a:p>
            <a:r>
              <a:rPr lang="en-US" sz="2000" dirty="0">
                <a:solidFill>
                  <a:srgbClr val="000066"/>
                </a:solidFill>
                <a:latin typeface="Calibri" panose="020F0502020204030204" pitchFamily="34" charset="0"/>
                <a:ea typeface="Calibri" panose="020F0502020204030204" pitchFamily="34" charset="0"/>
                <a:cs typeface="Times New Roman" panose="02020603050405020304" pitchFamily="18" charset="0"/>
              </a:rPr>
              <a:t>A particle starts from rest and accelerates as shown in the figure. Construct the velocity-time graph (with correct axis numbers and labels) and determine the total displacement. </a:t>
            </a:r>
            <a:endParaRPr lang="en-US" sz="2000" dirty="0">
              <a:solidFill>
                <a:srgbClr val="000066"/>
              </a:solidFill>
            </a:endParaRPr>
          </a:p>
        </p:txBody>
      </p:sp>
      <p:sp>
        <p:nvSpPr>
          <p:cNvPr id="8" name="Rectangle 7">
            <a:extLst>
              <a:ext uri="{FF2B5EF4-FFF2-40B4-BE49-F238E27FC236}">
                <a16:creationId xmlns:a16="http://schemas.microsoft.com/office/drawing/2014/main" id="{E06D6AD3-16B3-DA44-9D89-62ED5ADAB152}"/>
              </a:ext>
            </a:extLst>
          </p:cNvPr>
          <p:cNvSpPr/>
          <p:nvPr/>
        </p:nvSpPr>
        <p:spPr>
          <a:xfrm>
            <a:off x="6415092" y="4678327"/>
            <a:ext cx="1152623" cy="430887"/>
          </a:xfrm>
          <a:prstGeom prst="rect">
            <a:avLst/>
          </a:prstGeom>
        </p:spPr>
        <p:txBody>
          <a:bodyPr wrap="none">
            <a:spAutoFit/>
          </a:bodyPr>
          <a:lstStyle/>
          <a:p>
            <a:r>
              <a:rPr lang="en-US" sz="2200" dirty="0">
                <a:solidFill>
                  <a:srgbClr val="008000"/>
                </a:solidFill>
              </a:rPr>
              <a:t>Example</a:t>
            </a:r>
            <a:endParaRPr lang="en-US" sz="2200" dirty="0"/>
          </a:p>
        </p:txBody>
      </p:sp>
      <p:pic>
        <p:nvPicPr>
          <p:cNvPr id="9" name="Picture 8">
            <a:extLst>
              <a:ext uri="{FF2B5EF4-FFF2-40B4-BE49-F238E27FC236}">
                <a16:creationId xmlns:a16="http://schemas.microsoft.com/office/drawing/2014/main" id="{92E6D117-FDA4-CB4F-B386-D1FACB76DD4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28324" y="845138"/>
            <a:ext cx="6096000" cy="3657600"/>
          </a:xfrm>
          <a:prstGeom prst="rect">
            <a:avLst/>
          </a:prstGeom>
          <a:noFill/>
        </p:spPr>
      </p:pic>
    </p:spTree>
    <p:extLst>
      <p:ext uri="{BB962C8B-B14F-4D97-AF65-F5344CB8AC3E}">
        <p14:creationId xmlns:p14="http://schemas.microsoft.com/office/powerpoint/2010/main" val="15682648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par>
                                <p:cTn id="11" presetID="22" presetClass="entr" presetSubtype="8"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Average and Instantaneous Acceleration </a:t>
            </a:r>
          </a:p>
        </p:txBody>
      </p:sp>
      <p:sp>
        <p:nvSpPr>
          <p:cNvPr id="7" name="Rectangle 6">
            <a:extLst>
              <a:ext uri="{FF2B5EF4-FFF2-40B4-BE49-F238E27FC236}">
                <a16:creationId xmlns:a16="http://schemas.microsoft.com/office/drawing/2014/main" id="{6CD34567-2E82-5E4F-928B-BDBE8DA8855C}"/>
              </a:ext>
            </a:extLst>
          </p:cNvPr>
          <p:cNvSpPr/>
          <p:nvPr/>
        </p:nvSpPr>
        <p:spPr>
          <a:xfrm>
            <a:off x="2220282" y="5076423"/>
            <a:ext cx="6430749" cy="1015663"/>
          </a:xfrm>
          <a:prstGeom prst="rect">
            <a:avLst/>
          </a:prstGeom>
        </p:spPr>
        <p:txBody>
          <a:bodyPr wrap="square">
            <a:spAutoFit/>
          </a:bodyPr>
          <a:lstStyle/>
          <a:p>
            <a:r>
              <a:rPr lang="en-US" sz="2000" dirty="0">
                <a:latin typeface="Calibri" panose="020F0502020204030204" pitchFamily="34" charset="0"/>
                <a:ea typeface="Calibri" panose="020F0502020204030204" pitchFamily="34" charset="0"/>
                <a:cs typeface="Times New Roman" panose="02020603050405020304" pitchFamily="18" charset="0"/>
              </a:rPr>
              <a:t>A particle starts from rest and accelerates as shown in the figure. Construct the velocity-time graph (with correct axis numbers and labels). </a:t>
            </a:r>
            <a:endParaRPr lang="en-US" sz="2000" dirty="0"/>
          </a:p>
        </p:txBody>
      </p:sp>
      <p:sp>
        <p:nvSpPr>
          <p:cNvPr id="11" name="Rectangle 10">
            <a:extLst>
              <a:ext uri="{FF2B5EF4-FFF2-40B4-BE49-F238E27FC236}">
                <a16:creationId xmlns:a16="http://schemas.microsoft.com/office/drawing/2014/main" id="{F817F6B7-70FC-C64F-B982-233847D95A8D}"/>
              </a:ext>
            </a:extLst>
          </p:cNvPr>
          <p:cNvSpPr/>
          <p:nvPr/>
        </p:nvSpPr>
        <p:spPr>
          <a:xfrm>
            <a:off x="2220282" y="4628957"/>
            <a:ext cx="1604700" cy="400110"/>
          </a:xfrm>
          <a:prstGeom prst="rect">
            <a:avLst/>
          </a:prstGeom>
        </p:spPr>
        <p:txBody>
          <a:bodyPr wrap="square">
            <a:spAutoFit/>
          </a:bodyPr>
          <a:lstStyle/>
          <a:p>
            <a:r>
              <a:rPr lang="en-US" sz="2000" dirty="0">
                <a:solidFill>
                  <a:srgbClr val="0000CC"/>
                </a:solidFill>
              </a:rPr>
              <a:t>Assignment 6</a:t>
            </a:r>
          </a:p>
        </p:txBody>
      </p:sp>
      <p:pic>
        <p:nvPicPr>
          <p:cNvPr id="2" name="Picture 1">
            <a:extLst>
              <a:ext uri="{FF2B5EF4-FFF2-40B4-BE49-F238E27FC236}">
                <a16:creationId xmlns:a16="http://schemas.microsoft.com/office/drawing/2014/main" id="{8CB6C5D7-9CD7-7447-AA72-2C30835DEEFB}"/>
              </a:ext>
            </a:extLst>
          </p:cNvPr>
          <p:cNvPicPr>
            <a:picLocks noChangeAspect="1"/>
          </p:cNvPicPr>
          <p:nvPr/>
        </p:nvPicPr>
        <p:blipFill>
          <a:blip r:embed="rId3"/>
          <a:stretch>
            <a:fillRect/>
          </a:stretch>
        </p:blipFill>
        <p:spPr>
          <a:xfrm>
            <a:off x="2220282" y="891211"/>
            <a:ext cx="6688667" cy="3657600"/>
          </a:xfrm>
          <a:prstGeom prst="rect">
            <a:avLst/>
          </a:prstGeom>
        </p:spPr>
      </p:pic>
    </p:spTree>
    <p:extLst>
      <p:ext uri="{BB962C8B-B14F-4D97-AF65-F5344CB8AC3E}">
        <p14:creationId xmlns:p14="http://schemas.microsoft.com/office/powerpoint/2010/main" val="27091051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Motion with Constant Acceleration </a:t>
            </a:r>
          </a:p>
        </p:txBody>
      </p:sp>
      <p:sp>
        <p:nvSpPr>
          <p:cNvPr id="7" name="Rectangle 6">
            <a:extLst>
              <a:ext uri="{FF2B5EF4-FFF2-40B4-BE49-F238E27FC236}">
                <a16:creationId xmlns:a16="http://schemas.microsoft.com/office/drawing/2014/main" id="{39333E1E-6E0F-F643-9F29-D2C22D64B6EE}"/>
              </a:ext>
            </a:extLst>
          </p:cNvPr>
          <p:cNvSpPr/>
          <p:nvPr/>
        </p:nvSpPr>
        <p:spPr>
          <a:xfrm>
            <a:off x="286710" y="612264"/>
            <a:ext cx="11948154" cy="738664"/>
          </a:xfrm>
          <a:prstGeom prst="rect">
            <a:avLst/>
          </a:prstGeom>
        </p:spPr>
        <p:txBody>
          <a:bodyPr wrap="square">
            <a:spAutoFit/>
          </a:bodyPr>
          <a:lstStyle/>
          <a:p>
            <a:r>
              <a:rPr lang="en-US" sz="2100" dirty="0">
                <a:solidFill>
                  <a:srgbClr val="000066"/>
                </a:solidFill>
              </a:rPr>
              <a:t>If the acceleration of a particle varies in time, its motion can be complex and difficult to analyze. </a:t>
            </a:r>
          </a:p>
          <a:p>
            <a:r>
              <a:rPr lang="en-US" sz="2100" dirty="0">
                <a:solidFill>
                  <a:srgbClr val="000066"/>
                </a:solidFill>
              </a:rPr>
              <a:t>However, at </a:t>
            </a:r>
            <a:r>
              <a:rPr lang="en-US" sz="2100" dirty="0">
                <a:solidFill>
                  <a:srgbClr val="C00000"/>
                </a:solidFill>
              </a:rPr>
              <a:t>constant acceleration</a:t>
            </a:r>
            <a:r>
              <a:rPr lang="en-US" sz="2100" dirty="0">
                <a:solidFill>
                  <a:srgbClr val="000066"/>
                </a:solidFill>
              </a:rPr>
              <a:t>, the motion becomes predictable using kinematic equations.</a:t>
            </a:r>
          </a:p>
        </p:txBody>
      </p:sp>
      <p:sp>
        <p:nvSpPr>
          <p:cNvPr id="23" name="Rectangle 22">
            <a:extLst>
              <a:ext uri="{FF2B5EF4-FFF2-40B4-BE49-F238E27FC236}">
                <a16:creationId xmlns:a16="http://schemas.microsoft.com/office/drawing/2014/main" id="{97BB3293-B23B-264F-B095-22DD89A31EC2}"/>
              </a:ext>
            </a:extLst>
          </p:cNvPr>
          <p:cNvSpPr/>
          <p:nvPr/>
        </p:nvSpPr>
        <p:spPr>
          <a:xfrm>
            <a:off x="286710" y="1313614"/>
            <a:ext cx="2005549" cy="369332"/>
          </a:xfrm>
          <a:prstGeom prst="rect">
            <a:avLst/>
          </a:prstGeom>
        </p:spPr>
        <p:txBody>
          <a:bodyPr wrap="none">
            <a:spAutoFit/>
          </a:bodyPr>
          <a:lstStyle/>
          <a:p>
            <a:r>
              <a:rPr lang="en-US" dirty="0">
                <a:solidFill>
                  <a:srgbClr val="008000"/>
                </a:solidFill>
                <a:latin typeface="LiberationSerif"/>
              </a:rPr>
              <a:t>simplified notation </a:t>
            </a:r>
            <a:endParaRPr lang="en-US" dirty="0">
              <a:solidFill>
                <a:srgbClr val="008000"/>
              </a:solidFill>
            </a:endParaRPr>
          </a:p>
        </p:txBody>
      </p:sp>
      <p:pic>
        <p:nvPicPr>
          <p:cNvPr id="25" name="Picture 24" descr="Text&#10;&#10;Description automatically generated with medium confidence">
            <a:extLst>
              <a:ext uri="{FF2B5EF4-FFF2-40B4-BE49-F238E27FC236}">
                <a16:creationId xmlns:a16="http://schemas.microsoft.com/office/drawing/2014/main" id="{71F81AE8-FCF6-014A-A749-7E8DE83D35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284" y="1727043"/>
            <a:ext cx="1422400" cy="1104900"/>
          </a:xfrm>
          <a:prstGeom prst="rect">
            <a:avLst/>
          </a:prstGeom>
        </p:spPr>
      </p:pic>
      <p:pic>
        <p:nvPicPr>
          <p:cNvPr id="27" name="Picture 26" descr="Text&#10;&#10;Description automatically generated with low confidence">
            <a:extLst>
              <a:ext uri="{FF2B5EF4-FFF2-40B4-BE49-F238E27FC236}">
                <a16:creationId xmlns:a16="http://schemas.microsoft.com/office/drawing/2014/main" id="{9F6C8F6A-B509-7445-B4B7-22B90F99A9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8284" y="2763830"/>
            <a:ext cx="1879600" cy="393700"/>
          </a:xfrm>
          <a:prstGeom prst="rect">
            <a:avLst/>
          </a:prstGeom>
        </p:spPr>
      </p:pic>
      <p:pic>
        <p:nvPicPr>
          <p:cNvPr id="29" name="Picture 28" descr="Text&#10;&#10;Description automatically generated">
            <a:extLst>
              <a:ext uri="{FF2B5EF4-FFF2-40B4-BE49-F238E27FC236}">
                <a16:creationId xmlns:a16="http://schemas.microsoft.com/office/drawing/2014/main" id="{124C6E0F-DFEF-0040-9EF4-91A3547E5B9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75025" y="1987393"/>
            <a:ext cx="1088335" cy="685800"/>
          </a:xfrm>
          <a:prstGeom prst="rect">
            <a:avLst/>
          </a:prstGeom>
        </p:spPr>
      </p:pic>
      <p:pic>
        <p:nvPicPr>
          <p:cNvPr id="31" name="Picture 30" descr="Diagram&#10;&#10;Description automatically generated">
            <a:extLst>
              <a:ext uri="{FF2B5EF4-FFF2-40B4-BE49-F238E27FC236}">
                <a16:creationId xmlns:a16="http://schemas.microsoft.com/office/drawing/2014/main" id="{838F6CD6-FD3C-DC47-9B44-0E771109705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63360" y="1974545"/>
            <a:ext cx="1077208" cy="640080"/>
          </a:xfrm>
          <a:prstGeom prst="rect">
            <a:avLst/>
          </a:prstGeom>
        </p:spPr>
      </p:pic>
      <p:sp>
        <p:nvSpPr>
          <p:cNvPr id="32" name="Right Arrow 31">
            <a:extLst>
              <a:ext uri="{FF2B5EF4-FFF2-40B4-BE49-F238E27FC236}">
                <a16:creationId xmlns:a16="http://schemas.microsoft.com/office/drawing/2014/main" id="{EE0FDCE8-F741-BE48-9DE3-34E6E600C25F}"/>
              </a:ext>
            </a:extLst>
          </p:cNvPr>
          <p:cNvSpPr/>
          <p:nvPr/>
        </p:nvSpPr>
        <p:spPr>
          <a:xfrm>
            <a:off x="5837701" y="2162727"/>
            <a:ext cx="457204" cy="33513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descr="A yellow background with black text&#10;&#10;Description automatically generated with low confidence">
            <a:extLst>
              <a:ext uri="{FF2B5EF4-FFF2-40B4-BE49-F238E27FC236}">
                <a16:creationId xmlns:a16="http://schemas.microsoft.com/office/drawing/2014/main" id="{85873861-EBFB-BE42-80C3-8C47622FCCE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15092" y="1959453"/>
            <a:ext cx="2080260" cy="640080"/>
          </a:xfrm>
          <a:prstGeom prst="rect">
            <a:avLst/>
          </a:prstGeom>
        </p:spPr>
      </p:pic>
      <p:sp>
        <p:nvSpPr>
          <p:cNvPr id="35" name="Rectangle 34">
            <a:extLst>
              <a:ext uri="{FF2B5EF4-FFF2-40B4-BE49-F238E27FC236}">
                <a16:creationId xmlns:a16="http://schemas.microsoft.com/office/drawing/2014/main" id="{C9ED700A-5BB5-FD4C-AFED-B7C6F41F6E02}"/>
              </a:ext>
            </a:extLst>
          </p:cNvPr>
          <p:cNvSpPr/>
          <p:nvPr/>
        </p:nvSpPr>
        <p:spPr>
          <a:xfrm>
            <a:off x="8615539" y="2145627"/>
            <a:ext cx="779572" cy="369332"/>
          </a:xfrm>
          <a:prstGeom prst="rect">
            <a:avLst/>
          </a:prstGeom>
        </p:spPr>
        <p:txBody>
          <a:bodyPr wrap="none">
            <a:spAutoFit/>
          </a:bodyPr>
          <a:lstStyle/>
          <a:p>
            <a:r>
              <a:rPr lang="en-US" dirty="0">
                <a:solidFill>
                  <a:srgbClr val="000066"/>
                </a:solidFill>
              </a:rPr>
              <a:t>where</a:t>
            </a:r>
            <a:endParaRPr lang="en-US" dirty="0"/>
          </a:p>
        </p:txBody>
      </p:sp>
      <p:pic>
        <p:nvPicPr>
          <p:cNvPr id="37" name="Picture 36" descr="A picture containing text, clock, gauge&#10;&#10;Description automatically generated">
            <a:extLst>
              <a:ext uri="{FF2B5EF4-FFF2-40B4-BE49-F238E27FC236}">
                <a16:creationId xmlns:a16="http://schemas.microsoft.com/office/drawing/2014/main" id="{3A8E1D06-5C39-FE4F-A2AE-43328FC40E1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369876" y="1987393"/>
            <a:ext cx="1473740" cy="685800"/>
          </a:xfrm>
          <a:prstGeom prst="rect">
            <a:avLst/>
          </a:prstGeom>
        </p:spPr>
      </p:pic>
      <p:sp>
        <p:nvSpPr>
          <p:cNvPr id="38" name="Rectangle 37">
            <a:extLst>
              <a:ext uri="{FF2B5EF4-FFF2-40B4-BE49-F238E27FC236}">
                <a16:creationId xmlns:a16="http://schemas.microsoft.com/office/drawing/2014/main" id="{7481BA9A-A9A1-F848-B395-CD34E487DF38}"/>
              </a:ext>
            </a:extLst>
          </p:cNvPr>
          <p:cNvSpPr/>
          <p:nvPr/>
        </p:nvSpPr>
        <p:spPr>
          <a:xfrm>
            <a:off x="8781032" y="1379356"/>
            <a:ext cx="3456680" cy="646331"/>
          </a:xfrm>
          <a:prstGeom prst="rect">
            <a:avLst/>
          </a:prstGeom>
        </p:spPr>
        <p:txBody>
          <a:bodyPr wrap="square">
            <a:spAutoFit/>
          </a:bodyPr>
          <a:lstStyle/>
          <a:p>
            <a:r>
              <a:rPr lang="en-US" dirty="0"/>
              <a:t>Because velocity at constant acceleration varies linearly in time</a:t>
            </a:r>
          </a:p>
        </p:txBody>
      </p:sp>
      <p:pic>
        <p:nvPicPr>
          <p:cNvPr id="40" name="Picture 39" descr="Text&#10;&#10;Description automatically generated">
            <a:extLst>
              <a:ext uri="{FF2B5EF4-FFF2-40B4-BE49-F238E27FC236}">
                <a16:creationId xmlns:a16="http://schemas.microsoft.com/office/drawing/2014/main" id="{ED98D9AC-8689-9347-84FF-F0D0937D1D4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375025" y="3641868"/>
            <a:ext cx="1028700" cy="685800"/>
          </a:xfrm>
          <a:prstGeom prst="rect">
            <a:avLst/>
          </a:prstGeom>
        </p:spPr>
      </p:pic>
      <p:pic>
        <p:nvPicPr>
          <p:cNvPr id="42" name="Picture 41" descr="Diagram&#10;&#10;Description automatically generated with low confidence">
            <a:extLst>
              <a:ext uri="{FF2B5EF4-FFF2-40B4-BE49-F238E27FC236}">
                <a16:creationId xmlns:a16="http://schemas.microsoft.com/office/drawing/2014/main" id="{70D004F9-B6EF-EB41-AF62-449897DECB9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356100" y="3650440"/>
            <a:ext cx="1108431" cy="640080"/>
          </a:xfrm>
          <a:prstGeom prst="rect">
            <a:avLst/>
          </a:prstGeom>
        </p:spPr>
      </p:pic>
      <p:sp>
        <p:nvSpPr>
          <p:cNvPr id="44" name="Right Arrow 43">
            <a:extLst>
              <a:ext uri="{FF2B5EF4-FFF2-40B4-BE49-F238E27FC236}">
                <a16:creationId xmlns:a16="http://schemas.microsoft.com/office/drawing/2014/main" id="{B7FB81BA-A5B5-104F-A6F3-BC394151277A}"/>
              </a:ext>
            </a:extLst>
          </p:cNvPr>
          <p:cNvSpPr/>
          <p:nvPr/>
        </p:nvSpPr>
        <p:spPr>
          <a:xfrm>
            <a:off x="5803583" y="3802914"/>
            <a:ext cx="457204" cy="335132"/>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descr="Text&#10;&#10;Description automatically generated with low confidence">
            <a:extLst>
              <a:ext uri="{FF2B5EF4-FFF2-40B4-BE49-F238E27FC236}">
                <a16:creationId xmlns:a16="http://schemas.microsoft.com/office/drawing/2014/main" id="{7C75A620-7F5D-4642-8286-1D45A0E81AB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380634" y="3591066"/>
            <a:ext cx="3782291" cy="685800"/>
          </a:xfrm>
          <a:prstGeom prst="rect">
            <a:avLst/>
          </a:prstGeom>
        </p:spPr>
      </p:pic>
      <p:sp>
        <p:nvSpPr>
          <p:cNvPr id="47" name="Rectangle 46">
            <a:extLst>
              <a:ext uri="{FF2B5EF4-FFF2-40B4-BE49-F238E27FC236}">
                <a16:creationId xmlns:a16="http://schemas.microsoft.com/office/drawing/2014/main" id="{C95886F5-3DF5-A04B-9BB9-DA8D8223BFEB}"/>
              </a:ext>
            </a:extLst>
          </p:cNvPr>
          <p:cNvSpPr/>
          <p:nvPr/>
        </p:nvSpPr>
        <p:spPr>
          <a:xfrm>
            <a:off x="4317997" y="4368976"/>
            <a:ext cx="6191375" cy="369332"/>
          </a:xfrm>
          <a:prstGeom prst="rect">
            <a:avLst/>
          </a:prstGeom>
        </p:spPr>
        <p:txBody>
          <a:bodyPr wrap="none">
            <a:spAutoFit/>
          </a:bodyPr>
          <a:lstStyle/>
          <a:p>
            <a:r>
              <a:rPr lang="en-US" dirty="0">
                <a:solidFill>
                  <a:srgbClr val="C00000"/>
                </a:solidFill>
                <a:latin typeface="LiberationSerif"/>
              </a:rPr>
              <a:t>Adding </a:t>
            </a:r>
            <a:r>
              <a:rPr lang="en-US" i="1" dirty="0">
                <a:solidFill>
                  <a:srgbClr val="C00000"/>
                </a:solidFill>
                <a:latin typeface="STIXGeneral" pitchFamily="2" charset="2"/>
              </a:rPr>
              <a:t>v</a:t>
            </a:r>
            <a:r>
              <a:rPr lang="en-US" sz="1400" baseline="-25000" dirty="0">
                <a:solidFill>
                  <a:srgbClr val="C00000"/>
                </a:solidFill>
                <a:latin typeface="STIXGeneral" pitchFamily="2" charset="2"/>
              </a:rPr>
              <a:t>0</a:t>
            </a:r>
            <a:r>
              <a:rPr lang="en-US" sz="1400" dirty="0">
                <a:solidFill>
                  <a:srgbClr val="C00000"/>
                </a:solidFill>
                <a:latin typeface="STIXGeneral" pitchFamily="2" charset="2"/>
              </a:rPr>
              <a:t> </a:t>
            </a:r>
            <a:r>
              <a:rPr lang="en-US" dirty="0">
                <a:solidFill>
                  <a:srgbClr val="C00000"/>
                </a:solidFill>
                <a:latin typeface="LiberationSerif"/>
              </a:rPr>
              <a:t>to each side of this equation and dividing by 2 gives </a:t>
            </a:r>
            <a:endParaRPr lang="en-US" dirty="0">
              <a:solidFill>
                <a:srgbClr val="C00000"/>
              </a:solidFill>
              <a:effectLst/>
            </a:endParaRPr>
          </a:p>
        </p:txBody>
      </p:sp>
      <p:pic>
        <p:nvPicPr>
          <p:cNvPr id="49" name="Picture 48" descr="Text&#10;&#10;Description automatically generated">
            <a:extLst>
              <a:ext uri="{FF2B5EF4-FFF2-40B4-BE49-F238E27FC236}">
                <a16:creationId xmlns:a16="http://schemas.microsoft.com/office/drawing/2014/main" id="{EE8DE71A-BBDD-664A-AD86-49D14045546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10179199" y="4290520"/>
            <a:ext cx="1790700" cy="558800"/>
          </a:xfrm>
          <a:prstGeom prst="rect">
            <a:avLst/>
          </a:prstGeom>
        </p:spPr>
      </p:pic>
      <p:sp>
        <p:nvSpPr>
          <p:cNvPr id="50" name="Down Arrow 49">
            <a:extLst>
              <a:ext uri="{FF2B5EF4-FFF2-40B4-BE49-F238E27FC236}">
                <a16:creationId xmlns:a16="http://schemas.microsoft.com/office/drawing/2014/main" id="{A82EB3A7-2BEB-614C-B77D-EAC91190EEB7}"/>
              </a:ext>
            </a:extLst>
          </p:cNvPr>
          <p:cNvSpPr/>
          <p:nvPr/>
        </p:nvSpPr>
        <p:spPr>
          <a:xfrm>
            <a:off x="10509372" y="2735254"/>
            <a:ext cx="163391" cy="1513036"/>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Down Arrow 50">
            <a:extLst>
              <a:ext uri="{FF2B5EF4-FFF2-40B4-BE49-F238E27FC236}">
                <a16:creationId xmlns:a16="http://schemas.microsoft.com/office/drawing/2014/main" id="{C5D6FC04-4B89-BB42-97A0-A40376088390}"/>
              </a:ext>
            </a:extLst>
          </p:cNvPr>
          <p:cNvSpPr/>
          <p:nvPr/>
        </p:nvSpPr>
        <p:spPr>
          <a:xfrm>
            <a:off x="10509372" y="4877896"/>
            <a:ext cx="163391" cy="422760"/>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descr="Diagram&#10;&#10;Description automatically generated with medium confidence">
            <a:extLst>
              <a:ext uri="{FF2B5EF4-FFF2-40B4-BE49-F238E27FC236}">
                <a16:creationId xmlns:a16="http://schemas.microsoft.com/office/drawing/2014/main" id="{6EE5E003-C780-8C4C-B358-9C43D50489B6}"/>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0344155" y="5337235"/>
            <a:ext cx="1605064" cy="685800"/>
          </a:xfrm>
          <a:prstGeom prst="rect">
            <a:avLst/>
          </a:prstGeom>
        </p:spPr>
      </p:pic>
      <p:sp>
        <p:nvSpPr>
          <p:cNvPr id="54" name="Left Arrow 53">
            <a:extLst>
              <a:ext uri="{FF2B5EF4-FFF2-40B4-BE49-F238E27FC236}">
                <a16:creationId xmlns:a16="http://schemas.microsoft.com/office/drawing/2014/main" id="{C32BFFCC-6ABF-5F4A-B967-113883F56860}"/>
              </a:ext>
            </a:extLst>
          </p:cNvPr>
          <p:cNvSpPr/>
          <p:nvPr/>
        </p:nvSpPr>
        <p:spPr>
          <a:xfrm>
            <a:off x="8781032" y="5616216"/>
            <a:ext cx="1514550" cy="188261"/>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72CA3F3C-5060-4C46-8835-491C9413623B}"/>
              </a:ext>
            </a:extLst>
          </p:cNvPr>
          <p:cNvSpPr/>
          <p:nvPr/>
        </p:nvSpPr>
        <p:spPr>
          <a:xfrm>
            <a:off x="8863186" y="5337235"/>
            <a:ext cx="1350241" cy="369332"/>
          </a:xfrm>
          <a:prstGeom prst="rect">
            <a:avLst/>
          </a:prstGeom>
        </p:spPr>
        <p:txBody>
          <a:bodyPr wrap="none">
            <a:spAutoFit/>
          </a:bodyPr>
          <a:lstStyle/>
          <a:p>
            <a:r>
              <a:rPr lang="en-US" dirty="0">
                <a:solidFill>
                  <a:srgbClr val="C00000"/>
                </a:solidFill>
              </a:rPr>
              <a:t>substitute in</a:t>
            </a:r>
          </a:p>
        </p:txBody>
      </p:sp>
      <p:pic>
        <p:nvPicPr>
          <p:cNvPr id="56" name="Picture 55" descr="A yellow background with black text&#10;&#10;Description automatically generated with low confidence">
            <a:extLst>
              <a:ext uri="{FF2B5EF4-FFF2-40B4-BE49-F238E27FC236}">
                <a16:creationId xmlns:a16="http://schemas.microsoft.com/office/drawing/2014/main" id="{DACF1F07-4613-214C-8DC6-9AFE0861CF8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649696" y="5338685"/>
            <a:ext cx="2080260" cy="640080"/>
          </a:xfrm>
          <a:prstGeom prst="rect">
            <a:avLst/>
          </a:prstGeom>
        </p:spPr>
      </p:pic>
      <p:sp>
        <p:nvSpPr>
          <p:cNvPr id="57" name="Left Arrow 56">
            <a:extLst>
              <a:ext uri="{FF2B5EF4-FFF2-40B4-BE49-F238E27FC236}">
                <a16:creationId xmlns:a16="http://schemas.microsoft.com/office/drawing/2014/main" id="{FF4C9F4A-47A4-D944-90FD-B8F703652840}"/>
              </a:ext>
            </a:extLst>
          </p:cNvPr>
          <p:cNvSpPr/>
          <p:nvPr/>
        </p:nvSpPr>
        <p:spPr>
          <a:xfrm>
            <a:off x="5737012" y="5591413"/>
            <a:ext cx="909960" cy="213064"/>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9" name="Picture 58" descr="Diagram&#10;&#10;Description automatically generated with medium confidence">
            <a:extLst>
              <a:ext uri="{FF2B5EF4-FFF2-40B4-BE49-F238E27FC236}">
                <a16:creationId xmlns:a16="http://schemas.microsoft.com/office/drawing/2014/main" id="{B8B5B010-D4B6-BC48-8CA4-CF10E79E02D2}"/>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988064" y="5282170"/>
            <a:ext cx="2720340" cy="777240"/>
          </a:xfrm>
          <a:prstGeom prst="rect">
            <a:avLst/>
          </a:prstGeom>
        </p:spPr>
      </p:pic>
      <p:sp>
        <p:nvSpPr>
          <p:cNvPr id="60" name="Rectangle 59">
            <a:extLst>
              <a:ext uri="{FF2B5EF4-FFF2-40B4-BE49-F238E27FC236}">
                <a16:creationId xmlns:a16="http://schemas.microsoft.com/office/drawing/2014/main" id="{17B1B30F-0110-964F-80C3-F95E464DCE5A}"/>
              </a:ext>
            </a:extLst>
          </p:cNvPr>
          <p:cNvSpPr/>
          <p:nvPr/>
        </p:nvSpPr>
        <p:spPr>
          <a:xfrm>
            <a:off x="5815383" y="5301458"/>
            <a:ext cx="814262" cy="369332"/>
          </a:xfrm>
          <a:prstGeom prst="rect">
            <a:avLst/>
          </a:prstGeom>
        </p:spPr>
        <p:txBody>
          <a:bodyPr wrap="none">
            <a:spAutoFit/>
          </a:bodyPr>
          <a:lstStyle/>
          <a:p>
            <a:r>
              <a:rPr lang="en-US" dirty="0">
                <a:solidFill>
                  <a:srgbClr val="C00000"/>
                </a:solidFill>
              </a:rPr>
              <a:t>we get</a:t>
            </a:r>
          </a:p>
        </p:txBody>
      </p:sp>
      <p:pic>
        <p:nvPicPr>
          <p:cNvPr id="61" name="Picture 60" descr="A picture containing text, clock, gauge&#10;&#10;Description automatically generated">
            <a:extLst>
              <a:ext uri="{FF2B5EF4-FFF2-40B4-BE49-F238E27FC236}">
                <a16:creationId xmlns:a16="http://schemas.microsoft.com/office/drawing/2014/main" id="{FB20AFF4-651B-2149-AF29-3871ED183D7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07903" y="6152225"/>
            <a:ext cx="982493" cy="457200"/>
          </a:xfrm>
          <a:prstGeom prst="rect">
            <a:avLst/>
          </a:prstGeom>
        </p:spPr>
      </p:pic>
      <p:pic>
        <p:nvPicPr>
          <p:cNvPr id="63" name="Picture 62" descr="Diagram&#10;&#10;Description automatically generated">
            <a:extLst>
              <a:ext uri="{FF2B5EF4-FFF2-40B4-BE49-F238E27FC236}">
                <a16:creationId xmlns:a16="http://schemas.microsoft.com/office/drawing/2014/main" id="{397FC423-A9F1-8F42-B70A-27A3F558CDC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8615539" y="6083458"/>
            <a:ext cx="1295400" cy="533400"/>
          </a:xfrm>
          <a:prstGeom prst="rect">
            <a:avLst/>
          </a:prstGeom>
        </p:spPr>
      </p:pic>
      <p:cxnSp>
        <p:nvCxnSpPr>
          <p:cNvPr id="65" name="Straight Arrow Connector 64">
            <a:extLst>
              <a:ext uri="{FF2B5EF4-FFF2-40B4-BE49-F238E27FC236}">
                <a16:creationId xmlns:a16="http://schemas.microsoft.com/office/drawing/2014/main" id="{1C51A640-8B32-4B41-91F2-74370ED61858}"/>
              </a:ext>
            </a:extLst>
          </p:cNvPr>
          <p:cNvCxnSpPr>
            <a:cxnSpLocks/>
          </p:cNvCxnSpPr>
          <p:nvPr/>
        </p:nvCxnSpPr>
        <p:spPr>
          <a:xfrm flipV="1">
            <a:off x="7689826" y="5804477"/>
            <a:ext cx="581953" cy="44126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cxnSp>
        <p:nvCxnSpPr>
          <p:cNvPr id="69" name="Straight Arrow Connector 68">
            <a:extLst>
              <a:ext uri="{FF2B5EF4-FFF2-40B4-BE49-F238E27FC236}">
                <a16:creationId xmlns:a16="http://schemas.microsoft.com/office/drawing/2014/main" id="{969F1348-BA9C-4C4F-A35D-EC722CBF5872}"/>
              </a:ext>
            </a:extLst>
          </p:cNvPr>
          <p:cNvCxnSpPr/>
          <p:nvPr/>
        </p:nvCxnSpPr>
        <p:spPr>
          <a:xfrm flipH="1" flipV="1">
            <a:off x="8495352" y="5804477"/>
            <a:ext cx="285680" cy="441260"/>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70" name="Left Arrow 69">
            <a:extLst>
              <a:ext uri="{FF2B5EF4-FFF2-40B4-BE49-F238E27FC236}">
                <a16:creationId xmlns:a16="http://schemas.microsoft.com/office/drawing/2014/main" id="{2C87F4CE-2FD2-E54D-A23F-290AB96B7AD3}"/>
              </a:ext>
            </a:extLst>
          </p:cNvPr>
          <p:cNvSpPr/>
          <p:nvPr/>
        </p:nvSpPr>
        <p:spPr>
          <a:xfrm>
            <a:off x="5803583" y="6318570"/>
            <a:ext cx="1514550" cy="188261"/>
          </a:xfrm>
          <a:prstGeom prst="lef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3BBE7FC6-D362-B24F-96C7-C336FEB6FC0A}"/>
              </a:ext>
            </a:extLst>
          </p:cNvPr>
          <p:cNvSpPr/>
          <p:nvPr/>
        </p:nvSpPr>
        <p:spPr>
          <a:xfrm>
            <a:off x="6118319" y="6026422"/>
            <a:ext cx="814262" cy="369332"/>
          </a:xfrm>
          <a:prstGeom prst="rect">
            <a:avLst/>
          </a:prstGeom>
        </p:spPr>
        <p:txBody>
          <a:bodyPr wrap="none">
            <a:spAutoFit/>
          </a:bodyPr>
          <a:lstStyle/>
          <a:p>
            <a:r>
              <a:rPr lang="en-US" dirty="0">
                <a:solidFill>
                  <a:srgbClr val="C00000"/>
                </a:solidFill>
              </a:rPr>
              <a:t>we get</a:t>
            </a:r>
          </a:p>
        </p:txBody>
      </p:sp>
      <p:pic>
        <p:nvPicPr>
          <p:cNvPr id="73" name="Picture 72" descr="Diagram, schematic&#10;&#10;Description automatically generated">
            <a:extLst>
              <a:ext uri="{FF2B5EF4-FFF2-40B4-BE49-F238E27FC236}">
                <a16:creationId xmlns:a16="http://schemas.microsoft.com/office/drawing/2014/main" id="{64599801-AD2E-3343-83BE-C58720912DBF}"/>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790315" y="6052854"/>
            <a:ext cx="2923609" cy="640080"/>
          </a:xfrm>
          <a:prstGeom prst="rect">
            <a:avLst/>
          </a:prstGeom>
        </p:spPr>
      </p:pic>
      <p:pic>
        <p:nvPicPr>
          <p:cNvPr id="75" name="Picture 74" descr="Text, letter&#10;&#10;Description automatically generated">
            <a:extLst>
              <a:ext uri="{FF2B5EF4-FFF2-40B4-BE49-F238E27FC236}">
                <a16:creationId xmlns:a16="http://schemas.microsoft.com/office/drawing/2014/main" id="{AF47E173-0E79-2649-9A9F-31A0B4751221}"/>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563884" y="4164605"/>
            <a:ext cx="2349500" cy="2273300"/>
          </a:xfrm>
          <a:prstGeom prst="rect">
            <a:avLst/>
          </a:prstGeom>
        </p:spPr>
      </p:pic>
      <p:sp>
        <p:nvSpPr>
          <p:cNvPr id="77" name="Frame 76">
            <a:extLst>
              <a:ext uri="{FF2B5EF4-FFF2-40B4-BE49-F238E27FC236}">
                <a16:creationId xmlns:a16="http://schemas.microsoft.com/office/drawing/2014/main" id="{FBE15A9B-7408-AF49-AA14-DB3717A30242}"/>
              </a:ext>
            </a:extLst>
          </p:cNvPr>
          <p:cNvSpPr/>
          <p:nvPr/>
        </p:nvSpPr>
        <p:spPr>
          <a:xfrm>
            <a:off x="328622" y="3948261"/>
            <a:ext cx="2651760" cy="2743200"/>
          </a:xfrm>
          <a:prstGeom prst="frame">
            <a:avLst/>
          </a:prstGeom>
          <a:blipFill>
            <a:blip r:embed="rId18"/>
            <a:tile tx="0" ty="0" sx="100000" sy="100000" flip="none" algn="tl"/>
          </a:blipFill>
          <a:ln w="6350"/>
        </p:spPr>
        <p:style>
          <a:lnRef idx="2">
            <a:schemeClr val="accent1">
              <a:shade val="50000"/>
            </a:schemeClr>
          </a:lnRef>
          <a:fillRef idx="1">
            <a:schemeClr val="accent1"/>
          </a:fillRef>
          <a:effectRef idx="0">
            <a:schemeClr val="accent1"/>
          </a:effectRef>
          <a:fontRef idx="minor">
            <a:schemeClr val="lt1"/>
          </a:fontRef>
        </p:style>
        <p:txBody>
          <a:bodyPr lIns="91440" rtlCol="0" anchor="ctr"/>
          <a:lstStyle/>
          <a:p>
            <a:pPr algn="ctr"/>
            <a:endParaRPr lang="en-US">
              <a:solidFill>
                <a:schemeClr val="tx1"/>
              </a:solidFill>
            </a:endParaRPr>
          </a:p>
        </p:txBody>
      </p:sp>
    </p:spTree>
    <p:extLst>
      <p:ext uri="{BB962C8B-B14F-4D97-AF65-F5344CB8AC3E}">
        <p14:creationId xmlns:p14="http://schemas.microsoft.com/office/powerpoint/2010/main" val="19064884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Motion with Constant Acceleration </a:t>
            </a:r>
          </a:p>
        </p:txBody>
      </p:sp>
      <p:pic>
        <p:nvPicPr>
          <p:cNvPr id="8" name="Picture 7" descr="Text, letter&#10;&#10;Description automatically generated">
            <a:extLst>
              <a:ext uri="{FF2B5EF4-FFF2-40B4-BE49-F238E27FC236}">
                <a16:creationId xmlns:a16="http://schemas.microsoft.com/office/drawing/2014/main" id="{63820687-39BC-1E47-AADC-2525010904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459" y="802276"/>
            <a:ext cx="2835151" cy="2743200"/>
          </a:xfrm>
          <a:prstGeom prst="rect">
            <a:avLst/>
          </a:prstGeom>
        </p:spPr>
      </p:pic>
      <p:sp>
        <p:nvSpPr>
          <p:cNvPr id="10" name="Rectangle 9">
            <a:extLst>
              <a:ext uri="{FF2B5EF4-FFF2-40B4-BE49-F238E27FC236}">
                <a16:creationId xmlns:a16="http://schemas.microsoft.com/office/drawing/2014/main" id="{122A4994-407F-304F-9C16-9332FDF3B092}"/>
              </a:ext>
            </a:extLst>
          </p:cNvPr>
          <p:cNvSpPr/>
          <p:nvPr/>
        </p:nvSpPr>
        <p:spPr>
          <a:xfrm>
            <a:off x="4357691" y="1236412"/>
            <a:ext cx="1152623" cy="430887"/>
          </a:xfrm>
          <a:prstGeom prst="rect">
            <a:avLst/>
          </a:prstGeom>
        </p:spPr>
        <p:txBody>
          <a:bodyPr wrap="none">
            <a:spAutoFit/>
          </a:bodyPr>
          <a:lstStyle/>
          <a:p>
            <a:r>
              <a:rPr lang="en-US" sz="2200" dirty="0">
                <a:solidFill>
                  <a:srgbClr val="008000"/>
                </a:solidFill>
              </a:rPr>
              <a:t>Example</a:t>
            </a:r>
            <a:endParaRPr lang="en-US" sz="2200" dirty="0"/>
          </a:p>
        </p:txBody>
      </p:sp>
      <p:sp>
        <p:nvSpPr>
          <p:cNvPr id="2" name="Rectangle 1">
            <a:extLst>
              <a:ext uri="{FF2B5EF4-FFF2-40B4-BE49-F238E27FC236}">
                <a16:creationId xmlns:a16="http://schemas.microsoft.com/office/drawing/2014/main" id="{6E933908-DCEB-5A46-90E9-CC24C224581C}"/>
              </a:ext>
            </a:extLst>
          </p:cNvPr>
          <p:cNvSpPr/>
          <p:nvPr/>
        </p:nvSpPr>
        <p:spPr>
          <a:xfrm>
            <a:off x="4365093" y="1645116"/>
            <a:ext cx="6512546" cy="707886"/>
          </a:xfrm>
          <a:prstGeom prst="rect">
            <a:avLst/>
          </a:prstGeom>
        </p:spPr>
        <p:txBody>
          <a:bodyPr wrap="square">
            <a:spAutoFit/>
          </a:bodyPr>
          <a:lstStyle/>
          <a:p>
            <a:r>
              <a:rPr lang="en-US" sz="2000" dirty="0">
                <a:latin typeface="LiberationSerif"/>
              </a:rPr>
              <a:t>An airplane lands with an initial velocity of 70.0 m/s and then decelerates at 1.50 m/s</a:t>
            </a:r>
            <a:r>
              <a:rPr lang="en-US" sz="2000" baseline="30000" dirty="0">
                <a:latin typeface="LiberationSerif"/>
              </a:rPr>
              <a:t>2</a:t>
            </a:r>
            <a:r>
              <a:rPr lang="en-US" sz="2000" dirty="0">
                <a:latin typeface="LiberationSerif"/>
              </a:rPr>
              <a:t> for 40.0 s. What is its final velocity? </a:t>
            </a:r>
            <a:endParaRPr lang="en-US" sz="2000" dirty="0"/>
          </a:p>
        </p:txBody>
      </p:sp>
      <p:pic>
        <p:nvPicPr>
          <p:cNvPr id="11" name="Picture Placeholder 1" descr="Figure shows airplane at two different time periods. At t equal zero seconds it has velocity of 70 meters per second and acceleration of -1.5 meters per second squared. At t equal 40 seconds it has velocity of 10 meters per second and acceleration of -1.5 meters per second squared.">
            <a:extLst>
              <a:ext uri="{FF2B5EF4-FFF2-40B4-BE49-F238E27FC236}">
                <a16:creationId xmlns:a16="http://schemas.microsoft.com/office/drawing/2014/main" id="{B11EFFC7-1523-8449-8E9A-5E05BACD289C}"/>
              </a:ext>
            </a:extLst>
          </p:cNvPr>
          <p:cNvPicPr>
            <a:picLocks noChangeAspect="1"/>
          </p:cNvPicPr>
          <p:nvPr/>
        </p:nvPicPr>
        <p:blipFill>
          <a:blip r:embed="rId4" cstate="email">
            <a:extLst>
              <a:ext uri="{28A0092B-C50C-407E-A947-70E740481C1C}">
                <a14:useLocalDpi xmlns:a14="http://schemas.microsoft.com/office/drawing/2010/main" val="0"/>
              </a:ext>
            </a:extLst>
          </a:blip>
          <a:srcRect t="-64762" b="-64762"/>
          <a:stretch>
            <a:fillRect/>
          </a:stretch>
        </p:blipFill>
        <p:spPr>
          <a:xfrm>
            <a:off x="4607977" y="1761799"/>
            <a:ext cx="6319353" cy="2743200"/>
          </a:xfrm>
          <a:prstGeom prst="rect">
            <a:avLst/>
          </a:prstGeom>
        </p:spPr>
      </p:pic>
      <p:sp>
        <p:nvSpPr>
          <p:cNvPr id="13" name="Text Placeholder 6">
            <a:extLst>
              <a:ext uri="{FF2B5EF4-FFF2-40B4-BE49-F238E27FC236}">
                <a16:creationId xmlns:a16="http://schemas.microsoft.com/office/drawing/2014/main" id="{B5443E5B-204B-1C49-9668-459BE7B8F6B0}"/>
              </a:ext>
            </a:extLst>
          </p:cNvPr>
          <p:cNvSpPr txBox="1">
            <a:spLocks/>
          </p:cNvSpPr>
          <p:nvPr/>
        </p:nvSpPr>
        <p:spPr>
          <a:xfrm>
            <a:off x="5643563" y="3772420"/>
            <a:ext cx="4962524"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000066"/>
                </a:solidFill>
              </a:rPr>
              <a:t>The airplane lands with an initial velocity of 70.0 m/s and slows to a final velocity of 10.0 m/s before heading for the terminal. Note the acceleration is negative because its direction is opposite to its velocity, which is positive.</a:t>
            </a:r>
          </a:p>
        </p:txBody>
      </p:sp>
    </p:spTree>
    <p:extLst>
      <p:ext uri="{BB962C8B-B14F-4D97-AF65-F5344CB8AC3E}">
        <p14:creationId xmlns:p14="http://schemas.microsoft.com/office/powerpoint/2010/main" val="331473751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Motion with Constant Acceleration </a:t>
            </a:r>
          </a:p>
        </p:txBody>
      </p:sp>
      <p:pic>
        <p:nvPicPr>
          <p:cNvPr id="8" name="Picture 7" descr="Text, letter&#10;&#10;Description automatically generated">
            <a:extLst>
              <a:ext uri="{FF2B5EF4-FFF2-40B4-BE49-F238E27FC236}">
                <a16:creationId xmlns:a16="http://schemas.microsoft.com/office/drawing/2014/main" id="{63820687-39BC-1E47-AADC-2525010904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459" y="802276"/>
            <a:ext cx="2835151" cy="2743200"/>
          </a:xfrm>
          <a:prstGeom prst="rect">
            <a:avLst/>
          </a:prstGeom>
        </p:spPr>
      </p:pic>
      <p:sp>
        <p:nvSpPr>
          <p:cNvPr id="9" name="Rectangle 8">
            <a:extLst>
              <a:ext uri="{FF2B5EF4-FFF2-40B4-BE49-F238E27FC236}">
                <a16:creationId xmlns:a16="http://schemas.microsoft.com/office/drawing/2014/main" id="{A66B4152-96BA-A744-B734-8374AEF37BA6}"/>
              </a:ext>
            </a:extLst>
          </p:cNvPr>
          <p:cNvSpPr/>
          <p:nvPr/>
        </p:nvSpPr>
        <p:spPr>
          <a:xfrm>
            <a:off x="1767150" y="4812774"/>
            <a:ext cx="5195886" cy="400110"/>
          </a:xfrm>
          <a:prstGeom prst="rect">
            <a:avLst/>
          </a:prstGeom>
        </p:spPr>
        <p:txBody>
          <a:bodyPr wrap="square">
            <a:spAutoFit/>
          </a:bodyPr>
          <a:lstStyle/>
          <a:p>
            <a:r>
              <a:rPr lang="en-US" sz="2000" dirty="0">
                <a:solidFill>
                  <a:srgbClr val="0000CC"/>
                </a:solidFill>
              </a:rPr>
              <a:t>Assignment 7</a:t>
            </a:r>
          </a:p>
        </p:txBody>
      </p:sp>
      <p:sp>
        <p:nvSpPr>
          <p:cNvPr id="10" name="Rectangle 9">
            <a:extLst>
              <a:ext uri="{FF2B5EF4-FFF2-40B4-BE49-F238E27FC236}">
                <a16:creationId xmlns:a16="http://schemas.microsoft.com/office/drawing/2014/main" id="{122A4994-407F-304F-9C16-9332FDF3B092}"/>
              </a:ext>
            </a:extLst>
          </p:cNvPr>
          <p:cNvSpPr/>
          <p:nvPr/>
        </p:nvSpPr>
        <p:spPr>
          <a:xfrm>
            <a:off x="4357691" y="1236412"/>
            <a:ext cx="1152623" cy="430887"/>
          </a:xfrm>
          <a:prstGeom prst="rect">
            <a:avLst/>
          </a:prstGeom>
        </p:spPr>
        <p:txBody>
          <a:bodyPr wrap="none">
            <a:spAutoFit/>
          </a:bodyPr>
          <a:lstStyle/>
          <a:p>
            <a:r>
              <a:rPr lang="en-US" sz="2200" dirty="0">
                <a:solidFill>
                  <a:srgbClr val="008000"/>
                </a:solidFill>
              </a:rPr>
              <a:t>Example</a:t>
            </a:r>
            <a:endParaRPr lang="en-US" sz="2200" dirty="0"/>
          </a:p>
        </p:txBody>
      </p:sp>
      <p:sp>
        <p:nvSpPr>
          <p:cNvPr id="2" name="Rectangle 1">
            <a:extLst>
              <a:ext uri="{FF2B5EF4-FFF2-40B4-BE49-F238E27FC236}">
                <a16:creationId xmlns:a16="http://schemas.microsoft.com/office/drawing/2014/main" id="{6E933908-DCEB-5A46-90E9-CC24C224581C}"/>
              </a:ext>
            </a:extLst>
          </p:cNvPr>
          <p:cNvSpPr/>
          <p:nvPr/>
        </p:nvSpPr>
        <p:spPr>
          <a:xfrm>
            <a:off x="4365093" y="1645116"/>
            <a:ext cx="6512546" cy="707886"/>
          </a:xfrm>
          <a:prstGeom prst="rect">
            <a:avLst/>
          </a:prstGeom>
        </p:spPr>
        <p:txBody>
          <a:bodyPr wrap="square">
            <a:spAutoFit/>
          </a:bodyPr>
          <a:lstStyle/>
          <a:p>
            <a:r>
              <a:rPr lang="en-US" sz="2000" dirty="0">
                <a:latin typeface="LiberationSerif"/>
              </a:rPr>
              <a:t>An airplane lands with an initial velocity of 70.0 m/s and then decelerates at 1.50 m/s</a:t>
            </a:r>
            <a:r>
              <a:rPr lang="en-US" sz="2000" baseline="30000" dirty="0">
                <a:latin typeface="LiberationSerif"/>
              </a:rPr>
              <a:t>2</a:t>
            </a:r>
            <a:r>
              <a:rPr lang="en-US" sz="2000" dirty="0">
                <a:latin typeface="LiberationSerif"/>
              </a:rPr>
              <a:t> for 40.0 s. What is its final velocity? </a:t>
            </a:r>
            <a:endParaRPr lang="en-US" sz="2000" dirty="0"/>
          </a:p>
        </p:txBody>
      </p:sp>
      <p:pic>
        <p:nvPicPr>
          <p:cNvPr id="11" name="Picture Placeholder 1" descr="Figure shows airplane at two different time periods. At t equal zero seconds it has velocity of 70 meters per second and acceleration of -1.5 meters per second squared. At t equal 40 seconds it has velocity of 10 meters per second and acceleration of -1.5 meters per second squared.">
            <a:extLst>
              <a:ext uri="{FF2B5EF4-FFF2-40B4-BE49-F238E27FC236}">
                <a16:creationId xmlns:a16="http://schemas.microsoft.com/office/drawing/2014/main" id="{B11EFFC7-1523-8449-8E9A-5E05BACD289C}"/>
              </a:ext>
            </a:extLst>
          </p:cNvPr>
          <p:cNvPicPr>
            <a:picLocks noChangeAspect="1"/>
          </p:cNvPicPr>
          <p:nvPr/>
        </p:nvPicPr>
        <p:blipFill>
          <a:blip r:embed="rId4" cstate="email">
            <a:extLst>
              <a:ext uri="{28A0092B-C50C-407E-A947-70E740481C1C}">
                <a14:useLocalDpi xmlns:a14="http://schemas.microsoft.com/office/drawing/2010/main" val="0"/>
              </a:ext>
            </a:extLst>
          </a:blip>
          <a:srcRect t="-64762" b="-64762"/>
          <a:stretch>
            <a:fillRect/>
          </a:stretch>
        </p:blipFill>
        <p:spPr>
          <a:xfrm>
            <a:off x="4607977" y="1761799"/>
            <a:ext cx="6319353" cy="2743200"/>
          </a:xfrm>
          <a:prstGeom prst="rect">
            <a:avLst/>
          </a:prstGeom>
        </p:spPr>
      </p:pic>
      <p:sp>
        <p:nvSpPr>
          <p:cNvPr id="13" name="Text Placeholder 6">
            <a:extLst>
              <a:ext uri="{FF2B5EF4-FFF2-40B4-BE49-F238E27FC236}">
                <a16:creationId xmlns:a16="http://schemas.microsoft.com/office/drawing/2014/main" id="{B5443E5B-204B-1C49-9668-459BE7B8F6B0}"/>
              </a:ext>
            </a:extLst>
          </p:cNvPr>
          <p:cNvSpPr txBox="1">
            <a:spLocks/>
          </p:cNvSpPr>
          <p:nvPr/>
        </p:nvSpPr>
        <p:spPr>
          <a:xfrm>
            <a:off x="5643563" y="3772420"/>
            <a:ext cx="4962524"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000066"/>
                </a:solidFill>
              </a:rPr>
              <a:t>The airplane lands with an initial velocity of 70.0 m/s and slows to a final velocity of 10.0 m/s before heading for the terminal. Note the acceleration is negative because its direction is opposite to its velocity, which is positive.</a:t>
            </a:r>
          </a:p>
        </p:txBody>
      </p:sp>
      <p:sp>
        <p:nvSpPr>
          <p:cNvPr id="3" name="Rectangle 2">
            <a:extLst>
              <a:ext uri="{FF2B5EF4-FFF2-40B4-BE49-F238E27FC236}">
                <a16:creationId xmlns:a16="http://schemas.microsoft.com/office/drawing/2014/main" id="{AB4A464B-A042-AD46-BEFB-DE143DC9B84E}"/>
              </a:ext>
            </a:extLst>
          </p:cNvPr>
          <p:cNvSpPr/>
          <p:nvPr/>
        </p:nvSpPr>
        <p:spPr>
          <a:xfrm>
            <a:off x="1728805" y="5161023"/>
            <a:ext cx="6815120" cy="707886"/>
          </a:xfrm>
          <a:prstGeom prst="rect">
            <a:avLst/>
          </a:prstGeom>
        </p:spPr>
        <p:txBody>
          <a:bodyPr wrap="square">
            <a:spAutoFit/>
          </a:bodyPr>
          <a:lstStyle/>
          <a:p>
            <a:r>
              <a:rPr lang="en-US" sz="2000" dirty="0">
                <a:latin typeface="LiberationSerif"/>
              </a:rPr>
              <a:t>A manned rocket accelerates at a rate of 20 m/s</a:t>
            </a:r>
            <a:r>
              <a:rPr lang="en-US" sz="2000" baseline="30000" dirty="0">
                <a:latin typeface="LiberationSerif"/>
              </a:rPr>
              <a:t>2</a:t>
            </a:r>
            <a:r>
              <a:rPr lang="en-US" sz="2000" dirty="0">
                <a:latin typeface="LiberationSerif"/>
              </a:rPr>
              <a:t> during launch. How long does it take the rocket to reach a velocity of 400 m/s? </a:t>
            </a:r>
            <a:endParaRPr lang="en-US" sz="2000" dirty="0"/>
          </a:p>
        </p:txBody>
      </p:sp>
    </p:spTree>
    <p:extLst>
      <p:ext uri="{BB962C8B-B14F-4D97-AF65-F5344CB8AC3E}">
        <p14:creationId xmlns:p14="http://schemas.microsoft.com/office/powerpoint/2010/main" val="37091731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Motion with Constant Acceleration </a:t>
            </a:r>
          </a:p>
        </p:txBody>
      </p:sp>
      <p:pic>
        <p:nvPicPr>
          <p:cNvPr id="4" name="Picture 3" descr="Text, letter&#10;&#10;Description automatically generated">
            <a:extLst>
              <a:ext uri="{FF2B5EF4-FFF2-40B4-BE49-F238E27FC236}">
                <a16:creationId xmlns:a16="http://schemas.microsoft.com/office/drawing/2014/main" id="{85B7385E-4BE0-D449-88DE-B565C50792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459" y="802276"/>
            <a:ext cx="2835151" cy="2743200"/>
          </a:xfrm>
          <a:prstGeom prst="rect">
            <a:avLst/>
          </a:prstGeom>
        </p:spPr>
      </p:pic>
      <p:sp>
        <p:nvSpPr>
          <p:cNvPr id="2" name="Rectangle 1">
            <a:extLst>
              <a:ext uri="{FF2B5EF4-FFF2-40B4-BE49-F238E27FC236}">
                <a16:creationId xmlns:a16="http://schemas.microsoft.com/office/drawing/2014/main" id="{FEAE24F3-06C0-1E4F-86F5-AA215295CA64}"/>
              </a:ext>
            </a:extLst>
          </p:cNvPr>
          <p:cNvSpPr/>
          <p:nvPr/>
        </p:nvSpPr>
        <p:spPr>
          <a:xfrm>
            <a:off x="4045103" y="1051136"/>
            <a:ext cx="7142010" cy="1938992"/>
          </a:xfrm>
          <a:prstGeom prst="rect">
            <a:avLst/>
          </a:prstGeom>
        </p:spPr>
        <p:txBody>
          <a:bodyPr wrap="square">
            <a:spAutoFit/>
          </a:bodyPr>
          <a:lstStyle/>
          <a:p>
            <a:r>
              <a:rPr lang="en-US" sz="2000" dirty="0">
                <a:latin typeface="LiberationSerif"/>
              </a:rPr>
              <a:t>Dragsters can achieve an average acceleration of 26.0 m/s</a:t>
            </a:r>
            <a:r>
              <a:rPr lang="en-US" sz="2000" baseline="30000" dirty="0">
                <a:latin typeface="LiberationSerif"/>
              </a:rPr>
              <a:t>2</a:t>
            </a:r>
            <a:r>
              <a:rPr lang="en-US" sz="2000" dirty="0">
                <a:latin typeface="LiberationSerif"/>
              </a:rPr>
              <a:t>.</a:t>
            </a:r>
          </a:p>
          <a:p>
            <a:r>
              <a:rPr lang="en-US" sz="2000" dirty="0">
                <a:latin typeface="LiberationSerif"/>
              </a:rPr>
              <a:t>a) Suppose a dragster accelerates from rest at this rate for 5.56 s. How far does it travel in this time?</a:t>
            </a:r>
          </a:p>
          <a:p>
            <a:r>
              <a:rPr lang="en-US" sz="2000" dirty="0">
                <a:latin typeface="LiberationSerif"/>
              </a:rPr>
              <a:t>b) Calculate the final velocity of the dragster without using information about time. Report in mph. </a:t>
            </a:r>
          </a:p>
          <a:p>
            <a:r>
              <a:rPr lang="en-US" sz="2000" dirty="0">
                <a:latin typeface="LiberationSerif"/>
              </a:rPr>
              <a:t> </a:t>
            </a:r>
            <a:endParaRPr lang="en-US" sz="2000" dirty="0"/>
          </a:p>
        </p:txBody>
      </p:sp>
      <p:sp>
        <p:nvSpPr>
          <p:cNvPr id="7" name="Rectangle 6">
            <a:extLst>
              <a:ext uri="{FF2B5EF4-FFF2-40B4-BE49-F238E27FC236}">
                <a16:creationId xmlns:a16="http://schemas.microsoft.com/office/drawing/2014/main" id="{FAFA0962-104B-B547-872F-050FAA5774C2}"/>
              </a:ext>
            </a:extLst>
          </p:cNvPr>
          <p:cNvSpPr/>
          <p:nvPr/>
        </p:nvSpPr>
        <p:spPr>
          <a:xfrm>
            <a:off x="4047603" y="726397"/>
            <a:ext cx="1152623" cy="430887"/>
          </a:xfrm>
          <a:prstGeom prst="rect">
            <a:avLst/>
          </a:prstGeom>
        </p:spPr>
        <p:txBody>
          <a:bodyPr wrap="none">
            <a:spAutoFit/>
          </a:bodyPr>
          <a:lstStyle/>
          <a:p>
            <a:r>
              <a:rPr lang="en-US" sz="2200" dirty="0">
                <a:solidFill>
                  <a:srgbClr val="008000"/>
                </a:solidFill>
              </a:rPr>
              <a:t>Example</a:t>
            </a:r>
            <a:endParaRPr lang="en-US" sz="2200" dirty="0"/>
          </a:p>
        </p:txBody>
      </p:sp>
      <p:pic>
        <p:nvPicPr>
          <p:cNvPr id="8" name="Picture Placeholder 1" descr="Picture shows a race car with smoke coming off of its back tires.">
            <a:extLst>
              <a:ext uri="{FF2B5EF4-FFF2-40B4-BE49-F238E27FC236}">
                <a16:creationId xmlns:a16="http://schemas.microsoft.com/office/drawing/2014/main" id="{52F3A2BF-DFF4-6042-8F45-8FE22FA8A858}"/>
              </a:ext>
            </a:extLst>
          </p:cNvPr>
          <p:cNvPicPr>
            <a:picLocks noChangeAspect="1"/>
          </p:cNvPicPr>
          <p:nvPr/>
        </p:nvPicPr>
        <p:blipFill>
          <a:blip r:embed="rId4" cstate="email">
            <a:extLst>
              <a:ext uri="{28A0092B-C50C-407E-A947-70E740481C1C}">
                <a14:useLocalDpi xmlns:a14="http://schemas.microsoft.com/office/drawing/2010/main" val="0"/>
              </a:ext>
            </a:extLst>
          </a:blip>
          <a:srcRect l="-42759" r="-42759"/>
          <a:stretch>
            <a:fillRect/>
          </a:stretch>
        </p:blipFill>
        <p:spPr>
          <a:xfrm>
            <a:off x="5686423" y="2615612"/>
            <a:ext cx="6845966" cy="2971800"/>
          </a:xfrm>
          <a:prstGeom prst="rect">
            <a:avLst/>
          </a:prstGeom>
        </p:spPr>
      </p:pic>
      <p:sp>
        <p:nvSpPr>
          <p:cNvPr id="9" name="Text Placeholder 6">
            <a:extLst>
              <a:ext uri="{FF2B5EF4-FFF2-40B4-BE49-F238E27FC236}">
                <a16:creationId xmlns:a16="http://schemas.microsoft.com/office/drawing/2014/main" id="{65F47172-2822-7C47-946E-6C88D6C31C8C}"/>
              </a:ext>
            </a:extLst>
          </p:cNvPr>
          <p:cNvSpPr txBox="1">
            <a:spLocks/>
          </p:cNvSpPr>
          <p:nvPr/>
        </p:nvSpPr>
        <p:spPr>
          <a:xfrm>
            <a:off x="6856088" y="5683508"/>
            <a:ext cx="4929188"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a:solidFill>
                  <a:srgbClr val="000066"/>
                </a:solidFill>
              </a:rPr>
              <a:t>U.S. Army Top Fuel pilot Tony “The Sarge” Schumacher begins a race with a controlled burnout.</a:t>
            </a:r>
          </a:p>
          <a:p>
            <a:pPr marL="0" indent="0">
              <a:buNone/>
            </a:pPr>
            <a:r>
              <a:rPr lang="en-US" sz="1200" dirty="0">
                <a:solidFill>
                  <a:srgbClr val="000066"/>
                </a:solidFill>
              </a:rPr>
              <a:t> (credit: Lt. Col. William Thurmond. Photo Courtesy of U.S. Army.)</a:t>
            </a:r>
          </a:p>
        </p:txBody>
      </p:sp>
      <p:pic>
        <p:nvPicPr>
          <p:cNvPr id="10" name="Picture Placeholder 1" descr="Figure shows race car with acceleration of 26 meters per second squared.">
            <a:extLst>
              <a:ext uri="{FF2B5EF4-FFF2-40B4-BE49-F238E27FC236}">
                <a16:creationId xmlns:a16="http://schemas.microsoft.com/office/drawing/2014/main" id="{58B3E3EE-C4F4-EC41-BA6C-044D787016D4}"/>
              </a:ext>
            </a:extLst>
          </p:cNvPr>
          <p:cNvPicPr>
            <a:picLocks noChangeAspect="1"/>
          </p:cNvPicPr>
          <p:nvPr/>
        </p:nvPicPr>
        <p:blipFill>
          <a:blip r:embed="rId5">
            <a:extLst>
              <a:ext uri="{28A0092B-C50C-407E-A947-70E740481C1C}">
                <a14:useLocalDpi xmlns:a14="http://schemas.microsoft.com/office/drawing/2010/main" val="0"/>
              </a:ext>
            </a:extLst>
          </a:blip>
          <a:srcRect t="-19117" b="-19117"/>
          <a:stretch>
            <a:fillRect/>
          </a:stretch>
        </p:blipFill>
        <p:spPr>
          <a:xfrm>
            <a:off x="267933" y="3429000"/>
            <a:ext cx="6319353" cy="2743200"/>
          </a:xfrm>
          <a:prstGeom prst="rect">
            <a:avLst/>
          </a:prstGeom>
        </p:spPr>
      </p:pic>
      <p:sp>
        <p:nvSpPr>
          <p:cNvPr id="11" name="Text Placeholder 6">
            <a:extLst>
              <a:ext uri="{FF2B5EF4-FFF2-40B4-BE49-F238E27FC236}">
                <a16:creationId xmlns:a16="http://schemas.microsoft.com/office/drawing/2014/main" id="{99E95FAE-F92B-C644-A073-0D8BD07A5397}"/>
              </a:ext>
            </a:extLst>
          </p:cNvPr>
          <p:cNvSpPr txBox="1">
            <a:spLocks/>
          </p:cNvSpPr>
          <p:nvPr/>
        </p:nvSpPr>
        <p:spPr>
          <a:xfrm>
            <a:off x="592459" y="5806003"/>
            <a:ext cx="8062912" cy="11663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rgbClr val="000066"/>
                </a:solidFill>
              </a:rPr>
              <a:t>Sketch of an accelerating dragster.</a:t>
            </a:r>
          </a:p>
        </p:txBody>
      </p:sp>
    </p:spTree>
    <p:extLst>
      <p:ext uri="{BB962C8B-B14F-4D97-AF65-F5344CB8AC3E}">
        <p14:creationId xmlns:p14="http://schemas.microsoft.com/office/powerpoint/2010/main" val="24380505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2486030" y="89044"/>
            <a:ext cx="7858125" cy="523220"/>
          </a:xfrm>
          <a:prstGeom prst="rect">
            <a:avLst/>
          </a:prstGeom>
        </p:spPr>
        <p:txBody>
          <a:bodyPr wrap="square">
            <a:spAutoFit/>
          </a:bodyPr>
          <a:lstStyle/>
          <a:p>
            <a:r>
              <a:rPr lang="en-US" sz="2800" dirty="0">
                <a:solidFill>
                  <a:srgbClr val="C00000"/>
                </a:solidFill>
                <a:latin typeface="NewBaskervilleStd-Roman"/>
              </a:rPr>
              <a:t>Motion with Constant Acceleration </a:t>
            </a:r>
          </a:p>
        </p:txBody>
      </p:sp>
      <p:pic>
        <p:nvPicPr>
          <p:cNvPr id="4" name="Picture 3" descr="Text, letter&#10;&#10;Description automatically generated">
            <a:extLst>
              <a:ext uri="{FF2B5EF4-FFF2-40B4-BE49-F238E27FC236}">
                <a16:creationId xmlns:a16="http://schemas.microsoft.com/office/drawing/2014/main" id="{85B7385E-4BE0-D449-88DE-B565C50792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2459" y="802276"/>
            <a:ext cx="2835151" cy="2743200"/>
          </a:xfrm>
          <a:prstGeom prst="rect">
            <a:avLst/>
          </a:prstGeom>
        </p:spPr>
      </p:pic>
      <p:sp>
        <p:nvSpPr>
          <p:cNvPr id="12" name="Rectangle 11">
            <a:extLst>
              <a:ext uri="{FF2B5EF4-FFF2-40B4-BE49-F238E27FC236}">
                <a16:creationId xmlns:a16="http://schemas.microsoft.com/office/drawing/2014/main" id="{3F4D89A4-D225-844F-BA31-B799C4A38032}"/>
              </a:ext>
            </a:extLst>
          </p:cNvPr>
          <p:cNvSpPr/>
          <p:nvPr/>
        </p:nvSpPr>
        <p:spPr>
          <a:xfrm>
            <a:off x="3776553" y="3850367"/>
            <a:ext cx="5195886" cy="400110"/>
          </a:xfrm>
          <a:prstGeom prst="rect">
            <a:avLst/>
          </a:prstGeom>
        </p:spPr>
        <p:txBody>
          <a:bodyPr wrap="square">
            <a:spAutoFit/>
          </a:bodyPr>
          <a:lstStyle/>
          <a:p>
            <a:r>
              <a:rPr lang="en-US" sz="2000" dirty="0">
                <a:solidFill>
                  <a:srgbClr val="0000CC"/>
                </a:solidFill>
              </a:rPr>
              <a:t>Assignment 8</a:t>
            </a:r>
          </a:p>
        </p:txBody>
      </p:sp>
      <p:pic>
        <p:nvPicPr>
          <p:cNvPr id="15" name="Picture 14" descr="Text&#10;&#10;Description automatically generated">
            <a:extLst>
              <a:ext uri="{FF2B5EF4-FFF2-40B4-BE49-F238E27FC236}">
                <a16:creationId xmlns:a16="http://schemas.microsoft.com/office/drawing/2014/main" id="{83C55798-739F-F941-B7A5-E0717432DF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89805" y="4250477"/>
            <a:ext cx="7520674" cy="1334604"/>
          </a:xfrm>
          <a:prstGeom prst="rect">
            <a:avLst/>
          </a:prstGeom>
        </p:spPr>
      </p:pic>
    </p:spTree>
    <p:extLst>
      <p:ext uri="{BB962C8B-B14F-4D97-AF65-F5344CB8AC3E}">
        <p14:creationId xmlns:p14="http://schemas.microsoft.com/office/powerpoint/2010/main" val="25372842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4657731" y="89044"/>
            <a:ext cx="2543170" cy="523220"/>
          </a:xfrm>
          <a:prstGeom prst="rect">
            <a:avLst/>
          </a:prstGeom>
        </p:spPr>
        <p:txBody>
          <a:bodyPr wrap="square">
            <a:spAutoFit/>
          </a:bodyPr>
          <a:lstStyle/>
          <a:p>
            <a:r>
              <a:rPr lang="en-US" sz="2800" dirty="0">
                <a:solidFill>
                  <a:srgbClr val="C00000"/>
                </a:solidFill>
                <a:latin typeface="NewBaskervilleStd-Roman"/>
              </a:rPr>
              <a:t>Free Fall </a:t>
            </a:r>
          </a:p>
        </p:txBody>
      </p:sp>
      <p:sp>
        <p:nvSpPr>
          <p:cNvPr id="2" name="Rectangle 1">
            <a:extLst>
              <a:ext uri="{FF2B5EF4-FFF2-40B4-BE49-F238E27FC236}">
                <a16:creationId xmlns:a16="http://schemas.microsoft.com/office/drawing/2014/main" id="{C931C57C-B2CA-2741-8A8D-FA092E6ACA24}"/>
              </a:ext>
            </a:extLst>
          </p:cNvPr>
          <p:cNvSpPr/>
          <p:nvPr/>
        </p:nvSpPr>
        <p:spPr>
          <a:xfrm>
            <a:off x="742951" y="612264"/>
            <a:ext cx="9501187" cy="769441"/>
          </a:xfrm>
          <a:prstGeom prst="rect">
            <a:avLst/>
          </a:prstGeom>
        </p:spPr>
        <p:txBody>
          <a:bodyPr wrap="square">
            <a:spAutoFit/>
          </a:bodyPr>
          <a:lstStyle/>
          <a:p>
            <a:r>
              <a:rPr lang="en-US" sz="2200" i="1" dirty="0">
                <a:solidFill>
                  <a:srgbClr val="C00000"/>
                </a:solidFill>
                <a:latin typeface="LiberationSerif"/>
              </a:rPr>
              <a:t>Free fall</a:t>
            </a:r>
            <a:r>
              <a:rPr lang="en-US" sz="2200" dirty="0">
                <a:solidFill>
                  <a:srgbClr val="C00000"/>
                </a:solidFill>
                <a:latin typeface="LiberationSerif"/>
              </a:rPr>
              <a:t> </a:t>
            </a:r>
            <a:r>
              <a:rPr lang="en-US" sz="2200" dirty="0">
                <a:solidFill>
                  <a:srgbClr val="000066"/>
                </a:solidFill>
                <a:latin typeface="LiberationSerif"/>
              </a:rPr>
              <a:t>describes the motion of an object falling in a gravitational field, such as near the surface of Earth.</a:t>
            </a:r>
            <a:endParaRPr lang="en-US" sz="2200" dirty="0">
              <a:solidFill>
                <a:srgbClr val="000066"/>
              </a:solidFill>
            </a:endParaRPr>
          </a:p>
        </p:txBody>
      </p:sp>
      <p:sp>
        <p:nvSpPr>
          <p:cNvPr id="3" name="Rectangle 2">
            <a:extLst>
              <a:ext uri="{FF2B5EF4-FFF2-40B4-BE49-F238E27FC236}">
                <a16:creationId xmlns:a16="http://schemas.microsoft.com/office/drawing/2014/main" id="{9256C471-B0B8-E148-8A7C-07D03DCE735F}"/>
              </a:ext>
            </a:extLst>
          </p:cNvPr>
          <p:cNvSpPr/>
          <p:nvPr/>
        </p:nvSpPr>
        <p:spPr>
          <a:xfrm>
            <a:off x="773906" y="1550982"/>
            <a:ext cx="10644188" cy="707886"/>
          </a:xfrm>
          <a:prstGeom prst="rect">
            <a:avLst/>
          </a:prstGeom>
        </p:spPr>
        <p:txBody>
          <a:bodyPr wrap="square">
            <a:spAutoFit/>
          </a:bodyPr>
          <a:lstStyle/>
          <a:p>
            <a:r>
              <a:rPr lang="en-US" sz="2000" dirty="0">
                <a:latin typeface="LiberationSerif"/>
              </a:rPr>
              <a:t>If air resistance and friction are negligible, then in a given location all objects fall toward the center of Earth with the </a:t>
            </a:r>
            <a:r>
              <a:rPr lang="en-US" sz="2000" i="1" dirty="0">
                <a:solidFill>
                  <a:srgbClr val="C00000"/>
                </a:solidFill>
                <a:latin typeface="LiberationSerif"/>
              </a:rPr>
              <a:t>same constant acceleration</a:t>
            </a:r>
            <a:r>
              <a:rPr lang="en-US" sz="2000" dirty="0">
                <a:solidFill>
                  <a:srgbClr val="C00000"/>
                </a:solidFill>
                <a:latin typeface="LiberationSerif"/>
              </a:rPr>
              <a:t>, </a:t>
            </a:r>
            <a:r>
              <a:rPr lang="en-US" sz="2000" i="1" dirty="0">
                <a:solidFill>
                  <a:srgbClr val="C00000"/>
                </a:solidFill>
                <a:latin typeface="LiberationSerif"/>
              </a:rPr>
              <a:t>independent of their mass</a:t>
            </a:r>
            <a:r>
              <a:rPr lang="en-US" sz="2000" dirty="0">
                <a:solidFill>
                  <a:srgbClr val="C00000"/>
                </a:solidFill>
                <a:latin typeface="LiberationSerif"/>
              </a:rPr>
              <a:t>. </a:t>
            </a:r>
            <a:endParaRPr lang="en-US" sz="2000" dirty="0">
              <a:solidFill>
                <a:srgbClr val="C00000"/>
              </a:solidFill>
            </a:endParaRPr>
          </a:p>
        </p:txBody>
      </p:sp>
      <p:pic>
        <p:nvPicPr>
          <p:cNvPr id="7" name="Picture Placeholder 1" descr="Left figure shows a hammer and a feather falling down in air. Hammer is below the feather. Middle figure shows a hammer and a feather falling down in vacuum. Hammer and feather are at the same level. Right figure shows astronaut on the surface of the moon with hammer and a feather lying on the ground.">
            <a:extLst>
              <a:ext uri="{FF2B5EF4-FFF2-40B4-BE49-F238E27FC236}">
                <a16:creationId xmlns:a16="http://schemas.microsoft.com/office/drawing/2014/main" id="{B9DF1016-6A25-144A-89CF-4A511FDDD13B}"/>
              </a:ext>
            </a:extLst>
          </p:cNvPr>
          <p:cNvPicPr>
            <a:picLocks noChangeAspect="1"/>
          </p:cNvPicPr>
          <p:nvPr/>
        </p:nvPicPr>
        <p:blipFill>
          <a:blip r:embed="rId3" cstate="email">
            <a:extLst>
              <a:ext uri="{28A0092B-C50C-407E-A947-70E740481C1C}">
                <a14:useLocalDpi xmlns:a14="http://schemas.microsoft.com/office/drawing/2010/main" val="0"/>
              </a:ext>
            </a:extLst>
          </a:blip>
          <a:srcRect l="-5338" r="-5338"/>
          <a:stretch>
            <a:fillRect/>
          </a:stretch>
        </p:blipFill>
        <p:spPr>
          <a:xfrm>
            <a:off x="4061411" y="2258868"/>
            <a:ext cx="8062913" cy="3500071"/>
          </a:xfrm>
          <a:prstGeom prst="rect">
            <a:avLst/>
          </a:prstGeom>
        </p:spPr>
      </p:pic>
      <p:sp>
        <p:nvSpPr>
          <p:cNvPr id="8" name="Text Placeholder 6">
            <a:extLst>
              <a:ext uri="{FF2B5EF4-FFF2-40B4-BE49-F238E27FC236}">
                <a16:creationId xmlns:a16="http://schemas.microsoft.com/office/drawing/2014/main" id="{D5C678D0-E653-D346-BF3C-B3CEF1DBA831}"/>
              </a:ext>
            </a:extLst>
          </p:cNvPr>
          <p:cNvSpPr txBox="1">
            <a:spLocks/>
          </p:cNvSpPr>
          <p:nvPr/>
        </p:nvSpPr>
        <p:spPr>
          <a:xfrm>
            <a:off x="4320967" y="5730363"/>
            <a:ext cx="7584282" cy="116638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hlinkClick r:id="rId4"/>
              </a:rPr>
              <a:t>A hammer and a feather fall with the same constant acceleration if air resistance is negligible</a:t>
            </a:r>
            <a:r>
              <a:rPr lang="en-US" sz="1800" dirty="0"/>
              <a:t>. This is a general characteristic of gravity not unique to Earth, as </a:t>
            </a:r>
            <a:r>
              <a:rPr lang="en-US" sz="1800" dirty="0">
                <a:hlinkClick r:id="rId5"/>
              </a:rPr>
              <a:t>astronaut David R. Scott demonstrated in 1971 on the Moon</a:t>
            </a:r>
            <a:r>
              <a:rPr lang="en-US" sz="1800" dirty="0"/>
              <a:t>, where the acceleration from gravity is only 1.67 m/s</a:t>
            </a:r>
            <a:r>
              <a:rPr lang="en-US" sz="1800" baseline="30000" dirty="0"/>
              <a:t>2</a:t>
            </a:r>
            <a:r>
              <a:rPr lang="en-US" sz="1800" dirty="0"/>
              <a:t> and there is no atmosphere.</a:t>
            </a:r>
          </a:p>
        </p:txBody>
      </p:sp>
      <p:sp>
        <p:nvSpPr>
          <p:cNvPr id="4" name="Rectangle 3">
            <a:extLst>
              <a:ext uri="{FF2B5EF4-FFF2-40B4-BE49-F238E27FC236}">
                <a16:creationId xmlns:a16="http://schemas.microsoft.com/office/drawing/2014/main" id="{CFDCA6AA-AD0C-6646-826A-23FAFD1BBD04}"/>
              </a:ext>
            </a:extLst>
          </p:cNvPr>
          <p:cNvSpPr/>
          <p:nvPr/>
        </p:nvSpPr>
        <p:spPr>
          <a:xfrm>
            <a:off x="742951" y="2428145"/>
            <a:ext cx="2946576" cy="369332"/>
          </a:xfrm>
          <a:prstGeom prst="rect">
            <a:avLst/>
          </a:prstGeom>
        </p:spPr>
        <p:txBody>
          <a:bodyPr wrap="none">
            <a:spAutoFit/>
          </a:bodyPr>
          <a:lstStyle/>
          <a:p>
            <a:r>
              <a:rPr lang="en-US" dirty="0">
                <a:solidFill>
                  <a:srgbClr val="C00000"/>
                </a:solidFill>
                <a:latin typeface="LiberationSerif"/>
              </a:rPr>
              <a:t>Acceleration due to gravity is </a:t>
            </a:r>
            <a:endParaRPr lang="en-US" dirty="0">
              <a:solidFill>
                <a:srgbClr val="C00000"/>
              </a:solidFill>
            </a:endParaRPr>
          </a:p>
        </p:txBody>
      </p:sp>
      <p:sp>
        <p:nvSpPr>
          <p:cNvPr id="9" name="Rectangle 8">
            <a:extLst>
              <a:ext uri="{FF2B5EF4-FFF2-40B4-BE49-F238E27FC236}">
                <a16:creationId xmlns:a16="http://schemas.microsoft.com/office/drawing/2014/main" id="{0ED231B0-3A57-5248-B383-D41485905D51}"/>
              </a:ext>
            </a:extLst>
          </p:cNvPr>
          <p:cNvSpPr/>
          <p:nvPr/>
        </p:nvSpPr>
        <p:spPr>
          <a:xfrm>
            <a:off x="773906" y="3183361"/>
            <a:ext cx="3287505" cy="1754326"/>
          </a:xfrm>
          <a:prstGeom prst="rect">
            <a:avLst/>
          </a:prstGeom>
        </p:spPr>
        <p:txBody>
          <a:bodyPr wrap="square">
            <a:spAutoFit/>
          </a:bodyPr>
          <a:lstStyle/>
          <a:p>
            <a:r>
              <a:rPr lang="en-US" dirty="0">
                <a:solidFill>
                  <a:srgbClr val="008000"/>
                </a:solidFill>
                <a:latin typeface="LiberationSerif"/>
              </a:rPr>
              <a:t>If we define the upward direction as positive, then</a:t>
            </a:r>
          </a:p>
          <a:p>
            <a:endParaRPr lang="en-US" dirty="0">
              <a:solidFill>
                <a:srgbClr val="008000"/>
              </a:solidFill>
              <a:latin typeface="LiberationSerif"/>
            </a:endParaRPr>
          </a:p>
          <a:p>
            <a:endParaRPr lang="en-US" dirty="0">
              <a:solidFill>
                <a:srgbClr val="008000"/>
              </a:solidFill>
              <a:latin typeface="LiberationSerif"/>
            </a:endParaRPr>
          </a:p>
          <a:p>
            <a:r>
              <a:rPr lang="en-US" dirty="0">
                <a:solidFill>
                  <a:srgbClr val="008000"/>
                </a:solidFill>
                <a:latin typeface="LiberationSerif"/>
              </a:rPr>
              <a:t>And our kinematic equations for y direction become </a:t>
            </a:r>
            <a:endParaRPr lang="en-US" dirty="0">
              <a:solidFill>
                <a:srgbClr val="008000"/>
              </a:solidFill>
            </a:endParaRPr>
          </a:p>
        </p:txBody>
      </p:sp>
      <p:pic>
        <p:nvPicPr>
          <p:cNvPr id="11" name="Picture 10" descr="A white background with black text&#10;&#10;Description automatically generated with low confidence">
            <a:extLst>
              <a:ext uri="{FF2B5EF4-FFF2-40B4-BE49-F238E27FC236}">
                <a16:creationId xmlns:a16="http://schemas.microsoft.com/office/drawing/2014/main" id="{C69A4677-C8FC-C04A-8CCA-66968D2163C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36675" y="2727397"/>
            <a:ext cx="1696065" cy="457200"/>
          </a:xfrm>
          <a:prstGeom prst="rect">
            <a:avLst/>
          </a:prstGeom>
        </p:spPr>
      </p:pic>
      <p:pic>
        <p:nvPicPr>
          <p:cNvPr id="13" name="Picture 12" descr="A picture containing text&#10;&#10;Description automatically generated">
            <a:extLst>
              <a:ext uri="{FF2B5EF4-FFF2-40B4-BE49-F238E27FC236}">
                <a16:creationId xmlns:a16="http://schemas.microsoft.com/office/drawing/2014/main" id="{F6392BE8-0286-4849-8239-E63E529636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45084" y="3878262"/>
            <a:ext cx="2142309" cy="365760"/>
          </a:xfrm>
          <a:prstGeom prst="rect">
            <a:avLst/>
          </a:prstGeom>
        </p:spPr>
      </p:pic>
      <p:pic>
        <p:nvPicPr>
          <p:cNvPr id="15" name="Picture 14" descr="Text&#10;&#10;Description automatically generated">
            <a:extLst>
              <a:ext uri="{FF2B5EF4-FFF2-40B4-BE49-F238E27FC236}">
                <a16:creationId xmlns:a16="http://schemas.microsoft.com/office/drawing/2014/main" id="{C7C2CEB8-1F6B-DC4C-92A3-E892ABA4CBA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33594" y="4958839"/>
            <a:ext cx="2702225" cy="1600200"/>
          </a:xfrm>
          <a:prstGeom prst="rect">
            <a:avLst/>
          </a:prstGeom>
        </p:spPr>
      </p:pic>
      <p:pic>
        <p:nvPicPr>
          <p:cNvPr id="17" name="Picture 16" descr="Diagram&#10;&#10;Description automatically generated with low confidence">
            <a:extLst>
              <a:ext uri="{FF2B5EF4-FFF2-40B4-BE49-F238E27FC236}">
                <a16:creationId xmlns:a16="http://schemas.microsoft.com/office/drawing/2014/main" id="{B11CC2ED-1211-0E4B-9281-A0136498676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337508" y="2909180"/>
            <a:ext cx="922215" cy="914400"/>
          </a:xfrm>
          <a:prstGeom prst="rect">
            <a:avLst/>
          </a:prstGeom>
        </p:spPr>
      </p:pic>
      <p:sp>
        <p:nvSpPr>
          <p:cNvPr id="19" name="Rectangle 18">
            <a:extLst>
              <a:ext uri="{FF2B5EF4-FFF2-40B4-BE49-F238E27FC236}">
                <a16:creationId xmlns:a16="http://schemas.microsoft.com/office/drawing/2014/main" id="{B7F09608-B2DA-B84E-BD86-DAFAF0043B23}"/>
              </a:ext>
            </a:extLst>
          </p:cNvPr>
          <p:cNvSpPr/>
          <p:nvPr/>
        </p:nvSpPr>
        <p:spPr>
          <a:xfrm>
            <a:off x="3649968" y="2837196"/>
            <a:ext cx="293670" cy="369332"/>
          </a:xfrm>
          <a:prstGeom prst="rect">
            <a:avLst/>
          </a:prstGeom>
        </p:spPr>
        <p:txBody>
          <a:bodyPr wrap="none">
            <a:spAutoFit/>
          </a:bodyPr>
          <a:lstStyle/>
          <a:p>
            <a:r>
              <a:rPr lang="en-US" b="1" dirty="0">
                <a:solidFill>
                  <a:srgbClr val="C00000"/>
                </a:solidFill>
                <a:latin typeface="LiberationSerif"/>
              </a:rPr>
              <a:t>g</a:t>
            </a:r>
            <a:endParaRPr lang="en-US" b="1" dirty="0"/>
          </a:p>
        </p:txBody>
      </p:sp>
      <p:cxnSp>
        <p:nvCxnSpPr>
          <p:cNvPr id="21" name="Straight Arrow Connector 20">
            <a:extLst>
              <a:ext uri="{FF2B5EF4-FFF2-40B4-BE49-F238E27FC236}">
                <a16:creationId xmlns:a16="http://schemas.microsoft.com/office/drawing/2014/main" id="{0AE2BA2D-EB47-FB4C-A679-88A991564D9B}"/>
              </a:ext>
            </a:extLst>
          </p:cNvPr>
          <p:cNvCxnSpPr>
            <a:cxnSpLocks/>
          </p:cNvCxnSpPr>
          <p:nvPr/>
        </p:nvCxnSpPr>
        <p:spPr>
          <a:xfrm>
            <a:off x="3678544" y="2964710"/>
            <a:ext cx="0" cy="32141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1622874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4657731" y="89044"/>
            <a:ext cx="2543170" cy="523220"/>
          </a:xfrm>
          <a:prstGeom prst="rect">
            <a:avLst/>
          </a:prstGeom>
        </p:spPr>
        <p:txBody>
          <a:bodyPr wrap="square">
            <a:spAutoFit/>
          </a:bodyPr>
          <a:lstStyle/>
          <a:p>
            <a:r>
              <a:rPr lang="en-US" sz="2800" dirty="0">
                <a:solidFill>
                  <a:srgbClr val="C00000"/>
                </a:solidFill>
                <a:latin typeface="NewBaskervilleStd-Roman"/>
              </a:rPr>
              <a:t>Free Fall </a:t>
            </a:r>
          </a:p>
        </p:txBody>
      </p:sp>
      <p:sp>
        <p:nvSpPr>
          <p:cNvPr id="2" name="Rectangle 1">
            <a:extLst>
              <a:ext uri="{FF2B5EF4-FFF2-40B4-BE49-F238E27FC236}">
                <a16:creationId xmlns:a16="http://schemas.microsoft.com/office/drawing/2014/main" id="{C931C57C-B2CA-2741-8A8D-FA092E6ACA24}"/>
              </a:ext>
            </a:extLst>
          </p:cNvPr>
          <p:cNvSpPr/>
          <p:nvPr/>
        </p:nvSpPr>
        <p:spPr>
          <a:xfrm>
            <a:off x="742951" y="612264"/>
            <a:ext cx="9501187" cy="769441"/>
          </a:xfrm>
          <a:prstGeom prst="rect">
            <a:avLst/>
          </a:prstGeom>
        </p:spPr>
        <p:txBody>
          <a:bodyPr wrap="square">
            <a:spAutoFit/>
          </a:bodyPr>
          <a:lstStyle/>
          <a:p>
            <a:r>
              <a:rPr lang="en-US" sz="2200" i="1" dirty="0">
                <a:solidFill>
                  <a:srgbClr val="C00000"/>
                </a:solidFill>
                <a:latin typeface="LiberationSerif"/>
              </a:rPr>
              <a:t>Free fall</a:t>
            </a:r>
            <a:r>
              <a:rPr lang="en-US" sz="2200" dirty="0">
                <a:solidFill>
                  <a:srgbClr val="C00000"/>
                </a:solidFill>
                <a:latin typeface="LiberationSerif"/>
              </a:rPr>
              <a:t> </a:t>
            </a:r>
            <a:r>
              <a:rPr lang="en-US" sz="2200" dirty="0">
                <a:solidFill>
                  <a:srgbClr val="000066"/>
                </a:solidFill>
                <a:latin typeface="LiberationSerif"/>
              </a:rPr>
              <a:t>describes the motion of an object falling in a gravitational field, such as near the surface of Earth.</a:t>
            </a:r>
            <a:endParaRPr lang="en-US" sz="2200" dirty="0">
              <a:solidFill>
                <a:srgbClr val="000066"/>
              </a:solidFill>
            </a:endParaRPr>
          </a:p>
        </p:txBody>
      </p:sp>
      <p:sp>
        <p:nvSpPr>
          <p:cNvPr id="3" name="Rectangle 2">
            <a:extLst>
              <a:ext uri="{FF2B5EF4-FFF2-40B4-BE49-F238E27FC236}">
                <a16:creationId xmlns:a16="http://schemas.microsoft.com/office/drawing/2014/main" id="{9256C471-B0B8-E148-8A7C-07D03DCE735F}"/>
              </a:ext>
            </a:extLst>
          </p:cNvPr>
          <p:cNvSpPr/>
          <p:nvPr/>
        </p:nvSpPr>
        <p:spPr>
          <a:xfrm>
            <a:off x="773906" y="1550982"/>
            <a:ext cx="10644188" cy="707886"/>
          </a:xfrm>
          <a:prstGeom prst="rect">
            <a:avLst/>
          </a:prstGeom>
        </p:spPr>
        <p:txBody>
          <a:bodyPr wrap="square">
            <a:spAutoFit/>
          </a:bodyPr>
          <a:lstStyle/>
          <a:p>
            <a:r>
              <a:rPr lang="en-US" sz="2000" dirty="0">
                <a:latin typeface="LiberationSerif"/>
              </a:rPr>
              <a:t>If air resistance and friction are negligible, then in a given location all objects fall toward the center of Earth with the </a:t>
            </a:r>
            <a:r>
              <a:rPr lang="en-US" sz="2000" i="1" dirty="0">
                <a:solidFill>
                  <a:srgbClr val="C00000"/>
                </a:solidFill>
                <a:latin typeface="LiberationSerif"/>
              </a:rPr>
              <a:t>same constant acceleration</a:t>
            </a:r>
            <a:r>
              <a:rPr lang="en-US" sz="2000" dirty="0">
                <a:solidFill>
                  <a:srgbClr val="C00000"/>
                </a:solidFill>
                <a:latin typeface="LiberationSerif"/>
              </a:rPr>
              <a:t>, </a:t>
            </a:r>
            <a:r>
              <a:rPr lang="en-US" sz="2000" i="1" dirty="0">
                <a:solidFill>
                  <a:srgbClr val="C00000"/>
                </a:solidFill>
                <a:latin typeface="LiberationSerif"/>
              </a:rPr>
              <a:t>independent of their mass</a:t>
            </a:r>
            <a:r>
              <a:rPr lang="en-US" sz="2000" dirty="0">
                <a:solidFill>
                  <a:srgbClr val="C00000"/>
                </a:solidFill>
                <a:latin typeface="LiberationSerif"/>
              </a:rPr>
              <a:t>. </a:t>
            </a:r>
            <a:endParaRPr lang="en-US" sz="2000" dirty="0">
              <a:solidFill>
                <a:srgbClr val="C00000"/>
              </a:solidFill>
            </a:endParaRPr>
          </a:p>
        </p:txBody>
      </p:sp>
      <p:sp>
        <p:nvSpPr>
          <p:cNvPr id="4" name="Rectangle 3">
            <a:extLst>
              <a:ext uri="{FF2B5EF4-FFF2-40B4-BE49-F238E27FC236}">
                <a16:creationId xmlns:a16="http://schemas.microsoft.com/office/drawing/2014/main" id="{CFDCA6AA-AD0C-6646-826A-23FAFD1BBD04}"/>
              </a:ext>
            </a:extLst>
          </p:cNvPr>
          <p:cNvSpPr/>
          <p:nvPr/>
        </p:nvSpPr>
        <p:spPr>
          <a:xfrm>
            <a:off x="742951" y="2428145"/>
            <a:ext cx="2946576" cy="369332"/>
          </a:xfrm>
          <a:prstGeom prst="rect">
            <a:avLst/>
          </a:prstGeom>
        </p:spPr>
        <p:txBody>
          <a:bodyPr wrap="none">
            <a:spAutoFit/>
          </a:bodyPr>
          <a:lstStyle/>
          <a:p>
            <a:r>
              <a:rPr lang="en-US" dirty="0">
                <a:solidFill>
                  <a:srgbClr val="C00000"/>
                </a:solidFill>
                <a:latin typeface="LiberationSerif"/>
              </a:rPr>
              <a:t>Acceleration due to gravity is </a:t>
            </a:r>
            <a:endParaRPr lang="en-US" dirty="0">
              <a:solidFill>
                <a:srgbClr val="C00000"/>
              </a:solidFill>
            </a:endParaRPr>
          </a:p>
        </p:txBody>
      </p:sp>
      <p:sp>
        <p:nvSpPr>
          <p:cNvPr id="9" name="Rectangle 8">
            <a:extLst>
              <a:ext uri="{FF2B5EF4-FFF2-40B4-BE49-F238E27FC236}">
                <a16:creationId xmlns:a16="http://schemas.microsoft.com/office/drawing/2014/main" id="{0ED231B0-3A57-5248-B383-D41485905D51}"/>
              </a:ext>
            </a:extLst>
          </p:cNvPr>
          <p:cNvSpPr/>
          <p:nvPr/>
        </p:nvSpPr>
        <p:spPr>
          <a:xfrm>
            <a:off x="773906" y="3183361"/>
            <a:ext cx="3287505" cy="1754326"/>
          </a:xfrm>
          <a:prstGeom prst="rect">
            <a:avLst/>
          </a:prstGeom>
        </p:spPr>
        <p:txBody>
          <a:bodyPr wrap="square">
            <a:spAutoFit/>
          </a:bodyPr>
          <a:lstStyle/>
          <a:p>
            <a:r>
              <a:rPr lang="en-US" dirty="0">
                <a:solidFill>
                  <a:srgbClr val="008000"/>
                </a:solidFill>
                <a:latin typeface="LiberationSerif"/>
              </a:rPr>
              <a:t>If we define the upward direction as positive, then</a:t>
            </a:r>
          </a:p>
          <a:p>
            <a:endParaRPr lang="en-US" dirty="0">
              <a:solidFill>
                <a:srgbClr val="008000"/>
              </a:solidFill>
              <a:latin typeface="LiberationSerif"/>
            </a:endParaRPr>
          </a:p>
          <a:p>
            <a:endParaRPr lang="en-US" dirty="0">
              <a:solidFill>
                <a:srgbClr val="008000"/>
              </a:solidFill>
              <a:latin typeface="LiberationSerif"/>
            </a:endParaRPr>
          </a:p>
          <a:p>
            <a:r>
              <a:rPr lang="en-US" dirty="0">
                <a:solidFill>
                  <a:srgbClr val="008000"/>
                </a:solidFill>
                <a:latin typeface="LiberationSerif"/>
              </a:rPr>
              <a:t>And our kinematic equations for y direction become </a:t>
            </a:r>
            <a:endParaRPr lang="en-US" dirty="0">
              <a:solidFill>
                <a:srgbClr val="008000"/>
              </a:solidFill>
            </a:endParaRPr>
          </a:p>
        </p:txBody>
      </p:sp>
      <p:pic>
        <p:nvPicPr>
          <p:cNvPr id="11" name="Picture 10" descr="A white background with black text&#10;&#10;Description automatically generated with low confidence">
            <a:extLst>
              <a:ext uri="{FF2B5EF4-FFF2-40B4-BE49-F238E27FC236}">
                <a16:creationId xmlns:a16="http://schemas.microsoft.com/office/drawing/2014/main" id="{C69A4677-C8FC-C04A-8CCA-66968D2163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6675" y="2727397"/>
            <a:ext cx="1696065" cy="457200"/>
          </a:xfrm>
          <a:prstGeom prst="rect">
            <a:avLst/>
          </a:prstGeom>
        </p:spPr>
      </p:pic>
      <p:pic>
        <p:nvPicPr>
          <p:cNvPr id="13" name="Picture 12" descr="A picture containing text&#10;&#10;Description automatically generated">
            <a:extLst>
              <a:ext uri="{FF2B5EF4-FFF2-40B4-BE49-F238E27FC236}">
                <a16:creationId xmlns:a16="http://schemas.microsoft.com/office/drawing/2014/main" id="{F6392BE8-0286-4849-8239-E63E529636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5084" y="3878262"/>
            <a:ext cx="2142309" cy="365760"/>
          </a:xfrm>
          <a:prstGeom prst="rect">
            <a:avLst/>
          </a:prstGeom>
        </p:spPr>
      </p:pic>
      <p:pic>
        <p:nvPicPr>
          <p:cNvPr id="15" name="Picture 14" descr="Text&#10;&#10;Description automatically generated">
            <a:extLst>
              <a:ext uri="{FF2B5EF4-FFF2-40B4-BE49-F238E27FC236}">
                <a16:creationId xmlns:a16="http://schemas.microsoft.com/office/drawing/2014/main" id="{C7C2CEB8-1F6B-DC4C-92A3-E892ABA4CB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3594" y="4958839"/>
            <a:ext cx="2702225" cy="1600200"/>
          </a:xfrm>
          <a:prstGeom prst="rect">
            <a:avLst/>
          </a:prstGeom>
        </p:spPr>
      </p:pic>
      <p:pic>
        <p:nvPicPr>
          <p:cNvPr id="17" name="Picture 16" descr="Diagram&#10;&#10;Description automatically generated with low confidence">
            <a:extLst>
              <a:ext uri="{FF2B5EF4-FFF2-40B4-BE49-F238E27FC236}">
                <a16:creationId xmlns:a16="http://schemas.microsoft.com/office/drawing/2014/main" id="{B11CC2ED-1211-0E4B-9281-A013649867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37508" y="2909180"/>
            <a:ext cx="922215" cy="914400"/>
          </a:xfrm>
          <a:prstGeom prst="rect">
            <a:avLst/>
          </a:prstGeom>
        </p:spPr>
      </p:pic>
      <p:sp>
        <p:nvSpPr>
          <p:cNvPr id="19" name="Rectangle 18">
            <a:extLst>
              <a:ext uri="{FF2B5EF4-FFF2-40B4-BE49-F238E27FC236}">
                <a16:creationId xmlns:a16="http://schemas.microsoft.com/office/drawing/2014/main" id="{B7F09608-B2DA-B84E-BD86-DAFAF0043B23}"/>
              </a:ext>
            </a:extLst>
          </p:cNvPr>
          <p:cNvSpPr/>
          <p:nvPr/>
        </p:nvSpPr>
        <p:spPr>
          <a:xfrm>
            <a:off x="3649968" y="2837196"/>
            <a:ext cx="293670" cy="369332"/>
          </a:xfrm>
          <a:prstGeom prst="rect">
            <a:avLst/>
          </a:prstGeom>
        </p:spPr>
        <p:txBody>
          <a:bodyPr wrap="none">
            <a:spAutoFit/>
          </a:bodyPr>
          <a:lstStyle/>
          <a:p>
            <a:r>
              <a:rPr lang="en-US" b="1" dirty="0">
                <a:solidFill>
                  <a:srgbClr val="C00000"/>
                </a:solidFill>
                <a:latin typeface="LiberationSerif"/>
              </a:rPr>
              <a:t>g</a:t>
            </a:r>
            <a:endParaRPr lang="en-US" b="1" dirty="0"/>
          </a:p>
        </p:txBody>
      </p:sp>
      <p:cxnSp>
        <p:nvCxnSpPr>
          <p:cNvPr id="21" name="Straight Arrow Connector 20">
            <a:extLst>
              <a:ext uri="{FF2B5EF4-FFF2-40B4-BE49-F238E27FC236}">
                <a16:creationId xmlns:a16="http://schemas.microsoft.com/office/drawing/2014/main" id="{0AE2BA2D-EB47-FB4C-A679-88A991564D9B}"/>
              </a:ext>
            </a:extLst>
          </p:cNvPr>
          <p:cNvCxnSpPr>
            <a:cxnSpLocks/>
          </p:cNvCxnSpPr>
          <p:nvPr/>
        </p:nvCxnSpPr>
        <p:spPr>
          <a:xfrm>
            <a:off x="3678544" y="2964710"/>
            <a:ext cx="0" cy="32141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pic>
        <p:nvPicPr>
          <p:cNvPr id="16" name="Picture Placeholder 1" descr="Figure shows the ball thrown downward from a tall building at a speed of - 4.9 meters per second. After one second, ball is lower by 9.8 meters and has a speed of -14.7 meters per second. After two seconds, ball is lower by 29.4 meters and has a speed of -24.5 meters per second. After three seconds, ball is lower by 58.8 meters and has a speed of -34.5 meters per second. After four seconds, ball is lower by 98.0 meters and has a speed of -44.1 meters per second.">
            <a:extLst>
              <a:ext uri="{FF2B5EF4-FFF2-40B4-BE49-F238E27FC236}">
                <a16:creationId xmlns:a16="http://schemas.microsoft.com/office/drawing/2014/main" id="{D9E347C7-0497-754A-B8F4-4FDBBC0B132F}"/>
              </a:ext>
            </a:extLst>
          </p:cNvPr>
          <p:cNvPicPr>
            <a:picLocks noChangeAspect="1"/>
          </p:cNvPicPr>
          <p:nvPr/>
        </p:nvPicPr>
        <p:blipFill>
          <a:blip r:embed="rId7">
            <a:extLst>
              <a:ext uri="{28A0092B-C50C-407E-A947-70E740481C1C}">
                <a14:useLocalDpi xmlns:a14="http://schemas.microsoft.com/office/drawing/2010/main" val="0"/>
              </a:ext>
            </a:extLst>
          </a:blip>
          <a:srcRect t="-3451" b="-3451"/>
          <a:stretch>
            <a:fillRect/>
          </a:stretch>
        </p:blipFill>
        <p:spPr>
          <a:xfrm>
            <a:off x="4526923" y="2837196"/>
            <a:ext cx="2804786" cy="3657600"/>
          </a:xfrm>
          <a:prstGeom prst="rect">
            <a:avLst/>
          </a:prstGeom>
        </p:spPr>
      </p:pic>
      <p:sp>
        <p:nvSpPr>
          <p:cNvPr id="18" name="Text Placeholder 13">
            <a:extLst>
              <a:ext uri="{FF2B5EF4-FFF2-40B4-BE49-F238E27FC236}">
                <a16:creationId xmlns:a16="http://schemas.microsoft.com/office/drawing/2014/main" id="{4C9E7ABE-2937-6543-8264-622FC504E1D7}"/>
              </a:ext>
            </a:extLst>
          </p:cNvPr>
          <p:cNvSpPr txBox="1">
            <a:spLocks/>
          </p:cNvSpPr>
          <p:nvPr/>
        </p:nvSpPr>
        <p:spPr>
          <a:xfrm>
            <a:off x="7341560" y="5595957"/>
            <a:ext cx="3555367" cy="77884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solidFill>
                  <a:srgbClr val="000000"/>
                </a:solidFill>
              </a:rPr>
              <a:t>The positions and velocities at 1-s intervals of a ball thrown downward from a tall building at 4.9 m/s.</a:t>
            </a:r>
          </a:p>
        </p:txBody>
      </p:sp>
      <p:sp>
        <p:nvSpPr>
          <p:cNvPr id="10" name="Rectangle 9">
            <a:extLst>
              <a:ext uri="{FF2B5EF4-FFF2-40B4-BE49-F238E27FC236}">
                <a16:creationId xmlns:a16="http://schemas.microsoft.com/office/drawing/2014/main" id="{1FB0CD42-D60C-0C44-A1D5-593DA6203069}"/>
              </a:ext>
            </a:extLst>
          </p:cNvPr>
          <p:cNvSpPr/>
          <p:nvPr/>
        </p:nvSpPr>
        <p:spPr>
          <a:xfrm>
            <a:off x="7568831" y="3187847"/>
            <a:ext cx="4555493" cy="2308324"/>
          </a:xfrm>
          <a:prstGeom prst="rect">
            <a:avLst/>
          </a:prstGeom>
        </p:spPr>
        <p:txBody>
          <a:bodyPr wrap="square">
            <a:spAutoFit/>
          </a:bodyPr>
          <a:lstStyle/>
          <a:p>
            <a:r>
              <a:rPr lang="en-US" dirty="0">
                <a:solidFill>
                  <a:srgbClr val="000066"/>
                </a:solidFill>
                <a:latin typeface="LiberationSans"/>
              </a:rPr>
              <a:t>Figure </a:t>
            </a:r>
            <a:r>
              <a:rPr lang="en-US" dirty="0">
                <a:solidFill>
                  <a:srgbClr val="000066"/>
                </a:solidFill>
                <a:latin typeface="LiberationSerif"/>
              </a:rPr>
              <a:t>shows the positions of a ball, at 1-s intervals, with an initial velocity of 4.9 m/s downward, that is thrown from the top of a 98-m-high building. </a:t>
            </a:r>
          </a:p>
          <a:p>
            <a:pPr marL="342900" indent="-342900">
              <a:buAutoNum type="alphaLcParenBoth"/>
            </a:pPr>
            <a:r>
              <a:rPr lang="en-US" dirty="0">
                <a:solidFill>
                  <a:srgbClr val="000066"/>
                </a:solidFill>
                <a:latin typeface="LiberationSerif"/>
              </a:rPr>
              <a:t>How much time elapses before the ball reaches the ground?</a:t>
            </a:r>
          </a:p>
          <a:p>
            <a:pPr marL="342900" indent="-342900">
              <a:buAutoNum type="alphaLcParenBoth"/>
            </a:pPr>
            <a:r>
              <a:rPr lang="en-US" dirty="0">
                <a:solidFill>
                  <a:srgbClr val="000066"/>
                </a:solidFill>
                <a:latin typeface="LiberationSerif"/>
              </a:rPr>
              <a:t>What is the velocity when it arrives at the ground? </a:t>
            </a:r>
            <a:endParaRPr lang="en-US" dirty="0">
              <a:solidFill>
                <a:srgbClr val="000066"/>
              </a:solidFill>
            </a:endParaRPr>
          </a:p>
        </p:txBody>
      </p:sp>
      <p:sp>
        <p:nvSpPr>
          <p:cNvPr id="20" name="Rectangle 19">
            <a:extLst>
              <a:ext uri="{FF2B5EF4-FFF2-40B4-BE49-F238E27FC236}">
                <a16:creationId xmlns:a16="http://schemas.microsoft.com/office/drawing/2014/main" id="{D1406631-FF8E-1447-9513-7E17A3AA401B}"/>
              </a:ext>
            </a:extLst>
          </p:cNvPr>
          <p:cNvSpPr/>
          <p:nvPr/>
        </p:nvSpPr>
        <p:spPr>
          <a:xfrm>
            <a:off x="7568831" y="2833867"/>
            <a:ext cx="1152623" cy="430887"/>
          </a:xfrm>
          <a:prstGeom prst="rect">
            <a:avLst/>
          </a:prstGeom>
        </p:spPr>
        <p:txBody>
          <a:bodyPr wrap="none">
            <a:spAutoFit/>
          </a:bodyPr>
          <a:lstStyle/>
          <a:p>
            <a:r>
              <a:rPr lang="en-US" sz="2200" dirty="0">
                <a:solidFill>
                  <a:srgbClr val="008000"/>
                </a:solidFill>
              </a:rPr>
              <a:t>Example</a:t>
            </a:r>
            <a:endParaRPr lang="en-US" sz="2200" dirty="0"/>
          </a:p>
        </p:txBody>
      </p:sp>
    </p:spTree>
    <p:extLst>
      <p:ext uri="{BB962C8B-B14F-4D97-AF65-F5344CB8AC3E}">
        <p14:creationId xmlns:p14="http://schemas.microsoft.com/office/powerpoint/2010/main" val="27417567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L:\Clients\Connexions\01_CNX_ Admin\00_OSC_Project_Resources\14_OSC_Production\PowerPoints\OSX-Stacked-TM-CMYK-300dp1-2016.jpg">
            <a:extLst>
              <a:ext uri="{FF2B5EF4-FFF2-40B4-BE49-F238E27FC236}">
                <a16:creationId xmlns:a16="http://schemas.microsoft.com/office/drawing/2014/main" id="{B8FFED19-C635-4D44-83B4-B18507ECDDF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1074549" y="89044"/>
            <a:ext cx="1049775" cy="713232"/>
          </a:xfrm>
          <a:prstGeom prst="rect">
            <a:avLst/>
          </a:prstGeom>
          <a:noFill/>
          <a:extLst>
            <a:ext uri="{909E8E84-426E-40dd-AFC4-6F175D3DCCD1}">
              <a14:hiddenFill xmlns=""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91BCDE13-F902-E842-9904-BFF240283A36}"/>
              </a:ext>
            </a:extLst>
          </p:cNvPr>
          <p:cNvSpPr/>
          <p:nvPr/>
        </p:nvSpPr>
        <p:spPr>
          <a:xfrm>
            <a:off x="4657731" y="89044"/>
            <a:ext cx="2543170" cy="523220"/>
          </a:xfrm>
          <a:prstGeom prst="rect">
            <a:avLst/>
          </a:prstGeom>
        </p:spPr>
        <p:txBody>
          <a:bodyPr wrap="square">
            <a:spAutoFit/>
          </a:bodyPr>
          <a:lstStyle/>
          <a:p>
            <a:r>
              <a:rPr lang="en-US" sz="2800" dirty="0">
                <a:solidFill>
                  <a:srgbClr val="C00000"/>
                </a:solidFill>
                <a:latin typeface="NewBaskervilleStd-Roman"/>
              </a:rPr>
              <a:t>Free Fall </a:t>
            </a:r>
          </a:p>
        </p:txBody>
      </p:sp>
      <p:sp>
        <p:nvSpPr>
          <p:cNvPr id="2" name="Rectangle 1">
            <a:extLst>
              <a:ext uri="{FF2B5EF4-FFF2-40B4-BE49-F238E27FC236}">
                <a16:creationId xmlns:a16="http://schemas.microsoft.com/office/drawing/2014/main" id="{C931C57C-B2CA-2741-8A8D-FA092E6ACA24}"/>
              </a:ext>
            </a:extLst>
          </p:cNvPr>
          <p:cNvSpPr/>
          <p:nvPr/>
        </p:nvSpPr>
        <p:spPr>
          <a:xfrm>
            <a:off x="742951" y="612264"/>
            <a:ext cx="9501187" cy="769441"/>
          </a:xfrm>
          <a:prstGeom prst="rect">
            <a:avLst/>
          </a:prstGeom>
        </p:spPr>
        <p:txBody>
          <a:bodyPr wrap="square">
            <a:spAutoFit/>
          </a:bodyPr>
          <a:lstStyle/>
          <a:p>
            <a:r>
              <a:rPr lang="en-US" sz="2200" i="1" dirty="0">
                <a:solidFill>
                  <a:srgbClr val="C00000"/>
                </a:solidFill>
                <a:latin typeface="LiberationSerif"/>
              </a:rPr>
              <a:t>Free fall</a:t>
            </a:r>
            <a:r>
              <a:rPr lang="en-US" sz="2200" dirty="0">
                <a:solidFill>
                  <a:srgbClr val="C00000"/>
                </a:solidFill>
                <a:latin typeface="LiberationSerif"/>
              </a:rPr>
              <a:t> </a:t>
            </a:r>
            <a:r>
              <a:rPr lang="en-US" sz="2200" dirty="0">
                <a:solidFill>
                  <a:srgbClr val="000066"/>
                </a:solidFill>
                <a:latin typeface="LiberationSerif"/>
              </a:rPr>
              <a:t>describes the motion of an object falling in a gravitational field, such as near the surface of Earth.</a:t>
            </a:r>
            <a:endParaRPr lang="en-US" sz="2200" dirty="0">
              <a:solidFill>
                <a:srgbClr val="000066"/>
              </a:solidFill>
            </a:endParaRPr>
          </a:p>
        </p:txBody>
      </p:sp>
      <p:sp>
        <p:nvSpPr>
          <p:cNvPr id="3" name="Rectangle 2">
            <a:extLst>
              <a:ext uri="{FF2B5EF4-FFF2-40B4-BE49-F238E27FC236}">
                <a16:creationId xmlns:a16="http://schemas.microsoft.com/office/drawing/2014/main" id="{9256C471-B0B8-E148-8A7C-07D03DCE735F}"/>
              </a:ext>
            </a:extLst>
          </p:cNvPr>
          <p:cNvSpPr/>
          <p:nvPr/>
        </p:nvSpPr>
        <p:spPr>
          <a:xfrm>
            <a:off x="773906" y="1550982"/>
            <a:ext cx="10644188" cy="707886"/>
          </a:xfrm>
          <a:prstGeom prst="rect">
            <a:avLst/>
          </a:prstGeom>
        </p:spPr>
        <p:txBody>
          <a:bodyPr wrap="square">
            <a:spAutoFit/>
          </a:bodyPr>
          <a:lstStyle/>
          <a:p>
            <a:r>
              <a:rPr lang="en-US" sz="2000" dirty="0">
                <a:latin typeface="LiberationSerif"/>
              </a:rPr>
              <a:t>If air resistance and friction are negligible, then in a given location all objects fall toward the center of Earth with the </a:t>
            </a:r>
            <a:r>
              <a:rPr lang="en-US" sz="2000" i="1" dirty="0">
                <a:solidFill>
                  <a:srgbClr val="C00000"/>
                </a:solidFill>
                <a:latin typeface="LiberationSerif"/>
              </a:rPr>
              <a:t>same constant acceleration</a:t>
            </a:r>
            <a:r>
              <a:rPr lang="en-US" sz="2000" dirty="0">
                <a:solidFill>
                  <a:srgbClr val="C00000"/>
                </a:solidFill>
                <a:latin typeface="LiberationSerif"/>
              </a:rPr>
              <a:t>, </a:t>
            </a:r>
            <a:r>
              <a:rPr lang="en-US" sz="2000" i="1" dirty="0">
                <a:solidFill>
                  <a:srgbClr val="C00000"/>
                </a:solidFill>
                <a:latin typeface="LiberationSerif"/>
              </a:rPr>
              <a:t>independent of their mass</a:t>
            </a:r>
            <a:r>
              <a:rPr lang="en-US" sz="2000" dirty="0">
                <a:solidFill>
                  <a:srgbClr val="C00000"/>
                </a:solidFill>
                <a:latin typeface="LiberationSerif"/>
              </a:rPr>
              <a:t>. </a:t>
            </a:r>
            <a:endParaRPr lang="en-US" sz="2000" dirty="0">
              <a:solidFill>
                <a:srgbClr val="C00000"/>
              </a:solidFill>
            </a:endParaRPr>
          </a:p>
        </p:txBody>
      </p:sp>
      <p:sp>
        <p:nvSpPr>
          <p:cNvPr id="4" name="Rectangle 3">
            <a:extLst>
              <a:ext uri="{FF2B5EF4-FFF2-40B4-BE49-F238E27FC236}">
                <a16:creationId xmlns:a16="http://schemas.microsoft.com/office/drawing/2014/main" id="{CFDCA6AA-AD0C-6646-826A-23FAFD1BBD04}"/>
              </a:ext>
            </a:extLst>
          </p:cNvPr>
          <p:cNvSpPr/>
          <p:nvPr/>
        </p:nvSpPr>
        <p:spPr>
          <a:xfrm>
            <a:off x="742951" y="2428145"/>
            <a:ext cx="2946576" cy="369332"/>
          </a:xfrm>
          <a:prstGeom prst="rect">
            <a:avLst/>
          </a:prstGeom>
        </p:spPr>
        <p:txBody>
          <a:bodyPr wrap="none">
            <a:spAutoFit/>
          </a:bodyPr>
          <a:lstStyle/>
          <a:p>
            <a:r>
              <a:rPr lang="en-US" dirty="0">
                <a:solidFill>
                  <a:srgbClr val="C00000"/>
                </a:solidFill>
                <a:latin typeface="LiberationSerif"/>
              </a:rPr>
              <a:t>Acceleration due to gravity is </a:t>
            </a:r>
            <a:endParaRPr lang="en-US" dirty="0">
              <a:solidFill>
                <a:srgbClr val="C00000"/>
              </a:solidFill>
            </a:endParaRPr>
          </a:p>
        </p:txBody>
      </p:sp>
      <p:sp>
        <p:nvSpPr>
          <p:cNvPr id="9" name="Rectangle 8">
            <a:extLst>
              <a:ext uri="{FF2B5EF4-FFF2-40B4-BE49-F238E27FC236}">
                <a16:creationId xmlns:a16="http://schemas.microsoft.com/office/drawing/2014/main" id="{0ED231B0-3A57-5248-B383-D41485905D51}"/>
              </a:ext>
            </a:extLst>
          </p:cNvPr>
          <p:cNvSpPr/>
          <p:nvPr/>
        </p:nvSpPr>
        <p:spPr>
          <a:xfrm>
            <a:off x="773906" y="3183361"/>
            <a:ext cx="3287505" cy="1754326"/>
          </a:xfrm>
          <a:prstGeom prst="rect">
            <a:avLst/>
          </a:prstGeom>
        </p:spPr>
        <p:txBody>
          <a:bodyPr wrap="square">
            <a:spAutoFit/>
          </a:bodyPr>
          <a:lstStyle/>
          <a:p>
            <a:r>
              <a:rPr lang="en-US" dirty="0">
                <a:solidFill>
                  <a:srgbClr val="008000"/>
                </a:solidFill>
                <a:latin typeface="LiberationSerif"/>
              </a:rPr>
              <a:t>If we define the upward direction as positive, then</a:t>
            </a:r>
          </a:p>
          <a:p>
            <a:endParaRPr lang="en-US" dirty="0">
              <a:solidFill>
                <a:srgbClr val="008000"/>
              </a:solidFill>
              <a:latin typeface="LiberationSerif"/>
            </a:endParaRPr>
          </a:p>
          <a:p>
            <a:endParaRPr lang="en-US" dirty="0">
              <a:solidFill>
                <a:srgbClr val="008000"/>
              </a:solidFill>
              <a:latin typeface="LiberationSerif"/>
            </a:endParaRPr>
          </a:p>
          <a:p>
            <a:r>
              <a:rPr lang="en-US" dirty="0">
                <a:solidFill>
                  <a:srgbClr val="008000"/>
                </a:solidFill>
                <a:latin typeface="LiberationSerif"/>
              </a:rPr>
              <a:t>And our kinematic equations for y direction become </a:t>
            </a:r>
            <a:endParaRPr lang="en-US" dirty="0">
              <a:solidFill>
                <a:srgbClr val="008000"/>
              </a:solidFill>
            </a:endParaRPr>
          </a:p>
        </p:txBody>
      </p:sp>
      <p:pic>
        <p:nvPicPr>
          <p:cNvPr id="11" name="Picture 10" descr="A white background with black text&#10;&#10;Description automatically generated with low confidence">
            <a:extLst>
              <a:ext uri="{FF2B5EF4-FFF2-40B4-BE49-F238E27FC236}">
                <a16:creationId xmlns:a16="http://schemas.microsoft.com/office/drawing/2014/main" id="{C69A4677-C8FC-C04A-8CCA-66968D2163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6675" y="2727397"/>
            <a:ext cx="1696065" cy="457200"/>
          </a:xfrm>
          <a:prstGeom prst="rect">
            <a:avLst/>
          </a:prstGeom>
        </p:spPr>
      </p:pic>
      <p:pic>
        <p:nvPicPr>
          <p:cNvPr id="13" name="Picture 12" descr="A picture containing text&#10;&#10;Description automatically generated">
            <a:extLst>
              <a:ext uri="{FF2B5EF4-FFF2-40B4-BE49-F238E27FC236}">
                <a16:creationId xmlns:a16="http://schemas.microsoft.com/office/drawing/2014/main" id="{F6392BE8-0286-4849-8239-E63E529636D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5084" y="3878262"/>
            <a:ext cx="2142309" cy="365760"/>
          </a:xfrm>
          <a:prstGeom prst="rect">
            <a:avLst/>
          </a:prstGeom>
        </p:spPr>
      </p:pic>
      <p:pic>
        <p:nvPicPr>
          <p:cNvPr id="15" name="Picture 14" descr="Text&#10;&#10;Description automatically generated">
            <a:extLst>
              <a:ext uri="{FF2B5EF4-FFF2-40B4-BE49-F238E27FC236}">
                <a16:creationId xmlns:a16="http://schemas.microsoft.com/office/drawing/2014/main" id="{C7C2CEB8-1F6B-DC4C-92A3-E892ABA4CB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3594" y="4958839"/>
            <a:ext cx="2702225" cy="1600200"/>
          </a:xfrm>
          <a:prstGeom prst="rect">
            <a:avLst/>
          </a:prstGeom>
        </p:spPr>
      </p:pic>
      <p:pic>
        <p:nvPicPr>
          <p:cNvPr id="17" name="Picture 16" descr="Diagram&#10;&#10;Description automatically generated with low confidence">
            <a:extLst>
              <a:ext uri="{FF2B5EF4-FFF2-40B4-BE49-F238E27FC236}">
                <a16:creationId xmlns:a16="http://schemas.microsoft.com/office/drawing/2014/main" id="{B11CC2ED-1211-0E4B-9281-A013649867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37508" y="2909180"/>
            <a:ext cx="922215" cy="914400"/>
          </a:xfrm>
          <a:prstGeom prst="rect">
            <a:avLst/>
          </a:prstGeom>
        </p:spPr>
      </p:pic>
      <p:sp>
        <p:nvSpPr>
          <p:cNvPr id="19" name="Rectangle 18">
            <a:extLst>
              <a:ext uri="{FF2B5EF4-FFF2-40B4-BE49-F238E27FC236}">
                <a16:creationId xmlns:a16="http://schemas.microsoft.com/office/drawing/2014/main" id="{B7F09608-B2DA-B84E-BD86-DAFAF0043B23}"/>
              </a:ext>
            </a:extLst>
          </p:cNvPr>
          <p:cNvSpPr/>
          <p:nvPr/>
        </p:nvSpPr>
        <p:spPr>
          <a:xfrm>
            <a:off x="3649968" y="2837196"/>
            <a:ext cx="293670" cy="369332"/>
          </a:xfrm>
          <a:prstGeom prst="rect">
            <a:avLst/>
          </a:prstGeom>
        </p:spPr>
        <p:txBody>
          <a:bodyPr wrap="none">
            <a:spAutoFit/>
          </a:bodyPr>
          <a:lstStyle/>
          <a:p>
            <a:r>
              <a:rPr lang="en-US" b="1" dirty="0">
                <a:solidFill>
                  <a:srgbClr val="C00000"/>
                </a:solidFill>
                <a:latin typeface="LiberationSerif"/>
              </a:rPr>
              <a:t>g</a:t>
            </a:r>
            <a:endParaRPr lang="en-US" b="1" dirty="0"/>
          </a:p>
        </p:txBody>
      </p:sp>
      <p:cxnSp>
        <p:nvCxnSpPr>
          <p:cNvPr id="21" name="Straight Arrow Connector 20">
            <a:extLst>
              <a:ext uri="{FF2B5EF4-FFF2-40B4-BE49-F238E27FC236}">
                <a16:creationId xmlns:a16="http://schemas.microsoft.com/office/drawing/2014/main" id="{0AE2BA2D-EB47-FB4C-A679-88A991564D9B}"/>
              </a:ext>
            </a:extLst>
          </p:cNvPr>
          <p:cNvCxnSpPr>
            <a:cxnSpLocks/>
          </p:cNvCxnSpPr>
          <p:nvPr/>
        </p:nvCxnSpPr>
        <p:spPr>
          <a:xfrm>
            <a:off x="3678544" y="2964710"/>
            <a:ext cx="0" cy="32141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22" name="Rectangle 21">
            <a:extLst>
              <a:ext uri="{FF2B5EF4-FFF2-40B4-BE49-F238E27FC236}">
                <a16:creationId xmlns:a16="http://schemas.microsoft.com/office/drawing/2014/main" id="{BEB69CEB-38B9-4246-8C73-C470B98DF442}"/>
              </a:ext>
            </a:extLst>
          </p:cNvPr>
          <p:cNvSpPr/>
          <p:nvPr/>
        </p:nvSpPr>
        <p:spPr>
          <a:xfrm>
            <a:off x="4710494" y="3823580"/>
            <a:ext cx="5195886" cy="400110"/>
          </a:xfrm>
          <a:prstGeom prst="rect">
            <a:avLst/>
          </a:prstGeom>
        </p:spPr>
        <p:txBody>
          <a:bodyPr wrap="square">
            <a:spAutoFit/>
          </a:bodyPr>
          <a:lstStyle/>
          <a:p>
            <a:r>
              <a:rPr lang="en-US" sz="2000" dirty="0">
                <a:solidFill>
                  <a:srgbClr val="0000CC"/>
                </a:solidFill>
              </a:rPr>
              <a:t>Assignment 9</a:t>
            </a:r>
          </a:p>
        </p:txBody>
      </p:sp>
      <p:pic>
        <p:nvPicPr>
          <p:cNvPr id="8" name="Picture 7" descr="Text&#10;&#10;Description automatically generated">
            <a:extLst>
              <a:ext uri="{FF2B5EF4-FFF2-40B4-BE49-F238E27FC236}">
                <a16:creationId xmlns:a16="http://schemas.microsoft.com/office/drawing/2014/main" id="{06BB6911-7862-C842-8D00-62D2A579376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10494" y="4245926"/>
            <a:ext cx="7092244" cy="1600200"/>
          </a:xfrm>
          <a:prstGeom prst="rect">
            <a:avLst/>
          </a:prstGeom>
        </p:spPr>
      </p:pic>
    </p:spTree>
    <p:extLst>
      <p:ext uri="{BB962C8B-B14F-4D97-AF65-F5344CB8AC3E}">
        <p14:creationId xmlns:p14="http://schemas.microsoft.com/office/powerpoint/2010/main" val="1886486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9BB3579-A34D-462C-BD05-B0BFCC66F7F5}"/>
              </a:ext>
            </a:extLst>
          </p:cNvPr>
          <p:cNvSpPr>
            <a:spLocks noGrp="1"/>
          </p:cNvSpPr>
          <p:nvPr>
            <p:ph type="title"/>
          </p:nvPr>
        </p:nvSpPr>
        <p:spPr/>
        <p:txBody>
          <a:bodyPr>
            <a:normAutofit/>
          </a:bodyPr>
          <a:lstStyle/>
          <a:p>
            <a:r>
              <a:rPr lang="en-US" dirty="0"/>
              <a:t>Attribution</a:t>
            </a:r>
          </a:p>
        </p:txBody>
      </p:sp>
      <p:sp>
        <p:nvSpPr>
          <p:cNvPr id="13" name="Text Placeholder 12">
            <a:extLst>
              <a:ext uri="{FF2B5EF4-FFF2-40B4-BE49-F238E27FC236}">
                <a16:creationId xmlns:a16="http://schemas.microsoft.com/office/drawing/2014/main" id="{1D300BD5-7725-41CA-8827-BBF2FEBB4465}"/>
              </a:ext>
            </a:extLst>
          </p:cNvPr>
          <p:cNvSpPr>
            <a:spLocks noGrp="1"/>
          </p:cNvSpPr>
          <p:nvPr>
            <p:ph type="body" idx="1"/>
          </p:nvPr>
        </p:nvSpPr>
        <p:spPr/>
        <p:txBody>
          <a:bodyPr/>
          <a:lstStyle/>
          <a:p>
            <a:r>
              <a:rPr lang="en-US" dirty="0"/>
              <a:t>These slides are a derivative of the “</a:t>
            </a:r>
            <a:r>
              <a:rPr lang="en-US" dirty="0">
                <a:hlinkClick r:id="rId2"/>
              </a:rPr>
              <a:t>University Physics Vol. 1</a:t>
            </a:r>
            <a:r>
              <a:rPr lang="en-US" dirty="0"/>
              <a:t>” slides by </a:t>
            </a:r>
            <a:r>
              <a:rPr lang="en-US" dirty="0">
                <a:hlinkClick r:id="rId3"/>
              </a:rPr>
              <a:t>OpenStax</a:t>
            </a:r>
            <a:r>
              <a:rPr lang="en-US" dirty="0"/>
              <a:t>, used under a </a:t>
            </a:r>
            <a:r>
              <a:rPr lang="en-US" dirty="0">
                <a:hlinkClick r:id="rId4"/>
              </a:rPr>
              <a:t>Creative Commons Attribution 4.0 </a:t>
            </a:r>
            <a:r>
              <a:rPr lang="en-US" dirty="0"/>
              <a:t>license by Mkhitar Hobosyan.</a:t>
            </a:r>
          </a:p>
        </p:txBody>
      </p:sp>
    </p:spTree>
    <p:extLst>
      <p:ext uri="{BB962C8B-B14F-4D97-AF65-F5344CB8AC3E}">
        <p14:creationId xmlns:p14="http://schemas.microsoft.com/office/powerpoint/2010/main" val="23226454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3961</TotalTime>
  <Words>3088</Words>
  <Application>Microsoft Office PowerPoint</Application>
  <PresentationFormat>Widescreen</PresentationFormat>
  <Paragraphs>207</Paragraphs>
  <Slides>26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Calibri</vt:lpstr>
      <vt:lpstr>Calibri Light</vt:lpstr>
      <vt:lpstr>Cambria Math</vt:lpstr>
      <vt:lpstr>LiberationSans</vt:lpstr>
      <vt:lpstr>LiberationSerif</vt:lpstr>
      <vt:lpstr>NewBaskervilleStd-Roman</vt:lpstr>
      <vt:lpstr>STIXGeneral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Attribution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Mkhitar Hobosyan</dc:creator>
  <cp:lastModifiedBy>Justin White</cp:lastModifiedBy>
  <cp:revision>175</cp:revision>
  <dcterms:created xsi:type="dcterms:W3CDTF">2020-07-24T02:56:39Z</dcterms:created>
  <dcterms:modified xsi:type="dcterms:W3CDTF">2021-12-15T17:52:41Z</dcterms:modified>
</cp:coreProperties>
</file>