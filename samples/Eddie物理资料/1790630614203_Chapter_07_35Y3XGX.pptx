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98" r:id="rId2"/>
    <p:sldId id="512" r:id="rId3"/>
    <p:sldId id="517" r:id="rId4"/>
    <p:sldId id="518" r:id="rId5"/>
    <p:sldId id="519" r:id="rId6"/>
    <p:sldId id="529" r:id="rId7"/>
    <p:sldId id="520" r:id="rId8"/>
    <p:sldId id="531" r:id="rId9"/>
    <p:sldId id="532" r:id="rId10"/>
    <p:sldId id="521" r:id="rId11"/>
    <p:sldId id="535" r:id="rId12"/>
    <p:sldId id="536" r:id="rId13"/>
    <p:sldId id="533" r:id="rId14"/>
    <p:sldId id="537" r:id="rId15"/>
    <p:sldId id="538" r:id="rId16"/>
    <p:sldId id="539" r:id="rId17"/>
    <p:sldId id="540" r:id="rId18"/>
    <p:sldId id="542" r:id="rId19"/>
    <p:sldId id="547" r:id="rId20"/>
    <p:sldId id="548" r:id="rId21"/>
    <p:sldId id="36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008000"/>
    <a:srgbClr val="A50021"/>
    <a:srgbClr val="3B124D"/>
    <a:srgbClr val="0000CC"/>
    <a:srgbClr val="3611D3"/>
    <a:srgbClr val="FF6600"/>
    <a:srgbClr val="F1DBB7"/>
    <a:srgbClr val="FFE3BD"/>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927" autoAdjust="0"/>
    <p:restoredTop sz="94270" autoAdjust="0"/>
  </p:normalViewPr>
  <p:slideViewPr>
    <p:cSldViewPr snapToGrid="0">
      <p:cViewPr varScale="1">
        <p:scale>
          <a:sx n="77" d="100"/>
          <a:sy n="77" d="100"/>
        </p:scale>
        <p:origin x="86" y="14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8A8A30-7305-4ECD-9707-8185AE31915A}" type="datetimeFigureOut">
              <a:rPr lang="en-US" smtClean="0"/>
              <a:t>12/15/2021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A271F1-787B-4F17-8E58-0893057F05A7}" type="slidenum">
              <a:rPr lang="en-US" smtClean="0"/>
              <a:t>‹#›</a:t>
            </a:fld>
            <a:endParaRPr lang="en-US"/>
          </a:p>
        </p:txBody>
      </p:sp>
    </p:spTree>
    <p:extLst>
      <p:ext uri="{BB962C8B-B14F-4D97-AF65-F5344CB8AC3E}">
        <p14:creationId xmlns:p14="http://schemas.microsoft.com/office/powerpoint/2010/main" val="1295167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7923343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6773116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20256117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6CE86D-487B-4DC5-AD96-B605C5D30EBA}" type="datetimeFigureOut">
              <a:rPr lang="en-US" smtClean="0"/>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9486571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6CE86D-487B-4DC5-AD96-B605C5D30EBA}" type="datetimeFigureOut">
              <a:rPr lang="en-US" smtClean="0"/>
              <a:t>12/15/2021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23568542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6CE86D-487B-4DC5-AD96-B605C5D30EBA}" type="datetimeFigureOut">
              <a:rPr lang="en-US" smtClean="0"/>
              <a:t>12/15/2021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17110350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6CE86D-487B-4DC5-AD96-B605C5D30EBA}" type="datetimeFigureOut">
              <a:rPr lang="en-US" smtClean="0"/>
              <a:t>12/15/2021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2649651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6CE86D-487B-4DC5-AD96-B605C5D30EBA}" type="datetimeFigureOut">
              <a:rPr lang="en-US" smtClean="0"/>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5890743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6CE86D-487B-4DC5-AD96-B605C5D30EBA}" type="datetimeFigureOut">
              <a:rPr lang="en-US" smtClean="0"/>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4917863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2419522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14244272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6CE86D-487B-4DC5-AD96-B605C5D30EBA}" type="datetimeFigureOut">
              <a:rPr lang="en-US" smtClean="0"/>
              <a:t>12/15/2021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A1DDD8-2086-495A-9395-F2E7DBF98025}" type="slidenum">
              <a:rPr lang="en-US" smtClean="0"/>
              <a:t>‹#›</a:t>
            </a:fld>
            <a:endParaRPr lang="en-US"/>
          </a:p>
        </p:txBody>
      </p:sp>
    </p:spTree>
    <p:extLst>
      <p:ext uri="{BB962C8B-B14F-4D97-AF65-F5344CB8AC3E}">
        <p14:creationId xmlns:p14="http://schemas.microsoft.com/office/powerpoint/2010/main" val="18687958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openstax.org/details/books/university-physics-volume-1"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35.jpeg"/></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openstax.org/" TargetMode="External"/><Relationship Id="rId2" Type="http://schemas.openxmlformats.org/officeDocument/2006/relationships/hyperlink" Target="https://openstax.org/details/books/university-physics-volume-1" TargetMode="External"/><Relationship Id="rId1" Type="http://schemas.openxmlformats.org/officeDocument/2006/relationships/slideLayout" Target="../slideLayouts/slideLayout3.xml"/><Relationship Id="rId4" Type="http://schemas.openxmlformats.org/officeDocument/2006/relationships/hyperlink" Target="https://creativecommons.org/licenses/by/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3000" r="-41000"/>
          </a:stretch>
        </a:blipFill>
        <a:effectLst/>
      </p:bgPr>
    </p:bg>
    <p:spTree>
      <p:nvGrpSpPr>
        <p:cNvPr id="1" name=""/>
        <p:cNvGrpSpPr/>
        <p:nvPr/>
      </p:nvGrpSpPr>
      <p:grpSpPr>
        <a:xfrm>
          <a:off x="0" y="0"/>
          <a:ext cx="0" cy="0"/>
          <a:chOff x="0" y="0"/>
          <a:chExt cx="0" cy="0"/>
        </a:xfrm>
      </p:grpSpPr>
      <p:sp>
        <p:nvSpPr>
          <p:cNvPr id="70" name="Freeform: Shape 69">
            <a:extLst>
              <a:ext uri="{FF2B5EF4-FFF2-40B4-BE49-F238E27FC236}">
                <a16:creationId xmlns:a16="http://schemas.microsoft.com/office/drawing/2014/main" id="{0C526D66-3621-4347-B1EF-342CBF4DB9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83466"/>
            <a:ext cx="5393770" cy="6374535"/>
          </a:xfrm>
          <a:custGeom>
            <a:avLst/>
            <a:gdLst>
              <a:gd name="connsiteX0" fmla="*/ 2047752 w 5393770"/>
              <a:gd name="connsiteY0" fmla="*/ 0 h 6374535"/>
              <a:gd name="connsiteX1" fmla="*/ 5393770 w 5393770"/>
              <a:gd name="connsiteY1" fmla="*/ 3346018 h 6374535"/>
              <a:gd name="connsiteX2" fmla="*/ 3642663 w 5393770"/>
              <a:gd name="connsiteY2" fmla="*/ 6288190 h 6374535"/>
              <a:gd name="connsiteX3" fmla="*/ 3463422 w 5393770"/>
              <a:gd name="connsiteY3" fmla="*/ 6374535 h 6374535"/>
              <a:gd name="connsiteX4" fmla="*/ 624279 w 5393770"/>
              <a:gd name="connsiteY4" fmla="*/ 6374535 h 6374535"/>
              <a:gd name="connsiteX5" fmla="*/ 382249 w 5393770"/>
              <a:gd name="connsiteY5" fmla="*/ 6248727 h 6374535"/>
              <a:gd name="connsiteX6" fmla="*/ 143729 w 5393770"/>
              <a:gd name="connsiteY6" fmla="*/ 6097845 h 6374535"/>
              <a:gd name="connsiteX7" fmla="*/ 0 w 5393770"/>
              <a:gd name="connsiteY7" fmla="*/ 5989017 h 6374535"/>
              <a:gd name="connsiteX8" fmla="*/ 0 w 5393770"/>
              <a:gd name="connsiteY8" fmla="*/ 703020 h 6374535"/>
              <a:gd name="connsiteX9" fmla="*/ 143728 w 5393770"/>
              <a:gd name="connsiteY9" fmla="*/ 594191 h 6374535"/>
              <a:gd name="connsiteX10" fmla="*/ 2047752 w 5393770"/>
              <a:gd name="connsiteY10" fmla="*/ 0 h 6374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93770" h="6374535">
                <a:moveTo>
                  <a:pt x="2047752" y="0"/>
                </a:moveTo>
                <a:cubicBezTo>
                  <a:pt x="3895707" y="0"/>
                  <a:pt x="5393770" y="1498063"/>
                  <a:pt x="5393770" y="3346018"/>
                </a:cubicBezTo>
                <a:cubicBezTo>
                  <a:pt x="5393770" y="4616487"/>
                  <a:pt x="4685701" y="5721578"/>
                  <a:pt x="3642663" y="6288190"/>
                </a:cubicBezTo>
                <a:lnTo>
                  <a:pt x="3463422" y="6374535"/>
                </a:lnTo>
                <a:lnTo>
                  <a:pt x="624279" y="6374535"/>
                </a:lnTo>
                <a:lnTo>
                  <a:pt x="382249" y="6248727"/>
                </a:lnTo>
                <a:cubicBezTo>
                  <a:pt x="300507" y="6201724"/>
                  <a:pt x="220937" y="6151368"/>
                  <a:pt x="143729" y="6097845"/>
                </a:cubicBezTo>
                <a:lnTo>
                  <a:pt x="0" y="5989017"/>
                </a:lnTo>
                <a:lnTo>
                  <a:pt x="0" y="703020"/>
                </a:lnTo>
                <a:lnTo>
                  <a:pt x="143728" y="594191"/>
                </a:lnTo>
                <a:cubicBezTo>
                  <a:pt x="684187" y="219535"/>
                  <a:pt x="1340332" y="0"/>
                  <a:pt x="2047752"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2" name="Freeform: Shape 71">
            <a:extLst>
              <a:ext uri="{FF2B5EF4-FFF2-40B4-BE49-F238E27FC236}">
                <a16:creationId xmlns:a16="http://schemas.microsoft.com/office/drawing/2014/main" id="{0193166D-DDF1-4F9A-A786-A7AEF5375C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7373"/>
            <a:ext cx="5229863" cy="6210629"/>
          </a:xfrm>
          <a:custGeom>
            <a:avLst/>
            <a:gdLst>
              <a:gd name="connsiteX0" fmla="*/ 2047751 w 5229863"/>
              <a:gd name="connsiteY0" fmla="*/ 0 h 6210629"/>
              <a:gd name="connsiteX1" fmla="*/ 5229863 w 5229863"/>
              <a:gd name="connsiteY1" fmla="*/ 3182112 h 6210629"/>
              <a:gd name="connsiteX2" fmla="*/ 3286373 w 5229863"/>
              <a:gd name="connsiteY2" fmla="*/ 6114158 h 6210629"/>
              <a:gd name="connsiteX3" fmla="*/ 3022794 w 5229863"/>
              <a:gd name="connsiteY3" fmla="*/ 6210629 h 6210629"/>
              <a:gd name="connsiteX4" fmla="*/ 1077939 w 5229863"/>
              <a:gd name="connsiteY4" fmla="*/ 6210629 h 6210629"/>
              <a:gd name="connsiteX5" fmla="*/ 953634 w 5229863"/>
              <a:gd name="connsiteY5" fmla="*/ 6171135 h 6210629"/>
              <a:gd name="connsiteX6" fmla="*/ 23632 w 5229863"/>
              <a:gd name="connsiteY6" fmla="*/ 5637585 h 6210629"/>
              <a:gd name="connsiteX7" fmla="*/ 0 w 5229863"/>
              <a:gd name="connsiteY7" fmla="*/ 5616107 h 6210629"/>
              <a:gd name="connsiteX8" fmla="*/ 0 w 5229863"/>
              <a:gd name="connsiteY8" fmla="*/ 748118 h 6210629"/>
              <a:gd name="connsiteX9" fmla="*/ 23632 w 5229863"/>
              <a:gd name="connsiteY9" fmla="*/ 726640 h 6210629"/>
              <a:gd name="connsiteX10" fmla="*/ 2047751 w 5229863"/>
              <a:gd name="connsiteY10" fmla="*/ 0 h 6210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29863" h="6210629">
                <a:moveTo>
                  <a:pt x="2047751" y="0"/>
                </a:moveTo>
                <a:cubicBezTo>
                  <a:pt x="3805183" y="0"/>
                  <a:pt x="5229863" y="1424680"/>
                  <a:pt x="5229863" y="3182112"/>
                </a:cubicBezTo>
                <a:cubicBezTo>
                  <a:pt x="5229863" y="4500186"/>
                  <a:pt x="4428481" y="5631087"/>
                  <a:pt x="3286373" y="6114158"/>
                </a:cubicBezTo>
                <a:lnTo>
                  <a:pt x="3022794" y="6210629"/>
                </a:lnTo>
                <a:lnTo>
                  <a:pt x="1077939" y="6210629"/>
                </a:lnTo>
                <a:lnTo>
                  <a:pt x="953634" y="6171135"/>
                </a:lnTo>
                <a:cubicBezTo>
                  <a:pt x="612471" y="6046219"/>
                  <a:pt x="298661" y="5864559"/>
                  <a:pt x="23632" y="5637585"/>
                </a:cubicBezTo>
                <a:lnTo>
                  <a:pt x="0" y="5616107"/>
                </a:lnTo>
                <a:lnTo>
                  <a:pt x="0" y="748118"/>
                </a:lnTo>
                <a:lnTo>
                  <a:pt x="23632" y="726640"/>
                </a:lnTo>
                <a:cubicBezTo>
                  <a:pt x="573689" y="272693"/>
                  <a:pt x="1278875" y="0"/>
                  <a:pt x="204775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4" name="Freeform: Shape 73">
            <a:extLst>
              <a:ext uri="{FF2B5EF4-FFF2-40B4-BE49-F238E27FC236}">
                <a16:creationId xmlns:a16="http://schemas.microsoft.com/office/drawing/2014/main" id="{8A177BCC-4208-4795-8572-4D623BA1E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33763" y="1"/>
            <a:ext cx="4480560" cy="2513993"/>
          </a:xfrm>
          <a:custGeom>
            <a:avLst/>
            <a:gdLst>
              <a:gd name="connsiteX0" fmla="*/ 18382 w 4480560"/>
              <a:gd name="connsiteY0" fmla="*/ 0 h 2513993"/>
              <a:gd name="connsiteX1" fmla="*/ 4462178 w 4480560"/>
              <a:gd name="connsiteY1" fmla="*/ 0 h 2513993"/>
              <a:gd name="connsiteX2" fmla="*/ 4468994 w 4480560"/>
              <a:gd name="connsiteY2" fmla="*/ 44657 h 2513993"/>
              <a:gd name="connsiteX3" fmla="*/ 4480560 w 4480560"/>
              <a:gd name="connsiteY3" fmla="*/ 273713 h 2513993"/>
              <a:gd name="connsiteX4" fmla="*/ 2240280 w 4480560"/>
              <a:gd name="connsiteY4" fmla="*/ 2513993 h 2513993"/>
              <a:gd name="connsiteX5" fmla="*/ 0 w 4480560"/>
              <a:gd name="connsiteY5" fmla="*/ 273713 h 2513993"/>
              <a:gd name="connsiteX6" fmla="*/ 11567 w 4480560"/>
              <a:gd name="connsiteY6" fmla="*/ 44657 h 2513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80560" h="2513993">
                <a:moveTo>
                  <a:pt x="18382" y="0"/>
                </a:moveTo>
                <a:lnTo>
                  <a:pt x="4462178" y="0"/>
                </a:lnTo>
                <a:lnTo>
                  <a:pt x="4468994" y="44657"/>
                </a:lnTo>
                <a:cubicBezTo>
                  <a:pt x="4476642" y="119969"/>
                  <a:pt x="4480560" y="196384"/>
                  <a:pt x="4480560" y="273713"/>
                </a:cubicBezTo>
                <a:cubicBezTo>
                  <a:pt x="4480560" y="1510985"/>
                  <a:pt x="3477552" y="2513993"/>
                  <a:pt x="2240280" y="2513993"/>
                </a:cubicBezTo>
                <a:cubicBezTo>
                  <a:pt x="1003008" y="2513993"/>
                  <a:pt x="0" y="1510985"/>
                  <a:pt x="0" y="273713"/>
                </a:cubicBezTo>
                <a:cubicBezTo>
                  <a:pt x="0" y="196384"/>
                  <a:pt x="3918" y="119969"/>
                  <a:pt x="11567" y="44657"/>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6" name="Freeform: Shape 75">
            <a:extLst>
              <a:ext uri="{FF2B5EF4-FFF2-40B4-BE49-F238E27FC236}">
                <a16:creationId xmlns:a16="http://schemas.microsoft.com/office/drawing/2014/main" id="{E4EE7214-AC05-465E-A501-65AA04EF5E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98355" y="2"/>
            <a:ext cx="4151376" cy="2349401"/>
          </a:xfrm>
          <a:custGeom>
            <a:avLst/>
            <a:gdLst>
              <a:gd name="connsiteX0" fmla="*/ 20101 w 4151376"/>
              <a:gd name="connsiteY0" fmla="*/ 0 h 2349401"/>
              <a:gd name="connsiteX1" fmla="*/ 4131276 w 4151376"/>
              <a:gd name="connsiteY1" fmla="*/ 0 h 2349401"/>
              <a:gd name="connsiteX2" fmla="*/ 4140659 w 4151376"/>
              <a:gd name="connsiteY2" fmla="*/ 61486 h 2349401"/>
              <a:gd name="connsiteX3" fmla="*/ 4151376 w 4151376"/>
              <a:gd name="connsiteY3" fmla="*/ 273713 h 2349401"/>
              <a:gd name="connsiteX4" fmla="*/ 2075688 w 4151376"/>
              <a:gd name="connsiteY4" fmla="*/ 2349401 h 2349401"/>
              <a:gd name="connsiteX5" fmla="*/ 0 w 4151376"/>
              <a:gd name="connsiteY5" fmla="*/ 273713 h 2349401"/>
              <a:gd name="connsiteX6" fmla="*/ 10717 w 4151376"/>
              <a:gd name="connsiteY6" fmla="*/ 61486 h 2349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51376" h="2349401">
                <a:moveTo>
                  <a:pt x="20101" y="0"/>
                </a:moveTo>
                <a:lnTo>
                  <a:pt x="4131276" y="0"/>
                </a:lnTo>
                <a:lnTo>
                  <a:pt x="4140659" y="61486"/>
                </a:lnTo>
                <a:cubicBezTo>
                  <a:pt x="4147746" y="131265"/>
                  <a:pt x="4151376" y="202065"/>
                  <a:pt x="4151376" y="273713"/>
                </a:cubicBezTo>
                <a:cubicBezTo>
                  <a:pt x="4151376" y="1420084"/>
                  <a:pt x="3222059" y="2349401"/>
                  <a:pt x="2075688" y="2349401"/>
                </a:cubicBezTo>
                <a:cubicBezTo>
                  <a:pt x="929317" y="2349401"/>
                  <a:pt x="0" y="1420084"/>
                  <a:pt x="0" y="273713"/>
                </a:cubicBezTo>
                <a:cubicBezTo>
                  <a:pt x="0" y="202065"/>
                  <a:pt x="3630" y="131265"/>
                  <a:pt x="10717" y="6148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Rectangle 2">
            <a:extLst>
              <a:ext uri="{FF2B5EF4-FFF2-40B4-BE49-F238E27FC236}">
                <a16:creationId xmlns:a16="http://schemas.microsoft.com/office/drawing/2014/main" id="{5E62A1D4-056C-4BD6-8BAE-F355EA770FD7}"/>
              </a:ext>
            </a:extLst>
          </p:cNvPr>
          <p:cNvSpPr txBox="1">
            <a:spLocks/>
          </p:cNvSpPr>
          <p:nvPr/>
        </p:nvSpPr>
        <p:spPr>
          <a:xfrm>
            <a:off x="8962136" y="5139270"/>
            <a:ext cx="3801498" cy="1587648"/>
          </a:xfrm>
          <a:prstGeom prst="rect">
            <a:avLst/>
          </a:prstGeom>
          <a:solidFill>
            <a:schemeClr val="tx1">
              <a:alpha val="0"/>
            </a:schemeClr>
          </a:solidFill>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altLang="en-US" sz="3200" dirty="0">
                <a:solidFill>
                  <a:srgbClr val="00B050"/>
                </a:solidFill>
              </a:rPr>
              <a:t>Chapter 7 </a:t>
            </a:r>
          </a:p>
          <a:p>
            <a:pPr>
              <a:spcAft>
                <a:spcPts val="600"/>
              </a:spcAft>
            </a:pPr>
            <a:r>
              <a:rPr lang="en-US" altLang="en-US" sz="3200" dirty="0">
                <a:solidFill>
                  <a:srgbClr val="00B050"/>
                </a:solidFill>
              </a:rPr>
              <a:t>Work and </a:t>
            </a:r>
          </a:p>
          <a:p>
            <a:pPr>
              <a:spcAft>
                <a:spcPts val="600"/>
              </a:spcAft>
            </a:pPr>
            <a:r>
              <a:rPr lang="en-US" altLang="en-US" sz="3200" dirty="0">
                <a:solidFill>
                  <a:srgbClr val="00B050"/>
                </a:solidFill>
              </a:rPr>
              <a:t>Kinetic Energy</a:t>
            </a:r>
          </a:p>
        </p:txBody>
      </p:sp>
      <p:sp>
        <p:nvSpPr>
          <p:cNvPr id="4" name="Rectangle 2">
            <a:extLst>
              <a:ext uri="{FF2B5EF4-FFF2-40B4-BE49-F238E27FC236}">
                <a16:creationId xmlns:a16="http://schemas.microsoft.com/office/drawing/2014/main" id="{0546D111-6592-4E70-8C6B-D34F7E8A89B8}"/>
              </a:ext>
            </a:extLst>
          </p:cNvPr>
          <p:cNvSpPr txBox="1">
            <a:spLocks/>
          </p:cNvSpPr>
          <p:nvPr/>
        </p:nvSpPr>
        <p:spPr>
          <a:xfrm>
            <a:off x="4578397" y="102044"/>
            <a:ext cx="5756227" cy="158764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altLang="en-US" sz="3200" dirty="0">
                <a:solidFill>
                  <a:srgbClr val="0000CC"/>
                </a:solidFill>
              </a:rPr>
              <a:t>PHYS 2425  </a:t>
            </a:r>
          </a:p>
          <a:p>
            <a:pPr>
              <a:spcAft>
                <a:spcPts val="600"/>
              </a:spcAft>
            </a:pPr>
            <a:r>
              <a:rPr lang="en-US" altLang="en-US" sz="3200" dirty="0">
                <a:solidFill>
                  <a:srgbClr val="0000CC"/>
                </a:solidFill>
              </a:rPr>
              <a:t>Physics for Scientists </a:t>
            </a:r>
          </a:p>
          <a:p>
            <a:pPr>
              <a:spcAft>
                <a:spcPts val="600"/>
              </a:spcAft>
            </a:pPr>
            <a:r>
              <a:rPr lang="en-US" altLang="en-US" sz="3200" dirty="0">
                <a:solidFill>
                  <a:srgbClr val="0000CC"/>
                </a:solidFill>
              </a:rPr>
              <a:t>and Engineers I</a:t>
            </a:r>
          </a:p>
        </p:txBody>
      </p:sp>
      <p:pic>
        <p:nvPicPr>
          <p:cNvPr id="5" name="Picture 4" descr="A picture containing text&#10;&#10;Description automatically generated">
            <a:extLst>
              <a:ext uri="{FF2B5EF4-FFF2-40B4-BE49-F238E27FC236}">
                <a16:creationId xmlns:a16="http://schemas.microsoft.com/office/drawing/2014/main" id="{00364511-71A3-4D48-AC90-C9D92CFAE6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635" y="1320950"/>
            <a:ext cx="3888245" cy="5029200"/>
          </a:xfrm>
          <a:prstGeom prst="rect">
            <a:avLst/>
          </a:prstGeom>
        </p:spPr>
      </p:pic>
      <p:sp>
        <p:nvSpPr>
          <p:cNvPr id="9" name="Rectangle 8">
            <a:extLst>
              <a:ext uri="{FF2B5EF4-FFF2-40B4-BE49-F238E27FC236}">
                <a16:creationId xmlns:a16="http://schemas.microsoft.com/office/drawing/2014/main" id="{524225FA-6C77-8B48-B8FF-D02A53285D2F}"/>
              </a:ext>
            </a:extLst>
          </p:cNvPr>
          <p:cNvSpPr/>
          <p:nvPr/>
        </p:nvSpPr>
        <p:spPr>
          <a:xfrm>
            <a:off x="895268" y="6317187"/>
            <a:ext cx="2018620" cy="553998"/>
          </a:xfrm>
          <a:prstGeom prst="rect">
            <a:avLst/>
          </a:prstGeom>
        </p:spPr>
        <p:txBody>
          <a:bodyPr wrap="square">
            <a:spAutoFit/>
          </a:bodyPr>
          <a:lstStyle/>
          <a:p>
            <a:r>
              <a:rPr lang="en-US" sz="1000" dirty="0">
                <a:solidFill>
                  <a:srgbClr val="A50021"/>
                </a:solidFill>
                <a:latin typeface="Calibri" panose="020F0502020204030204" pitchFamily="34" charset="0"/>
              </a:rPr>
              <a:t>Download the textbook for free at </a:t>
            </a:r>
            <a:r>
              <a:rPr lang="en-US" sz="1000" dirty="0">
                <a:solidFill>
                  <a:srgbClr val="A50021"/>
                </a:solidFill>
                <a:latin typeface="Calibri" panose="020F0502020204030204" pitchFamily="34" charset="0"/>
                <a:hlinkClick r:id="rId4"/>
              </a:rPr>
              <a:t>https://openstax.org/details/books/university-physics-volume-1</a:t>
            </a:r>
            <a:r>
              <a:rPr lang="en-US" sz="1000" dirty="0">
                <a:solidFill>
                  <a:srgbClr val="A50021"/>
                </a:solidFill>
                <a:latin typeface="Calibri" panose="020F0502020204030204" pitchFamily="34" charset="0"/>
              </a:rPr>
              <a:t> </a:t>
            </a:r>
            <a:endParaRPr lang="en-US" sz="1000" dirty="0">
              <a:solidFill>
                <a:srgbClr val="A50021"/>
              </a:solidFill>
              <a:effectLst/>
            </a:endParaRPr>
          </a:p>
        </p:txBody>
      </p:sp>
      <p:sp>
        <p:nvSpPr>
          <p:cNvPr id="10" name="Rectangle 9">
            <a:extLst>
              <a:ext uri="{FF2B5EF4-FFF2-40B4-BE49-F238E27FC236}">
                <a16:creationId xmlns:a16="http://schemas.microsoft.com/office/drawing/2014/main" id="{CF49F42D-A1FF-234B-BD25-2129A3225046}"/>
              </a:ext>
            </a:extLst>
          </p:cNvPr>
          <p:cNvSpPr/>
          <p:nvPr/>
        </p:nvSpPr>
        <p:spPr>
          <a:xfrm>
            <a:off x="8060818" y="6625340"/>
            <a:ext cx="4131181" cy="553998"/>
          </a:xfrm>
          <a:prstGeom prst="rect">
            <a:avLst/>
          </a:prstGeom>
        </p:spPr>
        <p:txBody>
          <a:bodyPr wrap="square">
            <a:spAutoFit/>
          </a:bodyPr>
          <a:lstStyle/>
          <a:p>
            <a:r>
              <a:rPr lang="en-US" sz="1000" dirty="0"/>
              <a:t>Image credit: modification of work by Marie-Lan Nguyen </a:t>
            </a:r>
          </a:p>
          <a:p>
            <a:r>
              <a:rPr lang="en-US" sz="1000" dirty="0"/>
              <a:t> </a:t>
            </a:r>
          </a:p>
          <a:p>
            <a:endParaRPr lang="en-US" sz="1000" dirty="0"/>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5038996" y="89044"/>
            <a:ext cx="1730514" cy="523220"/>
          </a:xfrm>
          <a:prstGeom prst="rect">
            <a:avLst/>
          </a:prstGeom>
        </p:spPr>
        <p:txBody>
          <a:bodyPr wrap="square">
            <a:spAutoFit/>
          </a:bodyPr>
          <a:lstStyle/>
          <a:p>
            <a:r>
              <a:rPr lang="en-US" sz="2800" dirty="0">
                <a:solidFill>
                  <a:srgbClr val="C00000"/>
                </a:solidFill>
                <a:latin typeface="NewBaskervilleStd-Roman"/>
              </a:rPr>
              <a:t>Work </a:t>
            </a:r>
          </a:p>
        </p:txBody>
      </p:sp>
      <p:sp>
        <p:nvSpPr>
          <p:cNvPr id="8" name="Rectangle 7">
            <a:extLst>
              <a:ext uri="{FF2B5EF4-FFF2-40B4-BE49-F238E27FC236}">
                <a16:creationId xmlns:a16="http://schemas.microsoft.com/office/drawing/2014/main" id="{FABFEC4D-90F7-C344-814A-7D5E1FE3D6D0}"/>
              </a:ext>
            </a:extLst>
          </p:cNvPr>
          <p:cNvSpPr/>
          <p:nvPr/>
        </p:nvSpPr>
        <p:spPr>
          <a:xfrm>
            <a:off x="341096" y="802276"/>
            <a:ext cx="9422336" cy="2185214"/>
          </a:xfrm>
          <a:prstGeom prst="rect">
            <a:avLst/>
          </a:prstGeom>
        </p:spPr>
        <p:txBody>
          <a:bodyPr wrap="square">
            <a:spAutoFit/>
          </a:bodyPr>
          <a:lstStyle/>
          <a:p>
            <a:r>
              <a:rPr lang="en-US" sz="2400" b="1" dirty="0">
                <a:solidFill>
                  <a:srgbClr val="C00000"/>
                </a:solidFill>
                <a:latin typeface="LiberationSerif"/>
              </a:rPr>
              <a:t>Work</a:t>
            </a:r>
            <a:r>
              <a:rPr lang="en-US" sz="2400" b="1" dirty="0">
                <a:solidFill>
                  <a:srgbClr val="7030A0"/>
                </a:solidFill>
                <a:latin typeface="LiberationSerif"/>
              </a:rPr>
              <a:t> </a:t>
            </a:r>
            <a:r>
              <a:rPr lang="en-US" sz="2400" dirty="0">
                <a:solidFill>
                  <a:srgbClr val="7030A0"/>
                </a:solidFill>
                <a:latin typeface="LiberationSerif"/>
              </a:rPr>
              <a:t>is done on an object when energy is transferred to the object. </a:t>
            </a:r>
          </a:p>
          <a:p>
            <a:endParaRPr lang="en-US" sz="2400" dirty="0">
              <a:solidFill>
                <a:srgbClr val="7030A0"/>
              </a:solidFill>
              <a:latin typeface="LiberationSerif"/>
            </a:endParaRPr>
          </a:p>
          <a:p>
            <a:pPr marL="342900" indent="-342900">
              <a:buFont typeface="Arial" panose="020B0604020202020204" pitchFamily="34" charset="0"/>
              <a:buChar char="•"/>
            </a:pPr>
            <a:r>
              <a:rPr lang="en-US" sz="2200" dirty="0">
                <a:solidFill>
                  <a:srgbClr val="3B124D"/>
                </a:solidFill>
                <a:latin typeface="LiberationSerif"/>
              </a:rPr>
              <a:t>Work is done when a force acts on something that undergoes a displacement from one position to another. </a:t>
            </a:r>
          </a:p>
          <a:p>
            <a:pPr marL="342900" indent="-342900">
              <a:buFont typeface="Arial" panose="020B0604020202020204" pitchFamily="34" charset="0"/>
              <a:buChar char="•"/>
            </a:pPr>
            <a:r>
              <a:rPr lang="en-US" sz="2200" dirty="0">
                <a:solidFill>
                  <a:srgbClr val="7030A0"/>
                </a:solidFill>
                <a:latin typeface="LiberationSerif"/>
              </a:rPr>
              <a:t>Forces can vary as a function of position, and displacements can be along various paths between two points. </a:t>
            </a:r>
            <a:endParaRPr lang="en-US" sz="2200" dirty="0">
              <a:solidFill>
                <a:srgbClr val="7030A0"/>
              </a:solidFill>
            </a:endParaRPr>
          </a:p>
        </p:txBody>
      </p:sp>
      <p:pic>
        <p:nvPicPr>
          <p:cNvPr id="10" name="Picture 9" descr="Diagram&#10;&#10;Description automatically generated">
            <a:extLst>
              <a:ext uri="{FF2B5EF4-FFF2-40B4-BE49-F238E27FC236}">
                <a16:creationId xmlns:a16="http://schemas.microsoft.com/office/drawing/2014/main" id="{F8841859-9226-A84F-A980-856B91D9D0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146" y="3000523"/>
            <a:ext cx="3860800" cy="2082800"/>
          </a:xfrm>
          <a:prstGeom prst="rect">
            <a:avLst/>
          </a:prstGeom>
        </p:spPr>
      </p:pic>
      <p:sp>
        <p:nvSpPr>
          <p:cNvPr id="11" name="Rectangle 10">
            <a:extLst>
              <a:ext uri="{FF2B5EF4-FFF2-40B4-BE49-F238E27FC236}">
                <a16:creationId xmlns:a16="http://schemas.microsoft.com/office/drawing/2014/main" id="{51A18773-BF7C-F740-B89B-9D9ED41255ED}"/>
              </a:ext>
            </a:extLst>
          </p:cNvPr>
          <p:cNvSpPr/>
          <p:nvPr/>
        </p:nvSpPr>
        <p:spPr>
          <a:xfrm>
            <a:off x="4472544" y="3177502"/>
            <a:ext cx="2785378" cy="430887"/>
          </a:xfrm>
          <a:prstGeom prst="rect">
            <a:avLst/>
          </a:prstGeom>
        </p:spPr>
        <p:txBody>
          <a:bodyPr wrap="none">
            <a:spAutoFit/>
          </a:bodyPr>
          <a:lstStyle/>
          <a:p>
            <a:r>
              <a:rPr lang="en-US" sz="2200" dirty="0">
                <a:solidFill>
                  <a:srgbClr val="008000"/>
                </a:solidFill>
                <a:latin typeface="LiberationSerif"/>
              </a:rPr>
              <a:t>The increment of work</a:t>
            </a:r>
            <a:endParaRPr lang="en-US" sz="2200" dirty="0">
              <a:solidFill>
                <a:srgbClr val="008000"/>
              </a:solidFill>
            </a:endParaRPr>
          </a:p>
        </p:txBody>
      </p:sp>
      <p:pic>
        <p:nvPicPr>
          <p:cNvPr id="13" name="Picture 12" descr="A picture containing text, clock&#10;&#10;Description automatically generated">
            <a:extLst>
              <a:ext uri="{FF2B5EF4-FFF2-40B4-BE49-F238E27FC236}">
                <a16:creationId xmlns:a16="http://schemas.microsoft.com/office/drawing/2014/main" id="{3A7B7ED0-41EF-9D45-8D66-99D86D7346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57922" y="3028947"/>
            <a:ext cx="4025900" cy="698500"/>
          </a:xfrm>
          <a:prstGeom prst="rect">
            <a:avLst/>
          </a:prstGeom>
        </p:spPr>
      </p:pic>
      <p:sp>
        <p:nvSpPr>
          <p:cNvPr id="14" name="Rectangle 13">
            <a:extLst>
              <a:ext uri="{FF2B5EF4-FFF2-40B4-BE49-F238E27FC236}">
                <a16:creationId xmlns:a16="http://schemas.microsoft.com/office/drawing/2014/main" id="{5EA6544A-EC28-A94E-9E89-104EC7A3A041}"/>
              </a:ext>
            </a:extLst>
          </p:cNvPr>
          <p:cNvSpPr/>
          <p:nvPr/>
        </p:nvSpPr>
        <p:spPr>
          <a:xfrm>
            <a:off x="4457045" y="4085679"/>
            <a:ext cx="7393859" cy="769441"/>
          </a:xfrm>
          <a:prstGeom prst="rect">
            <a:avLst/>
          </a:prstGeom>
        </p:spPr>
        <p:txBody>
          <a:bodyPr wrap="square">
            <a:spAutoFit/>
          </a:bodyPr>
          <a:lstStyle/>
          <a:p>
            <a:r>
              <a:rPr lang="en-US" sz="2200" dirty="0">
                <a:solidFill>
                  <a:srgbClr val="C00000"/>
                </a:solidFill>
                <a:latin typeface="LiberationSerif"/>
              </a:rPr>
              <a:t>The work done by a force is the integral of the force with respect to displacement along the path of the displacement: </a:t>
            </a:r>
            <a:endParaRPr lang="en-US" sz="2200" dirty="0">
              <a:solidFill>
                <a:srgbClr val="C00000"/>
              </a:solidFill>
              <a:effectLst/>
            </a:endParaRPr>
          </a:p>
        </p:txBody>
      </p:sp>
      <p:pic>
        <p:nvPicPr>
          <p:cNvPr id="16" name="Picture 15" descr="A picture containing text&#10;&#10;Description automatically generated">
            <a:extLst>
              <a:ext uri="{FF2B5EF4-FFF2-40B4-BE49-F238E27FC236}">
                <a16:creationId xmlns:a16="http://schemas.microsoft.com/office/drawing/2014/main" id="{C0D8389B-5C1A-F148-BB56-2FE132BF78C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69510" y="4887910"/>
            <a:ext cx="2717800" cy="889000"/>
          </a:xfrm>
          <a:prstGeom prst="rect">
            <a:avLst/>
          </a:prstGeom>
        </p:spPr>
      </p:pic>
      <p:sp>
        <p:nvSpPr>
          <p:cNvPr id="18" name="Text Placeholder 6">
            <a:extLst>
              <a:ext uri="{FF2B5EF4-FFF2-40B4-BE49-F238E27FC236}">
                <a16:creationId xmlns:a16="http://schemas.microsoft.com/office/drawing/2014/main" id="{F18789EF-D8A5-7E46-AAB1-A2E746696A18}"/>
              </a:ext>
            </a:extLst>
          </p:cNvPr>
          <p:cNvSpPr txBox="1">
            <a:spLocks/>
          </p:cNvSpPr>
          <p:nvPr/>
        </p:nvSpPr>
        <p:spPr>
          <a:xfrm>
            <a:off x="267356" y="5139613"/>
            <a:ext cx="4697900" cy="155560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t>Vectors used to define work. The force acting on a particle and its infinitesimal displacement are shown at one point along the path between </a:t>
            </a:r>
            <a:r>
              <a:rPr lang="en-US" sz="1600" i="1" dirty="0"/>
              <a:t>A</a:t>
            </a:r>
            <a:r>
              <a:rPr lang="en-US" sz="1600" dirty="0"/>
              <a:t> and </a:t>
            </a:r>
            <a:r>
              <a:rPr lang="en-US" sz="1600" i="1" dirty="0"/>
              <a:t>B</a:t>
            </a:r>
            <a:r>
              <a:rPr lang="en-US" sz="1600" dirty="0"/>
              <a:t>. </a:t>
            </a:r>
          </a:p>
          <a:p>
            <a:pPr marL="0" indent="0">
              <a:buNone/>
            </a:pPr>
            <a:r>
              <a:rPr lang="en-US" sz="1600" dirty="0"/>
              <a:t>The infinitesimal work is the dot product of these two vectors; the total work is the integral of the dot product along the path.</a:t>
            </a:r>
          </a:p>
        </p:txBody>
      </p:sp>
      <p:sp>
        <p:nvSpPr>
          <p:cNvPr id="2" name="Rectangle 1">
            <a:extLst>
              <a:ext uri="{FF2B5EF4-FFF2-40B4-BE49-F238E27FC236}">
                <a16:creationId xmlns:a16="http://schemas.microsoft.com/office/drawing/2014/main" id="{A3D49E0B-F8D9-7D4E-8A9C-1BFA2D970C6B}"/>
              </a:ext>
            </a:extLst>
          </p:cNvPr>
          <p:cNvSpPr/>
          <p:nvPr/>
        </p:nvSpPr>
        <p:spPr>
          <a:xfrm>
            <a:off x="4890514" y="5728534"/>
            <a:ext cx="7034130" cy="1061829"/>
          </a:xfrm>
          <a:prstGeom prst="rect">
            <a:avLst/>
          </a:prstGeom>
        </p:spPr>
        <p:txBody>
          <a:bodyPr wrap="square">
            <a:spAutoFit/>
          </a:bodyPr>
          <a:lstStyle/>
          <a:p>
            <a:r>
              <a:rPr lang="en-US" sz="2000" dirty="0">
                <a:solidFill>
                  <a:srgbClr val="008000"/>
                </a:solidFill>
                <a:latin typeface="LiberationSerif"/>
              </a:rPr>
              <a:t>The units of work are units of force multiplied by units of length, which in the SI system is newtons times meters, </a:t>
            </a:r>
            <a:r>
              <a:rPr lang="en-US" sz="2000" dirty="0">
                <a:solidFill>
                  <a:srgbClr val="A50021"/>
                </a:solidFill>
                <a:latin typeface="STIXGeneral" pitchFamily="2" charset="2"/>
              </a:rPr>
              <a:t>N · m</a:t>
            </a:r>
            <a:r>
              <a:rPr lang="en-US" sz="2000" dirty="0">
                <a:solidFill>
                  <a:srgbClr val="008000"/>
                </a:solidFill>
                <a:latin typeface="STIXGeneral" pitchFamily="2" charset="2"/>
              </a:rPr>
              <a:t> </a:t>
            </a:r>
            <a:endParaRPr lang="en-US" sz="2000" dirty="0">
              <a:solidFill>
                <a:srgbClr val="008000"/>
              </a:solidFill>
            </a:endParaRPr>
          </a:p>
          <a:p>
            <a:r>
              <a:rPr lang="en-US" sz="2300" dirty="0">
                <a:solidFill>
                  <a:srgbClr val="A50021"/>
                </a:solidFill>
                <a:latin typeface="LiberationSerif"/>
              </a:rPr>
              <a:t>This combination is called a joule, and is abbreviated as J. </a:t>
            </a:r>
            <a:endParaRPr lang="en-US" sz="2300" dirty="0">
              <a:solidFill>
                <a:srgbClr val="A50021"/>
              </a:solidFill>
            </a:endParaRPr>
          </a:p>
        </p:txBody>
      </p:sp>
    </p:spTree>
    <p:extLst>
      <p:ext uri="{BB962C8B-B14F-4D97-AF65-F5344CB8AC3E}">
        <p14:creationId xmlns:p14="http://schemas.microsoft.com/office/powerpoint/2010/main" val="18404523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5038996" y="89044"/>
            <a:ext cx="1730514" cy="523220"/>
          </a:xfrm>
          <a:prstGeom prst="rect">
            <a:avLst/>
          </a:prstGeom>
        </p:spPr>
        <p:txBody>
          <a:bodyPr wrap="square">
            <a:spAutoFit/>
          </a:bodyPr>
          <a:lstStyle/>
          <a:p>
            <a:r>
              <a:rPr lang="en-US" sz="2800" dirty="0">
                <a:solidFill>
                  <a:srgbClr val="C00000"/>
                </a:solidFill>
                <a:latin typeface="NewBaskervilleStd-Roman"/>
              </a:rPr>
              <a:t>Work </a:t>
            </a:r>
          </a:p>
        </p:txBody>
      </p:sp>
      <p:pic>
        <p:nvPicPr>
          <p:cNvPr id="6" name="Picture Placeholder 1" descr="Figure a shows a person pushing a lawn mower with a constant force. The displacement is a horizontal vector d pointing to the right. The force F is a vector pointing down and to the right, along the handle of the lawn mower, at an angle theta below the horizontal. The component of the force parallel to the displacement is F cosine theta. The equation W equals F d cosine theta is shown in the figure. Figure b shows a person holding a briefcase. The force F is upward. The displacement is zero. Figure c shows the person in b walking horizontally while holding the briefcase. The force F is upward, as in b. The displacement d is horizontal to the right. Theta equals ninety degrees and cosine theta equals zero.">
            <a:extLst>
              <a:ext uri="{FF2B5EF4-FFF2-40B4-BE49-F238E27FC236}">
                <a16:creationId xmlns:a16="http://schemas.microsoft.com/office/drawing/2014/main" id="{7C0B90E3-D119-A144-BDF8-478E7BDC079B}"/>
              </a:ext>
            </a:extLst>
          </p:cNvPr>
          <p:cNvPicPr>
            <a:picLocks noChangeAspect="1"/>
          </p:cNvPicPr>
          <p:nvPr/>
        </p:nvPicPr>
        <p:blipFill>
          <a:blip r:embed="rId3" cstate="email">
            <a:extLst>
              <a:ext uri="{28A0092B-C50C-407E-A947-70E740481C1C}">
                <a14:useLocalDpi xmlns:a14="http://schemas.microsoft.com/office/drawing/2010/main" val="0"/>
              </a:ext>
            </a:extLst>
          </a:blip>
          <a:srcRect l="-1766" r="-1766"/>
          <a:stretch>
            <a:fillRect/>
          </a:stretch>
        </p:blipFill>
        <p:spPr>
          <a:xfrm>
            <a:off x="294970" y="298180"/>
            <a:ext cx="4896464" cy="6382753"/>
          </a:xfrm>
          <a:prstGeom prst="rect">
            <a:avLst/>
          </a:prstGeom>
        </p:spPr>
      </p:pic>
      <mc:AlternateContent xmlns:mc="http://schemas.openxmlformats.org/markup-compatibility/2006" xmlns:a14="http://schemas.microsoft.com/office/drawing/2010/main">
        <mc:Choice Requires="a14">
          <p:sp>
            <p:nvSpPr>
              <p:cNvPr id="7" name="Text Placeholder 13">
                <a:extLst>
                  <a:ext uri="{FF2B5EF4-FFF2-40B4-BE49-F238E27FC236}">
                    <a16:creationId xmlns:a16="http://schemas.microsoft.com/office/drawing/2014/main" id="{F2CB0BD4-F194-3C4F-8C91-88DD6777A99C}"/>
                  </a:ext>
                </a:extLst>
              </p:cNvPr>
              <p:cNvSpPr txBox="1">
                <a:spLocks/>
              </p:cNvSpPr>
              <p:nvPr/>
            </p:nvSpPr>
            <p:spPr>
              <a:xfrm>
                <a:off x="5427406" y="802276"/>
                <a:ext cx="6297562" cy="46590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solidFill>
                      <a:srgbClr val="7030A0"/>
                    </a:solidFill>
                  </a:rPr>
                  <a:t>Work done by a constant force.</a:t>
                </a:r>
              </a:p>
              <a:p>
                <a:pPr marL="342900" indent="-342900">
                  <a:buFont typeface="Arial" panose="020B0604020202020204" pitchFamily="34" charset="0"/>
                  <a:buAutoNum type="alphaLcParenBoth"/>
                </a:pPr>
                <a:r>
                  <a:rPr lang="en-US" sz="2400" dirty="0">
                    <a:solidFill>
                      <a:srgbClr val="7030A0"/>
                    </a:solidFill>
                  </a:rPr>
                  <a:t>A person pushes a lawn mower with a constant force. The component of the force parallel to the displacement is the work done, as shown in the equation in the figure.</a:t>
                </a:r>
              </a:p>
              <a:p>
                <a:pPr marL="342900" indent="-342900">
                  <a:buFont typeface="Arial" panose="020B0604020202020204" pitchFamily="34" charset="0"/>
                  <a:buAutoNum type="alphaLcParenBoth"/>
                </a:pPr>
                <a:r>
                  <a:rPr lang="en-US" sz="2400" dirty="0">
                    <a:solidFill>
                      <a:srgbClr val="A50021"/>
                    </a:solidFill>
                  </a:rPr>
                  <a:t>A person holds a briefcase. No work is done because the displacement is zero.</a:t>
                </a:r>
              </a:p>
              <a:p>
                <a:pPr marL="342900" indent="-342900">
                  <a:buFont typeface="Arial" panose="020B0604020202020204" pitchFamily="34" charset="0"/>
                  <a:buAutoNum type="alphaLcParenBoth"/>
                </a:pPr>
                <a:r>
                  <a:rPr lang="en-US" sz="2400" dirty="0">
                    <a:solidFill>
                      <a:srgbClr val="7030A0"/>
                    </a:solidFill>
                  </a:rPr>
                  <a:t>The person in (b) walks horizontally while holding the briefcase. No work is done because cos </a:t>
                </a:r>
                <a14:m>
                  <m:oMath xmlns:m="http://schemas.openxmlformats.org/officeDocument/2006/math">
                    <m:r>
                      <a:rPr lang="en-US" sz="2400" i="1" dirty="0" smtClean="0">
                        <a:solidFill>
                          <a:srgbClr val="7030A0"/>
                        </a:solidFill>
                        <a:latin typeface="Cambria Math"/>
                      </a:rPr>
                      <m:t>𝜃</m:t>
                    </m:r>
                  </m:oMath>
                </a14:m>
                <a:r>
                  <a:rPr lang="en-US" sz="2400" dirty="0">
                    <a:solidFill>
                      <a:srgbClr val="7030A0"/>
                    </a:solidFill>
                  </a:rPr>
                  <a:t> is zero.</a:t>
                </a:r>
              </a:p>
            </p:txBody>
          </p:sp>
        </mc:Choice>
        <mc:Fallback xmlns="">
          <p:sp>
            <p:nvSpPr>
              <p:cNvPr id="7" name="Text Placeholder 13">
                <a:extLst>
                  <a:ext uri="{FF2B5EF4-FFF2-40B4-BE49-F238E27FC236}">
                    <a16:creationId xmlns:a16="http://schemas.microsoft.com/office/drawing/2014/main" id="{F2CB0BD4-F194-3C4F-8C91-88DD6777A99C}"/>
                  </a:ext>
                </a:extLst>
              </p:cNvPr>
              <p:cNvSpPr txBox="1">
                <a:spLocks noRot="1" noChangeAspect="1" noMove="1" noResize="1" noEditPoints="1" noAdjustHandles="1" noChangeArrowheads="1" noChangeShapeType="1" noTextEdit="1"/>
              </p:cNvSpPr>
              <p:nvPr/>
            </p:nvSpPr>
            <p:spPr>
              <a:xfrm>
                <a:off x="5427406" y="802276"/>
                <a:ext cx="6297562" cy="4659003"/>
              </a:xfrm>
              <a:prstGeom prst="rect">
                <a:avLst/>
              </a:prstGeom>
              <a:blipFill>
                <a:blip r:embed="rId4"/>
                <a:stretch>
                  <a:fillRect l="-1408" t="-1630" r="-805"/>
                </a:stretch>
              </a:blipFill>
            </p:spPr>
            <p:txBody>
              <a:bodyPr/>
              <a:lstStyle/>
              <a:p>
                <a:r>
                  <a:rPr lang="en-US">
                    <a:noFill/>
                  </a:rPr>
                  <a:t> </a:t>
                </a:r>
              </a:p>
            </p:txBody>
          </p:sp>
        </mc:Fallback>
      </mc:AlternateContent>
    </p:spTree>
    <p:extLst>
      <p:ext uri="{BB962C8B-B14F-4D97-AF65-F5344CB8AC3E}">
        <p14:creationId xmlns:p14="http://schemas.microsoft.com/office/powerpoint/2010/main" val="9491556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5038996" y="89044"/>
            <a:ext cx="1730514" cy="523220"/>
          </a:xfrm>
          <a:prstGeom prst="rect">
            <a:avLst/>
          </a:prstGeom>
        </p:spPr>
        <p:txBody>
          <a:bodyPr wrap="square">
            <a:spAutoFit/>
          </a:bodyPr>
          <a:lstStyle/>
          <a:p>
            <a:r>
              <a:rPr lang="en-US" sz="2800" dirty="0">
                <a:solidFill>
                  <a:srgbClr val="C00000"/>
                </a:solidFill>
                <a:latin typeface="NewBaskervilleStd-Roman"/>
              </a:rPr>
              <a:t>Work </a:t>
            </a:r>
          </a:p>
        </p:txBody>
      </p:sp>
      <p:pic>
        <p:nvPicPr>
          <p:cNvPr id="3" name="Picture 2" descr="A person pushing a lawnmower&#10;&#10;Description automatically generated with low confidence">
            <a:extLst>
              <a:ext uri="{FF2B5EF4-FFF2-40B4-BE49-F238E27FC236}">
                <a16:creationId xmlns:a16="http://schemas.microsoft.com/office/drawing/2014/main" id="{E4607FF9-8641-8E44-A294-EAD2CAC6E7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450" y="278270"/>
            <a:ext cx="4621928" cy="3066181"/>
          </a:xfrm>
          <a:prstGeom prst="rect">
            <a:avLst/>
          </a:prstGeom>
        </p:spPr>
      </p:pic>
      <p:sp>
        <p:nvSpPr>
          <p:cNvPr id="6" name="Rectangle 5">
            <a:extLst>
              <a:ext uri="{FF2B5EF4-FFF2-40B4-BE49-F238E27FC236}">
                <a16:creationId xmlns:a16="http://schemas.microsoft.com/office/drawing/2014/main" id="{E5683D8C-AD50-EE47-9FAA-233FC6ADE4B0}"/>
              </a:ext>
            </a:extLst>
          </p:cNvPr>
          <p:cNvSpPr/>
          <p:nvPr/>
        </p:nvSpPr>
        <p:spPr>
          <a:xfrm>
            <a:off x="4732972" y="538114"/>
            <a:ext cx="6316863" cy="2123658"/>
          </a:xfrm>
          <a:prstGeom prst="rect">
            <a:avLst/>
          </a:prstGeom>
        </p:spPr>
        <p:txBody>
          <a:bodyPr wrap="square">
            <a:spAutoFit/>
          </a:bodyPr>
          <a:lstStyle/>
          <a:p>
            <a:r>
              <a:rPr lang="en-US" sz="2200" dirty="0">
                <a:solidFill>
                  <a:srgbClr val="008000"/>
                </a:solidFill>
                <a:latin typeface="LiberationSans"/>
              </a:rPr>
              <a:t>Example</a:t>
            </a:r>
          </a:p>
          <a:p>
            <a:r>
              <a:rPr lang="en-US" sz="2200" dirty="0"/>
              <a:t>How much work is done on the lawn mower by the person if he exerts a constant force of 75.0 N at an angle 35° below the horizontal and pushes the mower 25.0 m on level ground? </a:t>
            </a:r>
          </a:p>
          <a:p>
            <a:endParaRPr lang="en-US" sz="2200" dirty="0"/>
          </a:p>
        </p:txBody>
      </p:sp>
      <p:pic>
        <p:nvPicPr>
          <p:cNvPr id="8" name="Picture 7" descr="Text&#10;&#10;Description automatically generated">
            <a:extLst>
              <a:ext uri="{FF2B5EF4-FFF2-40B4-BE49-F238E27FC236}">
                <a16:creationId xmlns:a16="http://schemas.microsoft.com/office/drawing/2014/main" id="{29090A9B-BA0E-7742-A322-89B9D0AD0B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5307" y="2348920"/>
            <a:ext cx="1752600" cy="444500"/>
          </a:xfrm>
          <a:prstGeom prst="rect">
            <a:avLst/>
          </a:prstGeom>
        </p:spPr>
      </p:pic>
      <p:pic>
        <p:nvPicPr>
          <p:cNvPr id="10" name="Picture 9">
            <a:extLst>
              <a:ext uri="{FF2B5EF4-FFF2-40B4-BE49-F238E27FC236}">
                <a16:creationId xmlns:a16="http://schemas.microsoft.com/office/drawing/2014/main" id="{B03D82A9-55BB-9D44-9F24-FCDDA58CAEB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32972" y="2823751"/>
            <a:ext cx="5283200" cy="520700"/>
          </a:xfrm>
          <a:prstGeom prst="rect">
            <a:avLst/>
          </a:prstGeom>
        </p:spPr>
      </p:pic>
      <p:sp>
        <p:nvSpPr>
          <p:cNvPr id="9" name="Rectangle 8">
            <a:extLst>
              <a:ext uri="{FF2B5EF4-FFF2-40B4-BE49-F238E27FC236}">
                <a16:creationId xmlns:a16="http://schemas.microsoft.com/office/drawing/2014/main" id="{3D23E4CB-DC6C-FC45-A11B-3AB0C86A2F83}"/>
              </a:ext>
            </a:extLst>
          </p:cNvPr>
          <p:cNvSpPr/>
          <p:nvPr/>
        </p:nvSpPr>
        <p:spPr>
          <a:xfrm>
            <a:off x="221987" y="3429000"/>
            <a:ext cx="6376521" cy="3200876"/>
          </a:xfrm>
          <a:prstGeom prst="rect">
            <a:avLst/>
          </a:prstGeom>
        </p:spPr>
        <p:txBody>
          <a:bodyPr wrap="square">
            <a:spAutoFit/>
          </a:bodyPr>
          <a:lstStyle/>
          <a:p>
            <a:r>
              <a:rPr lang="en-US" sz="2200" dirty="0">
                <a:solidFill>
                  <a:srgbClr val="008000"/>
                </a:solidFill>
                <a:latin typeface="LiberationSans"/>
              </a:rPr>
              <a:t>Example</a:t>
            </a:r>
          </a:p>
          <a:p>
            <a:r>
              <a:rPr lang="en-US" dirty="0"/>
              <a:t>You decide to move your couch to a new position on your horizontal living room floor. The normal force on the couch is 1 </a:t>
            </a:r>
            <a:r>
              <a:rPr lang="en-US" dirty="0" err="1"/>
              <a:t>kN</a:t>
            </a:r>
            <a:r>
              <a:rPr lang="en-US" dirty="0"/>
              <a:t> and the coefficient of friction is 0.6. </a:t>
            </a:r>
          </a:p>
          <a:p>
            <a:pPr marL="342900" indent="-342900">
              <a:buAutoNum type="alphaLcParenBoth"/>
            </a:pPr>
            <a:r>
              <a:rPr lang="en-US" dirty="0">
                <a:solidFill>
                  <a:srgbClr val="C00000"/>
                </a:solidFill>
              </a:rPr>
              <a:t>You first push the couch 3 m parallel to a wall and then 1 m perpendicular to the wall (</a:t>
            </a:r>
            <a:r>
              <a:rPr lang="en-US" i="1" dirty="0">
                <a:solidFill>
                  <a:srgbClr val="C00000"/>
                </a:solidFill>
              </a:rPr>
              <a:t>A </a:t>
            </a:r>
            <a:r>
              <a:rPr lang="en-US" dirty="0">
                <a:solidFill>
                  <a:srgbClr val="C00000"/>
                </a:solidFill>
              </a:rPr>
              <a:t>to </a:t>
            </a:r>
            <a:r>
              <a:rPr lang="en-US" i="1" dirty="0">
                <a:solidFill>
                  <a:srgbClr val="C00000"/>
                </a:solidFill>
              </a:rPr>
              <a:t>B</a:t>
            </a:r>
            <a:r>
              <a:rPr lang="en-US" dirty="0">
                <a:solidFill>
                  <a:srgbClr val="C00000"/>
                </a:solidFill>
              </a:rPr>
              <a:t>). How much work is done by the frictional force? </a:t>
            </a:r>
          </a:p>
          <a:p>
            <a:pPr marL="342900" indent="-342900">
              <a:buAutoNum type="alphaLcParenBoth"/>
            </a:pPr>
            <a:r>
              <a:rPr lang="en-US" dirty="0">
                <a:solidFill>
                  <a:srgbClr val="7030A0"/>
                </a:solidFill>
              </a:rPr>
              <a:t>You don’t like the new position, so you move the couch straight back to its original position (</a:t>
            </a:r>
            <a:r>
              <a:rPr lang="en-US" i="1" dirty="0">
                <a:solidFill>
                  <a:srgbClr val="7030A0"/>
                </a:solidFill>
              </a:rPr>
              <a:t>B </a:t>
            </a:r>
            <a:r>
              <a:rPr lang="en-US" dirty="0">
                <a:solidFill>
                  <a:srgbClr val="7030A0"/>
                </a:solidFill>
              </a:rPr>
              <a:t>to </a:t>
            </a:r>
            <a:r>
              <a:rPr lang="en-US" i="1" dirty="0">
                <a:solidFill>
                  <a:srgbClr val="7030A0"/>
                </a:solidFill>
              </a:rPr>
              <a:t>A</a:t>
            </a:r>
            <a:r>
              <a:rPr lang="en-US" dirty="0">
                <a:solidFill>
                  <a:srgbClr val="7030A0"/>
                </a:solidFill>
              </a:rPr>
              <a:t>). What was the total work done against friction moving the couch away from its original position and back again?</a:t>
            </a:r>
            <a:endParaRPr lang="en-US" sz="2400" dirty="0">
              <a:solidFill>
                <a:srgbClr val="7030A0"/>
              </a:solidFill>
            </a:endParaRPr>
          </a:p>
        </p:txBody>
      </p:sp>
      <p:pic>
        <p:nvPicPr>
          <p:cNvPr id="7" name="Picture 6" descr="Diagram, schematic&#10;&#10;Description automatically generated">
            <a:extLst>
              <a:ext uri="{FF2B5EF4-FFF2-40B4-BE49-F238E27FC236}">
                <a16:creationId xmlns:a16="http://schemas.microsoft.com/office/drawing/2014/main" id="{093297D1-67B3-9D4C-BA5A-DE649DEB80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74572" y="3513550"/>
            <a:ext cx="3759200" cy="1714500"/>
          </a:xfrm>
          <a:prstGeom prst="rect">
            <a:avLst/>
          </a:prstGeom>
        </p:spPr>
      </p:pic>
      <p:pic>
        <p:nvPicPr>
          <p:cNvPr id="12" name="Picture 11">
            <a:extLst>
              <a:ext uri="{FF2B5EF4-FFF2-40B4-BE49-F238E27FC236}">
                <a16:creationId xmlns:a16="http://schemas.microsoft.com/office/drawing/2014/main" id="{0212E165-83B1-7F45-BB1B-0E134482C8D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351900" y="5373046"/>
            <a:ext cx="4165600" cy="419100"/>
          </a:xfrm>
          <a:prstGeom prst="rect">
            <a:avLst/>
          </a:prstGeom>
        </p:spPr>
      </p:pic>
      <p:sp>
        <p:nvSpPr>
          <p:cNvPr id="13" name="Rectangle 12">
            <a:extLst>
              <a:ext uri="{FF2B5EF4-FFF2-40B4-BE49-F238E27FC236}">
                <a16:creationId xmlns:a16="http://schemas.microsoft.com/office/drawing/2014/main" id="{F5082DEC-8B7A-DA42-AC10-429B2AF2D69B}"/>
              </a:ext>
            </a:extLst>
          </p:cNvPr>
          <p:cNvSpPr/>
          <p:nvPr/>
        </p:nvSpPr>
        <p:spPr>
          <a:xfrm>
            <a:off x="6938234" y="5422814"/>
            <a:ext cx="436338" cy="369332"/>
          </a:xfrm>
          <a:prstGeom prst="rect">
            <a:avLst/>
          </a:prstGeom>
        </p:spPr>
        <p:txBody>
          <a:bodyPr wrap="none">
            <a:spAutoFit/>
          </a:bodyPr>
          <a:lstStyle/>
          <a:p>
            <a:r>
              <a:rPr lang="en-US" dirty="0">
                <a:solidFill>
                  <a:srgbClr val="C00000"/>
                </a:solidFill>
              </a:rPr>
              <a:t>(a)</a:t>
            </a:r>
          </a:p>
        </p:txBody>
      </p:sp>
      <p:sp>
        <p:nvSpPr>
          <p:cNvPr id="14" name="Rectangle 13">
            <a:extLst>
              <a:ext uri="{FF2B5EF4-FFF2-40B4-BE49-F238E27FC236}">
                <a16:creationId xmlns:a16="http://schemas.microsoft.com/office/drawing/2014/main" id="{618AABBE-D07F-D24B-AC2A-6A42678E2563}"/>
              </a:ext>
            </a:extLst>
          </p:cNvPr>
          <p:cNvSpPr/>
          <p:nvPr/>
        </p:nvSpPr>
        <p:spPr>
          <a:xfrm>
            <a:off x="6938234" y="6055725"/>
            <a:ext cx="447558" cy="369332"/>
          </a:xfrm>
          <a:prstGeom prst="rect">
            <a:avLst/>
          </a:prstGeom>
        </p:spPr>
        <p:txBody>
          <a:bodyPr wrap="none">
            <a:spAutoFit/>
          </a:bodyPr>
          <a:lstStyle/>
          <a:p>
            <a:r>
              <a:rPr lang="en-US" dirty="0">
                <a:solidFill>
                  <a:srgbClr val="7030A0"/>
                </a:solidFill>
              </a:rPr>
              <a:t>(b)</a:t>
            </a:r>
          </a:p>
        </p:txBody>
      </p:sp>
      <p:pic>
        <p:nvPicPr>
          <p:cNvPr id="16" name="Picture 15">
            <a:extLst>
              <a:ext uri="{FF2B5EF4-FFF2-40B4-BE49-F238E27FC236}">
                <a16:creationId xmlns:a16="http://schemas.microsoft.com/office/drawing/2014/main" id="{4ED016A2-76D0-A54A-B687-A35C61C94B2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351900" y="5974484"/>
            <a:ext cx="4508500" cy="444500"/>
          </a:xfrm>
          <a:prstGeom prst="rect">
            <a:avLst/>
          </a:prstGeom>
        </p:spPr>
      </p:pic>
      <p:sp>
        <p:nvSpPr>
          <p:cNvPr id="17" name="Rectangle 16">
            <a:extLst>
              <a:ext uri="{FF2B5EF4-FFF2-40B4-BE49-F238E27FC236}">
                <a16:creationId xmlns:a16="http://schemas.microsoft.com/office/drawing/2014/main" id="{99E941B3-972A-8347-A187-C9FB8919564F}"/>
              </a:ext>
            </a:extLst>
          </p:cNvPr>
          <p:cNvSpPr/>
          <p:nvPr/>
        </p:nvSpPr>
        <p:spPr>
          <a:xfrm>
            <a:off x="6536723" y="6406627"/>
            <a:ext cx="5703664" cy="400110"/>
          </a:xfrm>
          <a:prstGeom prst="rect">
            <a:avLst/>
          </a:prstGeom>
        </p:spPr>
        <p:txBody>
          <a:bodyPr wrap="square">
            <a:spAutoFit/>
          </a:bodyPr>
          <a:lstStyle/>
          <a:p>
            <a:r>
              <a:rPr lang="en-US" sz="1000" dirty="0">
                <a:solidFill>
                  <a:srgbClr val="A50021"/>
                </a:solidFill>
                <a:latin typeface="LiberationSerif"/>
              </a:rPr>
              <a:t>Total displacement of the couch was zero. However, the total work was not zero. The reason is that forces like friction are classified as nonconservative forces, or dissipative forces, as we discuss in the next chapter. </a:t>
            </a:r>
            <a:endParaRPr lang="en-US" sz="1000" dirty="0">
              <a:solidFill>
                <a:srgbClr val="A50021"/>
              </a:solidFill>
            </a:endParaRPr>
          </a:p>
        </p:txBody>
      </p:sp>
    </p:spTree>
    <p:extLst>
      <p:ext uri="{BB962C8B-B14F-4D97-AF65-F5344CB8AC3E}">
        <p14:creationId xmlns:p14="http://schemas.microsoft.com/office/powerpoint/2010/main" val="876219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5038996" y="89044"/>
            <a:ext cx="1730514" cy="523220"/>
          </a:xfrm>
          <a:prstGeom prst="rect">
            <a:avLst/>
          </a:prstGeom>
        </p:spPr>
        <p:txBody>
          <a:bodyPr wrap="square">
            <a:spAutoFit/>
          </a:bodyPr>
          <a:lstStyle/>
          <a:p>
            <a:r>
              <a:rPr lang="en-US" sz="2800" dirty="0">
                <a:solidFill>
                  <a:srgbClr val="C00000"/>
                </a:solidFill>
                <a:latin typeface="NewBaskervilleStd-Roman"/>
              </a:rPr>
              <a:t>Work </a:t>
            </a:r>
          </a:p>
        </p:txBody>
      </p:sp>
      <p:sp>
        <p:nvSpPr>
          <p:cNvPr id="6" name="Rectangle 5">
            <a:extLst>
              <a:ext uri="{FF2B5EF4-FFF2-40B4-BE49-F238E27FC236}">
                <a16:creationId xmlns:a16="http://schemas.microsoft.com/office/drawing/2014/main" id="{090759F2-5FAD-8B45-A24A-ACFE487ABB58}"/>
              </a:ext>
            </a:extLst>
          </p:cNvPr>
          <p:cNvSpPr/>
          <p:nvPr/>
        </p:nvSpPr>
        <p:spPr>
          <a:xfrm>
            <a:off x="271413" y="1674946"/>
            <a:ext cx="11689927" cy="1538883"/>
          </a:xfrm>
          <a:prstGeom prst="rect">
            <a:avLst/>
          </a:prstGeom>
        </p:spPr>
        <p:txBody>
          <a:bodyPr wrap="square">
            <a:spAutoFit/>
          </a:bodyPr>
          <a:lstStyle/>
          <a:p>
            <a:r>
              <a:rPr lang="en-US" sz="2200" dirty="0">
                <a:solidFill>
                  <a:srgbClr val="008000"/>
                </a:solidFill>
                <a:latin typeface="LiberationSans"/>
              </a:rPr>
              <a:t>Example</a:t>
            </a:r>
          </a:p>
          <a:p>
            <a:r>
              <a:rPr lang="en-US" dirty="0"/>
              <a:t>(a) You lift an oversized library book, weighing 20 N, 1 m vertically down from a shelf, and carry it 3 m horizontally to a table. How much work does gravity do on the book? </a:t>
            </a:r>
          </a:p>
          <a:p>
            <a:r>
              <a:rPr lang="en-US" dirty="0">
                <a:solidFill>
                  <a:srgbClr val="7030A0"/>
                </a:solidFill>
              </a:rPr>
              <a:t>(b) When you’re finished, you move the book in a straight line back to its original place on the shelf. What was the total work done against gravity, moving the book away from its original position on the shelf and back again? </a:t>
            </a:r>
          </a:p>
        </p:txBody>
      </p:sp>
      <p:pic>
        <p:nvPicPr>
          <p:cNvPr id="3" name="Picture 2" descr="Diagram&#10;&#10;Description automatically generated">
            <a:extLst>
              <a:ext uri="{FF2B5EF4-FFF2-40B4-BE49-F238E27FC236}">
                <a16:creationId xmlns:a16="http://schemas.microsoft.com/office/drawing/2014/main" id="{395CCD6C-217B-4947-A2A9-93D07684B1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1561" y="3737049"/>
            <a:ext cx="5270500" cy="3022600"/>
          </a:xfrm>
          <a:prstGeom prst="rect">
            <a:avLst/>
          </a:prstGeom>
        </p:spPr>
      </p:pic>
      <p:sp>
        <p:nvSpPr>
          <p:cNvPr id="7" name="Rectangle 6">
            <a:extLst>
              <a:ext uri="{FF2B5EF4-FFF2-40B4-BE49-F238E27FC236}">
                <a16:creationId xmlns:a16="http://schemas.microsoft.com/office/drawing/2014/main" id="{2E646387-E85C-674E-A0E6-6A91FD57AC8F}"/>
              </a:ext>
            </a:extLst>
          </p:cNvPr>
          <p:cNvSpPr/>
          <p:nvPr/>
        </p:nvSpPr>
        <p:spPr>
          <a:xfrm>
            <a:off x="5877830" y="3846151"/>
            <a:ext cx="5490385" cy="923330"/>
          </a:xfrm>
          <a:prstGeom prst="rect">
            <a:avLst/>
          </a:prstGeom>
        </p:spPr>
        <p:txBody>
          <a:bodyPr wrap="square">
            <a:spAutoFit/>
          </a:bodyPr>
          <a:lstStyle/>
          <a:p>
            <a:r>
              <a:rPr lang="en-US" dirty="0"/>
              <a:t>(a) Since the book starts on the shelf and is lifted down </a:t>
            </a:r>
            <a:r>
              <a:rPr lang="en-US" i="1" dirty="0" err="1"/>
              <a:t>y</a:t>
            </a:r>
            <a:r>
              <a:rPr lang="en-US" i="1" baseline="-25000" dirty="0" err="1"/>
              <a:t>B</a:t>
            </a:r>
            <a:r>
              <a:rPr lang="en-US" i="1" dirty="0"/>
              <a:t> </a:t>
            </a:r>
            <a:r>
              <a:rPr lang="en-US" dirty="0"/>
              <a:t>− </a:t>
            </a:r>
            <a:r>
              <a:rPr lang="en-US" i="1" dirty="0" err="1"/>
              <a:t>y</a:t>
            </a:r>
            <a:r>
              <a:rPr lang="en-US" i="1" baseline="-25000" dirty="0" err="1"/>
              <a:t>A</a:t>
            </a:r>
            <a:r>
              <a:rPr lang="en-US" i="1" dirty="0"/>
              <a:t> </a:t>
            </a:r>
            <a:r>
              <a:rPr lang="en-US" dirty="0"/>
              <a:t>= −1 m , we have </a:t>
            </a:r>
          </a:p>
          <a:p>
            <a:endParaRPr lang="en-US" dirty="0"/>
          </a:p>
        </p:txBody>
      </p:sp>
      <p:sp>
        <p:nvSpPr>
          <p:cNvPr id="8" name="Rectangle 7">
            <a:extLst>
              <a:ext uri="{FF2B5EF4-FFF2-40B4-BE49-F238E27FC236}">
                <a16:creationId xmlns:a16="http://schemas.microsoft.com/office/drawing/2014/main" id="{4D68CF52-C44E-9241-97DB-19E586FADCAC}"/>
              </a:ext>
            </a:extLst>
          </p:cNvPr>
          <p:cNvSpPr/>
          <p:nvPr/>
        </p:nvSpPr>
        <p:spPr>
          <a:xfrm>
            <a:off x="5904253" y="5142562"/>
            <a:ext cx="6057087" cy="646331"/>
          </a:xfrm>
          <a:prstGeom prst="rect">
            <a:avLst/>
          </a:prstGeom>
        </p:spPr>
        <p:txBody>
          <a:bodyPr wrap="square">
            <a:spAutoFit/>
          </a:bodyPr>
          <a:lstStyle/>
          <a:p>
            <a:r>
              <a:rPr lang="en-US" dirty="0">
                <a:solidFill>
                  <a:srgbClr val="7030A0"/>
                </a:solidFill>
              </a:rPr>
              <a:t>(b) There is zero difference in height for any path that begins and ends at the same place on the shelf, so </a:t>
            </a:r>
            <a:r>
              <a:rPr lang="en-US" i="1" dirty="0">
                <a:solidFill>
                  <a:srgbClr val="7030A0"/>
                </a:solidFill>
              </a:rPr>
              <a:t>W </a:t>
            </a:r>
            <a:r>
              <a:rPr lang="en-US" dirty="0">
                <a:solidFill>
                  <a:srgbClr val="7030A0"/>
                </a:solidFill>
              </a:rPr>
              <a:t>= 0. </a:t>
            </a:r>
          </a:p>
        </p:txBody>
      </p:sp>
      <p:sp>
        <p:nvSpPr>
          <p:cNvPr id="9" name="Rectangle 8">
            <a:extLst>
              <a:ext uri="{FF2B5EF4-FFF2-40B4-BE49-F238E27FC236}">
                <a16:creationId xmlns:a16="http://schemas.microsoft.com/office/drawing/2014/main" id="{F1312ACB-4A70-F24E-A9B3-3693BA0A9F64}"/>
              </a:ext>
            </a:extLst>
          </p:cNvPr>
          <p:cNvSpPr/>
          <p:nvPr/>
        </p:nvSpPr>
        <p:spPr>
          <a:xfrm>
            <a:off x="371560" y="510389"/>
            <a:ext cx="10341747" cy="923330"/>
          </a:xfrm>
          <a:prstGeom prst="rect">
            <a:avLst/>
          </a:prstGeom>
        </p:spPr>
        <p:txBody>
          <a:bodyPr wrap="square">
            <a:spAutoFit/>
          </a:bodyPr>
          <a:lstStyle/>
          <a:p>
            <a:r>
              <a:rPr lang="en-US" dirty="0">
                <a:latin typeface="LiberationSerif"/>
              </a:rPr>
              <a:t>A typical coordinate system has the </a:t>
            </a:r>
            <a:r>
              <a:rPr lang="en-US" i="1" dirty="0">
                <a:latin typeface="LiberationSerif"/>
              </a:rPr>
              <a:t>x</a:t>
            </a:r>
            <a:r>
              <a:rPr lang="en-US" dirty="0">
                <a:latin typeface="LiberationSerif"/>
              </a:rPr>
              <a:t>-axis horizontal and the </a:t>
            </a:r>
            <a:r>
              <a:rPr lang="en-US" i="1" dirty="0">
                <a:latin typeface="LiberationSerif"/>
              </a:rPr>
              <a:t>y</a:t>
            </a:r>
            <a:r>
              <a:rPr lang="en-US" dirty="0">
                <a:latin typeface="LiberationSerif"/>
              </a:rPr>
              <a:t>-axis vertically up. Then the gravitational force is </a:t>
            </a:r>
            <a:r>
              <a:rPr lang="en-US" dirty="0"/>
              <a:t> </a:t>
            </a:r>
            <a:r>
              <a:rPr lang="en-US" dirty="0">
                <a:latin typeface="STIXGeneral" pitchFamily="2" charset="2"/>
              </a:rPr>
              <a:t>−</a:t>
            </a:r>
            <a:r>
              <a:rPr lang="en-US" i="1" dirty="0">
                <a:latin typeface="STIXGeneral" pitchFamily="2" charset="2"/>
              </a:rPr>
              <a:t>mg </a:t>
            </a:r>
            <a:r>
              <a:rPr lang="en-US" dirty="0">
                <a:latin typeface="STIXGeneral" pitchFamily="2" charset="2"/>
              </a:rPr>
              <a:t>^</a:t>
            </a:r>
            <a:r>
              <a:rPr lang="en-US" b="1" dirty="0">
                <a:latin typeface="STIXGeneral" pitchFamily="2" charset="2"/>
              </a:rPr>
              <a:t>j </a:t>
            </a:r>
            <a:r>
              <a:rPr lang="en-US" dirty="0">
                <a:latin typeface="STIXGeneral" pitchFamily="2" charset="2"/>
              </a:rPr>
              <a:t>, </a:t>
            </a:r>
            <a:r>
              <a:rPr lang="en-US" dirty="0">
                <a:latin typeface="LiberationSerif"/>
              </a:rPr>
              <a:t>so the work done by gravity, over any path from </a:t>
            </a:r>
            <a:r>
              <a:rPr lang="en-US" i="1" dirty="0">
                <a:latin typeface="LiberationSerif"/>
              </a:rPr>
              <a:t>A </a:t>
            </a:r>
            <a:r>
              <a:rPr lang="en-US" dirty="0">
                <a:latin typeface="LiberationSerif"/>
              </a:rPr>
              <a:t>to </a:t>
            </a:r>
            <a:r>
              <a:rPr lang="en-US" i="1" dirty="0">
                <a:latin typeface="LiberationSerif"/>
              </a:rPr>
              <a:t>B</a:t>
            </a:r>
            <a:r>
              <a:rPr lang="en-US" dirty="0">
                <a:latin typeface="LiberationSerif"/>
              </a:rPr>
              <a:t>, is</a:t>
            </a:r>
            <a:br>
              <a:rPr lang="en-US" dirty="0">
                <a:latin typeface="LiberationSerif"/>
              </a:rPr>
            </a:br>
            <a:endParaRPr lang="en-US" dirty="0"/>
          </a:p>
        </p:txBody>
      </p:sp>
      <p:pic>
        <p:nvPicPr>
          <p:cNvPr id="11" name="Picture 10" descr="A picture containing text, clock&#10;&#10;Description automatically generated">
            <a:extLst>
              <a:ext uri="{FF2B5EF4-FFF2-40B4-BE49-F238E27FC236}">
                <a16:creationId xmlns:a16="http://schemas.microsoft.com/office/drawing/2014/main" id="{FA43C6D5-8275-4340-99A4-E9E8C6DA58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27461" y="1143370"/>
            <a:ext cx="5029200" cy="698500"/>
          </a:xfrm>
          <a:prstGeom prst="rect">
            <a:avLst/>
          </a:prstGeom>
        </p:spPr>
      </p:pic>
      <p:sp>
        <p:nvSpPr>
          <p:cNvPr id="12" name="Rectangle 11">
            <a:extLst>
              <a:ext uri="{FF2B5EF4-FFF2-40B4-BE49-F238E27FC236}">
                <a16:creationId xmlns:a16="http://schemas.microsoft.com/office/drawing/2014/main" id="{68D41497-B116-B741-91AF-64EB017584EA}"/>
              </a:ext>
            </a:extLst>
          </p:cNvPr>
          <p:cNvSpPr/>
          <p:nvPr/>
        </p:nvSpPr>
        <p:spPr>
          <a:xfrm>
            <a:off x="8318501" y="1253773"/>
            <a:ext cx="3805823" cy="646331"/>
          </a:xfrm>
          <a:prstGeom prst="rect">
            <a:avLst/>
          </a:prstGeom>
        </p:spPr>
        <p:txBody>
          <a:bodyPr wrap="square">
            <a:spAutoFit/>
          </a:bodyPr>
          <a:lstStyle/>
          <a:p>
            <a:r>
              <a:rPr lang="en-US" dirty="0">
                <a:solidFill>
                  <a:srgbClr val="C00000"/>
                </a:solidFill>
                <a:latin typeface="LiberationSerif"/>
              </a:rPr>
              <a:t>Gravity does negative work on an object that moves upward ( </a:t>
            </a:r>
            <a:r>
              <a:rPr lang="en-US" i="1" dirty="0" err="1">
                <a:solidFill>
                  <a:srgbClr val="C00000"/>
                </a:solidFill>
                <a:latin typeface="STIXGeneral" pitchFamily="2" charset="2"/>
              </a:rPr>
              <a:t>y</a:t>
            </a:r>
            <a:r>
              <a:rPr lang="en-US" sz="1400" i="1" baseline="-25000" dirty="0" err="1">
                <a:solidFill>
                  <a:srgbClr val="C00000"/>
                </a:solidFill>
                <a:latin typeface="STIXGeneral" pitchFamily="2" charset="2"/>
              </a:rPr>
              <a:t>B</a:t>
            </a:r>
            <a:r>
              <a:rPr lang="en-US" sz="1400" i="1" dirty="0">
                <a:solidFill>
                  <a:srgbClr val="C00000"/>
                </a:solidFill>
                <a:latin typeface="STIXGeneral" pitchFamily="2" charset="2"/>
              </a:rPr>
              <a:t> </a:t>
            </a:r>
            <a:r>
              <a:rPr lang="en-US" dirty="0">
                <a:solidFill>
                  <a:srgbClr val="C00000"/>
                </a:solidFill>
                <a:latin typeface="STIXGeneral" pitchFamily="2" charset="2"/>
              </a:rPr>
              <a:t>&gt; </a:t>
            </a:r>
            <a:r>
              <a:rPr lang="en-US" i="1" dirty="0" err="1">
                <a:solidFill>
                  <a:srgbClr val="C00000"/>
                </a:solidFill>
                <a:latin typeface="STIXGeneral" pitchFamily="2" charset="2"/>
              </a:rPr>
              <a:t>y</a:t>
            </a:r>
            <a:r>
              <a:rPr lang="en-US" sz="1400" i="1" baseline="-25000" dirty="0" err="1">
                <a:solidFill>
                  <a:srgbClr val="C00000"/>
                </a:solidFill>
                <a:latin typeface="STIXGeneral" pitchFamily="2" charset="2"/>
              </a:rPr>
              <a:t>A</a:t>
            </a:r>
            <a:r>
              <a:rPr lang="en-US" sz="1400" i="1" baseline="-25000" dirty="0">
                <a:solidFill>
                  <a:srgbClr val="C00000"/>
                </a:solidFill>
                <a:latin typeface="STIXGeneral" pitchFamily="2" charset="2"/>
              </a:rPr>
              <a:t> </a:t>
            </a:r>
            <a:r>
              <a:rPr lang="en-US" dirty="0">
                <a:solidFill>
                  <a:srgbClr val="C00000"/>
                </a:solidFill>
                <a:latin typeface="LiberationSerif"/>
              </a:rPr>
              <a:t>) </a:t>
            </a:r>
            <a:endParaRPr lang="en-US" dirty="0">
              <a:solidFill>
                <a:srgbClr val="C00000"/>
              </a:solidFill>
            </a:endParaRPr>
          </a:p>
        </p:txBody>
      </p:sp>
      <p:pic>
        <p:nvPicPr>
          <p:cNvPr id="14" name="Picture 13" descr="Text&#10;&#10;Description automatically generated with medium confidence">
            <a:extLst>
              <a:ext uri="{FF2B5EF4-FFF2-40B4-BE49-F238E27FC236}">
                <a16:creationId xmlns:a16="http://schemas.microsoft.com/office/drawing/2014/main" id="{BB728CF9-B186-0949-AFA4-14FC86EBF2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08801" y="4539668"/>
            <a:ext cx="2819400" cy="469900"/>
          </a:xfrm>
          <a:prstGeom prst="rect">
            <a:avLst/>
          </a:prstGeom>
        </p:spPr>
      </p:pic>
      <p:sp>
        <p:nvSpPr>
          <p:cNvPr id="15" name="Rectangle 14">
            <a:extLst>
              <a:ext uri="{FF2B5EF4-FFF2-40B4-BE49-F238E27FC236}">
                <a16:creationId xmlns:a16="http://schemas.microsoft.com/office/drawing/2014/main" id="{E0D1D70F-40EB-264D-9B9C-B222267F969A}"/>
              </a:ext>
            </a:extLst>
          </p:cNvPr>
          <p:cNvSpPr/>
          <p:nvPr/>
        </p:nvSpPr>
        <p:spPr>
          <a:xfrm>
            <a:off x="5904252" y="5845626"/>
            <a:ext cx="6287747" cy="954107"/>
          </a:xfrm>
          <a:prstGeom prst="rect">
            <a:avLst/>
          </a:prstGeom>
        </p:spPr>
        <p:txBody>
          <a:bodyPr wrap="square">
            <a:spAutoFit/>
          </a:bodyPr>
          <a:lstStyle/>
          <a:p>
            <a:r>
              <a:rPr lang="en-US" sz="1400" dirty="0">
                <a:solidFill>
                  <a:srgbClr val="A50021"/>
                </a:solidFill>
                <a:latin typeface="LiberationSerif"/>
              </a:rPr>
              <a:t>Unlike friction or other dissipative forces, described in previous example, the total work done against gravity, over any closed path, is zero. F</a:t>
            </a:r>
            <a:r>
              <a:rPr lang="en-US" sz="1400" dirty="0">
                <a:solidFill>
                  <a:srgbClr val="A50021"/>
                </a:solidFill>
              </a:rPr>
              <a:t>orces like gravity (those that do zero work over any closed path) are classified as conservative forces and play an important role in physics.</a:t>
            </a:r>
          </a:p>
        </p:txBody>
      </p:sp>
    </p:spTree>
    <p:extLst>
      <p:ext uri="{BB962C8B-B14F-4D97-AF65-F5344CB8AC3E}">
        <p14:creationId xmlns:p14="http://schemas.microsoft.com/office/powerpoint/2010/main" val="28614668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5038996" y="89044"/>
            <a:ext cx="1730514" cy="523220"/>
          </a:xfrm>
          <a:prstGeom prst="rect">
            <a:avLst/>
          </a:prstGeom>
        </p:spPr>
        <p:txBody>
          <a:bodyPr wrap="square">
            <a:spAutoFit/>
          </a:bodyPr>
          <a:lstStyle/>
          <a:p>
            <a:r>
              <a:rPr lang="en-US" sz="2800" dirty="0">
                <a:solidFill>
                  <a:srgbClr val="C00000"/>
                </a:solidFill>
                <a:latin typeface="NewBaskervilleStd-Roman"/>
              </a:rPr>
              <a:t>Work </a:t>
            </a:r>
          </a:p>
        </p:txBody>
      </p:sp>
      <p:sp>
        <p:nvSpPr>
          <p:cNvPr id="9" name="Rectangle 8">
            <a:extLst>
              <a:ext uri="{FF2B5EF4-FFF2-40B4-BE49-F238E27FC236}">
                <a16:creationId xmlns:a16="http://schemas.microsoft.com/office/drawing/2014/main" id="{F1312ACB-4A70-F24E-A9B3-3693BA0A9F64}"/>
              </a:ext>
            </a:extLst>
          </p:cNvPr>
          <p:cNvSpPr/>
          <p:nvPr/>
        </p:nvSpPr>
        <p:spPr>
          <a:xfrm>
            <a:off x="371560" y="510389"/>
            <a:ext cx="10341747" cy="923330"/>
          </a:xfrm>
          <a:prstGeom prst="rect">
            <a:avLst/>
          </a:prstGeom>
        </p:spPr>
        <p:txBody>
          <a:bodyPr wrap="square">
            <a:spAutoFit/>
          </a:bodyPr>
          <a:lstStyle/>
          <a:p>
            <a:r>
              <a:rPr lang="en-US" dirty="0">
                <a:latin typeface="LiberationSerif"/>
              </a:rPr>
              <a:t>A typical coordinate system has the </a:t>
            </a:r>
            <a:r>
              <a:rPr lang="en-US" i="1" dirty="0">
                <a:latin typeface="LiberationSerif"/>
              </a:rPr>
              <a:t>x</a:t>
            </a:r>
            <a:r>
              <a:rPr lang="en-US" dirty="0">
                <a:latin typeface="LiberationSerif"/>
              </a:rPr>
              <a:t>-axis horizontal and the </a:t>
            </a:r>
            <a:r>
              <a:rPr lang="en-US" i="1" dirty="0">
                <a:latin typeface="LiberationSerif"/>
              </a:rPr>
              <a:t>y</a:t>
            </a:r>
            <a:r>
              <a:rPr lang="en-US" dirty="0">
                <a:latin typeface="LiberationSerif"/>
              </a:rPr>
              <a:t>-axis vertically up. Then the gravitational force is </a:t>
            </a:r>
            <a:r>
              <a:rPr lang="en-US" dirty="0"/>
              <a:t> </a:t>
            </a:r>
            <a:r>
              <a:rPr lang="en-US" dirty="0">
                <a:latin typeface="STIXGeneral" pitchFamily="2" charset="2"/>
              </a:rPr>
              <a:t>−</a:t>
            </a:r>
            <a:r>
              <a:rPr lang="en-US" i="1" dirty="0">
                <a:latin typeface="STIXGeneral" pitchFamily="2" charset="2"/>
              </a:rPr>
              <a:t>mg </a:t>
            </a:r>
            <a:r>
              <a:rPr lang="en-US" dirty="0">
                <a:latin typeface="STIXGeneral" pitchFamily="2" charset="2"/>
              </a:rPr>
              <a:t>^</a:t>
            </a:r>
            <a:r>
              <a:rPr lang="en-US" b="1" dirty="0">
                <a:latin typeface="STIXGeneral" pitchFamily="2" charset="2"/>
              </a:rPr>
              <a:t>j </a:t>
            </a:r>
            <a:r>
              <a:rPr lang="en-US" dirty="0">
                <a:latin typeface="STIXGeneral" pitchFamily="2" charset="2"/>
              </a:rPr>
              <a:t>, </a:t>
            </a:r>
            <a:r>
              <a:rPr lang="en-US" dirty="0">
                <a:latin typeface="LiberationSerif"/>
              </a:rPr>
              <a:t>so the work done by gravity, over any path from </a:t>
            </a:r>
            <a:r>
              <a:rPr lang="en-US" i="1" dirty="0">
                <a:latin typeface="LiberationSerif"/>
              </a:rPr>
              <a:t>A </a:t>
            </a:r>
            <a:r>
              <a:rPr lang="en-US" dirty="0">
                <a:latin typeface="LiberationSerif"/>
              </a:rPr>
              <a:t>to </a:t>
            </a:r>
            <a:r>
              <a:rPr lang="en-US" i="1" dirty="0">
                <a:latin typeface="LiberationSerif"/>
              </a:rPr>
              <a:t>B</a:t>
            </a:r>
            <a:r>
              <a:rPr lang="en-US" dirty="0">
                <a:latin typeface="LiberationSerif"/>
              </a:rPr>
              <a:t>, is</a:t>
            </a:r>
            <a:br>
              <a:rPr lang="en-US" dirty="0">
                <a:latin typeface="LiberationSerif"/>
              </a:rPr>
            </a:br>
            <a:endParaRPr lang="en-US" dirty="0"/>
          </a:p>
        </p:txBody>
      </p:sp>
      <p:pic>
        <p:nvPicPr>
          <p:cNvPr id="11" name="Picture 10" descr="A picture containing text, clock&#10;&#10;Description automatically generated">
            <a:extLst>
              <a:ext uri="{FF2B5EF4-FFF2-40B4-BE49-F238E27FC236}">
                <a16:creationId xmlns:a16="http://schemas.microsoft.com/office/drawing/2014/main" id="{FA43C6D5-8275-4340-99A4-E9E8C6DA58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7461" y="1143370"/>
            <a:ext cx="5029200" cy="698500"/>
          </a:xfrm>
          <a:prstGeom prst="rect">
            <a:avLst/>
          </a:prstGeom>
        </p:spPr>
      </p:pic>
      <p:sp>
        <p:nvSpPr>
          <p:cNvPr id="12" name="Rectangle 11">
            <a:extLst>
              <a:ext uri="{FF2B5EF4-FFF2-40B4-BE49-F238E27FC236}">
                <a16:creationId xmlns:a16="http://schemas.microsoft.com/office/drawing/2014/main" id="{68D41497-B116-B741-91AF-64EB017584EA}"/>
              </a:ext>
            </a:extLst>
          </p:cNvPr>
          <p:cNvSpPr/>
          <p:nvPr/>
        </p:nvSpPr>
        <p:spPr>
          <a:xfrm>
            <a:off x="8318501" y="1253773"/>
            <a:ext cx="3805823" cy="646331"/>
          </a:xfrm>
          <a:prstGeom prst="rect">
            <a:avLst/>
          </a:prstGeom>
        </p:spPr>
        <p:txBody>
          <a:bodyPr wrap="square">
            <a:spAutoFit/>
          </a:bodyPr>
          <a:lstStyle/>
          <a:p>
            <a:r>
              <a:rPr lang="en-US" dirty="0">
                <a:solidFill>
                  <a:srgbClr val="C00000"/>
                </a:solidFill>
                <a:latin typeface="LiberationSerif"/>
              </a:rPr>
              <a:t>Gravity does negative work on an object that moves upward ( </a:t>
            </a:r>
            <a:r>
              <a:rPr lang="en-US" i="1" dirty="0" err="1">
                <a:solidFill>
                  <a:srgbClr val="C00000"/>
                </a:solidFill>
                <a:latin typeface="STIXGeneral" pitchFamily="2" charset="2"/>
              </a:rPr>
              <a:t>y</a:t>
            </a:r>
            <a:r>
              <a:rPr lang="en-US" sz="1400" i="1" baseline="-25000" dirty="0" err="1">
                <a:solidFill>
                  <a:srgbClr val="C00000"/>
                </a:solidFill>
                <a:latin typeface="STIXGeneral" pitchFamily="2" charset="2"/>
              </a:rPr>
              <a:t>B</a:t>
            </a:r>
            <a:r>
              <a:rPr lang="en-US" sz="1400" i="1" dirty="0">
                <a:solidFill>
                  <a:srgbClr val="C00000"/>
                </a:solidFill>
                <a:latin typeface="STIXGeneral" pitchFamily="2" charset="2"/>
              </a:rPr>
              <a:t> </a:t>
            </a:r>
            <a:r>
              <a:rPr lang="en-US" dirty="0">
                <a:solidFill>
                  <a:srgbClr val="C00000"/>
                </a:solidFill>
                <a:latin typeface="STIXGeneral" pitchFamily="2" charset="2"/>
              </a:rPr>
              <a:t>&gt; </a:t>
            </a:r>
            <a:r>
              <a:rPr lang="en-US" i="1" dirty="0" err="1">
                <a:solidFill>
                  <a:srgbClr val="C00000"/>
                </a:solidFill>
                <a:latin typeface="STIXGeneral" pitchFamily="2" charset="2"/>
              </a:rPr>
              <a:t>y</a:t>
            </a:r>
            <a:r>
              <a:rPr lang="en-US" sz="1400" i="1" baseline="-25000" dirty="0" err="1">
                <a:solidFill>
                  <a:srgbClr val="C00000"/>
                </a:solidFill>
                <a:latin typeface="STIXGeneral" pitchFamily="2" charset="2"/>
              </a:rPr>
              <a:t>A</a:t>
            </a:r>
            <a:r>
              <a:rPr lang="en-US" sz="1400" i="1" baseline="-25000" dirty="0">
                <a:solidFill>
                  <a:srgbClr val="C00000"/>
                </a:solidFill>
                <a:latin typeface="STIXGeneral" pitchFamily="2" charset="2"/>
              </a:rPr>
              <a:t> </a:t>
            </a:r>
            <a:r>
              <a:rPr lang="en-US" dirty="0">
                <a:solidFill>
                  <a:srgbClr val="C00000"/>
                </a:solidFill>
                <a:latin typeface="LiberationSerif"/>
              </a:rPr>
              <a:t>) </a:t>
            </a:r>
            <a:endParaRPr lang="en-US" dirty="0">
              <a:solidFill>
                <a:srgbClr val="C00000"/>
              </a:solidFill>
            </a:endParaRPr>
          </a:p>
        </p:txBody>
      </p:sp>
      <p:sp>
        <p:nvSpPr>
          <p:cNvPr id="13" name="Rectangle 12">
            <a:extLst>
              <a:ext uri="{FF2B5EF4-FFF2-40B4-BE49-F238E27FC236}">
                <a16:creationId xmlns:a16="http://schemas.microsoft.com/office/drawing/2014/main" id="{50EA6713-64EF-DD40-80C1-5A638AC33F2E}"/>
              </a:ext>
            </a:extLst>
          </p:cNvPr>
          <p:cNvSpPr/>
          <p:nvPr/>
        </p:nvSpPr>
        <p:spPr>
          <a:xfrm>
            <a:off x="371561" y="2274838"/>
            <a:ext cx="11577424" cy="1569660"/>
          </a:xfrm>
          <a:prstGeom prst="rect">
            <a:avLst/>
          </a:prstGeom>
        </p:spPr>
        <p:txBody>
          <a:bodyPr wrap="square">
            <a:spAutoFit/>
          </a:bodyPr>
          <a:lstStyle/>
          <a:p>
            <a:r>
              <a:rPr lang="en-US" sz="2400" dirty="0">
                <a:solidFill>
                  <a:srgbClr val="0000CC"/>
                </a:solidFill>
              </a:rPr>
              <a:t>Assignment 1</a:t>
            </a:r>
          </a:p>
          <a:p>
            <a:pPr marL="457200" indent="-457200">
              <a:buAutoNum type="alphaLcParenR"/>
            </a:pPr>
            <a:r>
              <a:rPr lang="en-US" sz="2400" dirty="0"/>
              <a:t>A 75.0-kg person climbs stairs, gaining 2.50 m in height. Find the work done to accomplish this task. </a:t>
            </a:r>
          </a:p>
          <a:p>
            <a:endParaRPr lang="en-US" sz="2400" dirty="0">
              <a:solidFill>
                <a:srgbClr val="0000CC"/>
              </a:solidFill>
            </a:endParaRPr>
          </a:p>
        </p:txBody>
      </p:sp>
      <p:pic>
        <p:nvPicPr>
          <p:cNvPr id="10" name="Picture 9" descr="A picture containing diagram&#10;&#10;Description automatically generated">
            <a:extLst>
              <a:ext uri="{FF2B5EF4-FFF2-40B4-BE49-F238E27FC236}">
                <a16:creationId xmlns:a16="http://schemas.microsoft.com/office/drawing/2014/main" id="{F77DFDCF-7715-2B49-8D9C-15F7E7BA7E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69510" y="3174856"/>
            <a:ext cx="5016500" cy="3594100"/>
          </a:xfrm>
          <a:prstGeom prst="rect">
            <a:avLst/>
          </a:prstGeom>
        </p:spPr>
      </p:pic>
      <p:sp>
        <p:nvSpPr>
          <p:cNvPr id="16" name="Rectangle 15">
            <a:extLst>
              <a:ext uri="{FF2B5EF4-FFF2-40B4-BE49-F238E27FC236}">
                <a16:creationId xmlns:a16="http://schemas.microsoft.com/office/drawing/2014/main" id="{E3A5B2D6-A002-9D4F-88B6-C3F5D61FC6B6}"/>
              </a:ext>
            </a:extLst>
          </p:cNvPr>
          <p:cNvSpPr/>
          <p:nvPr/>
        </p:nvSpPr>
        <p:spPr>
          <a:xfrm>
            <a:off x="405990" y="3429000"/>
            <a:ext cx="6397950" cy="1200329"/>
          </a:xfrm>
          <a:prstGeom prst="rect">
            <a:avLst/>
          </a:prstGeom>
        </p:spPr>
        <p:txBody>
          <a:bodyPr wrap="square">
            <a:spAutoFit/>
          </a:bodyPr>
          <a:lstStyle/>
          <a:p>
            <a:r>
              <a:rPr lang="en-US" sz="2400" dirty="0"/>
              <a:t>b) How much work is done by the boy pulling his sister 30.0 m in a wagon as shown here? Assume no friction acts on the wagon.</a:t>
            </a:r>
          </a:p>
        </p:txBody>
      </p:sp>
    </p:spTree>
    <p:extLst>
      <p:ext uri="{BB962C8B-B14F-4D97-AF65-F5344CB8AC3E}">
        <p14:creationId xmlns:p14="http://schemas.microsoft.com/office/powerpoint/2010/main" val="11824544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187596" y="0"/>
            <a:ext cx="5064278" cy="523220"/>
          </a:xfrm>
          <a:prstGeom prst="rect">
            <a:avLst/>
          </a:prstGeom>
        </p:spPr>
        <p:txBody>
          <a:bodyPr wrap="square">
            <a:spAutoFit/>
          </a:bodyPr>
          <a:lstStyle/>
          <a:p>
            <a:r>
              <a:rPr lang="en-US" sz="2800" dirty="0">
                <a:solidFill>
                  <a:srgbClr val="C00000"/>
                </a:solidFill>
                <a:latin typeface="NewBaskervilleStd-Roman"/>
              </a:rPr>
              <a:t>Work Done by Forces that Vary </a:t>
            </a:r>
          </a:p>
        </p:txBody>
      </p:sp>
      <p:sp>
        <p:nvSpPr>
          <p:cNvPr id="2" name="Rectangle 1">
            <a:extLst>
              <a:ext uri="{FF2B5EF4-FFF2-40B4-BE49-F238E27FC236}">
                <a16:creationId xmlns:a16="http://schemas.microsoft.com/office/drawing/2014/main" id="{9CDE01C6-D7F9-A843-B906-DC62FC2CFF6C}"/>
              </a:ext>
            </a:extLst>
          </p:cNvPr>
          <p:cNvSpPr/>
          <p:nvPr/>
        </p:nvSpPr>
        <p:spPr>
          <a:xfrm>
            <a:off x="494270" y="523220"/>
            <a:ext cx="10404389" cy="1446550"/>
          </a:xfrm>
          <a:prstGeom prst="rect">
            <a:avLst/>
          </a:prstGeom>
        </p:spPr>
        <p:txBody>
          <a:bodyPr wrap="square">
            <a:spAutoFit/>
          </a:bodyPr>
          <a:lstStyle/>
          <a:p>
            <a:r>
              <a:rPr lang="en-US" sz="2200" dirty="0">
                <a:solidFill>
                  <a:srgbClr val="7030A0"/>
                </a:solidFill>
                <a:latin typeface="LiberationSerif"/>
              </a:rPr>
              <a:t>Forces may vary in magnitude and direction at points in space, and paths between two points may be curved. </a:t>
            </a:r>
          </a:p>
          <a:p>
            <a:r>
              <a:rPr lang="en-US" sz="2200" dirty="0">
                <a:solidFill>
                  <a:srgbClr val="C00000"/>
                </a:solidFill>
                <a:latin typeface="LiberationSerif"/>
              </a:rPr>
              <a:t>The infinitesimal work done by a variable force can be expressed in terms of the components of the force and the displacement along the path.</a:t>
            </a:r>
            <a:endParaRPr lang="en-US" sz="2200" dirty="0">
              <a:solidFill>
                <a:srgbClr val="C00000"/>
              </a:solidFill>
            </a:endParaRPr>
          </a:p>
        </p:txBody>
      </p:sp>
      <p:pic>
        <p:nvPicPr>
          <p:cNvPr id="6" name="Picture 5" descr="Diagram&#10;&#10;Description automatically generated">
            <a:extLst>
              <a:ext uri="{FF2B5EF4-FFF2-40B4-BE49-F238E27FC236}">
                <a16:creationId xmlns:a16="http://schemas.microsoft.com/office/drawing/2014/main" id="{25F850DF-F17F-8D4F-A956-F038FD961C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13488" y="1969770"/>
            <a:ext cx="2857500" cy="482600"/>
          </a:xfrm>
          <a:prstGeom prst="rect">
            <a:avLst/>
          </a:prstGeom>
        </p:spPr>
      </p:pic>
      <p:sp>
        <p:nvSpPr>
          <p:cNvPr id="7" name="Rectangle 6">
            <a:extLst>
              <a:ext uri="{FF2B5EF4-FFF2-40B4-BE49-F238E27FC236}">
                <a16:creationId xmlns:a16="http://schemas.microsoft.com/office/drawing/2014/main" id="{EAEE6F5F-3C25-2744-9A27-A34800351CFF}"/>
              </a:ext>
            </a:extLst>
          </p:cNvPr>
          <p:cNvSpPr/>
          <p:nvPr/>
        </p:nvSpPr>
        <p:spPr>
          <a:xfrm>
            <a:off x="494269" y="2608989"/>
            <a:ext cx="10923373" cy="646331"/>
          </a:xfrm>
          <a:prstGeom prst="rect">
            <a:avLst/>
          </a:prstGeom>
        </p:spPr>
        <p:txBody>
          <a:bodyPr wrap="square">
            <a:spAutoFit/>
          </a:bodyPr>
          <a:lstStyle/>
          <a:p>
            <a:r>
              <a:rPr lang="en-US" dirty="0">
                <a:solidFill>
                  <a:schemeClr val="accent6">
                    <a:lumMod val="50000"/>
                  </a:schemeClr>
                </a:solidFill>
                <a:latin typeface="LiberationSerif"/>
              </a:rPr>
              <a:t>One very important and widely applicable variable force is the force exerted by a perfectly elastic spring, which </a:t>
            </a:r>
          </a:p>
          <a:p>
            <a:r>
              <a:rPr lang="en-US" dirty="0">
                <a:solidFill>
                  <a:schemeClr val="accent6">
                    <a:lumMod val="50000"/>
                  </a:schemeClr>
                </a:solidFill>
                <a:latin typeface="LiberationSerif"/>
              </a:rPr>
              <a:t>satisfies Hooke’s law </a:t>
            </a:r>
            <a:endParaRPr lang="en-US" dirty="0">
              <a:solidFill>
                <a:schemeClr val="accent6">
                  <a:lumMod val="50000"/>
                </a:schemeClr>
              </a:solidFill>
            </a:endParaRPr>
          </a:p>
        </p:txBody>
      </p:sp>
      <p:sp>
        <p:nvSpPr>
          <p:cNvPr id="8" name="Rectangle 7">
            <a:extLst>
              <a:ext uri="{FF2B5EF4-FFF2-40B4-BE49-F238E27FC236}">
                <a16:creationId xmlns:a16="http://schemas.microsoft.com/office/drawing/2014/main" id="{84D1F7B1-A20E-2F43-BFD3-1B84B4CEB174}"/>
              </a:ext>
            </a:extLst>
          </p:cNvPr>
          <p:cNvSpPr/>
          <p:nvPr/>
        </p:nvSpPr>
        <p:spPr>
          <a:xfrm>
            <a:off x="2039071" y="3281527"/>
            <a:ext cx="3506473" cy="369332"/>
          </a:xfrm>
          <a:prstGeom prst="rect">
            <a:avLst/>
          </a:prstGeom>
        </p:spPr>
        <p:txBody>
          <a:bodyPr wrap="none">
            <a:spAutoFit/>
          </a:bodyPr>
          <a:lstStyle/>
          <a:p>
            <a:r>
              <a:rPr lang="en-US" dirty="0">
                <a:solidFill>
                  <a:schemeClr val="accent6">
                    <a:lumMod val="50000"/>
                  </a:schemeClr>
                </a:solidFill>
                <a:latin typeface="LiberationSerif"/>
              </a:rPr>
              <a:t>where </a:t>
            </a:r>
            <a:r>
              <a:rPr lang="en-US" i="1" dirty="0">
                <a:solidFill>
                  <a:schemeClr val="accent6">
                    <a:lumMod val="50000"/>
                  </a:schemeClr>
                </a:solidFill>
                <a:latin typeface="LiberationSerif"/>
              </a:rPr>
              <a:t>k </a:t>
            </a:r>
            <a:r>
              <a:rPr lang="en-US" dirty="0">
                <a:solidFill>
                  <a:schemeClr val="accent6">
                    <a:lumMod val="50000"/>
                  </a:schemeClr>
                </a:solidFill>
                <a:latin typeface="LiberationSerif"/>
              </a:rPr>
              <a:t>is the spring constant, and </a:t>
            </a:r>
            <a:endParaRPr lang="en-US" dirty="0">
              <a:solidFill>
                <a:schemeClr val="accent6">
                  <a:lumMod val="50000"/>
                </a:schemeClr>
              </a:solidFill>
            </a:endParaRPr>
          </a:p>
        </p:txBody>
      </p:sp>
      <p:sp>
        <p:nvSpPr>
          <p:cNvPr id="9" name="Rectangle 8">
            <a:extLst>
              <a:ext uri="{FF2B5EF4-FFF2-40B4-BE49-F238E27FC236}">
                <a16:creationId xmlns:a16="http://schemas.microsoft.com/office/drawing/2014/main" id="{1E3AD059-0085-B74D-9F85-76359F9CBFC8}"/>
              </a:ext>
            </a:extLst>
          </p:cNvPr>
          <p:cNvSpPr/>
          <p:nvPr/>
        </p:nvSpPr>
        <p:spPr>
          <a:xfrm>
            <a:off x="4018670" y="3627458"/>
            <a:ext cx="4563568" cy="646331"/>
          </a:xfrm>
          <a:prstGeom prst="rect">
            <a:avLst/>
          </a:prstGeom>
        </p:spPr>
        <p:txBody>
          <a:bodyPr wrap="square">
            <a:spAutoFit/>
          </a:bodyPr>
          <a:lstStyle/>
          <a:p>
            <a:r>
              <a:rPr lang="en-US" dirty="0">
                <a:solidFill>
                  <a:schemeClr val="accent6">
                    <a:lumMod val="50000"/>
                  </a:schemeClr>
                </a:solidFill>
                <a:latin typeface="LiberationSerif"/>
              </a:rPr>
              <a:t>is the displacement from the spring’s unstretched (equilibrium) position. </a:t>
            </a:r>
            <a:endParaRPr lang="en-US" dirty="0">
              <a:solidFill>
                <a:schemeClr val="accent6">
                  <a:lumMod val="50000"/>
                </a:schemeClr>
              </a:solidFill>
            </a:endParaRPr>
          </a:p>
        </p:txBody>
      </p:sp>
      <p:pic>
        <p:nvPicPr>
          <p:cNvPr id="11" name="Picture 10" descr="Text, logo&#10;&#10;Description automatically generated">
            <a:extLst>
              <a:ext uri="{FF2B5EF4-FFF2-40B4-BE49-F238E27FC236}">
                <a16:creationId xmlns:a16="http://schemas.microsoft.com/office/drawing/2014/main" id="{26B6700D-7F6E-C749-8975-EEE4CDC9D8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4520" y="3223897"/>
            <a:ext cx="1384300" cy="406400"/>
          </a:xfrm>
          <a:prstGeom prst="rect">
            <a:avLst/>
          </a:prstGeom>
        </p:spPr>
      </p:pic>
      <p:pic>
        <p:nvPicPr>
          <p:cNvPr id="13" name="Picture 12" descr="A picture containing text&#10;&#10;Description automatically generated">
            <a:extLst>
              <a:ext uri="{FF2B5EF4-FFF2-40B4-BE49-F238E27FC236}">
                <a16:creationId xmlns:a16="http://schemas.microsoft.com/office/drawing/2014/main" id="{C771B3E7-3931-FF4C-BDFC-77780EA871C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09052" y="3201287"/>
            <a:ext cx="2057400" cy="444500"/>
          </a:xfrm>
          <a:prstGeom prst="rect">
            <a:avLst/>
          </a:prstGeom>
        </p:spPr>
      </p:pic>
      <p:sp>
        <p:nvSpPr>
          <p:cNvPr id="14" name="Rectangle 13">
            <a:extLst>
              <a:ext uri="{FF2B5EF4-FFF2-40B4-BE49-F238E27FC236}">
                <a16:creationId xmlns:a16="http://schemas.microsoft.com/office/drawing/2014/main" id="{73139D77-3760-6F49-87EF-48BABDD544E2}"/>
              </a:ext>
            </a:extLst>
          </p:cNvPr>
          <p:cNvSpPr/>
          <p:nvPr/>
        </p:nvSpPr>
        <p:spPr>
          <a:xfrm>
            <a:off x="494269" y="5356514"/>
            <a:ext cx="5795176" cy="369332"/>
          </a:xfrm>
          <a:prstGeom prst="rect">
            <a:avLst/>
          </a:prstGeom>
        </p:spPr>
        <p:txBody>
          <a:bodyPr wrap="none">
            <a:spAutoFit/>
          </a:bodyPr>
          <a:lstStyle/>
          <a:p>
            <a:r>
              <a:rPr lang="en-US" dirty="0">
                <a:latin typeface="LiberationSerif"/>
              </a:rPr>
              <a:t>The work done when </a:t>
            </a:r>
            <a:r>
              <a:rPr lang="en-US" i="1" dirty="0">
                <a:latin typeface="LiberationSerif"/>
              </a:rPr>
              <a:t>x </a:t>
            </a:r>
            <a:r>
              <a:rPr lang="en-US" dirty="0">
                <a:latin typeface="LiberationSerif"/>
              </a:rPr>
              <a:t>changes from </a:t>
            </a:r>
            <a:r>
              <a:rPr lang="en-US" i="1" dirty="0" err="1">
                <a:latin typeface="STIXGeneral" pitchFamily="2" charset="2"/>
              </a:rPr>
              <a:t>x</a:t>
            </a:r>
            <a:r>
              <a:rPr lang="en-US" sz="1400" i="1" baseline="-25000" dirty="0" err="1">
                <a:latin typeface="STIXGeneral" pitchFamily="2" charset="2"/>
              </a:rPr>
              <a:t>A</a:t>
            </a:r>
            <a:r>
              <a:rPr lang="en-US" sz="1400" i="1" dirty="0">
                <a:latin typeface="STIXGeneral" pitchFamily="2" charset="2"/>
              </a:rPr>
              <a:t> </a:t>
            </a:r>
            <a:r>
              <a:rPr lang="en-US" dirty="0">
                <a:latin typeface="LiberationSerif"/>
              </a:rPr>
              <a:t>to </a:t>
            </a:r>
            <a:r>
              <a:rPr lang="en-US" i="1" dirty="0" err="1">
                <a:latin typeface="STIXGeneral" pitchFamily="2" charset="2"/>
              </a:rPr>
              <a:t>x</a:t>
            </a:r>
            <a:r>
              <a:rPr lang="en-US" sz="1400" i="1" baseline="-25000" dirty="0" err="1">
                <a:latin typeface="STIXGeneral" pitchFamily="2" charset="2"/>
              </a:rPr>
              <a:t>B</a:t>
            </a:r>
            <a:r>
              <a:rPr lang="en-US" sz="1400" i="1" dirty="0">
                <a:latin typeface="STIXGeneral" pitchFamily="2" charset="2"/>
              </a:rPr>
              <a:t> </a:t>
            </a:r>
            <a:r>
              <a:rPr lang="en-US" dirty="0">
                <a:latin typeface="LiberationSerif"/>
              </a:rPr>
              <a:t>is  (			 )</a:t>
            </a:r>
            <a:endParaRPr lang="en-US" dirty="0"/>
          </a:p>
        </p:txBody>
      </p:sp>
      <p:sp>
        <p:nvSpPr>
          <p:cNvPr id="15" name="Rectangle 14">
            <a:extLst>
              <a:ext uri="{FF2B5EF4-FFF2-40B4-BE49-F238E27FC236}">
                <a16:creationId xmlns:a16="http://schemas.microsoft.com/office/drawing/2014/main" id="{17526452-6C4F-794D-897D-DC40A29B2C89}"/>
              </a:ext>
            </a:extLst>
          </p:cNvPr>
          <p:cNvSpPr/>
          <p:nvPr/>
        </p:nvSpPr>
        <p:spPr>
          <a:xfrm>
            <a:off x="552426" y="4262977"/>
            <a:ext cx="6722123" cy="1200329"/>
          </a:xfrm>
          <a:prstGeom prst="rect">
            <a:avLst/>
          </a:prstGeom>
        </p:spPr>
        <p:txBody>
          <a:bodyPr wrap="square">
            <a:spAutoFit/>
          </a:bodyPr>
          <a:lstStyle/>
          <a:p>
            <a:r>
              <a:rPr lang="en-US" dirty="0">
                <a:solidFill>
                  <a:srgbClr val="7030A0"/>
                </a:solidFill>
                <a:latin typeface="LiberationSerif"/>
              </a:rPr>
              <a:t>To calculate the work done by a spring force, we can choose the </a:t>
            </a:r>
            <a:r>
              <a:rPr lang="en-US" i="1" dirty="0">
                <a:solidFill>
                  <a:srgbClr val="7030A0"/>
                </a:solidFill>
                <a:latin typeface="LiberationSerif"/>
              </a:rPr>
              <a:t>x</a:t>
            </a:r>
            <a:r>
              <a:rPr lang="en-US" dirty="0">
                <a:solidFill>
                  <a:srgbClr val="7030A0"/>
                </a:solidFill>
                <a:latin typeface="LiberationSerif"/>
              </a:rPr>
              <a:t>-axis along the length of the spring, in the direction of increasing length, </a:t>
            </a:r>
            <a:r>
              <a:rPr lang="en-US" dirty="0">
                <a:solidFill>
                  <a:srgbClr val="7030A0"/>
                </a:solidFill>
              </a:rPr>
              <a:t>with the origin at the equilibrium position </a:t>
            </a:r>
            <a:r>
              <a:rPr lang="en-US" i="1" dirty="0" err="1">
                <a:solidFill>
                  <a:srgbClr val="7030A0"/>
                </a:solidFill>
              </a:rPr>
              <a:t>x</a:t>
            </a:r>
            <a:r>
              <a:rPr lang="en-US" baseline="-25000" dirty="0" err="1">
                <a:solidFill>
                  <a:srgbClr val="7030A0"/>
                </a:solidFill>
              </a:rPr>
              <a:t>eq</a:t>
            </a:r>
            <a:r>
              <a:rPr lang="en-US" dirty="0">
                <a:solidFill>
                  <a:srgbClr val="7030A0"/>
                </a:solidFill>
              </a:rPr>
              <a:t> = 0. </a:t>
            </a:r>
          </a:p>
          <a:p>
            <a:r>
              <a:rPr lang="en-US" dirty="0">
                <a:solidFill>
                  <a:srgbClr val="7030A0"/>
                </a:solidFill>
                <a:latin typeface="LiberationSerif"/>
              </a:rPr>
              <a:t> </a:t>
            </a:r>
            <a:endParaRPr lang="en-US" dirty="0">
              <a:solidFill>
                <a:srgbClr val="7030A0"/>
              </a:solidFill>
            </a:endParaRPr>
          </a:p>
        </p:txBody>
      </p:sp>
      <p:pic>
        <p:nvPicPr>
          <p:cNvPr id="17" name="Picture 16">
            <a:extLst>
              <a:ext uri="{FF2B5EF4-FFF2-40B4-BE49-F238E27FC236}">
                <a16:creationId xmlns:a16="http://schemas.microsoft.com/office/drawing/2014/main" id="{EF32FC01-A838-EA48-8309-62B219158E5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4520" y="5721663"/>
            <a:ext cx="6261100" cy="749300"/>
          </a:xfrm>
          <a:prstGeom prst="rect">
            <a:avLst/>
          </a:prstGeom>
        </p:spPr>
      </p:pic>
      <p:pic>
        <p:nvPicPr>
          <p:cNvPr id="19" name="Picture 18" descr="Diagram, schematic&#10;&#10;Description automatically generated">
            <a:extLst>
              <a:ext uri="{FF2B5EF4-FFF2-40B4-BE49-F238E27FC236}">
                <a16:creationId xmlns:a16="http://schemas.microsoft.com/office/drawing/2014/main" id="{5D7AC2AE-031B-6648-A2DA-4B3ACED9CCB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716511" y="2981127"/>
            <a:ext cx="2915297" cy="3827445"/>
          </a:xfrm>
          <a:prstGeom prst="rect">
            <a:avLst/>
          </a:prstGeom>
        </p:spPr>
      </p:pic>
      <p:pic>
        <p:nvPicPr>
          <p:cNvPr id="21" name="Picture 20">
            <a:extLst>
              <a:ext uri="{FF2B5EF4-FFF2-40B4-BE49-F238E27FC236}">
                <a16:creationId xmlns:a16="http://schemas.microsoft.com/office/drawing/2014/main" id="{7EB6165B-D974-E84B-AB79-5FE663A55AB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088930" y="5356514"/>
            <a:ext cx="1003300" cy="304800"/>
          </a:xfrm>
          <a:prstGeom prst="rect">
            <a:avLst/>
          </a:prstGeom>
        </p:spPr>
      </p:pic>
    </p:spTree>
    <p:extLst>
      <p:ext uri="{BB962C8B-B14F-4D97-AF65-F5344CB8AC3E}">
        <p14:creationId xmlns:p14="http://schemas.microsoft.com/office/powerpoint/2010/main" val="1285815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187596" y="0"/>
            <a:ext cx="5064278" cy="523220"/>
          </a:xfrm>
          <a:prstGeom prst="rect">
            <a:avLst/>
          </a:prstGeom>
        </p:spPr>
        <p:txBody>
          <a:bodyPr wrap="square">
            <a:spAutoFit/>
          </a:bodyPr>
          <a:lstStyle/>
          <a:p>
            <a:r>
              <a:rPr lang="en-US" sz="2800" dirty="0">
                <a:solidFill>
                  <a:srgbClr val="C00000"/>
                </a:solidFill>
                <a:latin typeface="NewBaskervilleStd-Roman"/>
              </a:rPr>
              <a:t>Work Done by Forces that Vary </a:t>
            </a:r>
          </a:p>
        </p:txBody>
      </p:sp>
      <p:sp>
        <p:nvSpPr>
          <p:cNvPr id="2" name="Rectangle 1">
            <a:extLst>
              <a:ext uri="{FF2B5EF4-FFF2-40B4-BE49-F238E27FC236}">
                <a16:creationId xmlns:a16="http://schemas.microsoft.com/office/drawing/2014/main" id="{9CDE01C6-D7F9-A843-B906-DC62FC2CFF6C}"/>
              </a:ext>
            </a:extLst>
          </p:cNvPr>
          <p:cNvSpPr/>
          <p:nvPr/>
        </p:nvSpPr>
        <p:spPr>
          <a:xfrm>
            <a:off x="494270" y="523220"/>
            <a:ext cx="10404389" cy="1446550"/>
          </a:xfrm>
          <a:prstGeom prst="rect">
            <a:avLst/>
          </a:prstGeom>
        </p:spPr>
        <p:txBody>
          <a:bodyPr wrap="square">
            <a:spAutoFit/>
          </a:bodyPr>
          <a:lstStyle/>
          <a:p>
            <a:r>
              <a:rPr lang="en-US" sz="2200" dirty="0">
                <a:solidFill>
                  <a:srgbClr val="7030A0"/>
                </a:solidFill>
                <a:latin typeface="LiberationSerif"/>
              </a:rPr>
              <a:t>Forces may vary in magnitude and direction at points in space, and paths between two points may be curved. </a:t>
            </a:r>
          </a:p>
          <a:p>
            <a:r>
              <a:rPr lang="en-US" sz="2200" dirty="0">
                <a:solidFill>
                  <a:srgbClr val="C00000"/>
                </a:solidFill>
                <a:latin typeface="LiberationSerif"/>
              </a:rPr>
              <a:t>The infinitesimal work done by a variable force can be expressed in terms of the components of the force and the displacement along the path.</a:t>
            </a:r>
            <a:endParaRPr lang="en-US" sz="2200" dirty="0">
              <a:solidFill>
                <a:srgbClr val="C00000"/>
              </a:solidFill>
            </a:endParaRPr>
          </a:p>
        </p:txBody>
      </p:sp>
      <p:pic>
        <p:nvPicPr>
          <p:cNvPr id="17" name="Picture 16">
            <a:extLst>
              <a:ext uri="{FF2B5EF4-FFF2-40B4-BE49-F238E27FC236}">
                <a16:creationId xmlns:a16="http://schemas.microsoft.com/office/drawing/2014/main" id="{EF32FC01-A838-EA48-8309-62B219158E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4520" y="5721663"/>
            <a:ext cx="6261100" cy="749300"/>
          </a:xfrm>
          <a:prstGeom prst="rect">
            <a:avLst/>
          </a:prstGeom>
        </p:spPr>
      </p:pic>
      <p:pic>
        <p:nvPicPr>
          <p:cNvPr id="19" name="Picture 18" descr="Diagram, schematic&#10;&#10;Description automatically generated">
            <a:extLst>
              <a:ext uri="{FF2B5EF4-FFF2-40B4-BE49-F238E27FC236}">
                <a16:creationId xmlns:a16="http://schemas.microsoft.com/office/drawing/2014/main" id="{5D7AC2AE-031B-6648-A2DA-4B3ACED9CC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16511" y="2981127"/>
            <a:ext cx="2915297" cy="3827445"/>
          </a:xfrm>
          <a:prstGeom prst="rect">
            <a:avLst/>
          </a:prstGeom>
        </p:spPr>
      </p:pic>
      <p:sp>
        <p:nvSpPr>
          <p:cNvPr id="3" name="Rectangle 2">
            <a:extLst>
              <a:ext uri="{FF2B5EF4-FFF2-40B4-BE49-F238E27FC236}">
                <a16:creationId xmlns:a16="http://schemas.microsoft.com/office/drawing/2014/main" id="{13C12CFF-E86A-4542-8CC7-2F3A34E53547}"/>
              </a:ext>
            </a:extLst>
          </p:cNvPr>
          <p:cNvSpPr/>
          <p:nvPr/>
        </p:nvSpPr>
        <p:spPr>
          <a:xfrm>
            <a:off x="494270" y="1969770"/>
            <a:ext cx="6931141" cy="1661993"/>
          </a:xfrm>
          <a:prstGeom prst="rect">
            <a:avLst/>
          </a:prstGeom>
        </p:spPr>
        <p:txBody>
          <a:bodyPr wrap="square">
            <a:spAutoFit/>
          </a:bodyPr>
          <a:lstStyle/>
          <a:p>
            <a:r>
              <a:rPr lang="en-US" sz="2200" dirty="0">
                <a:solidFill>
                  <a:srgbClr val="008000"/>
                </a:solidFill>
                <a:latin typeface="LiberationSans"/>
              </a:rPr>
              <a:t>Example</a:t>
            </a:r>
          </a:p>
          <a:p>
            <a:r>
              <a:rPr lang="en-US" sz="2000" dirty="0"/>
              <a:t>A perfectly elastic spring requires 0.54 J of work to stretch 6 cm from its equilibrium position, as in Figure</a:t>
            </a:r>
            <a:r>
              <a:rPr lang="en-US" sz="2000" b="1" dirty="0"/>
              <a:t> </a:t>
            </a:r>
            <a:r>
              <a:rPr lang="en-US" sz="2000" dirty="0"/>
              <a:t>(b). </a:t>
            </a:r>
          </a:p>
          <a:p>
            <a:pPr marL="457200" indent="-457200">
              <a:buAutoNum type="alphaLcParenBoth"/>
            </a:pPr>
            <a:r>
              <a:rPr lang="en-US" sz="2000" dirty="0"/>
              <a:t>What is its spring constant </a:t>
            </a:r>
            <a:r>
              <a:rPr lang="en-US" sz="2000" i="1" dirty="0"/>
              <a:t>k</a:t>
            </a:r>
            <a:r>
              <a:rPr lang="en-US" sz="2000" dirty="0"/>
              <a:t>? </a:t>
            </a:r>
          </a:p>
          <a:p>
            <a:pPr marL="457200" indent="-457200">
              <a:buAutoNum type="alphaLcParenBoth"/>
            </a:pPr>
            <a:r>
              <a:rPr lang="en-US" sz="2000" dirty="0"/>
              <a:t>How much work is required to stretch it an additional 6 cm? </a:t>
            </a:r>
          </a:p>
        </p:txBody>
      </p:sp>
      <p:sp>
        <p:nvSpPr>
          <p:cNvPr id="12" name="Rectangle 11">
            <a:extLst>
              <a:ext uri="{FF2B5EF4-FFF2-40B4-BE49-F238E27FC236}">
                <a16:creationId xmlns:a16="http://schemas.microsoft.com/office/drawing/2014/main" id="{B573B20C-B425-CF4A-8A22-6738120113B2}"/>
              </a:ext>
            </a:extLst>
          </p:cNvPr>
          <p:cNvSpPr/>
          <p:nvPr/>
        </p:nvSpPr>
        <p:spPr>
          <a:xfrm>
            <a:off x="1584906" y="3633074"/>
            <a:ext cx="6096000" cy="646331"/>
          </a:xfrm>
          <a:prstGeom prst="rect">
            <a:avLst/>
          </a:prstGeom>
        </p:spPr>
        <p:txBody>
          <a:bodyPr>
            <a:spAutoFit/>
          </a:bodyPr>
          <a:lstStyle/>
          <a:p>
            <a:r>
              <a:rPr lang="en-US" dirty="0">
                <a:solidFill>
                  <a:srgbClr val="A50021"/>
                </a:solidFill>
                <a:latin typeface="LiberationSerif"/>
              </a:rPr>
              <a:t>Work “required” means work done against the spring force, which is the negative of the work in </a:t>
            </a:r>
            <a:r>
              <a:rPr lang="en-US" dirty="0">
                <a:solidFill>
                  <a:srgbClr val="A50021"/>
                </a:solidFill>
                <a:latin typeface="LiberationSans"/>
              </a:rPr>
              <a:t>performed by spring, so</a:t>
            </a:r>
            <a:endParaRPr lang="en-US" dirty="0">
              <a:solidFill>
                <a:srgbClr val="A50021"/>
              </a:solidFill>
            </a:endParaRPr>
          </a:p>
        </p:txBody>
      </p:sp>
      <p:pic>
        <p:nvPicPr>
          <p:cNvPr id="18" name="Picture 17" descr="Text&#10;&#10;Description automatically generated">
            <a:extLst>
              <a:ext uri="{FF2B5EF4-FFF2-40B4-BE49-F238E27FC236}">
                <a16:creationId xmlns:a16="http://schemas.microsoft.com/office/drawing/2014/main" id="{504D2F7E-22C5-A540-806C-D8AA96D0C3B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85023" y="4247852"/>
            <a:ext cx="1803400" cy="622300"/>
          </a:xfrm>
          <a:prstGeom prst="rect">
            <a:avLst/>
          </a:prstGeom>
        </p:spPr>
      </p:pic>
      <p:pic>
        <p:nvPicPr>
          <p:cNvPr id="22" name="Picture 21" descr="Text&#10;&#10;Description automatically generated">
            <a:extLst>
              <a:ext uri="{FF2B5EF4-FFF2-40B4-BE49-F238E27FC236}">
                <a16:creationId xmlns:a16="http://schemas.microsoft.com/office/drawing/2014/main" id="{D94D07CE-013C-F242-99CB-53CEAA89F16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4520" y="4593078"/>
            <a:ext cx="4838700" cy="1066800"/>
          </a:xfrm>
          <a:prstGeom prst="rect">
            <a:avLst/>
          </a:prstGeom>
        </p:spPr>
      </p:pic>
    </p:spTree>
    <p:extLst>
      <p:ext uri="{BB962C8B-B14F-4D97-AF65-F5344CB8AC3E}">
        <p14:creationId xmlns:p14="http://schemas.microsoft.com/office/powerpoint/2010/main" val="33391826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187596" y="0"/>
            <a:ext cx="5064278" cy="523220"/>
          </a:xfrm>
          <a:prstGeom prst="rect">
            <a:avLst/>
          </a:prstGeom>
        </p:spPr>
        <p:txBody>
          <a:bodyPr wrap="square">
            <a:spAutoFit/>
          </a:bodyPr>
          <a:lstStyle/>
          <a:p>
            <a:r>
              <a:rPr lang="en-US" sz="2800" dirty="0">
                <a:solidFill>
                  <a:srgbClr val="C00000"/>
                </a:solidFill>
                <a:latin typeface="NewBaskervilleStd-Roman"/>
              </a:rPr>
              <a:t>Work Done by Forces that Vary </a:t>
            </a:r>
          </a:p>
        </p:txBody>
      </p:sp>
      <p:sp>
        <p:nvSpPr>
          <p:cNvPr id="2" name="Rectangle 1">
            <a:extLst>
              <a:ext uri="{FF2B5EF4-FFF2-40B4-BE49-F238E27FC236}">
                <a16:creationId xmlns:a16="http://schemas.microsoft.com/office/drawing/2014/main" id="{9CDE01C6-D7F9-A843-B906-DC62FC2CFF6C}"/>
              </a:ext>
            </a:extLst>
          </p:cNvPr>
          <p:cNvSpPr/>
          <p:nvPr/>
        </p:nvSpPr>
        <p:spPr>
          <a:xfrm>
            <a:off x="494270" y="523220"/>
            <a:ext cx="10404389" cy="1446550"/>
          </a:xfrm>
          <a:prstGeom prst="rect">
            <a:avLst/>
          </a:prstGeom>
        </p:spPr>
        <p:txBody>
          <a:bodyPr wrap="square">
            <a:spAutoFit/>
          </a:bodyPr>
          <a:lstStyle/>
          <a:p>
            <a:r>
              <a:rPr lang="en-US" sz="2200" dirty="0">
                <a:solidFill>
                  <a:srgbClr val="7030A0"/>
                </a:solidFill>
                <a:latin typeface="LiberationSerif"/>
              </a:rPr>
              <a:t>Forces may vary in magnitude and direction at points in space, and paths between two points may be curved. </a:t>
            </a:r>
          </a:p>
          <a:p>
            <a:r>
              <a:rPr lang="en-US" sz="2200" dirty="0">
                <a:solidFill>
                  <a:srgbClr val="C00000"/>
                </a:solidFill>
                <a:latin typeface="LiberationSerif"/>
              </a:rPr>
              <a:t>The infinitesimal work done by a variable force can be expressed in terms of the components of the force and the displacement along the path.</a:t>
            </a:r>
            <a:endParaRPr lang="en-US" sz="2200" dirty="0">
              <a:solidFill>
                <a:srgbClr val="C00000"/>
              </a:solidFill>
            </a:endParaRPr>
          </a:p>
        </p:txBody>
      </p:sp>
      <p:pic>
        <p:nvPicPr>
          <p:cNvPr id="19" name="Picture 18" descr="Diagram, schematic&#10;&#10;Description automatically generated">
            <a:extLst>
              <a:ext uri="{FF2B5EF4-FFF2-40B4-BE49-F238E27FC236}">
                <a16:creationId xmlns:a16="http://schemas.microsoft.com/office/drawing/2014/main" id="{5D7AC2AE-031B-6648-A2DA-4B3ACED9CC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16511" y="2981127"/>
            <a:ext cx="2915297" cy="3827445"/>
          </a:xfrm>
          <a:prstGeom prst="rect">
            <a:avLst/>
          </a:prstGeom>
        </p:spPr>
      </p:pic>
      <p:sp>
        <p:nvSpPr>
          <p:cNvPr id="12" name="Rectangle 11">
            <a:extLst>
              <a:ext uri="{FF2B5EF4-FFF2-40B4-BE49-F238E27FC236}">
                <a16:creationId xmlns:a16="http://schemas.microsoft.com/office/drawing/2014/main" id="{B573B20C-B425-CF4A-8A22-6738120113B2}"/>
              </a:ext>
            </a:extLst>
          </p:cNvPr>
          <p:cNvSpPr/>
          <p:nvPr/>
        </p:nvSpPr>
        <p:spPr>
          <a:xfrm>
            <a:off x="1584906" y="3633074"/>
            <a:ext cx="6096000" cy="646331"/>
          </a:xfrm>
          <a:prstGeom prst="rect">
            <a:avLst/>
          </a:prstGeom>
        </p:spPr>
        <p:txBody>
          <a:bodyPr>
            <a:spAutoFit/>
          </a:bodyPr>
          <a:lstStyle/>
          <a:p>
            <a:r>
              <a:rPr lang="en-US" dirty="0">
                <a:solidFill>
                  <a:srgbClr val="A50021"/>
                </a:solidFill>
                <a:latin typeface="LiberationSerif"/>
              </a:rPr>
              <a:t>Work “required” means work done against the spring force, which is the negative of the work in </a:t>
            </a:r>
            <a:r>
              <a:rPr lang="en-US" dirty="0">
                <a:solidFill>
                  <a:srgbClr val="A50021"/>
                </a:solidFill>
                <a:latin typeface="LiberationSans"/>
              </a:rPr>
              <a:t>performed by spring, so</a:t>
            </a:r>
            <a:endParaRPr lang="en-US" dirty="0">
              <a:solidFill>
                <a:srgbClr val="A50021"/>
              </a:solidFill>
            </a:endParaRPr>
          </a:p>
        </p:txBody>
      </p:sp>
      <p:pic>
        <p:nvPicPr>
          <p:cNvPr id="18" name="Picture 17" descr="Text&#10;&#10;Description automatically generated">
            <a:extLst>
              <a:ext uri="{FF2B5EF4-FFF2-40B4-BE49-F238E27FC236}">
                <a16:creationId xmlns:a16="http://schemas.microsoft.com/office/drawing/2014/main" id="{504D2F7E-22C5-A540-806C-D8AA96D0C3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85023" y="4247852"/>
            <a:ext cx="1803400" cy="622300"/>
          </a:xfrm>
          <a:prstGeom prst="rect">
            <a:avLst/>
          </a:prstGeom>
        </p:spPr>
      </p:pic>
      <p:sp>
        <p:nvSpPr>
          <p:cNvPr id="6" name="Rectangle 5">
            <a:extLst>
              <a:ext uri="{FF2B5EF4-FFF2-40B4-BE49-F238E27FC236}">
                <a16:creationId xmlns:a16="http://schemas.microsoft.com/office/drawing/2014/main" id="{A3F194D0-E19F-CE41-9185-C819B8375B7E}"/>
              </a:ext>
            </a:extLst>
          </p:cNvPr>
          <p:cNvSpPr/>
          <p:nvPr/>
        </p:nvSpPr>
        <p:spPr>
          <a:xfrm>
            <a:off x="836532" y="5122561"/>
            <a:ext cx="6451891" cy="1107996"/>
          </a:xfrm>
          <a:prstGeom prst="rect">
            <a:avLst/>
          </a:prstGeom>
        </p:spPr>
        <p:txBody>
          <a:bodyPr wrap="square">
            <a:spAutoFit/>
          </a:bodyPr>
          <a:lstStyle/>
          <a:p>
            <a:r>
              <a:rPr lang="en-US" sz="2200" dirty="0">
                <a:solidFill>
                  <a:srgbClr val="0000CC"/>
                </a:solidFill>
              </a:rPr>
              <a:t>Assignment 2</a:t>
            </a:r>
          </a:p>
          <a:p>
            <a:r>
              <a:rPr lang="en-US" sz="2200" dirty="0"/>
              <a:t>It takes 500 J of work to compress a spring 10 cm. What is the force constant of the spring?</a:t>
            </a:r>
          </a:p>
        </p:txBody>
      </p:sp>
    </p:spTree>
    <p:extLst>
      <p:ext uri="{BB962C8B-B14F-4D97-AF65-F5344CB8AC3E}">
        <p14:creationId xmlns:p14="http://schemas.microsoft.com/office/powerpoint/2010/main" val="27986419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4312508" y="89044"/>
            <a:ext cx="2457002" cy="523220"/>
          </a:xfrm>
          <a:prstGeom prst="rect">
            <a:avLst/>
          </a:prstGeom>
        </p:spPr>
        <p:txBody>
          <a:bodyPr wrap="square">
            <a:spAutoFit/>
          </a:bodyPr>
          <a:lstStyle/>
          <a:p>
            <a:r>
              <a:rPr lang="en-US" sz="2800" dirty="0">
                <a:solidFill>
                  <a:srgbClr val="C00000"/>
                </a:solidFill>
                <a:latin typeface="NewBaskervilleStd-Roman"/>
              </a:rPr>
              <a:t>Kinetic Energy </a:t>
            </a:r>
          </a:p>
        </p:txBody>
      </p:sp>
      <p:sp>
        <p:nvSpPr>
          <p:cNvPr id="2" name="Rectangle 1">
            <a:extLst>
              <a:ext uri="{FF2B5EF4-FFF2-40B4-BE49-F238E27FC236}">
                <a16:creationId xmlns:a16="http://schemas.microsoft.com/office/drawing/2014/main" id="{3008CB97-5B75-6C40-8724-67C17F493C42}"/>
              </a:ext>
            </a:extLst>
          </p:cNvPr>
          <p:cNvSpPr/>
          <p:nvPr/>
        </p:nvSpPr>
        <p:spPr>
          <a:xfrm>
            <a:off x="537811" y="802276"/>
            <a:ext cx="5589479" cy="461665"/>
          </a:xfrm>
          <a:prstGeom prst="rect">
            <a:avLst/>
          </a:prstGeom>
        </p:spPr>
        <p:txBody>
          <a:bodyPr wrap="none">
            <a:spAutoFit/>
          </a:bodyPr>
          <a:lstStyle/>
          <a:p>
            <a:r>
              <a:rPr lang="en-US" sz="2400" dirty="0">
                <a:solidFill>
                  <a:srgbClr val="008000"/>
                </a:solidFill>
                <a:latin typeface="LiberationSerif"/>
              </a:rPr>
              <a:t>The kinetic energy is the energy of motion.</a:t>
            </a:r>
            <a:endParaRPr lang="en-US" sz="2400" dirty="0">
              <a:solidFill>
                <a:srgbClr val="008000"/>
              </a:solidFill>
            </a:endParaRPr>
          </a:p>
        </p:txBody>
      </p:sp>
      <p:pic>
        <p:nvPicPr>
          <p:cNvPr id="6" name="Picture 5">
            <a:extLst>
              <a:ext uri="{FF2B5EF4-FFF2-40B4-BE49-F238E27FC236}">
                <a16:creationId xmlns:a16="http://schemas.microsoft.com/office/drawing/2014/main" id="{67724E33-089B-E34F-A7CA-3DE2F48441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811" y="1301935"/>
            <a:ext cx="11419221" cy="1085361"/>
          </a:xfrm>
          <a:prstGeom prst="rect">
            <a:avLst/>
          </a:prstGeom>
        </p:spPr>
      </p:pic>
      <p:sp>
        <p:nvSpPr>
          <p:cNvPr id="7" name="Rectangle 6">
            <a:extLst>
              <a:ext uri="{FF2B5EF4-FFF2-40B4-BE49-F238E27FC236}">
                <a16:creationId xmlns:a16="http://schemas.microsoft.com/office/drawing/2014/main" id="{A0D3A0ED-89C8-874B-B840-C0A45395836F}"/>
              </a:ext>
            </a:extLst>
          </p:cNvPr>
          <p:cNvSpPr/>
          <p:nvPr/>
        </p:nvSpPr>
        <p:spPr>
          <a:xfrm>
            <a:off x="454164" y="2517623"/>
            <a:ext cx="11586513" cy="369332"/>
          </a:xfrm>
          <a:prstGeom prst="rect">
            <a:avLst/>
          </a:prstGeom>
        </p:spPr>
        <p:txBody>
          <a:bodyPr wrap="square">
            <a:spAutoFit/>
          </a:bodyPr>
          <a:lstStyle/>
          <a:p>
            <a:r>
              <a:rPr lang="en-US" dirty="0">
                <a:solidFill>
                  <a:srgbClr val="008000"/>
                </a:solidFill>
                <a:latin typeface="LiberationSerif"/>
              </a:rPr>
              <a:t>We then extend this definition to any system of particles by adding up the kinetic energies of all the constituent particles: </a:t>
            </a:r>
            <a:endParaRPr lang="en-US" dirty="0">
              <a:solidFill>
                <a:srgbClr val="008000"/>
              </a:solidFill>
            </a:endParaRPr>
          </a:p>
        </p:txBody>
      </p:sp>
      <p:pic>
        <p:nvPicPr>
          <p:cNvPr id="9" name="Picture 8" descr="Icon&#10;&#10;Description automatically generated with medium confidence">
            <a:extLst>
              <a:ext uri="{FF2B5EF4-FFF2-40B4-BE49-F238E27FC236}">
                <a16:creationId xmlns:a16="http://schemas.microsoft.com/office/drawing/2014/main" id="{A6D192E2-B313-CE41-B96E-58561B15AE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23409" y="2886955"/>
            <a:ext cx="1511300" cy="584200"/>
          </a:xfrm>
          <a:prstGeom prst="rect">
            <a:avLst/>
          </a:prstGeom>
        </p:spPr>
      </p:pic>
      <p:sp>
        <p:nvSpPr>
          <p:cNvPr id="10" name="Rectangle 9">
            <a:extLst>
              <a:ext uri="{FF2B5EF4-FFF2-40B4-BE49-F238E27FC236}">
                <a16:creationId xmlns:a16="http://schemas.microsoft.com/office/drawing/2014/main" id="{9CADCFB1-A22C-A74A-8DD0-5CD29C0D587A}"/>
              </a:ext>
            </a:extLst>
          </p:cNvPr>
          <p:cNvSpPr/>
          <p:nvPr/>
        </p:nvSpPr>
        <p:spPr>
          <a:xfrm>
            <a:off x="537811" y="4202192"/>
            <a:ext cx="10558782" cy="800219"/>
          </a:xfrm>
          <a:prstGeom prst="rect">
            <a:avLst/>
          </a:prstGeom>
        </p:spPr>
        <p:txBody>
          <a:bodyPr wrap="square">
            <a:spAutoFit/>
          </a:bodyPr>
          <a:lstStyle/>
          <a:p>
            <a:r>
              <a:rPr lang="en-US" sz="2200" dirty="0">
                <a:solidFill>
                  <a:srgbClr val="0000CC"/>
                </a:solidFill>
              </a:rPr>
              <a:t>Assignment 3</a:t>
            </a:r>
          </a:p>
          <a:p>
            <a:r>
              <a:rPr lang="en-US" sz="2200" dirty="0">
                <a:solidFill>
                  <a:srgbClr val="A50021"/>
                </a:solidFill>
              </a:rPr>
              <a:t>Show that the units of kinetic energy are the same as the units of work (J, or </a:t>
            </a:r>
            <a:r>
              <a:rPr lang="en-US" sz="2400" dirty="0">
                <a:solidFill>
                  <a:srgbClr val="A50021"/>
                </a:solidFill>
                <a:latin typeface="STIXGeneral" pitchFamily="2" charset="2"/>
              </a:rPr>
              <a:t>N · m).</a:t>
            </a:r>
            <a:endParaRPr lang="en-US" sz="2200" dirty="0">
              <a:solidFill>
                <a:srgbClr val="A50021"/>
              </a:solidFill>
            </a:endParaRPr>
          </a:p>
        </p:txBody>
      </p:sp>
    </p:spTree>
    <p:extLst>
      <p:ext uri="{BB962C8B-B14F-4D97-AF65-F5344CB8AC3E}">
        <p14:creationId xmlns:p14="http://schemas.microsoft.com/office/powerpoint/2010/main" val="28099498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4312508" y="89044"/>
            <a:ext cx="2457002" cy="523220"/>
          </a:xfrm>
          <a:prstGeom prst="rect">
            <a:avLst/>
          </a:prstGeom>
        </p:spPr>
        <p:txBody>
          <a:bodyPr wrap="square">
            <a:spAutoFit/>
          </a:bodyPr>
          <a:lstStyle/>
          <a:p>
            <a:r>
              <a:rPr lang="en-US" sz="2800" dirty="0">
                <a:solidFill>
                  <a:srgbClr val="C00000"/>
                </a:solidFill>
                <a:latin typeface="NewBaskervilleStd-Roman"/>
              </a:rPr>
              <a:t>Kinetic Energy </a:t>
            </a:r>
          </a:p>
        </p:txBody>
      </p:sp>
      <p:sp>
        <p:nvSpPr>
          <p:cNvPr id="2" name="Rectangle 1">
            <a:extLst>
              <a:ext uri="{FF2B5EF4-FFF2-40B4-BE49-F238E27FC236}">
                <a16:creationId xmlns:a16="http://schemas.microsoft.com/office/drawing/2014/main" id="{3008CB97-5B75-6C40-8724-67C17F493C42}"/>
              </a:ext>
            </a:extLst>
          </p:cNvPr>
          <p:cNvSpPr/>
          <p:nvPr/>
        </p:nvSpPr>
        <p:spPr>
          <a:xfrm>
            <a:off x="537811" y="802276"/>
            <a:ext cx="5589479" cy="461665"/>
          </a:xfrm>
          <a:prstGeom prst="rect">
            <a:avLst/>
          </a:prstGeom>
        </p:spPr>
        <p:txBody>
          <a:bodyPr wrap="none">
            <a:spAutoFit/>
          </a:bodyPr>
          <a:lstStyle/>
          <a:p>
            <a:r>
              <a:rPr lang="en-US" sz="2400" dirty="0">
                <a:solidFill>
                  <a:srgbClr val="008000"/>
                </a:solidFill>
                <a:latin typeface="LiberationSerif"/>
              </a:rPr>
              <a:t>The kinetic energy is the energy of motion.</a:t>
            </a:r>
            <a:endParaRPr lang="en-US" sz="2400" dirty="0">
              <a:solidFill>
                <a:srgbClr val="008000"/>
              </a:solidFill>
            </a:endParaRPr>
          </a:p>
        </p:txBody>
      </p:sp>
      <p:pic>
        <p:nvPicPr>
          <p:cNvPr id="6" name="Picture 5">
            <a:extLst>
              <a:ext uri="{FF2B5EF4-FFF2-40B4-BE49-F238E27FC236}">
                <a16:creationId xmlns:a16="http://schemas.microsoft.com/office/drawing/2014/main" id="{67724E33-089B-E34F-A7CA-3DE2F48441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811" y="1301935"/>
            <a:ext cx="11419221" cy="1085361"/>
          </a:xfrm>
          <a:prstGeom prst="rect">
            <a:avLst/>
          </a:prstGeom>
        </p:spPr>
      </p:pic>
      <p:sp>
        <p:nvSpPr>
          <p:cNvPr id="11" name="Rectangle 10">
            <a:extLst>
              <a:ext uri="{FF2B5EF4-FFF2-40B4-BE49-F238E27FC236}">
                <a16:creationId xmlns:a16="http://schemas.microsoft.com/office/drawing/2014/main" id="{3B051B06-572E-0E42-B607-502DCA83C25A}"/>
              </a:ext>
            </a:extLst>
          </p:cNvPr>
          <p:cNvSpPr/>
          <p:nvPr/>
        </p:nvSpPr>
        <p:spPr>
          <a:xfrm>
            <a:off x="454164" y="2886955"/>
            <a:ext cx="11198258" cy="3477875"/>
          </a:xfrm>
          <a:prstGeom prst="rect">
            <a:avLst/>
          </a:prstGeom>
        </p:spPr>
        <p:txBody>
          <a:bodyPr wrap="square">
            <a:spAutoFit/>
          </a:bodyPr>
          <a:lstStyle/>
          <a:p>
            <a:r>
              <a:rPr lang="en-US" sz="2400" dirty="0">
                <a:solidFill>
                  <a:srgbClr val="008000"/>
                </a:solidFill>
                <a:latin typeface="LiberationSans"/>
              </a:rPr>
              <a:t>Example: Kinetic Energy of an Object </a:t>
            </a:r>
          </a:p>
          <a:p>
            <a:endParaRPr lang="en-US" sz="2200" dirty="0">
              <a:solidFill>
                <a:srgbClr val="008000"/>
              </a:solidFill>
              <a:latin typeface="LiberationSans"/>
            </a:endParaRPr>
          </a:p>
          <a:p>
            <a:pPr marL="342900" indent="-342900">
              <a:buAutoNum type="alphaLcParenBoth"/>
            </a:pPr>
            <a:r>
              <a:rPr lang="en-US" sz="2200" dirty="0"/>
              <a:t>What is the kinetic energy of an 80-kg athlete, running at 10 m/s? </a:t>
            </a:r>
          </a:p>
          <a:p>
            <a:pPr marL="342900" indent="-342900">
              <a:buAutoNum type="alphaLcParenBoth"/>
            </a:pPr>
            <a:endParaRPr lang="en-US" sz="2200" dirty="0"/>
          </a:p>
          <a:p>
            <a:pPr marL="342900" indent="-342900">
              <a:buAutoNum type="alphaLcParenBoth"/>
            </a:pPr>
            <a:r>
              <a:rPr lang="en-US" sz="2200" dirty="0">
                <a:solidFill>
                  <a:srgbClr val="A50021"/>
                </a:solidFill>
              </a:rPr>
              <a:t>The Chicxulub crater in Yucatan, one of the largest existing impact craters on Earth, is thought to have been created by an asteroid, traveling at 22 km/s and releasing 4.2 × 10</a:t>
            </a:r>
            <a:r>
              <a:rPr lang="en-US" sz="2200" baseline="30000" dirty="0">
                <a:solidFill>
                  <a:srgbClr val="A50021"/>
                </a:solidFill>
              </a:rPr>
              <a:t>23</a:t>
            </a:r>
            <a:r>
              <a:rPr lang="en-US" sz="2200" dirty="0">
                <a:solidFill>
                  <a:srgbClr val="A50021"/>
                </a:solidFill>
              </a:rPr>
              <a:t> J of kinetic energy upon impact. What was its mass? </a:t>
            </a:r>
          </a:p>
          <a:p>
            <a:pPr marL="342900" indent="-342900">
              <a:buAutoNum type="alphaLcParenBoth"/>
            </a:pPr>
            <a:endParaRPr lang="en-US" sz="2200" dirty="0"/>
          </a:p>
          <a:p>
            <a:pPr marL="342900" indent="-342900">
              <a:buFontTx/>
              <a:buAutoNum type="alphaLcParenBoth"/>
            </a:pPr>
            <a:r>
              <a:rPr lang="en-US" sz="2200" dirty="0">
                <a:solidFill>
                  <a:srgbClr val="7030A0"/>
                </a:solidFill>
              </a:rPr>
              <a:t>In nuclear reactors, thermal neutrons, traveling at about 2.2 km/s, play an important role. What is the kinetic energy of such a particle?</a:t>
            </a:r>
          </a:p>
        </p:txBody>
      </p:sp>
    </p:spTree>
    <p:extLst>
      <p:ext uri="{BB962C8B-B14F-4D97-AF65-F5344CB8AC3E}">
        <p14:creationId xmlns:p14="http://schemas.microsoft.com/office/powerpoint/2010/main" val="255831063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4312508" y="89044"/>
            <a:ext cx="2457002" cy="523220"/>
          </a:xfrm>
          <a:prstGeom prst="rect">
            <a:avLst/>
          </a:prstGeom>
        </p:spPr>
        <p:txBody>
          <a:bodyPr wrap="square">
            <a:spAutoFit/>
          </a:bodyPr>
          <a:lstStyle/>
          <a:p>
            <a:r>
              <a:rPr lang="en-US" sz="2800" dirty="0">
                <a:solidFill>
                  <a:srgbClr val="C00000"/>
                </a:solidFill>
                <a:latin typeface="NewBaskervilleStd-Roman"/>
              </a:rPr>
              <a:t>Kinetic Energy </a:t>
            </a:r>
          </a:p>
        </p:txBody>
      </p:sp>
      <p:sp>
        <p:nvSpPr>
          <p:cNvPr id="2" name="Rectangle 1">
            <a:extLst>
              <a:ext uri="{FF2B5EF4-FFF2-40B4-BE49-F238E27FC236}">
                <a16:creationId xmlns:a16="http://schemas.microsoft.com/office/drawing/2014/main" id="{3008CB97-5B75-6C40-8724-67C17F493C42}"/>
              </a:ext>
            </a:extLst>
          </p:cNvPr>
          <p:cNvSpPr/>
          <p:nvPr/>
        </p:nvSpPr>
        <p:spPr>
          <a:xfrm>
            <a:off x="537811" y="802276"/>
            <a:ext cx="5589479" cy="461665"/>
          </a:xfrm>
          <a:prstGeom prst="rect">
            <a:avLst/>
          </a:prstGeom>
        </p:spPr>
        <p:txBody>
          <a:bodyPr wrap="none">
            <a:spAutoFit/>
          </a:bodyPr>
          <a:lstStyle/>
          <a:p>
            <a:r>
              <a:rPr lang="en-US" sz="2400" dirty="0">
                <a:solidFill>
                  <a:srgbClr val="008000"/>
                </a:solidFill>
                <a:latin typeface="LiberationSerif"/>
              </a:rPr>
              <a:t>The kinetic energy is the energy of motion.</a:t>
            </a:r>
            <a:endParaRPr lang="en-US" sz="2400" dirty="0">
              <a:solidFill>
                <a:srgbClr val="008000"/>
              </a:solidFill>
            </a:endParaRPr>
          </a:p>
        </p:txBody>
      </p:sp>
      <p:pic>
        <p:nvPicPr>
          <p:cNvPr id="6" name="Picture 5">
            <a:extLst>
              <a:ext uri="{FF2B5EF4-FFF2-40B4-BE49-F238E27FC236}">
                <a16:creationId xmlns:a16="http://schemas.microsoft.com/office/drawing/2014/main" id="{67724E33-089B-E34F-A7CA-3DE2F48441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811" y="1301935"/>
            <a:ext cx="11419221" cy="1085361"/>
          </a:xfrm>
          <a:prstGeom prst="rect">
            <a:avLst/>
          </a:prstGeom>
        </p:spPr>
      </p:pic>
      <p:sp>
        <p:nvSpPr>
          <p:cNvPr id="7" name="Rectangle 6">
            <a:extLst>
              <a:ext uri="{FF2B5EF4-FFF2-40B4-BE49-F238E27FC236}">
                <a16:creationId xmlns:a16="http://schemas.microsoft.com/office/drawing/2014/main" id="{43EB4E80-008D-1B49-8D3D-ED5D4F8D267E}"/>
              </a:ext>
            </a:extLst>
          </p:cNvPr>
          <p:cNvSpPr/>
          <p:nvPr/>
        </p:nvSpPr>
        <p:spPr>
          <a:xfrm>
            <a:off x="686092" y="3617073"/>
            <a:ext cx="10558782" cy="1938992"/>
          </a:xfrm>
          <a:prstGeom prst="rect">
            <a:avLst/>
          </a:prstGeom>
        </p:spPr>
        <p:txBody>
          <a:bodyPr wrap="square">
            <a:spAutoFit/>
          </a:bodyPr>
          <a:lstStyle/>
          <a:p>
            <a:r>
              <a:rPr lang="en-US" sz="2400" dirty="0">
                <a:solidFill>
                  <a:srgbClr val="0000CC"/>
                </a:solidFill>
              </a:rPr>
              <a:t>Assignment 4</a:t>
            </a:r>
          </a:p>
          <a:p>
            <a:endParaRPr lang="en-US" sz="2400" dirty="0">
              <a:solidFill>
                <a:srgbClr val="0000CC"/>
              </a:solidFill>
            </a:endParaRPr>
          </a:p>
          <a:p>
            <a:r>
              <a:rPr lang="en-US" sz="2400" dirty="0"/>
              <a:t>Compare the kinetic energy of a 20 000-kg truck moving at 110 km/h </a:t>
            </a:r>
          </a:p>
          <a:p>
            <a:endParaRPr lang="en-US" sz="2400" dirty="0"/>
          </a:p>
          <a:p>
            <a:r>
              <a:rPr lang="en-US" sz="2400" dirty="0"/>
              <a:t>with that of an 80.0-kg astronaut in orbit moving at 27 500 km/h.</a:t>
            </a:r>
          </a:p>
        </p:txBody>
      </p:sp>
    </p:spTree>
    <p:extLst>
      <p:ext uri="{BB962C8B-B14F-4D97-AF65-F5344CB8AC3E}">
        <p14:creationId xmlns:p14="http://schemas.microsoft.com/office/powerpoint/2010/main" val="17531649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534032" y="89043"/>
            <a:ext cx="3694671" cy="523220"/>
          </a:xfrm>
          <a:prstGeom prst="rect">
            <a:avLst/>
          </a:prstGeom>
        </p:spPr>
        <p:txBody>
          <a:bodyPr wrap="square">
            <a:spAutoFit/>
          </a:bodyPr>
          <a:lstStyle/>
          <a:p>
            <a:r>
              <a:rPr lang="en-US" sz="2800" dirty="0">
                <a:solidFill>
                  <a:srgbClr val="C00000"/>
                </a:solidFill>
                <a:latin typeface="NewBaskervilleStd-Roman"/>
              </a:rPr>
              <a:t>Work-Energy Theorem</a:t>
            </a:r>
          </a:p>
        </p:txBody>
      </p:sp>
      <p:sp>
        <p:nvSpPr>
          <p:cNvPr id="2" name="Rectangle 1">
            <a:extLst>
              <a:ext uri="{FF2B5EF4-FFF2-40B4-BE49-F238E27FC236}">
                <a16:creationId xmlns:a16="http://schemas.microsoft.com/office/drawing/2014/main" id="{AD2AF5BB-8AED-D149-9B9A-68DC26AF6021}"/>
              </a:ext>
            </a:extLst>
          </p:cNvPr>
          <p:cNvSpPr/>
          <p:nvPr/>
        </p:nvSpPr>
        <p:spPr>
          <a:xfrm>
            <a:off x="457201" y="602221"/>
            <a:ext cx="5066269" cy="713232"/>
          </a:xfrm>
          <a:prstGeom prst="rect">
            <a:avLst/>
          </a:prstGeom>
        </p:spPr>
        <p:txBody>
          <a:bodyPr wrap="square">
            <a:spAutoFit/>
          </a:bodyPr>
          <a:lstStyle/>
          <a:p>
            <a:r>
              <a:rPr lang="en-US" sz="2000" dirty="0">
                <a:solidFill>
                  <a:srgbClr val="7030A0"/>
                </a:solidFill>
                <a:latin typeface="LiberationSerif"/>
              </a:rPr>
              <a:t>Let’s consider the net work done on a particle as it moves over an infinitesimal displacement: </a:t>
            </a:r>
            <a:endParaRPr lang="en-US" sz="2000" dirty="0">
              <a:solidFill>
                <a:srgbClr val="7030A0"/>
              </a:solidFill>
            </a:endParaRPr>
          </a:p>
        </p:txBody>
      </p:sp>
      <p:sp>
        <p:nvSpPr>
          <p:cNvPr id="3" name="Rectangle 2">
            <a:extLst>
              <a:ext uri="{FF2B5EF4-FFF2-40B4-BE49-F238E27FC236}">
                <a16:creationId xmlns:a16="http://schemas.microsoft.com/office/drawing/2014/main" id="{872C9B8F-BCD6-4941-AE6E-A2168FA602C5}"/>
              </a:ext>
            </a:extLst>
          </p:cNvPr>
          <p:cNvSpPr/>
          <p:nvPr/>
        </p:nvSpPr>
        <p:spPr>
          <a:xfrm>
            <a:off x="461320" y="1515509"/>
            <a:ext cx="6421951" cy="1938992"/>
          </a:xfrm>
          <a:prstGeom prst="rect">
            <a:avLst/>
          </a:prstGeom>
        </p:spPr>
        <p:txBody>
          <a:bodyPr wrap="none">
            <a:spAutoFit/>
          </a:bodyPr>
          <a:lstStyle/>
          <a:p>
            <a:r>
              <a:rPr lang="en-US" sz="2000" dirty="0">
                <a:solidFill>
                  <a:srgbClr val="A50021"/>
                </a:solidFill>
                <a:latin typeface="LiberationSerif"/>
              </a:rPr>
              <a:t>According to Newton’s second law    					so</a:t>
            </a:r>
          </a:p>
          <a:p>
            <a:endParaRPr lang="en-US" sz="2000" dirty="0">
              <a:solidFill>
                <a:srgbClr val="A50021"/>
              </a:solidFill>
              <a:latin typeface="LiberationSerif"/>
            </a:endParaRPr>
          </a:p>
          <a:p>
            <a:r>
              <a:rPr lang="en-US" sz="2000" dirty="0">
                <a:solidFill>
                  <a:srgbClr val="A50021"/>
                </a:solidFill>
                <a:latin typeface="LiberationSerif"/>
              </a:rPr>
              <a:t>Rearrangement gives</a:t>
            </a:r>
          </a:p>
          <a:p>
            <a:endParaRPr lang="en-US" sz="2000" dirty="0">
              <a:solidFill>
                <a:srgbClr val="A50021"/>
              </a:solidFill>
              <a:latin typeface="LiberationSerif"/>
            </a:endParaRPr>
          </a:p>
          <a:p>
            <a:r>
              <a:rPr lang="en-US" sz="2000" dirty="0">
                <a:solidFill>
                  <a:srgbClr val="A50021"/>
                </a:solidFill>
                <a:latin typeface="LiberationSerif"/>
              </a:rPr>
              <a:t>This gives us the net work done on the particle: </a:t>
            </a:r>
          </a:p>
          <a:p>
            <a:r>
              <a:rPr lang="en-US" sz="2000" dirty="0">
                <a:solidFill>
                  <a:srgbClr val="A50021"/>
                </a:solidFill>
                <a:latin typeface="LiberationSerif"/>
              </a:rPr>
              <a:t> </a:t>
            </a:r>
            <a:endParaRPr lang="en-US" sz="2000" dirty="0">
              <a:solidFill>
                <a:srgbClr val="A50021"/>
              </a:solidFill>
            </a:endParaRPr>
          </a:p>
        </p:txBody>
      </p:sp>
      <p:pic>
        <p:nvPicPr>
          <p:cNvPr id="7" name="Picture 6" descr="Text&#10;&#10;Description automatically generated">
            <a:extLst>
              <a:ext uri="{FF2B5EF4-FFF2-40B4-BE49-F238E27FC236}">
                <a16:creationId xmlns:a16="http://schemas.microsoft.com/office/drawing/2014/main" id="{55228AA3-A6B1-1242-A24C-88A64D1CD4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9832" y="707453"/>
            <a:ext cx="2057400" cy="406400"/>
          </a:xfrm>
          <a:prstGeom prst="rect">
            <a:avLst/>
          </a:prstGeom>
        </p:spPr>
      </p:pic>
      <p:pic>
        <p:nvPicPr>
          <p:cNvPr id="9" name="Picture 8" descr="Text&#10;&#10;Description automatically generated">
            <a:extLst>
              <a:ext uri="{FF2B5EF4-FFF2-40B4-BE49-F238E27FC236}">
                <a16:creationId xmlns:a16="http://schemas.microsoft.com/office/drawing/2014/main" id="{8F97C876-428E-3B40-8638-AB442C2034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39169" y="1420319"/>
            <a:ext cx="1993900" cy="495300"/>
          </a:xfrm>
          <a:prstGeom prst="rect">
            <a:avLst/>
          </a:prstGeom>
        </p:spPr>
      </p:pic>
      <p:pic>
        <p:nvPicPr>
          <p:cNvPr id="11" name="Picture 10" descr="Text&#10;&#10;Description automatically generated with medium confidence">
            <a:extLst>
              <a:ext uri="{FF2B5EF4-FFF2-40B4-BE49-F238E27FC236}">
                <a16:creationId xmlns:a16="http://schemas.microsoft.com/office/drawing/2014/main" id="{41C748F9-3FDA-A444-8BF3-AD3D5F37777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53336" y="1420319"/>
            <a:ext cx="2476500" cy="469900"/>
          </a:xfrm>
          <a:prstGeom prst="rect">
            <a:avLst/>
          </a:prstGeom>
        </p:spPr>
      </p:pic>
      <p:pic>
        <p:nvPicPr>
          <p:cNvPr id="13" name="Picture 12">
            <a:extLst>
              <a:ext uri="{FF2B5EF4-FFF2-40B4-BE49-F238E27FC236}">
                <a16:creationId xmlns:a16="http://schemas.microsoft.com/office/drawing/2014/main" id="{42AAFD35-C5DE-7B48-AD7A-C7597F92629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05670" y="2020485"/>
            <a:ext cx="5435600" cy="622300"/>
          </a:xfrm>
          <a:prstGeom prst="rect">
            <a:avLst/>
          </a:prstGeom>
        </p:spPr>
      </p:pic>
      <p:pic>
        <p:nvPicPr>
          <p:cNvPr id="15" name="Picture 14" descr="Text, letter&#10;&#10;Description automatically generated">
            <a:extLst>
              <a:ext uri="{FF2B5EF4-FFF2-40B4-BE49-F238E27FC236}">
                <a16:creationId xmlns:a16="http://schemas.microsoft.com/office/drawing/2014/main" id="{F2DD2228-E660-1E44-85B8-687EDE1371F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809617" y="3222750"/>
            <a:ext cx="5143500" cy="1308100"/>
          </a:xfrm>
          <a:prstGeom prst="rect">
            <a:avLst/>
          </a:prstGeom>
        </p:spPr>
      </p:pic>
      <p:sp>
        <p:nvSpPr>
          <p:cNvPr id="16" name="Rectangle 15">
            <a:extLst>
              <a:ext uri="{FF2B5EF4-FFF2-40B4-BE49-F238E27FC236}">
                <a16:creationId xmlns:a16="http://schemas.microsoft.com/office/drawing/2014/main" id="{26E2A718-792A-654A-A3C0-1A5B75EBAB89}"/>
              </a:ext>
            </a:extLst>
          </p:cNvPr>
          <p:cNvSpPr/>
          <p:nvPr/>
        </p:nvSpPr>
        <p:spPr>
          <a:xfrm>
            <a:off x="2749959" y="4702049"/>
            <a:ext cx="5491311" cy="369332"/>
          </a:xfrm>
          <a:prstGeom prst="rect">
            <a:avLst/>
          </a:prstGeom>
        </p:spPr>
        <p:txBody>
          <a:bodyPr wrap="none">
            <a:spAutoFit/>
          </a:bodyPr>
          <a:lstStyle/>
          <a:p>
            <a:r>
              <a:rPr lang="en-US" dirty="0">
                <a:solidFill>
                  <a:srgbClr val="008000"/>
                </a:solidFill>
                <a:latin typeface="LiberationSerif"/>
              </a:rPr>
              <a:t>This important result is called the </a:t>
            </a:r>
            <a:r>
              <a:rPr lang="en-US" b="1" dirty="0">
                <a:solidFill>
                  <a:srgbClr val="008000"/>
                </a:solidFill>
                <a:latin typeface="LiberationSerif"/>
              </a:rPr>
              <a:t>work-energy theorem </a:t>
            </a:r>
            <a:endParaRPr lang="en-US" dirty="0">
              <a:solidFill>
                <a:srgbClr val="008000"/>
              </a:solidFill>
            </a:endParaRPr>
          </a:p>
        </p:txBody>
      </p:sp>
      <p:pic>
        <p:nvPicPr>
          <p:cNvPr id="18" name="Picture 17" descr="Graphical user interface, text, application&#10;&#10;Description automatically generated">
            <a:extLst>
              <a:ext uri="{FF2B5EF4-FFF2-40B4-BE49-F238E27FC236}">
                <a16:creationId xmlns:a16="http://schemas.microsoft.com/office/drawing/2014/main" id="{38BBCC10-597A-2E46-9A9D-E4BD6A617EA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57201" y="5344705"/>
            <a:ext cx="7188200" cy="1155700"/>
          </a:xfrm>
          <a:prstGeom prst="rect">
            <a:avLst/>
          </a:prstGeom>
        </p:spPr>
      </p:pic>
      <p:pic>
        <p:nvPicPr>
          <p:cNvPr id="1025" name="Picture 1" descr="page352image18370832">
            <a:extLst>
              <a:ext uri="{FF2B5EF4-FFF2-40B4-BE49-F238E27FC236}">
                <a16:creationId xmlns:a16="http://schemas.microsoft.com/office/drawing/2014/main" id="{DD5F66A4-6BE1-3247-A76B-3A7051BE7EB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91586" y="2967072"/>
            <a:ext cx="3771900" cy="2540000"/>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6F8875D1-1B71-D14C-915D-240DF9280254}"/>
              </a:ext>
            </a:extLst>
          </p:cNvPr>
          <p:cNvSpPr/>
          <p:nvPr/>
        </p:nvSpPr>
        <p:spPr>
          <a:xfrm>
            <a:off x="8241270" y="5507072"/>
            <a:ext cx="3771900" cy="1261884"/>
          </a:xfrm>
          <a:prstGeom prst="rect">
            <a:avLst/>
          </a:prstGeom>
        </p:spPr>
        <p:txBody>
          <a:bodyPr wrap="square">
            <a:spAutoFit/>
          </a:bodyPr>
          <a:lstStyle/>
          <a:p>
            <a:r>
              <a:rPr lang="en-US" sz="1600" dirty="0">
                <a:solidFill>
                  <a:srgbClr val="000066"/>
                </a:solidFill>
                <a:latin typeface="LiberationSerif"/>
              </a:rPr>
              <a:t>Horse pulls are common events at state fairs. The work done by the horses pulling on the load results in a change in kinetic energy of the load, ultimately going faster. </a:t>
            </a:r>
            <a:r>
              <a:rPr lang="en-US" sz="1200" dirty="0">
                <a:solidFill>
                  <a:srgbClr val="000066"/>
                </a:solidFill>
                <a:latin typeface="LiberationSerif"/>
              </a:rPr>
              <a:t>(credit: modification of work by “</a:t>
            </a:r>
            <a:r>
              <a:rPr lang="en-US" sz="1200" dirty="0" err="1">
                <a:solidFill>
                  <a:srgbClr val="000066"/>
                </a:solidFill>
                <a:latin typeface="LiberationSerif"/>
              </a:rPr>
              <a:t>Jassen</a:t>
            </a:r>
            <a:r>
              <a:rPr lang="en-US" sz="1200" dirty="0">
                <a:solidFill>
                  <a:srgbClr val="000066"/>
                </a:solidFill>
                <a:latin typeface="LiberationSerif"/>
              </a:rPr>
              <a:t>”/ Flickr) </a:t>
            </a:r>
            <a:endParaRPr lang="en-US" sz="1200" dirty="0">
              <a:solidFill>
                <a:srgbClr val="000066"/>
              </a:solidFill>
            </a:endParaRPr>
          </a:p>
        </p:txBody>
      </p:sp>
    </p:spTree>
    <p:extLst>
      <p:ext uri="{BB962C8B-B14F-4D97-AF65-F5344CB8AC3E}">
        <p14:creationId xmlns:p14="http://schemas.microsoft.com/office/powerpoint/2010/main" val="9211582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534032" y="89043"/>
            <a:ext cx="3694671" cy="523220"/>
          </a:xfrm>
          <a:prstGeom prst="rect">
            <a:avLst/>
          </a:prstGeom>
        </p:spPr>
        <p:txBody>
          <a:bodyPr wrap="square">
            <a:spAutoFit/>
          </a:bodyPr>
          <a:lstStyle/>
          <a:p>
            <a:r>
              <a:rPr lang="en-US" sz="2800" dirty="0">
                <a:solidFill>
                  <a:srgbClr val="C00000"/>
                </a:solidFill>
                <a:latin typeface="NewBaskervilleStd-Roman"/>
              </a:rPr>
              <a:t>Work-Energy Theorem</a:t>
            </a:r>
          </a:p>
        </p:txBody>
      </p:sp>
      <p:sp>
        <p:nvSpPr>
          <p:cNvPr id="6" name="Rectangle 5">
            <a:extLst>
              <a:ext uri="{FF2B5EF4-FFF2-40B4-BE49-F238E27FC236}">
                <a16:creationId xmlns:a16="http://schemas.microsoft.com/office/drawing/2014/main" id="{32E08D7F-6DBC-3C48-AF2C-3606F1BC8A55}"/>
              </a:ext>
            </a:extLst>
          </p:cNvPr>
          <p:cNvSpPr/>
          <p:nvPr/>
        </p:nvSpPr>
        <p:spPr>
          <a:xfrm>
            <a:off x="495400" y="612263"/>
            <a:ext cx="4940350" cy="2462213"/>
          </a:xfrm>
          <a:prstGeom prst="rect">
            <a:avLst/>
          </a:prstGeom>
        </p:spPr>
        <p:txBody>
          <a:bodyPr wrap="square">
            <a:spAutoFit/>
          </a:bodyPr>
          <a:lstStyle/>
          <a:p>
            <a:r>
              <a:rPr lang="en-US" sz="2200" dirty="0">
                <a:solidFill>
                  <a:srgbClr val="008000"/>
                </a:solidFill>
                <a:latin typeface="LiberationSans"/>
              </a:rPr>
              <a:t>Example: Loop-the-Loop </a:t>
            </a:r>
          </a:p>
          <a:p>
            <a:r>
              <a:rPr lang="en-US" sz="2200" dirty="0">
                <a:latin typeface="LiberationSans"/>
              </a:rPr>
              <a:t>The frictionless track for a toy car includes a loop-the-loop of radius R. How high, measured from the bottom of the loop, must the car be placed to start from rest on the approaching section of track and go all the way around the loop?</a:t>
            </a:r>
          </a:p>
        </p:txBody>
      </p:sp>
      <p:pic>
        <p:nvPicPr>
          <p:cNvPr id="3" name="Picture 2" descr="Diagram&#10;&#10;Description automatically generated">
            <a:extLst>
              <a:ext uri="{FF2B5EF4-FFF2-40B4-BE49-F238E27FC236}">
                <a16:creationId xmlns:a16="http://schemas.microsoft.com/office/drawing/2014/main" id="{47203EBF-93BD-1C42-9F6A-C4DB6A7F93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35750" y="630176"/>
            <a:ext cx="5638800" cy="2870200"/>
          </a:xfrm>
          <a:prstGeom prst="rect">
            <a:avLst/>
          </a:prstGeom>
        </p:spPr>
      </p:pic>
      <p:sp>
        <p:nvSpPr>
          <p:cNvPr id="8" name="Rectangle 7">
            <a:extLst>
              <a:ext uri="{FF2B5EF4-FFF2-40B4-BE49-F238E27FC236}">
                <a16:creationId xmlns:a16="http://schemas.microsoft.com/office/drawing/2014/main" id="{F5EC3A79-5C6B-8048-9E18-65A9ABCA3B3E}"/>
              </a:ext>
            </a:extLst>
          </p:cNvPr>
          <p:cNvSpPr/>
          <p:nvPr/>
        </p:nvSpPr>
        <p:spPr>
          <a:xfrm>
            <a:off x="231058" y="3692956"/>
            <a:ext cx="11201200" cy="400110"/>
          </a:xfrm>
          <a:prstGeom prst="rect">
            <a:avLst/>
          </a:prstGeom>
        </p:spPr>
        <p:txBody>
          <a:bodyPr wrap="square">
            <a:spAutoFit/>
          </a:bodyPr>
          <a:lstStyle/>
          <a:p>
            <a:r>
              <a:rPr lang="en-US" sz="2000" dirty="0">
                <a:latin typeface="LiberationSerif"/>
              </a:rPr>
              <a:t>From the work-energy theorem, the starting height determines the speed of the car at the top of the loop </a:t>
            </a:r>
            <a:endParaRPr lang="en-US" sz="2000" dirty="0"/>
          </a:p>
        </p:txBody>
      </p:sp>
      <p:pic>
        <p:nvPicPr>
          <p:cNvPr id="10" name="Picture 9" descr="Text&#10;&#10;Description automatically generated with medium confidence">
            <a:extLst>
              <a:ext uri="{FF2B5EF4-FFF2-40B4-BE49-F238E27FC236}">
                <a16:creationId xmlns:a16="http://schemas.microsoft.com/office/drawing/2014/main" id="{68435B09-27C1-C540-8C7E-15A937DD0E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70450" y="4150820"/>
            <a:ext cx="2451100" cy="533400"/>
          </a:xfrm>
          <a:prstGeom prst="rect">
            <a:avLst/>
          </a:prstGeom>
        </p:spPr>
      </p:pic>
      <p:sp>
        <p:nvSpPr>
          <p:cNvPr id="11" name="Rectangle 10">
            <a:extLst>
              <a:ext uri="{FF2B5EF4-FFF2-40B4-BE49-F238E27FC236}">
                <a16:creationId xmlns:a16="http://schemas.microsoft.com/office/drawing/2014/main" id="{415812C1-40A6-B44B-839E-C3722A44EDC0}"/>
              </a:ext>
            </a:extLst>
          </p:cNvPr>
          <p:cNvSpPr/>
          <p:nvPr/>
        </p:nvSpPr>
        <p:spPr>
          <a:xfrm>
            <a:off x="231058" y="4684220"/>
            <a:ext cx="11465542" cy="1323439"/>
          </a:xfrm>
          <a:prstGeom prst="rect">
            <a:avLst/>
          </a:prstGeom>
        </p:spPr>
        <p:txBody>
          <a:bodyPr wrap="square">
            <a:spAutoFit/>
          </a:bodyPr>
          <a:lstStyle/>
          <a:p>
            <a:r>
              <a:rPr lang="en-US" sz="2000" dirty="0">
                <a:latin typeface="LiberationSerif"/>
              </a:rPr>
              <a:t>Since the weight points in the same direction as the net vertical displacement, the total work done by the gravitational force is positive. At the top of the loop, the normal force and gravity are both down and the acceleration is centripetal, so </a:t>
            </a:r>
          </a:p>
          <a:p>
            <a:r>
              <a:rPr lang="en-US" sz="2000" dirty="0">
                <a:latin typeface="LiberationSerif"/>
              </a:rPr>
              <a:t> </a:t>
            </a:r>
            <a:endParaRPr lang="en-US" sz="2000" dirty="0"/>
          </a:p>
        </p:txBody>
      </p:sp>
      <p:pic>
        <p:nvPicPr>
          <p:cNvPr id="13" name="Picture 12" descr="Diagram&#10;&#10;Description automatically generated">
            <a:extLst>
              <a:ext uri="{FF2B5EF4-FFF2-40B4-BE49-F238E27FC236}">
                <a16:creationId xmlns:a16="http://schemas.microsoft.com/office/drawing/2014/main" id="{D5EF015F-E9A7-384C-B30F-D70DE7C3CD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70450" y="5368650"/>
            <a:ext cx="2565400" cy="596900"/>
          </a:xfrm>
          <a:prstGeom prst="rect">
            <a:avLst/>
          </a:prstGeom>
        </p:spPr>
      </p:pic>
      <p:sp>
        <p:nvSpPr>
          <p:cNvPr id="14" name="Rectangle 13">
            <a:extLst>
              <a:ext uri="{FF2B5EF4-FFF2-40B4-BE49-F238E27FC236}">
                <a16:creationId xmlns:a16="http://schemas.microsoft.com/office/drawing/2014/main" id="{B378277E-24CC-D54B-980E-ED8675F41EC3}"/>
              </a:ext>
            </a:extLst>
          </p:cNvPr>
          <p:cNvSpPr/>
          <p:nvPr/>
        </p:nvSpPr>
        <p:spPr>
          <a:xfrm>
            <a:off x="231058" y="5920707"/>
            <a:ext cx="11729884" cy="646331"/>
          </a:xfrm>
          <a:prstGeom prst="rect">
            <a:avLst/>
          </a:prstGeom>
        </p:spPr>
        <p:txBody>
          <a:bodyPr wrap="square">
            <a:spAutoFit/>
          </a:bodyPr>
          <a:lstStyle/>
          <a:p>
            <a:r>
              <a:rPr lang="en-US" dirty="0">
                <a:latin typeface="LiberationSerif"/>
              </a:rPr>
              <a:t>The condition for maintaining contact with the track is that there must be some slight normal force, that is, </a:t>
            </a:r>
            <a:r>
              <a:rPr lang="en-US" i="1" dirty="0">
                <a:latin typeface="STIXGeneral" pitchFamily="2" charset="2"/>
              </a:rPr>
              <a:t>N </a:t>
            </a:r>
            <a:r>
              <a:rPr lang="en-US" dirty="0">
                <a:latin typeface="STIXGeneral" pitchFamily="2" charset="2"/>
              </a:rPr>
              <a:t>&gt; 0 </a:t>
            </a:r>
            <a:r>
              <a:rPr lang="en-US" dirty="0">
                <a:latin typeface="LiberationSerif"/>
              </a:rPr>
              <a:t>. Substituting for </a:t>
            </a:r>
            <a:r>
              <a:rPr lang="en-US" i="1" dirty="0">
                <a:latin typeface="STIXGeneral" pitchFamily="2" charset="2"/>
              </a:rPr>
              <a:t>v</a:t>
            </a:r>
            <a:r>
              <a:rPr lang="en-US" sz="1400" baseline="-25000" dirty="0">
                <a:latin typeface="STIXGeneral" pitchFamily="2" charset="2"/>
              </a:rPr>
              <a:t>2</a:t>
            </a:r>
            <a:r>
              <a:rPr lang="en-US" sz="1400" dirty="0">
                <a:latin typeface="STIXGeneral" pitchFamily="2" charset="2"/>
              </a:rPr>
              <a:t> </a:t>
            </a:r>
            <a:r>
              <a:rPr lang="en-US" dirty="0">
                <a:latin typeface="LiberationSerif"/>
              </a:rPr>
              <a:t>and </a:t>
            </a:r>
            <a:r>
              <a:rPr lang="en-US" i="1" dirty="0">
                <a:latin typeface="LiberationSerif"/>
              </a:rPr>
              <a:t>N</a:t>
            </a:r>
            <a:r>
              <a:rPr lang="en-US" dirty="0">
                <a:latin typeface="LiberationSerif"/>
              </a:rPr>
              <a:t>, we can find the condition for </a:t>
            </a:r>
            <a:r>
              <a:rPr lang="en-US" i="1" dirty="0">
                <a:latin typeface="STIXGeneral" pitchFamily="2" charset="2"/>
              </a:rPr>
              <a:t>y</a:t>
            </a:r>
            <a:r>
              <a:rPr lang="en-US" sz="1400" baseline="-25000" dirty="0">
                <a:latin typeface="STIXGeneral" pitchFamily="2" charset="2"/>
              </a:rPr>
              <a:t>1</a:t>
            </a:r>
            <a:r>
              <a:rPr lang="en-US" sz="1400" dirty="0">
                <a:latin typeface="STIXGeneral" pitchFamily="2" charset="2"/>
              </a:rPr>
              <a:t> </a:t>
            </a:r>
            <a:r>
              <a:rPr lang="en-US" dirty="0">
                <a:latin typeface="LiberationSerif"/>
              </a:rPr>
              <a:t>. </a:t>
            </a:r>
            <a:endParaRPr lang="en-US" dirty="0"/>
          </a:p>
        </p:txBody>
      </p:sp>
    </p:spTree>
    <p:extLst>
      <p:ext uri="{BB962C8B-B14F-4D97-AF65-F5344CB8AC3E}">
        <p14:creationId xmlns:p14="http://schemas.microsoft.com/office/powerpoint/2010/main" val="23075407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534032" y="89043"/>
            <a:ext cx="3694671" cy="523220"/>
          </a:xfrm>
          <a:prstGeom prst="rect">
            <a:avLst/>
          </a:prstGeom>
        </p:spPr>
        <p:txBody>
          <a:bodyPr wrap="square">
            <a:spAutoFit/>
          </a:bodyPr>
          <a:lstStyle/>
          <a:p>
            <a:r>
              <a:rPr lang="en-US" sz="2800" dirty="0">
                <a:solidFill>
                  <a:srgbClr val="C00000"/>
                </a:solidFill>
                <a:latin typeface="NewBaskervilleStd-Roman"/>
              </a:rPr>
              <a:t>Work-Energy Theorem</a:t>
            </a:r>
          </a:p>
        </p:txBody>
      </p:sp>
      <p:pic>
        <p:nvPicPr>
          <p:cNvPr id="6" name="Picture 5" descr="Graphical user interface, text, application&#10;&#10;Description automatically generated">
            <a:extLst>
              <a:ext uri="{FF2B5EF4-FFF2-40B4-BE49-F238E27FC236}">
                <a16:creationId xmlns:a16="http://schemas.microsoft.com/office/drawing/2014/main" id="{7B4FBEBB-71A6-924C-82E9-EC2A5A679F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1" y="5344705"/>
            <a:ext cx="7188200" cy="1155700"/>
          </a:xfrm>
          <a:prstGeom prst="rect">
            <a:avLst/>
          </a:prstGeom>
        </p:spPr>
      </p:pic>
      <p:sp>
        <p:nvSpPr>
          <p:cNvPr id="7" name="Rectangle 6">
            <a:extLst>
              <a:ext uri="{FF2B5EF4-FFF2-40B4-BE49-F238E27FC236}">
                <a16:creationId xmlns:a16="http://schemas.microsoft.com/office/drawing/2014/main" id="{016B7080-F31B-5349-B2FF-B8E2064E0CCF}"/>
              </a:ext>
            </a:extLst>
          </p:cNvPr>
          <p:cNvSpPr/>
          <p:nvPr/>
        </p:nvSpPr>
        <p:spPr>
          <a:xfrm>
            <a:off x="531436" y="2008988"/>
            <a:ext cx="10979882" cy="1938992"/>
          </a:xfrm>
          <a:prstGeom prst="rect">
            <a:avLst/>
          </a:prstGeom>
        </p:spPr>
        <p:txBody>
          <a:bodyPr wrap="square">
            <a:spAutoFit/>
          </a:bodyPr>
          <a:lstStyle/>
          <a:p>
            <a:r>
              <a:rPr lang="en-US" sz="2400" dirty="0">
                <a:solidFill>
                  <a:srgbClr val="0000CC"/>
                </a:solidFill>
              </a:rPr>
              <a:t>Assignment 5</a:t>
            </a:r>
          </a:p>
          <a:p>
            <a:endParaRPr lang="en-US" sz="2400" dirty="0">
              <a:solidFill>
                <a:srgbClr val="0000CC"/>
              </a:solidFill>
            </a:endParaRPr>
          </a:p>
          <a:p>
            <a:r>
              <a:rPr lang="en-US" sz="2400" dirty="0"/>
              <a:t>A constant 10-N horizontal force is applied to a 20-kg cart at rest on a level floor. </a:t>
            </a:r>
          </a:p>
          <a:p>
            <a:endParaRPr lang="en-US" sz="2400" dirty="0"/>
          </a:p>
          <a:p>
            <a:r>
              <a:rPr lang="en-US" sz="2400" dirty="0"/>
              <a:t>If friction is negligible, what is the speed of the cart when it has been pushed 8.0 m? </a:t>
            </a:r>
          </a:p>
        </p:txBody>
      </p:sp>
    </p:spTree>
    <p:extLst>
      <p:ext uri="{BB962C8B-B14F-4D97-AF65-F5344CB8AC3E}">
        <p14:creationId xmlns:p14="http://schemas.microsoft.com/office/powerpoint/2010/main" val="41590228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3534032" y="89043"/>
            <a:ext cx="3694671" cy="523220"/>
          </a:xfrm>
          <a:prstGeom prst="rect">
            <a:avLst/>
          </a:prstGeom>
        </p:spPr>
        <p:txBody>
          <a:bodyPr wrap="square">
            <a:spAutoFit/>
          </a:bodyPr>
          <a:lstStyle/>
          <a:p>
            <a:r>
              <a:rPr lang="en-US" sz="2800" dirty="0">
                <a:solidFill>
                  <a:srgbClr val="C00000"/>
                </a:solidFill>
                <a:latin typeface="NewBaskervilleStd-Roman"/>
              </a:rPr>
              <a:t>Work-Energy Theorem</a:t>
            </a:r>
          </a:p>
        </p:txBody>
      </p:sp>
      <p:sp>
        <p:nvSpPr>
          <p:cNvPr id="6" name="Rectangle 5">
            <a:extLst>
              <a:ext uri="{FF2B5EF4-FFF2-40B4-BE49-F238E27FC236}">
                <a16:creationId xmlns:a16="http://schemas.microsoft.com/office/drawing/2014/main" id="{82DE22BB-1DCE-484F-A1F7-13466536E5DE}"/>
              </a:ext>
            </a:extLst>
          </p:cNvPr>
          <p:cNvSpPr/>
          <p:nvPr/>
        </p:nvSpPr>
        <p:spPr>
          <a:xfrm>
            <a:off x="451154" y="802276"/>
            <a:ext cx="10993595" cy="2677656"/>
          </a:xfrm>
          <a:prstGeom prst="rect">
            <a:avLst/>
          </a:prstGeom>
        </p:spPr>
        <p:txBody>
          <a:bodyPr wrap="square">
            <a:spAutoFit/>
          </a:bodyPr>
          <a:lstStyle/>
          <a:p>
            <a:r>
              <a:rPr lang="en-US" sz="2400" dirty="0">
                <a:solidFill>
                  <a:srgbClr val="008000"/>
                </a:solidFill>
                <a:latin typeface="LiberationSans"/>
              </a:rPr>
              <a:t>Example: Determining a Stopping Force </a:t>
            </a:r>
          </a:p>
          <a:p>
            <a:endParaRPr lang="en-US" sz="2400" dirty="0">
              <a:solidFill>
                <a:srgbClr val="008000"/>
              </a:solidFill>
              <a:latin typeface="LiberationSans"/>
            </a:endParaRPr>
          </a:p>
          <a:p>
            <a:r>
              <a:rPr lang="en-US" sz="2400" dirty="0">
                <a:latin typeface="LiberationSans"/>
              </a:rPr>
              <a:t>A bullet from a 0.22LR-caliber cartridge has a mass of 40 grains (2.60 g) and a muzzle velocity of 1100 ft./s (335 m/s). It can penetrate eight 1-inch pine boards, each with thickness 0.75 inches. </a:t>
            </a:r>
          </a:p>
          <a:p>
            <a:endParaRPr lang="en-US" sz="2400" dirty="0">
              <a:latin typeface="LiberationSans"/>
            </a:endParaRPr>
          </a:p>
          <a:p>
            <a:r>
              <a:rPr lang="en-US" sz="2400" dirty="0">
                <a:latin typeface="LiberationSans"/>
              </a:rPr>
              <a:t>What is the average stopping force exerted by the wood, as shown in Figure?</a:t>
            </a:r>
          </a:p>
        </p:txBody>
      </p:sp>
      <p:sp>
        <p:nvSpPr>
          <p:cNvPr id="2" name="Rectangle 1">
            <a:extLst>
              <a:ext uri="{FF2B5EF4-FFF2-40B4-BE49-F238E27FC236}">
                <a16:creationId xmlns:a16="http://schemas.microsoft.com/office/drawing/2014/main" id="{8AC221E5-A4A1-004D-85D0-75DB3704099E}"/>
              </a:ext>
            </a:extLst>
          </p:cNvPr>
          <p:cNvSpPr/>
          <p:nvPr/>
        </p:nvSpPr>
        <p:spPr>
          <a:xfrm>
            <a:off x="605842" y="6055724"/>
            <a:ext cx="10993594" cy="369332"/>
          </a:xfrm>
          <a:prstGeom prst="rect">
            <a:avLst/>
          </a:prstGeom>
        </p:spPr>
        <p:txBody>
          <a:bodyPr wrap="square">
            <a:spAutoFit/>
          </a:bodyPr>
          <a:lstStyle/>
          <a:p>
            <a:r>
              <a:rPr lang="en-US" dirty="0">
                <a:solidFill>
                  <a:srgbClr val="C00000"/>
                </a:solidFill>
                <a:latin typeface="LiberationSerif"/>
              </a:rPr>
              <a:t>The boards exert a force to stop the bullet. As a result, the boards do work, and the bullet loses kinetic energy. </a:t>
            </a:r>
            <a:endParaRPr lang="en-US" dirty="0">
              <a:solidFill>
                <a:srgbClr val="C00000"/>
              </a:solidFill>
            </a:endParaRPr>
          </a:p>
        </p:txBody>
      </p:sp>
      <p:pic>
        <p:nvPicPr>
          <p:cNvPr id="7" name="Picture 6" descr="Diagram&#10;&#10;Description automatically generated">
            <a:extLst>
              <a:ext uri="{FF2B5EF4-FFF2-40B4-BE49-F238E27FC236}">
                <a16:creationId xmlns:a16="http://schemas.microsoft.com/office/drawing/2014/main" id="{0D83269C-9993-2D4B-8F02-068F43BE02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5541" y="3567678"/>
            <a:ext cx="8407400" cy="2400300"/>
          </a:xfrm>
          <a:prstGeom prst="rect">
            <a:avLst/>
          </a:prstGeom>
        </p:spPr>
      </p:pic>
    </p:spTree>
    <p:extLst>
      <p:ext uri="{BB962C8B-B14F-4D97-AF65-F5344CB8AC3E}">
        <p14:creationId xmlns:p14="http://schemas.microsoft.com/office/powerpoint/2010/main" val="15674288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5058032" y="89044"/>
            <a:ext cx="3694671" cy="523220"/>
          </a:xfrm>
          <a:prstGeom prst="rect">
            <a:avLst/>
          </a:prstGeom>
        </p:spPr>
        <p:txBody>
          <a:bodyPr wrap="square">
            <a:spAutoFit/>
          </a:bodyPr>
          <a:lstStyle/>
          <a:p>
            <a:r>
              <a:rPr lang="en-US" sz="2800" dirty="0">
                <a:solidFill>
                  <a:srgbClr val="C00000"/>
                </a:solidFill>
                <a:latin typeface="NewBaskervilleStd-Roman"/>
              </a:rPr>
              <a:t>Power </a:t>
            </a:r>
          </a:p>
        </p:txBody>
      </p:sp>
      <p:sp>
        <p:nvSpPr>
          <p:cNvPr id="2" name="Rectangle 1">
            <a:extLst>
              <a:ext uri="{FF2B5EF4-FFF2-40B4-BE49-F238E27FC236}">
                <a16:creationId xmlns:a16="http://schemas.microsoft.com/office/drawing/2014/main" id="{2C740881-9BE8-E244-8E6D-68CA4B9360FC}"/>
              </a:ext>
            </a:extLst>
          </p:cNvPr>
          <p:cNvSpPr/>
          <p:nvPr/>
        </p:nvSpPr>
        <p:spPr>
          <a:xfrm>
            <a:off x="689113" y="612264"/>
            <a:ext cx="8309113" cy="830997"/>
          </a:xfrm>
          <a:prstGeom prst="rect">
            <a:avLst/>
          </a:prstGeom>
        </p:spPr>
        <p:txBody>
          <a:bodyPr wrap="square">
            <a:spAutoFit/>
          </a:bodyPr>
          <a:lstStyle/>
          <a:p>
            <a:r>
              <a:rPr lang="en-US" sz="2400" dirty="0">
                <a:solidFill>
                  <a:srgbClr val="7030A0"/>
                </a:solidFill>
                <a:latin typeface="LiberationSerif"/>
              </a:rPr>
              <a:t>The average power as the work done during a time interval, divided by the interval:</a:t>
            </a:r>
            <a:endParaRPr lang="en-US" sz="2400" dirty="0">
              <a:solidFill>
                <a:srgbClr val="7030A0"/>
              </a:solidFill>
            </a:endParaRPr>
          </a:p>
        </p:txBody>
      </p:sp>
      <p:sp>
        <p:nvSpPr>
          <p:cNvPr id="3" name="Rectangle 2">
            <a:extLst>
              <a:ext uri="{FF2B5EF4-FFF2-40B4-BE49-F238E27FC236}">
                <a16:creationId xmlns:a16="http://schemas.microsoft.com/office/drawing/2014/main" id="{FB229D4C-A51A-E947-AC89-73DC6D5CD73B}"/>
              </a:ext>
            </a:extLst>
          </p:cNvPr>
          <p:cNvSpPr/>
          <p:nvPr/>
        </p:nvSpPr>
        <p:spPr>
          <a:xfrm>
            <a:off x="689113" y="2253214"/>
            <a:ext cx="11314957" cy="461665"/>
          </a:xfrm>
          <a:prstGeom prst="rect">
            <a:avLst/>
          </a:prstGeom>
        </p:spPr>
        <p:txBody>
          <a:bodyPr wrap="square">
            <a:spAutoFit/>
          </a:bodyPr>
          <a:lstStyle/>
          <a:p>
            <a:r>
              <a:rPr lang="en-US" sz="2400" dirty="0">
                <a:solidFill>
                  <a:srgbClr val="C00000"/>
                </a:solidFill>
                <a:latin typeface="LiberationSerif"/>
              </a:rPr>
              <a:t>We can also define the instantaneous power (frequently referred to as just plain </a:t>
            </a:r>
            <a:r>
              <a:rPr lang="en-US" sz="2400" b="1" dirty="0">
                <a:solidFill>
                  <a:srgbClr val="C00000"/>
                </a:solidFill>
                <a:latin typeface="LiberationSerif"/>
              </a:rPr>
              <a:t>power</a:t>
            </a:r>
            <a:r>
              <a:rPr lang="en-US" sz="2400" dirty="0">
                <a:solidFill>
                  <a:srgbClr val="C00000"/>
                </a:solidFill>
                <a:latin typeface="LiberationSerif"/>
              </a:rPr>
              <a:t>). </a:t>
            </a:r>
            <a:endParaRPr lang="en-US" sz="2400" dirty="0">
              <a:solidFill>
                <a:srgbClr val="C00000"/>
              </a:solidFill>
            </a:endParaRPr>
          </a:p>
        </p:txBody>
      </p:sp>
      <p:pic>
        <p:nvPicPr>
          <p:cNvPr id="7" name="Picture 6" descr="Text&#10;&#10;Description automatically generated with medium confidence">
            <a:extLst>
              <a:ext uri="{FF2B5EF4-FFF2-40B4-BE49-F238E27FC236}">
                <a16:creationId xmlns:a16="http://schemas.microsoft.com/office/drawing/2014/main" id="{135C58E0-9509-B644-A79D-ED1F6C1C50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7895" y="1338814"/>
            <a:ext cx="1811547" cy="914400"/>
          </a:xfrm>
          <a:prstGeom prst="rect">
            <a:avLst/>
          </a:prstGeom>
        </p:spPr>
      </p:pic>
      <p:pic>
        <p:nvPicPr>
          <p:cNvPr id="9" name="Picture 8" descr="Text&#10;&#10;Description automatically generated">
            <a:extLst>
              <a:ext uri="{FF2B5EF4-FFF2-40B4-BE49-F238E27FC236}">
                <a16:creationId xmlns:a16="http://schemas.microsoft.com/office/drawing/2014/main" id="{6762DF1F-49EB-974C-9C3E-F9F3644CBA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9113" y="2894199"/>
            <a:ext cx="11007553" cy="1475239"/>
          </a:xfrm>
          <a:prstGeom prst="rect">
            <a:avLst/>
          </a:prstGeom>
        </p:spPr>
      </p:pic>
      <p:pic>
        <p:nvPicPr>
          <p:cNvPr id="11" name="Picture 10" descr="Shape&#10;&#10;Description automatically generated with low confidence">
            <a:extLst>
              <a:ext uri="{FF2B5EF4-FFF2-40B4-BE49-F238E27FC236}">
                <a16:creationId xmlns:a16="http://schemas.microsoft.com/office/drawing/2014/main" id="{AAA13665-1920-DE4E-950D-371964BD6E4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23566" y="3793652"/>
            <a:ext cx="673100" cy="575786"/>
          </a:xfrm>
          <a:prstGeom prst="rect">
            <a:avLst/>
          </a:prstGeom>
        </p:spPr>
      </p:pic>
      <p:sp>
        <p:nvSpPr>
          <p:cNvPr id="12" name="Rectangle 11">
            <a:extLst>
              <a:ext uri="{FF2B5EF4-FFF2-40B4-BE49-F238E27FC236}">
                <a16:creationId xmlns:a16="http://schemas.microsoft.com/office/drawing/2014/main" id="{028F6729-5B50-B842-82CF-501E1AD945AF}"/>
              </a:ext>
            </a:extLst>
          </p:cNvPr>
          <p:cNvSpPr/>
          <p:nvPr/>
        </p:nvSpPr>
        <p:spPr>
          <a:xfrm>
            <a:off x="689113" y="4548758"/>
            <a:ext cx="11007552" cy="769441"/>
          </a:xfrm>
          <a:prstGeom prst="rect">
            <a:avLst/>
          </a:prstGeom>
        </p:spPr>
        <p:txBody>
          <a:bodyPr wrap="square">
            <a:spAutoFit/>
          </a:bodyPr>
          <a:lstStyle/>
          <a:p>
            <a:r>
              <a:rPr lang="en-US" sz="2200" dirty="0">
                <a:solidFill>
                  <a:srgbClr val="C00000"/>
                </a:solidFill>
                <a:latin typeface="LiberationSerif"/>
              </a:rPr>
              <a:t>If the power is constant over a time interval, the average power for that interval equals the instantaneous power, and the work done by the agent supplying the power is </a:t>
            </a:r>
            <a:r>
              <a:rPr lang="en-US" sz="2200" i="1" dirty="0"/>
              <a:t>W </a:t>
            </a:r>
            <a:r>
              <a:rPr lang="en-US" sz="2200" dirty="0"/>
              <a:t>= </a:t>
            </a:r>
            <a:r>
              <a:rPr lang="en-US" sz="2200" i="1" dirty="0"/>
              <a:t>P</a:t>
            </a:r>
            <a:r>
              <a:rPr lang="el-GR" sz="2200" i="1" dirty="0"/>
              <a:t>Δ</a:t>
            </a:r>
            <a:r>
              <a:rPr lang="en-US" sz="2200" i="1" dirty="0"/>
              <a:t>t </a:t>
            </a:r>
            <a:r>
              <a:rPr lang="en-US" sz="2200" dirty="0">
                <a:latin typeface="LiberationSerif"/>
              </a:rPr>
              <a:t> </a:t>
            </a:r>
            <a:endParaRPr lang="en-US" sz="2200" dirty="0"/>
          </a:p>
        </p:txBody>
      </p:sp>
      <p:sp>
        <p:nvSpPr>
          <p:cNvPr id="13" name="Rectangle 12">
            <a:extLst>
              <a:ext uri="{FF2B5EF4-FFF2-40B4-BE49-F238E27FC236}">
                <a16:creationId xmlns:a16="http://schemas.microsoft.com/office/drawing/2014/main" id="{A1FB48DA-F126-AE47-8E95-38F6D0341116}"/>
              </a:ext>
            </a:extLst>
          </p:cNvPr>
          <p:cNvSpPr/>
          <p:nvPr/>
        </p:nvSpPr>
        <p:spPr>
          <a:xfrm>
            <a:off x="689113" y="5559665"/>
            <a:ext cx="6288516" cy="430887"/>
          </a:xfrm>
          <a:prstGeom prst="rect">
            <a:avLst/>
          </a:prstGeom>
        </p:spPr>
        <p:txBody>
          <a:bodyPr wrap="none">
            <a:spAutoFit/>
          </a:bodyPr>
          <a:lstStyle/>
          <a:p>
            <a:r>
              <a:rPr lang="en-US" sz="2200" dirty="0">
                <a:solidFill>
                  <a:srgbClr val="7030A0"/>
                </a:solidFill>
                <a:latin typeface="LiberationSerif"/>
              </a:rPr>
              <a:t>If the power during an interval varies with time, then </a:t>
            </a:r>
            <a:endParaRPr lang="en-US" sz="2200" dirty="0">
              <a:solidFill>
                <a:srgbClr val="7030A0"/>
              </a:solidFill>
            </a:endParaRPr>
          </a:p>
        </p:txBody>
      </p:sp>
      <p:pic>
        <p:nvPicPr>
          <p:cNvPr id="15" name="Picture 14" descr="Text&#10;&#10;Description automatically generated with medium confidence">
            <a:extLst>
              <a:ext uri="{FF2B5EF4-FFF2-40B4-BE49-F238E27FC236}">
                <a16:creationId xmlns:a16="http://schemas.microsoft.com/office/drawing/2014/main" id="{35A354D3-556B-1C4A-A828-FB2B4DC5280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05367" y="5444908"/>
            <a:ext cx="1244600" cy="660400"/>
          </a:xfrm>
          <a:prstGeom prst="rect">
            <a:avLst/>
          </a:prstGeom>
        </p:spPr>
      </p:pic>
    </p:spTree>
    <p:extLst>
      <p:ext uri="{BB962C8B-B14F-4D97-AF65-F5344CB8AC3E}">
        <p14:creationId xmlns:p14="http://schemas.microsoft.com/office/powerpoint/2010/main" val="26672166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5058032" y="89044"/>
            <a:ext cx="3694671" cy="523220"/>
          </a:xfrm>
          <a:prstGeom prst="rect">
            <a:avLst/>
          </a:prstGeom>
        </p:spPr>
        <p:txBody>
          <a:bodyPr wrap="square">
            <a:spAutoFit/>
          </a:bodyPr>
          <a:lstStyle/>
          <a:p>
            <a:r>
              <a:rPr lang="en-US" sz="2800" dirty="0">
                <a:solidFill>
                  <a:srgbClr val="C00000"/>
                </a:solidFill>
                <a:latin typeface="NewBaskervilleStd-Roman"/>
              </a:rPr>
              <a:t>Power </a:t>
            </a:r>
          </a:p>
        </p:txBody>
      </p:sp>
      <p:sp>
        <p:nvSpPr>
          <p:cNvPr id="2" name="Rectangle 1">
            <a:extLst>
              <a:ext uri="{FF2B5EF4-FFF2-40B4-BE49-F238E27FC236}">
                <a16:creationId xmlns:a16="http://schemas.microsoft.com/office/drawing/2014/main" id="{56245F5A-1FD5-4F44-87D0-4B74A2E0128F}"/>
              </a:ext>
            </a:extLst>
          </p:cNvPr>
          <p:cNvSpPr/>
          <p:nvPr/>
        </p:nvSpPr>
        <p:spPr>
          <a:xfrm>
            <a:off x="543339" y="612264"/>
            <a:ext cx="10217426" cy="2677656"/>
          </a:xfrm>
          <a:prstGeom prst="rect">
            <a:avLst/>
          </a:prstGeom>
        </p:spPr>
        <p:txBody>
          <a:bodyPr wrap="square">
            <a:spAutoFit/>
          </a:bodyPr>
          <a:lstStyle/>
          <a:p>
            <a:r>
              <a:rPr lang="en-US" sz="2400" dirty="0">
                <a:solidFill>
                  <a:srgbClr val="7030A0"/>
                </a:solidFill>
                <a:latin typeface="LiberationSerif"/>
              </a:rPr>
              <a:t>Work and energy are measured in units of joules, so power is measured in units of joules per second, which has been given the SI name watts, abbreviation W: </a:t>
            </a:r>
          </a:p>
          <a:p>
            <a:endParaRPr lang="en-US" sz="2400" dirty="0">
              <a:solidFill>
                <a:srgbClr val="7030A0"/>
              </a:solidFill>
              <a:latin typeface="LiberationSerif"/>
            </a:endParaRPr>
          </a:p>
          <a:p>
            <a:pPr algn="ctr"/>
            <a:r>
              <a:rPr lang="en-US" sz="2400" dirty="0">
                <a:latin typeface="STIXGeneral" pitchFamily="2" charset="2"/>
              </a:rPr>
              <a:t>1 J/s = 1 W </a:t>
            </a:r>
            <a:endParaRPr lang="en-US" sz="2400" dirty="0">
              <a:latin typeface="LiberationSerif"/>
            </a:endParaRPr>
          </a:p>
          <a:p>
            <a:pPr algn="ctr"/>
            <a:endParaRPr lang="en-US" sz="2400" dirty="0">
              <a:latin typeface="LiberationSerif"/>
            </a:endParaRPr>
          </a:p>
          <a:p>
            <a:pPr algn="ctr"/>
            <a:r>
              <a:rPr lang="en-US" sz="2400" dirty="0">
                <a:latin typeface="LiberationSerif"/>
              </a:rPr>
              <a:t>Another common unit for expressing the power capability of everyday devices is </a:t>
            </a:r>
            <a:endParaRPr lang="en-US" sz="2400" dirty="0"/>
          </a:p>
          <a:p>
            <a:r>
              <a:rPr lang="en-US" sz="2400" dirty="0">
                <a:latin typeface="LiberationSerif"/>
              </a:rPr>
              <a:t>horsepower: </a:t>
            </a:r>
            <a:r>
              <a:rPr lang="en-US" sz="2400" dirty="0">
                <a:solidFill>
                  <a:srgbClr val="7030A0"/>
                </a:solidFill>
                <a:latin typeface="STIXGeneral" pitchFamily="2" charset="2"/>
              </a:rPr>
              <a:t>1 hp = 746 W</a:t>
            </a:r>
            <a:r>
              <a:rPr lang="en-US" sz="2400" dirty="0">
                <a:solidFill>
                  <a:srgbClr val="7030A0"/>
                </a:solidFill>
                <a:latin typeface="LiberationSerif"/>
              </a:rPr>
              <a:t> </a:t>
            </a:r>
            <a:endParaRPr lang="en-US" sz="2400" dirty="0">
              <a:solidFill>
                <a:srgbClr val="7030A0"/>
              </a:solidFill>
            </a:endParaRPr>
          </a:p>
        </p:txBody>
      </p:sp>
      <p:sp>
        <p:nvSpPr>
          <p:cNvPr id="3" name="Rectangle 2">
            <a:extLst>
              <a:ext uri="{FF2B5EF4-FFF2-40B4-BE49-F238E27FC236}">
                <a16:creationId xmlns:a16="http://schemas.microsoft.com/office/drawing/2014/main" id="{121FDE41-23DD-814E-8771-05C1B50A2DDF}"/>
              </a:ext>
            </a:extLst>
          </p:cNvPr>
          <p:cNvSpPr/>
          <p:nvPr/>
        </p:nvSpPr>
        <p:spPr>
          <a:xfrm>
            <a:off x="490330" y="4307451"/>
            <a:ext cx="6241774" cy="1446550"/>
          </a:xfrm>
          <a:prstGeom prst="rect">
            <a:avLst/>
          </a:prstGeom>
        </p:spPr>
        <p:txBody>
          <a:bodyPr wrap="square">
            <a:spAutoFit/>
          </a:bodyPr>
          <a:lstStyle/>
          <a:p>
            <a:r>
              <a:rPr lang="en-US" sz="2200" dirty="0">
                <a:latin typeface="LiberationSerif"/>
              </a:rPr>
              <a:t>An 80-kg army trainee does 10 pull-ups in 10 s.</a:t>
            </a:r>
          </a:p>
          <a:p>
            <a:r>
              <a:rPr lang="en-US" sz="2200" dirty="0">
                <a:latin typeface="LiberationSerif"/>
              </a:rPr>
              <a:t>How much average power do the trainee’s muscles supply moving his body? Make reasonable estimates for any quantities needed.</a:t>
            </a:r>
            <a:endParaRPr lang="en-US" sz="2200" dirty="0"/>
          </a:p>
        </p:txBody>
      </p:sp>
      <p:sp>
        <p:nvSpPr>
          <p:cNvPr id="6" name="Rectangle 5">
            <a:extLst>
              <a:ext uri="{FF2B5EF4-FFF2-40B4-BE49-F238E27FC236}">
                <a16:creationId xmlns:a16="http://schemas.microsoft.com/office/drawing/2014/main" id="{6EFD2A9B-2CF9-A546-8766-9E3BD689603E}"/>
              </a:ext>
            </a:extLst>
          </p:cNvPr>
          <p:cNvSpPr/>
          <p:nvPr/>
        </p:nvSpPr>
        <p:spPr>
          <a:xfrm>
            <a:off x="490330" y="3860241"/>
            <a:ext cx="2983637" cy="769441"/>
          </a:xfrm>
          <a:prstGeom prst="rect">
            <a:avLst/>
          </a:prstGeom>
        </p:spPr>
        <p:txBody>
          <a:bodyPr wrap="none">
            <a:spAutoFit/>
          </a:bodyPr>
          <a:lstStyle/>
          <a:p>
            <a:r>
              <a:rPr lang="en-US" sz="2200" dirty="0">
                <a:solidFill>
                  <a:srgbClr val="008000"/>
                </a:solidFill>
                <a:latin typeface="LiberationSans"/>
              </a:rPr>
              <a:t>Example: Pull-Up Power </a:t>
            </a:r>
          </a:p>
          <a:p>
            <a:endParaRPr lang="en-US" sz="2200" dirty="0"/>
          </a:p>
        </p:txBody>
      </p:sp>
      <p:pic>
        <p:nvPicPr>
          <p:cNvPr id="8" name="Picture 7" descr="Diagram&#10;&#10;Description automatically generated">
            <a:extLst>
              <a:ext uri="{FF2B5EF4-FFF2-40B4-BE49-F238E27FC236}">
                <a16:creationId xmlns:a16="http://schemas.microsoft.com/office/drawing/2014/main" id="{9CDE7CE5-D774-8D4F-804C-04BEFDA254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07082" y="3111356"/>
            <a:ext cx="3910575" cy="3657600"/>
          </a:xfrm>
          <a:prstGeom prst="rect">
            <a:avLst/>
          </a:prstGeom>
        </p:spPr>
      </p:pic>
    </p:spTree>
    <p:extLst>
      <p:ext uri="{BB962C8B-B14F-4D97-AF65-F5344CB8AC3E}">
        <p14:creationId xmlns:p14="http://schemas.microsoft.com/office/powerpoint/2010/main" val="2089328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5058032" y="89044"/>
            <a:ext cx="3694671" cy="523220"/>
          </a:xfrm>
          <a:prstGeom prst="rect">
            <a:avLst/>
          </a:prstGeom>
        </p:spPr>
        <p:txBody>
          <a:bodyPr wrap="square">
            <a:spAutoFit/>
          </a:bodyPr>
          <a:lstStyle/>
          <a:p>
            <a:r>
              <a:rPr lang="en-US" sz="2800" dirty="0">
                <a:solidFill>
                  <a:srgbClr val="C00000"/>
                </a:solidFill>
                <a:latin typeface="NewBaskervilleStd-Roman"/>
              </a:rPr>
              <a:t>Power </a:t>
            </a:r>
          </a:p>
        </p:txBody>
      </p:sp>
      <p:sp>
        <p:nvSpPr>
          <p:cNvPr id="2" name="Rectangle 1">
            <a:extLst>
              <a:ext uri="{FF2B5EF4-FFF2-40B4-BE49-F238E27FC236}">
                <a16:creationId xmlns:a16="http://schemas.microsoft.com/office/drawing/2014/main" id="{56245F5A-1FD5-4F44-87D0-4B74A2E0128F}"/>
              </a:ext>
            </a:extLst>
          </p:cNvPr>
          <p:cNvSpPr/>
          <p:nvPr/>
        </p:nvSpPr>
        <p:spPr>
          <a:xfrm>
            <a:off x="543339" y="612264"/>
            <a:ext cx="10217426" cy="2677656"/>
          </a:xfrm>
          <a:prstGeom prst="rect">
            <a:avLst/>
          </a:prstGeom>
        </p:spPr>
        <p:txBody>
          <a:bodyPr wrap="square">
            <a:spAutoFit/>
          </a:bodyPr>
          <a:lstStyle/>
          <a:p>
            <a:r>
              <a:rPr lang="en-US" sz="2400" dirty="0">
                <a:solidFill>
                  <a:srgbClr val="7030A0"/>
                </a:solidFill>
                <a:latin typeface="LiberationSerif"/>
              </a:rPr>
              <a:t>Work and energy are measured in units of joules, so power is measured in units of joules per second, which has been given the SI name watts, abbreviation W: </a:t>
            </a:r>
          </a:p>
          <a:p>
            <a:endParaRPr lang="en-US" sz="2400" dirty="0">
              <a:solidFill>
                <a:srgbClr val="7030A0"/>
              </a:solidFill>
              <a:latin typeface="LiberationSerif"/>
            </a:endParaRPr>
          </a:p>
          <a:p>
            <a:pPr algn="ctr"/>
            <a:r>
              <a:rPr lang="en-US" sz="2400" dirty="0">
                <a:latin typeface="STIXGeneral" pitchFamily="2" charset="2"/>
              </a:rPr>
              <a:t>1 J/s = 1 W </a:t>
            </a:r>
            <a:endParaRPr lang="en-US" sz="2400" dirty="0">
              <a:latin typeface="LiberationSerif"/>
            </a:endParaRPr>
          </a:p>
          <a:p>
            <a:pPr algn="ctr"/>
            <a:endParaRPr lang="en-US" sz="2400" dirty="0">
              <a:latin typeface="LiberationSerif"/>
            </a:endParaRPr>
          </a:p>
          <a:p>
            <a:pPr algn="ctr"/>
            <a:r>
              <a:rPr lang="en-US" sz="2400" dirty="0">
                <a:latin typeface="LiberationSerif"/>
              </a:rPr>
              <a:t>Another common unit for expressing the power capability of everyday devices is </a:t>
            </a:r>
            <a:endParaRPr lang="en-US" sz="2400" dirty="0"/>
          </a:p>
          <a:p>
            <a:r>
              <a:rPr lang="en-US" sz="2400" dirty="0">
                <a:latin typeface="LiberationSerif"/>
              </a:rPr>
              <a:t>horsepower: </a:t>
            </a:r>
            <a:r>
              <a:rPr lang="en-US" sz="2400" dirty="0">
                <a:solidFill>
                  <a:srgbClr val="7030A0"/>
                </a:solidFill>
                <a:latin typeface="STIXGeneral" pitchFamily="2" charset="2"/>
              </a:rPr>
              <a:t>1 hp = 746 W</a:t>
            </a:r>
            <a:r>
              <a:rPr lang="en-US" sz="2400" dirty="0">
                <a:solidFill>
                  <a:srgbClr val="7030A0"/>
                </a:solidFill>
                <a:latin typeface="LiberationSerif"/>
              </a:rPr>
              <a:t> </a:t>
            </a:r>
            <a:endParaRPr lang="en-US" sz="2400" dirty="0">
              <a:solidFill>
                <a:srgbClr val="7030A0"/>
              </a:solidFill>
            </a:endParaRPr>
          </a:p>
        </p:txBody>
      </p:sp>
      <p:sp>
        <p:nvSpPr>
          <p:cNvPr id="9" name="Rectangle 8">
            <a:extLst>
              <a:ext uri="{FF2B5EF4-FFF2-40B4-BE49-F238E27FC236}">
                <a16:creationId xmlns:a16="http://schemas.microsoft.com/office/drawing/2014/main" id="{33A30A29-37C8-4941-B151-93258687D9ED}"/>
              </a:ext>
            </a:extLst>
          </p:cNvPr>
          <p:cNvSpPr/>
          <p:nvPr/>
        </p:nvSpPr>
        <p:spPr>
          <a:xfrm>
            <a:off x="543339" y="3917301"/>
            <a:ext cx="10979882" cy="1200329"/>
          </a:xfrm>
          <a:prstGeom prst="rect">
            <a:avLst/>
          </a:prstGeom>
        </p:spPr>
        <p:txBody>
          <a:bodyPr wrap="square">
            <a:spAutoFit/>
          </a:bodyPr>
          <a:lstStyle/>
          <a:p>
            <a:r>
              <a:rPr lang="en-US" sz="2400" dirty="0">
                <a:solidFill>
                  <a:srgbClr val="0000CC"/>
                </a:solidFill>
              </a:rPr>
              <a:t>Assignment 6</a:t>
            </a:r>
          </a:p>
          <a:p>
            <a:endParaRPr lang="en-US" sz="2400" dirty="0">
              <a:solidFill>
                <a:srgbClr val="0000CC"/>
              </a:solidFill>
            </a:endParaRPr>
          </a:p>
          <a:p>
            <a:r>
              <a:rPr lang="en-US" sz="2400" dirty="0"/>
              <a:t>Estimate the power expended by a weightlifter raising a 150-kg barbell 2 m in 3 s. </a:t>
            </a:r>
          </a:p>
        </p:txBody>
      </p:sp>
    </p:spTree>
    <p:extLst>
      <p:ext uri="{BB962C8B-B14F-4D97-AF65-F5344CB8AC3E}">
        <p14:creationId xmlns:p14="http://schemas.microsoft.com/office/powerpoint/2010/main" val="37195994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53A0B1B-87DB-D043-B365-22C22AA6E1AD}"/>
              </a:ext>
            </a:extLst>
          </p:cNvPr>
          <p:cNvSpPr/>
          <p:nvPr/>
        </p:nvSpPr>
        <p:spPr>
          <a:xfrm>
            <a:off x="5058032" y="89044"/>
            <a:ext cx="3694671" cy="523220"/>
          </a:xfrm>
          <a:prstGeom prst="rect">
            <a:avLst/>
          </a:prstGeom>
        </p:spPr>
        <p:txBody>
          <a:bodyPr wrap="square">
            <a:spAutoFit/>
          </a:bodyPr>
          <a:lstStyle/>
          <a:p>
            <a:r>
              <a:rPr lang="en-US" sz="2800" dirty="0">
                <a:solidFill>
                  <a:srgbClr val="C00000"/>
                </a:solidFill>
                <a:latin typeface="NewBaskervilleStd-Roman"/>
              </a:rPr>
              <a:t>Power </a:t>
            </a:r>
          </a:p>
        </p:txBody>
      </p:sp>
      <p:sp>
        <p:nvSpPr>
          <p:cNvPr id="2" name="Rectangle 1">
            <a:extLst>
              <a:ext uri="{FF2B5EF4-FFF2-40B4-BE49-F238E27FC236}">
                <a16:creationId xmlns:a16="http://schemas.microsoft.com/office/drawing/2014/main" id="{56245F5A-1FD5-4F44-87D0-4B74A2E0128F}"/>
              </a:ext>
            </a:extLst>
          </p:cNvPr>
          <p:cNvSpPr/>
          <p:nvPr/>
        </p:nvSpPr>
        <p:spPr>
          <a:xfrm>
            <a:off x="543339" y="612264"/>
            <a:ext cx="10217426" cy="2677656"/>
          </a:xfrm>
          <a:prstGeom prst="rect">
            <a:avLst/>
          </a:prstGeom>
        </p:spPr>
        <p:txBody>
          <a:bodyPr wrap="square">
            <a:spAutoFit/>
          </a:bodyPr>
          <a:lstStyle/>
          <a:p>
            <a:r>
              <a:rPr lang="en-US" sz="2400" dirty="0">
                <a:solidFill>
                  <a:srgbClr val="7030A0"/>
                </a:solidFill>
                <a:latin typeface="LiberationSerif"/>
              </a:rPr>
              <a:t>Work and energy are measured in units of joules, so power is measured in units of joules per second, which has been given the SI name watts, abbreviation W: </a:t>
            </a:r>
          </a:p>
          <a:p>
            <a:endParaRPr lang="en-US" sz="2400" dirty="0">
              <a:solidFill>
                <a:srgbClr val="7030A0"/>
              </a:solidFill>
              <a:latin typeface="LiberationSerif"/>
            </a:endParaRPr>
          </a:p>
          <a:p>
            <a:pPr algn="ctr"/>
            <a:r>
              <a:rPr lang="en-US" sz="2400" dirty="0">
                <a:latin typeface="STIXGeneral" pitchFamily="2" charset="2"/>
              </a:rPr>
              <a:t>1 J/s = 1 W </a:t>
            </a:r>
            <a:endParaRPr lang="en-US" sz="2400" dirty="0">
              <a:latin typeface="LiberationSerif"/>
            </a:endParaRPr>
          </a:p>
          <a:p>
            <a:pPr algn="ctr"/>
            <a:endParaRPr lang="en-US" sz="2400" dirty="0">
              <a:latin typeface="LiberationSerif"/>
            </a:endParaRPr>
          </a:p>
          <a:p>
            <a:pPr algn="ctr"/>
            <a:r>
              <a:rPr lang="en-US" sz="2400" dirty="0">
                <a:latin typeface="LiberationSerif"/>
              </a:rPr>
              <a:t>Another common unit for expressing the power capability of everyday devices is </a:t>
            </a:r>
            <a:endParaRPr lang="en-US" sz="2400" dirty="0"/>
          </a:p>
          <a:p>
            <a:r>
              <a:rPr lang="en-US" sz="2400" dirty="0">
                <a:latin typeface="LiberationSerif"/>
              </a:rPr>
              <a:t>horsepower: </a:t>
            </a:r>
            <a:r>
              <a:rPr lang="en-US" sz="2400" dirty="0">
                <a:solidFill>
                  <a:srgbClr val="7030A0"/>
                </a:solidFill>
                <a:latin typeface="STIXGeneral" pitchFamily="2" charset="2"/>
              </a:rPr>
              <a:t>1 hp = 746 W</a:t>
            </a:r>
            <a:r>
              <a:rPr lang="en-US" sz="2400" dirty="0">
                <a:solidFill>
                  <a:srgbClr val="7030A0"/>
                </a:solidFill>
                <a:latin typeface="LiberationSerif"/>
              </a:rPr>
              <a:t> </a:t>
            </a:r>
            <a:endParaRPr lang="en-US" sz="2400" dirty="0">
              <a:solidFill>
                <a:srgbClr val="7030A0"/>
              </a:solidFill>
            </a:endParaRPr>
          </a:p>
        </p:txBody>
      </p:sp>
      <p:sp>
        <p:nvSpPr>
          <p:cNvPr id="9" name="Rectangle 8">
            <a:extLst>
              <a:ext uri="{FF2B5EF4-FFF2-40B4-BE49-F238E27FC236}">
                <a16:creationId xmlns:a16="http://schemas.microsoft.com/office/drawing/2014/main" id="{33A30A29-37C8-4941-B151-93258687D9ED}"/>
              </a:ext>
            </a:extLst>
          </p:cNvPr>
          <p:cNvSpPr/>
          <p:nvPr/>
        </p:nvSpPr>
        <p:spPr>
          <a:xfrm>
            <a:off x="543339" y="3943806"/>
            <a:ext cx="10979882" cy="1446550"/>
          </a:xfrm>
          <a:prstGeom prst="rect">
            <a:avLst/>
          </a:prstGeom>
        </p:spPr>
        <p:txBody>
          <a:bodyPr wrap="square">
            <a:spAutoFit/>
          </a:bodyPr>
          <a:lstStyle/>
          <a:p>
            <a:r>
              <a:rPr lang="en-US" sz="2200" dirty="0">
                <a:solidFill>
                  <a:srgbClr val="0000CC"/>
                </a:solidFill>
              </a:rPr>
              <a:t>Assignment 7</a:t>
            </a:r>
          </a:p>
          <a:p>
            <a:endParaRPr lang="en-US" sz="2200" dirty="0">
              <a:solidFill>
                <a:srgbClr val="0000CC"/>
              </a:solidFill>
            </a:endParaRPr>
          </a:p>
          <a:p>
            <a:r>
              <a:rPr lang="en-US" sz="2200" dirty="0"/>
              <a:t>What is the cost of operating a 3.00-W electric clock for a year if the cost of electricity is $0.0900 per kW · h ? </a:t>
            </a:r>
          </a:p>
        </p:txBody>
      </p:sp>
    </p:spTree>
    <p:extLst>
      <p:ext uri="{BB962C8B-B14F-4D97-AF65-F5344CB8AC3E}">
        <p14:creationId xmlns:p14="http://schemas.microsoft.com/office/powerpoint/2010/main" val="4265612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9BB3579-A34D-462C-BD05-B0BFCC66F7F5}"/>
              </a:ext>
            </a:extLst>
          </p:cNvPr>
          <p:cNvSpPr>
            <a:spLocks noGrp="1"/>
          </p:cNvSpPr>
          <p:nvPr>
            <p:ph type="title"/>
          </p:nvPr>
        </p:nvSpPr>
        <p:spPr/>
        <p:txBody>
          <a:bodyPr>
            <a:normAutofit/>
          </a:bodyPr>
          <a:lstStyle/>
          <a:p>
            <a:r>
              <a:rPr lang="en-US" dirty="0"/>
              <a:t>Attribution</a:t>
            </a:r>
          </a:p>
        </p:txBody>
      </p:sp>
      <p:sp>
        <p:nvSpPr>
          <p:cNvPr id="13" name="Text Placeholder 12">
            <a:extLst>
              <a:ext uri="{FF2B5EF4-FFF2-40B4-BE49-F238E27FC236}">
                <a16:creationId xmlns:a16="http://schemas.microsoft.com/office/drawing/2014/main" id="{1D300BD5-7725-41CA-8827-BBF2FEBB4465}"/>
              </a:ext>
            </a:extLst>
          </p:cNvPr>
          <p:cNvSpPr>
            <a:spLocks noGrp="1"/>
          </p:cNvSpPr>
          <p:nvPr>
            <p:ph type="body" idx="1"/>
          </p:nvPr>
        </p:nvSpPr>
        <p:spPr/>
        <p:txBody>
          <a:bodyPr/>
          <a:lstStyle/>
          <a:p>
            <a:r>
              <a:rPr lang="en-US" dirty="0"/>
              <a:t>These slides are a derivative of the “</a:t>
            </a:r>
            <a:r>
              <a:rPr lang="en-US" dirty="0">
                <a:hlinkClick r:id="rId2"/>
              </a:rPr>
              <a:t>University Physics Vol. 1</a:t>
            </a:r>
            <a:r>
              <a:rPr lang="en-US" dirty="0"/>
              <a:t>” slides by </a:t>
            </a:r>
            <a:r>
              <a:rPr lang="en-US" dirty="0">
                <a:hlinkClick r:id="rId3"/>
              </a:rPr>
              <a:t>OpenStax</a:t>
            </a:r>
            <a:r>
              <a:rPr lang="en-US" dirty="0"/>
              <a:t>, used under a </a:t>
            </a:r>
            <a:r>
              <a:rPr lang="en-US" dirty="0">
                <a:hlinkClick r:id="rId4"/>
              </a:rPr>
              <a:t>Creative Commons Attribution 4.0 </a:t>
            </a:r>
            <a:r>
              <a:rPr lang="en-US" dirty="0"/>
              <a:t>license by Mkhitar Hobosyan.</a:t>
            </a:r>
          </a:p>
        </p:txBody>
      </p:sp>
    </p:spTree>
    <p:extLst>
      <p:ext uri="{BB962C8B-B14F-4D97-AF65-F5344CB8AC3E}">
        <p14:creationId xmlns:p14="http://schemas.microsoft.com/office/powerpoint/2010/main" val="23226454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7736</TotalTime>
  <Words>2230</Words>
  <Application>Microsoft Office PowerPoint</Application>
  <PresentationFormat>Widescreen</PresentationFormat>
  <Paragraphs>162</Paragraphs>
  <Slides>21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Arial</vt:lpstr>
      <vt:lpstr>Calibri</vt:lpstr>
      <vt:lpstr>Calibri Light</vt:lpstr>
      <vt:lpstr>Cambria Math</vt:lpstr>
      <vt:lpstr>LiberationSans</vt:lpstr>
      <vt:lpstr>LiberationSerif</vt:lpstr>
      <vt:lpstr>NewBaskervilleStd-Roman</vt:lpstr>
      <vt:lpstr>STIXGeneral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Attribution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Mkhitar Hobosyan</dc:creator>
  <cp:lastModifiedBy>Justin White</cp:lastModifiedBy>
  <cp:revision>276</cp:revision>
  <dcterms:created xsi:type="dcterms:W3CDTF">2020-07-24T02:56:39Z</dcterms:created>
  <dcterms:modified xsi:type="dcterms:W3CDTF">2021-12-15T17:53:36Z</dcterms:modified>
</cp:coreProperties>
</file>