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98" r:id="rId2"/>
    <p:sldId id="509" r:id="rId3"/>
    <p:sldId id="454" r:id="rId4"/>
    <p:sldId id="507" r:id="rId5"/>
    <p:sldId id="513" r:id="rId6"/>
    <p:sldId id="511" r:id="rId7"/>
    <p:sldId id="512" r:id="rId8"/>
    <p:sldId id="510" r:id="rId9"/>
    <p:sldId id="508" r:id="rId10"/>
    <p:sldId id="515" r:id="rId11"/>
    <p:sldId id="516" r:id="rId12"/>
    <p:sldId id="520" r:id="rId13"/>
    <p:sldId id="517" r:id="rId14"/>
    <p:sldId id="538" r:id="rId15"/>
    <p:sldId id="518" r:id="rId16"/>
    <p:sldId id="521" r:id="rId17"/>
    <p:sldId id="519" r:id="rId18"/>
    <p:sldId id="522" r:id="rId19"/>
    <p:sldId id="523" r:id="rId20"/>
    <p:sldId id="529" r:id="rId21"/>
    <p:sldId id="524" r:id="rId22"/>
    <p:sldId id="530" r:id="rId23"/>
    <p:sldId id="525" r:id="rId24"/>
    <p:sldId id="526" r:id="rId25"/>
    <p:sldId id="527" r:id="rId26"/>
    <p:sldId id="528" r:id="rId27"/>
    <p:sldId id="514" r:id="rId28"/>
    <p:sldId id="533" r:id="rId29"/>
    <p:sldId id="537" r:id="rId30"/>
    <p:sldId id="366"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A50021"/>
    <a:srgbClr val="000066"/>
    <a:srgbClr val="3611D3"/>
    <a:srgbClr val="FF6600"/>
    <a:srgbClr val="0000CC"/>
    <a:srgbClr val="F1DBB7"/>
    <a:srgbClr val="FFE3BD"/>
    <a:srgbClr val="003399"/>
    <a:srgbClr val="3B12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87" autoAdjust="0"/>
    <p:restoredTop sz="94270" autoAdjust="0"/>
  </p:normalViewPr>
  <p:slideViewPr>
    <p:cSldViewPr snapToGrid="0">
      <p:cViewPr varScale="1">
        <p:scale>
          <a:sx n="81" d="100"/>
          <a:sy n="81" d="100"/>
        </p:scale>
        <p:origin x="643" y="53"/>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A8A30-7305-4ECD-9707-8185AE31915A}" type="datetimeFigureOut">
              <a:rPr lang="en-US" smtClean="0"/>
              <a:t>12/15/2021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A271F1-787B-4F17-8E58-0893057F05A7}" type="slidenum">
              <a:rPr lang="en-US" smtClean="0"/>
              <a:t>‹#›</a:t>
            </a:fld>
            <a:endParaRPr lang="en-US"/>
          </a:p>
        </p:txBody>
      </p:sp>
    </p:spTree>
    <p:extLst>
      <p:ext uri="{BB962C8B-B14F-4D97-AF65-F5344CB8AC3E}">
        <p14:creationId xmlns:p14="http://schemas.microsoft.com/office/powerpoint/2010/main" val="1295167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7923343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6773116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20256117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9486571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6CE86D-487B-4DC5-AD96-B605C5D30EBA}" type="datetimeFigureOut">
              <a:rPr lang="en-US" smtClean="0"/>
              <a:t>12/15/2021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23568542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6CE86D-487B-4DC5-AD96-B605C5D30EBA}" type="datetimeFigureOut">
              <a:rPr lang="en-US" smtClean="0"/>
              <a:t>12/15/2021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17110350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6CE86D-487B-4DC5-AD96-B605C5D30EBA}" type="datetimeFigureOut">
              <a:rPr lang="en-US" smtClean="0"/>
              <a:t>12/15/2021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2649651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5890743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4917863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2419522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14244272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6CE86D-487B-4DC5-AD96-B605C5D30EBA}" type="datetimeFigureOut">
              <a:rPr lang="en-US" smtClean="0"/>
              <a:t>12/15/2021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A1DDD8-2086-495A-9395-F2E7DBF98025}" type="slidenum">
              <a:rPr lang="en-US" smtClean="0"/>
              <a:t>‹#›</a:t>
            </a:fld>
            <a:endParaRPr lang="en-US"/>
          </a:p>
        </p:txBody>
      </p:sp>
    </p:spTree>
    <p:extLst>
      <p:ext uri="{BB962C8B-B14F-4D97-AF65-F5344CB8AC3E}">
        <p14:creationId xmlns:p14="http://schemas.microsoft.com/office/powerpoint/2010/main" val="18687958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openstax.org/details/books/university-physics-volume-1"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https://www.youtube.com/watch?v=EE88GIl7zJU&amp;ab_channel=ChrisHill"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hyperlink" Target="https://www.youtube.com/watch?v=x_24FBNa788&amp;ab_channel=MagicMarks" TargetMode="Externa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4.png"/><Relationship Id="rId7"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2.png"/><Relationship Id="rId5" Type="http://schemas.openxmlformats.org/officeDocument/2006/relationships/image" Target="../media/image18.png"/><Relationship Id="rId10" Type="http://schemas.openxmlformats.org/officeDocument/2006/relationships/image" Target="../media/image21.png"/><Relationship Id="rId4" Type="http://schemas.openxmlformats.org/officeDocument/2006/relationships/image" Target="../media/image17.png"/><Relationship Id="rId9"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1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1.jpg"/><Relationship Id="rId7" Type="http://schemas.openxmlformats.org/officeDocument/2006/relationships/image" Target="../media/image4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430.png"/><Relationship Id="rId5" Type="http://schemas.openxmlformats.org/officeDocument/2006/relationships/image" Target="../media/image43.png"/><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1.jpg"/><Relationship Id="rId7" Type="http://schemas.openxmlformats.org/officeDocument/2006/relationships/image" Target="../media/image4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430.png"/><Relationship Id="rId5" Type="http://schemas.openxmlformats.org/officeDocument/2006/relationships/image" Target="../media/image43.png"/><Relationship Id="rId4" Type="http://schemas.openxmlformats.org/officeDocument/2006/relationships/image" Target="../media/image42.png"/><Relationship Id="rId9"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hyperlink" Target="https://www.youtube.com/watch?v=7tWOyOu-QG4&amp;ab_channel=flight-club" TargetMode="Externa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41.jpg"/><Relationship Id="rId5" Type="http://schemas.openxmlformats.org/officeDocument/2006/relationships/image" Target="../media/image49.png"/><Relationship Id="rId4" Type="http://schemas.openxmlformats.org/officeDocument/2006/relationships/image" Target="../media/image47.jpeg"/></Relationships>
</file>

<file path=ppt/slides/_rels/slide24.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49.jpeg"/></Relationships>
</file>

<file path=ppt/slides/_rels/slide25.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hyperlink" Target="https://www.youtube.com/watch?v=dt_XJp77-mk&amp;ab_channel=TSGPhysics" TargetMode="External"/><Relationship Id="rId4" Type="http://schemas.openxmlformats.org/officeDocument/2006/relationships/image" Target="../media/image51.jpeg"/></Relationships>
</file>

<file path=ppt/slides/_rels/slide26.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56.jpeg"/><Relationship Id="rId5" Type="http://schemas.openxmlformats.org/officeDocument/2006/relationships/image" Target="../media/image55.jpg"/><Relationship Id="rId4" Type="http://schemas.openxmlformats.org/officeDocument/2006/relationships/image" Target="../media/image54.png"/><Relationship Id="rId9" Type="http://schemas.openxmlformats.org/officeDocument/2006/relationships/image" Target="../media/image59.png"/></Relationships>
</file>

<file path=ppt/slides/_rels/slide28.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2.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61.png"/></Relationships>
</file>

<file path=ppt/slides/_rels/slide29.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2.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61.png"/></Relationships>
</file>

<file path=ppt/slides/_rels/slide30.xml.rels><?xml version="1.0" encoding="UTF-8" standalone="yes"?>
<Relationships xmlns="http://schemas.openxmlformats.org/package/2006/relationships"><Relationship Id="rId3" Type="http://schemas.openxmlformats.org/officeDocument/2006/relationships/hyperlink" Target="https://openstax.org/" TargetMode="External"/><Relationship Id="rId2" Type="http://schemas.openxmlformats.org/officeDocument/2006/relationships/hyperlink" Target="https://openstax.org/details/books/university-physics-volume-1" TargetMode="External"/><Relationship Id="rId1" Type="http://schemas.openxmlformats.org/officeDocument/2006/relationships/slideLayout" Target="../slideLayouts/slideLayout3.xml"/><Relationship Id="rId4" Type="http://schemas.openxmlformats.org/officeDocument/2006/relationships/hyperlink" Target="https://creativecommons.org/licenses/by/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38000"/>
          </a:stretch>
        </a:blipFill>
        <a:effectLst/>
      </p:bgPr>
    </p:bg>
    <p:spTree>
      <p:nvGrpSpPr>
        <p:cNvPr id="1" name=""/>
        <p:cNvGrpSpPr/>
        <p:nvPr/>
      </p:nvGrpSpPr>
      <p:grpSpPr>
        <a:xfrm>
          <a:off x="0" y="0"/>
          <a:ext cx="0" cy="0"/>
          <a:chOff x="0" y="0"/>
          <a:chExt cx="0" cy="0"/>
        </a:xfrm>
      </p:grpSpPr>
      <p:sp>
        <p:nvSpPr>
          <p:cNvPr id="70" name="Freeform: Shape 69">
            <a:extLst>
              <a:ext uri="{FF2B5EF4-FFF2-40B4-BE49-F238E27FC236}">
                <a16:creationId xmlns:a16="http://schemas.microsoft.com/office/drawing/2014/main" id="{0C526D66-3621-4347-B1EF-342CBF4DB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3466"/>
            <a:ext cx="5393770" cy="6374535"/>
          </a:xfrm>
          <a:custGeom>
            <a:avLst/>
            <a:gdLst>
              <a:gd name="connsiteX0" fmla="*/ 2047752 w 5393770"/>
              <a:gd name="connsiteY0" fmla="*/ 0 h 6374535"/>
              <a:gd name="connsiteX1" fmla="*/ 5393770 w 5393770"/>
              <a:gd name="connsiteY1" fmla="*/ 3346018 h 6374535"/>
              <a:gd name="connsiteX2" fmla="*/ 3642663 w 5393770"/>
              <a:gd name="connsiteY2" fmla="*/ 6288190 h 6374535"/>
              <a:gd name="connsiteX3" fmla="*/ 3463422 w 5393770"/>
              <a:gd name="connsiteY3" fmla="*/ 6374535 h 6374535"/>
              <a:gd name="connsiteX4" fmla="*/ 624279 w 5393770"/>
              <a:gd name="connsiteY4" fmla="*/ 6374535 h 6374535"/>
              <a:gd name="connsiteX5" fmla="*/ 382249 w 5393770"/>
              <a:gd name="connsiteY5" fmla="*/ 6248727 h 6374535"/>
              <a:gd name="connsiteX6" fmla="*/ 143729 w 5393770"/>
              <a:gd name="connsiteY6" fmla="*/ 6097845 h 6374535"/>
              <a:gd name="connsiteX7" fmla="*/ 0 w 5393770"/>
              <a:gd name="connsiteY7" fmla="*/ 5989017 h 6374535"/>
              <a:gd name="connsiteX8" fmla="*/ 0 w 5393770"/>
              <a:gd name="connsiteY8" fmla="*/ 703020 h 6374535"/>
              <a:gd name="connsiteX9" fmla="*/ 143728 w 5393770"/>
              <a:gd name="connsiteY9" fmla="*/ 594191 h 6374535"/>
              <a:gd name="connsiteX10" fmla="*/ 2047752 w 5393770"/>
              <a:gd name="connsiteY10" fmla="*/ 0 h 637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93770" h="6374535">
                <a:moveTo>
                  <a:pt x="2047752" y="0"/>
                </a:moveTo>
                <a:cubicBezTo>
                  <a:pt x="3895707" y="0"/>
                  <a:pt x="5393770" y="1498063"/>
                  <a:pt x="5393770" y="3346018"/>
                </a:cubicBezTo>
                <a:cubicBezTo>
                  <a:pt x="5393770" y="4616487"/>
                  <a:pt x="4685701" y="5721578"/>
                  <a:pt x="3642663" y="6288190"/>
                </a:cubicBezTo>
                <a:lnTo>
                  <a:pt x="3463422" y="6374535"/>
                </a:lnTo>
                <a:lnTo>
                  <a:pt x="624279" y="6374535"/>
                </a:lnTo>
                <a:lnTo>
                  <a:pt x="382249" y="6248727"/>
                </a:lnTo>
                <a:cubicBezTo>
                  <a:pt x="300507" y="6201724"/>
                  <a:pt x="220937" y="6151368"/>
                  <a:pt x="143729" y="6097845"/>
                </a:cubicBezTo>
                <a:lnTo>
                  <a:pt x="0" y="5989017"/>
                </a:lnTo>
                <a:lnTo>
                  <a:pt x="0" y="703020"/>
                </a:lnTo>
                <a:lnTo>
                  <a:pt x="143728" y="594191"/>
                </a:lnTo>
                <a:cubicBezTo>
                  <a:pt x="684187" y="219535"/>
                  <a:pt x="1340332" y="0"/>
                  <a:pt x="2047752"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2" name="Freeform: Shape 71">
            <a:extLst>
              <a:ext uri="{FF2B5EF4-FFF2-40B4-BE49-F238E27FC236}">
                <a16:creationId xmlns:a16="http://schemas.microsoft.com/office/drawing/2014/main" id="{0193166D-DDF1-4F9A-A786-A7AEF5375C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7373"/>
            <a:ext cx="5229863" cy="6210629"/>
          </a:xfrm>
          <a:custGeom>
            <a:avLst/>
            <a:gdLst>
              <a:gd name="connsiteX0" fmla="*/ 2047751 w 5229863"/>
              <a:gd name="connsiteY0" fmla="*/ 0 h 6210629"/>
              <a:gd name="connsiteX1" fmla="*/ 5229863 w 5229863"/>
              <a:gd name="connsiteY1" fmla="*/ 3182112 h 6210629"/>
              <a:gd name="connsiteX2" fmla="*/ 3286373 w 5229863"/>
              <a:gd name="connsiteY2" fmla="*/ 6114158 h 6210629"/>
              <a:gd name="connsiteX3" fmla="*/ 3022794 w 5229863"/>
              <a:gd name="connsiteY3" fmla="*/ 6210629 h 6210629"/>
              <a:gd name="connsiteX4" fmla="*/ 1077939 w 5229863"/>
              <a:gd name="connsiteY4" fmla="*/ 6210629 h 6210629"/>
              <a:gd name="connsiteX5" fmla="*/ 953634 w 5229863"/>
              <a:gd name="connsiteY5" fmla="*/ 6171135 h 6210629"/>
              <a:gd name="connsiteX6" fmla="*/ 23632 w 5229863"/>
              <a:gd name="connsiteY6" fmla="*/ 5637585 h 6210629"/>
              <a:gd name="connsiteX7" fmla="*/ 0 w 5229863"/>
              <a:gd name="connsiteY7" fmla="*/ 5616107 h 6210629"/>
              <a:gd name="connsiteX8" fmla="*/ 0 w 5229863"/>
              <a:gd name="connsiteY8" fmla="*/ 748118 h 6210629"/>
              <a:gd name="connsiteX9" fmla="*/ 23632 w 5229863"/>
              <a:gd name="connsiteY9" fmla="*/ 726640 h 6210629"/>
              <a:gd name="connsiteX10" fmla="*/ 2047751 w 5229863"/>
              <a:gd name="connsiteY10" fmla="*/ 0 h 6210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29863" h="6210629">
                <a:moveTo>
                  <a:pt x="2047751" y="0"/>
                </a:moveTo>
                <a:cubicBezTo>
                  <a:pt x="3805183" y="0"/>
                  <a:pt x="5229863" y="1424680"/>
                  <a:pt x="5229863" y="3182112"/>
                </a:cubicBezTo>
                <a:cubicBezTo>
                  <a:pt x="5229863" y="4500186"/>
                  <a:pt x="4428481" y="5631087"/>
                  <a:pt x="3286373" y="6114158"/>
                </a:cubicBezTo>
                <a:lnTo>
                  <a:pt x="3022794" y="6210629"/>
                </a:lnTo>
                <a:lnTo>
                  <a:pt x="1077939" y="6210629"/>
                </a:lnTo>
                <a:lnTo>
                  <a:pt x="953634" y="6171135"/>
                </a:lnTo>
                <a:cubicBezTo>
                  <a:pt x="612471" y="6046219"/>
                  <a:pt x="298661" y="5864559"/>
                  <a:pt x="23632" y="5637585"/>
                </a:cubicBezTo>
                <a:lnTo>
                  <a:pt x="0" y="5616107"/>
                </a:lnTo>
                <a:lnTo>
                  <a:pt x="0" y="748118"/>
                </a:lnTo>
                <a:lnTo>
                  <a:pt x="23632" y="726640"/>
                </a:lnTo>
                <a:cubicBezTo>
                  <a:pt x="573689" y="272693"/>
                  <a:pt x="1278875" y="0"/>
                  <a:pt x="204775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4" name="Freeform: Shape 73">
            <a:extLst>
              <a:ext uri="{FF2B5EF4-FFF2-40B4-BE49-F238E27FC236}">
                <a16:creationId xmlns:a16="http://schemas.microsoft.com/office/drawing/2014/main" id="{8A177BCC-4208-4795-8572-4D623BA1E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33763" y="1"/>
            <a:ext cx="4480560" cy="2513993"/>
          </a:xfrm>
          <a:custGeom>
            <a:avLst/>
            <a:gdLst>
              <a:gd name="connsiteX0" fmla="*/ 18382 w 4480560"/>
              <a:gd name="connsiteY0" fmla="*/ 0 h 2513993"/>
              <a:gd name="connsiteX1" fmla="*/ 4462178 w 4480560"/>
              <a:gd name="connsiteY1" fmla="*/ 0 h 2513993"/>
              <a:gd name="connsiteX2" fmla="*/ 4468994 w 4480560"/>
              <a:gd name="connsiteY2" fmla="*/ 44657 h 2513993"/>
              <a:gd name="connsiteX3" fmla="*/ 4480560 w 4480560"/>
              <a:gd name="connsiteY3" fmla="*/ 273713 h 2513993"/>
              <a:gd name="connsiteX4" fmla="*/ 2240280 w 4480560"/>
              <a:gd name="connsiteY4" fmla="*/ 2513993 h 2513993"/>
              <a:gd name="connsiteX5" fmla="*/ 0 w 4480560"/>
              <a:gd name="connsiteY5" fmla="*/ 273713 h 2513993"/>
              <a:gd name="connsiteX6" fmla="*/ 11567 w 4480560"/>
              <a:gd name="connsiteY6" fmla="*/ 44657 h 251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0560" h="2513993">
                <a:moveTo>
                  <a:pt x="18382" y="0"/>
                </a:moveTo>
                <a:lnTo>
                  <a:pt x="4462178" y="0"/>
                </a:lnTo>
                <a:lnTo>
                  <a:pt x="4468994" y="44657"/>
                </a:lnTo>
                <a:cubicBezTo>
                  <a:pt x="4476642" y="119969"/>
                  <a:pt x="4480560" y="196384"/>
                  <a:pt x="4480560" y="273713"/>
                </a:cubicBezTo>
                <a:cubicBezTo>
                  <a:pt x="4480560" y="1510985"/>
                  <a:pt x="3477552" y="2513993"/>
                  <a:pt x="2240280" y="2513993"/>
                </a:cubicBezTo>
                <a:cubicBezTo>
                  <a:pt x="1003008" y="2513993"/>
                  <a:pt x="0" y="1510985"/>
                  <a:pt x="0" y="273713"/>
                </a:cubicBezTo>
                <a:cubicBezTo>
                  <a:pt x="0" y="196384"/>
                  <a:pt x="3918" y="119969"/>
                  <a:pt x="11567" y="4465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Freeform: Shape 75">
            <a:extLst>
              <a:ext uri="{FF2B5EF4-FFF2-40B4-BE49-F238E27FC236}">
                <a16:creationId xmlns:a16="http://schemas.microsoft.com/office/drawing/2014/main" id="{E4EE7214-AC05-465E-A501-65AA04EF5E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98355" y="2"/>
            <a:ext cx="4151376" cy="2349401"/>
          </a:xfrm>
          <a:custGeom>
            <a:avLst/>
            <a:gdLst>
              <a:gd name="connsiteX0" fmla="*/ 20101 w 4151376"/>
              <a:gd name="connsiteY0" fmla="*/ 0 h 2349401"/>
              <a:gd name="connsiteX1" fmla="*/ 4131276 w 4151376"/>
              <a:gd name="connsiteY1" fmla="*/ 0 h 2349401"/>
              <a:gd name="connsiteX2" fmla="*/ 4140659 w 4151376"/>
              <a:gd name="connsiteY2" fmla="*/ 61486 h 2349401"/>
              <a:gd name="connsiteX3" fmla="*/ 4151376 w 4151376"/>
              <a:gd name="connsiteY3" fmla="*/ 273713 h 2349401"/>
              <a:gd name="connsiteX4" fmla="*/ 2075688 w 4151376"/>
              <a:gd name="connsiteY4" fmla="*/ 2349401 h 2349401"/>
              <a:gd name="connsiteX5" fmla="*/ 0 w 4151376"/>
              <a:gd name="connsiteY5" fmla="*/ 273713 h 2349401"/>
              <a:gd name="connsiteX6" fmla="*/ 10717 w 4151376"/>
              <a:gd name="connsiteY6" fmla="*/ 61486 h 234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1376" h="2349401">
                <a:moveTo>
                  <a:pt x="20101" y="0"/>
                </a:moveTo>
                <a:lnTo>
                  <a:pt x="4131276" y="0"/>
                </a:lnTo>
                <a:lnTo>
                  <a:pt x="4140659" y="61486"/>
                </a:lnTo>
                <a:cubicBezTo>
                  <a:pt x="4147746" y="131265"/>
                  <a:pt x="4151376" y="202065"/>
                  <a:pt x="4151376" y="273713"/>
                </a:cubicBezTo>
                <a:cubicBezTo>
                  <a:pt x="4151376" y="1420084"/>
                  <a:pt x="3222059" y="2349401"/>
                  <a:pt x="2075688" y="2349401"/>
                </a:cubicBezTo>
                <a:cubicBezTo>
                  <a:pt x="929317" y="2349401"/>
                  <a:pt x="0" y="1420084"/>
                  <a:pt x="0" y="273713"/>
                </a:cubicBezTo>
                <a:cubicBezTo>
                  <a:pt x="0" y="202065"/>
                  <a:pt x="3630" y="131265"/>
                  <a:pt x="10717" y="6148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2">
            <a:extLst>
              <a:ext uri="{FF2B5EF4-FFF2-40B4-BE49-F238E27FC236}">
                <a16:creationId xmlns:a16="http://schemas.microsoft.com/office/drawing/2014/main" id="{5E62A1D4-056C-4BD6-8BAE-F355EA770FD7}"/>
              </a:ext>
            </a:extLst>
          </p:cNvPr>
          <p:cNvSpPr txBox="1">
            <a:spLocks/>
          </p:cNvSpPr>
          <p:nvPr/>
        </p:nvSpPr>
        <p:spPr>
          <a:xfrm>
            <a:off x="7062275" y="2756359"/>
            <a:ext cx="3801498" cy="1587648"/>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altLang="en-US" sz="3200" dirty="0"/>
              <a:t>Chapter 6 </a:t>
            </a:r>
          </a:p>
          <a:p>
            <a:pPr>
              <a:spcAft>
                <a:spcPts val="600"/>
              </a:spcAft>
            </a:pPr>
            <a:r>
              <a:rPr lang="en-US" altLang="en-US" sz="3200" dirty="0"/>
              <a:t>Applications of Newton’s Laws</a:t>
            </a:r>
          </a:p>
        </p:txBody>
      </p:sp>
      <p:sp>
        <p:nvSpPr>
          <p:cNvPr id="4" name="Rectangle 2">
            <a:extLst>
              <a:ext uri="{FF2B5EF4-FFF2-40B4-BE49-F238E27FC236}">
                <a16:creationId xmlns:a16="http://schemas.microsoft.com/office/drawing/2014/main" id="{0546D111-6592-4E70-8C6B-D34F7E8A89B8}"/>
              </a:ext>
            </a:extLst>
          </p:cNvPr>
          <p:cNvSpPr txBox="1">
            <a:spLocks/>
          </p:cNvSpPr>
          <p:nvPr/>
        </p:nvSpPr>
        <p:spPr>
          <a:xfrm>
            <a:off x="4578397" y="102044"/>
            <a:ext cx="5756227" cy="158764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altLang="en-US" sz="3200" dirty="0">
                <a:solidFill>
                  <a:srgbClr val="0000CC"/>
                </a:solidFill>
              </a:rPr>
              <a:t>PHYS 2425  </a:t>
            </a:r>
          </a:p>
          <a:p>
            <a:pPr>
              <a:spcAft>
                <a:spcPts val="600"/>
              </a:spcAft>
            </a:pPr>
            <a:r>
              <a:rPr lang="en-US" altLang="en-US" sz="3200" dirty="0">
                <a:solidFill>
                  <a:srgbClr val="0000CC"/>
                </a:solidFill>
              </a:rPr>
              <a:t>Physics for Scientists </a:t>
            </a:r>
          </a:p>
          <a:p>
            <a:pPr>
              <a:spcAft>
                <a:spcPts val="600"/>
              </a:spcAft>
            </a:pPr>
            <a:r>
              <a:rPr lang="en-US" altLang="en-US" sz="3200" dirty="0">
                <a:solidFill>
                  <a:srgbClr val="0000CC"/>
                </a:solidFill>
              </a:rPr>
              <a:t>and Engineers I</a:t>
            </a:r>
          </a:p>
        </p:txBody>
      </p:sp>
      <p:pic>
        <p:nvPicPr>
          <p:cNvPr id="5" name="Picture 4" descr="A picture containing text&#10;&#10;Description automatically generated">
            <a:extLst>
              <a:ext uri="{FF2B5EF4-FFF2-40B4-BE49-F238E27FC236}">
                <a16:creationId xmlns:a16="http://schemas.microsoft.com/office/drawing/2014/main" id="{00364511-71A3-4D48-AC90-C9D92CFAE6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35" y="1320950"/>
            <a:ext cx="3888245" cy="5029200"/>
          </a:xfrm>
          <a:prstGeom prst="rect">
            <a:avLst/>
          </a:prstGeom>
        </p:spPr>
      </p:pic>
      <p:sp>
        <p:nvSpPr>
          <p:cNvPr id="9" name="Rectangle 8">
            <a:extLst>
              <a:ext uri="{FF2B5EF4-FFF2-40B4-BE49-F238E27FC236}">
                <a16:creationId xmlns:a16="http://schemas.microsoft.com/office/drawing/2014/main" id="{524225FA-6C77-8B48-B8FF-D02A53285D2F}"/>
              </a:ext>
            </a:extLst>
          </p:cNvPr>
          <p:cNvSpPr/>
          <p:nvPr/>
        </p:nvSpPr>
        <p:spPr>
          <a:xfrm>
            <a:off x="895268" y="6317187"/>
            <a:ext cx="2018620" cy="553998"/>
          </a:xfrm>
          <a:prstGeom prst="rect">
            <a:avLst/>
          </a:prstGeom>
        </p:spPr>
        <p:txBody>
          <a:bodyPr wrap="square">
            <a:spAutoFit/>
          </a:bodyPr>
          <a:lstStyle/>
          <a:p>
            <a:r>
              <a:rPr lang="en-US" sz="1000" dirty="0">
                <a:solidFill>
                  <a:srgbClr val="A50021"/>
                </a:solidFill>
                <a:latin typeface="Calibri" panose="020F0502020204030204" pitchFamily="34" charset="0"/>
              </a:rPr>
              <a:t>Download the textbook for free at </a:t>
            </a:r>
            <a:r>
              <a:rPr lang="en-US" sz="1000" dirty="0">
                <a:solidFill>
                  <a:srgbClr val="A50021"/>
                </a:solidFill>
                <a:latin typeface="Calibri" panose="020F0502020204030204" pitchFamily="34" charset="0"/>
                <a:hlinkClick r:id="rId4"/>
              </a:rPr>
              <a:t>https://openstax.org/details/books/university-physics-volume-1</a:t>
            </a:r>
            <a:r>
              <a:rPr lang="en-US" sz="1000" dirty="0">
                <a:solidFill>
                  <a:srgbClr val="A50021"/>
                </a:solidFill>
                <a:latin typeface="Calibri" panose="020F0502020204030204" pitchFamily="34" charset="0"/>
              </a:rPr>
              <a:t> </a:t>
            </a:r>
            <a:endParaRPr lang="en-US" sz="1000" dirty="0">
              <a:solidFill>
                <a:srgbClr val="A50021"/>
              </a:solidFill>
              <a:effectLst/>
            </a:endParaRPr>
          </a:p>
        </p:txBody>
      </p:sp>
      <p:sp>
        <p:nvSpPr>
          <p:cNvPr id="10" name="Rectangle 9">
            <a:extLst>
              <a:ext uri="{FF2B5EF4-FFF2-40B4-BE49-F238E27FC236}">
                <a16:creationId xmlns:a16="http://schemas.microsoft.com/office/drawing/2014/main" id="{CF49F42D-A1FF-234B-BD25-2129A3225046}"/>
              </a:ext>
            </a:extLst>
          </p:cNvPr>
          <p:cNvSpPr/>
          <p:nvPr/>
        </p:nvSpPr>
        <p:spPr>
          <a:xfrm>
            <a:off x="8060818" y="6625340"/>
            <a:ext cx="4131181" cy="400110"/>
          </a:xfrm>
          <a:prstGeom prst="rect">
            <a:avLst/>
          </a:prstGeom>
        </p:spPr>
        <p:txBody>
          <a:bodyPr wrap="square">
            <a:spAutoFit/>
          </a:bodyPr>
          <a:lstStyle/>
          <a:p>
            <a:r>
              <a:rPr lang="en-US" sz="1000" dirty="0"/>
              <a:t>Image credit: modification of work by Erik Schneider/U.S. Navy </a:t>
            </a:r>
          </a:p>
          <a:p>
            <a:endParaRPr lang="en-US" sz="1000" dirty="0"/>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269189" y="89044"/>
            <a:ext cx="5653622" cy="523220"/>
          </a:xfrm>
          <a:prstGeom prst="rect">
            <a:avLst/>
          </a:prstGeom>
        </p:spPr>
        <p:txBody>
          <a:bodyPr wrap="square">
            <a:spAutoFit/>
          </a:bodyPr>
          <a:lstStyle/>
          <a:p>
            <a:r>
              <a:rPr lang="en-US" sz="2800" dirty="0">
                <a:solidFill>
                  <a:srgbClr val="C00000"/>
                </a:solidFill>
                <a:latin typeface="NewBaskervilleStd-Roman"/>
              </a:rPr>
              <a:t>Solving Problems with Newton’s Laws </a:t>
            </a:r>
          </a:p>
        </p:txBody>
      </p:sp>
      <p:pic>
        <p:nvPicPr>
          <p:cNvPr id="3" name="Picture 2" descr="Text&#10;&#10;Description automatically generated">
            <a:extLst>
              <a:ext uri="{FF2B5EF4-FFF2-40B4-BE49-F238E27FC236}">
                <a16:creationId xmlns:a16="http://schemas.microsoft.com/office/drawing/2014/main" id="{BB611F87-9929-F144-9B8B-A19AE3D10A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948" y="612264"/>
            <a:ext cx="10363200" cy="2565400"/>
          </a:xfrm>
          <a:prstGeom prst="rect">
            <a:avLst/>
          </a:prstGeom>
        </p:spPr>
      </p:pic>
      <p:pic>
        <p:nvPicPr>
          <p:cNvPr id="7" name="Picture 6" descr="Diagram&#10;&#10;Description automatically generated">
            <a:extLst>
              <a:ext uri="{FF2B5EF4-FFF2-40B4-BE49-F238E27FC236}">
                <a16:creationId xmlns:a16="http://schemas.microsoft.com/office/drawing/2014/main" id="{9A5B4A74-C17E-C548-994E-5337B0ACB3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46313" y="3200400"/>
            <a:ext cx="7588835" cy="3657600"/>
          </a:xfrm>
          <a:prstGeom prst="rect">
            <a:avLst/>
          </a:prstGeom>
        </p:spPr>
      </p:pic>
      <p:sp>
        <p:nvSpPr>
          <p:cNvPr id="8" name="Rectangle 7">
            <a:extLst>
              <a:ext uri="{FF2B5EF4-FFF2-40B4-BE49-F238E27FC236}">
                <a16:creationId xmlns:a16="http://schemas.microsoft.com/office/drawing/2014/main" id="{718B360E-C6A0-2B40-9074-D995D7328DAC}"/>
              </a:ext>
            </a:extLst>
          </p:cNvPr>
          <p:cNvSpPr/>
          <p:nvPr/>
        </p:nvSpPr>
        <p:spPr>
          <a:xfrm>
            <a:off x="471948" y="3856704"/>
            <a:ext cx="2639962" cy="2585323"/>
          </a:xfrm>
          <a:prstGeom prst="rect">
            <a:avLst/>
          </a:prstGeom>
        </p:spPr>
        <p:txBody>
          <a:bodyPr wrap="square">
            <a:spAutoFit/>
          </a:bodyPr>
          <a:lstStyle/>
          <a:p>
            <a:r>
              <a:rPr lang="en-US" dirty="0">
                <a:solidFill>
                  <a:srgbClr val="000066"/>
                </a:solidFill>
              </a:rPr>
              <a:t>A grand piano is being lifted to a second-story apartment. Arrows are used to represent all forces. All other forces, such as the nudge of a breeze, are assumed to be negligible.</a:t>
            </a:r>
          </a:p>
          <a:p>
            <a:endParaRPr lang="en-US" dirty="0">
              <a:solidFill>
                <a:srgbClr val="000066"/>
              </a:solidFill>
            </a:endParaRPr>
          </a:p>
        </p:txBody>
      </p:sp>
    </p:spTree>
    <p:extLst>
      <p:ext uri="{BB962C8B-B14F-4D97-AF65-F5344CB8AC3E}">
        <p14:creationId xmlns:p14="http://schemas.microsoft.com/office/powerpoint/2010/main" val="3544793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11" name="Rectangle 10">
            <a:extLst>
              <a:ext uri="{FF2B5EF4-FFF2-40B4-BE49-F238E27FC236}">
                <a16:creationId xmlns:a16="http://schemas.microsoft.com/office/drawing/2014/main" id="{E5E018F6-9187-5F49-B840-60D81AD6CD4A}"/>
              </a:ext>
            </a:extLst>
          </p:cNvPr>
          <p:cNvSpPr/>
          <p:nvPr/>
        </p:nvSpPr>
        <p:spPr>
          <a:xfrm>
            <a:off x="3269189" y="89044"/>
            <a:ext cx="5653622" cy="523220"/>
          </a:xfrm>
          <a:prstGeom prst="rect">
            <a:avLst/>
          </a:prstGeom>
        </p:spPr>
        <p:txBody>
          <a:bodyPr wrap="square">
            <a:spAutoFit/>
          </a:bodyPr>
          <a:lstStyle/>
          <a:p>
            <a:r>
              <a:rPr lang="en-US" sz="2800" dirty="0">
                <a:solidFill>
                  <a:srgbClr val="C00000"/>
                </a:solidFill>
                <a:latin typeface="NewBaskervilleStd-Roman"/>
              </a:rPr>
              <a:t>Solving Problems with Newton’s Laws </a:t>
            </a:r>
          </a:p>
        </p:txBody>
      </p:sp>
      <p:sp>
        <p:nvSpPr>
          <p:cNvPr id="3" name="Rectangle 2">
            <a:extLst>
              <a:ext uri="{FF2B5EF4-FFF2-40B4-BE49-F238E27FC236}">
                <a16:creationId xmlns:a16="http://schemas.microsoft.com/office/drawing/2014/main" id="{CEBC1C3D-5BBC-7F4C-88F8-EB275817E6B2}"/>
              </a:ext>
            </a:extLst>
          </p:cNvPr>
          <p:cNvSpPr/>
          <p:nvPr/>
        </p:nvSpPr>
        <p:spPr>
          <a:xfrm>
            <a:off x="486153" y="445660"/>
            <a:ext cx="2471574" cy="430887"/>
          </a:xfrm>
          <a:prstGeom prst="rect">
            <a:avLst/>
          </a:prstGeom>
        </p:spPr>
        <p:txBody>
          <a:bodyPr wrap="none">
            <a:spAutoFit/>
          </a:bodyPr>
          <a:lstStyle/>
          <a:p>
            <a:r>
              <a:rPr lang="en-US" sz="2200" dirty="0">
                <a:solidFill>
                  <a:srgbClr val="008000"/>
                </a:solidFill>
                <a:latin typeface="LiberationSans"/>
              </a:rPr>
              <a:t>Particle Equilibrium </a:t>
            </a:r>
            <a:endParaRPr lang="en-US" sz="2200" dirty="0">
              <a:solidFill>
                <a:srgbClr val="008000"/>
              </a:solidFill>
            </a:endParaRPr>
          </a:p>
        </p:txBody>
      </p:sp>
      <p:sp>
        <p:nvSpPr>
          <p:cNvPr id="7" name="Rectangle 6">
            <a:extLst>
              <a:ext uri="{FF2B5EF4-FFF2-40B4-BE49-F238E27FC236}">
                <a16:creationId xmlns:a16="http://schemas.microsoft.com/office/drawing/2014/main" id="{E2D13F0D-8036-C64B-BB28-CA9D803E41CC}"/>
              </a:ext>
            </a:extLst>
          </p:cNvPr>
          <p:cNvSpPr/>
          <p:nvPr/>
        </p:nvSpPr>
        <p:spPr>
          <a:xfrm>
            <a:off x="486153" y="769888"/>
            <a:ext cx="9955161" cy="430887"/>
          </a:xfrm>
          <a:prstGeom prst="rect">
            <a:avLst/>
          </a:prstGeom>
        </p:spPr>
        <p:txBody>
          <a:bodyPr wrap="square">
            <a:spAutoFit/>
          </a:bodyPr>
          <a:lstStyle/>
          <a:p>
            <a:r>
              <a:rPr lang="en-US" sz="2200" dirty="0">
                <a:solidFill>
                  <a:srgbClr val="000066"/>
                </a:solidFill>
                <a:latin typeface="LiberationSerif"/>
              </a:rPr>
              <a:t>A particle in equilibrium is one for which the external forces are balanced. </a:t>
            </a:r>
            <a:endParaRPr lang="en-US" sz="2200" dirty="0">
              <a:solidFill>
                <a:srgbClr val="000066"/>
              </a:solidFill>
            </a:endParaRPr>
          </a:p>
        </p:txBody>
      </p:sp>
      <p:sp>
        <p:nvSpPr>
          <p:cNvPr id="14" name="Rectangle 13">
            <a:extLst>
              <a:ext uri="{FF2B5EF4-FFF2-40B4-BE49-F238E27FC236}">
                <a16:creationId xmlns:a16="http://schemas.microsoft.com/office/drawing/2014/main" id="{899814A6-3C71-5D47-AB60-663F30C7E081}"/>
              </a:ext>
            </a:extLst>
          </p:cNvPr>
          <p:cNvSpPr/>
          <p:nvPr/>
        </p:nvSpPr>
        <p:spPr>
          <a:xfrm>
            <a:off x="486153" y="1309559"/>
            <a:ext cx="1152623" cy="430887"/>
          </a:xfrm>
          <a:prstGeom prst="rect">
            <a:avLst/>
          </a:prstGeom>
        </p:spPr>
        <p:txBody>
          <a:bodyPr wrap="none">
            <a:spAutoFit/>
          </a:bodyPr>
          <a:lstStyle/>
          <a:p>
            <a:r>
              <a:rPr lang="en-US" sz="2200" dirty="0">
                <a:solidFill>
                  <a:srgbClr val="008000"/>
                </a:solidFill>
              </a:rPr>
              <a:t>Example</a:t>
            </a:r>
            <a:endParaRPr lang="en-US" sz="2200" dirty="0"/>
          </a:p>
        </p:txBody>
      </p:sp>
      <p:sp>
        <p:nvSpPr>
          <p:cNvPr id="9" name="Rectangle 8">
            <a:extLst>
              <a:ext uri="{FF2B5EF4-FFF2-40B4-BE49-F238E27FC236}">
                <a16:creationId xmlns:a16="http://schemas.microsoft.com/office/drawing/2014/main" id="{7B404C2E-2C2D-9F4A-8221-78105E054E54}"/>
              </a:ext>
            </a:extLst>
          </p:cNvPr>
          <p:cNvSpPr/>
          <p:nvPr/>
        </p:nvSpPr>
        <p:spPr>
          <a:xfrm>
            <a:off x="486153" y="1704419"/>
            <a:ext cx="11091331" cy="769441"/>
          </a:xfrm>
          <a:prstGeom prst="rect">
            <a:avLst/>
          </a:prstGeom>
        </p:spPr>
        <p:txBody>
          <a:bodyPr wrap="square">
            <a:spAutoFit/>
          </a:bodyPr>
          <a:lstStyle/>
          <a:p>
            <a:r>
              <a:rPr lang="en-US" sz="2200" dirty="0">
                <a:solidFill>
                  <a:srgbClr val="000066"/>
                </a:solidFill>
                <a:latin typeface="LiberationSerif"/>
              </a:rPr>
              <a:t>Consider the traffic light (mass of 15.0 kg) suspended from two wires as shown in </a:t>
            </a:r>
            <a:r>
              <a:rPr lang="en-US" sz="2200" dirty="0">
                <a:solidFill>
                  <a:srgbClr val="000066"/>
                </a:solidFill>
                <a:latin typeface="LiberationSans"/>
              </a:rPr>
              <a:t>Figure 6.3</a:t>
            </a:r>
            <a:r>
              <a:rPr lang="en-US" sz="2200" dirty="0">
                <a:solidFill>
                  <a:srgbClr val="000066"/>
                </a:solidFill>
                <a:latin typeface="LiberationSerif"/>
              </a:rPr>
              <a:t>. Find the tension in each wire, neglecting the masses of the wires. </a:t>
            </a:r>
            <a:endParaRPr lang="en-US" sz="2200" dirty="0">
              <a:solidFill>
                <a:srgbClr val="000066"/>
              </a:solidFill>
            </a:endParaRPr>
          </a:p>
        </p:txBody>
      </p:sp>
      <p:pic>
        <p:nvPicPr>
          <p:cNvPr id="13" name="Picture 12" descr="A picture containing text, watch&#10;&#10;Description automatically generated">
            <a:extLst>
              <a:ext uri="{FF2B5EF4-FFF2-40B4-BE49-F238E27FC236}">
                <a16:creationId xmlns:a16="http://schemas.microsoft.com/office/drawing/2014/main" id="{BD88AC45-7C85-6844-9629-DA37448AC8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178" y="2642589"/>
            <a:ext cx="6400800" cy="2788629"/>
          </a:xfrm>
          <a:prstGeom prst="rect">
            <a:avLst/>
          </a:prstGeom>
          <a:solidFill>
            <a:schemeClr val="bg1"/>
          </a:solidFill>
          <a:effectLst>
            <a:glow rad="127000">
              <a:srgbClr val="000066"/>
            </a:glow>
            <a:softEdge rad="0"/>
          </a:effectLst>
        </p:spPr>
      </p:pic>
      <p:pic>
        <p:nvPicPr>
          <p:cNvPr id="16" name="Picture 15" descr="A picture containing text, watch&#10;&#10;Description automatically generated">
            <a:extLst>
              <a:ext uri="{FF2B5EF4-FFF2-40B4-BE49-F238E27FC236}">
                <a16:creationId xmlns:a16="http://schemas.microsoft.com/office/drawing/2014/main" id="{075DDEBB-C06F-D84C-B1DB-C8229CA5B1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37924" y="3182693"/>
            <a:ext cx="5486400" cy="2248525"/>
          </a:xfrm>
          <a:prstGeom prst="rect">
            <a:avLst/>
          </a:prstGeom>
          <a:effectLst>
            <a:glow rad="101600">
              <a:srgbClr val="A50021">
                <a:alpha val="40000"/>
              </a:srgbClr>
            </a:glow>
          </a:effectLst>
        </p:spPr>
      </p:pic>
      <p:sp>
        <p:nvSpPr>
          <p:cNvPr id="20" name="Text Placeholder 6">
            <a:extLst>
              <a:ext uri="{FF2B5EF4-FFF2-40B4-BE49-F238E27FC236}">
                <a16:creationId xmlns:a16="http://schemas.microsoft.com/office/drawing/2014/main" id="{02F5AB41-BCE3-AC49-91C4-2FC8F07662B5}"/>
              </a:ext>
            </a:extLst>
          </p:cNvPr>
          <p:cNvSpPr txBox="1">
            <a:spLocks/>
          </p:cNvSpPr>
          <p:nvPr/>
        </p:nvSpPr>
        <p:spPr>
          <a:xfrm>
            <a:off x="106179" y="5570451"/>
            <a:ext cx="11913756"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A traffic light is suspended from two wires. (b) Some of the forces involved. (c) Only forces acting on the system are shown here. The free-body diagram for the traffic light is also shown. (d) The forces projected onto vertical (</a:t>
            </a:r>
            <a:r>
              <a:rPr lang="en-US" sz="1800" i="1" dirty="0">
                <a:solidFill>
                  <a:srgbClr val="000066"/>
                </a:solidFill>
              </a:rPr>
              <a:t>y</a:t>
            </a:r>
            <a:r>
              <a:rPr lang="en-US" sz="1800" dirty="0">
                <a:solidFill>
                  <a:srgbClr val="000066"/>
                </a:solidFill>
              </a:rPr>
              <a:t>) and horizontal (</a:t>
            </a:r>
            <a:r>
              <a:rPr lang="en-US" sz="1800" i="1" dirty="0">
                <a:solidFill>
                  <a:srgbClr val="000066"/>
                </a:solidFill>
              </a:rPr>
              <a:t>x</a:t>
            </a:r>
            <a:r>
              <a:rPr lang="en-US" sz="1800" dirty="0">
                <a:solidFill>
                  <a:srgbClr val="000066"/>
                </a:solidFill>
              </a:rPr>
              <a:t>) axes. The horizontal components of the tensions must cancel, and the sum of the vertical components of the tensions must equal the weight of the traffic light. (e) The free-body diagram shows the vertical and horizontal forces acting on the traffic light.</a:t>
            </a:r>
          </a:p>
        </p:txBody>
      </p:sp>
    </p:spTree>
    <p:extLst>
      <p:ext uri="{BB962C8B-B14F-4D97-AF65-F5344CB8AC3E}">
        <p14:creationId xmlns:p14="http://schemas.microsoft.com/office/powerpoint/2010/main" val="32745285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269189" y="89044"/>
            <a:ext cx="5653622" cy="523220"/>
          </a:xfrm>
          <a:prstGeom prst="rect">
            <a:avLst/>
          </a:prstGeom>
        </p:spPr>
        <p:txBody>
          <a:bodyPr wrap="square">
            <a:spAutoFit/>
          </a:bodyPr>
          <a:lstStyle/>
          <a:p>
            <a:r>
              <a:rPr lang="en-US" sz="2800" dirty="0">
                <a:solidFill>
                  <a:srgbClr val="C00000"/>
                </a:solidFill>
                <a:latin typeface="NewBaskervilleStd-Roman"/>
              </a:rPr>
              <a:t>Solving Problems with Newton’s Laws </a:t>
            </a:r>
          </a:p>
        </p:txBody>
      </p:sp>
      <p:sp>
        <p:nvSpPr>
          <p:cNvPr id="7" name="Rectangle 6">
            <a:extLst>
              <a:ext uri="{FF2B5EF4-FFF2-40B4-BE49-F238E27FC236}">
                <a16:creationId xmlns:a16="http://schemas.microsoft.com/office/drawing/2014/main" id="{5478BD7E-47E1-2744-8A52-F46C3D573410}"/>
              </a:ext>
            </a:extLst>
          </p:cNvPr>
          <p:cNvSpPr/>
          <p:nvPr/>
        </p:nvSpPr>
        <p:spPr>
          <a:xfrm>
            <a:off x="571888" y="601580"/>
            <a:ext cx="2593915" cy="430887"/>
          </a:xfrm>
          <a:prstGeom prst="rect">
            <a:avLst/>
          </a:prstGeom>
        </p:spPr>
        <p:txBody>
          <a:bodyPr wrap="none">
            <a:spAutoFit/>
          </a:bodyPr>
          <a:lstStyle/>
          <a:p>
            <a:r>
              <a:rPr lang="en-US" sz="2200" dirty="0">
                <a:solidFill>
                  <a:srgbClr val="008000"/>
                </a:solidFill>
                <a:latin typeface="LiberationSans"/>
              </a:rPr>
              <a:t>Particle Acceleration </a:t>
            </a:r>
            <a:endParaRPr lang="en-US" sz="2200" dirty="0">
              <a:solidFill>
                <a:srgbClr val="008000"/>
              </a:solidFill>
            </a:endParaRPr>
          </a:p>
        </p:txBody>
      </p:sp>
      <p:sp>
        <p:nvSpPr>
          <p:cNvPr id="2" name="Rectangle 1">
            <a:extLst>
              <a:ext uri="{FF2B5EF4-FFF2-40B4-BE49-F238E27FC236}">
                <a16:creationId xmlns:a16="http://schemas.microsoft.com/office/drawing/2014/main" id="{F152A846-CEAC-FE43-B875-03DA56054656}"/>
              </a:ext>
            </a:extLst>
          </p:cNvPr>
          <p:cNvSpPr/>
          <p:nvPr/>
        </p:nvSpPr>
        <p:spPr>
          <a:xfrm>
            <a:off x="557140" y="943979"/>
            <a:ext cx="8647471" cy="430887"/>
          </a:xfrm>
          <a:prstGeom prst="rect">
            <a:avLst/>
          </a:prstGeom>
        </p:spPr>
        <p:txBody>
          <a:bodyPr wrap="square">
            <a:spAutoFit/>
          </a:bodyPr>
          <a:lstStyle/>
          <a:p>
            <a:r>
              <a:rPr lang="en-US" sz="2200" dirty="0">
                <a:solidFill>
                  <a:srgbClr val="000066"/>
                </a:solidFill>
                <a:latin typeface="LiberationSerif"/>
              </a:rPr>
              <a:t>Particle acceleration problems are the result of a nonzero net force. </a:t>
            </a:r>
            <a:endParaRPr lang="en-US" sz="2200" dirty="0">
              <a:solidFill>
                <a:srgbClr val="000066"/>
              </a:solidFill>
            </a:endParaRPr>
          </a:p>
        </p:txBody>
      </p:sp>
      <p:sp>
        <p:nvSpPr>
          <p:cNvPr id="3" name="Rectangle 2">
            <a:extLst>
              <a:ext uri="{FF2B5EF4-FFF2-40B4-BE49-F238E27FC236}">
                <a16:creationId xmlns:a16="http://schemas.microsoft.com/office/drawing/2014/main" id="{69ECA5D5-E701-2A45-B1EF-744CEC926009}"/>
              </a:ext>
            </a:extLst>
          </p:cNvPr>
          <p:cNvSpPr/>
          <p:nvPr/>
        </p:nvSpPr>
        <p:spPr>
          <a:xfrm>
            <a:off x="473099" y="2558738"/>
            <a:ext cx="4896463" cy="2800767"/>
          </a:xfrm>
          <a:prstGeom prst="rect">
            <a:avLst/>
          </a:prstGeom>
        </p:spPr>
        <p:txBody>
          <a:bodyPr wrap="square">
            <a:spAutoFit/>
          </a:bodyPr>
          <a:lstStyle/>
          <a:p>
            <a:r>
              <a:rPr lang="en-US" sz="2200" dirty="0">
                <a:solidFill>
                  <a:srgbClr val="000066"/>
                </a:solidFill>
                <a:latin typeface="LiberationSans"/>
              </a:rPr>
              <a:t>Figure </a:t>
            </a:r>
            <a:r>
              <a:rPr lang="en-US" sz="2200" dirty="0">
                <a:solidFill>
                  <a:srgbClr val="000066"/>
                </a:solidFill>
                <a:latin typeface="LiberationSerif"/>
              </a:rPr>
              <a:t>shows a 75.0-kg man (weight of about 165 lb.) standing on a bathroom scale in an elevator. Calculate the scale reading: </a:t>
            </a:r>
          </a:p>
          <a:p>
            <a:pPr marL="457200" indent="-457200">
              <a:buAutoNum type="alphaLcParenBoth"/>
            </a:pPr>
            <a:r>
              <a:rPr lang="en-US" sz="2200" dirty="0">
                <a:solidFill>
                  <a:srgbClr val="000066"/>
                </a:solidFill>
                <a:latin typeface="LiberationSerif"/>
              </a:rPr>
              <a:t>if the elevator accelerates upward at a rate of </a:t>
            </a:r>
            <a:r>
              <a:rPr lang="en-US" sz="2200" dirty="0">
                <a:solidFill>
                  <a:srgbClr val="000066"/>
                </a:solidFill>
                <a:latin typeface="STIXGeneral" pitchFamily="2" charset="2"/>
              </a:rPr>
              <a:t>1.20 m/s</a:t>
            </a:r>
            <a:r>
              <a:rPr lang="en-US" sz="2200" baseline="30000" dirty="0">
                <a:solidFill>
                  <a:srgbClr val="000066"/>
                </a:solidFill>
                <a:latin typeface="STIXGeneral" pitchFamily="2" charset="2"/>
              </a:rPr>
              <a:t>2</a:t>
            </a:r>
            <a:r>
              <a:rPr lang="en-US" sz="2200" dirty="0">
                <a:solidFill>
                  <a:srgbClr val="000066"/>
                </a:solidFill>
                <a:latin typeface="STIXGeneral" pitchFamily="2" charset="2"/>
              </a:rPr>
              <a:t>, </a:t>
            </a:r>
            <a:r>
              <a:rPr lang="en-US" sz="2200" dirty="0">
                <a:solidFill>
                  <a:srgbClr val="000066"/>
                </a:solidFill>
                <a:latin typeface="LiberationSerif"/>
              </a:rPr>
              <a:t>and </a:t>
            </a:r>
          </a:p>
          <a:p>
            <a:pPr marL="457200" indent="-457200">
              <a:buAutoNum type="alphaLcParenBoth"/>
            </a:pPr>
            <a:r>
              <a:rPr lang="en-US" sz="2200" dirty="0">
                <a:solidFill>
                  <a:srgbClr val="000066"/>
                </a:solidFill>
                <a:latin typeface="LiberationSerif"/>
              </a:rPr>
              <a:t>if the elevator moves upward at a constant speed of 1 m/s. </a:t>
            </a:r>
            <a:endParaRPr lang="en-US" sz="2200" dirty="0">
              <a:solidFill>
                <a:srgbClr val="000066"/>
              </a:solidFill>
            </a:endParaRPr>
          </a:p>
        </p:txBody>
      </p:sp>
      <p:sp>
        <p:nvSpPr>
          <p:cNvPr id="8" name="Rectangle 7">
            <a:extLst>
              <a:ext uri="{FF2B5EF4-FFF2-40B4-BE49-F238E27FC236}">
                <a16:creationId xmlns:a16="http://schemas.microsoft.com/office/drawing/2014/main" id="{B35A483F-8B63-264F-B65A-CAF2E72D27C0}"/>
              </a:ext>
            </a:extLst>
          </p:cNvPr>
          <p:cNvSpPr/>
          <p:nvPr/>
        </p:nvSpPr>
        <p:spPr>
          <a:xfrm>
            <a:off x="473099" y="2127851"/>
            <a:ext cx="1152623" cy="430887"/>
          </a:xfrm>
          <a:prstGeom prst="rect">
            <a:avLst/>
          </a:prstGeom>
        </p:spPr>
        <p:txBody>
          <a:bodyPr wrap="none">
            <a:spAutoFit/>
          </a:bodyPr>
          <a:lstStyle/>
          <a:p>
            <a:r>
              <a:rPr lang="en-US" sz="2200" dirty="0">
                <a:solidFill>
                  <a:srgbClr val="008000"/>
                </a:solidFill>
              </a:rPr>
              <a:t>Example</a:t>
            </a:r>
            <a:endParaRPr lang="en-US" sz="2200" dirty="0"/>
          </a:p>
        </p:txBody>
      </p:sp>
      <p:pic>
        <p:nvPicPr>
          <p:cNvPr id="10" name="Picture 9" descr="Diagram&#10;&#10;Description automatically generated">
            <a:extLst>
              <a:ext uri="{FF2B5EF4-FFF2-40B4-BE49-F238E27FC236}">
                <a16:creationId xmlns:a16="http://schemas.microsoft.com/office/drawing/2014/main" id="{CA0D7D8E-D39B-7A49-8E56-3AE87D3FD9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9562" y="1310889"/>
            <a:ext cx="6550651" cy="5486400"/>
          </a:xfrm>
          <a:prstGeom prst="rect">
            <a:avLst/>
          </a:prstGeom>
        </p:spPr>
      </p:pic>
    </p:spTree>
    <p:extLst>
      <p:ext uri="{BB962C8B-B14F-4D97-AF65-F5344CB8AC3E}">
        <p14:creationId xmlns:p14="http://schemas.microsoft.com/office/powerpoint/2010/main" val="107137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269189" y="89044"/>
            <a:ext cx="5653622" cy="523220"/>
          </a:xfrm>
          <a:prstGeom prst="rect">
            <a:avLst/>
          </a:prstGeom>
        </p:spPr>
        <p:txBody>
          <a:bodyPr wrap="square">
            <a:spAutoFit/>
          </a:bodyPr>
          <a:lstStyle/>
          <a:p>
            <a:r>
              <a:rPr lang="en-US" sz="2800" dirty="0">
                <a:solidFill>
                  <a:srgbClr val="C00000"/>
                </a:solidFill>
                <a:latin typeface="NewBaskervilleStd-Roman"/>
              </a:rPr>
              <a:t>Solving Problems with Newton’s Laws </a:t>
            </a:r>
          </a:p>
        </p:txBody>
      </p:sp>
      <p:sp>
        <p:nvSpPr>
          <p:cNvPr id="7" name="Rectangle 6">
            <a:extLst>
              <a:ext uri="{FF2B5EF4-FFF2-40B4-BE49-F238E27FC236}">
                <a16:creationId xmlns:a16="http://schemas.microsoft.com/office/drawing/2014/main" id="{5478BD7E-47E1-2744-8A52-F46C3D573410}"/>
              </a:ext>
            </a:extLst>
          </p:cNvPr>
          <p:cNvSpPr/>
          <p:nvPr/>
        </p:nvSpPr>
        <p:spPr>
          <a:xfrm>
            <a:off x="571888" y="601580"/>
            <a:ext cx="2593915" cy="430887"/>
          </a:xfrm>
          <a:prstGeom prst="rect">
            <a:avLst/>
          </a:prstGeom>
        </p:spPr>
        <p:txBody>
          <a:bodyPr wrap="none">
            <a:spAutoFit/>
          </a:bodyPr>
          <a:lstStyle/>
          <a:p>
            <a:r>
              <a:rPr lang="en-US" sz="2200" dirty="0">
                <a:solidFill>
                  <a:srgbClr val="008000"/>
                </a:solidFill>
                <a:latin typeface="LiberationSans"/>
              </a:rPr>
              <a:t>Particle Acceleration </a:t>
            </a:r>
            <a:endParaRPr lang="en-US" sz="2200" dirty="0">
              <a:solidFill>
                <a:srgbClr val="008000"/>
              </a:solidFill>
            </a:endParaRPr>
          </a:p>
        </p:txBody>
      </p:sp>
      <p:sp>
        <p:nvSpPr>
          <p:cNvPr id="2" name="Rectangle 1">
            <a:extLst>
              <a:ext uri="{FF2B5EF4-FFF2-40B4-BE49-F238E27FC236}">
                <a16:creationId xmlns:a16="http://schemas.microsoft.com/office/drawing/2014/main" id="{F152A846-CEAC-FE43-B875-03DA56054656}"/>
              </a:ext>
            </a:extLst>
          </p:cNvPr>
          <p:cNvSpPr/>
          <p:nvPr/>
        </p:nvSpPr>
        <p:spPr>
          <a:xfrm>
            <a:off x="557140" y="943979"/>
            <a:ext cx="8647471" cy="430887"/>
          </a:xfrm>
          <a:prstGeom prst="rect">
            <a:avLst/>
          </a:prstGeom>
        </p:spPr>
        <p:txBody>
          <a:bodyPr wrap="square">
            <a:spAutoFit/>
          </a:bodyPr>
          <a:lstStyle/>
          <a:p>
            <a:r>
              <a:rPr lang="en-US" sz="2200" dirty="0">
                <a:solidFill>
                  <a:srgbClr val="000066"/>
                </a:solidFill>
                <a:latin typeface="LiberationSerif"/>
              </a:rPr>
              <a:t>Particle acceleration problems are the result of a nonzero net force. </a:t>
            </a:r>
            <a:endParaRPr lang="en-US" sz="2200" dirty="0">
              <a:solidFill>
                <a:srgbClr val="000066"/>
              </a:solidFill>
            </a:endParaRPr>
          </a:p>
        </p:txBody>
      </p:sp>
      <p:sp>
        <p:nvSpPr>
          <p:cNvPr id="3" name="Rectangle 2">
            <a:extLst>
              <a:ext uri="{FF2B5EF4-FFF2-40B4-BE49-F238E27FC236}">
                <a16:creationId xmlns:a16="http://schemas.microsoft.com/office/drawing/2014/main" id="{69ECA5D5-E701-2A45-B1EF-744CEC926009}"/>
              </a:ext>
            </a:extLst>
          </p:cNvPr>
          <p:cNvSpPr/>
          <p:nvPr/>
        </p:nvSpPr>
        <p:spPr>
          <a:xfrm>
            <a:off x="473099" y="2558738"/>
            <a:ext cx="4896463" cy="2800767"/>
          </a:xfrm>
          <a:prstGeom prst="rect">
            <a:avLst/>
          </a:prstGeom>
        </p:spPr>
        <p:txBody>
          <a:bodyPr wrap="square">
            <a:spAutoFit/>
          </a:bodyPr>
          <a:lstStyle/>
          <a:p>
            <a:r>
              <a:rPr lang="en-US" sz="2200" dirty="0">
                <a:solidFill>
                  <a:srgbClr val="000066"/>
                </a:solidFill>
                <a:latin typeface="LiberationSans"/>
              </a:rPr>
              <a:t>Figure </a:t>
            </a:r>
            <a:r>
              <a:rPr lang="en-US" sz="2200" dirty="0">
                <a:solidFill>
                  <a:srgbClr val="000066"/>
                </a:solidFill>
                <a:latin typeface="LiberationSerif"/>
              </a:rPr>
              <a:t>shows a 75.0-kg man (weight of about 165 lb.) standing on a bathroom scale in an elevator. Calculate the scale reading: </a:t>
            </a:r>
          </a:p>
          <a:p>
            <a:pPr marL="457200" indent="-457200">
              <a:buAutoNum type="alphaLcParenBoth"/>
            </a:pPr>
            <a:r>
              <a:rPr lang="en-US" sz="2200" dirty="0">
                <a:solidFill>
                  <a:srgbClr val="000066"/>
                </a:solidFill>
                <a:latin typeface="LiberationSerif"/>
              </a:rPr>
              <a:t>if the elevator accelerates upward at a rate of </a:t>
            </a:r>
            <a:r>
              <a:rPr lang="en-US" sz="2200" dirty="0">
                <a:solidFill>
                  <a:srgbClr val="000066"/>
                </a:solidFill>
                <a:latin typeface="STIXGeneral" pitchFamily="2" charset="2"/>
              </a:rPr>
              <a:t>1.20 m/s</a:t>
            </a:r>
            <a:r>
              <a:rPr lang="en-US" sz="2200" baseline="30000" dirty="0">
                <a:solidFill>
                  <a:srgbClr val="000066"/>
                </a:solidFill>
                <a:latin typeface="STIXGeneral" pitchFamily="2" charset="2"/>
              </a:rPr>
              <a:t>2</a:t>
            </a:r>
            <a:r>
              <a:rPr lang="en-US" sz="2200" dirty="0">
                <a:solidFill>
                  <a:srgbClr val="000066"/>
                </a:solidFill>
                <a:latin typeface="STIXGeneral" pitchFamily="2" charset="2"/>
              </a:rPr>
              <a:t>, </a:t>
            </a:r>
            <a:r>
              <a:rPr lang="en-US" sz="2200" dirty="0">
                <a:solidFill>
                  <a:srgbClr val="000066"/>
                </a:solidFill>
                <a:latin typeface="LiberationSerif"/>
              </a:rPr>
              <a:t>and </a:t>
            </a:r>
          </a:p>
          <a:p>
            <a:pPr marL="457200" indent="-457200">
              <a:buAutoNum type="alphaLcParenBoth"/>
            </a:pPr>
            <a:r>
              <a:rPr lang="en-US" sz="2200" dirty="0">
                <a:solidFill>
                  <a:srgbClr val="000066"/>
                </a:solidFill>
                <a:latin typeface="LiberationSerif"/>
              </a:rPr>
              <a:t>if the elevator moves upward at a constant speed of 1 m/s. </a:t>
            </a:r>
            <a:endParaRPr lang="en-US" sz="2200" dirty="0">
              <a:solidFill>
                <a:srgbClr val="000066"/>
              </a:solidFill>
            </a:endParaRPr>
          </a:p>
        </p:txBody>
      </p:sp>
      <p:sp>
        <p:nvSpPr>
          <p:cNvPr id="8" name="Rectangle 7">
            <a:extLst>
              <a:ext uri="{FF2B5EF4-FFF2-40B4-BE49-F238E27FC236}">
                <a16:creationId xmlns:a16="http://schemas.microsoft.com/office/drawing/2014/main" id="{B35A483F-8B63-264F-B65A-CAF2E72D27C0}"/>
              </a:ext>
            </a:extLst>
          </p:cNvPr>
          <p:cNvSpPr/>
          <p:nvPr/>
        </p:nvSpPr>
        <p:spPr>
          <a:xfrm>
            <a:off x="473099" y="2127851"/>
            <a:ext cx="1152623" cy="430887"/>
          </a:xfrm>
          <a:prstGeom prst="rect">
            <a:avLst/>
          </a:prstGeom>
        </p:spPr>
        <p:txBody>
          <a:bodyPr wrap="none">
            <a:spAutoFit/>
          </a:bodyPr>
          <a:lstStyle/>
          <a:p>
            <a:r>
              <a:rPr lang="en-US" sz="2200" dirty="0">
                <a:solidFill>
                  <a:srgbClr val="008000"/>
                </a:solidFill>
              </a:rPr>
              <a:t>Example</a:t>
            </a:r>
            <a:endParaRPr lang="en-US" sz="2200" dirty="0"/>
          </a:p>
        </p:txBody>
      </p:sp>
      <p:pic>
        <p:nvPicPr>
          <p:cNvPr id="10" name="Picture 9" descr="Diagram&#10;&#10;Description automatically generated">
            <a:extLst>
              <a:ext uri="{FF2B5EF4-FFF2-40B4-BE49-F238E27FC236}">
                <a16:creationId xmlns:a16="http://schemas.microsoft.com/office/drawing/2014/main" id="{CA0D7D8E-D39B-7A49-8E56-3AE87D3FD9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9562" y="1310889"/>
            <a:ext cx="6550651" cy="5486400"/>
          </a:xfrm>
          <a:prstGeom prst="rect">
            <a:avLst/>
          </a:prstGeom>
        </p:spPr>
      </p:pic>
      <p:sp>
        <p:nvSpPr>
          <p:cNvPr id="9" name="Rectangle 8">
            <a:extLst>
              <a:ext uri="{FF2B5EF4-FFF2-40B4-BE49-F238E27FC236}">
                <a16:creationId xmlns:a16="http://schemas.microsoft.com/office/drawing/2014/main" id="{E3B5EF72-ED8D-C545-A87D-AAC7DE7D78F3}"/>
              </a:ext>
            </a:extLst>
          </p:cNvPr>
          <p:cNvSpPr/>
          <p:nvPr/>
        </p:nvSpPr>
        <p:spPr>
          <a:xfrm>
            <a:off x="475374" y="5226509"/>
            <a:ext cx="1800816" cy="430887"/>
          </a:xfrm>
          <a:prstGeom prst="rect">
            <a:avLst/>
          </a:prstGeom>
        </p:spPr>
        <p:txBody>
          <a:bodyPr wrap="square">
            <a:spAutoFit/>
          </a:bodyPr>
          <a:lstStyle/>
          <a:p>
            <a:r>
              <a:rPr lang="en-US" sz="2200" dirty="0">
                <a:solidFill>
                  <a:srgbClr val="0000CC"/>
                </a:solidFill>
              </a:rPr>
              <a:t>Assignment 1</a:t>
            </a:r>
          </a:p>
        </p:txBody>
      </p:sp>
      <p:sp>
        <p:nvSpPr>
          <p:cNvPr id="6" name="Rectangle 5">
            <a:extLst>
              <a:ext uri="{FF2B5EF4-FFF2-40B4-BE49-F238E27FC236}">
                <a16:creationId xmlns:a16="http://schemas.microsoft.com/office/drawing/2014/main" id="{FF275870-5CA7-7648-BAFA-AE1B74ECF8CC}"/>
              </a:ext>
            </a:extLst>
          </p:cNvPr>
          <p:cNvSpPr/>
          <p:nvPr/>
        </p:nvSpPr>
        <p:spPr>
          <a:xfrm>
            <a:off x="473099" y="5524399"/>
            <a:ext cx="4896462" cy="1107996"/>
          </a:xfrm>
          <a:prstGeom prst="rect">
            <a:avLst/>
          </a:prstGeom>
        </p:spPr>
        <p:txBody>
          <a:bodyPr wrap="square">
            <a:spAutoFit/>
          </a:bodyPr>
          <a:lstStyle/>
          <a:p>
            <a:r>
              <a:rPr lang="en-US" sz="2200" dirty="0">
                <a:latin typeface="LiberationSerif"/>
              </a:rPr>
              <a:t>Calculate the scale reading when the elevator </a:t>
            </a:r>
            <a:r>
              <a:rPr lang="en-US" sz="2200" dirty="0">
                <a:solidFill>
                  <a:srgbClr val="C00000"/>
                </a:solidFill>
                <a:latin typeface="LiberationSerif"/>
                <a:hlinkClick r:id="rId4">
                  <a:extLst>
                    <a:ext uri="{A12FA001-AC4F-418D-AE19-62706E023703}">
                      <ahyp:hlinkClr xmlns:ahyp="http://schemas.microsoft.com/office/drawing/2018/hyperlinkcolor" val="tx"/>
                    </a:ext>
                  </a:extLst>
                </a:hlinkClick>
              </a:rPr>
              <a:t>accelerates downward </a:t>
            </a:r>
            <a:r>
              <a:rPr lang="en-US" sz="2200" dirty="0">
                <a:latin typeface="LiberationSerif"/>
              </a:rPr>
              <a:t>at a rate of </a:t>
            </a:r>
            <a:r>
              <a:rPr lang="en-US" sz="2200" dirty="0">
                <a:latin typeface="STIXGeneral" pitchFamily="2" charset="2"/>
              </a:rPr>
              <a:t>1.20 m/s</a:t>
            </a:r>
            <a:r>
              <a:rPr lang="en-US" sz="2200" baseline="30000" dirty="0">
                <a:latin typeface="STIXGeneral" pitchFamily="2" charset="2"/>
              </a:rPr>
              <a:t>2</a:t>
            </a:r>
            <a:r>
              <a:rPr lang="en-US" sz="2200" dirty="0">
                <a:latin typeface="STIXGeneral" pitchFamily="2" charset="2"/>
              </a:rPr>
              <a:t>. </a:t>
            </a:r>
            <a:endParaRPr lang="en-US" sz="2200" dirty="0"/>
          </a:p>
        </p:txBody>
      </p:sp>
    </p:spTree>
    <p:extLst>
      <p:ext uri="{BB962C8B-B14F-4D97-AF65-F5344CB8AC3E}">
        <p14:creationId xmlns:p14="http://schemas.microsoft.com/office/powerpoint/2010/main" val="7305846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269189" y="89044"/>
            <a:ext cx="5653622" cy="523220"/>
          </a:xfrm>
          <a:prstGeom prst="rect">
            <a:avLst/>
          </a:prstGeom>
        </p:spPr>
        <p:txBody>
          <a:bodyPr wrap="square">
            <a:spAutoFit/>
          </a:bodyPr>
          <a:lstStyle/>
          <a:p>
            <a:r>
              <a:rPr lang="en-US" sz="2800" dirty="0">
                <a:solidFill>
                  <a:srgbClr val="C00000"/>
                </a:solidFill>
                <a:latin typeface="NewBaskervilleStd-Roman"/>
              </a:rPr>
              <a:t>Solving Problems with Newton’s Laws </a:t>
            </a:r>
          </a:p>
        </p:txBody>
      </p:sp>
      <p:sp>
        <p:nvSpPr>
          <p:cNvPr id="2" name="Rectangle 1">
            <a:extLst>
              <a:ext uri="{FF2B5EF4-FFF2-40B4-BE49-F238E27FC236}">
                <a16:creationId xmlns:a16="http://schemas.microsoft.com/office/drawing/2014/main" id="{00F35743-843A-E243-A030-0E3612B0EBD5}"/>
              </a:ext>
            </a:extLst>
          </p:cNvPr>
          <p:cNvSpPr/>
          <p:nvPr/>
        </p:nvSpPr>
        <p:spPr>
          <a:xfrm>
            <a:off x="616894" y="568020"/>
            <a:ext cx="2202654" cy="430887"/>
          </a:xfrm>
          <a:prstGeom prst="rect">
            <a:avLst/>
          </a:prstGeom>
        </p:spPr>
        <p:txBody>
          <a:bodyPr wrap="none">
            <a:spAutoFit/>
          </a:bodyPr>
          <a:lstStyle/>
          <a:p>
            <a:r>
              <a:rPr lang="en-US" sz="2200" dirty="0">
                <a:solidFill>
                  <a:srgbClr val="008000"/>
                </a:solidFill>
                <a:latin typeface="LiberationSans"/>
              </a:rPr>
              <a:t>Atwood Machine </a:t>
            </a:r>
            <a:endParaRPr lang="en-US" sz="2200" dirty="0">
              <a:solidFill>
                <a:srgbClr val="008000"/>
              </a:solidFill>
            </a:endParaRPr>
          </a:p>
        </p:txBody>
      </p:sp>
      <p:sp>
        <p:nvSpPr>
          <p:cNvPr id="3" name="Rectangle 2">
            <a:extLst>
              <a:ext uri="{FF2B5EF4-FFF2-40B4-BE49-F238E27FC236}">
                <a16:creationId xmlns:a16="http://schemas.microsoft.com/office/drawing/2014/main" id="{96C92FD8-19FF-E147-B890-31C2CD38D46E}"/>
              </a:ext>
            </a:extLst>
          </p:cNvPr>
          <p:cNvSpPr/>
          <p:nvPr/>
        </p:nvSpPr>
        <p:spPr>
          <a:xfrm>
            <a:off x="616893" y="954663"/>
            <a:ext cx="11167067" cy="2800767"/>
          </a:xfrm>
          <a:prstGeom prst="rect">
            <a:avLst/>
          </a:prstGeom>
        </p:spPr>
        <p:txBody>
          <a:bodyPr wrap="square">
            <a:spAutoFit/>
          </a:bodyPr>
          <a:lstStyle/>
          <a:p>
            <a:r>
              <a:rPr lang="en-US" sz="2200" dirty="0">
                <a:solidFill>
                  <a:srgbClr val="000066"/>
                </a:solidFill>
                <a:latin typeface="LiberationSerif"/>
              </a:rPr>
              <a:t>A classic problem in physics is that of the Atwood machine, which consists of a rope running over a pulley, with two objects of different mass attached. It is particularly useful in understanding the connection between force and motion. In </a:t>
            </a:r>
            <a:r>
              <a:rPr lang="en-US" sz="2200" dirty="0">
                <a:solidFill>
                  <a:srgbClr val="000066"/>
                </a:solidFill>
                <a:latin typeface="LiberationSans"/>
              </a:rPr>
              <a:t>Figure</a:t>
            </a:r>
            <a:r>
              <a:rPr lang="en-US" sz="2200" dirty="0">
                <a:solidFill>
                  <a:srgbClr val="000066"/>
                </a:solidFill>
                <a:latin typeface="LiberationSerif"/>
              </a:rPr>
              <a:t>, </a:t>
            </a:r>
            <a:r>
              <a:rPr lang="en-US" sz="2200" i="1" dirty="0">
                <a:solidFill>
                  <a:srgbClr val="000066"/>
                </a:solidFill>
                <a:latin typeface="STIXGeneral" pitchFamily="2" charset="2"/>
              </a:rPr>
              <a:t>m</a:t>
            </a:r>
            <a:r>
              <a:rPr lang="en-US" sz="2200" baseline="-25000" dirty="0">
                <a:solidFill>
                  <a:srgbClr val="000066"/>
                </a:solidFill>
                <a:latin typeface="STIXGeneral" pitchFamily="2" charset="2"/>
              </a:rPr>
              <a:t>1</a:t>
            </a:r>
            <a:r>
              <a:rPr lang="en-US" sz="2200" dirty="0">
                <a:solidFill>
                  <a:srgbClr val="000066"/>
                </a:solidFill>
                <a:latin typeface="STIXGeneral" pitchFamily="2" charset="2"/>
              </a:rPr>
              <a:t> = 2.00 kg </a:t>
            </a:r>
            <a:r>
              <a:rPr lang="en-US" sz="2200" dirty="0">
                <a:solidFill>
                  <a:srgbClr val="000066"/>
                </a:solidFill>
                <a:latin typeface="LiberationSerif"/>
              </a:rPr>
              <a:t>and </a:t>
            </a:r>
            <a:r>
              <a:rPr lang="en-US" sz="2200" i="1" dirty="0">
                <a:solidFill>
                  <a:srgbClr val="000066"/>
                </a:solidFill>
                <a:latin typeface="STIXGeneral" pitchFamily="2" charset="2"/>
              </a:rPr>
              <a:t>m</a:t>
            </a:r>
            <a:r>
              <a:rPr lang="en-US" sz="2200" baseline="-25000" dirty="0">
                <a:solidFill>
                  <a:srgbClr val="000066"/>
                </a:solidFill>
                <a:latin typeface="STIXGeneral" pitchFamily="2" charset="2"/>
              </a:rPr>
              <a:t>2</a:t>
            </a:r>
            <a:r>
              <a:rPr lang="en-US" sz="2200" dirty="0">
                <a:solidFill>
                  <a:srgbClr val="000066"/>
                </a:solidFill>
                <a:latin typeface="STIXGeneral" pitchFamily="2" charset="2"/>
              </a:rPr>
              <a:t> = 4.00 kg. </a:t>
            </a:r>
            <a:r>
              <a:rPr lang="en-US" sz="2200" dirty="0">
                <a:solidFill>
                  <a:srgbClr val="000066"/>
                </a:solidFill>
                <a:latin typeface="LiberationSerif"/>
              </a:rPr>
              <a:t>Consider the </a:t>
            </a:r>
            <a:endParaRPr lang="en-US" sz="2200" dirty="0">
              <a:solidFill>
                <a:srgbClr val="000066"/>
              </a:solidFill>
            </a:endParaRPr>
          </a:p>
          <a:p>
            <a:r>
              <a:rPr lang="en-US" sz="2200" dirty="0">
                <a:solidFill>
                  <a:srgbClr val="000066"/>
                </a:solidFill>
                <a:latin typeface="LiberationSerif"/>
              </a:rPr>
              <a:t>pulley to be frictionless.</a:t>
            </a:r>
          </a:p>
          <a:p>
            <a:endParaRPr lang="en-US" sz="2200" dirty="0">
              <a:solidFill>
                <a:srgbClr val="000066"/>
              </a:solidFill>
              <a:latin typeface="LiberationSerif"/>
            </a:endParaRPr>
          </a:p>
          <a:p>
            <a:pPr marL="457200" indent="-457200">
              <a:buAutoNum type="alphaLcParenBoth"/>
            </a:pPr>
            <a:r>
              <a:rPr lang="en-US" sz="2200" dirty="0">
                <a:solidFill>
                  <a:srgbClr val="000066"/>
                </a:solidFill>
                <a:latin typeface="LiberationSerif"/>
              </a:rPr>
              <a:t>If </a:t>
            </a:r>
            <a:r>
              <a:rPr lang="en-US" sz="2200" i="1" dirty="0">
                <a:solidFill>
                  <a:srgbClr val="000066"/>
                </a:solidFill>
                <a:latin typeface="STIXGeneral" pitchFamily="2" charset="2"/>
              </a:rPr>
              <a:t>m</a:t>
            </a:r>
            <a:r>
              <a:rPr lang="en-US" sz="2200" baseline="-25000" dirty="0">
                <a:solidFill>
                  <a:srgbClr val="000066"/>
                </a:solidFill>
                <a:latin typeface="STIXGeneral" pitchFamily="2" charset="2"/>
              </a:rPr>
              <a:t>2</a:t>
            </a:r>
            <a:r>
              <a:rPr lang="en-US" sz="2200" dirty="0">
                <a:solidFill>
                  <a:srgbClr val="000066"/>
                </a:solidFill>
                <a:latin typeface="STIXGeneral" pitchFamily="2" charset="2"/>
              </a:rPr>
              <a:t> </a:t>
            </a:r>
            <a:r>
              <a:rPr lang="en-US" sz="2200" dirty="0">
                <a:solidFill>
                  <a:srgbClr val="000066"/>
                </a:solidFill>
                <a:latin typeface="LiberationSerif"/>
              </a:rPr>
              <a:t>is released, what will its </a:t>
            </a:r>
          </a:p>
          <a:p>
            <a:r>
              <a:rPr lang="en-US" sz="2200" dirty="0">
                <a:solidFill>
                  <a:srgbClr val="000066"/>
                </a:solidFill>
                <a:latin typeface="LiberationSerif"/>
              </a:rPr>
              <a:t>	acceleration be? </a:t>
            </a:r>
          </a:p>
          <a:p>
            <a:r>
              <a:rPr lang="en-US" sz="2200" dirty="0">
                <a:solidFill>
                  <a:srgbClr val="000066"/>
                </a:solidFill>
                <a:latin typeface="LiberationSerif"/>
              </a:rPr>
              <a:t>(b) What is the tension in the string? </a:t>
            </a:r>
            <a:endParaRPr lang="en-US" sz="2200" dirty="0">
              <a:solidFill>
                <a:srgbClr val="000066"/>
              </a:solidFill>
            </a:endParaRPr>
          </a:p>
        </p:txBody>
      </p:sp>
      <p:pic>
        <p:nvPicPr>
          <p:cNvPr id="7" name="Picture 6" descr="Diagram&#10;&#10;Description automatically generated with medium confidence">
            <a:extLst>
              <a:ext uri="{FF2B5EF4-FFF2-40B4-BE49-F238E27FC236}">
                <a16:creationId xmlns:a16="http://schemas.microsoft.com/office/drawing/2014/main" id="{E452321E-BBFD-F84E-AC61-C5087F36FA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8751" y="2196956"/>
            <a:ext cx="6460685" cy="4572000"/>
          </a:xfrm>
          <a:prstGeom prst="rect">
            <a:avLst/>
          </a:prstGeom>
        </p:spPr>
      </p:pic>
    </p:spTree>
    <p:extLst>
      <p:ext uri="{BB962C8B-B14F-4D97-AF65-F5344CB8AC3E}">
        <p14:creationId xmlns:p14="http://schemas.microsoft.com/office/powerpoint/2010/main" val="30426083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269189" y="89044"/>
            <a:ext cx="5653622" cy="523220"/>
          </a:xfrm>
          <a:prstGeom prst="rect">
            <a:avLst/>
          </a:prstGeom>
        </p:spPr>
        <p:txBody>
          <a:bodyPr wrap="square">
            <a:spAutoFit/>
          </a:bodyPr>
          <a:lstStyle/>
          <a:p>
            <a:r>
              <a:rPr lang="en-US" sz="2800" dirty="0">
                <a:solidFill>
                  <a:srgbClr val="C00000"/>
                </a:solidFill>
                <a:latin typeface="NewBaskervilleStd-Roman"/>
              </a:rPr>
              <a:t>Solving Problems with Newton’s Laws </a:t>
            </a:r>
          </a:p>
        </p:txBody>
      </p:sp>
      <p:sp>
        <p:nvSpPr>
          <p:cNvPr id="6" name="Rectangle 5">
            <a:extLst>
              <a:ext uri="{FF2B5EF4-FFF2-40B4-BE49-F238E27FC236}">
                <a16:creationId xmlns:a16="http://schemas.microsoft.com/office/drawing/2014/main" id="{A98C752D-D5A1-C34C-AD4D-9D10861242F3}"/>
              </a:ext>
            </a:extLst>
          </p:cNvPr>
          <p:cNvSpPr/>
          <p:nvPr/>
        </p:nvSpPr>
        <p:spPr>
          <a:xfrm>
            <a:off x="753318" y="1526109"/>
            <a:ext cx="1066510" cy="400110"/>
          </a:xfrm>
          <a:prstGeom prst="rect">
            <a:avLst/>
          </a:prstGeom>
        </p:spPr>
        <p:txBody>
          <a:bodyPr wrap="none">
            <a:spAutoFit/>
          </a:bodyPr>
          <a:lstStyle/>
          <a:p>
            <a:r>
              <a:rPr lang="en-US" sz="2000" dirty="0">
                <a:solidFill>
                  <a:srgbClr val="008000"/>
                </a:solidFill>
              </a:rPr>
              <a:t>Example</a:t>
            </a:r>
            <a:endParaRPr lang="en-US" sz="2000" dirty="0"/>
          </a:p>
        </p:txBody>
      </p:sp>
      <p:sp>
        <p:nvSpPr>
          <p:cNvPr id="2" name="Rectangle 1">
            <a:extLst>
              <a:ext uri="{FF2B5EF4-FFF2-40B4-BE49-F238E27FC236}">
                <a16:creationId xmlns:a16="http://schemas.microsoft.com/office/drawing/2014/main" id="{AE0FCD24-09BC-2342-AFE9-2541D9AC44DD}"/>
              </a:ext>
            </a:extLst>
          </p:cNvPr>
          <p:cNvSpPr/>
          <p:nvPr/>
        </p:nvSpPr>
        <p:spPr>
          <a:xfrm>
            <a:off x="753318" y="1770183"/>
            <a:ext cx="10986398" cy="1015663"/>
          </a:xfrm>
          <a:prstGeom prst="rect">
            <a:avLst/>
          </a:prstGeom>
        </p:spPr>
        <p:txBody>
          <a:bodyPr wrap="square">
            <a:spAutoFit/>
          </a:bodyPr>
          <a:lstStyle/>
          <a:p>
            <a:r>
              <a:rPr lang="en-US" sz="2000" dirty="0">
                <a:solidFill>
                  <a:srgbClr val="000066"/>
                </a:solidFill>
                <a:latin typeface="LiberationSerif"/>
              </a:rPr>
              <a:t>A soccer player starts at rest and accelerates forward, reaching a velocity of 8.00 m/s in 2.50 s. (a) What is her average acceleration? (b) What average force does the ground exert forward on the runner so that she achieves this acceleration? The player’s mass is 70.0 kg, and air resistance is negligible. </a:t>
            </a:r>
            <a:endParaRPr lang="en-US" sz="2000" dirty="0">
              <a:solidFill>
                <a:srgbClr val="000066"/>
              </a:solidFill>
            </a:endParaRPr>
          </a:p>
        </p:txBody>
      </p:sp>
      <p:pic>
        <p:nvPicPr>
          <p:cNvPr id="1026" name="Picture 2">
            <a:extLst>
              <a:ext uri="{FF2B5EF4-FFF2-40B4-BE49-F238E27FC236}">
                <a16:creationId xmlns:a16="http://schemas.microsoft.com/office/drawing/2014/main" id="{064AC696-4807-DF49-BD09-5E4CBC8C20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5065" y="2829865"/>
            <a:ext cx="3081867" cy="3657600"/>
          </a:xfrm>
          <a:prstGeom prst="rect">
            <a:avLst/>
          </a:prstGeom>
          <a:noFill/>
          <a:effectLst>
            <a:glow rad="139700">
              <a:srgbClr val="008000">
                <a:alpha val="40000"/>
              </a:srgbClr>
            </a:glow>
          </a:effectLst>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D7244C4-F9A9-3E47-9509-4E7BBFD5CAA4}"/>
              </a:ext>
            </a:extLst>
          </p:cNvPr>
          <p:cNvSpPr/>
          <p:nvPr/>
        </p:nvSpPr>
        <p:spPr>
          <a:xfrm>
            <a:off x="4203430" y="6487465"/>
            <a:ext cx="3785139" cy="276999"/>
          </a:xfrm>
          <a:prstGeom prst="rect">
            <a:avLst/>
          </a:prstGeom>
        </p:spPr>
        <p:txBody>
          <a:bodyPr wrap="none">
            <a:spAutoFit/>
          </a:bodyPr>
          <a:lstStyle/>
          <a:p>
            <a:r>
              <a:rPr lang="en-US" sz="1200" dirty="0"/>
              <a:t>Image credit: https://</a:t>
            </a:r>
            <a:r>
              <a:rPr lang="en-US" sz="1200" dirty="0" err="1"/>
              <a:t>en.wikipedia.org</a:t>
            </a:r>
            <a:r>
              <a:rPr lang="en-US" sz="1200" dirty="0"/>
              <a:t>/wiki/</a:t>
            </a:r>
            <a:r>
              <a:rPr lang="en-US" sz="1200" dirty="0" err="1"/>
              <a:t>Adriana_Leon</a:t>
            </a:r>
            <a:endParaRPr lang="en-US" sz="1200" dirty="0"/>
          </a:p>
        </p:txBody>
      </p:sp>
      <p:sp>
        <p:nvSpPr>
          <p:cNvPr id="7" name="Rectangle 6">
            <a:extLst>
              <a:ext uri="{FF2B5EF4-FFF2-40B4-BE49-F238E27FC236}">
                <a16:creationId xmlns:a16="http://schemas.microsoft.com/office/drawing/2014/main" id="{6B231646-1A17-A24A-B3E3-8FE2DBDEB2BD}"/>
              </a:ext>
            </a:extLst>
          </p:cNvPr>
          <p:cNvSpPr/>
          <p:nvPr/>
        </p:nvSpPr>
        <p:spPr>
          <a:xfrm>
            <a:off x="753318" y="590464"/>
            <a:ext cx="9971490" cy="1323439"/>
          </a:xfrm>
          <a:prstGeom prst="rect">
            <a:avLst/>
          </a:prstGeom>
        </p:spPr>
        <p:txBody>
          <a:bodyPr wrap="square">
            <a:spAutoFit/>
          </a:bodyPr>
          <a:lstStyle/>
          <a:p>
            <a:r>
              <a:rPr lang="en-US" sz="2000" dirty="0">
                <a:solidFill>
                  <a:srgbClr val="008000"/>
                </a:solidFill>
                <a:latin typeface="LiberationSans"/>
              </a:rPr>
              <a:t>Newton’s Laws of Motion and Kinematics</a:t>
            </a:r>
          </a:p>
          <a:p>
            <a:r>
              <a:rPr lang="en-US" dirty="0"/>
              <a:t>Newton’s laws of motion can be integrated with other concepts that have been discussed previously to solve problems of motion. </a:t>
            </a:r>
            <a:endParaRPr lang="en-US" sz="2400" dirty="0"/>
          </a:p>
          <a:p>
            <a:r>
              <a:rPr lang="en-US" sz="2200" dirty="0">
                <a:solidFill>
                  <a:srgbClr val="008000"/>
                </a:solidFill>
                <a:latin typeface="LiberationSans"/>
              </a:rPr>
              <a:t> </a:t>
            </a:r>
            <a:endParaRPr lang="en-US" sz="2200" dirty="0">
              <a:solidFill>
                <a:srgbClr val="008000"/>
              </a:solidFill>
            </a:endParaRPr>
          </a:p>
        </p:txBody>
      </p:sp>
    </p:spTree>
    <p:extLst>
      <p:ext uri="{BB962C8B-B14F-4D97-AF65-F5344CB8AC3E}">
        <p14:creationId xmlns:p14="http://schemas.microsoft.com/office/powerpoint/2010/main" val="18404523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269189" y="89044"/>
            <a:ext cx="5653622" cy="523220"/>
          </a:xfrm>
          <a:prstGeom prst="rect">
            <a:avLst/>
          </a:prstGeom>
        </p:spPr>
        <p:txBody>
          <a:bodyPr wrap="square">
            <a:spAutoFit/>
          </a:bodyPr>
          <a:lstStyle/>
          <a:p>
            <a:r>
              <a:rPr lang="en-US" sz="2800" dirty="0">
                <a:solidFill>
                  <a:srgbClr val="C00000"/>
                </a:solidFill>
                <a:latin typeface="NewBaskervilleStd-Roman"/>
              </a:rPr>
              <a:t>Solving Problems with Newton’s Laws </a:t>
            </a:r>
          </a:p>
        </p:txBody>
      </p:sp>
      <p:pic>
        <p:nvPicPr>
          <p:cNvPr id="3" name="Picture 2" descr="Text&#10;&#10;Description automatically generated">
            <a:extLst>
              <a:ext uri="{FF2B5EF4-FFF2-40B4-BE49-F238E27FC236}">
                <a16:creationId xmlns:a16="http://schemas.microsoft.com/office/drawing/2014/main" id="{9E0A54FE-D48D-6544-AA4E-88D28590B4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126" y="1641261"/>
            <a:ext cx="7552944" cy="1371600"/>
          </a:xfrm>
          <a:prstGeom prst="rect">
            <a:avLst/>
          </a:prstGeom>
        </p:spPr>
      </p:pic>
      <p:sp>
        <p:nvSpPr>
          <p:cNvPr id="6" name="Rectangle 5">
            <a:extLst>
              <a:ext uri="{FF2B5EF4-FFF2-40B4-BE49-F238E27FC236}">
                <a16:creationId xmlns:a16="http://schemas.microsoft.com/office/drawing/2014/main" id="{D8F45C9B-B177-5D49-A1D9-7E0F20B48AE3}"/>
              </a:ext>
            </a:extLst>
          </p:cNvPr>
          <p:cNvSpPr/>
          <p:nvPr/>
        </p:nvSpPr>
        <p:spPr>
          <a:xfrm>
            <a:off x="715126" y="1269366"/>
            <a:ext cx="1800816" cy="430887"/>
          </a:xfrm>
          <a:prstGeom prst="rect">
            <a:avLst/>
          </a:prstGeom>
        </p:spPr>
        <p:txBody>
          <a:bodyPr wrap="square">
            <a:spAutoFit/>
          </a:bodyPr>
          <a:lstStyle/>
          <a:p>
            <a:r>
              <a:rPr lang="en-US" sz="2200" dirty="0">
                <a:solidFill>
                  <a:srgbClr val="0000CC"/>
                </a:solidFill>
              </a:rPr>
              <a:t>Assignment 2</a:t>
            </a:r>
          </a:p>
        </p:txBody>
      </p:sp>
      <p:pic>
        <p:nvPicPr>
          <p:cNvPr id="7" name="Picture 6" descr="Text, letter&#10;&#10;Description automatically generated">
            <a:extLst>
              <a:ext uri="{FF2B5EF4-FFF2-40B4-BE49-F238E27FC236}">
                <a16:creationId xmlns:a16="http://schemas.microsoft.com/office/drawing/2014/main" id="{9055E17C-CD73-2946-81FC-77469B4ACB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41723" y="1058697"/>
            <a:ext cx="2835151" cy="2743200"/>
          </a:xfrm>
          <a:prstGeom prst="rect">
            <a:avLst/>
          </a:prstGeom>
        </p:spPr>
      </p:pic>
      <p:pic>
        <p:nvPicPr>
          <p:cNvPr id="8" name="Picture 7" descr="A picture containing text, sport, athletic game&#10;&#10;Description automatically generated">
            <a:extLst>
              <a:ext uri="{FF2B5EF4-FFF2-40B4-BE49-F238E27FC236}">
                <a16:creationId xmlns:a16="http://schemas.microsoft.com/office/drawing/2014/main" id="{8829FBBA-400A-514D-9B55-8C5B0591D0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52684" y="3116097"/>
            <a:ext cx="4607065" cy="3200400"/>
          </a:xfrm>
          <a:prstGeom prst="rect">
            <a:avLst/>
          </a:prstGeom>
        </p:spPr>
      </p:pic>
      <p:sp>
        <p:nvSpPr>
          <p:cNvPr id="9" name="Rectangle 8">
            <a:extLst>
              <a:ext uri="{FF2B5EF4-FFF2-40B4-BE49-F238E27FC236}">
                <a16:creationId xmlns:a16="http://schemas.microsoft.com/office/drawing/2014/main" id="{389ED377-C192-BC49-BA68-AE8DFC3501BC}"/>
              </a:ext>
            </a:extLst>
          </p:cNvPr>
          <p:cNvSpPr/>
          <p:nvPr/>
        </p:nvSpPr>
        <p:spPr>
          <a:xfrm>
            <a:off x="2352684" y="6293864"/>
            <a:ext cx="4890683" cy="276999"/>
          </a:xfrm>
          <a:prstGeom prst="rect">
            <a:avLst/>
          </a:prstGeom>
        </p:spPr>
        <p:txBody>
          <a:bodyPr wrap="square">
            <a:spAutoFit/>
          </a:bodyPr>
          <a:lstStyle/>
          <a:p>
            <a:r>
              <a:rPr lang="en-US" sz="1200" dirty="0">
                <a:latin typeface="LiberationSerif"/>
              </a:rPr>
              <a:t>credit "runner": modification of work by "Greenwich Photography"/Flickr </a:t>
            </a:r>
            <a:endParaRPr lang="en-US" sz="1200" dirty="0"/>
          </a:p>
        </p:txBody>
      </p:sp>
    </p:spTree>
    <p:extLst>
      <p:ext uri="{BB962C8B-B14F-4D97-AF65-F5344CB8AC3E}">
        <p14:creationId xmlns:p14="http://schemas.microsoft.com/office/powerpoint/2010/main" val="24530358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4690534" y="89044"/>
            <a:ext cx="5653622" cy="523220"/>
          </a:xfrm>
          <a:prstGeom prst="rect">
            <a:avLst/>
          </a:prstGeom>
        </p:spPr>
        <p:txBody>
          <a:bodyPr wrap="square">
            <a:spAutoFit/>
          </a:bodyPr>
          <a:lstStyle/>
          <a:p>
            <a:r>
              <a:rPr lang="en-US" sz="2800" dirty="0">
                <a:solidFill>
                  <a:srgbClr val="C00000"/>
                </a:solidFill>
                <a:latin typeface="NewBaskervilleStd-Roman"/>
              </a:rPr>
              <a:t>Friction </a:t>
            </a:r>
          </a:p>
        </p:txBody>
      </p:sp>
      <p:sp>
        <p:nvSpPr>
          <p:cNvPr id="4" name="Rectangle 3">
            <a:extLst>
              <a:ext uri="{FF2B5EF4-FFF2-40B4-BE49-F238E27FC236}">
                <a16:creationId xmlns:a16="http://schemas.microsoft.com/office/drawing/2014/main" id="{2B51F21F-28AF-4846-8B8F-2176DC3D61DB}"/>
              </a:ext>
            </a:extLst>
          </p:cNvPr>
          <p:cNvSpPr/>
          <p:nvPr/>
        </p:nvSpPr>
        <p:spPr>
          <a:xfrm>
            <a:off x="524255" y="612264"/>
            <a:ext cx="10550293" cy="1323439"/>
          </a:xfrm>
          <a:prstGeom prst="rect">
            <a:avLst/>
          </a:prstGeom>
        </p:spPr>
        <p:txBody>
          <a:bodyPr wrap="square">
            <a:spAutoFit/>
          </a:bodyPr>
          <a:lstStyle/>
          <a:p>
            <a:r>
              <a:rPr lang="en-US" sz="2000" dirty="0">
                <a:solidFill>
                  <a:srgbClr val="000066"/>
                </a:solidFill>
                <a:latin typeface="LiberationSerif"/>
              </a:rPr>
              <a:t>When a body is in motion, it has resistance because the body interacts with its surroundings. This resistance is a force of friction. </a:t>
            </a:r>
          </a:p>
          <a:p>
            <a:r>
              <a:rPr lang="en-US" sz="2000" dirty="0">
                <a:solidFill>
                  <a:srgbClr val="C00000"/>
                </a:solidFill>
                <a:latin typeface="LiberationSerif"/>
              </a:rPr>
              <a:t>Friction opposes relative motion between systems in contact but also allows us to move, a concept that becomes obvious if you try to walk on ice. </a:t>
            </a:r>
            <a:endParaRPr lang="en-US" sz="2000" dirty="0">
              <a:solidFill>
                <a:srgbClr val="C00000"/>
              </a:solidFill>
            </a:endParaRPr>
          </a:p>
        </p:txBody>
      </p:sp>
      <p:sp>
        <p:nvSpPr>
          <p:cNvPr id="7" name="Rectangle 6">
            <a:extLst>
              <a:ext uri="{FF2B5EF4-FFF2-40B4-BE49-F238E27FC236}">
                <a16:creationId xmlns:a16="http://schemas.microsoft.com/office/drawing/2014/main" id="{C741F820-1319-DD44-94D4-79FAEB871248}"/>
              </a:ext>
            </a:extLst>
          </p:cNvPr>
          <p:cNvSpPr/>
          <p:nvPr/>
        </p:nvSpPr>
        <p:spPr>
          <a:xfrm>
            <a:off x="524255" y="1948494"/>
            <a:ext cx="11667746" cy="1261884"/>
          </a:xfrm>
          <a:prstGeom prst="rect">
            <a:avLst/>
          </a:prstGeom>
        </p:spPr>
        <p:txBody>
          <a:bodyPr wrap="square">
            <a:spAutoFit/>
          </a:bodyPr>
          <a:lstStyle/>
          <a:p>
            <a:r>
              <a:rPr lang="en-US" sz="2200" dirty="0">
                <a:solidFill>
                  <a:srgbClr val="008000"/>
                </a:solidFill>
                <a:latin typeface="LiberationSans"/>
              </a:rPr>
              <a:t>Static and Kinetic Friction</a:t>
            </a:r>
          </a:p>
          <a:p>
            <a:r>
              <a:rPr lang="en-US" dirty="0"/>
              <a:t>Friction is a force that opposes relative motion between systems in contact. </a:t>
            </a:r>
          </a:p>
          <a:p>
            <a:r>
              <a:rPr lang="en-US" dirty="0">
                <a:solidFill>
                  <a:srgbClr val="000066"/>
                </a:solidFill>
              </a:rPr>
              <a:t>If two systems are in contact and stationary relative to one another, then the friction between them is called </a:t>
            </a:r>
            <a:r>
              <a:rPr lang="en-US" b="1" dirty="0">
                <a:solidFill>
                  <a:srgbClr val="C00000"/>
                </a:solidFill>
              </a:rPr>
              <a:t>static friction</a:t>
            </a:r>
            <a:r>
              <a:rPr lang="en-US" dirty="0">
                <a:solidFill>
                  <a:srgbClr val="C00000"/>
                </a:solidFill>
              </a:rPr>
              <a:t>. </a:t>
            </a:r>
            <a:r>
              <a:rPr lang="en-US" dirty="0">
                <a:solidFill>
                  <a:srgbClr val="000066"/>
                </a:solidFill>
              </a:rPr>
              <a:t>If two systems are in contact and moving relative to one another, then the friction between them is called </a:t>
            </a:r>
            <a:r>
              <a:rPr lang="en-US" b="1" dirty="0">
                <a:solidFill>
                  <a:srgbClr val="0000CC"/>
                </a:solidFill>
              </a:rPr>
              <a:t>kinetic friction</a:t>
            </a:r>
            <a:r>
              <a:rPr lang="en-US" dirty="0">
                <a:solidFill>
                  <a:srgbClr val="0000CC"/>
                </a:solidFill>
              </a:rPr>
              <a:t>. </a:t>
            </a:r>
          </a:p>
        </p:txBody>
      </p:sp>
      <p:pic>
        <p:nvPicPr>
          <p:cNvPr id="9" name="Picture 8" descr="Diagram&#10;&#10;Description automatically generated">
            <a:extLst>
              <a:ext uri="{FF2B5EF4-FFF2-40B4-BE49-F238E27FC236}">
                <a16:creationId xmlns:a16="http://schemas.microsoft.com/office/drawing/2014/main" id="{7BC8D04C-ACA6-514D-8364-1940C503BB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2816" y="3210378"/>
            <a:ext cx="4343400" cy="1921782"/>
          </a:xfrm>
          <a:prstGeom prst="rect">
            <a:avLst/>
          </a:prstGeom>
        </p:spPr>
      </p:pic>
      <p:pic>
        <p:nvPicPr>
          <p:cNvPr id="15" name="Picture 14" descr="Text&#10;&#10;Description automatically generated">
            <a:extLst>
              <a:ext uri="{FF2B5EF4-FFF2-40B4-BE49-F238E27FC236}">
                <a16:creationId xmlns:a16="http://schemas.microsoft.com/office/drawing/2014/main" id="{FCA9EFEB-B26A-4E4E-B67F-FE4FBCBAFA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597" y="3223168"/>
            <a:ext cx="7124978" cy="1600200"/>
          </a:xfrm>
          <a:prstGeom prst="rect">
            <a:avLst/>
          </a:prstGeom>
        </p:spPr>
      </p:pic>
      <p:pic>
        <p:nvPicPr>
          <p:cNvPr id="17" name="Picture 16" descr="Graphical user interface, text, application&#10;&#10;Description automatically generated">
            <a:extLst>
              <a:ext uri="{FF2B5EF4-FFF2-40B4-BE49-F238E27FC236}">
                <a16:creationId xmlns:a16="http://schemas.microsoft.com/office/drawing/2014/main" id="{40533C03-2ECE-DA4D-A2E2-42563EC573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597" y="4900774"/>
            <a:ext cx="5019333" cy="1600200"/>
          </a:xfrm>
          <a:prstGeom prst="rect">
            <a:avLst/>
          </a:prstGeom>
        </p:spPr>
      </p:pic>
      <p:sp>
        <p:nvSpPr>
          <p:cNvPr id="18" name="Rectangle 17">
            <a:extLst>
              <a:ext uri="{FF2B5EF4-FFF2-40B4-BE49-F238E27FC236}">
                <a16:creationId xmlns:a16="http://schemas.microsoft.com/office/drawing/2014/main" id="{F55F8B80-10C8-2847-8BE8-A04A04AE8263}"/>
              </a:ext>
            </a:extLst>
          </p:cNvPr>
          <p:cNvSpPr/>
          <p:nvPr/>
        </p:nvSpPr>
        <p:spPr>
          <a:xfrm>
            <a:off x="7565919" y="5116099"/>
            <a:ext cx="4793778" cy="584775"/>
          </a:xfrm>
          <a:prstGeom prst="rect">
            <a:avLst/>
          </a:prstGeom>
        </p:spPr>
        <p:txBody>
          <a:bodyPr wrap="square">
            <a:spAutoFit/>
          </a:bodyPr>
          <a:lstStyle/>
          <a:p>
            <a:r>
              <a:rPr lang="en-US" sz="1600" dirty="0">
                <a:solidFill>
                  <a:srgbClr val="C00000"/>
                </a:solidFill>
                <a:latin typeface="LiberationSerif"/>
                <a:hlinkClick r:id="rId6">
                  <a:extLst>
                    <a:ext uri="{A12FA001-AC4F-418D-AE19-62706E023703}">
                      <ahyp:hlinkClr xmlns:ahyp="http://schemas.microsoft.com/office/drawing/2018/hyperlinkcolor" val="tx"/>
                    </a:ext>
                  </a:extLst>
                </a:hlinkClick>
              </a:rPr>
              <a:t>Friction arises in part because of the roughness of the surfaces in contact, as seen in the expanded view. </a:t>
            </a:r>
            <a:endParaRPr lang="en-US" sz="1600" dirty="0">
              <a:solidFill>
                <a:srgbClr val="C00000"/>
              </a:solidFill>
            </a:endParaRPr>
          </a:p>
        </p:txBody>
      </p:sp>
      <p:sp>
        <p:nvSpPr>
          <p:cNvPr id="19" name="Rectangle 18">
            <a:extLst>
              <a:ext uri="{FF2B5EF4-FFF2-40B4-BE49-F238E27FC236}">
                <a16:creationId xmlns:a16="http://schemas.microsoft.com/office/drawing/2014/main" id="{4412C042-1F33-1B46-A418-985A96ADF8D3}"/>
              </a:ext>
            </a:extLst>
          </p:cNvPr>
          <p:cNvSpPr/>
          <p:nvPr/>
        </p:nvSpPr>
        <p:spPr>
          <a:xfrm>
            <a:off x="5707629" y="5626512"/>
            <a:ext cx="6283963" cy="1077218"/>
          </a:xfrm>
          <a:prstGeom prst="rect">
            <a:avLst/>
          </a:prstGeom>
        </p:spPr>
        <p:txBody>
          <a:bodyPr wrap="square">
            <a:spAutoFit/>
          </a:bodyPr>
          <a:lstStyle/>
          <a:p>
            <a:r>
              <a:rPr lang="en-US" sz="1600" dirty="0">
                <a:solidFill>
                  <a:srgbClr val="000066"/>
                </a:solidFill>
                <a:latin typeface="LiberationSerif"/>
              </a:rPr>
              <a:t>Much of the friction is due to attractive forces between molecules making up the two objects, so that even perfectly smooth surfaces are not friction-free. In fact, perfectly smooth, clean surfaces of similar materials would adhere, forming a bond called a “cold weld.”</a:t>
            </a:r>
          </a:p>
        </p:txBody>
      </p:sp>
    </p:spTree>
    <p:extLst>
      <p:ext uri="{BB962C8B-B14F-4D97-AF65-F5344CB8AC3E}">
        <p14:creationId xmlns:p14="http://schemas.microsoft.com/office/powerpoint/2010/main" val="4137944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4690534" y="89044"/>
            <a:ext cx="5653622" cy="523220"/>
          </a:xfrm>
          <a:prstGeom prst="rect">
            <a:avLst/>
          </a:prstGeom>
        </p:spPr>
        <p:txBody>
          <a:bodyPr wrap="square">
            <a:spAutoFit/>
          </a:bodyPr>
          <a:lstStyle/>
          <a:p>
            <a:r>
              <a:rPr lang="en-US" sz="2800" dirty="0">
                <a:solidFill>
                  <a:srgbClr val="C00000"/>
                </a:solidFill>
                <a:latin typeface="NewBaskervilleStd-Roman"/>
              </a:rPr>
              <a:t>Friction </a:t>
            </a:r>
          </a:p>
        </p:txBody>
      </p:sp>
      <p:pic>
        <p:nvPicPr>
          <p:cNvPr id="4" name="Picture 3" descr="Diagram&#10;&#10;Description automatically generated">
            <a:extLst>
              <a:ext uri="{FF2B5EF4-FFF2-40B4-BE49-F238E27FC236}">
                <a16:creationId xmlns:a16="http://schemas.microsoft.com/office/drawing/2014/main" id="{3EBB3445-A2D5-7444-A135-75884A22FF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8902" y="1140749"/>
            <a:ext cx="4343400" cy="1921782"/>
          </a:xfrm>
          <a:prstGeom prst="rect">
            <a:avLst/>
          </a:prstGeom>
        </p:spPr>
      </p:pic>
      <p:pic>
        <p:nvPicPr>
          <p:cNvPr id="3" name="Picture 2" descr="Chart, box and whisker chart&#10;&#10;Description automatically generated">
            <a:extLst>
              <a:ext uri="{FF2B5EF4-FFF2-40B4-BE49-F238E27FC236}">
                <a16:creationId xmlns:a16="http://schemas.microsoft.com/office/drawing/2014/main" id="{3CBA9271-0F81-5B4D-B7EF-C93DFE6A63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852" y="534733"/>
            <a:ext cx="7086600" cy="3133815"/>
          </a:xfrm>
          <a:prstGeom prst="rect">
            <a:avLst/>
          </a:prstGeom>
        </p:spPr>
      </p:pic>
      <p:pic>
        <p:nvPicPr>
          <p:cNvPr id="10" name="Picture 9" descr="Table&#10;&#10;Description automatically generated">
            <a:extLst>
              <a:ext uri="{FF2B5EF4-FFF2-40B4-BE49-F238E27FC236}">
                <a16:creationId xmlns:a16="http://schemas.microsoft.com/office/drawing/2014/main" id="{BF3DF13D-E252-D34C-A9DD-1194E36B01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60302" y="3429000"/>
            <a:ext cx="4800600" cy="3214881"/>
          </a:xfrm>
          <a:prstGeom prst="rect">
            <a:avLst/>
          </a:prstGeom>
        </p:spPr>
      </p:pic>
      <p:sp>
        <p:nvSpPr>
          <p:cNvPr id="11" name="Rectangle 10">
            <a:extLst>
              <a:ext uri="{FF2B5EF4-FFF2-40B4-BE49-F238E27FC236}">
                <a16:creationId xmlns:a16="http://schemas.microsoft.com/office/drawing/2014/main" id="{6540A40B-4BC0-BE4D-A9A4-41287BB8074D}"/>
              </a:ext>
            </a:extLst>
          </p:cNvPr>
          <p:cNvSpPr/>
          <p:nvPr/>
        </p:nvSpPr>
        <p:spPr>
          <a:xfrm>
            <a:off x="7327875" y="3113314"/>
            <a:ext cx="4813625" cy="338554"/>
          </a:xfrm>
          <a:prstGeom prst="rect">
            <a:avLst/>
          </a:prstGeom>
        </p:spPr>
        <p:txBody>
          <a:bodyPr wrap="none">
            <a:spAutoFit/>
          </a:bodyPr>
          <a:lstStyle/>
          <a:p>
            <a:r>
              <a:rPr lang="en-US" sz="1600" dirty="0">
                <a:solidFill>
                  <a:srgbClr val="D6542B"/>
                </a:solidFill>
                <a:latin typeface="LiberationSans"/>
              </a:rPr>
              <a:t>Approximate Coefficients of Static and Kinetic Friction </a:t>
            </a:r>
            <a:endParaRPr lang="en-US" sz="1600" dirty="0"/>
          </a:p>
        </p:txBody>
      </p:sp>
      <p:pic>
        <p:nvPicPr>
          <p:cNvPr id="13" name="Picture 12" descr="A picture containing icon&#10;&#10;Description automatically generated">
            <a:extLst>
              <a:ext uri="{FF2B5EF4-FFF2-40B4-BE49-F238E27FC236}">
                <a16:creationId xmlns:a16="http://schemas.microsoft.com/office/drawing/2014/main" id="{0DFDF2D0-13B2-574D-8B28-E0D8CC474C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83848" y="4865159"/>
            <a:ext cx="863600" cy="368300"/>
          </a:xfrm>
          <a:prstGeom prst="rect">
            <a:avLst/>
          </a:prstGeom>
        </p:spPr>
      </p:pic>
      <p:pic>
        <p:nvPicPr>
          <p:cNvPr id="14" name="Picture 13" descr="Text&#10;&#10;Description automatically generated">
            <a:extLst>
              <a:ext uri="{FF2B5EF4-FFF2-40B4-BE49-F238E27FC236}">
                <a16:creationId xmlns:a16="http://schemas.microsoft.com/office/drawing/2014/main" id="{7A4C488C-3CBE-6A49-A294-E563641B323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37891" y="3733767"/>
            <a:ext cx="6107124" cy="1371600"/>
          </a:xfrm>
          <a:prstGeom prst="rect">
            <a:avLst/>
          </a:prstGeom>
        </p:spPr>
      </p:pic>
      <p:pic>
        <p:nvPicPr>
          <p:cNvPr id="15" name="Picture 14" descr="Graphical user interface, text, application&#10;&#10;Description automatically generated">
            <a:extLst>
              <a:ext uri="{FF2B5EF4-FFF2-40B4-BE49-F238E27FC236}">
                <a16:creationId xmlns:a16="http://schemas.microsoft.com/office/drawing/2014/main" id="{4766A51D-BF15-DF49-819D-18EC6D07CFE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37891" y="5165635"/>
            <a:ext cx="4302285" cy="1371600"/>
          </a:xfrm>
          <a:prstGeom prst="rect">
            <a:avLst/>
          </a:prstGeom>
        </p:spPr>
      </p:pic>
      <p:sp>
        <p:nvSpPr>
          <p:cNvPr id="16" name="Rectangle 15">
            <a:extLst>
              <a:ext uri="{FF2B5EF4-FFF2-40B4-BE49-F238E27FC236}">
                <a16:creationId xmlns:a16="http://schemas.microsoft.com/office/drawing/2014/main" id="{A6E4B0CC-1D35-2C46-95AF-F6B1F87994EF}"/>
              </a:ext>
            </a:extLst>
          </p:cNvPr>
          <p:cNvSpPr/>
          <p:nvPr/>
        </p:nvSpPr>
        <p:spPr>
          <a:xfrm>
            <a:off x="4548777" y="5137602"/>
            <a:ext cx="2677930" cy="738664"/>
          </a:xfrm>
          <a:prstGeom prst="rect">
            <a:avLst/>
          </a:prstGeom>
        </p:spPr>
        <p:txBody>
          <a:bodyPr wrap="square">
            <a:spAutoFit/>
          </a:bodyPr>
          <a:lstStyle/>
          <a:p>
            <a:r>
              <a:rPr lang="en-US" sz="1400" dirty="0">
                <a:solidFill>
                  <a:srgbClr val="008000"/>
                </a:solidFill>
                <a:latin typeface="LiberationSerif"/>
              </a:rPr>
              <a:t>Example: </a:t>
            </a:r>
            <a:r>
              <a:rPr lang="en-US" sz="1400" dirty="0">
                <a:solidFill>
                  <a:srgbClr val="000066"/>
                </a:solidFill>
                <a:latin typeface="LiberationSerif"/>
              </a:rPr>
              <a:t>100 kg crate. T</a:t>
            </a:r>
            <a:r>
              <a:rPr lang="en-US" sz="1400" dirty="0">
                <a:solidFill>
                  <a:srgbClr val="000066"/>
                </a:solidFill>
              </a:rPr>
              <a:t>he normal force is equal to its weight. </a:t>
            </a:r>
          </a:p>
          <a:p>
            <a:endParaRPr lang="en-US" sz="1400" dirty="0">
              <a:solidFill>
                <a:srgbClr val="000066"/>
              </a:solidFill>
            </a:endParaRPr>
          </a:p>
        </p:txBody>
      </p:sp>
      <p:pic>
        <p:nvPicPr>
          <p:cNvPr id="18" name="Picture 17">
            <a:extLst>
              <a:ext uri="{FF2B5EF4-FFF2-40B4-BE49-F238E27FC236}">
                <a16:creationId xmlns:a16="http://schemas.microsoft.com/office/drawing/2014/main" id="{D11FCABB-F8DA-104F-AD7F-8DE9417932A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528639" y="5613233"/>
            <a:ext cx="2743200" cy="321617"/>
          </a:xfrm>
          <a:prstGeom prst="rect">
            <a:avLst/>
          </a:prstGeom>
        </p:spPr>
      </p:pic>
      <p:pic>
        <p:nvPicPr>
          <p:cNvPr id="20" name="Picture 19">
            <a:extLst>
              <a:ext uri="{FF2B5EF4-FFF2-40B4-BE49-F238E27FC236}">
                <a16:creationId xmlns:a16="http://schemas.microsoft.com/office/drawing/2014/main" id="{D9F60D92-4F4D-9E4F-88C5-B68845F71C2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519252" y="5995118"/>
            <a:ext cx="2743200" cy="285936"/>
          </a:xfrm>
          <a:prstGeom prst="rect">
            <a:avLst/>
          </a:prstGeom>
        </p:spPr>
      </p:pic>
      <p:pic>
        <p:nvPicPr>
          <p:cNvPr id="22" name="Picture 21" descr="A picture containing text, clipart&#10;&#10;Description automatically generated">
            <a:extLst>
              <a:ext uri="{FF2B5EF4-FFF2-40B4-BE49-F238E27FC236}">
                <a16:creationId xmlns:a16="http://schemas.microsoft.com/office/drawing/2014/main" id="{5D4DC600-9D60-B744-BF45-81FB6C35ADB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40176" y="6328559"/>
            <a:ext cx="2514600" cy="311962"/>
          </a:xfrm>
          <a:prstGeom prst="rect">
            <a:avLst/>
          </a:prstGeom>
        </p:spPr>
      </p:pic>
      <p:sp>
        <p:nvSpPr>
          <p:cNvPr id="23" name="Rectangle 22">
            <a:extLst>
              <a:ext uri="{FF2B5EF4-FFF2-40B4-BE49-F238E27FC236}">
                <a16:creationId xmlns:a16="http://schemas.microsoft.com/office/drawing/2014/main" id="{74CA4E03-D47B-FA4A-96C8-94D82F1DFB27}"/>
              </a:ext>
            </a:extLst>
          </p:cNvPr>
          <p:cNvSpPr/>
          <p:nvPr/>
        </p:nvSpPr>
        <p:spPr>
          <a:xfrm>
            <a:off x="494435" y="802276"/>
            <a:ext cx="2560573" cy="369332"/>
          </a:xfrm>
          <a:prstGeom prst="rect">
            <a:avLst/>
          </a:prstGeom>
        </p:spPr>
        <p:txBody>
          <a:bodyPr wrap="none">
            <a:spAutoFit/>
          </a:bodyPr>
          <a:lstStyle/>
          <a:p>
            <a:r>
              <a:rPr lang="en-US" dirty="0">
                <a:solidFill>
                  <a:srgbClr val="008000"/>
                </a:solidFill>
                <a:latin typeface="LiberationSans"/>
              </a:rPr>
              <a:t>Static and Kinetic Friction</a:t>
            </a:r>
          </a:p>
        </p:txBody>
      </p:sp>
    </p:spTree>
    <p:extLst>
      <p:ext uri="{BB962C8B-B14F-4D97-AF65-F5344CB8AC3E}">
        <p14:creationId xmlns:p14="http://schemas.microsoft.com/office/powerpoint/2010/main" val="36615639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4690534" y="89044"/>
            <a:ext cx="5653622" cy="523220"/>
          </a:xfrm>
          <a:prstGeom prst="rect">
            <a:avLst/>
          </a:prstGeom>
        </p:spPr>
        <p:txBody>
          <a:bodyPr wrap="square">
            <a:spAutoFit/>
          </a:bodyPr>
          <a:lstStyle/>
          <a:p>
            <a:r>
              <a:rPr lang="en-US" sz="2800" dirty="0">
                <a:solidFill>
                  <a:srgbClr val="C00000"/>
                </a:solidFill>
                <a:latin typeface="NewBaskervilleStd-Roman"/>
              </a:rPr>
              <a:t>Friction </a:t>
            </a:r>
          </a:p>
        </p:txBody>
      </p:sp>
      <p:sp>
        <p:nvSpPr>
          <p:cNvPr id="2" name="Rectangle 1">
            <a:extLst>
              <a:ext uri="{FF2B5EF4-FFF2-40B4-BE49-F238E27FC236}">
                <a16:creationId xmlns:a16="http://schemas.microsoft.com/office/drawing/2014/main" id="{D1D0F6F1-5CA7-D748-80EF-B7D35089C152}"/>
              </a:ext>
            </a:extLst>
          </p:cNvPr>
          <p:cNvSpPr/>
          <p:nvPr/>
        </p:nvSpPr>
        <p:spPr>
          <a:xfrm>
            <a:off x="626395" y="612264"/>
            <a:ext cx="1152623" cy="430887"/>
          </a:xfrm>
          <a:prstGeom prst="rect">
            <a:avLst/>
          </a:prstGeom>
        </p:spPr>
        <p:txBody>
          <a:bodyPr wrap="none">
            <a:spAutoFit/>
          </a:bodyPr>
          <a:lstStyle/>
          <a:p>
            <a:r>
              <a:rPr lang="en-US" sz="2200" dirty="0">
                <a:solidFill>
                  <a:srgbClr val="008000"/>
                </a:solidFill>
                <a:latin typeface="LiberationSans"/>
              </a:rPr>
              <a:t>Example</a:t>
            </a:r>
            <a:endParaRPr lang="en-US" sz="2200" dirty="0"/>
          </a:p>
        </p:txBody>
      </p:sp>
      <p:pic>
        <p:nvPicPr>
          <p:cNvPr id="4" name="Picture 3" descr="Text&#10;&#10;Description automatically generated">
            <a:extLst>
              <a:ext uri="{FF2B5EF4-FFF2-40B4-BE49-F238E27FC236}">
                <a16:creationId xmlns:a16="http://schemas.microsoft.com/office/drawing/2014/main" id="{C81C44A2-7578-EF4A-B414-CA5E531BC2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395" y="1043151"/>
            <a:ext cx="10972800" cy="1676204"/>
          </a:xfrm>
          <a:prstGeom prst="rect">
            <a:avLst/>
          </a:prstGeom>
        </p:spPr>
      </p:pic>
      <p:pic>
        <p:nvPicPr>
          <p:cNvPr id="8" name="Picture 7" descr="Diagram&#10;&#10;Description automatically generated">
            <a:extLst>
              <a:ext uri="{FF2B5EF4-FFF2-40B4-BE49-F238E27FC236}">
                <a16:creationId xmlns:a16="http://schemas.microsoft.com/office/drawing/2014/main" id="{B7F9D5B2-0E5A-9C48-8F4D-E126DA9317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6395" y="2837854"/>
            <a:ext cx="7039502" cy="3657600"/>
          </a:xfrm>
          <a:prstGeom prst="rect">
            <a:avLst/>
          </a:prstGeom>
        </p:spPr>
      </p:pic>
    </p:spTree>
    <p:extLst>
      <p:ext uri="{BB962C8B-B14F-4D97-AF65-F5344CB8AC3E}">
        <p14:creationId xmlns:p14="http://schemas.microsoft.com/office/powerpoint/2010/main" val="3153655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4690534" y="89044"/>
            <a:ext cx="5653622" cy="523220"/>
          </a:xfrm>
          <a:prstGeom prst="rect">
            <a:avLst/>
          </a:prstGeom>
        </p:spPr>
        <p:txBody>
          <a:bodyPr wrap="square">
            <a:spAutoFit/>
          </a:bodyPr>
          <a:lstStyle/>
          <a:p>
            <a:r>
              <a:rPr lang="en-US" sz="2800" dirty="0">
                <a:solidFill>
                  <a:srgbClr val="C00000"/>
                </a:solidFill>
                <a:latin typeface="NewBaskervilleStd-Roman"/>
              </a:rPr>
              <a:t>Friction </a:t>
            </a:r>
          </a:p>
        </p:txBody>
      </p:sp>
      <p:sp>
        <p:nvSpPr>
          <p:cNvPr id="2" name="Rectangle 1">
            <a:extLst>
              <a:ext uri="{FF2B5EF4-FFF2-40B4-BE49-F238E27FC236}">
                <a16:creationId xmlns:a16="http://schemas.microsoft.com/office/drawing/2014/main" id="{D1D0F6F1-5CA7-D748-80EF-B7D35089C152}"/>
              </a:ext>
            </a:extLst>
          </p:cNvPr>
          <p:cNvSpPr/>
          <p:nvPr/>
        </p:nvSpPr>
        <p:spPr>
          <a:xfrm>
            <a:off x="626395" y="612264"/>
            <a:ext cx="1152623" cy="430887"/>
          </a:xfrm>
          <a:prstGeom prst="rect">
            <a:avLst/>
          </a:prstGeom>
        </p:spPr>
        <p:txBody>
          <a:bodyPr wrap="none">
            <a:spAutoFit/>
          </a:bodyPr>
          <a:lstStyle/>
          <a:p>
            <a:r>
              <a:rPr lang="en-US" sz="2200" dirty="0">
                <a:solidFill>
                  <a:srgbClr val="008000"/>
                </a:solidFill>
                <a:latin typeface="LiberationSans"/>
              </a:rPr>
              <a:t>Example</a:t>
            </a:r>
            <a:endParaRPr lang="en-US" sz="2200" dirty="0"/>
          </a:p>
        </p:txBody>
      </p:sp>
      <p:pic>
        <p:nvPicPr>
          <p:cNvPr id="4" name="Picture 3" descr="Text&#10;&#10;Description automatically generated">
            <a:extLst>
              <a:ext uri="{FF2B5EF4-FFF2-40B4-BE49-F238E27FC236}">
                <a16:creationId xmlns:a16="http://schemas.microsoft.com/office/drawing/2014/main" id="{C81C44A2-7578-EF4A-B414-CA5E531BC2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395" y="1043151"/>
            <a:ext cx="10972800" cy="1676204"/>
          </a:xfrm>
          <a:prstGeom prst="rect">
            <a:avLst/>
          </a:prstGeom>
        </p:spPr>
      </p:pic>
      <p:pic>
        <p:nvPicPr>
          <p:cNvPr id="8" name="Picture 7" descr="Diagram&#10;&#10;Description automatically generated">
            <a:extLst>
              <a:ext uri="{FF2B5EF4-FFF2-40B4-BE49-F238E27FC236}">
                <a16:creationId xmlns:a16="http://schemas.microsoft.com/office/drawing/2014/main" id="{B7F9D5B2-0E5A-9C48-8F4D-E126DA9317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6395" y="2837854"/>
            <a:ext cx="7039502" cy="3657600"/>
          </a:xfrm>
          <a:prstGeom prst="rect">
            <a:avLst/>
          </a:prstGeom>
        </p:spPr>
      </p:pic>
      <p:sp>
        <p:nvSpPr>
          <p:cNvPr id="7" name="Rectangle 6">
            <a:extLst>
              <a:ext uri="{FF2B5EF4-FFF2-40B4-BE49-F238E27FC236}">
                <a16:creationId xmlns:a16="http://schemas.microsoft.com/office/drawing/2014/main" id="{D1D33A62-64B0-6F4C-963A-476BA69D7736}"/>
              </a:ext>
            </a:extLst>
          </p:cNvPr>
          <p:cNvSpPr/>
          <p:nvPr/>
        </p:nvSpPr>
        <p:spPr>
          <a:xfrm>
            <a:off x="7823849" y="3429000"/>
            <a:ext cx="1800816" cy="400110"/>
          </a:xfrm>
          <a:prstGeom prst="rect">
            <a:avLst/>
          </a:prstGeom>
        </p:spPr>
        <p:txBody>
          <a:bodyPr wrap="square">
            <a:spAutoFit/>
          </a:bodyPr>
          <a:lstStyle/>
          <a:p>
            <a:r>
              <a:rPr lang="en-US" sz="2000" dirty="0">
                <a:solidFill>
                  <a:srgbClr val="0000CC"/>
                </a:solidFill>
              </a:rPr>
              <a:t>Assignment 3</a:t>
            </a:r>
          </a:p>
        </p:txBody>
      </p:sp>
      <p:sp>
        <p:nvSpPr>
          <p:cNvPr id="3" name="Rectangle 2">
            <a:extLst>
              <a:ext uri="{FF2B5EF4-FFF2-40B4-BE49-F238E27FC236}">
                <a16:creationId xmlns:a16="http://schemas.microsoft.com/office/drawing/2014/main" id="{953E4A4A-6EB4-F647-B491-CD298573C9CC}"/>
              </a:ext>
            </a:extLst>
          </p:cNvPr>
          <p:cNvSpPr/>
          <p:nvPr/>
        </p:nvSpPr>
        <p:spPr>
          <a:xfrm>
            <a:off x="7823849" y="3731650"/>
            <a:ext cx="4048602" cy="2308324"/>
          </a:xfrm>
          <a:prstGeom prst="rect">
            <a:avLst/>
          </a:prstGeom>
        </p:spPr>
        <p:txBody>
          <a:bodyPr wrap="square">
            <a:spAutoFit/>
          </a:bodyPr>
          <a:lstStyle/>
          <a:p>
            <a:r>
              <a:rPr lang="en-US" dirty="0">
                <a:solidFill>
                  <a:srgbClr val="000066"/>
                </a:solidFill>
                <a:latin typeface="LiberationSerif"/>
              </a:rPr>
              <a:t>A block of mass 1.0 kg rests on a horizontal surface. The frictional coefficients for the block and surface are </a:t>
            </a:r>
            <a:r>
              <a:rPr lang="el-GR" i="1" dirty="0">
                <a:solidFill>
                  <a:srgbClr val="000066"/>
                </a:solidFill>
                <a:latin typeface="STIXGeneral" pitchFamily="2" charset="2"/>
              </a:rPr>
              <a:t>μ</a:t>
            </a:r>
            <a:r>
              <a:rPr lang="en-US" i="1" baseline="-25000" dirty="0">
                <a:solidFill>
                  <a:srgbClr val="000066"/>
                </a:solidFill>
                <a:latin typeface="STIXGeneral" pitchFamily="2" charset="2"/>
              </a:rPr>
              <a:t>s </a:t>
            </a:r>
            <a:r>
              <a:rPr lang="en-US" dirty="0">
                <a:solidFill>
                  <a:srgbClr val="000066"/>
                </a:solidFill>
                <a:latin typeface="STIXGeneral" pitchFamily="2" charset="2"/>
              </a:rPr>
              <a:t>= 0.50 </a:t>
            </a:r>
            <a:r>
              <a:rPr lang="en-US" dirty="0">
                <a:solidFill>
                  <a:srgbClr val="000066"/>
                </a:solidFill>
                <a:latin typeface="LiberationSerif"/>
              </a:rPr>
              <a:t>and </a:t>
            </a:r>
            <a:r>
              <a:rPr lang="el-GR" i="1" dirty="0">
                <a:solidFill>
                  <a:srgbClr val="000066"/>
                </a:solidFill>
                <a:latin typeface="STIXGeneral" pitchFamily="2" charset="2"/>
              </a:rPr>
              <a:t>μ</a:t>
            </a:r>
            <a:r>
              <a:rPr lang="en-US" i="1" baseline="-25000" dirty="0">
                <a:solidFill>
                  <a:srgbClr val="000066"/>
                </a:solidFill>
                <a:latin typeface="STIXGeneral" pitchFamily="2" charset="2"/>
              </a:rPr>
              <a:t>k </a:t>
            </a:r>
            <a:r>
              <a:rPr lang="en-US" dirty="0">
                <a:solidFill>
                  <a:srgbClr val="000066"/>
                </a:solidFill>
                <a:latin typeface="STIXGeneral" pitchFamily="2" charset="2"/>
              </a:rPr>
              <a:t>= 0.40. </a:t>
            </a:r>
          </a:p>
          <a:p>
            <a:r>
              <a:rPr lang="en-US" dirty="0">
                <a:solidFill>
                  <a:srgbClr val="000066"/>
                </a:solidFill>
                <a:latin typeface="LiberationSerif"/>
              </a:rPr>
              <a:t>(a) What is the minimum horizontal force </a:t>
            </a:r>
            <a:endParaRPr lang="en-US" dirty="0">
              <a:solidFill>
                <a:srgbClr val="000066"/>
              </a:solidFill>
            </a:endParaRPr>
          </a:p>
          <a:p>
            <a:r>
              <a:rPr lang="en-US" dirty="0">
                <a:solidFill>
                  <a:srgbClr val="000066"/>
                </a:solidFill>
                <a:latin typeface="LiberationSerif"/>
              </a:rPr>
              <a:t>required to move the block? </a:t>
            </a:r>
          </a:p>
          <a:p>
            <a:r>
              <a:rPr lang="en-US" dirty="0">
                <a:solidFill>
                  <a:srgbClr val="000066"/>
                </a:solidFill>
                <a:latin typeface="LiberationSerif"/>
              </a:rPr>
              <a:t>(b) What is the block’s acceleration when this force is applied? </a:t>
            </a:r>
            <a:endParaRPr lang="en-US" dirty="0">
              <a:solidFill>
                <a:srgbClr val="000066"/>
              </a:solidFill>
            </a:endParaRPr>
          </a:p>
        </p:txBody>
      </p:sp>
    </p:spTree>
    <p:extLst>
      <p:ext uri="{BB962C8B-B14F-4D97-AF65-F5344CB8AC3E}">
        <p14:creationId xmlns:p14="http://schemas.microsoft.com/office/powerpoint/2010/main" val="1581122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590602" y="89044"/>
            <a:ext cx="5653622" cy="523220"/>
          </a:xfrm>
          <a:prstGeom prst="rect">
            <a:avLst/>
          </a:prstGeom>
        </p:spPr>
        <p:txBody>
          <a:bodyPr wrap="square">
            <a:spAutoFit/>
          </a:bodyPr>
          <a:lstStyle/>
          <a:p>
            <a:r>
              <a:rPr lang="en-US" sz="2800" dirty="0">
                <a:solidFill>
                  <a:srgbClr val="C00000"/>
                </a:solidFill>
                <a:latin typeface="NewBaskervilleStd-Roman"/>
              </a:rPr>
              <a:t>Friction and the Inclined Plane </a:t>
            </a:r>
          </a:p>
        </p:txBody>
      </p:sp>
      <p:sp>
        <p:nvSpPr>
          <p:cNvPr id="7" name="Rectangle 6">
            <a:extLst>
              <a:ext uri="{FF2B5EF4-FFF2-40B4-BE49-F238E27FC236}">
                <a16:creationId xmlns:a16="http://schemas.microsoft.com/office/drawing/2014/main" id="{B7C56A4B-BD03-8546-9ED1-A651D449613D}"/>
              </a:ext>
            </a:extLst>
          </p:cNvPr>
          <p:cNvSpPr/>
          <p:nvPr/>
        </p:nvSpPr>
        <p:spPr>
          <a:xfrm>
            <a:off x="607654" y="612264"/>
            <a:ext cx="1152623" cy="430887"/>
          </a:xfrm>
          <a:prstGeom prst="rect">
            <a:avLst/>
          </a:prstGeom>
        </p:spPr>
        <p:txBody>
          <a:bodyPr wrap="none">
            <a:spAutoFit/>
          </a:bodyPr>
          <a:lstStyle/>
          <a:p>
            <a:r>
              <a:rPr lang="en-US" sz="2200" dirty="0">
                <a:solidFill>
                  <a:srgbClr val="008000"/>
                </a:solidFill>
                <a:latin typeface="LiberationSans"/>
              </a:rPr>
              <a:t>Example</a:t>
            </a:r>
            <a:endParaRPr lang="en-US" sz="2200" dirty="0"/>
          </a:p>
        </p:txBody>
      </p:sp>
      <p:pic>
        <p:nvPicPr>
          <p:cNvPr id="4" name="Picture 3">
            <a:extLst>
              <a:ext uri="{FF2B5EF4-FFF2-40B4-BE49-F238E27FC236}">
                <a16:creationId xmlns:a16="http://schemas.microsoft.com/office/drawing/2014/main" id="{DC52DE83-F76F-4B48-9BA9-F73F851A9A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654" y="1043151"/>
            <a:ext cx="10972800" cy="1059151"/>
          </a:xfrm>
          <a:prstGeom prst="rect">
            <a:avLst/>
          </a:prstGeom>
        </p:spPr>
      </p:pic>
      <p:pic>
        <p:nvPicPr>
          <p:cNvPr id="9" name="Picture 8" descr="A picture containing text, sky, map&#10;&#10;Description automatically generated">
            <a:extLst>
              <a:ext uri="{FF2B5EF4-FFF2-40B4-BE49-F238E27FC236}">
                <a16:creationId xmlns:a16="http://schemas.microsoft.com/office/drawing/2014/main" id="{41E3DA7C-A5A6-BE46-9427-0817F96DA9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7654" y="2195693"/>
            <a:ext cx="7448898" cy="3657600"/>
          </a:xfrm>
          <a:prstGeom prst="rect">
            <a:avLst/>
          </a:prstGeom>
        </p:spPr>
      </p:pic>
      <p:sp>
        <p:nvSpPr>
          <p:cNvPr id="10" name="Rectangle 9">
            <a:extLst>
              <a:ext uri="{FF2B5EF4-FFF2-40B4-BE49-F238E27FC236}">
                <a16:creationId xmlns:a16="http://schemas.microsoft.com/office/drawing/2014/main" id="{839C95E8-AF6E-904D-85A5-13F2E03DCA5D}"/>
              </a:ext>
            </a:extLst>
          </p:cNvPr>
          <p:cNvSpPr/>
          <p:nvPr/>
        </p:nvSpPr>
        <p:spPr>
          <a:xfrm>
            <a:off x="607654" y="5853293"/>
            <a:ext cx="11220552" cy="646331"/>
          </a:xfrm>
          <a:prstGeom prst="rect">
            <a:avLst/>
          </a:prstGeom>
        </p:spPr>
        <p:txBody>
          <a:bodyPr wrap="square">
            <a:spAutoFit/>
          </a:bodyPr>
          <a:lstStyle/>
          <a:p>
            <a:r>
              <a:rPr lang="en-US" dirty="0">
                <a:solidFill>
                  <a:srgbClr val="000066"/>
                </a:solidFill>
              </a:rPr>
              <a:t>The motion of the skier and friction are parallel to the slope, so it is most convenient to project all forces onto a coordinate system where </a:t>
            </a:r>
            <a:r>
              <a:rPr lang="en-US" dirty="0">
                <a:solidFill>
                  <a:srgbClr val="C00000"/>
                </a:solidFill>
              </a:rPr>
              <a:t>one axis is parallel to the slope and the other is perpendicular</a:t>
            </a:r>
            <a:r>
              <a:rPr lang="en-US" dirty="0">
                <a:solidFill>
                  <a:srgbClr val="000066"/>
                </a:solidFill>
              </a:rPr>
              <a:t> (axes shown to left of skier). </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46A4F240-4362-1B48-BCAF-7EC382729032}"/>
                  </a:ext>
                </a:extLst>
              </p:cNvPr>
              <p:cNvSpPr/>
              <p:nvPr/>
            </p:nvSpPr>
            <p:spPr>
              <a:xfrm>
                <a:off x="8229601" y="2577433"/>
                <a:ext cx="3702995" cy="3311676"/>
              </a:xfrm>
              <a:prstGeom prst="rect">
                <a:avLst/>
              </a:prstGeom>
            </p:spPr>
            <p:txBody>
              <a:bodyPr wrap="square">
                <a:spAutoFit/>
              </a:bodyPr>
              <a:lstStyle/>
              <a:p>
                <a:r>
                  <a:rPr lang="en-US" dirty="0">
                    <a:solidFill>
                      <a:srgbClr val="000066"/>
                    </a:solidFill>
                  </a:rPr>
                  <a:t>The normal force </a:t>
                </a:r>
                <a14:m>
                  <m:oMath xmlns:m="http://schemas.openxmlformats.org/officeDocument/2006/math">
                    <m:acc>
                      <m:accPr>
                        <m:chr m:val="⃗"/>
                        <m:ctrlPr>
                          <a:rPr lang="en-US" b="1" i="1">
                            <a:solidFill>
                              <a:srgbClr val="000066"/>
                            </a:solidFill>
                            <a:latin typeface="Cambria Math" panose="02040503050406030204" pitchFamily="18" charset="0"/>
                          </a:rPr>
                        </m:ctrlPr>
                      </m:accPr>
                      <m:e>
                        <m:r>
                          <a:rPr lang="en-US" b="1">
                            <a:solidFill>
                              <a:srgbClr val="000066"/>
                            </a:solidFill>
                            <a:latin typeface="Cambria Math"/>
                          </a:rPr>
                          <m:t>𝐍</m:t>
                        </m:r>
                      </m:e>
                    </m:acc>
                    <m:r>
                      <a:rPr lang="en-US" b="1" i="1">
                        <a:solidFill>
                          <a:srgbClr val="000066"/>
                        </a:solidFill>
                        <a:latin typeface="Cambria Math"/>
                      </a:rPr>
                      <m:t> </m:t>
                    </m:r>
                  </m:oMath>
                </a14:m>
                <a:r>
                  <a:rPr lang="en-US" dirty="0">
                    <a:solidFill>
                      <a:srgbClr val="000066"/>
                    </a:solidFill>
                  </a:rPr>
                  <a:t>is </a:t>
                </a:r>
                <a:r>
                  <a:rPr lang="en-US" dirty="0">
                    <a:solidFill>
                      <a:srgbClr val="C00000"/>
                    </a:solidFill>
                  </a:rPr>
                  <a:t>perpendicular </a:t>
                </a:r>
                <a:r>
                  <a:rPr lang="en-US" dirty="0">
                    <a:solidFill>
                      <a:srgbClr val="000066"/>
                    </a:solidFill>
                  </a:rPr>
                  <a:t>to the slope, and friction </a:t>
                </a:r>
                <a14:m>
                  <m:oMath xmlns:m="http://schemas.openxmlformats.org/officeDocument/2006/math">
                    <m:acc>
                      <m:accPr>
                        <m:chr m:val="⃗"/>
                        <m:ctrlPr>
                          <a:rPr lang="en-US" b="1" i="1">
                            <a:solidFill>
                              <a:srgbClr val="000066"/>
                            </a:solidFill>
                            <a:latin typeface="Cambria Math" panose="02040503050406030204" pitchFamily="18" charset="0"/>
                          </a:rPr>
                        </m:ctrlPr>
                      </m:accPr>
                      <m:e>
                        <m:r>
                          <a:rPr lang="en-US" b="1">
                            <a:solidFill>
                              <a:srgbClr val="000066"/>
                            </a:solidFill>
                            <a:latin typeface="Cambria Math"/>
                          </a:rPr>
                          <m:t>𝐟</m:t>
                        </m:r>
                      </m:e>
                    </m:acc>
                    <m:r>
                      <a:rPr lang="en-US" b="1" i="1">
                        <a:solidFill>
                          <a:srgbClr val="000066"/>
                        </a:solidFill>
                        <a:latin typeface="Cambria Math"/>
                      </a:rPr>
                      <m:t> </m:t>
                    </m:r>
                  </m:oMath>
                </a14:m>
                <a:r>
                  <a:rPr lang="en-US" dirty="0">
                    <a:solidFill>
                      <a:srgbClr val="C00000"/>
                    </a:solidFill>
                  </a:rPr>
                  <a:t>is parallel </a:t>
                </a:r>
                <a:r>
                  <a:rPr lang="en-US" dirty="0">
                    <a:solidFill>
                      <a:srgbClr val="000066"/>
                    </a:solidFill>
                  </a:rPr>
                  <a:t>to the slope, but the skier’s weight </a:t>
                </a:r>
                <a14:m>
                  <m:oMath xmlns:m="http://schemas.openxmlformats.org/officeDocument/2006/math">
                    <m:acc>
                      <m:accPr>
                        <m:chr m:val="⃗"/>
                        <m:ctrlPr>
                          <a:rPr lang="en-US" b="1" i="1">
                            <a:solidFill>
                              <a:srgbClr val="000066"/>
                            </a:solidFill>
                            <a:latin typeface="Cambria Math" panose="02040503050406030204" pitchFamily="18" charset="0"/>
                          </a:rPr>
                        </m:ctrlPr>
                      </m:accPr>
                      <m:e>
                        <m:r>
                          <a:rPr lang="en-US" b="1">
                            <a:solidFill>
                              <a:srgbClr val="000066"/>
                            </a:solidFill>
                            <a:latin typeface="Cambria Math"/>
                          </a:rPr>
                          <m:t>𝐰</m:t>
                        </m:r>
                      </m:e>
                    </m:acc>
                    <m:r>
                      <a:rPr lang="en-US" b="1" i="1">
                        <a:solidFill>
                          <a:srgbClr val="000066"/>
                        </a:solidFill>
                        <a:latin typeface="Cambria Math"/>
                      </a:rPr>
                      <m:t> </m:t>
                    </m:r>
                  </m:oMath>
                </a14:m>
                <a:r>
                  <a:rPr lang="en-US" dirty="0">
                    <a:solidFill>
                      <a:srgbClr val="000066"/>
                    </a:solidFill>
                  </a:rPr>
                  <a:t>has components along both axes, namely </a:t>
                </a:r>
                <a14:m>
                  <m:oMath xmlns:m="http://schemas.openxmlformats.org/officeDocument/2006/math">
                    <m:sSub>
                      <m:sSubPr>
                        <m:ctrlPr>
                          <a:rPr lang="en-US" i="1">
                            <a:solidFill>
                              <a:srgbClr val="000066"/>
                            </a:solidFill>
                            <a:latin typeface="Cambria Math" panose="02040503050406030204" pitchFamily="18" charset="0"/>
                          </a:rPr>
                        </m:ctrlPr>
                      </m:sSubPr>
                      <m:e>
                        <m:acc>
                          <m:accPr>
                            <m:chr m:val="⃗"/>
                            <m:ctrlPr>
                              <a:rPr lang="en-US" b="1" i="1">
                                <a:solidFill>
                                  <a:srgbClr val="000066"/>
                                </a:solidFill>
                                <a:latin typeface="Cambria Math" panose="02040503050406030204" pitchFamily="18" charset="0"/>
                              </a:rPr>
                            </m:ctrlPr>
                          </m:accPr>
                          <m:e>
                            <m:r>
                              <a:rPr lang="en-US" b="1">
                                <a:solidFill>
                                  <a:srgbClr val="000066"/>
                                </a:solidFill>
                                <a:latin typeface="Cambria Math"/>
                              </a:rPr>
                              <m:t>𝐰</m:t>
                            </m:r>
                          </m:e>
                        </m:acc>
                      </m:e>
                      <m:sub>
                        <m:r>
                          <a:rPr lang="en-US" i="1">
                            <a:solidFill>
                              <a:srgbClr val="000066"/>
                            </a:solidFill>
                            <a:latin typeface="Cambria Math"/>
                          </a:rPr>
                          <m:t>𝑦</m:t>
                        </m:r>
                      </m:sub>
                    </m:sSub>
                  </m:oMath>
                </a14:m>
                <a:r>
                  <a:rPr lang="en-US" dirty="0">
                    <a:solidFill>
                      <a:srgbClr val="000066"/>
                    </a:solidFill>
                  </a:rPr>
                  <a:t> and </a:t>
                </a:r>
                <a14:m>
                  <m:oMath xmlns:m="http://schemas.openxmlformats.org/officeDocument/2006/math">
                    <m:sSub>
                      <m:sSubPr>
                        <m:ctrlPr>
                          <a:rPr lang="en-US" i="1">
                            <a:solidFill>
                              <a:srgbClr val="000066"/>
                            </a:solidFill>
                            <a:latin typeface="Cambria Math" panose="02040503050406030204" pitchFamily="18" charset="0"/>
                          </a:rPr>
                        </m:ctrlPr>
                      </m:sSubPr>
                      <m:e>
                        <m:acc>
                          <m:accPr>
                            <m:chr m:val="⃗"/>
                            <m:ctrlPr>
                              <a:rPr lang="en-US" b="1" i="1">
                                <a:solidFill>
                                  <a:srgbClr val="000066"/>
                                </a:solidFill>
                                <a:latin typeface="Cambria Math" panose="02040503050406030204" pitchFamily="18" charset="0"/>
                              </a:rPr>
                            </m:ctrlPr>
                          </m:accPr>
                          <m:e>
                            <m:r>
                              <a:rPr lang="en-US" b="1">
                                <a:solidFill>
                                  <a:srgbClr val="000066"/>
                                </a:solidFill>
                                <a:latin typeface="Cambria Math"/>
                              </a:rPr>
                              <m:t>𝐰</m:t>
                            </m:r>
                          </m:e>
                        </m:acc>
                      </m:e>
                      <m:sub>
                        <m:r>
                          <a:rPr lang="en-US" i="1">
                            <a:solidFill>
                              <a:srgbClr val="000066"/>
                            </a:solidFill>
                            <a:latin typeface="Cambria Math"/>
                          </a:rPr>
                          <m:t>𝑥</m:t>
                        </m:r>
                      </m:sub>
                    </m:sSub>
                  </m:oMath>
                </a14:m>
                <a:r>
                  <a:rPr lang="en-US" dirty="0">
                    <a:solidFill>
                      <a:srgbClr val="000066"/>
                    </a:solidFill>
                  </a:rPr>
                  <a:t>. The normal force </a:t>
                </a:r>
                <a14:m>
                  <m:oMath xmlns:m="http://schemas.openxmlformats.org/officeDocument/2006/math">
                    <m:acc>
                      <m:accPr>
                        <m:chr m:val="⃗"/>
                        <m:ctrlPr>
                          <a:rPr lang="en-US" b="1" i="1">
                            <a:solidFill>
                              <a:srgbClr val="000066"/>
                            </a:solidFill>
                            <a:latin typeface="Cambria Math" panose="02040503050406030204" pitchFamily="18" charset="0"/>
                          </a:rPr>
                        </m:ctrlPr>
                      </m:accPr>
                      <m:e>
                        <m:r>
                          <a:rPr lang="en-US" b="1">
                            <a:solidFill>
                              <a:srgbClr val="000066"/>
                            </a:solidFill>
                            <a:latin typeface="Cambria Math"/>
                          </a:rPr>
                          <m:t>𝐍</m:t>
                        </m:r>
                      </m:e>
                    </m:acc>
                    <m:r>
                      <a:rPr lang="en-US" b="1" i="1">
                        <a:solidFill>
                          <a:srgbClr val="000066"/>
                        </a:solidFill>
                        <a:latin typeface="Cambria Math"/>
                      </a:rPr>
                      <m:t> </m:t>
                    </m:r>
                  </m:oMath>
                </a14:m>
                <a:r>
                  <a:rPr lang="en-US" dirty="0">
                    <a:solidFill>
                      <a:srgbClr val="000066"/>
                    </a:solidFill>
                  </a:rPr>
                  <a:t>is equal in magnitude to </a:t>
                </a:r>
                <a14:m>
                  <m:oMath xmlns:m="http://schemas.openxmlformats.org/officeDocument/2006/math">
                    <m:sSub>
                      <m:sSubPr>
                        <m:ctrlPr>
                          <a:rPr lang="en-US" i="1">
                            <a:solidFill>
                              <a:srgbClr val="000066"/>
                            </a:solidFill>
                            <a:latin typeface="Cambria Math" panose="02040503050406030204" pitchFamily="18" charset="0"/>
                          </a:rPr>
                        </m:ctrlPr>
                      </m:sSubPr>
                      <m:e>
                        <m:acc>
                          <m:accPr>
                            <m:chr m:val="⃗"/>
                            <m:ctrlPr>
                              <a:rPr lang="en-US" b="1" i="1">
                                <a:solidFill>
                                  <a:srgbClr val="000066"/>
                                </a:solidFill>
                                <a:latin typeface="Cambria Math" panose="02040503050406030204" pitchFamily="18" charset="0"/>
                              </a:rPr>
                            </m:ctrlPr>
                          </m:accPr>
                          <m:e>
                            <m:r>
                              <a:rPr lang="en-US" b="1">
                                <a:solidFill>
                                  <a:srgbClr val="000066"/>
                                </a:solidFill>
                                <a:latin typeface="Cambria Math"/>
                              </a:rPr>
                              <m:t>𝐰</m:t>
                            </m:r>
                          </m:e>
                        </m:acc>
                      </m:e>
                      <m:sub>
                        <m:r>
                          <a:rPr lang="en-US" i="1">
                            <a:solidFill>
                              <a:srgbClr val="000066"/>
                            </a:solidFill>
                            <a:latin typeface="Cambria Math"/>
                          </a:rPr>
                          <m:t>𝑦</m:t>
                        </m:r>
                      </m:sub>
                    </m:sSub>
                  </m:oMath>
                </a14:m>
                <a:r>
                  <a:rPr lang="en-US" dirty="0">
                    <a:solidFill>
                      <a:srgbClr val="000066"/>
                    </a:solidFill>
                  </a:rPr>
                  <a:t>, so there is </a:t>
                </a:r>
                <a:r>
                  <a:rPr lang="en-US" dirty="0">
                    <a:solidFill>
                      <a:srgbClr val="C00000"/>
                    </a:solidFill>
                  </a:rPr>
                  <a:t>no motion perpendicular to the slope. </a:t>
                </a:r>
                <a:r>
                  <a:rPr lang="en-US" dirty="0">
                    <a:solidFill>
                      <a:srgbClr val="000066"/>
                    </a:solidFill>
                  </a:rPr>
                  <a:t>However, </a:t>
                </a:r>
                <a14:m>
                  <m:oMath xmlns:m="http://schemas.openxmlformats.org/officeDocument/2006/math">
                    <m:acc>
                      <m:accPr>
                        <m:chr m:val="⃗"/>
                        <m:ctrlPr>
                          <a:rPr lang="en-US" b="1" i="1">
                            <a:solidFill>
                              <a:srgbClr val="000066"/>
                            </a:solidFill>
                            <a:latin typeface="Cambria Math" panose="02040503050406030204" pitchFamily="18" charset="0"/>
                          </a:rPr>
                        </m:ctrlPr>
                      </m:accPr>
                      <m:e>
                        <m:r>
                          <a:rPr lang="en-US" b="1">
                            <a:solidFill>
                              <a:srgbClr val="000066"/>
                            </a:solidFill>
                            <a:latin typeface="Cambria Math"/>
                          </a:rPr>
                          <m:t>𝐟</m:t>
                        </m:r>
                      </m:e>
                    </m:acc>
                    <m:r>
                      <a:rPr lang="en-US" b="1" i="1">
                        <a:solidFill>
                          <a:srgbClr val="000066"/>
                        </a:solidFill>
                        <a:latin typeface="Cambria Math"/>
                      </a:rPr>
                      <m:t> </m:t>
                    </m:r>
                  </m:oMath>
                </a14:m>
                <a:r>
                  <a:rPr lang="en-US" dirty="0">
                    <a:solidFill>
                      <a:srgbClr val="000066"/>
                    </a:solidFill>
                  </a:rPr>
                  <a:t>is equal to </a:t>
                </a:r>
                <a14:m>
                  <m:oMath xmlns:m="http://schemas.openxmlformats.org/officeDocument/2006/math">
                    <m:sSub>
                      <m:sSubPr>
                        <m:ctrlPr>
                          <a:rPr lang="en-US" i="1">
                            <a:solidFill>
                              <a:srgbClr val="000066"/>
                            </a:solidFill>
                            <a:latin typeface="Cambria Math" panose="02040503050406030204" pitchFamily="18" charset="0"/>
                          </a:rPr>
                        </m:ctrlPr>
                      </m:sSubPr>
                      <m:e>
                        <m:acc>
                          <m:accPr>
                            <m:chr m:val="⃗"/>
                            <m:ctrlPr>
                              <a:rPr lang="en-US" b="1" i="1">
                                <a:solidFill>
                                  <a:srgbClr val="000066"/>
                                </a:solidFill>
                                <a:latin typeface="Cambria Math" panose="02040503050406030204" pitchFamily="18" charset="0"/>
                              </a:rPr>
                            </m:ctrlPr>
                          </m:accPr>
                          <m:e>
                            <m:r>
                              <a:rPr lang="en-US" b="1">
                                <a:solidFill>
                                  <a:srgbClr val="000066"/>
                                </a:solidFill>
                                <a:latin typeface="Cambria Math"/>
                              </a:rPr>
                              <m:t>𝐰</m:t>
                            </m:r>
                          </m:e>
                        </m:acc>
                      </m:e>
                      <m:sub>
                        <m:r>
                          <a:rPr lang="en-US" i="1">
                            <a:solidFill>
                              <a:srgbClr val="000066"/>
                            </a:solidFill>
                            <a:latin typeface="Cambria Math"/>
                          </a:rPr>
                          <m:t>𝑥</m:t>
                        </m:r>
                      </m:sub>
                    </m:sSub>
                  </m:oMath>
                </a14:m>
                <a:r>
                  <a:rPr lang="en-US" dirty="0">
                    <a:solidFill>
                      <a:srgbClr val="000066"/>
                    </a:solidFill>
                  </a:rPr>
                  <a:t> in magnitude, so there is a constant velocity (no acceleration) down the slope (along the </a:t>
                </a:r>
                <a:r>
                  <a:rPr lang="en-US" i="1" dirty="0">
                    <a:solidFill>
                      <a:srgbClr val="000066"/>
                    </a:solidFill>
                  </a:rPr>
                  <a:t>x</a:t>
                </a:r>
                <a:r>
                  <a:rPr lang="en-US" dirty="0">
                    <a:solidFill>
                      <a:srgbClr val="000066"/>
                    </a:solidFill>
                  </a:rPr>
                  <a:t>-axis).</a:t>
                </a:r>
              </a:p>
            </p:txBody>
          </p:sp>
        </mc:Choice>
        <mc:Fallback xmlns="">
          <p:sp>
            <p:nvSpPr>
              <p:cNvPr id="11" name="Rectangle 10">
                <a:extLst>
                  <a:ext uri="{FF2B5EF4-FFF2-40B4-BE49-F238E27FC236}">
                    <a16:creationId xmlns:a16="http://schemas.microsoft.com/office/drawing/2014/main" id="{46A4F240-4362-1B48-BCAF-7EC382729032}"/>
                  </a:ext>
                </a:extLst>
              </p:cNvPr>
              <p:cNvSpPr>
                <a:spLocks noRot="1" noChangeAspect="1" noMove="1" noResize="1" noEditPoints="1" noAdjustHandles="1" noChangeArrowheads="1" noChangeShapeType="1" noTextEdit="1"/>
              </p:cNvSpPr>
              <p:nvPr/>
            </p:nvSpPr>
            <p:spPr>
              <a:xfrm>
                <a:off x="8229601" y="2577433"/>
                <a:ext cx="3702995" cy="3311676"/>
              </a:xfrm>
              <a:prstGeom prst="rect">
                <a:avLst/>
              </a:prstGeom>
              <a:blipFill>
                <a:blip r:embed="rId5"/>
                <a:stretch>
                  <a:fillRect l="-1370" r="-1712" b="-1916"/>
                </a:stretch>
              </a:blipFill>
            </p:spPr>
            <p:txBody>
              <a:bodyPr/>
              <a:lstStyle/>
              <a:p>
                <a:r>
                  <a:rPr lang="en-US">
                    <a:noFill/>
                  </a:rPr>
                  <a:t> </a:t>
                </a:r>
              </a:p>
            </p:txBody>
          </p:sp>
        </mc:Fallback>
      </mc:AlternateContent>
    </p:spTree>
    <p:extLst>
      <p:ext uri="{BB962C8B-B14F-4D97-AF65-F5344CB8AC3E}">
        <p14:creationId xmlns:p14="http://schemas.microsoft.com/office/powerpoint/2010/main" val="30958829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590602" y="89044"/>
            <a:ext cx="5653622" cy="523220"/>
          </a:xfrm>
          <a:prstGeom prst="rect">
            <a:avLst/>
          </a:prstGeom>
        </p:spPr>
        <p:txBody>
          <a:bodyPr wrap="square">
            <a:spAutoFit/>
          </a:bodyPr>
          <a:lstStyle/>
          <a:p>
            <a:r>
              <a:rPr lang="en-US" sz="2800" dirty="0">
                <a:solidFill>
                  <a:srgbClr val="C00000"/>
                </a:solidFill>
                <a:latin typeface="NewBaskervilleStd-Roman"/>
              </a:rPr>
              <a:t>Friction and the Inclined Plane </a:t>
            </a:r>
          </a:p>
        </p:txBody>
      </p:sp>
      <p:pic>
        <p:nvPicPr>
          <p:cNvPr id="9" name="Picture 8" descr="A picture containing text, sky, map&#10;&#10;Description automatically generated">
            <a:extLst>
              <a:ext uri="{FF2B5EF4-FFF2-40B4-BE49-F238E27FC236}">
                <a16:creationId xmlns:a16="http://schemas.microsoft.com/office/drawing/2014/main" id="{41E3DA7C-A5A6-BE46-9427-0817F96DA9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82883" y="612264"/>
            <a:ext cx="5950842" cy="2922016"/>
          </a:xfrm>
          <a:prstGeom prst="rect">
            <a:avLst/>
          </a:prstGeom>
        </p:spPr>
      </p:pic>
      <p:pic>
        <p:nvPicPr>
          <p:cNvPr id="3" name="Picture 2" descr="Text&#10;&#10;Description automatically generated">
            <a:extLst>
              <a:ext uri="{FF2B5EF4-FFF2-40B4-BE49-F238E27FC236}">
                <a16:creationId xmlns:a16="http://schemas.microsoft.com/office/drawing/2014/main" id="{2566A651-609E-DC49-8A26-61C3835D09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4591" y="3534280"/>
            <a:ext cx="10756900" cy="3136900"/>
          </a:xfrm>
          <a:prstGeom prst="rect">
            <a:avLst/>
          </a:prstGeom>
        </p:spPr>
      </p:pic>
    </p:spTree>
    <p:extLst>
      <p:ext uri="{BB962C8B-B14F-4D97-AF65-F5344CB8AC3E}">
        <p14:creationId xmlns:p14="http://schemas.microsoft.com/office/powerpoint/2010/main" val="8654402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a:extLst>
              <a:ext uri="{FF2B5EF4-FFF2-40B4-BE49-F238E27FC236}">
                <a16:creationId xmlns:a16="http://schemas.microsoft.com/office/drawing/2014/main" id="{4A7C13E7-D39D-6F4D-BBC1-C2E5DD3A0FE9}"/>
              </a:ext>
            </a:extLst>
          </p:cNvPr>
          <p:cNvSpPr/>
          <p:nvPr/>
        </p:nvSpPr>
        <p:spPr>
          <a:xfrm>
            <a:off x="3590602" y="89044"/>
            <a:ext cx="5653622" cy="523220"/>
          </a:xfrm>
          <a:prstGeom prst="rect">
            <a:avLst/>
          </a:prstGeom>
        </p:spPr>
        <p:txBody>
          <a:bodyPr wrap="square">
            <a:spAutoFit/>
          </a:bodyPr>
          <a:lstStyle/>
          <a:p>
            <a:r>
              <a:rPr lang="en-US" sz="2800" dirty="0">
                <a:solidFill>
                  <a:srgbClr val="C00000"/>
                </a:solidFill>
                <a:latin typeface="NewBaskervilleStd-Roman"/>
              </a:rPr>
              <a:t>Friction and the Inclined Plane </a:t>
            </a:r>
          </a:p>
        </p:txBody>
      </p:sp>
      <p:sp>
        <p:nvSpPr>
          <p:cNvPr id="7" name="Rectangle 6">
            <a:extLst>
              <a:ext uri="{FF2B5EF4-FFF2-40B4-BE49-F238E27FC236}">
                <a16:creationId xmlns:a16="http://schemas.microsoft.com/office/drawing/2014/main" id="{9E0252BB-94EA-0240-9D2A-811650A59DBA}"/>
              </a:ext>
            </a:extLst>
          </p:cNvPr>
          <p:cNvSpPr/>
          <p:nvPr/>
        </p:nvSpPr>
        <p:spPr>
          <a:xfrm>
            <a:off x="607654" y="612264"/>
            <a:ext cx="1152623" cy="430887"/>
          </a:xfrm>
          <a:prstGeom prst="rect">
            <a:avLst/>
          </a:prstGeom>
        </p:spPr>
        <p:txBody>
          <a:bodyPr wrap="none">
            <a:spAutoFit/>
          </a:bodyPr>
          <a:lstStyle/>
          <a:p>
            <a:r>
              <a:rPr lang="en-US" sz="2200" dirty="0">
                <a:solidFill>
                  <a:srgbClr val="008000"/>
                </a:solidFill>
                <a:latin typeface="LiberationSans"/>
              </a:rPr>
              <a:t>Example</a:t>
            </a:r>
            <a:endParaRPr lang="en-US" sz="2200" dirty="0"/>
          </a:p>
        </p:txBody>
      </p:sp>
      <p:pic>
        <p:nvPicPr>
          <p:cNvPr id="3" name="Picture 2" descr="Text&#10;&#10;Description automatically generated">
            <a:extLst>
              <a:ext uri="{FF2B5EF4-FFF2-40B4-BE49-F238E27FC236}">
                <a16:creationId xmlns:a16="http://schemas.microsoft.com/office/drawing/2014/main" id="{005FBB24-35A7-C644-AE9C-DB72EA0346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654" y="1043151"/>
            <a:ext cx="10972800" cy="1798123"/>
          </a:xfrm>
          <a:prstGeom prst="rect">
            <a:avLst/>
          </a:prstGeom>
        </p:spPr>
      </p:pic>
      <p:pic>
        <p:nvPicPr>
          <p:cNvPr id="9" name="Picture 8" descr="A screenshot of a video game&#10;&#10;Description automatically generated with medium confidence">
            <a:extLst>
              <a:ext uri="{FF2B5EF4-FFF2-40B4-BE49-F238E27FC236}">
                <a16:creationId xmlns:a16="http://schemas.microsoft.com/office/drawing/2014/main" id="{0D81F7E3-DD0C-B847-B765-E0A9DA41AE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7654" y="2841274"/>
            <a:ext cx="7614370" cy="3657600"/>
          </a:xfrm>
          <a:prstGeom prst="rect">
            <a:avLst/>
          </a:prstGeom>
        </p:spPr>
      </p:pic>
      <p:sp>
        <p:nvSpPr>
          <p:cNvPr id="10" name="Text Placeholder 6">
            <a:extLst>
              <a:ext uri="{FF2B5EF4-FFF2-40B4-BE49-F238E27FC236}">
                <a16:creationId xmlns:a16="http://schemas.microsoft.com/office/drawing/2014/main" id="{43FC5337-38AC-AC42-9AEA-A03374FE6D84}"/>
              </a:ext>
            </a:extLst>
          </p:cNvPr>
          <p:cNvSpPr txBox="1">
            <a:spLocks/>
          </p:cNvSpPr>
          <p:nvPr/>
        </p:nvSpPr>
        <p:spPr>
          <a:xfrm>
            <a:off x="8485928" y="5401069"/>
            <a:ext cx="3638396"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Tx/>
              <a:buAutoNum type="alphaLcParenBoth"/>
            </a:pPr>
            <a:r>
              <a:rPr lang="en-US" sz="1600" dirty="0">
                <a:solidFill>
                  <a:srgbClr val="000066"/>
                </a:solidFill>
              </a:rPr>
              <a:t>A snowboarder glides down a slope inclined at 13° to the horizontal. </a:t>
            </a:r>
          </a:p>
          <a:p>
            <a:pPr marL="342900" indent="-342900">
              <a:buFontTx/>
              <a:buAutoNum type="alphaLcParenBoth"/>
            </a:pPr>
            <a:r>
              <a:rPr lang="en-US" sz="1600" dirty="0">
                <a:solidFill>
                  <a:srgbClr val="000066"/>
                </a:solidFill>
              </a:rPr>
              <a:t>The free-body diagram of the snowboarder.</a:t>
            </a:r>
          </a:p>
        </p:txBody>
      </p:sp>
    </p:spTree>
    <p:extLst>
      <p:ext uri="{BB962C8B-B14F-4D97-AF65-F5344CB8AC3E}">
        <p14:creationId xmlns:p14="http://schemas.microsoft.com/office/powerpoint/2010/main" val="28382298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a:extLst>
              <a:ext uri="{FF2B5EF4-FFF2-40B4-BE49-F238E27FC236}">
                <a16:creationId xmlns:a16="http://schemas.microsoft.com/office/drawing/2014/main" id="{4A7C13E7-D39D-6F4D-BBC1-C2E5DD3A0FE9}"/>
              </a:ext>
            </a:extLst>
          </p:cNvPr>
          <p:cNvSpPr/>
          <p:nvPr/>
        </p:nvSpPr>
        <p:spPr>
          <a:xfrm>
            <a:off x="3590602" y="89044"/>
            <a:ext cx="5653622" cy="523220"/>
          </a:xfrm>
          <a:prstGeom prst="rect">
            <a:avLst/>
          </a:prstGeom>
        </p:spPr>
        <p:txBody>
          <a:bodyPr wrap="square">
            <a:spAutoFit/>
          </a:bodyPr>
          <a:lstStyle/>
          <a:p>
            <a:r>
              <a:rPr lang="en-US" sz="2800" dirty="0">
                <a:solidFill>
                  <a:srgbClr val="C00000"/>
                </a:solidFill>
                <a:latin typeface="NewBaskervilleStd-Roman"/>
              </a:rPr>
              <a:t>Friction and the Inclined Plane </a:t>
            </a:r>
          </a:p>
        </p:txBody>
      </p:sp>
      <p:sp>
        <p:nvSpPr>
          <p:cNvPr id="7" name="Rectangle 6">
            <a:extLst>
              <a:ext uri="{FF2B5EF4-FFF2-40B4-BE49-F238E27FC236}">
                <a16:creationId xmlns:a16="http://schemas.microsoft.com/office/drawing/2014/main" id="{9E0252BB-94EA-0240-9D2A-811650A59DBA}"/>
              </a:ext>
            </a:extLst>
          </p:cNvPr>
          <p:cNvSpPr/>
          <p:nvPr/>
        </p:nvSpPr>
        <p:spPr>
          <a:xfrm>
            <a:off x="607654" y="612264"/>
            <a:ext cx="1152623" cy="430887"/>
          </a:xfrm>
          <a:prstGeom prst="rect">
            <a:avLst/>
          </a:prstGeom>
        </p:spPr>
        <p:txBody>
          <a:bodyPr wrap="none">
            <a:spAutoFit/>
          </a:bodyPr>
          <a:lstStyle/>
          <a:p>
            <a:r>
              <a:rPr lang="en-US" sz="2200" dirty="0">
                <a:solidFill>
                  <a:srgbClr val="008000"/>
                </a:solidFill>
                <a:latin typeface="LiberationSans"/>
              </a:rPr>
              <a:t>Example</a:t>
            </a:r>
            <a:endParaRPr lang="en-US" sz="2200" dirty="0"/>
          </a:p>
        </p:txBody>
      </p:sp>
      <p:pic>
        <p:nvPicPr>
          <p:cNvPr id="3" name="Picture 2" descr="Text&#10;&#10;Description automatically generated">
            <a:extLst>
              <a:ext uri="{FF2B5EF4-FFF2-40B4-BE49-F238E27FC236}">
                <a16:creationId xmlns:a16="http://schemas.microsoft.com/office/drawing/2014/main" id="{005FBB24-35A7-C644-AE9C-DB72EA0346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654" y="1043151"/>
            <a:ext cx="10972800" cy="1798123"/>
          </a:xfrm>
          <a:prstGeom prst="rect">
            <a:avLst/>
          </a:prstGeom>
        </p:spPr>
      </p:pic>
      <p:pic>
        <p:nvPicPr>
          <p:cNvPr id="9" name="Picture 8" descr="A screenshot of a video game&#10;&#10;Description automatically generated with medium confidence">
            <a:extLst>
              <a:ext uri="{FF2B5EF4-FFF2-40B4-BE49-F238E27FC236}">
                <a16:creationId xmlns:a16="http://schemas.microsoft.com/office/drawing/2014/main" id="{0D81F7E3-DD0C-B847-B765-E0A9DA41AE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7654" y="2841274"/>
            <a:ext cx="7614370" cy="3657600"/>
          </a:xfrm>
          <a:prstGeom prst="rect">
            <a:avLst/>
          </a:prstGeom>
        </p:spPr>
      </p:pic>
      <p:sp>
        <p:nvSpPr>
          <p:cNvPr id="10" name="Text Placeholder 6">
            <a:extLst>
              <a:ext uri="{FF2B5EF4-FFF2-40B4-BE49-F238E27FC236}">
                <a16:creationId xmlns:a16="http://schemas.microsoft.com/office/drawing/2014/main" id="{43FC5337-38AC-AC42-9AEA-A03374FE6D84}"/>
              </a:ext>
            </a:extLst>
          </p:cNvPr>
          <p:cNvSpPr txBox="1">
            <a:spLocks/>
          </p:cNvSpPr>
          <p:nvPr/>
        </p:nvSpPr>
        <p:spPr>
          <a:xfrm>
            <a:off x="8485928" y="5401069"/>
            <a:ext cx="3638396"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Tx/>
              <a:buAutoNum type="alphaLcParenBoth"/>
            </a:pPr>
            <a:r>
              <a:rPr lang="en-US" sz="1600" dirty="0">
                <a:solidFill>
                  <a:srgbClr val="000066"/>
                </a:solidFill>
              </a:rPr>
              <a:t>A snowboarder glides down a slope inclined at 13° to the horizontal. </a:t>
            </a:r>
          </a:p>
          <a:p>
            <a:pPr marL="342900" indent="-342900">
              <a:buFontTx/>
              <a:buAutoNum type="alphaLcParenBoth"/>
            </a:pPr>
            <a:r>
              <a:rPr lang="en-US" sz="1600" dirty="0">
                <a:solidFill>
                  <a:srgbClr val="000066"/>
                </a:solidFill>
              </a:rPr>
              <a:t>The free-body diagram of the snowboarder.</a:t>
            </a:r>
          </a:p>
        </p:txBody>
      </p:sp>
      <p:sp>
        <p:nvSpPr>
          <p:cNvPr id="2" name="Rectangle 1">
            <a:extLst>
              <a:ext uri="{FF2B5EF4-FFF2-40B4-BE49-F238E27FC236}">
                <a16:creationId xmlns:a16="http://schemas.microsoft.com/office/drawing/2014/main" id="{2D012A9E-E7E7-C847-AA97-38FF36E0346C}"/>
              </a:ext>
            </a:extLst>
          </p:cNvPr>
          <p:cNvSpPr/>
          <p:nvPr/>
        </p:nvSpPr>
        <p:spPr>
          <a:xfrm>
            <a:off x="8485928" y="3746744"/>
            <a:ext cx="3377412" cy="923330"/>
          </a:xfrm>
          <a:prstGeom prst="rect">
            <a:avLst/>
          </a:prstGeom>
        </p:spPr>
        <p:txBody>
          <a:bodyPr wrap="square">
            <a:spAutoFit/>
          </a:bodyPr>
          <a:lstStyle/>
          <a:p>
            <a:r>
              <a:rPr lang="en-US" dirty="0">
                <a:solidFill>
                  <a:srgbClr val="000066"/>
                </a:solidFill>
                <a:latin typeface="LiberationSerif"/>
              </a:rPr>
              <a:t>The snowboarder is now moving down a hill with incline </a:t>
            </a:r>
            <a:r>
              <a:rPr lang="en-US" dirty="0">
                <a:solidFill>
                  <a:srgbClr val="000066"/>
                </a:solidFill>
                <a:latin typeface="STIXGeneral" pitchFamily="2" charset="2"/>
              </a:rPr>
              <a:t>10.0° </a:t>
            </a:r>
            <a:r>
              <a:rPr lang="en-US" dirty="0">
                <a:solidFill>
                  <a:srgbClr val="000066"/>
                </a:solidFill>
                <a:latin typeface="LiberationSerif"/>
              </a:rPr>
              <a:t>. What is the skier’s acceleration? </a:t>
            </a:r>
            <a:endParaRPr lang="en-US" dirty="0">
              <a:solidFill>
                <a:srgbClr val="000066"/>
              </a:solidFill>
            </a:endParaRPr>
          </a:p>
        </p:txBody>
      </p:sp>
      <p:sp>
        <p:nvSpPr>
          <p:cNvPr id="11" name="Rectangle 10">
            <a:extLst>
              <a:ext uri="{FF2B5EF4-FFF2-40B4-BE49-F238E27FC236}">
                <a16:creationId xmlns:a16="http://schemas.microsoft.com/office/drawing/2014/main" id="{F888F889-525C-5749-B285-AAE74ADCC674}"/>
              </a:ext>
            </a:extLst>
          </p:cNvPr>
          <p:cNvSpPr/>
          <p:nvPr/>
        </p:nvSpPr>
        <p:spPr>
          <a:xfrm>
            <a:off x="8485928" y="3372214"/>
            <a:ext cx="1800816" cy="400110"/>
          </a:xfrm>
          <a:prstGeom prst="rect">
            <a:avLst/>
          </a:prstGeom>
        </p:spPr>
        <p:txBody>
          <a:bodyPr wrap="square">
            <a:spAutoFit/>
          </a:bodyPr>
          <a:lstStyle/>
          <a:p>
            <a:r>
              <a:rPr lang="en-US" sz="2000" dirty="0">
                <a:solidFill>
                  <a:srgbClr val="0000CC"/>
                </a:solidFill>
              </a:rPr>
              <a:t>Assignment 4</a:t>
            </a:r>
          </a:p>
        </p:txBody>
      </p:sp>
    </p:spTree>
    <p:extLst>
      <p:ext uri="{BB962C8B-B14F-4D97-AF65-F5344CB8AC3E}">
        <p14:creationId xmlns:p14="http://schemas.microsoft.com/office/powerpoint/2010/main" val="9463591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2463527" y="89044"/>
            <a:ext cx="5653622" cy="523220"/>
          </a:xfrm>
          <a:prstGeom prst="rect">
            <a:avLst/>
          </a:prstGeom>
        </p:spPr>
        <p:txBody>
          <a:bodyPr wrap="square">
            <a:spAutoFit/>
          </a:bodyPr>
          <a:lstStyle/>
          <a:p>
            <a:r>
              <a:rPr lang="en-US" sz="2800" dirty="0">
                <a:solidFill>
                  <a:srgbClr val="C00000"/>
                </a:solidFill>
                <a:latin typeface="NewBaskervilleStd-Roman"/>
              </a:rPr>
              <a:t>Centripetal Force </a:t>
            </a:r>
          </a:p>
        </p:txBody>
      </p:sp>
      <p:pic>
        <p:nvPicPr>
          <p:cNvPr id="4" name="Picture 3" descr="Chart, diagram, pie chart&#10;&#10;Description automatically generated">
            <a:extLst>
              <a:ext uri="{FF2B5EF4-FFF2-40B4-BE49-F238E27FC236}">
                <a16:creationId xmlns:a16="http://schemas.microsoft.com/office/drawing/2014/main" id="{8C35E1CB-F9A7-A240-B6A1-E54B1D81ED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8641" y="89044"/>
            <a:ext cx="5095908" cy="3657600"/>
          </a:xfrm>
          <a:prstGeom prst="rect">
            <a:avLst/>
          </a:prstGeom>
        </p:spPr>
      </p:pic>
      <p:sp>
        <p:nvSpPr>
          <p:cNvPr id="2" name="Rectangle 1">
            <a:extLst>
              <a:ext uri="{FF2B5EF4-FFF2-40B4-BE49-F238E27FC236}">
                <a16:creationId xmlns:a16="http://schemas.microsoft.com/office/drawing/2014/main" id="{25EFB740-4504-6A4C-85FD-997FC303E18C}"/>
              </a:ext>
            </a:extLst>
          </p:cNvPr>
          <p:cNvSpPr/>
          <p:nvPr/>
        </p:nvSpPr>
        <p:spPr>
          <a:xfrm>
            <a:off x="367200" y="612264"/>
            <a:ext cx="5308081" cy="1015663"/>
          </a:xfrm>
          <a:prstGeom prst="rect">
            <a:avLst/>
          </a:prstGeom>
        </p:spPr>
        <p:txBody>
          <a:bodyPr wrap="square">
            <a:spAutoFit/>
          </a:bodyPr>
          <a:lstStyle/>
          <a:p>
            <a:r>
              <a:rPr lang="en-US" sz="2000" dirty="0">
                <a:solidFill>
                  <a:srgbClr val="000066"/>
                </a:solidFill>
                <a:latin typeface="LiberationSerif"/>
              </a:rPr>
              <a:t>An object undergoing circular motion must be accelerating because it is changing the </a:t>
            </a:r>
            <a:r>
              <a:rPr lang="en-US" sz="2000" dirty="0">
                <a:solidFill>
                  <a:srgbClr val="C00000"/>
                </a:solidFill>
                <a:latin typeface="LiberationSerif"/>
              </a:rPr>
              <a:t>direction</a:t>
            </a:r>
            <a:r>
              <a:rPr lang="en-US" sz="2000" dirty="0">
                <a:solidFill>
                  <a:srgbClr val="000066"/>
                </a:solidFill>
                <a:latin typeface="LiberationSerif"/>
              </a:rPr>
              <a:t> of its velocity. </a:t>
            </a:r>
            <a:endParaRPr lang="en-US" sz="2000" dirty="0">
              <a:solidFill>
                <a:srgbClr val="000066"/>
              </a:solidFill>
            </a:endParaRPr>
          </a:p>
        </p:txBody>
      </p:sp>
      <p:sp>
        <p:nvSpPr>
          <p:cNvPr id="3" name="Rectangle 2">
            <a:extLst>
              <a:ext uri="{FF2B5EF4-FFF2-40B4-BE49-F238E27FC236}">
                <a16:creationId xmlns:a16="http://schemas.microsoft.com/office/drawing/2014/main" id="{62B97E26-30EA-F349-8AD4-B654CAF4B643}"/>
              </a:ext>
            </a:extLst>
          </p:cNvPr>
          <p:cNvSpPr/>
          <p:nvPr/>
        </p:nvSpPr>
        <p:spPr>
          <a:xfrm>
            <a:off x="367200" y="1627927"/>
            <a:ext cx="5611441" cy="707886"/>
          </a:xfrm>
          <a:prstGeom prst="rect">
            <a:avLst/>
          </a:prstGeom>
        </p:spPr>
        <p:txBody>
          <a:bodyPr wrap="square">
            <a:spAutoFit/>
          </a:bodyPr>
          <a:lstStyle/>
          <a:p>
            <a:r>
              <a:rPr lang="en-US" sz="2000" dirty="0">
                <a:latin typeface="LiberationSerif"/>
              </a:rPr>
              <a:t>This centrally directed acceleration, called </a:t>
            </a:r>
            <a:r>
              <a:rPr lang="en-US" sz="2000" dirty="0">
                <a:solidFill>
                  <a:srgbClr val="C00000"/>
                </a:solidFill>
                <a:latin typeface="LiberationSerif"/>
              </a:rPr>
              <a:t>centripetal acceleration, </a:t>
            </a:r>
            <a:r>
              <a:rPr lang="en-US" sz="2000" dirty="0">
                <a:latin typeface="LiberationSerif"/>
              </a:rPr>
              <a:t>is given by the formula </a:t>
            </a:r>
            <a:endParaRPr lang="en-US" sz="2000" dirty="0"/>
          </a:p>
        </p:txBody>
      </p:sp>
      <p:sp>
        <p:nvSpPr>
          <p:cNvPr id="7" name="Rectangle 6">
            <a:extLst>
              <a:ext uri="{FF2B5EF4-FFF2-40B4-BE49-F238E27FC236}">
                <a16:creationId xmlns:a16="http://schemas.microsoft.com/office/drawing/2014/main" id="{9D35544E-4A97-AB4E-96E1-1C5CB7AA45C4}"/>
              </a:ext>
            </a:extLst>
          </p:cNvPr>
          <p:cNvSpPr/>
          <p:nvPr/>
        </p:nvSpPr>
        <p:spPr>
          <a:xfrm>
            <a:off x="367200" y="2856562"/>
            <a:ext cx="5605509" cy="400110"/>
          </a:xfrm>
          <a:prstGeom prst="rect">
            <a:avLst/>
          </a:prstGeom>
        </p:spPr>
        <p:txBody>
          <a:bodyPr wrap="none">
            <a:spAutoFit/>
          </a:bodyPr>
          <a:lstStyle/>
          <a:p>
            <a:r>
              <a:rPr lang="en-US" sz="2000" dirty="0">
                <a:solidFill>
                  <a:srgbClr val="000066"/>
                </a:solidFill>
                <a:latin typeface="LiberationSerif"/>
              </a:rPr>
              <a:t>If we know the </a:t>
            </a:r>
            <a:r>
              <a:rPr lang="en-US" sz="2000" dirty="0">
                <a:solidFill>
                  <a:srgbClr val="008000"/>
                </a:solidFill>
                <a:latin typeface="LiberationSerif"/>
              </a:rPr>
              <a:t>angular velocity </a:t>
            </a:r>
            <a:r>
              <a:rPr lang="el-GR" sz="2000" i="1" dirty="0">
                <a:solidFill>
                  <a:srgbClr val="008000"/>
                </a:solidFill>
                <a:latin typeface="STIXGeneral" pitchFamily="2" charset="2"/>
              </a:rPr>
              <a:t>ω </a:t>
            </a:r>
            <a:r>
              <a:rPr lang="el-GR" sz="2000" dirty="0">
                <a:solidFill>
                  <a:srgbClr val="000066"/>
                </a:solidFill>
                <a:latin typeface="LiberationSerif"/>
              </a:rPr>
              <a:t>, </a:t>
            </a:r>
            <a:r>
              <a:rPr lang="en-US" sz="2000" dirty="0">
                <a:solidFill>
                  <a:srgbClr val="000066"/>
                </a:solidFill>
                <a:latin typeface="LiberationSerif"/>
              </a:rPr>
              <a:t>then we can use </a:t>
            </a:r>
            <a:endParaRPr lang="en-US" sz="2000" dirty="0">
              <a:solidFill>
                <a:srgbClr val="000066"/>
              </a:solidFill>
            </a:endParaRPr>
          </a:p>
        </p:txBody>
      </p:sp>
      <p:pic>
        <p:nvPicPr>
          <p:cNvPr id="9" name="Picture 8" descr="Text, letter&#10;&#10;Description automatically generated with medium confidence">
            <a:extLst>
              <a:ext uri="{FF2B5EF4-FFF2-40B4-BE49-F238E27FC236}">
                <a16:creationId xmlns:a16="http://schemas.microsoft.com/office/drawing/2014/main" id="{ADBB0DF0-73DB-7843-B7FF-D1ECB2CE28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69620" y="2285038"/>
            <a:ext cx="1003300" cy="622300"/>
          </a:xfrm>
          <a:prstGeom prst="rect">
            <a:avLst/>
          </a:prstGeom>
        </p:spPr>
      </p:pic>
      <p:pic>
        <p:nvPicPr>
          <p:cNvPr id="11" name="Picture 10" descr="Text&#10;&#10;Description automatically generated with low confidence">
            <a:extLst>
              <a:ext uri="{FF2B5EF4-FFF2-40B4-BE49-F238E27FC236}">
                <a16:creationId xmlns:a16="http://schemas.microsoft.com/office/drawing/2014/main" id="{61673AB2-E7DB-3746-B1C2-2020E3A4AA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69620" y="3233268"/>
            <a:ext cx="990600" cy="431800"/>
          </a:xfrm>
          <a:prstGeom prst="rect">
            <a:avLst/>
          </a:prstGeom>
        </p:spPr>
      </p:pic>
      <p:sp>
        <p:nvSpPr>
          <p:cNvPr id="12" name="Rectangle 11">
            <a:extLst>
              <a:ext uri="{FF2B5EF4-FFF2-40B4-BE49-F238E27FC236}">
                <a16:creationId xmlns:a16="http://schemas.microsoft.com/office/drawing/2014/main" id="{AE5CB875-276E-EC4A-AB60-FB9DB93D9C68}"/>
              </a:ext>
            </a:extLst>
          </p:cNvPr>
          <p:cNvSpPr/>
          <p:nvPr/>
        </p:nvSpPr>
        <p:spPr>
          <a:xfrm>
            <a:off x="367199" y="3746643"/>
            <a:ext cx="11490503" cy="707886"/>
          </a:xfrm>
          <a:prstGeom prst="rect">
            <a:avLst/>
          </a:prstGeom>
        </p:spPr>
        <p:txBody>
          <a:bodyPr wrap="square">
            <a:spAutoFit/>
          </a:bodyPr>
          <a:lstStyle/>
          <a:p>
            <a:r>
              <a:rPr lang="en-US" sz="2000" dirty="0">
                <a:solidFill>
                  <a:srgbClr val="008000"/>
                </a:solidFill>
                <a:latin typeface="LiberationSerif"/>
              </a:rPr>
              <a:t>Angular velocity </a:t>
            </a:r>
            <a:r>
              <a:rPr lang="en-US" sz="2000" dirty="0">
                <a:latin typeface="LiberationSerif"/>
              </a:rPr>
              <a:t>gives the rate at which the object is turning through the curve, in units of rad/s. This acceleration acts along the radius of the curved path and is thus also referred to as a </a:t>
            </a:r>
            <a:r>
              <a:rPr lang="en-US" sz="2000" dirty="0">
                <a:solidFill>
                  <a:srgbClr val="C00000"/>
                </a:solidFill>
                <a:latin typeface="LiberationSerif"/>
              </a:rPr>
              <a:t>radial acceleration. </a:t>
            </a:r>
            <a:endParaRPr lang="en-US" sz="2000" dirty="0">
              <a:solidFill>
                <a:srgbClr val="C00000"/>
              </a:solidFill>
            </a:endParaRPr>
          </a:p>
        </p:txBody>
      </p:sp>
      <p:sp>
        <p:nvSpPr>
          <p:cNvPr id="13" name="Rectangle 12">
            <a:extLst>
              <a:ext uri="{FF2B5EF4-FFF2-40B4-BE49-F238E27FC236}">
                <a16:creationId xmlns:a16="http://schemas.microsoft.com/office/drawing/2014/main" id="{85A2DCD7-46FD-6E41-A4DA-F1216E6D3BB5}"/>
              </a:ext>
            </a:extLst>
          </p:cNvPr>
          <p:cNvSpPr/>
          <p:nvPr/>
        </p:nvSpPr>
        <p:spPr>
          <a:xfrm>
            <a:off x="1458578" y="4600735"/>
            <a:ext cx="9307743" cy="430887"/>
          </a:xfrm>
          <a:prstGeom prst="rect">
            <a:avLst/>
          </a:prstGeom>
        </p:spPr>
        <p:txBody>
          <a:bodyPr wrap="square">
            <a:spAutoFit/>
          </a:bodyPr>
          <a:lstStyle/>
          <a:p>
            <a:r>
              <a:rPr lang="en-US" sz="2200" dirty="0">
                <a:solidFill>
                  <a:srgbClr val="000066"/>
                </a:solidFill>
                <a:latin typeface="LiberationSerif"/>
              </a:rPr>
              <a:t>Any net force causing uniform circular motion is called a </a:t>
            </a:r>
            <a:r>
              <a:rPr lang="en-US" sz="2200" b="1" dirty="0">
                <a:solidFill>
                  <a:srgbClr val="FF0000"/>
                </a:solidFill>
                <a:latin typeface="LiberationSerif"/>
              </a:rPr>
              <a:t>centripetal force</a:t>
            </a:r>
            <a:r>
              <a:rPr lang="en-US" sz="2200" dirty="0">
                <a:solidFill>
                  <a:srgbClr val="FF0000"/>
                </a:solidFill>
                <a:latin typeface="LiberationSerif"/>
              </a:rPr>
              <a:t>. </a:t>
            </a:r>
            <a:endParaRPr lang="en-US" sz="2200" dirty="0">
              <a:solidFill>
                <a:srgbClr val="FF0000"/>
              </a:solidFill>
            </a:endParaRPr>
          </a:p>
        </p:txBody>
      </p:sp>
      <p:pic>
        <p:nvPicPr>
          <p:cNvPr id="15" name="Picture 14" descr="Text&#10;&#10;Description automatically generated">
            <a:extLst>
              <a:ext uri="{FF2B5EF4-FFF2-40B4-BE49-F238E27FC236}">
                <a16:creationId xmlns:a16="http://schemas.microsoft.com/office/drawing/2014/main" id="{347C314C-26C3-A041-AD5C-3036531E7FB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58578" y="5172188"/>
            <a:ext cx="1079500" cy="406400"/>
          </a:xfrm>
          <a:prstGeom prst="rect">
            <a:avLst/>
          </a:prstGeom>
        </p:spPr>
      </p:pic>
      <p:sp>
        <p:nvSpPr>
          <p:cNvPr id="16" name="Right Arrow 15">
            <a:extLst>
              <a:ext uri="{FF2B5EF4-FFF2-40B4-BE49-F238E27FC236}">
                <a16:creationId xmlns:a16="http://schemas.microsoft.com/office/drawing/2014/main" id="{79839845-011F-9246-BF8E-FED5387B0792}"/>
              </a:ext>
            </a:extLst>
          </p:cNvPr>
          <p:cNvSpPr/>
          <p:nvPr/>
        </p:nvSpPr>
        <p:spPr>
          <a:xfrm>
            <a:off x="2787445" y="5280180"/>
            <a:ext cx="382509" cy="250465"/>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Logo&#10;&#10;Description automatically generated">
            <a:extLst>
              <a:ext uri="{FF2B5EF4-FFF2-40B4-BE49-F238E27FC236}">
                <a16:creationId xmlns:a16="http://schemas.microsoft.com/office/drawing/2014/main" id="{2B3E13C8-9FAA-C940-AC56-1FB0303C7B7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78648" y="5184888"/>
            <a:ext cx="1092200" cy="393700"/>
          </a:xfrm>
          <a:prstGeom prst="rect">
            <a:avLst/>
          </a:prstGeom>
        </p:spPr>
      </p:pic>
      <p:pic>
        <p:nvPicPr>
          <p:cNvPr id="20" name="Picture 19" descr="Text&#10;&#10;Description automatically generated with low confidence">
            <a:extLst>
              <a:ext uri="{FF2B5EF4-FFF2-40B4-BE49-F238E27FC236}">
                <a16:creationId xmlns:a16="http://schemas.microsoft.com/office/drawing/2014/main" id="{7DD6AA0A-C22F-1447-A4FC-DE8A46829C4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043123" y="6031241"/>
            <a:ext cx="2298700" cy="571500"/>
          </a:xfrm>
          <a:prstGeom prst="rect">
            <a:avLst/>
          </a:prstGeom>
        </p:spPr>
      </p:pic>
      <p:sp>
        <p:nvSpPr>
          <p:cNvPr id="21" name="Up-Down Arrow 20">
            <a:extLst>
              <a:ext uri="{FF2B5EF4-FFF2-40B4-BE49-F238E27FC236}">
                <a16:creationId xmlns:a16="http://schemas.microsoft.com/office/drawing/2014/main" id="{C291F562-08F4-3B42-8A29-4D74735DC2DC}"/>
              </a:ext>
            </a:extLst>
          </p:cNvPr>
          <p:cNvSpPr/>
          <p:nvPr/>
        </p:nvSpPr>
        <p:spPr>
          <a:xfrm>
            <a:off x="4055806" y="5578588"/>
            <a:ext cx="147484" cy="423157"/>
          </a:xfrm>
          <a:prstGeom prst="up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Text&#10;&#10;Description automatically generated with medium confidence">
            <a:extLst>
              <a:ext uri="{FF2B5EF4-FFF2-40B4-BE49-F238E27FC236}">
                <a16:creationId xmlns:a16="http://schemas.microsoft.com/office/drawing/2014/main" id="{98CDCCDC-15BB-3D4C-8789-D735DB0D073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515177" y="5031622"/>
            <a:ext cx="2983831" cy="914400"/>
          </a:xfrm>
          <a:prstGeom prst="rect">
            <a:avLst/>
          </a:prstGeom>
        </p:spPr>
      </p:pic>
    </p:spTree>
    <p:extLst>
      <p:ext uri="{BB962C8B-B14F-4D97-AF65-F5344CB8AC3E}">
        <p14:creationId xmlns:p14="http://schemas.microsoft.com/office/powerpoint/2010/main" val="6768280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4307076" y="89044"/>
            <a:ext cx="5653622" cy="523220"/>
          </a:xfrm>
          <a:prstGeom prst="rect">
            <a:avLst/>
          </a:prstGeom>
        </p:spPr>
        <p:txBody>
          <a:bodyPr wrap="square">
            <a:spAutoFit/>
          </a:bodyPr>
          <a:lstStyle/>
          <a:p>
            <a:r>
              <a:rPr lang="en-US" sz="2800" dirty="0">
                <a:solidFill>
                  <a:srgbClr val="C00000"/>
                </a:solidFill>
                <a:latin typeface="NewBaskervilleStd-Roman"/>
              </a:rPr>
              <a:t>Centripetal Force </a:t>
            </a:r>
          </a:p>
        </p:txBody>
      </p:sp>
      <p:pic>
        <p:nvPicPr>
          <p:cNvPr id="7" name="Picture 6" descr="Text&#10;&#10;Description automatically generated">
            <a:extLst>
              <a:ext uri="{FF2B5EF4-FFF2-40B4-BE49-F238E27FC236}">
                <a16:creationId xmlns:a16="http://schemas.microsoft.com/office/drawing/2014/main" id="{F349FA6B-18B8-CF41-94A5-9838648377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8578" y="5172188"/>
            <a:ext cx="1079500" cy="406400"/>
          </a:xfrm>
          <a:prstGeom prst="rect">
            <a:avLst/>
          </a:prstGeom>
        </p:spPr>
      </p:pic>
      <p:sp>
        <p:nvSpPr>
          <p:cNvPr id="8" name="Right Arrow 7">
            <a:extLst>
              <a:ext uri="{FF2B5EF4-FFF2-40B4-BE49-F238E27FC236}">
                <a16:creationId xmlns:a16="http://schemas.microsoft.com/office/drawing/2014/main" id="{A5E737ED-866D-0D40-8F22-0AB23F08F13F}"/>
              </a:ext>
            </a:extLst>
          </p:cNvPr>
          <p:cNvSpPr/>
          <p:nvPr/>
        </p:nvSpPr>
        <p:spPr>
          <a:xfrm>
            <a:off x="2787445" y="5280180"/>
            <a:ext cx="382509" cy="250465"/>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Logo&#10;&#10;Description automatically generated">
            <a:extLst>
              <a:ext uri="{FF2B5EF4-FFF2-40B4-BE49-F238E27FC236}">
                <a16:creationId xmlns:a16="http://schemas.microsoft.com/office/drawing/2014/main" id="{44EA6541-76E5-E441-B485-4C9B1C13B4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8648" y="5184888"/>
            <a:ext cx="1092200" cy="393700"/>
          </a:xfrm>
          <a:prstGeom prst="rect">
            <a:avLst/>
          </a:prstGeom>
        </p:spPr>
      </p:pic>
      <p:pic>
        <p:nvPicPr>
          <p:cNvPr id="10" name="Picture 9" descr="Text&#10;&#10;Description automatically generated with low confidence">
            <a:extLst>
              <a:ext uri="{FF2B5EF4-FFF2-40B4-BE49-F238E27FC236}">
                <a16:creationId xmlns:a16="http://schemas.microsoft.com/office/drawing/2014/main" id="{81AF0F77-C189-5648-B031-8637B3180C0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43123" y="6031241"/>
            <a:ext cx="2298700" cy="571500"/>
          </a:xfrm>
          <a:prstGeom prst="rect">
            <a:avLst/>
          </a:prstGeom>
        </p:spPr>
      </p:pic>
      <p:sp>
        <p:nvSpPr>
          <p:cNvPr id="11" name="Up-Down Arrow 10">
            <a:extLst>
              <a:ext uri="{FF2B5EF4-FFF2-40B4-BE49-F238E27FC236}">
                <a16:creationId xmlns:a16="http://schemas.microsoft.com/office/drawing/2014/main" id="{7B82BFFE-6BF3-0441-9C56-1B5AD6532684}"/>
              </a:ext>
            </a:extLst>
          </p:cNvPr>
          <p:cNvSpPr/>
          <p:nvPr/>
        </p:nvSpPr>
        <p:spPr>
          <a:xfrm>
            <a:off x="4055806" y="5578588"/>
            <a:ext cx="147484" cy="423157"/>
          </a:xfrm>
          <a:prstGeom prst="up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Text&#10;&#10;Description automatically generated with medium confidence">
            <a:extLst>
              <a:ext uri="{FF2B5EF4-FFF2-40B4-BE49-F238E27FC236}">
                <a16:creationId xmlns:a16="http://schemas.microsoft.com/office/drawing/2014/main" id="{C1DDF4AF-3586-F142-9A2B-A08009D1357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15177" y="5031622"/>
            <a:ext cx="2983831" cy="914400"/>
          </a:xfrm>
          <a:prstGeom prst="rect">
            <a:avLst/>
          </a:prstGeom>
        </p:spPr>
      </p:pic>
      <p:pic>
        <p:nvPicPr>
          <p:cNvPr id="3" name="Picture 2" descr="Text&#10;&#10;Description automatically generated">
            <a:extLst>
              <a:ext uri="{FF2B5EF4-FFF2-40B4-BE49-F238E27FC236}">
                <a16:creationId xmlns:a16="http://schemas.microsoft.com/office/drawing/2014/main" id="{00E385AA-303F-974B-B222-D516CBFA4C3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35801" y="582656"/>
            <a:ext cx="1028700" cy="685800"/>
          </a:xfrm>
          <a:prstGeom prst="rect">
            <a:avLst/>
          </a:prstGeom>
        </p:spPr>
      </p:pic>
      <p:pic>
        <p:nvPicPr>
          <p:cNvPr id="14" name="Picture 13" descr="Diagram&#10;&#10;Description automatically generated">
            <a:extLst>
              <a:ext uri="{FF2B5EF4-FFF2-40B4-BE49-F238E27FC236}">
                <a16:creationId xmlns:a16="http://schemas.microsoft.com/office/drawing/2014/main" id="{02C98DF3-085E-7F42-B598-C247815DFF6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65236" y="1278777"/>
            <a:ext cx="6934200" cy="3073400"/>
          </a:xfrm>
          <a:prstGeom prst="rect">
            <a:avLst/>
          </a:prstGeom>
        </p:spPr>
      </p:pic>
      <p:sp>
        <p:nvSpPr>
          <p:cNvPr id="2" name="Rectangle 1">
            <a:extLst>
              <a:ext uri="{FF2B5EF4-FFF2-40B4-BE49-F238E27FC236}">
                <a16:creationId xmlns:a16="http://schemas.microsoft.com/office/drawing/2014/main" id="{64325DB0-E8F5-C74A-9EE8-030C25DE5B33}"/>
              </a:ext>
            </a:extLst>
          </p:cNvPr>
          <p:cNvSpPr/>
          <p:nvPr/>
        </p:nvSpPr>
        <p:spPr>
          <a:xfrm>
            <a:off x="918643" y="697704"/>
            <a:ext cx="2360005" cy="369332"/>
          </a:xfrm>
          <a:prstGeom prst="rect">
            <a:avLst/>
          </a:prstGeom>
        </p:spPr>
        <p:txBody>
          <a:bodyPr wrap="none">
            <a:spAutoFit/>
          </a:bodyPr>
          <a:lstStyle/>
          <a:p>
            <a:r>
              <a:rPr lang="en-US" dirty="0">
                <a:solidFill>
                  <a:srgbClr val="008000"/>
                </a:solidFill>
                <a:latin typeface="LiberationSerif"/>
              </a:rPr>
              <a:t>The radius of curvature</a:t>
            </a:r>
            <a:endParaRPr lang="en-US" dirty="0">
              <a:solidFill>
                <a:srgbClr val="008000"/>
              </a:solidFill>
            </a:endParaRPr>
          </a:p>
        </p:txBody>
      </p:sp>
      <p:sp>
        <p:nvSpPr>
          <p:cNvPr id="15" name="Text Placeholder 6">
            <a:extLst>
              <a:ext uri="{FF2B5EF4-FFF2-40B4-BE49-F238E27FC236}">
                <a16:creationId xmlns:a16="http://schemas.microsoft.com/office/drawing/2014/main" id="{02AAEECD-AD68-2C47-86B9-C2707FC40E94}"/>
              </a:ext>
            </a:extLst>
          </p:cNvPr>
          <p:cNvSpPr txBox="1">
            <a:spLocks/>
          </p:cNvSpPr>
          <p:nvPr/>
        </p:nvSpPr>
        <p:spPr>
          <a:xfrm>
            <a:off x="456040" y="1173565"/>
            <a:ext cx="4232420" cy="35432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00066"/>
                </a:solidFill>
              </a:rPr>
              <a:t>The frictional force </a:t>
            </a:r>
            <a:r>
              <a:rPr lang="en-US" sz="1200" dirty="0">
                <a:solidFill>
                  <a:srgbClr val="C00000"/>
                </a:solidFill>
              </a:rPr>
              <a:t>(car negotiating the curved road) </a:t>
            </a:r>
            <a:r>
              <a:rPr lang="en-US" sz="2000" dirty="0">
                <a:solidFill>
                  <a:srgbClr val="000066"/>
                </a:solidFill>
              </a:rPr>
              <a:t>supplies the centripetal force and is numerically equal to it. </a:t>
            </a:r>
          </a:p>
          <a:p>
            <a:pPr marL="0" indent="0">
              <a:buNone/>
            </a:pPr>
            <a:r>
              <a:rPr lang="en-US" sz="2000" dirty="0">
                <a:solidFill>
                  <a:srgbClr val="000066"/>
                </a:solidFill>
              </a:rPr>
              <a:t>Centripetal force is perpendicular to velocity and causes uniform circular motion. </a:t>
            </a:r>
          </a:p>
          <a:p>
            <a:pPr marL="0" indent="0">
              <a:buNone/>
            </a:pPr>
            <a:r>
              <a:rPr lang="en-US" sz="2000" dirty="0">
                <a:solidFill>
                  <a:srgbClr val="000066"/>
                </a:solidFill>
              </a:rPr>
              <a:t>The larger the </a:t>
            </a:r>
            <a:r>
              <a:rPr lang="en-US" sz="2000" i="1" dirty="0">
                <a:solidFill>
                  <a:srgbClr val="000066"/>
                </a:solidFill>
              </a:rPr>
              <a:t>F</a:t>
            </a:r>
            <a:r>
              <a:rPr lang="en-US" sz="2000" baseline="-25000" dirty="0">
                <a:solidFill>
                  <a:srgbClr val="000066"/>
                </a:solidFill>
              </a:rPr>
              <a:t>c</a:t>
            </a:r>
            <a:r>
              <a:rPr lang="en-US" sz="2000" dirty="0">
                <a:solidFill>
                  <a:srgbClr val="000066"/>
                </a:solidFill>
              </a:rPr>
              <a:t>, the smaller the radius of curvature </a:t>
            </a:r>
            <a:r>
              <a:rPr lang="en-US" sz="2000" i="1" dirty="0">
                <a:solidFill>
                  <a:srgbClr val="000066"/>
                </a:solidFill>
              </a:rPr>
              <a:t>r</a:t>
            </a:r>
            <a:r>
              <a:rPr lang="en-US" sz="2000" dirty="0">
                <a:solidFill>
                  <a:srgbClr val="000066"/>
                </a:solidFill>
              </a:rPr>
              <a:t> and the sharper the curve. </a:t>
            </a:r>
          </a:p>
          <a:p>
            <a:pPr marL="0" indent="0">
              <a:buNone/>
            </a:pPr>
            <a:r>
              <a:rPr lang="en-US" sz="2000" dirty="0">
                <a:solidFill>
                  <a:srgbClr val="C00000"/>
                </a:solidFill>
              </a:rPr>
              <a:t>The second curve has the same </a:t>
            </a:r>
            <a:r>
              <a:rPr lang="en-US" sz="2000" i="1" dirty="0">
                <a:solidFill>
                  <a:srgbClr val="C00000"/>
                </a:solidFill>
              </a:rPr>
              <a:t>v</a:t>
            </a:r>
            <a:r>
              <a:rPr lang="en-US" sz="2000" dirty="0">
                <a:solidFill>
                  <a:srgbClr val="C00000"/>
                </a:solidFill>
              </a:rPr>
              <a:t>, but a larger </a:t>
            </a:r>
            <a:r>
              <a:rPr lang="en-US" sz="2000" i="1" dirty="0">
                <a:solidFill>
                  <a:srgbClr val="C00000"/>
                </a:solidFill>
              </a:rPr>
              <a:t>F</a:t>
            </a:r>
            <a:r>
              <a:rPr lang="en-US" sz="2000" baseline="-25000" dirty="0">
                <a:solidFill>
                  <a:srgbClr val="C00000"/>
                </a:solidFill>
              </a:rPr>
              <a:t>c</a:t>
            </a:r>
            <a:r>
              <a:rPr lang="en-US" sz="2000" dirty="0">
                <a:solidFill>
                  <a:srgbClr val="C00000"/>
                </a:solidFill>
              </a:rPr>
              <a:t> produces a smaller </a:t>
            </a:r>
            <a:r>
              <a:rPr lang="en-US" sz="2000" i="1" dirty="0">
                <a:solidFill>
                  <a:srgbClr val="C00000"/>
                </a:solidFill>
              </a:rPr>
              <a:t>r′</a:t>
            </a:r>
            <a:r>
              <a:rPr lang="en-US" sz="2000" dirty="0">
                <a:solidFill>
                  <a:srgbClr val="C00000"/>
                </a:solidFill>
              </a:rPr>
              <a:t>.</a:t>
            </a:r>
          </a:p>
        </p:txBody>
      </p:sp>
    </p:spTree>
    <p:extLst>
      <p:ext uri="{BB962C8B-B14F-4D97-AF65-F5344CB8AC3E}">
        <p14:creationId xmlns:p14="http://schemas.microsoft.com/office/powerpoint/2010/main" val="38599041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4307076" y="89044"/>
            <a:ext cx="5653622" cy="523220"/>
          </a:xfrm>
          <a:prstGeom prst="rect">
            <a:avLst/>
          </a:prstGeom>
        </p:spPr>
        <p:txBody>
          <a:bodyPr wrap="square">
            <a:spAutoFit/>
          </a:bodyPr>
          <a:lstStyle/>
          <a:p>
            <a:r>
              <a:rPr lang="en-US" sz="2800" dirty="0">
                <a:solidFill>
                  <a:srgbClr val="C00000"/>
                </a:solidFill>
                <a:latin typeface="NewBaskervilleStd-Roman"/>
              </a:rPr>
              <a:t>Centripetal Force </a:t>
            </a:r>
          </a:p>
        </p:txBody>
      </p:sp>
      <p:sp>
        <p:nvSpPr>
          <p:cNvPr id="2" name="Rectangle 1">
            <a:extLst>
              <a:ext uri="{FF2B5EF4-FFF2-40B4-BE49-F238E27FC236}">
                <a16:creationId xmlns:a16="http://schemas.microsoft.com/office/drawing/2014/main" id="{96A406D3-05D9-064C-8807-1CE6EB118C76}"/>
              </a:ext>
            </a:extLst>
          </p:cNvPr>
          <p:cNvSpPr/>
          <p:nvPr/>
        </p:nvSpPr>
        <p:spPr>
          <a:xfrm>
            <a:off x="438912" y="802276"/>
            <a:ext cx="10509504" cy="1323439"/>
          </a:xfrm>
          <a:prstGeom prst="rect">
            <a:avLst/>
          </a:prstGeom>
        </p:spPr>
        <p:txBody>
          <a:bodyPr wrap="square">
            <a:spAutoFit/>
          </a:bodyPr>
          <a:lstStyle/>
          <a:p>
            <a:r>
              <a:rPr lang="en-US" sz="2000" b="1" dirty="0">
                <a:solidFill>
                  <a:srgbClr val="008000"/>
                </a:solidFill>
                <a:latin typeface="LiberationSans"/>
              </a:rPr>
              <a:t>What Coefficient of Friction Do Cars Need on a Flat Curve? </a:t>
            </a:r>
            <a:endParaRPr lang="en-US" sz="2000" dirty="0">
              <a:solidFill>
                <a:srgbClr val="008000"/>
              </a:solidFill>
            </a:endParaRPr>
          </a:p>
          <a:p>
            <a:r>
              <a:rPr lang="en-US" sz="2000" dirty="0">
                <a:solidFill>
                  <a:srgbClr val="000066"/>
                </a:solidFill>
                <a:latin typeface="LiberationSerif"/>
              </a:rPr>
              <a:t>(a) Calculate the centripetal force exerted on a 900.0-kg car that negotiates a 500.0-m radius curve at 25.00 m/s. (b) Assuming an unbanked curve, find the minimum static coefficient of friction between the tires and the road, static friction being the reason that keeps the car from slipping </a:t>
            </a:r>
            <a:endParaRPr lang="en-US" sz="2000" dirty="0">
              <a:solidFill>
                <a:srgbClr val="000066"/>
              </a:solidFill>
            </a:endParaRPr>
          </a:p>
        </p:txBody>
      </p:sp>
      <p:sp>
        <p:nvSpPr>
          <p:cNvPr id="7" name="Rectangle 6">
            <a:extLst>
              <a:ext uri="{FF2B5EF4-FFF2-40B4-BE49-F238E27FC236}">
                <a16:creationId xmlns:a16="http://schemas.microsoft.com/office/drawing/2014/main" id="{AD9F55F8-DF75-0449-871F-E3BA36E28661}"/>
              </a:ext>
            </a:extLst>
          </p:cNvPr>
          <p:cNvSpPr/>
          <p:nvPr/>
        </p:nvSpPr>
        <p:spPr>
          <a:xfrm>
            <a:off x="438912" y="491827"/>
            <a:ext cx="1152623" cy="430887"/>
          </a:xfrm>
          <a:prstGeom prst="rect">
            <a:avLst/>
          </a:prstGeom>
        </p:spPr>
        <p:txBody>
          <a:bodyPr wrap="none">
            <a:spAutoFit/>
          </a:bodyPr>
          <a:lstStyle/>
          <a:p>
            <a:r>
              <a:rPr lang="en-US" sz="2200" dirty="0">
                <a:solidFill>
                  <a:srgbClr val="008000"/>
                </a:solidFill>
                <a:latin typeface="LiberationSans"/>
              </a:rPr>
              <a:t>Example</a:t>
            </a:r>
            <a:endParaRPr lang="en-US" sz="2200" dirty="0"/>
          </a:p>
        </p:txBody>
      </p:sp>
      <p:pic>
        <p:nvPicPr>
          <p:cNvPr id="8" name="Picture Placeholder 1" descr="In this figure, a car is shown, driving away from the viewer and turning to the left on a level surface. The following forces are shown on the car: w pointing straight down, N pointing straight up, and f which equals F sub c which equals mu sub s times N, pointing to the left. The forces w and N act on the body of the car, while f acts where the wheel contacts the ground. The free body diagram is shown to the side of the illustration of the car and shows the forces w, N, and f as arrows with their tails all meeting at a point.">
            <a:extLst>
              <a:ext uri="{FF2B5EF4-FFF2-40B4-BE49-F238E27FC236}">
                <a16:creationId xmlns:a16="http://schemas.microsoft.com/office/drawing/2014/main" id="{CAA6D95F-9D0C-3A49-8541-B7146C22855D}"/>
              </a:ext>
            </a:extLst>
          </p:cNvPr>
          <p:cNvPicPr>
            <a:picLocks noChangeAspect="1"/>
          </p:cNvPicPr>
          <p:nvPr/>
        </p:nvPicPr>
        <p:blipFill>
          <a:blip r:embed="rId3">
            <a:extLst>
              <a:ext uri="{28A0092B-C50C-407E-A947-70E740481C1C}">
                <a14:useLocalDpi xmlns:a14="http://schemas.microsoft.com/office/drawing/2010/main" val="0"/>
              </a:ext>
            </a:extLst>
          </a:blip>
          <a:srcRect l="-57946" r="-57946"/>
          <a:stretch>
            <a:fillRect/>
          </a:stretch>
        </p:blipFill>
        <p:spPr>
          <a:xfrm>
            <a:off x="3955870" y="2555653"/>
            <a:ext cx="8062913" cy="3500071"/>
          </a:xfrm>
          <a:prstGeom prst="rect">
            <a:avLst/>
          </a:prstGeom>
        </p:spPr>
      </p:pic>
      <p:sp>
        <p:nvSpPr>
          <p:cNvPr id="9" name="Text Placeholder 6">
            <a:extLst>
              <a:ext uri="{FF2B5EF4-FFF2-40B4-BE49-F238E27FC236}">
                <a16:creationId xmlns:a16="http://schemas.microsoft.com/office/drawing/2014/main" id="{ED1AE000-8978-3141-A746-09F597BE38BC}"/>
              </a:ext>
            </a:extLst>
          </p:cNvPr>
          <p:cNvSpPr txBox="1">
            <a:spLocks/>
          </p:cNvSpPr>
          <p:nvPr/>
        </p:nvSpPr>
        <p:spPr>
          <a:xfrm>
            <a:off x="1176528" y="2436164"/>
            <a:ext cx="4517136" cy="318406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This car on level ground is moving away and turning to the left. </a:t>
            </a:r>
          </a:p>
          <a:p>
            <a:pPr marL="0" indent="0">
              <a:buNone/>
            </a:pPr>
            <a:r>
              <a:rPr lang="en-US" sz="1800" dirty="0">
                <a:solidFill>
                  <a:srgbClr val="C00000"/>
                </a:solidFill>
              </a:rPr>
              <a:t>The centripetal force causing the car to turn in a circular path is due to friction between the tires and the road. </a:t>
            </a:r>
          </a:p>
          <a:p>
            <a:pPr marL="0" indent="0">
              <a:buNone/>
            </a:pPr>
            <a:r>
              <a:rPr lang="en-US" sz="1800" dirty="0">
                <a:solidFill>
                  <a:srgbClr val="000066"/>
                </a:solidFill>
              </a:rPr>
              <a:t>A minimum coefficient of friction is needed, or the car will move in a larger-radius curve and leave the roadway.</a:t>
            </a:r>
          </a:p>
        </p:txBody>
      </p:sp>
    </p:spTree>
    <p:extLst>
      <p:ext uri="{BB962C8B-B14F-4D97-AF65-F5344CB8AC3E}">
        <p14:creationId xmlns:p14="http://schemas.microsoft.com/office/powerpoint/2010/main" val="18283982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4307076" y="89044"/>
            <a:ext cx="5653622" cy="523220"/>
          </a:xfrm>
          <a:prstGeom prst="rect">
            <a:avLst/>
          </a:prstGeom>
        </p:spPr>
        <p:txBody>
          <a:bodyPr wrap="square">
            <a:spAutoFit/>
          </a:bodyPr>
          <a:lstStyle/>
          <a:p>
            <a:r>
              <a:rPr lang="en-US" sz="2800" dirty="0">
                <a:solidFill>
                  <a:srgbClr val="C00000"/>
                </a:solidFill>
                <a:latin typeface="NewBaskervilleStd-Roman"/>
              </a:rPr>
              <a:t>Centripetal Force </a:t>
            </a:r>
          </a:p>
        </p:txBody>
      </p:sp>
      <p:sp>
        <p:nvSpPr>
          <p:cNvPr id="2" name="Rectangle 1">
            <a:extLst>
              <a:ext uri="{FF2B5EF4-FFF2-40B4-BE49-F238E27FC236}">
                <a16:creationId xmlns:a16="http://schemas.microsoft.com/office/drawing/2014/main" id="{96A406D3-05D9-064C-8807-1CE6EB118C76}"/>
              </a:ext>
            </a:extLst>
          </p:cNvPr>
          <p:cNvSpPr/>
          <p:nvPr/>
        </p:nvSpPr>
        <p:spPr>
          <a:xfrm>
            <a:off x="438912" y="802276"/>
            <a:ext cx="10509504" cy="1323439"/>
          </a:xfrm>
          <a:prstGeom prst="rect">
            <a:avLst/>
          </a:prstGeom>
        </p:spPr>
        <p:txBody>
          <a:bodyPr wrap="square">
            <a:spAutoFit/>
          </a:bodyPr>
          <a:lstStyle/>
          <a:p>
            <a:r>
              <a:rPr lang="en-US" sz="2000" b="1" dirty="0">
                <a:solidFill>
                  <a:srgbClr val="008000"/>
                </a:solidFill>
                <a:latin typeface="LiberationSans"/>
              </a:rPr>
              <a:t>What Coefficient of Friction Do Cars Need on a Flat Curve? </a:t>
            </a:r>
            <a:endParaRPr lang="en-US" sz="2000" dirty="0">
              <a:solidFill>
                <a:srgbClr val="008000"/>
              </a:solidFill>
            </a:endParaRPr>
          </a:p>
          <a:p>
            <a:r>
              <a:rPr lang="en-US" sz="2000" dirty="0">
                <a:solidFill>
                  <a:srgbClr val="000066"/>
                </a:solidFill>
                <a:latin typeface="LiberationSerif"/>
              </a:rPr>
              <a:t>(a) Calculate the centripetal force exerted on a 900.0-kg car that negotiates a 500.0-m radius curve at 25.00 m/s. (b) Assuming an unbanked curve, find the minimum static coefficient of friction between the tires and the road, static friction being the reason that keeps the car from slipping </a:t>
            </a:r>
            <a:endParaRPr lang="en-US" sz="2000" dirty="0">
              <a:solidFill>
                <a:srgbClr val="000066"/>
              </a:solidFill>
            </a:endParaRPr>
          </a:p>
        </p:txBody>
      </p:sp>
      <p:sp>
        <p:nvSpPr>
          <p:cNvPr id="7" name="Rectangle 6">
            <a:extLst>
              <a:ext uri="{FF2B5EF4-FFF2-40B4-BE49-F238E27FC236}">
                <a16:creationId xmlns:a16="http://schemas.microsoft.com/office/drawing/2014/main" id="{AD9F55F8-DF75-0449-871F-E3BA36E28661}"/>
              </a:ext>
            </a:extLst>
          </p:cNvPr>
          <p:cNvSpPr/>
          <p:nvPr/>
        </p:nvSpPr>
        <p:spPr>
          <a:xfrm>
            <a:off x="438912" y="491827"/>
            <a:ext cx="1152623" cy="430887"/>
          </a:xfrm>
          <a:prstGeom prst="rect">
            <a:avLst/>
          </a:prstGeom>
        </p:spPr>
        <p:txBody>
          <a:bodyPr wrap="none">
            <a:spAutoFit/>
          </a:bodyPr>
          <a:lstStyle/>
          <a:p>
            <a:r>
              <a:rPr lang="en-US" sz="2200" dirty="0">
                <a:solidFill>
                  <a:srgbClr val="008000"/>
                </a:solidFill>
                <a:latin typeface="LiberationSans"/>
              </a:rPr>
              <a:t>Example</a:t>
            </a:r>
            <a:endParaRPr lang="en-US" sz="2200" dirty="0"/>
          </a:p>
        </p:txBody>
      </p:sp>
      <p:pic>
        <p:nvPicPr>
          <p:cNvPr id="8" name="Picture Placeholder 1" descr="In this figure, a car is shown, driving away from the viewer and turning to the left on a level surface. The following forces are shown on the car: w pointing straight down, N pointing straight up, and f which equals F sub c which equals mu sub s times N, pointing to the left. The forces w and N act on the body of the car, while f acts where the wheel contacts the ground. The free body diagram is shown to the side of the illustration of the car and shows the forces w, N, and f as arrows with their tails all meeting at a point.">
            <a:extLst>
              <a:ext uri="{FF2B5EF4-FFF2-40B4-BE49-F238E27FC236}">
                <a16:creationId xmlns:a16="http://schemas.microsoft.com/office/drawing/2014/main" id="{CAA6D95F-9D0C-3A49-8541-B7146C22855D}"/>
              </a:ext>
            </a:extLst>
          </p:cNvPr>
          <p:cNvPicPr>
            <a:picLocks noChangeAspect="1"/>
          </p:cNvPicPr>
          <p:nvPr/>
        </p:nvPicPr>
        <p:blipFill>
          <a:blip r:embed="rId3">
            <a:extLst>
              <a:ext uri="{28A0092B-C50C-407E-A947-70E740481C1C}">
                <a14:useLocalDpi xmlns:a14="http://schemas.microsoft.com/office/drawing/2010/main" val="0"/>
              </a:ext>
            </a:extLst>
          </a:blip>
          <a:srcRect l="-57946" r="-57946"/>
          <a:stretch>
            <a:fillRect/>
          </a:stretch>
        </p:blipFill>
        <p:spPr>
          <a:xfrm>
            <a:off x="3955870" y="2555653"/>
            <a:ext cx="8062913" cy="3500071"/>
          </a:xfrm>
          <a:prstGeom prst="rect">
            <a:avLst/>
          </a:prstGeom>
        </p:spPr>
      </p:pic>
      <p:sp>
        <p:nvSpPr>
          <p:cNvPr id="9" name="Text Placeholder 6">
            <a:extLst>
              <a:ext uri="{FF2B5EF4-FFF2-40B4-BE49-F238E27FC236}">
                <a16:creationId xmlns:a16="http://schemas.microsoft.com/office/drawing/2014/main" id="{ED1AE000-8978-3141-A746-09F597BE38BC}"/>
              </a:ext>
            </a:extLst>
          </p:cNvPr>
          <p:cNvSpPr txBox="1">
            <a:spLocks/>
          </p:cNvSpPr>
          <p:nvPr/>
        </p:nvSpPr>
        <p:spPr>
          <a:xfrm>
            <a:off x="1176528" y="2436164"/>
            <a:ext cx="4517136" cy="318406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This car on level ground is moving away and turning to the left. </a:t>
            </a:r>
          </a:p>
          <a:p>
            <a:pPr marL="0" indent="0">
              <a:buNone/>
            </a:pPr>
            <a:r>
              <a:rPr lang="en-US" sz="1800" dirty="0">
                <a:solidFill>
                  <a:srgbClr val="C00000"/>
                </a:solidFill>
              </a:rPr>
              <a:t>The centripetal force causing the car to turn in a circular path is due to friction between the tires and the road. </a:t>
            </a:r>
          </a:p>
          <a:p>
            <a:pPr marL="0" indent="0">
              <a:buNone/>
            </a:pPr>
            <a:r>
              <a:rPr lang="en-US" sz="1800" dirty="0">
                <a:solidFill>
                  <a:srgbClr val="000066"/>
                </a:solidFill>
              </a:rPr>
              <a:t>A minimum coefficient of friction is needed, or the car will move in a larger-radius curve and leave the roadway.</a:t>
            </a:r>
          </a:p>
        </p:txBody>
      </p:sp>
      <p:sp>
        <p:nvSpPr>
          <p:cNvPr id="10" name="Rectangle 9">
            <a:extLst>
              <a:ext uri="{FF2B5EF4-FFF2-40B4-BE49-F238E27FC236}">
                <a16:creationId xmlns:a16="http://schemas.microsoft.com/office/drawing/2014/main" id="{F943F7F2-4DF3-1046-AE51-544A4596D425}"/>
              </a:ext>
            </a:extLst>
          </p:cNvPr>
          <p:cNvSpPr/>
          <p:nvPr/>
        </p:nvSpPr>
        <p:spPr>
          <a:xfrm>
            <a:off x="981694" y="5237810"/>
            <a:ext cx="4906803" cy="1200329"/>
          </a:xfrm>
          <a:prstGeom prst="rect">
            <a:avLst/>
          </a:prstGeom>
        </p:spPr>
        <p:txBody>
          <a:bodyPr wrap="square">
            <a:spAutoFit/>
          </a:bodyPr>
          <a:lstStyle/>
          <a:p>
            <a:r>
              <a:rPr lang="en-US" dirty="0">
                <a:solidFill>
                  <a:srgbClr val="000066"/>
                </a:solidFill>
                <a:cs typeface="Arial" panose="020B0604020202020204" pitchFamily="34" charset="0"/>
              </a:rPr>
              <a:t>A car moving at 96.8 km/h travels around a circular curve of radius 182.9 m on a flat country road. What must be the minimum coefficient of static friction to keep the car from slipping? </a:t>
            </a:r>
          </a:p>
        </p:txBody>
      </p:sp>
      <p:sp>
        <p:nvSpPr>
          <p:cNvPr id="11" name="Rectangle 10">
            <a:extLst>
              <a:ext uri="{FF2B5EF4-FFF2-40B4-BE49-F238E27FC236}">
                <a16:creationId xmlns:a16="http://schemas.microsoft.com/office/drawing/2014/main" id="{EB1E78DA-48D9-4244-A5C5-1E3D7F85D9B1}"/>
              </a:ext>
            </a:extLst>
          </p:cNvPr>
          <p:cNvSpPr/>
          <p:nvPr/>
        </p:nvSpPr>
        <p:spPr>
          <a:xfrm>
            <a:off x="966455" y="4927361"/>
            <a:ext cx="1800816" cy="400110"/>
          </a:xfrm>
          <a:prstGeom prst="rect">
            <a:avLst/>
          </a:prstGeom>
        </p:spPr>
        <p:txBody>
          <a:bodyPr wrap="square">
            <a:spAutoFit/>
          </a:bodyPr>
          <a:lstStyle/>
          <a:p>
            <a:r>
              <a:rPr lang="en-US" sz="2000" dirty="0">
                <a:solidFill>
                  <a:srgbClr val="0000CC"/>
                </a:solidFill>
              </a:rPr>
              <a:t>Assignment 5</a:t>
            </a:r>
          </a:p>
        </p:txBody>
      </p:sp>
    </p:spTree>
    <p:extLst>
      <p:ext uri="{BB962C8B-B14F-4D97-AF65-F5344CB8AC3E}">
        <p14:creationId xmlns:p14="http://schemas.microsoft.com/office/powerpoint/2010/main" val="39648782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4307076" y="89044"/>
            <a:ext cx="5653622" cy="523220"/>
          </a:xfrm>
          <a:prstGeom prst="rect">
            <a:avLst/>
          </a:prstGeom>
        </p:spPr>
        <p:txBody>
          <a:bodyPr wrap="square">
            <a:spAutoFit/>
          </a:bodyPr>
          <a:lstStyle/>
          <a:p>
            <a:r>
              <a:rPr lang="en-US" sz="2800" dirty="0">
                <a:solidFill>
                  <a:srgbClr val="C00000"/>
                </a:solidFill>
                <a:latin typeface="NewBaskervilleStd-Roman"/>
              </a:rPr>
              <a:t>Centripetal Force </a:t>
            </a:r>
          </a:p>
        </p:txBody>
      </p:sp>
      <p:sp>
        <p:nvSpPr>
          <p:cNvPr id="2" name="Rectangle 1">
            <a:extLst>
              <a:ext uri="{FF2B5EF4-FFF2-40B4-BE49-F238E27FC236}">
                <a16:creationId xmlns:a16="http://schemas.microsoft.com/office/drawing/2014/main" id="{C48C3B56-2A6E-2E4D-8E4C-F3764BCC6D9E}"/>
              </a:ext>
            </a:extLst>
          </p:cNvPr>
          <p:cNvSpPr/>
          <p:nvPr/>
        </p:nvSpPr>
        <p:spPr>
          <a:xfrm>
            <a:off x="897340" y="802276"/>
            <a:ext cx="1930721" cy="430887"/>
          </a:xfrm>
          <a:prstGeom prst="rect">
            <a:avLst/>
          </a:prstGeom>
        </p:spPr>
        <p:txBody>
          <a:bodyPr wrap="none">
            <a:spAutoFit/>
          </a:bodyPr>
          <a:lstStyle/>
          <a:p>
            <a:r>
              <a:rPr lang="en-US" sz="2200" dirty="0">
                <a:solidFill>
                  <a:srgbClr val="008000"/>
                </a:solidFill>
                <a:latin typeface="LiberationSans"/>
              </a:rPr>
              <a:t>Banked Curves </a:t>
            </a:r>
            <a:endParaRPr lang="en-US" sz="2200" dirty="0">
              <a:solidFill>
                <a:srgbClr val="008000"/>
              </a:solidFill>
            </a:endParaRPr>
          </a:p>
        </p:txBody>
      </p:sp>
      <p:sp>
        <p:nvSpPr>
          <p:cNvPr id="3" name="Rectangle 2">
            <a:extLst>
              <a:ext uri="{FF2B5EF4-FFF2-40B4-BE49-F238E27FC236}">
                <a16:creationId xmlns:a16="http://schemas.microsoft.com/office/drawing/2014/main" id="{215B366C-457E-BA4D-BE6C-CA84E8A9E75D}"/>
              </a:ext>
            </a:extLst>
          </p:cNvPr>
          <p:cNvSpPr/>
          <p:nvPr/>
        </p:nvSpPr>
        <p:spPr>
          <a:xfrm>
            <a:off x="897340" y="1233163"/>
            <a:ext cx="10282069" cy="1815882"/>
          </a:xfrm>
          <a:prstGeom prst="rect">
            <a:avLst/>
          </a:prstGeom>
        </p:spPr>
        <p:txBody>
          <a:bodyPr wrap="square">
            <a:spAutoFit/>
          </a:bodyPr>
          <a:lstStyle/>
          <a:p>
            <a:r>
              <a:rPr lang="en-US" sz="2000" dirty="0">
                <a:solidFill>
                  <a:srgbClr val="000066"/>
                </a:solidFill>
                <a:latin typeface="LiberationSerif"/>
              </a:rPr>
              <a:t>In banked curves, the slope of the road helps you negotiate the curve. </a:t>
            </a:r>
          </a:p>
          <a:p>
            <a:r>
              <a:rPr lang="en-US" sz="2000" dirty="0">
                <a:solidFill>
                  <a:srgbClr val="000066"/>
                </a:solidFill>
                <a:latin typeface="LiberationSerif"/>
              </a:rPr>
              <a:t>The greater the angle </a:t>
            </a:r>
            <a:r>
              <a:rPr lang="el-GR" sz="2000" i="1" dirty="0">
                <a:solidFill>
                  <a:srgbClr val="000066"/>
                </a:solidFill>
                <a:latin typeface="STIXGeneral" pitchFamily="2" charset="2"/>
              </a:rPr>
              <a:t>θ </a:t>
            </a:r>
            <a:r>
              <a:rPr lang="el-GR" sz="2000" dirty="0">
                <a:solidFill>
                  <a:srgbClr val="000066"/>
                </a:solidFill>
                <a:latin typeface="LiberationSerif"/>
              </a:rPr>
              <a:t>, </a:t>
            </a:r>
            <a:r>
              <a:rPr lang="en-US" sz="2000" dirty="0">
                <a:solidFill>
                  <a:srgbClr val="000066"/>
                </a:solidFill>
                <a:latin typeface="LiberationSerif"/>
              </a:rPr>
              <a:t>the faster you can take the curve. </a:t>
            </a:r>
          </a:p>
          <a:p>
            <a:pPr marL="285750" indent="-285750">
              <a:buFont typeface="Arial" panose="020B0604020202020204" pitchFamily="34" charset="0"/>
              <a:buChar char="•"/>
            </a:pPr>
            <a:r>
              <a:rPr lang="en-US" sz="1600" dirty="0">
                <a:solidFill>
                  <a:srgbClr val="C00000"/>
                </a:solidFill>
                <a:latin typeface="LiberationSerif"/>
              </a:rPr>
              <a:t>Race tracks for bikes as well as cars often have steeply banked curves. </a:t>
            </a:r>
          </a:p>
          <a:p>
            <a:pPr marL="285750" indent="-285750">
              <a:buFont typeface="Arial" panose="020B0604020202020204" pitchFamily="34" charset="0"/>
              <a:buChar char="•"/>
            </a:pPr>
            <a:endParaRPr lang="en-US" sz="1600" dirty="0">
              <a:solidFill>
                <a:srgbClr val="C00000"/>
              </a:solidFill>
              <a:latin typeface="LiberationSerif"/>
            </a:endParaRPr>
          </a:p>
          <a:p>
            <a:r>
              <a:rPr lang="en-US" sz="2000" dirty="0">
                <a:latin typeface="LiberationSerif"/>
              </a:rPr>
              <a:t>In an “ideally banked curve,” the angle </a:t>
            </a:r>
            <a:r>
              <a:rPr lang="el-GR" sz="2000" i="1" dirty="0">
                <a:latin typeface="STIXGeneral" pitchFamily="2" charset="2"/>
              </a:rPr>
              <a:t>θ </a:t>
            </a:r>
            <a:r>
              <a:rPr lang="en-US" sz="2000" dirty="0">
                <a:latin typeface="LiberationSerif"/>
              </a:rPr>
              <a:t>is such that you can negotiate the curve at a certain speed without the aid of friction between the tires and the road. </a:t>
            </a:r>
            <a:endParaRPr lang="en-US" sz="2000" dirty="0"/>
          </a:p>
        </p:txBody>
      </p:sp>
      <p:pic>
        <p:nvPicPr>
          <p:cNvPr id="7" name="Picture Placeholder 1" descr="In this figure, a car is shown, driving away from the viewer and turning to the left on a slope downward and to the left. The slope is at an angle theta with the horizontal surface below the slope. The free body diagram is superimposed on the car. The free body diagram shows weight, w, pointing vertically down, and force N, at an angle theta to the left of vertical. In addition to the force vectors, drawn as bold red arrows, the vertical and horizontal components of the N vector are shown as thin black arrows, one pointing vertically up and the other horizontally to the left. Two relations are given: N times cosine theta equals w, and N times sine theta equals the centripetal force and also equals the net force.">
            <a:extLst>
              <a:ext uri="{FF2B5EF4-FFF2-40B4-BE49-F238E27FC236}">
                <a16:creationId xmlns:a16="http://schemas.microsoft.com/office/drawing/2014/main" id="{DA2E86DA-5D27-4A48-B9C6-C9FC24BCA164}"/>
              </a:ext>
            </a:extLst>
          </p:cNvPr>
          <p:cNvPicPr>
            <a:picLocks noChangeAspect="1"/>
          </p:cNvPicPr>
          <p:nvPr/>
        </p:nvPicPr>
        <p:blipFill>
          <a:blip r:embed="rId3">
            <a:extLst>
              <a:ext uri="{28A0092B-C50C-407E-A947-70E740481C1C}">
                <a14:useLocalDpi xmlns:a14="http://schemas.microsoft.com/office/drawing/2010/main" val="0"/>
              </a:ext>
            </a:extLst>
          </a:blip>
          <a:srcRect l="-38150" r="-38150"/>
          <a:stretch>
            <a:fillRect/>
          </a:stretch>
        </p:blipFill>
        <p:spPr>
          <a:xfrm>
            <a:off x="1298447" y="3049045"/>
            <a:ext cx="8062913" cy="3500071"/>
          </a:xfrm>
          <a:prstGeom prst="rect">
            <a:avLst/>
          </a:prstGeom>
        </p:spPr>
      </p:pic>
      <p:sp>
        <p:nvSpPr>
          <p:cNvPr id="8" name="Text Placeholder 6">
            <a:extLst>
              <a:ext uri="{FF2B5EF4-FFF2-40B4-BE49-F238E27FC236}">
                <a16:creationId xmlns:a16="http://schemas.microsoft.com/office/drawing/2014/main" id="{A280808E-58DC-CD49-8A45-D8460FE7DFE7}"/>
              </a:ext>
            </a:extLst>
          </p:cNvPr>
          <p:cNvSpPr txBox="1">
            <a:spLocks/>
          </p:cNvSpPr>
          <p:nvPr/>
        </p:nvSpPr>
        <p:spPr>
          <a:xfrm>
            <a:off x="201168" y="5624837"/>
            <a:ext cx="2871216" cy="92427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The car on this banked curve is moving away and turning to the left.</a:t>
            </a:r>
          </a:p>
        </p:txBody>
      </p:sp>
      <p:pic>
        <p:nvPicPr>
          <p:cNvPr id="9" name="Picture 8" descr="Text&#10;&#10;Description automatically generated with medium confidence">
            <a:extLst>
              <a:ext uri="{FF2B5EF4-FFF2-40B4-BE49-F238E27FC236}">
                <a16:creationId xmlns:a16="http://schemas.microsoft.com/office/drawing/2014/main" id="{2B6ACCB0-274B-EC48-8355-F28B2B4F6E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25767" y="2909350"/>
            <a:ext cx="1536700" cy="584200"/>
          </a:xfrm>
          <a:prstGeom prst="rect">
            <a:avLst/>
          </a:prstGeom>
        </p:spPr>
      </p:pic>
      <p:pic>
        <p:nvPicPr>
          <p:cNvPr id="11" name="Picture 10" descr="Text&#10;&#10;Description automatically generated with low confidence">
            <a:extLst>
              <a:ext uri="{FF2B5EF4-FFF2-40B4-BE49-F238E27FC236}">
                <a16:creationId xmlns:a16="http://schemas.microsoft.com/office/drawing/2014/main" id="{3C18AF51-348E-EE4F-B524-346B9CF6B6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25767" y="3486570"/>
            <a:ext cx="1447800" cy="508000"/>
          </a:xfrm>
          <a:prstGeom prst="rect">
            <a:avLst/>
          </a:prstGeom>
        </p:spPr>
      </p:pic>
      <p:sp>
        <p:nvSpPr>
          <p:cNvPr id="12" name="Rectangle 11">
            <a:extLst>
              <a:ext uri="{FF2B5EF4-FFF2-40B4-BE49-F238E27FC236}">
                <a16:creationId xmlns:a16="http://schemas.microsoft.com/office/drawing/2014/main" id="{6EE739B4-9667-1043-9309-B716BC3857F2}"/>
              </a:ext>
            </a:extLst>
          </p:cNvPr>
          <p:cNvSpPr/>
          <p:nvPr/>
        </p:nvSpPr>
        <p:spPr>
          <a:xfrm>
            <a:off x="10096644" y="3194795"/>
            <a:ext cx="1705212" cy="830997"/>
          </a:xfrm>
          <a:prstGeom prst="rect">
            <a:avLst/>
          </a:prstGeom>
        </p:spPr>
        <p:txBody>
          <a:bodyPr wrap="square">
            <a:spAutoFit/>
          </a:bodyPr>
          <a:lstStyle/>
          <a:p>
            <a:r>
              <a:rPr lang="en-US" dirty="0">
                <a:latin typeface="LiberationSerif"/>
              </a:rPr>
              <a:t>Combine and solve for </a:t>
            </a:r>
            <a:r>
              <a:rPr lang="el-GR" i="1" dirty="0">
                <a:latin typeface="STIXGeneral" pitchFamily="2" charset="2"/>
              </a:rPr>
              <a:t>θ</a:t>
            </a:r>
            <a:r>
              <a:rPr lang="el-GR" dirty="0">
                <a:latin typeface="LiberationSerif"/>
              </a:rPr>
              <a:t> </a:t>
            </a:r>
            <a:endParaRPr lang="en-US" dirty="0">
              <a:latin typeface="LiberationSerif"/>
            </a:endParaRPr>
          </a:p>
          <a:p>
            <a:r>
              <a:rPr lang="en-US" sz="1200" dirty="0">
                <a:solidFill>
                  <a:srgbClr val="C00000"/>
                </a:solidFill>
                <a:latin typeface="LiberationSerif"/>
              </a:rPr>
              <a:t>e.g. divide 1st to 2</a:t>
            </a:r>
            <a:r>
              <a:rPr lang="en-US" sz="1200" baseline="30000" dirty="0">
                <a:solidFill>
                  <a:srgbClr val="C00000"/>
                </a:solidFill>
                <a:latin typeface="LiberationSerif"/>
              </a:rPr>
              <a:t>nd</a:t>
            </a:r>
            <a:r>
              <a:rPr lang="en-US" sz="1200" dirty="0">
                <a:solidFill>
                  <a:srgbClr val="C00000"/>
                </a:solidFill>
                <a:latin typeface="LiberationSerif"/>
              </a:rPr>
              <a:t> </a:t>
            </a:r>
            <a:endParaRPr lang="el-GR" sz="1200" dirty="0">
              <a:solidFill>
                <a:srgbClr val="C00000"/>
              </a:solidFill>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13BD7B1-7F33-B44D-B1EC-0C346F97D16C}"/>
                  </a:ext>
                </a:extLst>
              </p:cNvPr>
              <p:cNvSpPr txBox="1"/>
              <p:nvPr/>
            </p:nvSpPr>
            <p:spPr>
              <a:xfrm>
                <a:off x="8225767" y="4302323"/>
                <a:ext cx="1509003" cy="6043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func>
                            <m:funcPr>
                              <m:ctrlPr>
                                <a:rPr lang="en-US" i="1" smtClean="0">
                                  <a:latin typeface="Cambria Math" panose="02040503050406030204" pitchFamily="18" charset="0"/>
                                </a:rPr>
                              </m:ctrlPr>
                            </m:funcPr>
                            <m:fName>
                              <m:r>
                                <m:rPr>
                                  <m:sty m:val="p"/>
                                </m:rPr>
                                <a:rPr lang="en-US" b="0" i="0" strike="sngStrike" smtClean="0">
                                  <a:latin typeface="Cambria Math" panose="02040503050406030204" pitchFamily="18" charset="0"/>
                                </a:rPr>
                                <m:t>N</m:t>
                              </m:r>
                              <m:r>
                                <a:rPr lang="en-US" b="0" i="0" smtClean="0">
                                  <a:latin typeface="Cambria Math" panose="02040503050406030204" pitchFamily="18" charset="0"/>
                                </a:rPr>
                                <m:t> </m:t>
                              </m:r>
                              <m:r>
                                <m:rPr>
                                  <m:sty m:val="p"/>
                                </m:rPr>
                                <a:rPr lang="en-US" i="0" smtClean="0">
                                  <a:latin typeface="Cambria Math" panose="02040503050406030204" pitchFamily="18" charset="0"/>
                                </a:rPr>
                                <m:t>sin</m:t>
                              </m:r>
                            </m:fName>
                            <m:e>
                              <m:r>
                                <a:rPr lang="en-US" i="1">
                                  <a:latin typeface="Cambria Math" panose="02040503050406030204" pitchFamily="18" charset="0"/>
                                  <a:ea typeface="Cambria Math" panose="02040503050406030204" pitchFamily="18" charset="0"/>
                                </a:rPr>
                                <m:t>𝜃</m:t>
                              </m:r>
                            </m:e>
                          </m:func>
                        </m:num>
                        <m:den>
                          <m:func>
                            <m:funcPr>
                              <m:ctrlPr>
                                <a:rPr lang="en-US" i="1" smtClean="0">
                                  <a:latin typeface="Cambria Math" panose="02040503050406030204" pitchFamily="18" charset="0"/>
                                </a:rPr>
                              </m:ctrlPr>
                            </m:funcPr>
                            <m:fName>
                              <m:r>
                                <m:rPr>
                                  <m:sty m:val="p"/>
                                </m:rPr>
                                <a:rPr lang="en-US" b="0" i="0" strike="sngStrike" smtClean="0">
                                  <a:latin typeface="Cambria Math" panose="02040503050406030204" pitchFamily="18" charset="0"/>
                                </a:rPr>
                                <m:t>N</m:t>
                              </m:r>
                              <m:r>
                                <a:rPr lang="en-US" b="0" i="0" smtClean="0">
                                  <a:latin typeface="Cambria Math" panose="02040503050406030204" pitchFamily="18" charset="0"/>
                                </a:rPr>
                                <m:t> </m:t>
                              </m:r>
                              <m:r>
                                <m:rPr>
                                  <m:sty m:val="p"/>
                                </m:rPr>
                                <a:rPr lang="en-US" i="0" smtClean="0">
                                  <a:latin typeface="Cambria Math" panose="02040503050406030204" pitchFamily="18" charset="0"/>
                                </a:rPr>
                                <m:t>cos</m:t>
                              </m:r>
                            </m:fName>
                            <m:e>
                              <m:r>
                                <a:rPr lang="en-US" i="1">
                                  <a:latin typeface="Cambria Math" panose="02040503050406030204" pitchFamily="18" charset="0"/>
                                  <a:ea typeface="Cambria Math" panose="02040503050406030204" pitchFamily="18" charset="0"/>
                                </a:rPr>
                                <m:t>𝜃</m:t>
                              </m:r>
                            </m:e>
                          </m:func>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trike="sngStrike" smtClean="0">
                              <a:latin typeface="Cambria Math" panose="02040503050406030204" pitchFamily="18" charset="0"/>
                            </a:rPr>
                            <m:t>𝑚</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r>
                                <a:rPr lang="en-US" b="0" i="1" smtClean="0">
                                  <a:latin typeface="Cambria Math" panose="02040503050406030204" pitchFamily="18" charset="0"/>
                                </a:rPr>
                                <m:t>2</m:t>
                              </m:r>
                            </m:sup>
                          </m:sSup>
                        </m:num>
                        <m:den>
                          <m:r>
                            <a:rPr lang="en-US" b="0" i="1" strike="sngStrike" smtClean="0">
                              <a:latin typeface="Cambria Math" panose="02040503050406030204" pitchFamily="18" charset="0"/>
                            </a:rPr>
                            <m:t>𝑚</m:t>
                          </m:r>
                          <m:r>
                            <a:rPr lang="en-US" b="0" i="1" smtClean="0">
                              <a:latin typeface="Cambria Math" panose="02040503050406030204" pitchFamily="18" charset="0"/>
                            </a:rPr>
                            <m:t>𝑔𝑟</m:t>
                          </m:r>
                        </m:den>
                      </m:f>
                    </m:oMath>
                  </m:oMathPara>
                </a14:m>
                <a:endParaRPr lang="en-US" dirty="0"/>
              </a:p>
            </p:txBody>
          </p:sp>
        </mc:Choice>
        <mc:Fallback xmlns="">
          <p:sp>
            <p:nvSpPr>
              <p:cNvPr id="15" name="TextBox 14">
                <a:extLst>
                  <a:ext uri="{FF2B5EF4-FFF2-40B4-BE49-F238E27FC236}">
                    <a16:creationId xmlns:a16="http://schemas.microsoft.com/office/drawing/2014/main" id="{213BD7B1-7F33-B44D-B1EC-0C346F97D16C}"/>
                  </a:ext>
                </a:extLst>
              </p:cNvPr>
              <p:cNvSpPr txBox="1">
                <a:spLocks noRot="1" noChangeAspect="1" noMove="1" noResize="1" noEditPoints="1" noAdjustHandles="1" noChangeArrowheads="1" noChangeShapeType="1" noTextEdit="1"/>
              </p:cNvSpPr>
              <p:nvPr/>
            </p:nvSpPr>
            <p:spPr>
              <a:xfrm>
                <a:off x="8225767" y="4302323"/>
                <a:ext cx="1509003" cy="604396"/>
              </a:xfrm>
              <a:prstGeom prst="rect">
                <a:avLst/>
              </a:prstGeom>
              <a:blipFill>
                <a:blip r:embed="rId6"/>
                <a:stretch>
                  <a:fillRect l="-2500" t="-2041" r="-3333" b="-18367"/>
                </a:stretch>
              </a:blipFill>
            </p:spPr>
            <p:txBody>
              <a:bodyPr/>
              <a:lstStyle/>
              <a:p>
                <a:r>
                  <a:rPr lang="en-US">
                    <a:noFill/>
                  </a:rPr>
                  <a:t> </a:t>
                </a:r>
              </a:p>
            </p:txBody>
          </p:sp>
        </mc:Fallback>
      </mc:AlternateContent>
      <p:pic>
        <p:nvPicPr>
          <p:cNvPr id="17" name="Picture 16" descr="A picture containing text&#10;&#10;Description automatically generated">
            <a:extLst>
              <a:ext uri="{FF2B5EF4-FFF2-40B4-BE49-F238E27FC236}">
                <a16:creationId xmlns:a16="http://schemas.microsoft.com/office/drawing/2014/main" id="{6D683072-4E9F-4648-AD45-E605D18BE33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25767" y="5055432"/>
            <a:ext cx="1358900" cy="508000"/>
          </a:xfrm>
          <a:prstGeom prst="rect">
            <a:avLst/>
          </a:prstGeom>
        </p:spPr>
      </p:pic>
      <p:pic>
        <p:nvPicPr>
          <p:cNvPr id="19" name="Picture 18" descr="Diagram&#10;&#10;Description automatically generated with medium confidence">
            <a:extLst>
              <a:ext uri="{FF2B5EF4-FFF2-40B4-BE49-F238E27FC236}">
                <a16:creationId xmlns:a16="http://schemas.microsoft.com/office/drawing/2014/main" id="{6DFEF253-9365-FC47-9856-BDCDD75AD2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25767" y="5703127"/>
            <a:ext cx="1587500" cy="723900"/>
          </a:xfrm>
          <a:prstGeom prst="rect">
            <a:avLst/>
          </a:prstGeom>
        </p:spPr>
      </p:pic>
    </p:spTree>
    <p:extLst>
      <p:ext uri="{BB962C8B-B14F-4D97-AF65-F5344CB8AC3E}">
        <p14:creationId xmlns:p14="http://schemas.microsoft.com/office/powerpoint/2010/main" val="29533178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4307076" y="89044"/>
            <a:ext cx="5653622" cy="523220"/>
          </a:xfrm>
          <a:prstGeom prst="rect">
            <a:avLst/>
          </a:prstGeom>
        </p:spPr>
        <p:txBody>
          <a:bodyPr wrap="square">
            <a:spAutoFit/>
          </a:bodyPr>
          <a:lstStyle/>
          <a:p>
            <a:r>
              <a:rPr lang="en-US" sz="2800" dirty="0">
                <a:solidFill>
                  <a:srgbClr val="C00000"/>
                </a:solidFill>
                <a:latin typeface="NewBaskervilleStd-Roman"/>
              </a:rPr>
              <a:t>Centripetal Force </a:t>
            </a:r>
          </a:p>
        </p:txBody>
      </p:sp>
      <p:sp>
        <p:nvSpPr>
          <p:cNvPr id="2" name="Rectangle 1">
            <a:extLst>
              <a:ext uri="{FF2B5EF4-FFF2-40B4-BE49-F238E27FC236}">
                <a16:creationId xmlns:a16="http://schemas.microsoft.com/office/drawing/2014/main" id="{C48C3B56-2A6E-2E4D-8E4C-F3764BCC6D9E}"/>
              </a:ext>
            </a:extLst>
          </p:cNvPr>
          <p:cNvSpPr/>
          <p:nvPr/>
        </p:nvSpPr>
        <p:spPr>
          <a:xfrm>
            <a:off x="897340" y="802276"/>
            <a:ext cx="3032240" cy="430887"/>
          </a:xfrm>
          <a:prstGeom prst="rect">
            <a:avLst/>
          </a:prstGeom>
        </p:spPr>
        <p:txBody>
          <a:bodyPr wrap="none">
            <a:spAutoFit/>
          </a:bodyPr>
          <a:lstStyle/>
          <a:p>
            <a:r>
              <a:rPr lang="en-US" sz="2200" dirty="0">
                <a:solidFill>
                  <a:srgbClr val="008000"/>
                </a:solidFill>
                <a:latin typeface="LiberationSans"/>
              </a:rPr>
              <a:t>Banked Curves, example </a:t>
            </a:r>
            <a:endParaRPr lang="en-US" sz="2200" dirty="0">
              <a:solidFill>
                <a:srgbClr val="008000"/>
              </a:solidFill>
            </a:endParaRPr>
          </a:p>
        </p:txBody>
      </p:sp>
      <p:pic>
        <p:nvPicPr>
          <p:cNvPr id="7" name="Picture Placeholder 1" descr="In this figure, a car is shown, driving away from the viewer and turning to the left on a slope downward and to the left. The slope is at an angle theta with the horizontal surface below the slope. The free body diagram is superimposed on the car. The free body diagram shows weight, w, pointing vertically down, and force N, at an angle theta to the left of vertical. In addition to the force vectors, drawn as bold red arrows, the vertical and horizontal components of the N vector are shown as thin black arrows, one pointing vertically up and the other horizontally to the left. Two relations are given: N times cosine theta equals w, and N times sine theta equals the centripetal force and also equals the net force.">
            <a:extLst>
              <a:ext uri="{FF2B5EF4-FFF2-40B4-BE49-F238E27FC236}">
                <a16:creationId xmlns:a16="http://schemas.microsoft.com/office/drawing/2014/main" id="{DA2E86DA-5D27-4A48-B9C6-C9FC24BCA164}"/>
              </a:ext>
            </a:extLst>
          </p:cNvPr>
          <p:cNvPicPr>
            <a:picLocks noChangeAspect="1"/>
          </p:cNvPicPr>
          <p:nvPr/>
        </p:nvPicPr>
        <p:blipFill>
          <a:blip r:embed="rId3">
            <a:extLst>
              <a:ext uri="{28A0092B-C50C-407E-A947-70E740481C1C}">
                <a14:useLocalDpi xmlns:a14="http://schemas.microsoft.com/office/drawing/2010/main" val="0"/>
              </a:ext>
            </a:extLst>
          </a:blip>
          <a:srcRect l="-38150" r="-38150"/>
          <a:stretch>
            <a:fillRect/>
          </a:stretch>
        </p:blipFill>
        <p:spPr>
          <a:xfrm>
            <a:off x="1298447" y="3049045"/>
            <a:ext cx="8062913" cy="3500071"/>
          </a:xfrm>
          <a:prstGeom prst="rect">
            <a:avLst/>
          </a:prstGeom>
        </p:spPr>
      </p:pic>
      <p:sp>
        <p:nvSpPr>
          <p:cNvPr id="8" name="Text Placeholder 6">
            <a:extLst>
              <a:ext uri="{FF2B5EF4-FFF2-40B4-BE49-F238E27FC236}">
                <a16:creationId xmlns:a16="http://schemas.microsoft.com/office/drawing/2014/main" id="{A280808E-58DC-CD49-8A45-D8460FE7DFE7}"/>
              </a:ext>
            </a:extLst>
          </p:cNvPr>
          <p:cNvSpPr txBox="1">
            <a:spLocks/>
          </p:cNvSpPr>
          <p:nvPr/>
        </p:nvSpPr>
        <p:spPr>
          <a:xfrm>
            <a:off x="201168" y="5624837"/>
            <a:ext cx="2871216" cy="92427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The car on this banked curve is moving away and turning to the left.</a:t>
            </a:r>
          </a:p>
        </p:txBody>
      </p:sp>
      <p:pic>
        <p:nvPicPr>
          <p:cNvPr id="9" name="Picture 8" descr="Text&#10;&#10;Description automatically generated with medium confidence">
            <a:extLst>
              <a:ext uri="{FF2B5EF4-FFF2-40B4-BE49-F238E27FC236}">
                <a16:creationId xmlns:a16="http://schemas.microsoft.com/office/drawing/2014/main" id="{2B6ACCB0-274B-EC48-8355-F28B2B4F6E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25767" y="2909350"/>
            <a:ext cx="1536700" cy="584200"/>
          </a:xfrm>
          <a:prstGeom prst="rect">
            <a:avLst/>
          </a:prstGeom>
        </p:spPr>
      </p:pic>
      <p:pic>
        <p:nvPicPr>
          <p:cNvPr id="11" name="Picture 10" descr="Text&#10;&#10;Description automatically generated with low confidence">
            <a:extLst>
              <a:ext uri="{FF2B5EF4-FFF2-40B4-BE49-F238E27FC236}">
                <a16:creationId xmlns:a16="http://schemas.microsoft.com/office/drawing/2014/main" id="{3C18AF51-348E-EE4F-B524-346B9CF6B6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25767" y="3486570"/>
            <a:ext cx="1447800" cy="508000"/>
          </a:xfrm>
          <a:prstGeom prst="rect">
            <a:avLst/>
          </a:prstGeom>
        </p:spPr>
      </p:pic>
      <p:sp>
        <p:nvSpPr>
          <p:cNvPr id="12" name="Rectangle 11">
            <a:extLst>
              <a:ext uri="{FF2B5EF4-FFF2-40B4-BE49-F238E27FC236}">
                <a16:creationId xmlns:a16="http://schemas.microsoft.com/office/drawing/2014/main" id="{6EE739B4-9667-1043-9309-B716BC3857F2}"/>
              </a:ext>
            </a:extLst>
          </p:cNvPr>
          <p:cNvSpPr/>
          <p:nvPr/>
        </p:nvSpPr>
        <p:spPr>
          <a:xfrm>
            <a:off x="10096644" y="3194795"/>
            <a:ext cx="1705212" cy="830997"/>
          </a:xfrm>
          <a:prstGeom prst="rect">
            <a:avLst/>
          </a:prstGeom>
        </p:spPr>
        <p:txBody>
          <a:bodyPr wrap="square">
            <a:spAutoFit/>
          </a:bodyPr>
          <a:lstStyle/>
          <a:p>
            <a:r>
              <a:rPr lang="en-US" dirty="0">
                <a:latin typeface="LiberationSerif"/>
              </a:rPr>
              <a:t>Combine and solve for </a:t>
            </a:r>
            <a:r>
              <a:rPr lang="el-GR" i="1" dirty="0">
                <a:latin typeface="STIXGeneral" pitchFamily="2" charset="2"/>
              </a:rPr>
              <a:t>θ</a:t>
            </a:r>
            <a:r>
              <a:rPr lang="el-GR" dirty="0">
                <a:latin typeface="LiberationSerif"/>
              </a:rPr>
              <a:t> </a:t>
            </a:r>
            <a:endParaRPr lang="en-US" dirty="0">
              <a:latin typeface="LiberationSerif"/>
            </a:endParaRPr>
          </a:p>
          <a:p>
            <a:r>
              <a:rPr lang="en-US" sz="1200" dirty="0">
                <a:solidFill>
                  <a:srgbClr val="C00000"/>
                </a:solidFill>
                <a:latin typeface="LiberationSerif"/>
              </a:rPr>
              <a:t>e.g. divide 1st to 2</a:t>
            </a:r>
            <a:r>
              <a:rPr lang="en-US" sz="1200" baseline="30000" dirty="0">
                <a:solidFill>
                  <a:srgbClr val="C00000"/>
                </a:solidFill>
                <a:latin typeface="LiberationSerif"/>
              </a:rPr>
              <a:t>nd</a:t>
            </a:r>
            <a:r>
              <a:rPr lang="en-US" sz="1200" dirty="0">
                <a:solidFill>
                  <a:srgbClr val="C00000"/>
                </a:solidFill>
                <a:latin typeface="LiberationSerif"/>
              </a:rPr>
              <a:t> </a:t>
            </a:r>
            <a:endParaRPr lang="el-GR" sz="1200" dirty="0">
              <a:solidFill>
                <a:srgbClr val="C00000"/>
              </a:solidFill>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13BD7B1-7F33-B44D-B1EC-0C346F97D16C}"/>
                  </a:ext>
                </a:extLst>
              </p:cNvPr>
              <p:cNvSpPr txBox="1"/>
              <p:nvPr/>
            </p:nvSpPr>
            <p:spPr>
              <a:xfrm>
                <a:off x="8225767" y="4302323"/>
                <a:ext cx="1509003" cy="6043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func>
                            <m:funcPr>
                              <m:ctrlPr>
                                <a:rPr lang="en-US" i="1" smtClean="0">
                                  <a:latin typeface="Cambria Math" panose="02040503050406030204" pitchFamily="18" charset="0"/>
                                </a:rPr>
                              </m:ctrlPr>
                            </m:funcPr>
                            <m:fName>
                              <m:r>
                                <m:rPr>
                                  <m:sty m:val="p"/>
                                </m:rPr>
                                <a:rPr lang="en-US" b="0" i="0" strike="sngStrike" smtClean="0">
                                  <a:latin typeface="Cambria Math" panose="02040503050406030204" pitchFamily="18" charset="0"/>
                                </a:rPr>
                                <m:t>N</m:t>
                              </m:r>
                              <m:r>
                                <a:rPr lang="en-US" b="0" i="0" smtClean="0">
                                  <a:latin typeface="Cambria Math" panose="02040503050406030204" pitchFamily="18" charset="0"/>
                                </a:rPr>
                                <m:t> </m:t>
                              </m:r>
                              <m:r>
                                <m:rPr>
                                  <m:sty m:val="p"/>
                                </m:rPr>
                                <a:rPr lang="en-US" i="0" smtClean="0">
                                  <a:latin typeface="Cambria Math" panose="02040503050406030204" pitchFamily="18" charset="0"/>
                                </a:rPr>
                                <m:t>sin</m:t>
                              </m:r>
                            </m:fName>
                            <m:e>
                              <m:r>
                                <a:rPr lang="en-US" i="1">
                                  <a:latin typeface="Cambria Math" panose="02040503050406030204" pitchFamily="18" charset="0"/>
                                  <a:ea typeface="Cambria Math" panose="02040503050406030204" pitchFamily="18" charset="0"/>
                                </a:rPr>
                                <m:t>𝜃</m:t>
                              </m:r>
                            </m:e>
                          </m:func>
                        </m:num>
                        <m:den>
                          <m:func>
                            <m:funcPr>
                              <m:ctrlPr>
                                <a:rPr lang="en-US" i="1" smtClean="0">
                                  <a:latin typeface="Cambria Math" panose="02040503050406030204" pitchFamily="18" charset="0"/>
                                </a:rPr>
                              </m:ctrlPr>
                            </m:funcPr>
                            <m:fName>
                              <m:r>
                                <m:rPr>
                                  <m:sty m:val="p"/>
                                </m:rPr>
                                <a:rPr lang="en-US" b="0" i="0" strike="sngStrike" smtClean="0">
                                  <a:latin typeface="Cambria Math" panose="02040503050406030204" pitchFamily="18" charset="0"/>
                                </a:rPr>
                                <m:t>N</m:t>
                              </m:r>
                              <m:r>
                                <a:rPr lang="en-US" b="0" i="0" smtClean="0">
                                  <a:latin typeface="Cambria Math" panose="02040503050406030204" pitchFamily="18" charset="0"/>
                                </a:rPr>
                                <m:t> </m:t>
                              </m:r>
                              <m:r>
                                <m:rPr>
                                  <m:sty m:val="p"/>
                                </m:rPr>
                                <a:rPr lang="en-US" i="0" smtClean="0">
                                  <a:latin typeface="Cambria Math" panose="02040503050406030204" pitchFamily="18" charset="0"/>
                                </a:rPr>
                                <m:t>cos</m:t>
                              </m:r>
                            </m:fName>
                            <m:e>
                              <m:r>
                                <a:rPr lang="en-US" i="1">
                                  <a:latin typeface="Cambria Math" panose="02040503050406030204" pitchFamily="18" charset="0"/>
                                  <a:ea typeface="Cambria Math" panose="02040503050406030204" pitchFamily="18" charset="0"/>
                                </a:rPr>
                                <m:t>𝜃</m:t>
                              </m:r>
                            </m:e>
                          </m:func>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trike="sngStrike" smtClean="0">
                              <a:latin typeface="Cambria Math" panose="02040503050406030204" pitchFamily="18" charset="0"/>
                            </a:rPr>
                            <m:t>𝑚</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r>
                                <a:rPr lang="en-US" b="0" i="1" smtClean="0">
                                  <a:latin typeface="Cambria Math" panose="02040503050406030204" pitchFamily="18" charset="0"/>
                                </a:rPr>
                                <m:t>2</m:t>
                              </m:r>
                            </m:sup>
                          </m:sSup>
                        </m:num>
                        <m:den>
                          <m:r>
                            <a:rPr lang="en-US" b="0" i="1" strike="sngStrike" smtClean="0">
                              <a:latin typeface="Cambria Math" panose="02040503050406030204" pitchFamily="18" charset="0"/>
                            </a:rPr>
                            <m:t>𝑚</m:t>
                          </m:r>
                          <m:r>
                            <a:rPr lang="en-US" b="0" i="1" smtClean="0">
                              <a:latin typeface="Cambria Math" panose="02040503050406030204" pitchFamily="18" charset="0"/>
                            </a:rPr>
                            <m:t>𝑔𝑟</m:t>
                          </m:r>
                        </m:den>
                      </m:f>
                    </m:oMath>
                  </m:oMathPara>
                </a14:m>
                <a:endParaRPr lang="en-US" dirty="0"/>
              </a:p>
            </p:txBody>
          </p:sp>
        </mc:Choice>
        <mc:Fallback xmlns="">
          <p:sp>
            <p:nvSpPr>
              <p:cNvPr id="15" name="TextBox 14">
                <a:extLst>
                  <a:ext uri="{FF2B5EF4-FFF2-40B4-BE49-F238E27FC236}">
                    <a16:creationId xmlns:a16="http://schemas.microsoft.com/office/drawing/2014/main" id="{213BD7B1-7F33-B44D-B1EC-0C346F97D16C}"/>
                  </a:ext>
                </a:extLst>
              </p:cNvPr>
              <p:cNvSpPr txBox="1">
                <a:spLocks noRot="1" noChangeAspect="1" noMove="1" noResize="1" noEditPoints="1" noAdjustHandles="1" noChangeArrowheads="1" noChangeShapeType="1" noTextEdit="1"/>
              </p:cNvSpPr>
              <p:nvPr/>
            </p:nvSpPr>
            <p:spPr>
              <a:xfrm>
                <a:off x="8225767" y="4302323"/>
                <a:ext cx="1509003" cy="604396"/>
              </a:xfrm>
              <a:prstGeom prst="rect">
                <a:avLst/>
              </a:prstGeom>
              <a:blipFill>
                <a:blip r:embed="rId6"/>
                <a:stretch>
                  <a:fillRect l="-2500" t="-2041" r="-3333" b="-18367"/>
                </a:stretch>
              </a:blipFill>
            </p:spPr>
            <p:txBody>
              <a:bodyPr/>
              <a:lstStyle/>
              <a:p>
                <a:r>
                  <a:rPr lang="en-US">
                    <a:noFill/>
                  </a:rPr>
                  <a:t> </a:t>
                </a:r>
              </a:p>
            </p:txBody>
          </p:sp>
        </mc:Fallback>
      </mc:AlternateContent>
      <p:pic>
        <p:nvPicPr>
          <p:cNvPr id="17" name="Picture 16" descr="A picture containing text&#10;&#10;Description automatically generated">
            <a:extLst>
              <a:ext uri="{FF2B5EF4-FFF2-40B4-BE49-F238E27FC236}">
                <a16:creationId xmlns:a16="http://schemas.microsoft.com/office/drawing/2014/main" id="{6D683072-4E9F-4648-AD45-E605D18BE33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25767" y="5055432"/>
            <a:ext cx="1358900" cy="508000"/>
          </a:xfrm>
          <a:prstGeom prst="rect">
            <a:avLst/>
          </a:prstGeom>
        </p:spPr>
      </p:pic>
      <p:pic>
        <p:nvPicPr>
          <p:cNvPr id="19" name="Picture 18" descr="Diagram&#10;&#10;Description automatically generated with medium confidence">
            <a:extLst>
              <a:ext uri="{FF2B5EF4-FFF2-40B4-BE49-F238E27FC236}">
                <a16:creationId xmlns:a16="http://schemas.microsoft.com/office/drawing/2014/main" id="{6DFEF253-9365-FC47-9856-BDCDD75AD2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25767" y="5703127"/>
            <a:ext cx="1587500" cy="723900"/>
          </a:xfrm>
          <a:prstGeom prst="rect">
            <a:avLst/>
          </a:prstGeom>
        </p:spPr>
      </p:pic>
      <p:pic>
        <p:nvPicPr>
          <p:cNvPr id="10" name="Picture 9" descr="Text&#10;&#10;Description automatically generated">
            <a:extLst>
              <a:ext uri="{FF2B5EF4-FFF2-40B4-BE49-F238E27FC236}">
                <a16:creationId xmlns:a16="http://schemas.microsoft.com/office/drawing/2014/main" id="{4C16CB78-923B-1D40-8A91-FF6B6F59F88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02208" y="1173340"/>
            <a:ext cx="10972800" cy="1767526"/>
          </a:xfrm>
          <a:prstGeom prst="rect">
            <a:avLst/>
          </a:prstGeom>
        </p:spPr>
      </p:pic>
    </p:spTree>
    <p:extLst>
      <p:ext uri="{BB962C8B-B14F-4D97-AF65-F5344CB8AC3E}">
        <p14:creationId xmlns:p14="http://schemas.microsoft.com/office/powerpoint/2010/main" val="42475739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4307076" y="89044"/>
            <a:ext cx="5653622" cy="523220"/>
          </a:xfrm>
          <a:prstGeom prst="rect">
            <a:avLst/>
          </a:prstGeom>
        </p:spPr>
        <p:txBody>
          <a:bodyPr wrap="square">
            <a:spAutoFit/>
          </a:bodyPr>
          <a:lstStyle/>
          <a:p>
            <a:r>
              <a:rPr lang="en-US" sz="2800" dirty="0">
                <a:solidFill>
                  <a:srgbClr val="C00000"/>
                </a:solidFill>
                <a:latin typeface="NewBaskervilleStd-Roman"/>
              </a:rPr>
              <a:t>Centripetal Force </a:t>
            </a:r>
          </a:p>
        </p:txBody>
      </p:sp>
      <p:sp>
        <p:nvSpPr>
          <p:cNvPr id="4" name="Rectangle 3">
            <a:extLst>
              <a:ext uri="{FF2B5EF4-FFF2-40B4-BE49-F238E27FC236}">
                <a16:creationId xmlns:a16="http://schemas.microsoft.com/office/drawing/2014/main" id="{78CB471E-BE09-CB44-AD8B-537BBC28176F}"/>
              </a:ext>
            </a:extLst>
          </p:cNvPr>
          <p:cNvSpPr/>
          <p:nvPr/>
        </p:nvSpPr>
        <p:spPr>
          <a:xfrm>
            <a:off x="897340" y="802276"/>
            <a:ext cx="1930721" cy="430887"/>
          </a:xfrm>
          <a:prstGeom prst="rect">
            <a:avLst/>
          </a:prstGeom>
        </p:spPr>
        <p:txBody>
          <a:bodyPr wrap="none">
            <a:spAutoFit/>
          </a:bodyPr>
          <a:lstStyle/>
          <a:p>
            <a:r>
              <a:rPr lang="en-US" sz="2200" dirty="0">
                <a:solidFill>
                  <a:srgbClr val="008000"/>
                </a:solidFill>
                <a:latin typeface="LiberationSans"/>
              </a:rPr>
              <a:t>Banked Curves </a:t>
            </a:r>
            <a:endParaRPr lang="en-US" sz="2200" dirty="0">
              <a:solidFill>
                <a:srgbClr val="008000"/>
              </a:solidFill>
            </a:endParaRP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83E3C69E-9993-ED4D-A10A-044022D1A87D}"/>
                  </a:ext>
                </a:extLst>
              </p:cNvPr>
              <p:cNvSpPr/>
              <p:nvPr/>
            </p:nvSpPr>
            <p:spPr>
              <a:xfrm>
                <a:off x="897340" y="1193838"/>
                <a:ext cx="10282724" cy="1754326"/>
              </a:xfrm>
              <a:prstGeom prst="rect">
                <a:avLst/>
              </a:prstGeom>
            </p:spPr>
            <p:txBody>
              <a:bodyPr wrap="square">
                <a:spAutoFit/>
              </a:bodyPr>
              <a:lstStyle/>
              <a:p>
                <a:r>
                  <a:rPr lang="en-US" dirty="0">
                    <a:latin typeface="LiberationSerif"/>
                  </a:rPr>
                  <a:t>Airplanes also make turns by banking. The lift force, due to the force of the air on the wing, acts at right angles to the wing. When the airplane banks, the pilot is obtaining greater lift than necessary for level flight. The vertical component of lift </a:t>
                </a:r>
                <a:r>
                  <a:rPr lang="en-US" dirty="0"/>
                  <a:t>balances the airplane’s weight, and the horizontal component accelerates the plane. The banking angle shown in figure is given by </a:t>
                </a:r>
                <a14:m>
                  <m:oMath xmlns:m="http://schemas.openxmlformats.org/officeDocument/2006/math">
                    <m:r>
                      <a:rPr lang="en-US" b="0" i="1" dirty="0">
                        <a:latin typeface="Cambria Math"/>
                        <a:ea typeface="Cambria Math"/>
                      </a:rPr>
                      <m:t>𝜃</m:t>
                    </m:r>
                  </m:oMath>
                </a14:m>
                <a:r>
                  <a:rPr lang="el-GR" dirty="0"/>
                  <a:t>. </a:t>
                </a:r>
                <a:r>
                  <a:rPr lang="en-US" dirty="0"/>
                  <a:t>We analyze the forces in the same way we treat the case of the car rounding a banked curve. </a:t>
                </a:r>
              </a:p>
              <a:p>
                <a:r>
                  <a:rPr lang="en-US" dirty="0">
                    <a:latin typeface="LiberationSerif"/>
                  </a:rPr>
                  <a:t> </a:t>
                </a:r>
                <a:endParaRPr lang="en-US" dirty="0"/>
              </a:p>
            </p:txBody>
          </p:sp>
        </mc:Choice>
        <mc:Fallback xmlns="">
          <p:sp>
            <p:nvSpPr>
              <p:cNvPr id="3" name="Rectangle 2">
                <a:extLst>
                  <a:ext uri="{FF2B5EF4-FFF2-40B4-BE49-F238E27FC236}">
                    <a16:creationId xmlns:a16="http://schemas.microsoft.com/office/drawing/2014/main" id="{83E3C69E-9993-ED4D-A10A-044022D1A87D}"/>
                  </a:ext>
                </a:extLst>
              </p:cNvPr>
              <p:cNvSpPr>
                <a:spLocks noRot="1" noChangeAspect="1" noMove="1" noResize="1" noEditPoints="1" noAdjustHandles="1" noChangeArrowheads="1" noChangeShapeType="1" noTextEdit="1"/>
              </p:cNvSpPr>
              <p:nvPr/>
            </p:nvSpPr>
            <p:spPr>
              <a:xfrm>
                <a:off x="897340" y="1193838"/>
                <a:ext cx="10282724" cy="1754326"/>
              </a:xfrm>
              <a:prstGeom prst="rect">
                <a:avLst/>
              </a:prstGeom>
              <a:blipFill>
                <a:blip r:embed="rId3"/>
                <a:stretch>
                  <a:fillRect l="-493" t="-2158" r="-247"/>
                </a:stretch>
              </a:blipFill>
            </p:spPr>
            <p:txBody>
              <a:bodyPr/>
              <a:lstStyle/>
              <a:p>
                <a:r>
                  <a:rPr lang="en-US">
                    <a:noFill/>
                  </a:rPr>
                  <a:t> </a:t>
                </a:r>
              </a:p>
            </p:txBody>
          </p:sp>
        </mc:Fallback>
      </mc:AlternateContent>
      <p:pic>
        <p:nvPicPr>
          <p:cNvPr id="8" name="Picture Placeholder 1" descr="An illustration of an airplane coming toward us and banked (that is, tilted) by an angle theta in the clockwise direction, again as viewed by us. The weight w is shown as an arrow pointing straight down. A force L is shown pointing perpendicular to the wings, at an angle theta to the right of vertically up. The horizontal component of the force L is shown pointing to the right and is labeled as vector L sub horizontal. Dashed lines complete the parallelogram defined by vectors L and w, and show that the vertical component of L is the same size as w.">
            <a:extLst>
              <a:ext uri="{FF2B5EF4-FFF2-40B4-BE49-F238E27FC236}">
                <a16:creationId xmlns:a16="http://schemas.microsoft.com/office/drawing/2014/main" id="{6E442DCF-9AA1-9248-8231-CD74A5CA1FA3}"/>
              </a:ext>
            </a:extLst>
          </p:cNvPr>
          <p:cNvPicPr>
            <a:picLocks noChangeAspect="1"/>
          </p:cNvPicPr>
          <p:nvPr/>
        </p:nvPicPr>
        <p:blipFill>
          <a:blip r:embed="rId4" cstate="email">
            <a:extLst>
              <a:ext uri="{28A0092B-C50C-407E-A947-70E740481C1C}">
                <a14:useLocalDpi xmlns:a14="http://schemas.microsoft.com/office/drawing/2010/main" val="0"/>
              </a:ext>
            </a:extLst>
          </a:blip>
          <a:srcRect l="-22281" r="-22281"/>
          <a:stretch>
            <a:fillRect/>
          </a:stretch>
        </p:blipFill>
        <p:spPr>
          <a:xfrm>
            <a:off x="4429791" y="2948164"/>
            <a:ext cx="8062913" cy="3500071"/>
          </a:xfrm>
          <a:prstGeom prst="rect">
            <a:avLst/>
          </a:prstGeom>
        </p:spPr>
      </p:pic>
      <mc:AlternateContent xmlns:mc="http://schemas.openxmlformats.org/markup-compatibility/2006" xmlns:a14="http://schemas.microsoft.com/office/drawing/2010/main">
        <mc:Choice Requires="a14">
          <p:sp>
            <p:nvSpPr>
              <p:cNvPr id="9" name="Text Placeholder 6">
                <a:extLst>
                  <a:ext uri="{FF2B5EF4-FFF2-40B4-BE49-F238E27FC236}">
                    <a16:creationId xmlns:a16="http://schemas.microsoft.com/office/drawing/2014/main" id="{7E87663D-EE12-224E-84F0-052A395B90DA}"/>
                  </a:ext>
                </a:extLst>
              </p:cNvPr>
              <p:cNvSpPr txBox="1">
                <a:spLocks/>
              </p:cNvSpPr>
              <p:nvPr/>
            </p:nvSpPr>
            <p:spPr>
              <a:xfrm>
                <a:off x="897340" y="2874562"/>
                <a:ext cx="4943856" cy="263131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In a banked turn, the horizontal component of lift is unbalanced and accelerates the plane. The normal component of lift balances the plane’s weight. The banking angle is given by </a:t>
                </a:r>
                <a14:m>
                  <m:oMath xmlns:m="http://schemas.openxmlformats.org/officeDocument/2006/math">
                    <m:r>
                      <a:rPr lang="en-US" sz="1800" b="0" i="1" dirty="0" smtClean="0">
                        <a:solidFill>
                          <a:srgbClr val="000066"/>
                        </a:solidFill>
                        <a:latin typeface="Cambria Math"/>
                        <a:ea typeface="Cambria Math"/>
                      </a:rPr>
                      <m:t>𝜃</m:t>
                    </m:r>
                  </m:oMath>
                </a14:m>
                <a:r>
                  <a:rPr lang="en-US" sz="1800" dirty="0">
                    <a:solidFill>
                      <a:srgbClr val="000066"/>
                    </a:solidFill>
                  </a:rPr>
                  <a:t>. Compare the vector diagram with that shown in figure below.</a:t>
                </a:r>
              </a:p>
            </p:txBody>
          </p:sp>
        </mc:Choice>
        <mc:Fallback xmlns="">
          <p:sp>
            <p:nvSpPr>
              <p:cNvPr id="9" name="Text Placeholder 6">
                <a:extLst>
                  <a:ext uri="{FF2B5EF4-FFF2-40B4-BE49-F238E27FC236}">
                    <a16:creationId xmlns:a16="http://schemas.microsoft.com/office/drawing/2014/main" id="{7E87663D-EE12-224E-84F0-052A395B90DA}"/>
                  </a:ext>
                </a:extLst>
              </p:cNvPr>
              <p:cNvSpPr txBox="1">
                <a:spLocks noRot="1" noChangeAspect="1" noMove="1" noResize="1" noEditPoints="1" noAdjustHandles="1" noChangeArrowheads="1" noChangeShapeType="1" noTextEdit="1"/>
              </p:cNvSpPr>
              <p:nvPr/>
            </p:nvSpPr>
            <p:spPr>
              <a:xfrm>
                <a:off x="897340" y="2874562"/>
                <a:ext cx="4943856" cy="2631313"/>
              </a:xfrm>
              <a:prstGeom prst="rect">
                <a:avLst/>
              </a:prstGeom>
              <a:blipFill>
                <a:blip r:embed="rId5"/>
                <a:stretch>
                  <a:fillRect l="-1026" t="-1923"/>
                </a:stretch>
              </a:blipFill>
            </p:spPr>
            <p:txBody>
              <a:bodyPr/>
              <a:lstStyle/>
              <a:p>
                <a:r>
                  <a:rPr lang="en-US">
                    <a:noFill/>
                  </a:rPr>
                  <a:t> </a:t>
                </a:r>
              </a:p>
            </p:txBody>
          </p:sp>
        </mc:Fallback>
      </mc:AlternateContent>
      <p:pic>
        <p:nvPicPr>
          <p:cNvPr id="10" name="Picture Placeholder 1" descr="In this figure, a car is shown, driving away from the viewer and turning to the left on a slope downward and to the left. The slope is at an angle theta with the horizontal surface below the slope. The free body diagram is superimposed on the car. The free body diagram shows weight, w, pointing vertically down, and force N, at an angle theta to the left of vertical. In addition to the force vectors, drawn as bold red arrows, the vertical and horizontal components of the N vector are shown as thin black arrows, one pointing vertically up and the other horizontally to the left. Two relations are given: N times cosine theta equals w, and N times sine theta equals the centripetal force and also equals the net force.">
            <a:extLst>
              <a:ext uri="{FF2B5EF4-FFF2-40B4-BE49-F238E27FC236}">
                <a16:creationId xmlns:a16="http://schemas.microsoft.com/office/drawing/2014/main" id="{ED2BE48A-E53E-9345-9126-2017FD31653C}"/>
              </a:ext>
            </a:extLst>
          </p:cNvPr>
          <p:cNvPicPr>
            <a:picLocks noChangeAspect="1"/>
          </p:cNvPicPr>
          <p:nvPr/>
        </p:nvPicPr>
        <p:blipFill>
          <a:blip r:embed="rId6">
            <a:extLst>
              <a:ext uri="{28A0092B-C50C-407E-A947-70E740481C1C}">
                <a14:useLocalDpi xmlns:a14="http://schemas.microsoft.com/office/drawing/2010/main" val="0"/>
              </a:ext>
            </a:extLst>
          </a:blip>
          <a:srcRect l="-38150" r="-38150"/>
          <a:stretch>
            <a:fillRect/>
          </a:stretch>
        </p:blipFill>
        <p:spPr>
          <a:xfrm>
            <a:off x="568053" y="4362875"/>
            <a:ext cx="5266127" cy="2286000"/>
          </a:xfrm>
          <a:prstGeom prst="rect">
            <a:avLst/>
          </a:prstGeom>
        </p:spPr>
      </p:pic>
      <p:sp>
        <p:nvSpPr>
          <p:cNvPr id="2" name="Rectangle 1">
            <a:extLst>
              <a:ext uri="{FF2B5EF4-FFF2-40B4-BE49-F238E27FC236}">
                <a16:creationId xmlns:a16="http://schemas.microsoft.com/office/drawing/2014/main" id="{DA7EC730-FEED-8042-A769-F067A555A3E7}"/>
              </a:ext>
            </a:extLst>
          </p:cNvPr>
          <p:cNvSpPr/>
          <p:nvPr/>
        </p:nvSpPr>
        <p:spPr>
          <a:xfrm>
            <a:off x="7502490" y="6464209"/>
            <a:ext cx="1917513" cy="369332"/>
          </a:xfrm>
          <a:prstGeom prst="rect">
            <a:avLst/>
          </a:prstGeom>
        </p:spPr>
        <p:txBody>
          <a:bodyPr wrap="none">
            <a:spAutoFit/>
          </a:bodyPr>
          <a:lstStyle/>
          <a:p>
            <a:r>
              <a:rPr lang="en-US" dirty="0">
                <a:solidFill>
                  <a:srgbClr val="C00000"/>
                </a:solidFill>
                <a:latin typeface="Roboto" panose="02000000000000000000" pitchFamily="2" charset="0"/>
                <a:hlinkClick r:id="rId7">
                  <a:extLst>
                    <a:ext uri="{A12FA001-AC4F-418D-AE19-62706E023703}">
                      <ahyp:hlinkClr xmlns:ahyp="http://schemas.microsoft.com/office/drawing/2018/hyperlinkcolor" val="tx"/>
                    </a:ext>
                  </a:extLst>
                </a:hlinkClick>
              </a:rPr>
              <a:t>How aircraft turn</a:t>
            </a:r>
            <a:endParaRPr lang="en-US" b="0" i="0" dirty="0">
              <a:solidFill>
                <a:srgbClr val="C00000"/>
              </a:solidFill>
              <a:effectLst/>
              <a:latin typeface="Roboto" panose="02000000000000000000" pitchFamily="2" charset="0"/>
            </a:endParaRPr>
          </a:p>
        </p:txBody>
      </p:sp>
    </p:spTree>
    <p:extLst>
      <p:ext uri="{BB962C8B-B14F-4D97-AF65-F5344CB8AC3E}">
        <p14:creationId xmlns:p14="http://schemas.microsoft.com/office/powerpoint/2010/main" val="329995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486695" y="89044"/>
            <a:ext cx="10633587" cy="523220"/>
          </a:xfrm>
          <a:prstGeom prst="rect">
            <a:avLst/>
          </a:prstGeom>
        </p:spPr>
        <p:txBody>
          <a:bodyPr wrap="square">
            <a:spAutoFit/>
          </a:bodyPr>
          <a:lstStyle/>
          <a:p>
            <a:pPr algn="ctr"/>
            <a:r>
              <a:rPr lang="en-US" sz="2800" dirty="0">
                <a:solidFill>
                  <a:srgbClr val="C00000"/>
                </a:solidFill>
                <a:latin typeface="NewBaskervilleStd-Roman"/>
              </a:rPr>
              <a:t>Inertial Forces and </a:t>
            </a:r>
            <a:r>
              <a:rPr lang="en-US" sz="2800" dirty="0" err="1">
                <a:solidFill>
                  <a:srgbClr val="C00000"/>
                </a:solidFill>
                <a:latin typeface="NewBaskervilleStd-Roman"/>
              </a:rPr>
              <a:t>Noninertial</a:t>
            </a:r>
            <a:r>
              <a:rPr lang="en-US" sz="2800" dirty="0">
                <a:solidFill>
                  <a:srgbClr val="C00000"/>
                </a:solidFill>
                <a:latin typeface="NewBaskervilleStd-Roman"/>
              </a:rPr>
              <a:t> (Accelerated) Frames. The Coriolis Force </a:t>
            </a:r>
          </a:p>
        </p:txBody>
      </p:sp>
      <p:pic>
        <p:nvPicPr>
          <p:cNvPr id="4" name="Picture Placeholder 1" descr="Figure a is an illustration of a driver steering a car to the right, as viewed from above. A fictitious force vector F sub fict pointing to the left is shown acting on her. In figure b, the same car and driver are illustrated but the actual force vector, F sub actual, acting on the driver is shown pointing to the right. In figure b, the driver is shown tilting to the left.">
            <a:extLst>
              <a:ext uri="{FF2B5EF4-FFF2-40B4-BE49-F238E27FC236}">
                <a16:creationId xmlns:a16="http://schemas.microsoft.com/office/drawing/2014/main" id="{C2FEFF55-4E35-7047-8F32-F6BFDADF8CD7}"/>
              </a:ext>
            </a:extLst>
          </p:cNvPr>
          <p:cNvPicPr>
            <a:picLocks noChangeAspect="1"/>
          </p:cNvPicPr>
          <p:nvPr/>
        </p:nvPicPr>
        <p:blipFill>
          <a:blip r:embed="rId3" cstate="email">
            <a:extLst>
              <a:ext uri="{28A0092B-C50C-407E-A947-70E740481C1C}">
                <a14:useLocalDpi xmlns:a14="http://schemas.microsoft.com/office/drawing/2010/main" val="0"/>
              </a:ext>
            </a:extLst>
          </a:blip>
          <a:srcRect l="-46248" r="-46248"/>
          <a:stretch>
            <a:fillRect/>
          </a:stretch>
        </p:blipFill>
        <p:spPr>
          <a:xfrm>
            <a:off x="-223353" y="1414067"/>
            <a:ext cx="6319353" cy="2743200"/>
          </a:xfrm>
          <a:prstGeom prst="rect">
            <a:avLst/>
          </a:prstGeom>
        </p:spPr>
      </p:pic>
      <p:sp>
        <p:nvSpPr>
          <p:cNvPr id="7" name="Text Placeholder 6">
            <a:extLst>
              <a:ext uri="{FF2B5EF4-FFF2-40B4-BE49-F238E27FC236}">
                <a16:creationId xmlns:a16="http://schemas.microsoft.com/office/drawing/2014/main" id="{D71C3787-D119-7A42-A37D-D1F04CAA932F}"/>
              </a:ext>
            </a:extLst>
          </p:cNvPr>
          <p:cNvSpPr txBox="1">
            <a:spLocks/>
          </p:cNvSpPr>
          <p:nvPr/>
        </p:nvSpPr>
        <p:spPr>
          <a:xfrm>
            <a:off x="442451" y="4157267"/>
            <a:ext cx="5176684" cy="261168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AutoNum type="alphaLcParenBoth"/>
            </a:pPr>
            <a:r>
              <a:rPr lang="en-US" sz="1800" dirty="0">
                <a:solidFill>
                  <a:srgbClr val="000066"/>
                </a:solidFill>
              </a:rPr>
              <a:t>The car driver feels herself forced to the left relative to the car when she makes a right turn. This is an inertial force arising from the use of the car as a frame of reference.</a:t>
            </a:r>
          </a:p>
          <a:p>
            <a:pPr marL="342900" indent="-342900">
              <a:buFont typeface="Arial" panose="020B0604020202020204" pitchFamily="34" charset="0"/>
              <a:buAutoNum type="alphaLcParenBoth"/>
            </a:pPr>
            <a:r>
              <a:rPr lang="en-US" sz="1800" dirty="0">
                <a:solidFill>
                  <a:srgbClr val="000066"/>
                </a:solidFill>
              </a:rPr>
              <a:t>In Earth’s frame of reference, the driver moves in a straight line, obeying Newton’s first law, and the car moves to the right. There is no force to the left on the driver relative to Earth. Instead, there is a force to the right on the car to make it turn.</a:t>
            </a:r>
          </a:p>
        </p:txBody>
      </p:sp>
      <p:sp>
        <p:nvSpPr>
          <p:cNvPr id="2" name="Rectangle 1">
            <a:extLst>
              <a:ext uri="{FF2B5EF4-FFF2-40B4-BE49-F238E27FC236}">
                <a16:creationId xmlns:a16="http://schemas.microsoft.com/office/drawing/2014/main" id="{721EF3FD-762C-D447-8EEF-43C32829287A}"/>
              </a:ext>
            </a:extLst>
          </p:cNvPr>
          <p:cNvSpPr/>
          <p:nvPr/>
        </p:nvSpPr>
        <p:spPr>
          <a:xfrm>
            <a:off x="646469" y="612264"/>
            <a:ext cx="10428079" cy="707886"/>
          </a:xfrm>
          <a:prstGeom prst="rect">
            <a:avLst/>
          </a:prstGeom>
        </p:spPr>
        <p:txBody>
          <a:bodyPr wrap="square">
            <a:spAutoFit/>
          </a:bodyPr>
          <a:lstStyle/>
          <a:p>
            <a:r>
              <a:rPr lang="en-US" sz="2000" dirty="0">
                <a:solidFill>
                  <a:srgbClr val="008000"/>
                </a:solidFill>
                <a:latin typeface="LiberationSerif"/>
              </a:rPr>
              <a:t>Inertial forces—forces that merely seem to arise from motion </a:t>
            </a:r>
            <a:r>
              <a:rPr lang="en-US" sz="1400" dirty="0">
                <a:solidFill>
                  <a:srgbClr val="000066"/>
                </a:solidFill>
                <a:latin typeface="LiberationSerif"/>
              </a:rPr>
              <a:t>(</a:t>
            </a:r>
            <a:r>
              <a:rPr lang="en-US" sz="1400" dirty="0">
                <a:solidFill>
                  <a:srgbClr val="000066"/>
                </a:solidFill>
              </a:rPr>
              <a:t>e.g. driver pushed back to seat when accelerating</a:t>
            </a:r>
            <a:r>
              <a:rPr lang="en-US" sz="1400" dirty="0">
                <a:solidFill>
                  <a:srgbClr val="000066"/>
                </a:solidFill>
                <a:latin typeface="LiberationSerif"/>
              </a:rPr>
              <a:t>),</a:t>
            </a:r>
            <a:r>
              <a:rPr lang="en-US" sz="2000" dirty="0">
                <a:solidFill>
                  <a:srgbClr val="008000"/>
                </a:solidFill>
                <a:latin typeface="LiberationSerif"/>
              </a:rPr>
              <a:t> appear due to the observer’s frame of reference is accelerating or rotating. </a:t>
            </a:r>
            <a:endParaRPr lang="en-US" sz="2000" dirty="0">
              <a:solidFill>
                <a:srgbClr val="008000"/>
              </a:solidFill>
            </a:endParaRPr>
          </a:p>
        </p:txBody>
      </p:sp>
      <p:pic>
        <p:nvPicPr>
          <p:cNvPr id="8" name="Picture Placeholder 1" descr="In figure a, looking down on a merry-go-round, we see a child sitting on a horse moving in counterclockwise direction with angular velocity omega. The force F sub fict is equal to the centrifugal force at the point of contact between the pole carrying horse and the merry-go-round surface. The force is radially outward from the center of the merry-go-round. This is the merry-go-round’s rotating frame of reference. In figure b, we see the situation in the inertial frame of reference. seen rotating with angular velocity omega in the counterclockwise direction. The child on the horse is shown at the same position as in figure a. The net force is equal to the centripetal force, and points radially toward the center. In shadow, we are also shown the child as at an earlier position and at the position he would have if the net force on him were zero, which is straight forward and so at a larger radius than his actual position.">
            <a:extLst>
              <a:ext uri="{FF2B5EF4-FFF2-40B4-BE49-F238E27FC236}">
                <a16:creationId xmlns:a16="http://schemas.microsoft.com/office/drawing/2014/main" id="{4E7D2781-D309-C544-98E6-2891EAED1E14}"/>
              </a:ext>
            </a:extLst>
          </p:cNvPr>
          <p:cNvPicPr>
            <a:picLocks noChangeAspect="1"/>
          </p:cNvPicPr>
          <p:nvPr/>
        </p:nvPicPr>
        <p:blipFill>
          <a:blip r:embed="rId4" cstate="email">
            <a:extLst>
              <a:ext uri="{28A0092B-C50C-407E-A947-70E740481C1C}">
                <a14:useLocalDpi xmlns:a14="http://schemas.microsoft.com/office/drawing/2010/main" val="0"/>
              </a:ext>
            </a:extLst>
          </a:blip>
          <a:srcRect l="-6133" r="-6133"/>
          <a:stretch>
            <a:fillRect/>
          </a:stretch>
        </p:blipFill>
        <p:spPr>
          <a:xfrm>
            <a:off x="5430197" y="1414067"/>
            <a:ext cx="6319352" cy="2743200"/>
          </a:xfrm>
          <a:prstGeom prst="rect">
            <a:avLst/>
          </a:prstGeom>
        </p:spPr>
      </p:pic>
      <p:sp>
        <p:nvSpPr>
          <p:cNvPr id="9" name="Text Placeholder 6">
            <a:extLst>
              <a:ext uri="{FF2B5EF4-FFF2-40B4-BE49-F238E27FC236}">
                <a16:creationId xmlns:a16="http://schemas.microsoft.com/office/drawing/2014/main" id="{3500687B-445A-3E40-854C-D7078019B3D8}"/>
              </a:ext>
            </a:extLst>
          </p:cNvPr>
          <p:cNvSpPr txBox="1">
            <a:spLocks/>
          </p:cNvSpPr>
          <p:nvPr/>
        </p:nvSpPr>
        <p:spPr>
          <a:xfrm>
            <a:off x="5533274" y="4157267"/>
            <a:ext cx="6591050" cy="219256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Tx/>
              <a:buAutoNum type="alphaLcParenBoth"/>
            </a:pPr>
            <a:r>
              <a:rPr lang="en-US" sz="1800" dirty="0">
                <a:solidFill>
                  <a:srgbClr val="C00000"/>
                </a:solidFill>
              </a:rPr>
              <a:t>A rider on a merry-go-round feels as if he is being thrown off. This inertial force is sometimes mistakenly called the centrifugal force in an effort to explain the rider’s motion in the rotating frame of reference. </a:t>
            </a:r>
          </a:p>
          <a:p>
            <a:pPr marL="342900" indent="-342900">
              <a:buFontTx/>
              <a:buAutoNum type="alphaLcParenBoth"/>
            </a:pPr>
            <a:r>
              <a:rPr lang="en-US" sz="1800" dirty="0">
                <a:solidFill>
                  <a:srgbClr val="C00000"/>
                </a:solidFill>
              </a:rPr>
              <a:t>In an inertial frame of reference and according to Newton’s laws, it is his inertia that carries him off (the unshaded rider has  and heads in a straight line). A force </a:t>
            </a:r>
            <a:r>
              <a:rPr lang="en-US" sz="1800" dirty="0" err="1">
                <a:solidFill>
                  <a:srgbClr val="C00000"/>
                </a:solidFill>
              </a:rPr>
              <a:t>F</a:t>
            </a:r>
            <a:r>
              <a:rPr lang="en-US" sz="1800" baseline="-25000" dirty="0" err="1">
                <a:solidFill>
                  <a:srgbClr val="C00000"/>
                </a:solidFill>
              </a:rPr>
              <a:t>centripetal</a:t>
            </a:r>
            <a:r>
              <a:rPr lang="en-US" sz="1800" dirty="0">
                <a:solidFill>
                  <a:srgbClr val="C00000"/>
                </a:solidFill>
              </a:rPr>
              <a:t> is needed to cause a circular path.</a:t>
            </a:r>
          </a:p>
        </p:txBody>
      </p:sp>
    </p:spTree>
    <p:extLst>
      <p:ext uri="{BB962C8B-B14F-4D97-AF65-F5344CB8AC3E}">
        <p14:creationId xmlns:p14="http://schemas.microsoft.com/office/powerpoint/2010/main" val="13559586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a:extLst>
              <a:ext uri="{FF2B5EF4-FFF2-40B4-BE49-F238E27FC236}">
                <a16:creationId xmlns:a16="http://schemas.microsoft.com/office/drawing/2014/main" id="{100AF691-59A2-1F44-940B-31EDC1679FB4}"/>
              </a:ext>
            </a:extLst>
          </p:cNvPr>
          <p:cNvSpPr/>
          <p:nvPr/>
        </p:nvSpPr>
        <p:spPr>
          <a:xfrm>
            <a:off x="486695" y="89044"/>
            <a:ext cx="10633587" cy="523220"/>
          </a:xfrm>
          <a:prstGeom prst="rect">
            <a:avLst/>
          </a:prstGeom>
        </p:spPr>
        <p:txBody>
          <a:bodyPr wrap="square">
            <a:spAutoFit/>
          </a:bodyPr>
          <a:lstStyle/>
          <a:p>
            <a:pPr algn="ctr"/>
            <a:r>
              <a:rPr lang="en-US" sz="2800" dirty="0">
                <a:solidFill>
                  <a:srgbClr val="C00000"/>
                </a:solidFill>
                <a:latin typeface="NewBaskervilleStd-Roman"/>
              </a:rPr>
              <a:t>Inertial Forces and </a:t>
            </a:r>
            <a:r>
              <a:rPr lang="en-US" sz="2800" dirty="0" err="1">
                <a:solidFill>
                  <a:srgbClr val="C00000"/>
                </a:solidFill>
                <a:latin typeface="NewBaskervilleStd-Roman"/>
              </a:rPr>
              <a:t>Noninertial</a:t>
            </a:r>
            <a:r>
              <a:rPr lang="en-US" sz="2800" dirty="0">
                <a:solidFill>
                  <a:srgbClr val="C00000"/>
                </a:solidFill>
                <a:latin typeface="NewBaskervilleStd-Roman"/>
              </a:rPr>
              <a:t> (Accelerated) Frames. The Coriolis Force </a:t>
            </a:r>
          </a:p>
        </p:txBody>
      </p:sp>
      <p:pic>
        <p:nvPicPr>
          <p:cNvPr id="7" name="Picture Placeholder 1" descr="Illustration of a test tube in a centrifuge, moving in a clockwise circle with angular velocity omega. The test tube is shown at two different positions: at the bottom of the circle and approximately 45 degrees later. It is oriented radially, with the open end closer to the center. The contents are at the bottom of the test tube. The following directions are indicated: In the bottom position, the centripetal acceleration a sub c is radially inward, the velocity, v, and the inertial force are horizontally in the direction of motion (to the left in the figure.) A short time later, when the tube has moved up and to the left, the centripetal acceleration a sub c is radially inward, the inertial force is to the left, and the centrifugal force is radially outward. We are told that the particle continues to left as test tube moves up. Therefore, particle moves down in tube by virtue of its inertia.">
            <a:extLst>
              <a:ext uri="{FF2B5EF4-FFF2-40B4-BE49-F238E27FC236}">
                <a16:creationId xmlns:a16="http://schemas.microsoft.com/office/drawing/2014/main" id="{516B6DB6-C73A-8641-9E46-DBC31876F0EB}"/>
              </a:ext>
            </a:extLst>
          </p:cNvPr>
          <p:cNvPicPr>
            <a:picLocks noChangeAspect="1"/>
          </p:cNvPicPr>
          <p:nvPr/>
        </p:nvPicPr>
        <p:blipFill>
          <a:blip r:embed="rId3">
            <a:extLst>
              <a:ext uri="{28A0092B-C50C-407E-A947-70E740481C1C}">
                <a14:useLocalDpi xmlns:a14="http://schemas.microsoft.com/office/drawing/2010/main" val="0"/>
              </a:ext>
            </a:extLst>
          </a:blip>
          <a:srcRect t="-14342" b="-14342"/>
          <a:stretch>
            <a:fillRect/>
          </a:stretch>
        </p:blipFill>
        <p:spPr>
          <a:xfrm>
            <a:off x="676959" y="686647"/>
            <a:ext cx="3858099" cy="5029200"/>
          </a:xfrm>
          <a:prstGeom prst="rect">
            <a:avLst/>
          </a:prstGeom>
        </p:spPr>
      </p:pic>
      <p:sp>
        <p:nvSpPr>
          <p:cNvPr id="8" name="Text Placeholder 13">
            <a:extLst>
              <a:ext uri="{FF2B5EF4-FFF2-40B4-BE49-F238E27FC236}">
                <a16:creationId xmlns:a16="http://schemas.microsoft.com/office/drawing/2014/main" id="{6B8288F4-3DCF-7C4F-A215-86C32256FF76}"/>
              </a:ext>
            </a:extLst>
          </p:cNvPr>
          <p:cNvSpPr txBox="1">
            <a:spLocks/>
          </p:cNvSpPr>
          <p:nvPr/>
        </p:nvSpPr>
        <p:spPr>
          <a:xfrm>
            <a:off x="619428" y="5288786"/>
            <a:ext cx="3887892" cy="121525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Centrifuges use inertia to perform their task. Particles in the fluid sediment settle out because their inertia carries them away from the center of rotation. </a:t>
            </a:r>
          </a:p>
        </p:txBody>
      </p:sp>
      <p:pic>
        <p:nvPicPr>
          <p:cNvPr id="9" name="Picture Placeholder 1" descr="(a) Points A and B lie on a radius of a merry-go round. Point A is closer to the center than B. Two children on horses, not on the same radius as A and B, are also shown. The merry-go-round is rotating counter-clockwise with angular velocity omega. A ball slides from point A outward. The path relative to the Earth is straight. (b) The merry go round is shown again, and the locations of point A and B at a later time are added and labeled A prime and B prime respectively. The path of the ball relative to the merry-go-round is a path that curve back.">
            <a:extLst>
              <a:ext uri="{FF2B5EF4-FFF2-40B4-BE49-F238E27FC236}">
                <a16:creationId xmlns:a16="http://schemas.microsoft.com/office/drawing/2014/main" id="{86FFCB09-AFCB-EC49-86E0-DB023D78A383}"/>
              </a:ext>
            </a:extLst>
          </p:cNvPr>
          <p:cNvPicPr>
            <a:picLocks noChangeAspect="1"/>
          </p:cNvPicPr>
          <p:nvPr/>
        </p:nvPicPr>
        <p:blipFill>
          <a:blip r:embed="rId4" cstate="email">
            <a:extLst>
              <a:ext uri="{28A0092B-C50C-407E-A947-70E740481C1C}">
                <a14:useLocalDpi xmlns:a14="http://schemas.microsoft.com/office/drawing/2010/main" val="0"/>
              </a:ext>
            </a:extLst>
          </a:blip>
          <a:srcRect l="-2905" r="-2905"/>
          <a:stretch>
            <a:fillRect/>
          </a:stretch>
        </p:blipFill>
        <p:spPr>
          <a:xfrm>
            <a:off x="4744870" y="1082502"/>
            <a:ext cx="7372578" cy="3200400"/>
          </a:xfrm>
          <a:prstGeom prst="rect">
            <a:avLst/>
          </a:prstGeom>
        </p:spPr>
      </p:pic>
      <p:sp>
        <p:nvSpPr>
          <p:cNvPr id="10" name="Text Placeholder 6">
            <a:extLst>
              <a:ext uri="{FF2B5EF4-FFF2-40B4-BE49-F238E27FC236}">
                <a16:creationId xmlns:a16="http://schemas.microsoft.com/office/drawing/2014/main" id="{73CA7AD0-02AC-6C45-A54E-D16BCDAE8F59}"/>
              </a:ext>
            </a:extLst>
          </p:cNvPr>
          <p:cNvSpPr txBox="1">
            <a:spLocks/>
          </p:cNvSpPr>
          <p:nvPr/>
        </p:nvSpPr>
        <p:spPr>
          <a:xfrm>
            <a:off x="4901223" y="4471314"/>
            <a:ext cx="7044971" cy="192948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Looking down on the counterclockwise rotation of a merry-go-round, we see that a ball slid straight toward the edge follows a path curved to the right. The person slides the ball toward point </a:t>
            </a:r>
            <a:r>
              <a:rPr lang="en-US" sz="1800" i="1" dirty="0">
                <a:solidFill>
                  <a:srgbClr val="000066"/>
                </a:solidFill>
              </a:rPr>
              <a:t>B</a:t>
            </a:r>
            <a:r>
              <a:rPr lang="en-US" sz="1800" dirty="0">
                <a:solidFill>
                  <a:srgbClr val="000066"/>
                </a:solidFill>
              </a:rPr>
              <a:t>, starting at point </a:t>
            </a:r>
            <a:r>
              <a:rPr lang="en-US" sz="1800" i="1" dirty="0">
                <a:solidFill>
                  <a:srgbClr val="000066"/>
                </a:solidFill>
              </a:rPr>
              <a:t>A</a:t>
            </a:r>
            <a:r>
              <a:rPr lang="en-US" sz="1800" dirty="0">
                <a:solidFill>
                  <a:srgbClr val="000066"/>
                </a:solidFill>
              </a:rPr>
              <a:t>. </a:t>
            </a:r>
          </a:p>
          <a:p>
            <a:pPr marL="0" indent="0">
              <a:buNone/>
            </a:pPr>
            <a:r>
              <a:rPr lang="en-US" sz="1800" dirty="0">
                <a:solidFill>
                  <a:srgbClr val="000066"/>
                </a:solidFill>
              </a:rPr>
              <a:t>Both points rotate to the shaded positions (</a:t>
            </a:r>
            <a:r>
              <a:rPr lang="en-US" sz="1800" i="1" dirty="0">
                <a:solidFill>
                  <a:srgbClr val="000066"/>
                </a:solidFill>
              </a:rPr>
              <a:t>A</a:t>
            </a:r>
            <a:r>
              <a:rPr lang="en-US" sz="1800" dirty="0">
                <a:solidFill>
                  <a:srgbClr val="000066"/>
                </a:solidFill>
              </a:rPr>
              <a:t>’ and </a:t>
            </a:r>
            <a:r>
              <a:rPr lang="en-US" sz="1800" i="1" dirty="0">
                <a:solidFill>
                  <a:srgbClr val="000066"/>
                </a:solidFill>
              </a:rPr>
              <a:t>B</a:t>
            </a:r>
            <a:r>
              <a:rPr lang="en-US" sz="1800" dirty="0">
                <a:solidFill>
                  <a:srgbClr val="000066"/>
                </a:solidFill>
              </a:rPr>
              <a:t>’) shown in the time that </a:t>
            </a:r>
            <a:r>
              <a:rPr lang="en-US" sz="1800" dirty="0">
                <a:solidFill>
                  <a:srgbClr val="C00000"/>
                </a:solidFill>
              </a:rPr>
              <a:t>the ball follows the curved path in the rotating frame </a:t>
            </a:r>
            <a:r>
              <a:rPr lang="en-US" sz="1800" dirty="0">
                <a:solidFill>
                  <a:srgbClr val="000066"/>
                </a:solidFill>
              </a:rPr>
              <a:t>and a </a:t>
            </a:r>
            <a:r>
              <a:rPr lang="en-US" sz="1800" dirty="0">
                <a:solidFill>
                  <a:srgbClr val="008000"/>
                </a:solidFill>
              </a:rPr>
              <a:t>straight path in Earth’s frame.</a:t>
            </a:r>
          </a:p>
        </p:txBody>
      </p:sp>
      <p:sp>
        <p:nvSpPr>
          <p:cNvPr id="2" name="Rectangle 1">
            <a:extLst>
              <a:ext uri="{FF2B5EF4-FFF2-40B4-BE49-F238E27FC236}">
                <a16:creationId xmlns:a16="http://schemas.microsoft.com/office/drawing/2014/main" id="{96CAFDA9-79A2-3044-B5AE-113B33AECD79}"/>
              </a:ext>
            </a:extLst>
          </p:cNvPr>
          <p:cNvSpPr/>
          <p:nvPr/>
        </p:nvSpPr>
        <p:spPr>
          <a:xfrm>
            <a:off x="6096000" y="6134708"/>
            <a:ext cx="4694903" cy="369332"/>
          </a:xfrm>
          <a:prstGeom prst="rect">
            <a:avLst/>
          </a:prstGeom>
        </p:spPr>
        <p:txBody>
          <a:bodyPr wrap="square">
            <a:spAutoFit/>
          </a:bodyPr>
          <a:lstStyle/>
          <a:p>
            <a:r>
              <a:rPr lang="en-US" dirty="0">
                <a:solidFill>
                  <a:srgbClr val="008000"/>
                </a:solidFill>
                <a:hlinkClick r:id="rId5">
                  <a:extLst>
                    <a:ext uri="{A12FA001-AC4F-418D-AE19-62706E023703}">
                      <ahyp:hlinkClr xmlns:ahyp="http://schemas.microsoft.com/office/drawing/2018/hyperlinkcolor" val="tx"/>
                    </a:ext>
                  </a:extLst>
                </a:hlinkClick>
              </a:rPr>
              <a:t>Click to see the Coriolis Effect Demonstration</a:t>
            </a:r>
            <a:endParaRPr lang="en-US" dirty="0">
              <a:solidFill>
                <a:srgbClr val="008000"/>
              </a:solidFill>
            </a:endParaRPr>
          </a:p>
        </p:txBody>
      </p:sp>
    </p:spTree>
    <p:extLst>
      <p:ext uri="{BB962C8B-B14F-4D97-AF65-F5344CB8AC3E}">
        <p14:creationId xmlns:p14="http://schemas.microsoft.com/office/powerpoint/2010/main" val="34127160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a:extLst>
              <a:ext uri="{FF2B5EF4-FFF2-40B4-BE49-F238E27FC236}">
                <a16:creationId xmlns:a16="http://schemas.microsoft.com/office/drawing/2014/main" id="{1C6E4CE7-BB14-3C48-879E-7C4CD03DC5BE}"/>
              </a:ext>
            </a:extLst>
          </p:cNvPr>
          <p:cNvSpPr/>
          <p:nvPr/>
        </p:nvSpPr>
        <p:spPr>
          <a:xfrm>
            <a:off x="486695" y="89044"/>
            <a:ext cx="10633587" cy="523220"/>
          </a:xfrm>
          <a:prstGeom prst="rect">
            <a:avLst/>
          </a:prstGeom>
        </p:spPr>
        <p:txBody>
          <a:bodyPr wrap="square">
            <a:spAutoFit/>
          </a:bodyPr>
          <a:lstStyle/>
          <a:p>
            <a:pPr algn="ctr"/>
            <a:r>
              <a:rPr lang="en-US" sz="2800" dirty="0">
                <a:solidFill>
                  <a:srgbClr val="C00000"/>
                </a:solidFill>
                <a:latin typeface="NewBaskervilleStd-Roman"/>
              </a:rPr>
              <a:t>Inertial Forces and </a:t>
            </a:r>
            <a:r>
              <a:rPr lang="en-US" sz="2800" dirty="0" err="1">
                <a:solidFill>
                  <a:srgbClr val="C00000"/>
                </a:solidFill>
                <a:latin typeface="NewBaskervilleStd-Roman"/>
              </a:rPr>
              <a:t>Noninertial</a:t>
            </a:r>
            <a:r>
              <a:rPr lang="en-US" sz="2800" dirty="0">
                <a:solidFill>
                  <a:srgbClr val="C00000"/>
                </a:solidFill>
                <a:latin typeface="NewBaskervilleStd-Roman"/>
              </a:rPr>
              <a:t> (Accelerated) Frames. The Coriolis Force </a:t>
            </a:r>
          </a:p>
        </p:txBody>
      </p:sp>
      <p:pic>
        <p:nvPicPr>
          <p:cNvPr id="7" name="Picture 6" descr="(a) A satellite photo of a hurricane. The clouds form a spiral that rotates counterclockwise. (b) A diagram of the flow involved in a hurricane. The pressure is low at the center. Straight dark blue arrows point in from all directions. Four such arrows are shown, from the north, east, south, and west. The wind, represented by light blue arrows, starts the same as the dark arrows but deflects to the right. (c) The pressure is low at the center. A dark blue circle indicates a counterclockwise rotation. Light blue arrows come in from all directions and deflect to the right, as they did in figure (b). (d) Now the pressure is high at the center. The dark blue circle again indicates clockwise rotation but the light blue arrows start at the center and point out and deflect to the right. (e) A satellite photo of a tropical cyclone. The clouds form a spiral that rotates clockwise.">
            <a:extLst>
              <a:ext uri="{FF2B5EF4-FFF2-40B4-BE49-F238E27FC236}">
                <a16:creationId xmlns:a16="http://schemas.microsoft.com/office/drawing/2014/main" id="{5ECAEC13-9B64-6D4B-9655-EAAE16C1093A}"/>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425629" y="612264"/>
            <a:ext cx="7340742" cy="4114800"/>
          </a:xfrm>
          <a:prstGeom prst="rect">
            <a:avLst/>
          </a:prstGeom>
        </p:spPr>
      </p:pic>
      <p:sp>
        <p:nvSpPr>
          <p:cNvPr id="8" name="Text Placeholder 6">
            <a:extLst>
              <a:ext uri="{FF2B5EF4-FFF2-40B4-BE49-F238E27FC236}">
                <a16:creationId xmlns:a16="http://schemas.microsoft.com/office/drawing/2014/main" id="{67671F28-DA39-CE4C-811E-DC526F39EEDD}"/>
              </a:ext>
            </a:extLst>
          </p:cNvPr>
          <p:cNvSpPr txBox="1">
            <a:spLocks/>
          </p:cNvSpPr>
          <p:nvPr/>
        </p:nvSpPr>
        <p:spPr>
          <a:xfrm>
            <a:off x="117987" y="4791085"/>
            <a:ext cx="12006337" cy="116638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AutoNum type="alphaLcParenBoth"/>
            </a:pPr>
            <a:r>
              <a:rPr lang="en-US" sz="1800" dirty="0">
                <a:solidFill>
                  <a:srgbClr val="000066"/>
                </a:solidFill>
              </a:rPr>
              <a:t>The counterclockwise rotation of this Northern Hemisphere hurricane is a major consequence of the Coriolis force.</a:t>
            </a:r>
          </a:p>
          <a:p>
            <a:pPr>
              <a:buFont typeface="Arial" panose="020B0604020202020204" pitchFamily="34" charset="0"/>
              <a:buAutoNum type="alphaLcParenBoth"/>
            </a:pPr>
            <a:r>
              <a:rPr lang="en-US" sz="1800" dirty="0"/>
              <a:t>Without the Coriolis force, air would flow straight into a low-pressure zone, such as that found in tropical cyclones.</a:t>
            </a:r>
          </a:p>
          <a:p>
            <a:pPr>
              <a:buFont typeface="Arial" panose="020B0604020202020204" pitchFamily="34" charset="0"/>
              <a:buAutoNum type="alphaLcParenBoth"/>
            </a:pPr>
            <a:r>
              <a:rPr lang="en-US" sz="1800" dirty="0">
                <a:solidFill>
                  <a:srgbClr val="000066"/>
                </a:solidFill>
              </a:rPr>
              <a:t>The Coriolis force deflects the winds to the right, producing a counterclockwise rotation.</a:t>
            </a:r>
          </a:p>
          <a:p>
            <a:pPr>
              <a:buFont typeface="Arial" panose="020B0604020202020204" pitchFamily="34" charset="0"/>
              <a:buAutoNum type="alphaLcParenBoth"/>
            </a:pPr>
            <a:r>
              <a:rPr lang="en-US" sz="1800" dirty="0"/>
              <a:t>Wind flowing away from a high-pressure zone is also deflected to the right, producing a clockwise rotation.</a:t>
            </a:r>
          </a:p>
          <a:p>
            <a:pPr algn="r">
              <a:buFont typeface="Arial" panose="020B0604020202020204" pitchFamily="34" charset="0"/>
              <a:buAutoNum type="alphaLcParenBoth"/>
            </a:pPr>
            <a:r>
              <a:rPr lang="en-US" sz="1800" dirty="0">
                <a:solidFill>
                  <a:srgbClr val="000066"/>
                </a:solidFill>
              </a:rPr>
              <a:t>The opposite direction of rotation is produced by the Coriolis force in the Southern Hemisphere, leading to tropical cyclones. </a:t>
            </a:r>
            <a:r>
              <a:rPr lang="en-US" sz="1200" dirty="0"/>
              <a:t>(credit a and credit e: modifications of work by NASA)</a:t>
            </a:r>
          </a:p>
        </p:txBody>
      </p:sp>
    </p:spTree>
    <p:extLst>
      <p:ext uri="{BB962C8B-B14F-4D97-AF65-F5344CB8AC3E}">
        <p14:creationId xmlns:p14="http://schemas.microsoft.com/office/powerpoint/2010/main" val="1242189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a:extLst>
              <a:ext uri="{FF2B5EF4-FFF2-40B4-BE49-F238E27FC236}">
                <a16:creationId xmlns:a16="http://schemas.microsoft.com/office/drawing/2014/main" id="{C3A4F7BB-0ABD-9D4B-BE32-369FB75338CE}"/>
              </a:ext>
            </a:extLst>
          </p:cNvPr>
          <p:cNvSpPr/>
          <p:nvPr/>
        </p:nvSpPr>
        <p:spPr>
          <a:xfrm>
            <a:off x="486695" y="89044"/>
            <a:ext cx="10633587" cy="523220"/>
          </a:xfrm>
          <a:prstGeom prst="rect">
            <a:avLst/>
          </a:prstGeom>
        </p:spPr>
        <p:txBody>
          <a:bodyPr wrap="square">
            <a:spAutoFit/>
          </a:bodyPr>
          <a:lstStyle/>
          <a:p>
            <a:pPr algn="ctr"/>
            <a:r>
              <a:rPr lang="en-US" sz="2800" dirty="0">
                <a:solidFill>
                  <a:srgbClr val="C00000"/>
                </a:solidFill>
                <a:latin typeface="NewBaskervilleStd-Roman"/>
              </a:rPr>
              <a:t>Drag Force and Terminal Speed </a:t>
            </a:r>
          </a:p>
        </p:txBody>
      </p:sp>
      <p:sp>
        <p:nvSpPr>
          <p:cNvPr id="2" name="Rectangle 1">
            <a:extLst>
              <a:ext uri="{FF2B5EF4-FFF2-40B4-BE49-F238E27FC236}">
                <a16:creationId xmlns:a16="http://schemas.microsoft.com/office/drawing/2014/main" id="{7047B648-64A3-C241-960A-CC66F3B50A6A}"/>
              </a:ext>
            </a:extLst>
          </p:cNvPr>
          <p:cNvSpPr/>
          <p:nvPr/>
        </p:nvSpPr>
        <p:spPr>
          <a:xfrm>
            <a:off x="648928" y="601362"/>
            <a:ext cx="10633587" cy="1446550"/>
          </a:xfrm>
          <a:prstGeom prst="rect">
            <a:avLst/>
          </a:prstGeom>
        </p:spPr>
        <p:txBody>
          <a:bodyPr wrap="square">
            <a:spAutoFit/>
          </a:bodyPr>
          <a:lstStyle/>
          <a:p>
            <a:r>
              <a:rPr lang="en-US" sz="2200" dirty="0">
                <a:solidFill>
                  <a:srgbClr val="000066"/>
                </a:solidFill>
                <a:latin typeface="LiberationSerif"/>
              </a:rPr>
              <a:t>Drag force acts on an object when it is moving in a fluid (either a gas or a liquid).</a:t>
            </a:r>
          </a:p>
          <a:p>
            <a:r>
              <a:rPr lang="en-US" sz="2200" dirty="0">
                <a:solidFill>
                  <a:srgbClr val="C00000"/>
                </a:solidFill>
                <a:latin typeface="LiberationSerif"/>
              </a:rPr>
              <a:t>The drag force always opposes the motion of an object. </a:t>
            </a:r>
          </a:p>
          <a:p>
            <a:endParaRPr lang="en-US" sz="2200" dirty="0">
              <a:solidFill>
                <a:srgbClr val="000066"/>
              </a:solidFill>
              <a:latin typeface="LiberationSerif"/>
            </a:endParaRPr>
          </a:p>
          <a:p>
            <a:r>
              <a:rPr lang="en-US" sz="2200" dirty="0">
                <a:solidFill>
                  <a:srgbClr val="000066"/>
                </a:solidFill>
                <a:latin typeface="LiberationSerif"/>
              </a:rPr>
              <a:t>	</a:t>
            </a:r>
            <a:r>
              <a:rPr lang="en-US" sz="2000" dirty="0">
                <a:solidFill>
                  <a:srgbClr val="000066"/>
                </a:solidFill>
                <a:latin typeface="LiberationSerif"/>
              </a:rPr>
              <a:t>Generally </a:t>
            </a:r>
          </a:p>
        </p:txBody>
      </p:sp>
      <p:pic>
        <p:nvPicPr>
          <p:cNvPr id="7" name="Picture 6" descr="A picture containing text&#10;&#10;Description automatically generated">
            <a:extLst>
              <a:ext uri="{FF2B5EF4-FFF2-40B4-BE49-F238E27FC236}">
                <a16:creationId xmlns:a16="http://schemas.microsoft.com/office/drawing/2014/main" id="{DAD0AD77-395A-6E41-A88C-3055926104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0322" y="1542372"/>
            <a:ext cx="1079799" cy="502920"/>
          </a:xfrm>
          <a:prstGeom prst="rect">
            <a:avLst/>
          </a:prstGeom>
        </p:spPr>
      </p:pic>
      <p:sp>
        <p:nvSpPr>
          <p:cNvPr id="8" name="Rectangle 7">
            <a:extLst>
              <a:ext uri="{FF2B5EF4-FFF2-40B4-BE49-F238E27FC236}">
                <a16:creationId xmlns:a16="http://schemas.microsoft.com/office/drawing/2014/main" id="{443C4C4C-8CA3-9149-8AF0-587447680976}"/>
              </a:ext>
            </a:extLst>
          </p:cNvPr>
          <p:cNvSpPr/>
          <p:nvPr/>
        </p:nvSpPr>
        <p:spPr>
          <a:xfrm>
            <a:off x="648928" y="2045292"/>
            <a:ext cx="7993626" cy="1015663"/>
          </a:xfrm>
          <a:prstGeom prst="rect">
            <a:avLst/>
          </a:prstGeom>
        </p:spPr>
        <p:txBody>
          <a:bodyPr wrap="square">
            <a:spAutoFit/>
          </a:bodyPr>
          <a:lstStyle/>
          <a:p>
            <a:r>
              <a:rPr lang="en-US" sz="2000" dirty="0">
                <a:solidFill>
                  <a:srgbClr val="000066"/>
                </a:solidFill>
                <a:latin typeface="LiberationSerif"/>
              </a:rPr>
              <a:t>When taking into account other factors, this relationship becomes</a:t>
            </a:r>
          </a:p>
          <a:p>
            <a:endParaRPr lang="en-US" sz="2000" dirty="0">
              <a:solidFill>
                <a:srgbClr val="000066"/>
              </a:solidFill>
              <a:latin typeface="LiberationSerif"/>
            </a:endParaRPr>
          </a:p>
          <a:p>
            <a:r>
              <a:rPr lang="en-US" sz="2000" dirty="0">
                <a:solidFill>
                  <a:srgbClr val="000066"/>
                </a:solidFill>
                <a:latin typeface="LiberationSerif"/>
              </a:rPr>
              <a:t> </a:t>
            </a:r>
            <a:endParaRPr lang="en-US" sz="2000" dirty="0">
              <a:solidFill>
                <a:srgbClr val="000066"/>
              </a:solidFill>
            </a:endParaRPr>
          </a:p>
        </p:txBody>
      </p:sp>
      <p:pic>
        <p:nvPicPr>
          <p:cNvPr id="10" name="Picture 9" descr="Text&#10;&#10;Description automatically generated">
            <a:extLst>
              <a:ext uri="{FF2B5EF4-FFF2-40B4-BE49-F238E27FC236}">
                <a16:creationId xmlns:a16="http://schemas.microsoft.com/office/drawing/2014/main" id="{C80BC940-E651-7743-872F-DFFC2E6416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32819" y="1903757"/>
            <a:ext cx="1819469" cy="685800"/>
          </a:xfrm>
          <a:prstGeom prst="rect">
            <a:avLst/>
          </a:prstGeom>
        </p:spPr>
      </p:pic>
      <p:sp>
        <p:nvSpPr>
          <p:cNvPr id="11" name="Rectangle 10">
            <a:extLst>
              <a:ext uri="{FF2B5EF4-FFF2-40B4-BE49-F238E27FC236}">
                <a16:creationId xmlns:a16="http://schemas.microsoft.com/office/drawing/2014/main" id="{D723F24B-1144-8542-8EF9-4447180B08FA}"/>
              </a:ext>
            </a:extLst>
          </p:cNvPr>
          <p:cNvSpPr/>
          <p:nvPr/>
        </p:nvSpPr>
        <p:spPr>
          <a:xfrm>
            <a:off x="7732819" y="2627093"/>
            <a:ext cx="4257620" cy="2031325"/>
          </a:xfrm>
          <a:prstGeom prst="rect">
            <a:avLst/>
          </a:prstGeom>
        </p:spPr>
        <p:txBody>
          <a:bodyPr wrap="square">
            <a:spAutoFit/>
          </a:bodyPr>
          <a:lstStyle/>
          <a:p>
            <a:r>
              <a:rPr lang="en-US" dirty="0">
                <a:latin typeface="LiberationSerif"/>
              </a:rPr>
              <a:t>where: </a:t>
            </a:r>
          </a:p>
          <a:p>
            <a:r>
              <a:rPr lang="en-US" i="1" dirty="0">
                <a:latin typeface="LiberationSerif"/>
              </a:rPr>
              <a:t>C </a:t>
            </a:r>
            <a:r>
              <a:rPr lang="en-US" dirty="0">
                <a:latin typeface="LiberationSerif"/>
              </a:rPr>
              <a:t>is the drag coefficient, </a:t>
            </a:r>
          </a:p>
          <a:p>
            <a:r>
              <a:rPr lang="en-US" i="1" dirty="0">
                <a:latin typeface="LiberationSerif"/>
              </a:rPr>
              <a:t>A </a:t>
            </a:r>
            <a:r>
              <a:rPr lang="en-US" dirty="0">
                <a:latin typeface="LiberationSerif"/>
              </a:rPr>
              <a:t>is the area of the object facing the fluid, </a:t>
            </a:r>
          </a:p>
          <a:p>
            <a:r>
              <a:rPr lang="el-GR" i="1" dirty="0">
                <a:latin typeface="STIXGeneral" pitchFamily="2" charset="2"/>
              </a:rPr>
              <a:t>ρ </a:t>
            </a:r>
            <a:r>
              <a:rPr lang="en-US" dirty="0">
                <a:latin typeface="LiberationSerif"/>
              </a:rPr>
              <a:t>is the density of the fluid. </a:t>
            </a:r>
          </a:p>
          <a:p>
            <a:r>
              <a:rPr lang="en-US" dirty="0">
                <a:solidFill>
                  <a:srgbClr val="000066"/>
                </a:solidFill>
                <a:latin typeface="LiberationSerif"/>
              </a:rPr>
              <a:t>This equation can also be written in a more generalized fashion as </a:t>
            </a:r>
            <a:r>
              <a:rPr lang="en-US" i="1" dirty="0">
                <a:latin typeface="STIXGeneral" pitchFamily="2" charset="2"/>
              </a:rPr>
              <a:t>F</a:t>
            </a:r>
            <a:r>
              <a:rPr lang="en-US" i="1" baseline="-25000" dirty="0">
                <a:latin typeface="STIXGeneral" pitchFamily="2" charset="2"/>
              </a:rPr>
              <a:t>D</a:t>
            </a:r>
            <a:r>
              <a:rPr lang="en-US" sz="1400" dirty="0">
                <a:latin typeface="STIXGeneral" pitchFamily="2" charset="2"/>
              </a:rPr>
              <a:t> </a:t>
            </a:r>
            <a:r>
              <a:rPr lang="en-US" dirty="0">
                <a:latin typeface="STIXGeneral" pitchFamily="2" charset="2"/>
              </a:rPr>
              <a:t>= </a:t>
            </a:r>
            <a:r>
              <a:rPr lang="en-US" i="1" dirty="0">
                <a:latin typeface="STIXGeneral" pitchFamily="2" charset="2"/>
              </a:rPr>
              <a:t>bv</a:t>
            </a:r>
            <a:r>
              <a:rPr lang="en-US" i="1" baseline="30000" dirty="0">
                <a:latin typeface="STIXGeneral" pitchFamily="2" charset="2"/>
              </a:rPr>
              <a:t>2</a:t>
            </a:r>
            <a:r>
              <a:rPr lang="en-US" dirty="0">
                <a:latin typeface="STIXGeneral" pitchFamily="2" charset="2"/>
              </a:rPr>
              <a:t>, </a:t>
            </a:r>
            <a:r>
              <a:rPr lang="en-US" dirty="0">
                <a:solidFill>
                  <a:srgbClr val="000066"/>
                </a:solidFill>
                <a:latin typeface="LiberationSerif"/>
              </a:rPr>
              <a:t>where </a:t>
            </a:r>
            <a:r>
              <a:rPr lang="en-US" i="1" dirty="0">
                <a:solidFill>
                  <a:srgbClr val="000066"/>
                </a:solidFill>
                <a:latin typeface="LiberationSerif"/>
              </a:rPr>
              <a:t>b </a:t>
            </a:r>
            <a:r>
              <a:rPr lang="en-US" dirty="0">
                <a:solidFill>
                  <a:srgbClr val="000066"/>
                </a:solidFill>
                <a:latin typeface="LiberationSerif"/>
              </a:rPr>
              <a:t>is a constant equivalent to</a:t>
            </a:r>
            <a:r>
              <a:rPr lang="en-US" dirty="0">
                <a:latin typeface="LiberationSerif"/>
              </a:rPr>
              <a:t> </a:t>
            </a:r>
            <a:r>
              <a:rPr lang="en-US" dirty="0">
                <a:latin typeface="STIXGeneral" pitchFamily="2" charset="2"/>
              </a:rPr>
              <a:t>0.5</a:t>
            </a:r>
            <a:r>
              <a:rPr lang="en-US" i="1" dirty="0">
                <a:latin typeface="STIXGeneral" pitchFamily="2" charset="2"/>
              </a:rPr>
              <a:t>C</a:t>
            </a:r>
            <a:r>
              <a:rPr lang="el-GR" i="1" dirty="0">
                <a:latin typeface="STIXGeneral" pitchFamily="2" charset="2"/>
              </a:rPr>
              <a:t>ρ</a:t>
            </a:r>
            <a:r>
              <a:rPr lang="en-US" i="1" dirty="0">
                <a:latin typeface="STIXGeneral" pitchFamily="2" charset="2"/>
              </a:rPr>
              <a:t>A</a:t>
            </a:r>
            <a:r>
              <a:rPr lang="en-US" dirty="0">
                <a:latin typeface="STIXGeneral" pitchFamily="2" charset="2"/>
              </a:rPr>
              <a:t>. </a:t>
            </a:r>
            <a:endParaRPr lang="en-US" dirty="0"/>
          </a:p>
        </p:txBody>
      </p:sp>
      <p:pic>
        <p:nvPicPr>
          <p:cNvPr id="12" name="Picture Placeholder 1" descr="A photograph of a bobsled on a track at the Olympics.">
            <a:extLst>
              <a:ext uri="{FF2B5EF4-FFF2-40B4-BE49-F238E27FC236}">
                <a16:creationId xmlns:a16="http://schemas.microsoft.com/office/drawing/2014/main" id="{BBFCC794-76A5-4D4F-89CB-F4F3E51FF083}"/>
              </a:ext>
            </a:extLst>
          </p:cNvPr>
          <p:cNvPicPr>
            <a:picLocks noChangeAspect="1"/>
          </p:cNvPicPr>
          <p:nvPr/>
        </p:nvPicPr>
        <p:blipFill>
          <a:blip r:embed="rId5">
            <a:extLst>
              <a:ext uri="{28A0092B-C50C-407E-A947-70E740481C1C}">
                <a14:useLocalDpi xmlns:a14="http://schemas.microsoft.com/office/drawing/2010/main" val="0"/>
              </a:ext>
            </a:extLst>
          </a:blip>
          <a:srcRect l="-32138" r="-32138"/>
          <a:stretch>
            <a:fillRect/>
          </a:stretch>
        </p:blipFill>
        <p:spPr>
          <a:xfrm>
            <a:off x="-516194" y="2589557"/>
            <a:ext cx="5266128" cy="2286000"/>
          </a:xfrm>
          <a:prstGeom prst="rect">
            <a:avLst/>
          </a:prstGeom>
        </p:spPr>
      </p:pic>
      <p:sp>
        <p:nvSpPr>
          <p:cNvPr id="13" name="Text Placeholder 6">
            <a:extLst>
              <a:ext uri="{FF2B5EF4-FFF2-40B4-BE49-F238E27FC236}">
                <a16:creationId xmlns:a16="http://schemas.microsoft.com/office/drawing/2014/main" id="{8C95C265-7F32-5848-8C21-91F0A34B8B09}"/>
              </a:ext>
            </a:extLst>
          </p:cNvPr>
          <p:cNvSpPr txBox="1">
            <a:spLocks/>
          </p:cNvSpPr>
          <p:nvPr/>
        </p:nvSpPr>
        <p:spPr>
          <a:xfrm>
            <a:off x="486695" y="4947221"/>
            <a:ext cx="3480619" cy="170292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From racing cars to bobsled racers, aerodynamic shaping is crucial to achieving top speeds. Bobsleds are designed for speed and are shaped like a bullet with tapered fins.</a:t>
            </a:r>
          </a:p>
          <a:p>
            <a:pPr marL="0" indent="0">
              <a:buNone/>
            </a:pPr>
            <a:r>
              <a:rPr lang="en-US" sz="1800" dirty="0"/>
              <a:t> </a:t>
            </a:r>
            <a:r>
              <a:rPr lang="en-US" sz="1200" dirty="0"/>
              <a:t>(credit: “U.S. Army”/Wikimedia Commons)</a:t>
            </a:r>
          </a:p>
        </p:txBody>
      </p:sp>
      <p:pic>
        <p:nvPicPr>
          <p:cNvPr id="14" name="Picture Placeholder 1" descr="A photograph of a model plane in a wind tunnel.">
            <a:extLst>
              <a:ext uri="{FF2B5EF4-FFF2-40B4-BE49-F238E27FC236}">
                <a16:creationId xmlns:a16="http://schemas.microsoft.com/office/drawing/2014/main" id="{4C58FD5A-A7E2-B54C-88BA-D5829D3183AB}"/>
              </a:ext>
            </a:extLst>
          </p:cNvPr>
          <p:cNvPicPr>
            <a:picLocks noChangeAspect="1"/>
          </p:cNvPicPr>
          <p:nvPr/>
        </p:nvPicPr>
        <p:blipFill>
          <a:blip r:embed="rId6" cstate="email">
            <a:extLst>
              <a:ext uri="{28A0092B-C50C-407E-A947-70E740481C1C}">
                <a14:useLocalDpi xmlns:a14="http://schemas.microsoft.com/office/drawing/2010/main" val="0"/>
              </a:ext>
            </a:extLst>
          </a:blip>
          <a:srcRect t="-2162" b="-2162"/>
          <a:stretch>
            <a:fillRect/>
          </a:stretch>
        </p:blipFill>
        <p:spPr>
          <a:xfrm>
            <a:off x="4371986" y="2550832"/>
            <a:ext cx="2804786" cy="3657600"/>
          </a:xfrm>
          <a:prstGeom prst="rect">
            <a:avLst/>
          </a:prstGeom>
        </p:spPr>
      </p:pic>
      <p:sp>
        <p:nvSpPr>
          <p:cNvPr id="15" name="Rectangle 14">
            <a:extLst>
              <a:ext uri="{FF2B5EF4-FFF2-40B4-BE49-F238E27FC236}">
                <a16:creationId xmlns:a16="http://schemas.microsoft.com/office/drawing/2014/main" id="{29A0E3F3-34F8-9E4D-931D-8DC4435552DE}"/>
              </a:ext>
            </a:extLst>
          </p:cNvPr>
          <p:cNvSpPr/>
          <p:nvPr/>
        </p:nvSpPr>
        <p:spPr>
          <a:xfrm>
            <a:off x="4357238" y="6067540"/>
            <a:ext cx="2972711" cy="830997"/>
          </a:xfrm>
          <a:prstGeom prst="rect">
            <a:avLst/>
          </a:prstGeom>
        </p:spPr>
        <p:txBody>
          <a:bodyPr wrap="square">
            <a:spAutoFit/>
          </a:bodyPr>
          <a:lstStyle/>
          <a:p>
            <a:r>
              <a:rPr lang="en-US" dirty="0">
                <a:solidFill>
                  <a:srgbClr val="000066"/>
                </a:solidFill>
              </a:rPr>
              <a:t>NASA researchers test a model plane in a wind tunnel. </a:t>
            </a:r>
            <a:r>
              <a:rPr lang="en-US" sz="1200" dirty="0">
                <a:solidFill>
                  <a:srgbClr val="000000"/>
                </a:solidFill>
              </a:rPr>
              <a:t>(credit: NASA/Ames)</a:t>
            </a:r>
          </a:p>
        </p:txBody>
      </p:sp>
      <p:pic>
        <p:nvPicPr>
          <p:cNvPr id="17" name="Picture 16" descr="Table&#10;&#10;Description automatically generated">
            <a:extLst>
              <a:ext uri="{FF2B5EF4-FFF2-40B4-BE49-F238E27FC236}">
                <a16:creationId xmlns:a16="http://schemas.microsoft.com/office/drawing/2014/main" id="{94E316F3-8E55-044B-840E-885BEB85F83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77808" y="4745530"/>
            <a:ext cx="2155371" cy="1828800"/>
          </a:xfrm>
          <a:prstGeom prst="rect">
            <a:avLst/>
          </a:prstGeom>
        </p:spPr>
      </p:pic>
      <p:pic>
        <p:nvPicPr>
          <p:cNvPr id="19" name="Picture 18" descr="Table&#10;&#10;Description automatically generated with low confidence">
            <a:extLst>
              <a:ext uri="{FF2B5EF4-FFF2-40B4-BE49-F238E27FC236}">
                <a16:creationId xmlns:a16="http://schemas.microsoft.com/office/drawing/2014/main" id="{20A2C05E-7197-EB44-BFC9-867B0D44CFA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884475" y="5065570"/>
            <a:ext cx="2030709" cy="1508760"/>
          </a:xfrm>
          <a:prstGeom prst="rect">
            <a:avLst/>
          </a:prstGeom>
        </p:spPr>
      </p:pic>
      <p:pic>
        <p:nvPicPr>
          <p:cNvPr id="21" name="Picture 20" descr="Shape, rectangle&#10;&#10;Description automatically generated">
            <a:extLst>
              <a:ext uri="{FF2B5EF4-FFF2-40B4-BE49-F238E27FC236}">
                <a16:creationId xmlns:a16="http://schemas.microsoft.com/office/drawing/2014/main" id="{6BFE5865-CCF6-C940-837E-37E7AFAC361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829943" y="4745530"/>
            <a:ext cx="2084832" cy="347472"/>
          </a:xfrm>
          <a:prstGeom prst="rect">
            <a:avLst/>
          </a:prstGeom>
        </p:spPr>
      </p:pic>
      <p:sp>
        <p:nvSpPr>
          <p:cNvPr id="22" name="Rectangle 21">
            <a:extLst>
              <a:ext uri="{FF2B5EF4-FFF2-40B4-BE49-F238E27FC236}">
                <a16:creationId xmlns:a16="http://schemas.microsoft.com/office/drawing/2014/main" id="{A0A0A4C3-83D7-7E46-9DDC-279948B55CEC}"/>
              </a:ext>
            </a:extLst>
          </p:cNvPr>
          <p:cNvSpPr/>
          <p:nvPr/>
        </p:nvSpPr>
        <p:spPr>
          <a:xfrm>
            <a:off x="9744520" y="1961164"/>
            <a:ext cx="2379803" cy="646331"/>
          </a:xfrm>
          <a:prstGeom prst="rect">
            <a:avLst/>
          </a:prstGeom>
        </p:spPr>
        <p:txBody>
          <a:bodyPr wrap="square">
            <a:spAutoFit/>
          </a:bodyPr>
          <a:lstStyle/>
          <a:p>
            <a:r>
              <a:rPr lang="en-US" sz="1200" dirty="0">
                <a:solidFill>
                  <a:srgbClr val="000066"/>
                </a:solidFill>
                <a:latin typeface="LiberationSerif"/>
              </a:rPr>
              <a:t>Exponent </a:t>
            </a:r>
            <a:r>
              <a:rPr lang="en-US" sz="1200" i="1" dirty="0">
                <a:solidFill>
                  <a:srgbClr val="000066"/>
                </a:solidFill>
                <a:latin typeface="LiberationSerif"/>
              </a:rPr>
              <a:t>n </a:t>
            </a:r>
            <a:r>
              <a:rPr lang="en-US" sz="1200" dirty="0">
                <a:solidFill>
                  <a:srgbClr val="000066"/>
                </a:solidFill>
                <a:latin typeface="LiberationSerif"/>
              </a:rPr>
              <a:t>is 2 if the object is moving at high velocity through air.</a:t>
            </a:r>
          </a:p>
          <a:p>
            <a:r>
              <a:rPr lang="en-US" sz="1200" dirty="0">
                <a:solidFill>
                  <a:srgbClr val="000066"/>
                </a:solidFill>
                <a:latin typeface="LiberationSerif"/>
              </a:rPr>
              <a:t>At low speeds n is 1</a:t>
            </a:r>
            <a:endParaRPr lang="en-US" sz="1200" dirty="0">
              <a:solidFill>
                <a:srgbClr val="000066"/>
              </a:solidFill>
            </a:endParaRPr>
          </a:p>
        </p:txBody>
      </p:sp>
    </p:spTree>
    <p:extLst>
      <p:ext uri="{BB962C8B-B14F-4D97-AF65-F5344CB8AC3E}">
        <p14:creationId xmlns:p14="http://schemas.microsoft.com/office/powerpoint/2010/main" val="40148756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a:extLst>
              <a:ext uri="{FF2B5EF4-FFF2-40B4-BE49-F238E27FC236}">
                <a16:creationId xmlns:a16="http://schemas.microsoft.com/office/drawing/2014/main" id="{C3A4F7BB-0ABD-9D4B-BE32-369FB75338CE}"/>
              </a:ext>
            </a:extLst>
          </p:cNvPr>
          <p:cNvSpPr/>
          <p:nvPr/>
        </p:nvSpPr>
        <p:spPr>
          <a:xfrm>
            <a:off x="486695" y="89044"/>
            <a:ext cx="10633587" cy="523220"/>
          </a:xfrm>
          <a:prstGeom prst="rect">
            <a:avLst/>
          </a:prstGeom>
        </p:spPr>
        <p:txBody>
          <a:bodyPr wrap="square">
            <a:spAutoFit/>
          </a:bodyPr>
          <a:lstStyle/>
          <a:p>
            <a:pPr algn="ctr"/>
            <a:r>
              <a:rPr lang="en-US" sz="2800" dirty="0">
                <a:solidFill>
                  <a:srgbClr val="C00000"/>
                </a:solidFill>
                <a:latin typeface="NewBaskervilleStd-Roman"/>
              </a:rPr>
              <a:t>Drag Force and Terminal Speed </a:t>
            </a:r>
          </a:p>
        </p:txBody>
      </p:sp>
      <p:sp>
        <p:nvSpPr>
          <p:cNvPr id="2" name="Rectangle 1">
            <a:extLst>
              <a:ext uri="{FF2B5EF4-FFF2-40B4-BE49-F238E27FC236}">
                <a16:creationId xmlns:a16="http://schemas.microsoft.com/office/drawing/2014/main" id="{C8E2AABA-591C-234D-95C8-77489DA5CCCC}"/>
              </a:ext>
            </a:extLst>
          </p:cNvPr>
          <p:cNvSpPr/>
          <p:nvPr/>
        </p:nvSpPr>
        <p:spPr>
          <a:xfrm>
            <a:off x="486695" y="612264"/>
            <a:ext cx="2207014" cy="430887"/>
          </a:xfrm>
          <a:prstGeom prst="rect">
            <a:avLst/>
          </a:prstGeom>
        </p:spPr>
        <p:txBody>
          <a:bodyPr wrap="none">
            <a:spAutoFit/>
          </a:bodyPr>
          <a:lstStyle/>
          <a:p>
            <a:r>
              <a:rPr lang="en-US" sz="2200" dirty="0">
                <a:solidFill>
                  <a:srgbClr val="008000"/>
                </a:solidFill>
                <a:latin typeface="LiberationSans"/>
              </a:rPr>
              <a:t>Terminal Velocity </a:t>
            </a:r>
            <a:endParaRPr lang="en-US" sz="2200" dirty="0">
              <a:solidFill>
                <a:srgbClr val="008000"/>
              </a:solidFill>
            </a:endParaRPr>
          </a:p>
        </p:txBody>
      </p:sp>
      <p:sp>
        <p:nvSpPr>
          <p:cNvPr id="3" name="Rectangle 2">
            <a:extLst>
              <a:ext uri="{FF2B5EF4-FFF2-40B4-BE49-F238E27FC236}">
                <a16:creationId xmlns:a16="http://schemas.microsoft.com/office/drawing/2014/main" id="{36600764-3C24-1C41-80C4-F4E2D0EBA1C4}"/>
              </a:ext>
            </a:extLst>
          </p:cNvPr>
          <p:cNvSpPr/>
          <p:nvPr/>
        </p:nvSpPr>
        <p:spPr>
          <a:xfrm>
            <a:off x="486695" y="1043151"/>
            <a:ext cx="11052126" cy="1938992"/>
          </a:xfrm>
          <a:prstGeom prst="rect">
            <a:avLst/>
          </a:prstGeom>
        </p:spPr>
        <p:txBody>
          <a:bodyPr wrap="square">
            <a:spAutoFit/>
          </a:bodyPr>
          <a:lstStyle/>
          <a:p>
            <a:r>
              <a:rPr lang="en-US" sz="2000" dirty="0">
                <a:solidFill>
                  <a:srgbClr val="000066"/>
                </a:solidFill>
              </a:rPr>
              <a:t>Consider a skydiver falling through air under the influence of gravity. </a:t>
            </a:r>
          </a:p>
          <a:p>
            <a:r>
              <a:rPr lang="en-US" sz="2000" dirty="0">
                <a:solidFill>
                  <a:srgbClr val="000066"/>
                </a:solidFill>
              </a:rPr>
              <a:t>As the skydiver’s velocity increases, the magnitude of the drag force increases until the magnitude of the drag force is equal to the gravitational force, thus producing a net force of zero. </a:t>
            </a:r>
          </a:p>
          <a:p>
            <a:r>
              <a:rPr lang="en-US" sz="2000" dirty="0"/>
              <a:t>A zero net force means that there is no acceleration. At this point, the person’s velocity remains constant and we say that the person has reached his </a:t>
            </a:r>
            <a:r>
              <a:rPr lang="en-US" sz="2000" b="1" dirty="0">
                <a:solidFill>
                  <a:srgbClr val="000066"/>
                </a:solidFill>
              </a:rPr>
              <a:t>terminal velocity </a:t>
            </a:r>
            <a:r>
              <a:rPr lang="en-US" sz="2000" dirty="0">
                <a:solidFill>
                  <a:srgbClr val="000066"/>
                </a:solidFill>
              </a:rPr>
              <a:t>(</a:t>
            </a:r>
            <a:r>
              <a:rPr lang="en-US" sz="2000" i="1" dirty="0" err="1">
                <a:solidFill>
                  <a:srgbClr val="000066"/>
                </a:solidFill>
              </a:rPr>
              <a:t>v</a:t>
            </a:r>
            <a:r>
              <a:rPr lang="en-US" sz="2000" baseline="-25000" dirty="0" err="1">
                <a:solidFill>
                  <a:srgbClr val="000066"/>
                </a:solidFill>
                <a:latin typeface="Symbol" pitchFamily="2" charset="2"/>
              </a:rPr>
              <a:t>t</a:t>
            </a:r>
            <a:r>
              <a:rPr lang="en-US" sz="2000" dirty="0">
                <a:solidFill>
                  <a:srgbClr val="000066"/>
                </a:solidFill>
              </a:rPr>
              <a:t>). </a:t>
            </a:r>
          </a:p>
          <a:p>
            <a:endParaRPr lang="en-US" sz="2000" dirty="0">
              <a:solidFill>
                <a:srgbClr val="000066"/>
              </a:solidFill>
            </a:endParaRPr>
          </a:p>
        </p:txBody>
      </p:sp>
      <p:pic>
        <p:nvPicPr>
          <p:cNvPr id="8" name="Picture 7" descr="A picture containing text&#10;&#10;Description automatically generated">
            <a:extLst>
              <a:ext uri="{FF2B5EF4-FFF2-40B4-BE49-F238E27FC236}">
                <a16:creationId xmlns:a16="http://schemas.microsoft.com/office/drawing/2014/main" id="{C2023F07-75CE-DC45-BF54-B2EA06D8E5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608" y="2682262"/>
            <a:ext cx="2470484" cy="3200400"/>
          </a:xfrm>
          <a:prstGeom prst="rect">
            <a:avLst/>
          </a:prstGeom>
        </p:spPr>
      </p:pic>
      <p:pic>
        <p:nvPicPr>
          <p:cNvPr id="10" name="Picture 9" descr="Text&#10;&#10;Description automatically generated">
            <a:extLst>
              <a:ext uri="{FF2B5EF4-FFF2-40B4-BE49-F238E27FC236}">
                <a16:creationId xmlns:a16="http://schemas.microsoft.com/office/drawing/2014/main" id="{37A4B604-7486-A242-9349-68CDDB2278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80324" y="2649797"/>
            <a:ext cx="9144000" cy="1466490"/>
          </a:xfrm>
          <a:prstGeom prst="rect">
            <a:avLst/>
          </a:prstGeom>
        </p:spPr>
      </p:pic>
      <p:sp>
        <p:nvSpPr>
          <p:cNvPr id="11" name="Rectangle 10">
            <a:extLst>
              <a:ext uri="{FF2B5EF4-FFF2-40B4-BE49-F238E27FC236}">
                <a16:creationId xmlns:a16="http://schemas.microsoft.com/office/drawing/2014/main" id="{588C30CA-D8D7-6744-8300-BFAF19B41EE1}"/>
              </a:ext>
            </a:extLst>
          </p:cNvPr>
          <p:cNvSpPr/>
          <p:nvPr/>
        </p:nvSpPr>
        <p:spPr>
          <a:xfrm>
            <a:off x="3074652" y="4155918"/>
            <a:ext cx="6809414" cy="1754326"/>
          </a:xfrm>
          <a:prstGeom prst="rect">
            <a:avLst/>
          </a:prstGeom>
        </p:spPr>
        <p:txBody>
          <a:bodyPr wrap="square">
            <a:spAutoFit/>
          </a:bodyPr>
          <a:lstStyle/>
          <a:p>
            <a:r>
              <a:rPr lang="en-US" dirty="0">
                <a:solidFill>
                  <a:srgbClr val="000066"/>
                </a:solidFill>
                <a:latin typeface="LiberationSerif"/>
              </a:rPr>
              <a:t>This means a skydiver with a mass of 75 kg achieves a terminal velocity of about 350 km/h while traveling in a pike (head first) position, minimizing the area and his drag. In a spread-eagle position, that terminal velocity may decrease to about 200 km/h as the area increases. This terminal velocity becomes much smaller after the parachute opens. </a:t>
            </a:r>
            <a:endParaRPr lang="en-US" dirty="0">
              <a:solidFill>
                <a:srgbClr val="000066"/>
              </a:solidFill>
            </a:endParaRPr>
          </a:p>
        </p:txBody>
      </p:sp>
      <p:pic>
        <p:nvPicPr>
          <p:cNvPr id="12" name="Picture 11" descr="Table&#10;&#10;Description automatically generated with low confidence">
            <a:extLst>
              <a:ext uri="{FF2B5EF4-FFF2-40B4-BE49-F238E27FC236}">
                <a16:creationId xmlns:a16="http://schemas.microsoft.com/office/drawing/2014/main" id="{756B00C0-46E1-8443-9664-D6F25A9074D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84475" y="5065570"/>
            <a:ext cx="2030709" cy="1508760"/>
          </a:xfrm>
          <a:prstGeom prst="rect">
            <a:avLst/>
          </a:prstGeom>
        </p:spPr>
      </p:pic>
      <p:pic>
        <p:nvPicPr>
          <p:cNvPr id="13" name="Picture 12" descr="Shape, rectangle&#10;&#10;Description automatically generated">
            <a:extLst>
              <a:ext uri="{FF2B5EF4-FFF2-40B4-BE49-F238E27FC236}">
                <a16:creationId xmlns:a16="http://schemas.microsoft.com/office/drawing/2014/main" id="{C524BD58-BF94-0A4F-9176-E1551773A00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88935" y="4745530"/>
            <a:ext cx="2029968" cy="338328"/>
          </a:xfrm>
          <a:prstGeom prst="rect">
            <a:avLst/>
          </a:prstGeom>
        </p:spPr>
      </p:pic>
      <p:pic>
        <p:nvPicPr>
          <p:cNvPr id="16" name="Picture 2">
            <a:extLst>
              <a:ext uri="{FF2B5EF4-FFF2-40B4-BE49-F238E27FC236}">
                <a16:creationId xmlns:a16="http://schemas.microsoft.com/office/drawing/2014/main" id="{6F4DACF0-0FAF-D547-9361-81FC57A424D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58038" y="5702"/>
            <a:ext cx="2441792" cy="1371600"/>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524516C-0FF1-0945-B20A-C43736579EE2}"/>
              </a:ext>
            </a:extLst>
          </p:cNvPr>
          <p:cNvSpPr/>
          <p:nvPr/>
        </p:nvSpPr>
        <p:spPr>
          <a:xfrm>
            <a:off x="10983083" y="940033"/>
            <a:ext cx="1111475" cy="461665"/>
          </a:xfrm>
          <a:prstGeom prst="rect">
            <a:avLst/>
          </a:prstGeom>
        </p:spPr>
        <p:txBody>
          <a:bodyPr wrap="square">
            <a:spAutoFit/>
          </a:bodyPr>
          <a:lstStyle/>
          <a:p>
            <a:r>
              <a:rPr lang="en-US" sz="800" dirty="0"/>
              <a:t>Image credit: https://</a:t>
            </a:r>
            <a:r>
              <a:rPr lang="en-US" sz="800" dirty="0" err="1"/>
              <a:t>en.wikipedia.org</a:t>
            </a:r>
            <a:r>
              <a:rPr lang="en-US" sz="800" dirty="0"/>
              <a:t>/wiki/Parachuting</a:t>
            </a:r>
          </a:p>
        </p:txBody>
      </p:sp>
    </p:spTree>
    <p:extLst>
      <p:ext uri="{BB962C8B-B14F-4D97-AF65-F5344CB8AC3E}">
        <p14:creationId xmlns:p14="http://schemas.microsoft.com/office/powerpoint/2010/main" val="21376785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a:extLst>
              <a:ext uri="{FF2B5EF4-FFF2-40B4-BE49-F238E27FC236}">
                <a16:creationId xmlns:a16="http://schemas.microsoft.com/office/drawing/2014/main" id="{C3A4F7BB-0ABD-9D4B-BE32-369FB75338CE}"/>
              </a:ext>
            </a:extLst>
          </p:cNvPr>
          <p:cNvSpPr/>
          <p:nvPr/>
        </p:nvSpPr>
        <p:spPr>
          <a:xfrm>
            <a:off x="486695" y="89044"/>
            <a:ext cx="10633587" cy="523220"/>
          </a:xfrm>
          <a:prstGeom prst="rect">
            <a:avLst/>
          </a:prstGeom>
        </p:spPr>
        <p:txBody>
          <a:bodyPr wrap="square">
            <a:spAutoFit/>
          </a:bodyPr>
          <a:lstStyle/>
          <a:p>
            <a:pPr algn="ctr"/>
            <a:r>
              <a:rPr lang="en-US" sz="2800" dirty="0">
                <a:solidFill>
                  <a:srgbClr val="C00000"/>
                </a:solidFill>
                <a:latin typeface="NewBaskervilleStd-Roman"/>
              </a:rPr>
              <a:t>Drag Force and Terminal Speed </a:t>
            </a:r>
          </a:p>
        </p:txBody>
      </p:sp>
      <p:sp>
        <p:nvSpPr>
          <p:cNvPr id="2" name="Rectangle 1">
            <a:extLst>
              <a:ext uri="{FF2B5EF4-FFF2-40B4-BE49-F238E27FC236}">
                <a16:creationId xmlns:a16="http://schemas.microsoft.com/office/drawing/2014/main" id="{C8E2AABA-591C-234D-95C8-77489DA5CCCC}"/>
              </a:ext>
            </a:extLst>
          </p:cNvPr>
          <p:cNvSpPr/>
          <p:nvPr/>
        </p:nvSpPr>
        <p:spPr>
          <a:xfrm>
            <a:off x="486695" y="612264"/>
            <a:ext cx="2207014" cy="430887"/>
          </a:xfrm>
          <a:prstGeom prst="rect">
            <a:avLst/>
          </a:prstGeom>
        </p:spPr>
        <p:txBody>
          <a:bodyPr wrap="none">
            <a:spAutoFit/>
          </a:bodyPr>
          <a:lstStyle/>
          <a:p>
            <a:r>
              <a:rPr lang="en-US" sz="2200" dirty="0">
                <a:solidFill>
                  <a:srgbClr val="008000"/>
                </a:solidFill>
                <a:latin typeface="LiberationSans"/>
              </a:rPr>
              <a:t>Terminal Velocity </a:t>
            </a:r>
            <a:endParaRPr lang="en-US" sz="2200" dirty="0">
              <a:solidFill>
                <a:srgbClr val="008000"/>
              </a:solidFill>
            </a:endParaRPr>
          </a:p>
        </p:txBody>
      </p:sp>
      <p:sp>
        <p:nvSpPr>
          <p:cNvPr id="3" name="Rectangle 2">
            <a:extLst>
              <a:ext uri="{FF2B5EF4-FFF2-40B4-BE49-F238E27FC236}">
                <a16:creationId xmlns:a16="http://schemas.microsoft.com/office/drawing/2014/main" id="{36600764-3C24-1C41-80C4-F4E2D0EBA1C4}"/>
              </a:ext>
            </a:extLst>
          </p:cNvPr>
          <p:cNvSpPr/>
          <p:nvPr/>
        </p:nvSpPr>
        <p:spPr>
          <a:xfrm>
            <a:off x="486695" y="1043151"/>
            <a:ext cx="11052126" cy="1938992"/>
          </a:xfrm>
          <a:prstGeom prst="rect">
            <a:avLst/>
          </a:prstGeom>
        </p:spPr>
        <p:txBody>
          <a:bodyPr wrap="square">
            <a:spAutoFit/>
          </a:bodyPr>
          <a:lstStyle/>
          <a:p>
            <a:r>
              <a:rPr lang="en-US" sz="2000" dirty="0">
                <a:solidFill>
                  <a:srgbClr val="000066"/>
                </a:solidFill>
              </a:rPr>
              <a:t>Consider a skydiver falling through air under the influence of gravity. </a:t>
            </a:r>
          </a:p>
          <a:p>
            <a:r>
              <a:rPr lang="en-US" sz="2000" dirty="0">
                <a:solidFill>
                  <a:srgbClr val="000066"/>
                </a:solidFill>
              </a:rPr>
              <a:t>As the skydiver’s velocity increases, the magnitude of the drag force increases until the magnitude of the drag force is equal to the gravitational force, thus producing a net force of zero. </a:t>
            </a:r>
          </a:p>
          <a:p>
            <a:r>
              <a:rPr lang="en-US" sz="2000" dirty="0"/>
              <a:t>A zero net force means that there is no acceleration. At this point, the person’s velocity remains constant and we say that the person has reached his </a:t>
            </a:r>
            <a:r>
              <a:rPr lang="en-US" sz="2000" b="1" dirty="0">
                <a:solidFill>
                  <a:srgbClr val="000066"/>
                </a:solidFill>
              </a:rPr>
              <a:t>terminal velocity </a:t>
            </a:r>
            <a:r>
              <a:rPr lang="en-US" sz="2000" dirty="0">
                <a:solidFill>
                  <a:srgbClr val="000066"/>
                </a:solidFill>
              </a:rPr>
              <a:t>(</a:t>
            </a:r>
            <a:r>
              <a:rPr lang="en-US" sz="2000" i="1" dirty="0" err="1">
                <a:solidFill>
                  <a:srgbClr val="000066"/>
                </a:solidFill>
              </a:rPr>
              <a:t>v</a:t>
            </a:r>
            <a:r>
              <a:rPr lang="en-US" sz="2000" baseline="-25000" dirty="0" err="1">
                <a:solidFill>
                  <a:srgbClr val="000066"/>
                </a:solidFill>
                <a:latin typeface="Symbol" pitchFamily="2" charset="2"/>
              </a:rPr>
              <a:t>t</a:t>
            </a:r>
            <a:r>
              <a:rPr lang="en-US" sz="2000" dirty="0">
                <a:solidFill>
                  <a:srgbClr val="000066"/>
                </a:solidFill>
              </a:rPr>
              <a:t>). </a:t>
            </a:r>
          </a:p>
          <a:p>
            <a:endParaRPr lang="en-US" sz="2000" dirty="0">
              <a:solidFill>
                <a:srgbClr val="000066"/>
              </a:solidFill>
            </a:endParaRPr>
          </a:p>
        </p:txBody>
      </p:sp>
      <p:pic>
        <p:nvPicPr>
          <p:cNvPr id="8" name="Picture 7" descr="A picture containing text&#10;&#10;Description automatically generated">
            <a:extLst>
              <a:ext uri="{FF2B5EF4-FFF2-40B4-BE49-F238E27FC236}">
                <a16:creationId xmlns:a16="http://schemas.microsoft.com/office/drawing/2014/main" id="{C2023F07-75CE-DC45-BF54-B2EA06D8E5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608" y="2682262"/>
            <a:ext cx="2470484" cy="3200400"/>
          </a:xfrm>
          <a:prstGeom prst="rect">
            <a:avLst/>
          </a:prstGeom>
        </p:spPr>
      </p:pic>
      <p:pic>
        <p:nvPicPr>
          <p:cNvPr id="10" name="Picture 9" descr="Text&#10;&#10;Description automatically generated">
            <a:extLst>
              <a:ext uri="{FF2B5EF4-FFF2-40B4-BE49-F238E27FC236}">
                <a16:creationId xmlns:a16="http://schemas.microsoft.com/office/drawing/2014/main" id="{37A4B604-7486-A242-9349-68CDDB2278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80324" y="2649797"/>
            <a:ext cx="9144000" cy="1466490"/>
          </a:xfrm>
          <a:prstGeom prst="rect">
            <a:avLst/>
          </a:prstGeom>
        </p:spPr>
      </p:pic>
      <p:sp>
        <p:nvSpPr>
          <p:cNvPr id="11" name="Rectangle 10">
            <a:extLst>
              <a:ext uri="{FF2B5EF4-FFF2-40B4-BE49-F238E27FC236}">
                <a16:creationId xmlns:a16="http://schemas.microsoft.com/office/drawing/2014/main" id="{588C30CA-D8D7-6744-8300-BFAF19B41EE1}"/>
              </a:ext>
            </a:extLst>
          </p:cNvPr>
          <p:cNvSpPr/>
          <p:nvPr/>
        </p:nvSpPr>
        <p:spPr>
          <a:xfrm>
            <a:off x="3074652" y="4155918"/>
            <a:ext cx="6809414" cy="1754326"/>
          </a:xfrm>
          <a:prstGeom prst="rect">
            <a:avLst/>
          </a:prstGeom>
        </p:spPr>
        <p:txBody>
          <a:bodyPr wrap="square">
            <a:spAutoFit/>
          </a:bodyPr>
          <a:lstStyle/>
          <a:p>
            <a:r>
              <a:rPr lang="en-US" dirty="0">
                <a:solidFill>
                  <a:srgbClr val="000066"/>
                </a:solidFill>
                <a:latin typeface="LiberationSerif"/>
              </a:rPr>
              <a:t>This means a skydiver with a mass of 75 kg achieves a terminal velocity of about 350 km/h while traveling in a pike (head first) position, minimizing the area and his drag. In a spread-eagle position, that terminal velocity may decrease to about 200 km/h as the area increases. This terminal velocity becomes much smaller after the parachute opens. </a:t>
            </a:r>
            <a:endParaRPr lang="en-US" dirty="0">
              <a:solidFill>
                <a:srgbClr val="000066"/>
              </a:solidFill>
            </a:endParaRPr>
          </a:p>
        </p:txBody>
      </p:sp>
      <p:sp>
        <p:nvSpPr>
          <p:cNvPr id="14" name="Rectangle 13">
            <a:extLst>
              <a:ext uri="{FF2B5EF4-FFF2-40B4-BE49-F238E27FC236}">
                <a16:creationId xmlns:a16="http://schemas.microsoft.com/office/drawing/2014/main" id="{D9E8AE34-6E5D-4447-A37D-16983DFC35E4}"/>
              </a:ext>
            </a:extLst>
          </p:cNvPr>
          <p:cNvSpPr/>
          <p:nvPr/>
        </p:nvSpPr>
        <p:spPr>
          <a:xfrm>
            <a:off x="5112350" y="5614794"/>
            <a:ext cx="1800816" cy="400110"/>
          </a:xfrm>
          <a:prstGeom prst="rect">
            <a:avLst/>
          </a:prstGeom>
        </p:spPr>
        <p:txBody>
          <a:bodyPr wrap="square">
            <a:spAutoFit/>
          </a:bodyPr>
          <a:lstStyle/>
          <a:p>
            <a:r>
              <a:rPr lang="en-US" sz="2000" dirty="0">
                <a:solidFill>
                  <a:srgbClr val="0000CC"/>
                </a:solidFill>
              </a:rPr>
              <a:t>Assignment 6</a:t>
            </a:r>
          </a:p>
        </p:txBody>
      </p:sp>
      <p:sp>
        <p:nvSpPr>
          <p:cNvPr id="15" name="Rectangle 14">
            <a:extLst>
              <a:ext uri="{FF2B5EF4-FFF2-40B4-BE49-F238E27FC236}">
                <a16:creationId xmlns:a16="http://schemas.microsoft.com/office/drawing/2014/main" id="{09F1FA7E-1A7D-834C-8183-45B8FD99C8E4}"/>
              </a:ext>
            </a:extLst>
          </p:cNvPr>
          <p:cNvSpPr/>
          <p:nvPr/>
        </p:nvSpPr>
        <p:spPr>
          <a:xfrm>
            <a:off x="5112350" y="5963808"/>
            <a:ext cx="4412414" cy="923330"/>
          </a:xfrm>
          <a:prstGeom prst="rect">
            <a:avLst/>
          </a:prstGeom>
        </p:spPr>
        <p:txBody>
          <a:bodyPr wrap="square">
            <a:spAutoFit/>
          </a:bodyPr>
          <a:lstStyle/>
          <a:p>
            <a:r>
              <a:rPr lang="en-US" dirty="0">
                <a:latin typeface="LiberationSerif"/>
              </a:rPr>
              <a:t>Find the terminal velocity of an 85-kg skydiver falling in a spread-eagle position. A=0.70 m</a:t>
            </a:r>
            <a:r>
              <a:rPr lang="en-US" baseline="30000" dirty="0">
                <a:latin typeface="LiberationSerif"/>
              </a:rPr>
              <a:t>2</a:t>
            </a:r>
            <a:r>
              <a:rPr lang="en-US" dirty="0">
                <a:latin typeface="LiberationSerif"/>
              </a:rPr>
              <a:t>. </a:t>
            </a:r>
            <a:endParaRPr lang="en-US" dirty="0"/>
          </a:p>
        </p:txBody>
      </p:sp>
      <p:pic>
        <p:nvPicPr>
          <p:cNvPr id="16" name="Picture 15" descr="Table&#10;&#10;Description automatically generated with low confidence">
            <a:extLst>
              <a:ext uri="{FF2B5EF4-FFF2-40B4-BE49-F238E27FC236}">
                <a16:creationId xmlns:a16="http://schemas.microsoft.com/office/drawing/2014/main" id="{76D3C510-9FDA-F74E-B940-DCC92549AC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84475" y="5065570"/>
            <a:ext cx="2030709" cy="1508760"/>
          </a:xfrm>
          <a:prstGeom prst="rect">
            <a:avLst/>
          </a:prstGeom>
        </p:spPr>
      </p:pic>
      <p:pic>
        <p:nvPicPr>
          <p:cNvPr id="17" name="Picture 16" descr="Shape, rectangle&#10;&#10;Description automatically generated">
            <a:extLst>
              <a:ext uri="{FF2B5EF4-FFF2-40B4-BE49-F238E27FC236}">
                <a16:creationId xmlns:a16="http://schemas.microsoft.com/office/drawing/2014/main" id="{9A8265C8-6E1A-6B4F-A989-F340A284F6F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88935" y="4745530"/>
            <a:ext cx="2029968" cy="338328"/>
          </a:xfrm>
          <a:prstGeom prst="rect">
            <a:avLst/>
          </a:prstGeom>
        </p:spPr>
      </p:pic>
      <p:pic>
        <p:nvPicPr>
          <p:cNvPr id="1026" name="Picture 2">
            <a:extLst>
              <a:ext uri="{FF2B5EF4-FFF2-40B4-BE49-F238E27FC236}">
                <a16:creationId xmlns:a16="http://schemas.microsoft.com/office/drawing/2014/main" id="{12904040-2905-E940-8748-89705D6BD56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58038" y="5702"/>
            <a:ext cx="2441792" cy="13716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FFC51B57-CDCD-014B-A041-5F9C02F961F6}"/>
              </a:ext>
            </a:extLst>
          </p:cNvPr>
          <p:cNvSpPr/>
          <p:nvPr/>
        </p:nvSpPr>
        <p:spPr>
          <a:xfrm>
            <a:off x="10983083" y="940033"/>
            <a:ext cx="1111475" cy="461665"/>
          </a:xfrm>
          <a:prstGeom prst="rect">
            <a:avLst/>
          </a:prstGeom>
        </p:spPr>
        <p:txBody>
          <a:bodyPr wrap="square">
            <a:spAutoFit/>
          </a:bodyPr>
          <a:lstStyle/>
          <a:p>
            <a:r>
              <a:rPr lang="en-US" sz="800" dirty="0"/>
              <a:t>Image credit: https://</a:t>
            </a:r>
            <a:r>
              <a:rPr lang="en-US" sz="800" dirty="0" err="1"/>
              <a:t>en.wikipedia.org</a:t>
            </a:r>
            <a:r>
              <a:rPr lang="en-US" sz="800" dirty="0"/>
              <a:t>/wiki/Parachuting</a:t>
            </a:r>
          </a:p>
        </p:txBody>
      </p:sp>
    </p:spTree>
    <p:extLst>
      <p:ext uri="{BB962C8B-B14F-4D97-AF65-F5344CB8AC3E}">
        <p14:creationId xmlns:p14="http://schemas.microsoft.com/office/powerpoint/2010/main" val="4697949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9BB3579-A34D-462C-BD05-B0BFCC66F7F5}"/>
              </a:ext>
            </a:extLst>
          </p:cNvPr>
          <p:cNvSpPr>
            <a:spLocks noGrp="1"/>
          </p:cNvSpPr>
          <p:nvPr>
            <p:ph type="title"/>
          </p:nvPr>
        </p:nvSpPr>
        <p:spPr/>
        <p:txBody>
          <a:bodyPr>
            <a:normAutofit/>
          </a:bodyPr>
          <a:lstStyle/>
          <a:p>
            <a:r>
              <a:rPr lang="en-US" dirty="0"/>
              <a:t>Attribution</a:t>
            </a:r>
          </a:p>
        </p:txBody>
      </p:sp>
      <p:sp>
        <p:nvSpPr>
          <p:cNvPr id="13" name="Text Placeholder 12">
            <a:extLst>
              <a:ext uri="{FF2B5EF4-FFF2-40B4-BE49-F238E27FC236}">
                <a16:creationId xmlns:a16="http://schemas.microsoft.com/office/drawing/2014/main" id="{1D300BD5-7725-41CA-8827-BBF2FEBB4465}"/>
              </a:ext>
            </a:extLst>
          </p:cNvPr>
          <p:cNvSpPr>
            <a:spLocks noGrp="1"/>
          </p:cNvSpPr>
          <p:nvPr>
            <p:ph type="body" idx="1"/>
          </p:nvPr>
        </p:nvSpPr>
        <p:spPr/>
        <p:txBody>
          <a:bodyPr/>
          <a:lstStyle/>
          <a:p>
            <a:r>
              <a:rPr lang="en-US" dirty="0"/>
              <a:t>These slides are a derivative of the “</a:t>
            </a:r>
            <a:r>
              <a:rPr lang="en-US" dirty="0">
                <a:hlinkClick r:id="rId2"/>
              </a:rPr>
              <a:t>University Physics Vol. 1</a:t>
            </a:r>
            <a:r>
              <a:rPr lang="en-US" dirty="0"/>
              <a:t>” slides by </a:t>
            </a:r>
            <a:r>
              <a:rPr lang="en-US" dirty="0">
                <a:hlinkClick r:id="rId3"/>
              </a:rPr>
              <a:t>OpenStax</a:t>
            </a:r>
            <a:r>
              <a:rPr lang="en-US" dirty="0"/>
              <a:t>, used under a </a:t>
            </a:r>
            <a:r>
              <a:rPr lang="en-US" dirty="0">
                <a:hlinkClick r:id="rId4"/>
              </a:rPr>
              <a:t>Creative Commons Attribution 4.0 </a:t>
            </a:r>
            <a:r>
              <a:rPr lang="en-US" dirty="0"/>
              <a:t>license by Mkhitar Hobosyan.</a:t>
            </a:r>
          </a:p>
        </p:txBody>
      </p:sp>
    </p:spTree>
    <p:extLst>
      <p:ext uri="{BB962C8B-B14F-4D97-AF65-F5344CB8AC3E}">
        <p14:creationId xmlns:p14="http://schemas.microsoft.com/office/powerpoint/2010/main" val="23226454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7412</TotalTime>
  <Words>2981</Words>
  <Application>Microsoft Office PowerPoint</Application>
  <PresentationFormat>Widescreen</PresentationFormat>
  <Paragraphs>189</Paragraphs>
  <Slides>30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30</vt:i4>
      </vt:variant>
    </vt:vector>
  </HeadingPairs>
  <TitlesOfParts>
    <vt:vector size="41" baseType="lpstr">
      <vt:lpstr>Arial</vt:lpstr>
      <vt:lpstr>Calibri</vt:lpstr>
      <vt:lpstr>Calibri Light</vt:lpstr>
      <vt:lpstr>Cambria Math</vt:lpstr>
      <vt:lpstr>LiberationSans</vt:lpstr>
      <vt:lpstr>LiberationSerif</vt:lpstr>
      <vt:lpstr>NewBaskervilleStd-Roman</vt:lpstr>
      <vt:lpstr>Roboto</vt:lpstr>
      <vt:lpstr>STIXGeneral</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Attribution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Mkhitar Hobosyan</dc:creator>
  <cp:lastModifiedBy>Justin White</cp:lastModifiedBy>
  <cp:revision>270</cp:revision>
  <dcterms:created xsi:type="dcterms:W3CDTF">2020-07-24T02:56:39Z</dcterms:created>
  <dcterms:modified xsi:type="dcterms:W3CDTF">2021-12-15T17:53:24Z</dcterms:modified>
</cp:coreProperties>
</file>