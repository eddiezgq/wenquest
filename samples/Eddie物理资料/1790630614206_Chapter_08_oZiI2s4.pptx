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98" r:id="rId2"/>
    <p:sldId id="517" r:id="rId3"/>
    <p:sldId id="553" r:id="rId4"/>
    <p:sldId id="558" r:id="rId5"/>
    <p:sldId id="560" r:id="rId6"/>
    <p:sldId id="559" r:id="rId7"/>
    <p:sldId id="554" r:id="rId8"/>
    <p:sldId id="563" r:id="rId9"/>
    <p:sldId id="561" r:id="rId10"/>
    <p:sldId id="562" r:id="rId11"/>
    <p:sldId id="556" r:id="rId12"/>
    <p:sldId id="567" r:id="rId13"/>
    <p:sldId id="564" r:id="rId14"/>
    <p:sldId id="568" r:id="rId15"/>
    <p:sldId id="565" r:id="rId16"/>
    <p:sldId id="566" r:id="rId17"/>
    <p:sldId id="557" r:id="rId18"/>
    <p:sldId id="549" r:id="rId19"/>
    <p:sldId id="569" r:id="rId20"/>
    <p:sldId id="36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11D3"/>
    <a:srgbClr val="008000"/>
    <a:srgbClr val="FF6600"/>
    <a:srgbClr val="000066"/>
    <a:srgbClr val="003399"/>
    <a:srgbClr val="FFE3BD"/>
    <a:srgbClr val="A50021"/>
    <a:srgbClr val="3B124D"/>
    <a:srgbClr val="0000CC"/>
    <a:srgbClr val="F1D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926" autoAdjust="0"/>
    <p:restoredTop sz="94059" autoAdjust="0"/>
  </p:normalViewPr>
  <p:slideViewPr>
    <p:cSldViewPr snapToGrid="0">
      <p:cViewPr varScale="1">
        <p:scale>
          <a:sx n="77" d="100"/>
          <a:sy n="77" d="100"/>
        </p:scale>
        <p:origin x="86"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A271F1-787B-4F17-8E58-0893057F05A7}" type="slidenum">
              <a:rPr lang="en-US" smtClean="0"/>
              <a:t>9</a:t>
            </a:fld>
            <a:endParaRPr lang="en-US"/>
          </a:p>
        </p:txBody>
      </p:sp>
    </p:spTree>
    <p:extLst>
      <p:ext uri="{BB962C8B-B14F-4D97-AF65-F5344CB8AC3E}">
        <p14:creationId xmlns:p14="http://schemas.microsoft.com/office/powerpoint/2010/main" val="226100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s://phet.colorado.edu/sims/html/pendulum-lab/latest/pendulum-lab_en.html" TargetMode="Externa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1000" r="-11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8390501" y="2365188"/>
            <a:ext cx="3801498" cy="1587648"/>
          </a:xfrm>
          <a:prstGeom prst="rect">
            <a:avLst/>
          </a:prstGeom>
          <a:solidFill>
            <a:srgbClr val="000066">
              <a:alpha val="40000"/>
            </a:srgbClr>
          </a:solidFill>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8 </a:t>
            </a:r>
          </a:p>
          <a:p>
            <a:pPr>
              <a:spcAft>
                <a:spcPts val="600"/>
              </a:spcAft>
            </a:pPr>
            <a:r>
              <a:rPr lang="en-US" altLang="en-US" sz="3200" dirty="0"/>
              <a:t>Potential Energy and Conservation of Energy</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CF49F42D-A1FF-234B-BD25-2129A3225046}"/>
              </a:ext>
            </a:extLst>
          </p:cNvPr>
          <p:cNvSpPr/>
          <p:nvPr/>
        </p:nvSpPr>
        <p:spPr>
          <a:xfrm>
            <a:off x="8653670" y="6625340"/>
            <a:ext cx="3538329" cy="707886"/>
          </a:xfrm>
          <a:prstGeom prst="rect">
            <a:avLst/>
          </a:prstGeom>
        </p:spPr>
        <p:txBody>
          <a:bodyPr wrap="square">
            <a:spAutoFit/>
          </a:bodyPr>
          <a:lstStyle/>
          <a:p>
            <a:r>
              <a:rPr lang="en-US" sz="1000" dirty="0"/>
              <a:t>Image </a:t>
            </a:r>
            <a:r>
              <a:rPr lang="en-US" sz="1000" dirty="0" err="1"/>
              <a:t>credit:modification</a:t>
            </a:r>
            <a:r>
              <a:rPr lang="en-US" sz="1000" dirty="0"/>
              <a:t> of work by Roland </a:t>
            </a:r>
            <a:r>
              <a:rPr lang="en-US" sz="1000" dirty="0" err="1"/>
              <a:t>Tanglao</a:t>
            </a:r>
            <a:r>
              <a:rPr lang="en-US" sz="1000" dirty="0"/>
              <a:t> </a:t>
            </a:r>
          </a:p>
          <a:p>
            <a:endParaRPr lang="en-US" sz="1000" dirty="0"/>
          </a:p>
          <a:p>
            <a:r>
              <a:rPr lang="en-US" sz="1000" dirty="0"/>
              <a:t> </a:t>
            </a:r>
          </a:p>
          <a:p>
            <a:endParaRPr lang="en-US" sz="1000"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Potential Energy Basics </a:t>
            </a:r>
          </a:p>
        </p:txBody>
      </p:sp>
      <p:pic>
        <p:nvPicPr>
          <p:cNvPr id="6" name="Picture Placeholder 1" descr="An illustration of a football’s trajectory and energy. The kicker kicks the ball, doing work on it and giving it maximum kinetic energy. The potential energy is minimum. This is point one. On the way up, at point two, the kinetic energy of the ball decreases and its potential energy decreases. At the highest point, point three, the kinetic energy of the ball is at its minimum and its potential energy is maximum. As the ball descends, point four, the kinetic energy increases and the potential energy decreases. The receiver catches the ball at the same height above the ground as it was kicked, at point five. The kinetic energy equals maximum, potential energy is minimum.">
            <a:extLst>
              <a:ext uri="{FF2B5EF4-FFF2-40B4-BE49-F238E27FC236}">
                <a16:creationId xmlns:a16="http://schemas.microsoft.com/office/drawing/2014/main" id="{60B02F69-6343-CD45-BD6B-B34925492106}"/>
              </a:ext>
            </a:extLst>
          </p:cNvPr>
          <p:cNvPicPr>
            <a:picLocks noChangeAspect="1"/>
          </p:cNvPicPr>
          <p:nvPr/>
        </p:nvPicPr>
        <p:blipFill>
          <a:blip r:embed="rId3" cstate="email">
            <a:extLst>
              <a:ext uri="{28A0092B-C50C-407E-A947-70E740481C1C}">
                <a14:useLocalDpi xmlns:a14="http://schemas.microsoft.com/office/drawing/2010/main" val="0"/>
              </a:ext>
            </a:extLst>
          </a:blip>
          <a:srcRect t="-4198" b="-4198"/>
          <a:stretch>
            <a:fillRect/>
          </a:stretch>
        </p:blipFill>
        <p:spPr>
          <a:xfrm>
            <a:off x="404190" y="802276"/>
            <a:ext cx="8062913" cy="3500071"/>
          </a:xfrm>
          <a:prstGeom prst="rect">
            <a:avLst/>
          </a:prstGeom>
        </p:spPr>
      </p:pic>
      <p:sp>
        <p:nvSpPr>
          <p:cNvPr id="7" name="Text Placeholder 6">
            <a:extLst>
              <a:ext uri="{FF2B5EF4-FFF2-40B4-BE49-F238E27FC236}">
                <a16:creationId xmlns:a16="http://schemas.microsoft.com/office/drawing/2014/main" id="{3824C01B-98C6-DB4F-BA6A-C5C6D7097A5B}"/>
              </a:ext>
            </a:extLst>
          </p:cNvPr>
          <p:cNvSpPr txBox="1">
            <a:spLocks/>
          </p:cNvSpPr>
          <p:nvPr/>
        </p:nvSpPr>
        <p:spPr>
          <a:xfrm>
            <a:off x="404189" y="4266581"/>
            <a:ext cx="7164216"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7030A0"/>
                </a:solidFill>
              </a:rPr>
              <a:t>As a football starts its descent toward the wide receiver, gravitational potential energy is converted back into </a:t>
            </a:r>
            <a:r>
              <a:rPr lang="hu-HU" sz="2000" dirty="0" err="1">
                <a:solidFill>
                  <a:srgbClr val="7030A0"/>
                </a:solidFill>
              </a:rPr>
              <a:t>kinetic</a:t>
            </a:r>
            <a:r>
              <a:rPr lang="hu-HU" sz="2000" dirty="0">
                <a:solidFill>
                  <a:srgbClr val="7030A0"/>
                </a:solidFill>
              </a:rPr>
              <a:t> </a:t>
            </a:r>
            <a:r>
              <a:rPr lang="hu-HU" sz="2000" dirty="0" err="1">
                <a:solidFill>
                  <a:srgbClr val="7030A0"/>
                </a:solidFill>
              </a:rPr>
              <a:t>energy</a:t>
            </a:r>
            <a:r>
              <a:rPr lang="hu-HU" sz="2000" dirty="0">
                <a:solidFill>
                  <a:srgbClr val="7030A0"/>
                </a:solidFill>
              </a:rPr>
              <a:t>.</a:t>
            </a:r>
            <a:endParaRPr lang="en-US" sz="2000" dirty="0">
              <a:solidFill>
                <a:srgbClr val="7030A0"/>
              </a:solidFill>
            </a:endParaRPr>
          </a:p>
        </p:txBody>
      </p:sp>
      <p:sp>
        <p:nvSpPr>
          <p:cNvPr id="2" name="Rectangle 1">
            <a:extLst>
              <a:ext uri="{FF2B5EF4-FFF2-40B4-BE49-F238E27FC236}">
                <a16:creationId xmlns:a16="http://schemas.microsoft.com/office/drawing/2014/main" id="{4432559E-0C3A-4E4D-97B4-7AA61EFC0D2A}"/>
              </a:ext>
            </a:extLst>
          </p:cNvPr>
          <p:cNvSpPr/>
          <p:nvPr/>
        </p:nvSpPr>
        <p:spPr>
          <a:xfrm>
            <a:off x="8640413" y="1065001"/>
            <a:ext cx="3324886" cy="3785652"/>
          </a:xfrm>
          <a:prstGeom prst="rect">
            <a:avLst/>
          </a:prstGeom>
        </p:spPr>
        <p:txBody>
          <a:bodyPr wrap="square">
            <a:spAutoFit/>
          </a:bodyPr>
          <a:lstStyle/>
          <a:p>
            <a:r>
              <a:rPr lang="en-US" sz="2000" dirty="0">
                <a:solidFill>
                  <a:srgbClr val="C00000"/>
                </a:solidFill>
                <a:latin typeface="LiberationSerif"/>
              </a:rPr>
              <a:t>We can define the difference of potential energy from point </a:t>
            </a:r>
            <a:r>
              <a:rPr lang="en-US" sz="2000" i="1" dirty="0">
                <a:solidFill>
                  <a:srgbClr val="C00000"/>
                </a:solidFill>
                <a:latin typeface="LiberationSerif"/>
              </a:rPr>
              <a:t>A </a:t>
            </a:r>
            <a:r>
              <a:rPr lang="en-US" sz="2000" dirty="0">
                <a:solidFill>
                  <a:srgbClr val="C00000"/>
                </a:solidFill>
                <a:latin typeface="LiberationSerif"/>
              </a:rPr>
              <a:t>to point </a:t>
            </a:r>
            <a:r>
              <a:rPr lang="en-US" sz="2000" i="1" dirty="0">
                <a:solidFill>
                  <a:srgbClr val="C00000"/>
                </a:solidFill>
                <a:latin typeface="LiberationSerif"/>
              </a:rPr>
              <a:t>B </a:t>
            </a:r>
            <a:r>
              <a:rPr lang="en-US" sz="2000" dirty="0">
                <a:solidFill>
                  <a:srgbClr val="C00000"/>
                </a:solidFill>
                <a:latin typeface="LiberationSerif"/>
              </a:rPr>
              <a:t>as the negative of the work done:</a:t>
            </a:r>
          </a:p>
          <a:p>
            <a:endParaRPr lang="en-US" sz="2000" dirty="0">
              <a:solidFill>
                <a:srgbClr val="C00000"/>
              </a:solidFill>
              <a:latin typeface="LiberationSerif"/>
            </a:endParaRPr>
          </a:p>
          <a:p>
            <a:endParaRPr lang="en-US" sz="2000" dirty="0">
              <a:solidFill>
                <a:srgbClr val="C00000"/>
              </a:solidFill>
              <a:latin typeface="LiberationSerif"/>
            </a:endParaRPr>
          </a:p>
          <a:p>
            <a:r>
              <a:rPr lang="en-US" sz="2000" dirty="0">
                <a:solidFill>
                  <a:srgbClr val="C00000"/>
                </a:solidFill>
                <a:latin typeface="LiberationSerif"/>
              </a:rPr>
              <a:t>or </a:t>
            </a:r>
          </a:p>
          <a:p>
            <a:endParaRPr lang="en-US" sz="2000" dirty="0">
              <a:solidFill>
                <a:srgbClr val="C00000"/>
              </a:solidFill>
              <a:latin typeface="LiberationSerif"/>
            </a:endParaRPr>
          </a:p>
          <a:p>
            <a:endParaRPr lang="en-US" sz="2000" dirty="0">
              <a:solidFill>
                <a:srgbClr val="C00000"/>
              </a:solidFill>
              <a:latin typeface="LiberationSerif"/>
            </a:endParaRPr>
          </a:p>
          <a:p>
            <a:r>
              <a:rPr lang="en-US" sz="2000" dirty="0">
                <a:solidFill>
                  <a:srgbClr val="C00000"/>
                </a:solidFill>
                <a:latin typeface="LiberationSerif"/>
              </a:rPr>
              <a:t>Taking initial potential energy as zero, the potential energy is just </a:t>
            </a:r>
            <a:endParaRPr lang="en-US" sz="2000" dirty="0">
              <a:solidFill>
                <a:srgbClr val="C00000"/>
              </a:solidFill>
            </a:endParaRPr>
          </a:p>
        </p:txBody>
      </p:sp>
      <p:pic>
        <p:nvPicPr>
          <p:cNvPr id="8" name="Picture 7" descr="Text&#10;&#10;Description automatically generated with medium confidence">
            <a:extLst>
              <a:ext uri="{FF2B5EF4-FFF2-40B4-BE49-F238E27FC236}">
                <a16:creationId xmlns:a16="http://schemas.microsoft.com/office/drawing/2014/main" id="{A1FCCE44-5EBD-5B4A-BC3F-673ACD00CA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9210" y="2390815"/>
            <a:ext cx="2768600" cy="520700"/>
          </a:xfrm>
          <a:prstGeom prst="rect">
            <a:avLst/>
          </a:prstGeom>
        </p:spPr>
      </p:pic>
      <p:pic>
        <p:nvPicPr>
          <p:cNvPr id="10" name="Picture 9" descr="A picture containing text, clock&#10;&#10;Description automatically generated">
            <a:extLst>
              <a:ext uri="{FF2B5EF4-FFF2-40B4-BE49-F238E27FC236}">
                <a16:creationId xmlns:a16="http://schemas.microsoft.com/office/drawing/2014/main" id="{0B272C0D-64A1-2044-BA23-8094FF45EB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19210" y="3276948"/>
            <a:ext cx="2565400" cy="469900"/>
          </a:xfrm>
          <a:prstGeom prst="rect">
            <a:avLst/>
          </a:prstGeom>
        </p:spPr>
      </p:pic>
      <p:pic>
        <p:nvPicPr>
          <p:cNvPr id="12" name="Picture 11">
            <a:extLst>
              <a:ext uri="{FF2B5EF4-FFF2-40B4-BE49-F238E27FC236}">
                <a16:creationId xmlns:a16="http://schemas.microsoft.com/office/drawing/2014/main" id="{5F37D496-9211-8542-99E2-08532B2853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8552" y="4456072"/>
            <a:ext cx="736600" cy="393700"/>
          </a:xfrm>
          <a:prstGeom prst="rect">
            <a:avLst/>
          </a:prstGeom>
        </p:spPr>
      </p:pic>
      <p:sp>
        <p:nvSpPr>
          <p:cNvPr id="13" name="Rectangle 12">
            <a:extLst>
              <a:ext uri="{FF2B5EF4-FFF2-40B4-BE49-F238E27FC236}">
                <a16:creationId xmlns:a16="http://schemas.microsoft.com/office/drawing/2014/main" id="{1B126456-7DC9-F448-B097-CC92BE79668E}"/>
              </a:ext>
            </a:extLst>
          </p:cNvPr>
          <p:cNvSpPr/>
          <p:nvPr/>
        </p:nvSpPr>
        <p:spPr>
          <a:xfrm>
            <a:off x="404188" y="5079461"/>
            <a:ext cx="11383622" cy="707886"/>
          </a:xfrm>
          <a:prstGeom prst="rect">
            <a:avLst/>
          </a:prstGeom>
        </p:spPr>
        <p:txBody>
          <a:bodyPr wrap="square">
            <a:spAutoFit/>
          </a:bodyPr>
          <a:lstStyle/>
          <a:p>
            <a:r>
              <a:rPr lang="en-US" sz="2000" dirty="0">
                <a:latin typeface="LiberationSerif"/>
              </a:rPr>
              <a:t>As long as there is no friction or air resistance, the change in kinetic energy of the football equals the change in gravitational potential energy of the football. This can be generalized to any potential energy: </a:t>
            </a:r>
            <a:endParaRPr lang="en-US" sz="2000" dirty="0"/>
          </a:p>
        </p:txBody>
      </p:sp>
      <p:pic>
        <p:nvPicPr>
          <p:cNvPr id="15" name="Picture 14" descr="A picture containing text, clipart&#10;&#10;Description automatically generated">
            <a:extLst>
              <a:ext uri="{FF2B5EF4-FFF2-40B4-BE49-F238E27FC236}">
                <a16:creationId xmlns:a16="http://schemas.microsoft.com/office/drawing/2014/main" id="{78334178-E953-9941-8D57-1BA0D802B2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10703" y="5852524"/>
            <a:ext cx="1587500" cy="406400"/>
          </a:xfrm>
          <a:prstGeom prst="rect">
            <a:avLst/>
          </a:prstGeom>
        </p:spPr>
      </p:pic>
    </p:spTree>
    <p:extLst>
      <p:ext uri="{BB962C8B-B14F-4D97-AF65-F5344CB8AC3E}">
        <p14:creationId xmlns:p14="http://schemas.microsoft.com/office/powerpoint/2010/main" val="9491556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Types of Potential Energy </a:t>
            </a:r>
          </a:p>
        </p:txBody>
      </p:sp>
      <p:sp>
        <p:nvSpPr>
          <p:cNvPr id="2" name="Rectangle 1">
            <a:extLst>
              <a:ext uri="{FF2B5EF4-FFF2-40B4-BE49-F238E27FC236}">
                <a16:creationId xmlns:a16="http://schemas.microsoft.com/office/drawing/2014/main" id="{20CC7323-47B0-E44D-95CB-C4F47EEE4CB1}"/>
              </a:ext>
            </a:extLst>
          </p:cNvPr>
          <p:cNvSpPr/>
          <p:nvPr/>
        </p:nvSpPr>
        <p:spPr>
          <a:xfrm>
            <a:off x="371265" y="802276"/>
            <a:ext cx="6129178" cy="430887"/>
          </a:xfrm>
          <a:prstGeom prst="rect">
            <a:avLst/>
          </a:prstGeom>
        </p:spPr>
        <p:txBody>
          <a:bodyPr wrap="none">
            <a:spAutoFit/>
          </a:bodyPr>
          <a:lstStyle/>
          <a:p>
            <a:r>
              <a:rPr lang="en-US" sz="2200" dirty="0">
                <a:solidFill>
                  <a:srgbClr val="3611D3"/>
                </a:solidFill>
                <a:latin typeface="LiberationSans"/>
              </a:rPr>
              <a:t>Gravitational potential energy near Earth’s surface </a:t>
            </a:r>
            <a:endParaRPr lang="en-US" sz="2200" dirty="0">
              <a:solidFill>
                <a:srgbClr val="3611D3"/>
              </a:solidFill>
            </a:endParaRPr>
          </a:p>
        </p:txBody>
      </p:sp>
      <p:sp>
        <p:nvSpPr>
          <p:cNvPr id="3" name="Rectangle 2">
            <a:extLst>
              <a:ext uri="{FF2B5EF4-FFF2-40B4-BE49-F238E27FC236}">
                <a16:creationId xmlns:a16="http://schemas.microsoft.com/office/drawing/2014/main" id="{422AF394-7FB8-F842-A930-7BAF1EB357E0}"/>
              </a:ext>
            </a:extLst>
          </p:cNvPr>
          <p:cNvSpPr/>
          <p:nvPr/>
        </p:nvSpPr>
        <p:spPr>
          <a:xfrm>
            <a:off x="371265" y="1807122"/>
            <a:ext cx="8026549" cy="707886"/>
          </a:xfrm>
          <a:prstGeom prst="rect">
            <a:avLst/>
          </a:prstGeom>
        </p:spPr>
        <p:txBody>
          <a:bodyPr wrap="square">
            <a:spAutoFit/>
          </a:bodyPr>
          <a:lstStyle/>
          <a:p>
            <a:r>
              <a:rPr lang="en-US" sz="2000" dirty="0">
                <a:solidFill>
                  <a:srgbClr val="C00000"/>
                </a:solidFill>
                <a:latin typeface="LiberationSerif"/>
              </a:rPr>
              <a:t>The gravitational potential energy function near Earth’s surface is</a:t>
            </a:r>
          </a:p>
          <a:p>
            <a:r>
              <a:rPr lang="en-US" sz="2000" dirty="0">
                <a:solidFill>
                  <a:srgbClr val="C00000"/>
                </a:solidFill>
                <a:latin typeface="LiberationSerif"/>
              </a:rPr>
              <a:t>where the constant can be taken as zero at some convenient point. </a:t>
            </a:r>
            <a:endParaRPr lang="en-US" sz="2000" dirty="0">
              <a:solidFill>
                <a:srgbClr val="C00000"/>
              </a:solidFill>
            </a:endParaRPr>
          </a:p>
        </p:txBody>
      </p:sp>
      <p:pic>
        <p:nvPicPr>
          <p:cNvPr id="7" name="Picture 6" descr="Text&#10;&#10;Description automatically generated with medium confidence">
            <a:extLst>
              <a:ext uri="{FF2B5EF4-FFF2-40B4-BE49-F238E27FC236}">
                <a16:creationId xmlns:a16="http://schemas.microsoft.com/office/drawing/2014/main" id="{C12BAE1F-4AA9-124E-AFAF-ABADB483E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5242" y="1247778"/>
            <a:ext cx="3619500" cy="4699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DC8F1C64-4337-4E46-AEB2-B277BCD43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3560" y="1770686"/>
            <a:ext cx="2095500" cy="495300"/>
          </a:xfrm>
          <a:prstGeom prst="rect">
            <a:avLst/>
          </a:prstGeom>
        </p:spPr>
      </p:pic>
      <p:sp>
        <p:nvSpPr>
          <p:cNvPr id="10" name="Rectangle 9">
            <a:extLst>
              <a:ext uri="{FF2B5EF4-FFF2-40B4-BE49-F238E27FC236}">
                <a16:creationId xmlns:a16="http://schemas.microsoft.com/office/drawing/2014/main" id="{9C65D685-39A9-EE4F-B973-7FB75D1D5C4E}"/>
              </a:ext>
            </a:extLst>
          </p:cNvPr>
          <p:cNvSpPr/>
          <p:nvPr/>
        </p:nvSpPr>
        <p:spPr>
          <a:xfrm>
            <a:off x="371265" y="2551444"/>
            <a:ext cx="11689927" cy="2000548"/>
          </a:xfrm>
          <a:prstGeom prst="rect">
            <a:avLst/>
          </a:prstGeom>
        </p:spPr>
        <p:txBody>
          <a:bodyPr wrap="square">
            <a:spAutoFit/>
          </a:bodyPr>
          <a:lstStyle/>
          <a:p>
            <a:r>
              <a:rPr lang="en-US" sz="2200" dirty="0">
                <a:solidFill>
                  <a:srgbClr val="008000"/>
                </a:solidFill>
                <a:latin typeface="LiberationSans"/>
              </a:rPr>
              <a:t>Example</a:t>
            </a:r>
          </a:p>
          <a:p>
            <a:r>
              <a:rPr lang="en-US" sz="2000" dirty="0">
                <a:latin typeface="LiberationSans"/>
              </a:rPr>
              <a:t>The summit of Great Blue Hill in Milton, MA, is 147 m above its base and has an elevation above sea level of 195 m. A 75-kg hiker ascends from the base to the summit. What is the gravitational potential energy of the hiker-Earth system with respect to zero gravitational potential energy at base height, when the hiker is (a) at the base of the hill, (b) at the summit, and (c) at sea level, afterward? </a:t>
            </a:r>
          </a:p>
          <a:p>
            <a:endParaRPr lang="en-US" sz="2200" dirty="0">
              <a:solidFill>
                <a:srgbClr val="008000"/>
              </a:solidFill>
              <a:latin typeface="LiberationSans"/>
            </a:endParaRPr>
          </a:p>
        </p:txBody>
      </p:sp>
      <p:pic>
        <p:nvPicPr>
          <p:cNvPr id="12" name="Picture 11" descr="A picture containing text&#10;&#10;Description automatically generated">
            <a:extLst>
              <a:ext uri="{FF2B5EF4-FFF2-40B4-BE49-F238E27FC236}">
                <a16:creationId xmlns:a16="http://schemas.microsoft.com/office/drawing/2014/main" id="{492961B0-ED91-8F4B-B885-92409DCCC9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7521" y="4264176"/>
            <a:ext cx="9880600" cy="1358900"/>
          </a:xfrm>
          <a:prstGeom prst="rect">
            <a:avLst/>
          </a:prstGeom>
        </p:spPr>
      </p:pic>
    </p:spTree>
    <p:extLst>
      <p:ext uri="{BB962C8B-B14F-4D97-AF65-F5344CB8AC3E}">
        <p14:creationId xmlns:p14="http://schemas.microsoft.com/office/powerpoint/2010/main" val="77342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Types of Potential Energy </a:t>
            </a:r>
          </a:p>
        </p:txBody>
      </p:sp>
      <p:sp>
        <p:nvSpPr>
          <p:cNvPr id="2" name="Rectangle 1">
            <a:extLst>
              <a:ext uri="{FF2B5EF4-FFF2-40B4-BE49-F238E27FC236}">
                <a16:creationId xmlns:a16="http://schemas.microsoft.com/office/drawing/2014/main" id="{C7C0CFCA-641F-CC4B-8B68-439EBF1B6A80}"/>
              </a:ext>
            </a:extLst>
          </p:cNvPr>
          <p:cNvSpPr/>
          <p:nvPr/>
        </p:nvSpPr>
        <p:spPr>
          <a:xfrm>
            <a:off x="609470" y="747867"/>
            <a:ext cx="2914772" cy="430887"/>
          </a:xfrm>
          <a:prstGeom prst="rect">
            <a:avLst/>
          </a:prstGeom>
        </p:spPr>
        <p:txBody>
          <a:bodyPr wrap="none">
            <a:spAutoFit/>
          </a:bodyPr>
          <a:lstStyle/>
          <a:p>
            <a:r>
              <a:rPr lang="en-US" sz="2200" dirty="0">
                <a:solidFill>
                  <a:srgbClr val="3611D3"/>
                </a:solidFill>
                <a:latin typeface="LiberationSans"/>
              </a:rPr>
              <a:t>Elastic potential energy </a:t>
            </a:r>
            <a:endParaRPr lang="en-US" sz="2200" dirty="0">
              <a:solidFill>
                <a:srgbClr val="3611D3"/>
              </a:solidFill>
            </a:endParaRPr>
          </a:p>
        </p:txBody>
      </p:sp>
      <p:sp>
        <p:nvSpPr>
          <p:cNvPr id="3" name="Rectangle 2">
            <a:extLst>
              <a:ext uri="{FF2B5EF4-FFF2-40B4-BE49-F238E27FC236}">
                <a16:creationId xmlns:a16="http://schemas.microsoft.com/office/drawing/2014/main" id="{B1E11840-A2DD-2645-95B1-36EAB88C348E}"/>
              </a:ext>
            </a:extLst>
          </p:cNvPr>
          <p:cNvSpPr/>
          <p:nvPr/>
        </p:nvSpPr>
        <p:spPr>
          <a:xfrm>
            <a:off x="609470" y="1171608"/>
            <a:ext cx="10800652" cy="707886"/>
          </a:xfrm>
          <a:prstGeom prst="rect">
            <a:avLst/>
          </a:prstGeom>
        </p:spPr>
        <p:txBody>
          <a:bodyPr wrap="square">
            <a:spAutoFit/>
          </a:bodyPr>
          <a:lstStyle/>
          <a:p>
            <a:r>
              <a:rPr lang="en-US" sz="2000" dirty="0">
                <a:solidFill>
                  <a:srgbClr val="C00000"/>
                </a:solidFill>
                <a:latin typeface="LiberationSerif"/>
              </a:rPr>
              <a:t>We have already seen that the work done by a perfectly elastic spring, in one dimension, depends only on the spring constant and the squares of the displacements from the unstretched position:</a:t>
            </a:r>
            <a:endParaRPr lang="en-US" sz="2000" dirty="0">
              <a:solidFill>
                <a:srgbClr val="C00000"/>
              </a:solidFill>
            </a:endParaRPr>
          </a:p>
        </p:txBody>
      </p:sp>
      <p:sp>
        <p:nvSpPr>
          <p:cNvPr id="7" name="Rectangle 6">
            <a:extLst>
              <a:ext uri="{FF2B5EF4-FFF2-40B4-BE49-F238E27FC236}">
                <a16:creationId xmlns:a16="http://schemas.microsoft.com/office/drawing/2014/main" id="{570636D2-4AFC-EC4F-89A8-090DEECDFDC1}"/>
              </a:ext>
            </a:extLst>
          </p:cNvPr>
          <p:cNvSpPr/>
          <p:nvPr/>
        </p:nvSpPr>
        <p:spPr>
          <a:xfrm>
            <a:off x="692897" y="2524424"/>
            <a:ext cx="10906539" cy="707886"/>
          </a:xfrm>
          <a:prstGeom prst="rect">
            <a:avLst/>
          </a:prstGeom>
        </p:spPr>
        <p:txBody>
          <a:bodyPr wrap="square">
            <a:spAutoFit/>
          </a:bodyPr>
          <a:lstStyle/>
          <a:p>
            <a:r>
              <a:rPr lang="en-US" sz="2000" dirty="0">
                <a:solidFill>
                  <a:srgbClr val="C00000"/>
                </a:solidFill>
                <a:latin typeface="LiberationSerif"/>
              </a:rPr>
              <a:t>We can define the difference of elastic potential energy for a spring force as the negative of the work done by the spring force in this equation: </a:t>
            </a:r>
            <a:endParaRPr lang="en-US" sz="2000" dirty="0">
              <a:solidFill>
                <a:srgbClr val="C00000"/>
              </a:solidFill>
            </a:endParaRPr>
          </a:p>
        </p:txBody>
      </p:sp>
      <p:sp>
        <p:nvSpPr>
          <p:cNvPr id="8" name="Rectangle 7">
            <a:extLst>
              <a:ext uri="{FF2B5EF4-FFF2-40B4-BE49-F238E27FC236}">
                <a16:creationId xmlns:a16="http://schemas.microsoft.com/office/drawing/2014/main" id="{EFADAA37-7636-F440-B412-2A86A57D9FC0}"/>
              </a:ext>
            </a:extLst>
          </p:cNvPr>
          <p:cNvSpPr/>
          <p:nvPr/>
        </p:nvSpPr>
        <p:spPr>
          <a:xfrm>
            <a:off x="692897" y="3601642"/>
            <a:ext cx="7960773" cy="707886"/>
          </a:xfrm>
          <a:prstGeom prst="rect">
            <a:avLst/>
          </a:prstGeom>
        </p:spPr>
        <p:txBody>
          <a:bodyPr wrap="square">
            <a:spAutoFit/>
          </a:bodyPr>
          <a:lstStyle/>
          <a:p>
            <a:r>
              <a:rPr lang="en-US" sz="2000" dirty="0">
                <a:solidFill>
                  <a:srgbClr val="C00000"/>
                </a:solidFill>
                <a:latin typeface="LiberationSerif"/>
              </a:rPr>
              <a:t>where the object travels from point </a:t>
            </a:r>
            <a:r>
              <a:rPr lang="en-US" sz="2000" i="1" dirty="0">
                <a:solidFill>
                  <a:srgbClr val="C00000"/>
                </a:solidFill>
                <a:latin typeface="LiberationSerif"/>
              </a:rPr>
              <a:t>A </a:t>
            </a:r>
            <a:r>
              <a:rPr lang="en-US" sz="2000" dirty="0">
                <a:solidFill>
                  <a:srgbClr val="C00000"/>
                </a:solidFill>
                <a:latin typeface="LiberationSerif"/>
              </a:rPr>
              <a:t>to point </a:t>
            </a:r>
            <a:r>
              <a:rPr lang="en-US" sz="2000" i="1" dirty="0">
                <a:solidFill>
                  <a:srgbClr val="C00000"/>
                </a:solidFill>
                <a:latin typeface="LiberationSerif"/>
              </a:rPr>
              <a:t>B</a:t>
            </a:r>
            <a:r>
              <a:rPr lang="en-US" sz="2000" dirty="0">
                <a:solidFill>
                  <a:srgbClr val="C00000"/>
                </a:solidFill>
                <a:latin typeface="LiberationSerif"/>
              </a:rPr>
              <a:t>. The potential energy function corresponding to this difference is </a:t>
            </a:r>
            <a:endParaRPr lang="en-US" sz="2000" dirty="0">
              <a:solidFill>
                <a:srgbClr val="C00000"/>
              </a:solidFill>
            </a:endParaRPr>
          </a:p>
        </p:txBody>
      </p:sp>
      <p:pic>
        <p:nvPicPr>
          <p:cNvPr id="10" name="Picture 9" descr="Text&#10;&#10;Description automatically generated">
            <a:extLst>
              <a:ext uri="{FF2B5EF4-FFF2-40B4-BE49-F238E27FC236}">
                <a16:creationId xmlns:a16="http://schemas.microsoft.com/office/drawing/2014/main" id="{6DEE5514-D013-1D4A-80A3-FF3E53D559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0706" y="2985721"/>
            <a:ext cx="2832100" cy="596900"/>
          </a:xfrm>
          <a:prstGeom prst="rect">
            <a:avLst/>
          </a:prstGeom>
        </p:spPr>
      </p:pic>
      <p:pic>
        <p:nvPicPr>
          <p:cNvPr id="11" name="Picture 10">
            <a:extLst>
              <a:ext uri="{FF2B5EF4-FFF2-40B4-BE49-F238E27FC236}">
                <a16:creationId xmlns:a16="http://schemas.microsoft.com/office/drawing/2014/main" id="{E69CF011-3BC7-5848-833A-3432EC9B28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7703" y="1828286"/>
            <a:ext cx="5876593" cy="703284"/>
          </a:xfrm>
          <a:prstGeom prst="rect">
            <a:avLst/>
          </a:prstGeom>
        </p:spPr>
      </p:pic>
      <p:sp>
        <p:nvSpPr>
          <p:cNvPr id="12" name="Rectangle 11">
            <a:extLst>
              <a:ext uri="{FF2B5EF4-FFF2-40B4-BE49-F238E27FC236}">
                <a16:creationId xmlns:a16="http://schemas.microsoft.com/office/drawing/2014/main" id="{F5999CA9-CDB5-1140-8CE2-56F0D0FD5857}"/>
              </a:ext>
            </a:extLst>
          </p:cNvPr>
          <p:cNvSpPr/>
          <p:nvPr/>
        </p:nvSpPr>
        <p:spPr>
          <a:xfrm>
            <a:off x="651184" y="4631292"/>
            <a:ext cx="8545826" cy="646331"/>
          </a:xfrm>
          <a:prstGeom prst="rect">
            <a:avLst/>
          </a:prstGeom>
        </p:spPr>
        <p:txBody>
          <a:bodyPr wrap="square">
            <a:spAutoFit/>
          </a:bodyPr>
          <a:lstStyle/>
          <a:p>
            <a:r>
              <a:rPr lang="en-US" dirty="0">
                <a:latin typeface="LiberationSerif"/>
              </a:rPr>
              <a:t>If the spring force is the only force acting, it is simplest to take the zero of potential energy at </a:t>
            </a:r>
            <a:r>
              <a:rPr lang="en-US" i="1" dirty="0">
                <a:latin typeface="STIXGeneral" pitchFamily="2" charset="2"/>
              </a:rPr>
              <a:t>x </a:t>
            </a:r>
            <a:r>
              <a:rPr lang="en-US" dirty="0">
                <a:latin typeface="STIXGeneral" pitchFamily="2" charset="2"/>
              </a:rPr>
              <a:t>= 0 </a:t>
            </a:r>
            <a:r>
              <a:rPr lang="en-US" dirty="0">
                <a:latin typeface="LiberationSerif"/>
              </a:rPr>
              <a:t>, when the spring is at its unstretched length. Then the constant is</a:t>
            </a:r>
            <a:r>
              <a:rPr lang="en-US" dirty="0">
                <a:latin typeface="LiberationSans"/>
              </a:rPr>
              <a:t> </a:t>
            </a:r>
            <a:r>
              <a:rPr lang="en-US" dirty="0">
                <a:latin typeface="LiberationSerif"/>
              </a:rPr>
              <a:t>is zero. </a:t>
            </a:r>
            <a:endParaRPr lang="en-US" dirty="0"/>
          </a:p>
        </p:txBody>
      </p:sp>
      <p:pic>
        <p:nvPicPr>
          <p:cNvPr id="14" name="Picture 13" descr="Diagram, text, schematic&#10;&#10;Description automatically generated">
            <a:extLst>
              <a:ext uri="{FF2B5EF4-FFF2-40B4-BE49-F238E27FC236}">
                <a16:creationId xmlns:a16="http://schemas.microsoft.com/office/drawing/2014/main" id="{7F5580AA-8785-D14D-A2A0-31F92CED1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2983" y="3985649"/>
            <a:ext cx="2120900" cy="685800"/>
          </a:xfrm>
          <a:prstGeom prst="rect">
            <a:avLst/>
          </a:prstGeom>
        </p:spPr>
      </p:pic>
      <p:pic>
        <p:nvPicPr>
          <p:cNvPr id="15" name="Picture 14" descr="Diagram, schematic&#10;&#10;Description automatically generated">
            <a:extLst>
              <a:ext uri="{FF2B5EF4-FFF2-40B4-BE49-F238E27FC236}">
                <a16:creationId xmlns:a16="http://schemas.microsoft.com/office/drawing/2014/main" id="{0B34BEFA-6B23-974C-841D-70D48AC56B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8836" y="2941511"/>
            <a:ext cx="2915297" cy="3827445"/>
          </a:xfrm>
          <a:prstGeom prst="rect">
            <a:avLst/>
          </a:prstGeom>
        </p:spPr>
      </p:pic>
      <p:sp>
        <p:nvSpPr>
          <p:cNvPr id="16" name="Rectangle 15">
            <a:extLst>
              <a:ext uri="{FF2B5EF4-FFF2-40B4-BE49-F238E27FC236}">
                <a16:creationId xmlns:a16="http://schemas.microsoft.com/office/drawing/2014/main" id="{FCCE9471-CE93-9740-B0CE-C395A518D302}"/>
              </a:ext>
            </a:extLst>
          </p:cNvPr>
          <p:cNvSpPr/>
          <p:nvPr/>
        </p:nvSpPr>
        <p:spPr>
          <a:xfrm>
            <a:off x="684486" y="5218283"/>
            <a:ext cx="8194470" cy="1631216"/>
          </a:xfrm>
          <a:prstGeom prst="rect">
            <a:avLst/>
          </a:prstGeom>
        </p:spPr>
        <p:txBody>
          <a:bodyPr wrap="square">
            <a:spAutoFit/>
          </a:bodyPr>
          <a:lstStyle/>
          <a:p>
            <a:r>
              <a:rPr lang="en-US" sz="2000" dirty="0">
                <a:solidFill>
                  <a:srgbClr val="008000"/>
                </a:solidFill>
                <a:latin typeface="LiberationSans"/>
              </a:rPr>
              <a:t>Example</a:t>
            </a:r>
          </a:p>
          <a:p>
            <a:r>
              <a:rPr lang="en-US" sz="2000" dirty="0">
                <a:solidFill>
                  <a:srgbClr val="003399"/>
                </a:solidFill>
              </a:rPr>
              <a:t>A system contains a perfectly elastic spring, with an unstretched length of 20 cm and a spring constant of 4 N/cm. (a) How much elastic potential energy does the spring contribute when its length is 23 cm? (b) How much more potential energy does it contribute if its length increases to 26 cm?</a:t>
            </a:r>
          </a:p>
        </p:txBody>
      </p:sp>
    </p:spTree>
    <p:extLst>
      <p:ext uri="{BB962C8B-B14F-4D97-AF65-F5344CB8AC3E}">
        <p14:creationId xmlns:p14="http://schemas.microsoft.com/office/powerpoint/2010/main" val="11268749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Types of Potential Energy </a:t>
            </a:r>
          </a:p>
        </p:txBody>
      </p:sp>
      <p:sp>
        <p:nvSpPr>
          <p:cNvPr id="2" name="Rectangle 1">
            <a:extLst>
              <a:ext uri="{FF2B5EF4-FFF2-40B4-BE49-F238E27FC236}">
                <a16:creationId xmlns:a16="http://schemas.microsoft.com/office/drawing/2014/main" id="{C7C0CFCA-641F-CC4B-8B68-439EBF1B6A80}"/>
              </a:ext>
            </a:extLst>
          </p:cNvPr>
          <p:cNvSpPr/>
          <p:nvPr/>
        </p:nvSpPr>
        <p:spPr>
          <a:xfrm>
            <a:off x="609470" y="747867"/>
            <a:ext cx="2914772" cy="430887"/>
          </a:xfrm>
          <a:prstGeom prst="rect">
            <a:avLst/>
          </a:prstGeom>
        </p:spPr>
        <p:txBody>
          <a:bodyPr wrap="none">
            <a:spAutoFit/>
          </a:bodyPr>
          <a:lstStyle/>
          <a:p>
            <a:r>
              <a:rPr lang="en-US" sz="2200" dirty="0">
                <a:solidFill>
                  <a:srgbClr val="3611D3"/>
                </a:solidFill>
                <a:latin typeface="LiberationSans"/>
              </a:rPr>
              <a:t>Elastic potential energy </a:t>
            </a:r>
            <a:endParaRPr lang="en-US" sz="2200" dirty="0">
              <a:solidFill>
                <a:srgbClr val="3611D3"/>
              </a:solidFill>
            </a:endParaRPr>
          </a:p>
        </p:txBody>
      </p:sp>
      <p:sp>
        <p:nvSpPr>
          <p:cNvPr id="12" name="Rectangle 11">
            <a:extLst>
              <a:ext uri="{FF2B5EF4-FFF2-40B4-BE49-F238E27FC236}">
                <a16:creationId xmlns:a16="http://schemas.microsoft.com/office/drawing/2014/main" id="{F5999CA9-CDB5-1140-8CE2-56F0D0FD5857}"/>
              </a:ext>
            </a:extLst>
          </p:cNvPr>
          <p:cNvSpPr/>
          <p:nvPr/>
        </p:nvSpPr>
        <p:spPr>
          <a:xfrm>
            <a:off x="651184" y="4631292"/>
            <a:ext cx="8545826" cy="646331"/>
          </a:xfrm>
          <a:prstGeom prst="rect">
            <a:avLst/>
          </a:prstGeom>
        </p:spPr>
        <p:txBody>
          <a:bodyPr wrap="square">
            <a:spAutoFit/>
          </a:bodyPr>
          <a:lstStyle/>
          <a:p>
            <a:r>
              <a:rPr lang="en-US" dirty="0">
                <a:latin typeface="LiberationSerif"/>
              </a:rPr>
              <a:t>If the spring force is the only force acting, it is simplest to take the zero of potential energy at </a:t>
            </a:r>
            <a:r>
              <a:rPr lang="en-US" i="1" dirty="0">
                <a:latin typeface="STIXGeneral" pitchFamily="2" charset="2"/>
              </a:rPr>
              <a:t>x </a:t>
            </a:r>
            <a:r>
              <a:rPr lang="en-US" dirty="0">
                <a:latin typeface="STIXGeneral" pitchFamily="2" charset="2"/>
              </a:rPr>
              <a:t>= 0 </a:t>
            </a:r>
            <a:r>
              <a:rPr lang="en-US" dirty="0">
                <a:latin typeface="LiberationSerif"/>
              </a:rPr>
              <a:t>, when the spring is at its unstretched length. Then the constant is</a:t>
            </a:r>
            <a:r>
              <a:rPr lang="en-US" dirty="0">
                <a:latin typeface="LiberationSans"/>
              </a:rPr>
              <a:t> </a:t>
            </a:r>
            <a:r>
              <a:rPr lang="en-US" dirty="0">
                <a:latin typeface="LiberationSerif"/>
              </a:rPr>
              <a:t>is zero. </a:t>
            </a:r>
            <a:endParaRPr lang="en-US" dirty="0"/>
          </a:p>
        </p:txBody>
      </p:sp>
      <p:pic>
        <p:nvPicPr>
          <p:cNvPr id="14" name="Picture 13" descr="Diagram, text, schematic&#10;&#10;Description automatically generated">
            <a:extLst>
              <a:ext uri="{FF2B5EF4-FFF2-40B4-BE49-F238E27FC236}">
                <a16:creationId xmlns:a16="http://schemas.microsoft.com/office/drawing/2014/main" id="{7F5580AA-8785-D14D-A2A0-31F92CED17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2983" y="3985649"/>
            <a:ext cx="2120900" cy="685800"/>
          </a:xfrm>
          <a:prstGeom prst="rect">
            <a:avLst/>
          </a:prstGeom>
        </p:spPr>
      </p:pic>
      <p:pic>
        <p:nvPicPr>
          <p:cNvPr id="15" name="Picture 14" descr="Diagram, schematic&#10;&#10;Description automatically generated">
            <a:extLst>
              <a:ext uri="{FF2B5EF4-FFF2-40B4-BE49-F238E27FC236}">
                <a16:creationId xmlns:a16="http://schemas.microsoft.com/office/drawing/2014/main" id="{0B34BEFA-6B23-974C-841D-70D48AC56B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8836" y="2941511"/>
            <a:ext cx="2915297" cy="3827445"/>
          </a:xfrm>
          <a:prstGeom prst="rect">
            <a:avLst/>
          </a:prstGeom>
        </p:spPr>
      </p:pic>
      <p:sp>
        <p:nvSpPr>
          <p:cNvPr id="16" name="Rectangle 15">
            <a:extLst>
              <a:ext uri="{FF2B5EF4-FFF2-40B4-BE49-F238E27FC236}">
                <a16:creationId xmlns:a16="http://schemas.microsoft.com/office/drawing/2014/main" id="{FCCE9471-CE93-9740-B0CE-C395A518D302}"/>
              </a:ext>
            </a:extLst>
          </p:cNvPr>
          <p:cNvSpPr/>
          <p:nvPr/>
        </p:nvSpPr>
        <p:spPr>
          <a:xfrm>
            <a:off x="684486" y="5218283"/>
            <a:ext cx="8194470" cy="1631216"/>
          </a:xfrm>
          <a:prstGeom prst="rect">
            <a:avLst/>
          </a:prstGeom>
        </p:spPr>
        <p:txBody>
          <a:bodyPr wrap="square">
            <a:spAutoFit/>
          </a:bodyPr>
          <a:lstStyle/>
          <a:p>
            <a:r>
              <a:rPr lang="en-US" sz="2000" dirty="0">
                <a:solidFill>
                  <a:srgbClr val="008000"/>
                </a:solidFill>
                <a:latin typeface="LiberationSans"/>
              </a:rPr>
              <a:t>Example</a:t>
            </a:r>
          </a:p>
          <a:p>
            <a:r>
              <a:rPr lang="en-US" sz="2000" dirty="0">
                <a:solidFill>
                  <a:srgbClr val="003399"/>
                </a:solidFill>
              </a:rPr>
              <a:t>A system contains a perfectly elastic spring, with an unstretched length of 20 cm and a spring constant of 4 N/cm. (a) How much elastic potential energy does the spring contribute when its length is 23 cm? (b) How much more potential energy does it contribute if its length increases to 26 cm?</a:t>
            </a:r>
          </a:p>
        </p:txBody>
      </p:sp>
      <p:sp>
        <p:nvSpPr>
          <p:cNvPr id="17" name="Rectangle 16">
            <a:extLst>
              <a:ext uri="{FF2B5EF4-FFF2-40B4-BE49-F238E27FC236}">
                <a16:creationId xmlns:a16="http://schemas.microsoft.com/office/drawing/2014/main" id="{2370688F-4AAF-0447-B11C-7F8A6EB97BCB}"/>
              </a:ext>
            </a:extLst>
          </p:cNvPr>
          <p:cNvSpPr/>
          <p:nvPr/>
        </p:nvSpPr>
        <p:spPr>
          <a:xfrm>
            <a:off x="684486" y="1532885"/>
            <a:ext cx="10989643" cy="1785104"/>
          </a:xfrm>
          <a:prstGeom prst="rect">
            <a:avLst/>
          </a:prstGeom>
        </p:spPr>
        <p:txBody>
          <a:bodyPr wrap="square">
            <a:spAutoFit/>
          </a:bodyPr>
          <a:lstStyle/>
          <a:p>
            <a:r>
              <a:rPr lang="en-US" sz="2200" dirty="0">
                <a:solidFill>
                  <a:srgbClr val="0000CC"/>
                </a:solidFill>
              </a:rPr>
              <a:t>Assignment 1</a:t>
            </a:r>
          </a:p>
          <a:p>
            <a:r>
              <a:rPr lang="en-US" sz="2200" dirty="0"/>
              <a:t>When the length of the spring in previous Example</a:t>
            </a:r>
            <a:r>
              <a:rPr lang="en-US" sz="2200" b="1" dirty="0"/>
              <a:t> </a:t>
            </a:r>
            <a:r>
              <a:rPr lang="en-US" sz="2200" dirty="0"/>
              <a:t>changes from an initial value of 22.0 cm to a final value, the elastic potential energy it contributes changes by −0.0800 J. </a:t>
            </a:r>
          </a:p>
          <a:p>
            <a:r>
              <a:rPr lang="en-US" sz="2200" dirty="0"/>
              <a:t>Find the final length. </a:t>
            </a:r>
          </a:p>
          <a:p>
            <a:endParaRPr lang="en-US" sz="2200" dirty="0">
              <a:solidFill>
                <a:srgbClr val="0000CC"/>
              </a:solidFill>
            </a:endParaRPr>
          </a:p>
        </p:txBody>
      </p:sp>
    </p:spTree>
    <p:extLst>
      <p:ext uri="{BB962C8B-B14F-4D97-AF65-F5344CB8AC3E}">
        <p14:creationId xmlns:p14="http://schemas.microsoft.com/office/powerpoint/2010/main" val="1982961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Types of Potential Energy </a:t>
            </a:r>
          </a:p>
        </p:txBody>
      </p:sp>
      <p:sp>
        <p:nvSpPr>
          <p:cNvPr id="2" name="Rectangle 1">
            <a:extLst>
              <a:ext uri="{FF2B5EF4-FFF2-40B4-BE49-F238E27FC236}">
                <a16:creationId xmlns:a16="http://schemas.microsoft.com/office/drawing/2014/main" id="{B4926FE3-64F1-9747-A60C-ECDEF0F2623C}"/>
              </a:ext>
            </a:extLst>
          </p:cNvPr>
          <p:cNvSpPr/>
          <p:nvPr/>
        </p:nvSpPr>
        <p:spPr>
          <a:xfrm>
            <a:off x="429264" y="802276"/>
            <a:ext cx="4943661" cy="430887"/>
          </a:xfrm>
          <a:prstGeom prst="rect">
            <a:avLst/>
          </a:prstGeom>
        </p:spPr>
        <p:txBody>
          <a:bodyPr wrap="none">
            <a:spAutoFit/>
          </a:bodyPr>
          <a:lstStyle/>
          <a:p>
            <a:r>
              <a:rPr lang="en-US" sz="2200" dirty="0">
                <a:solidFill>
                  <a:srgbClr val="3611D3"/>
                </a:solidFill>
                <a:latin typeface="LiberationSans"/>
              </a:rPr>
              <a:t>Gravitational and elastic potential energy </a:t>
            </a:r>
            <a:endParaRPr lang="en-US" sz="2200" dirty="0">
              <a:solidFill>
                <a:srgbClr val="3611D3"/>
              </a:solidFill>
            </a:endParaRPr>
          </a:p>
        </p:txBody>
      </p:sp>
      <p:pic>
        <p:nvPicPr>
          <p:cNvPr id="1025" name="Picture 1" descr="page375image8335136">
            <a:extLst>
              <a:ext uri="{FF2B5EF4-FFF2-40B4-BE49-F238E27FC236}">
                <a16:creationId xmlns:a16="http://schemas.microsoft.com/office/drawing/2014/main" id="{B46004B0-E6FF-A242-9276-EB7DECDAC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0305" y="802276"/>
            <a:ext cx="2202903" cy="27381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DDB70B4-F95E-7242-A503-8F5EDFDEB94D}"/>
              </a:ext>
            </a:extLst>
          </p:cNvPr>
          <p:cNvSpPr/>
          <p:nvPr/>
        </p:nvSpPr>
        <p:spPr>
          <a:xfrm>
            <a:off x="874643" y="1509650"/>
            <a:ext cx="7063405" cy="1323439"/>
          </a:xfrm>
          <a:prstGeom prst="rect">
            <a:avLst/>
          </a:prstGeom>
        </p:spPr>
        <p:txBody>
          <a:bodyPr wrap="square">
            <a:spAutoFit/>
          </a:bodyPr>
          <a:lstStyle/>
          <a:p>
            <a:r>
              <a:rPr lang="en-US" sz="2000" dirty="0">
                <a:solidFill>
                  <a:srgbClr val="C00000"/>
                </a:solidFill>
                <a:latin typeface="LiberationSerif"/>
              </a:rPr>
              <a:t>A vertical mass-spring system, with the y-axis pointing upward. The mass is initially at an unstretched spring length, point A. Then it is released, expanding past point B to point C, where it comes to a stop. </a:t>
            </a:r>
            <a:endParaRPr lang="en-US" sz="2000" dirty="0">
              <a:solidFill>
                <a:srgbClr val="C00000"/>
              </a:solidFill>
            </a:endParaRPr>
          </a:p>
        </p:txBody>
      </p:sp>
      <p:sp>
        <p:nvSpPr>
          <p:cNvPr id="8" name="Rectangle 7">
            <a:extLst>
              <a:ext uri="{FF2B5EF4-FFF2-40B4-BE49-F238E27FC236}">
                <a16:creationId xmlns:a16="http://schemas.microsoft.com/office/drawing/2014/main" id="{42BC5521-D7C5-6946-8FE2-F132BBF9FAE8}"/>
              </a:ext>
            </a:extLst>
          </p:cNvPr>
          <p:cNvSpPr/>
          <p:nvPr/>
        </p:nvSpPr>
        <p:spPr>
          <a:xfrm>
            <a:off x="7777611" y="3888779"/>
            <a:ext cx="4346713" cy="646331"/>
          </a:xfrm>
          <a:prstGeom prst="rect">
            <a:avLst/>
          </a:prstGeom>
        </p:spPr>
        <p:txBody>
          <a:bodyPr wrap="square">
            <a:spAutoFit/>
          </a:bodyPr>
          <a:lstStyle/>
          <a:p>
            <a:r>
              <a:rPr lang="en-US" dirty="0">
                <a:solidFill>
                  <a:srgbClr val="000066"/>
                </a:solidFill>
                <a:latin typeface="LiberationSerif"/>
              </a:rPr>
              <a:t>The total energy of the system is conserved, the energy at point A equals point C. </a:t>
            </a:r>
            <a:endParaRPr lang="en-US" dirty="0">
              <a:solidFill>
                <a:srgbClr val="000066"/>
              </a:solidFill>
            </a:endParaRPr>
          </a:p>
        </p:txBody>
      </p:sp>
      <p:sp>
        <p:nvSpPr>
          <p:cNvPr id="10" name="Rectangle 9">
            <a:extLst>
              <a:ext uri="{FF2B5EF4-FFF2-40B4-BE49-F238E27FC236}">
                <a16:creationId xmlns:a16="http://schemas.microsoft.com/office/drawing/2014/main" id="{55F2B088-6697-1D4A-B40D-AE2EDEC98985}"/>
              </a:ext>
            </a:extLst>
          </p:cNvPr>
          <p:cNvSpPr/>
          <p:nvPr/>
        </p:nvSpPr>
        <p:spPr>
          <a:xfrm>
            <a:off x="618225" y="3730475"/>
            <a:ext cx="6922262" cy="2800767"/>
          </a:xfrm>
          <a:prstGeom prst="rect">
            <a:avLst/>
          </a:prstGeom>
        </p:spPr>
        <p:txBody>
          <a:bodyPr wrap="square">
            <a:spAutoFit/>
          </a:bodyPr>
          <a:lstStyle/>
          <a:p>
            <a:r>
              <a:rPr lang="en-US" sz="2200" dirty="0">
                <a:solidFill>
                  <a:srgbClr val="008000"/>
                </a:solidFill>
                <a:latin typeface="LiberationSans"/>
              </a:rPr>
              <a:t>Example</a:t>
            </a:r>
          </a:p>
          <a:p>
            <a:r>
              <a:rPr lang="en-US" sz="2200" dirty="0">
                <a:solidFill>
                  <a:srgbClr val="003399"/>
                </a:solidFill>
              </a:rPr>
              <a:t>A block weighing 1.2 N is hung from a spring with a spring constant of 6.0 N/m , as shown in Figure.</a:t>
            </a:r>
          </a:p>
          <a:p>
            <a:pPr marL="457200" indent="-457200">
              <a:buAutoNum type="alphaLcParenBoth"/>
            </a:pPr>
            <a:r>
              <a:rPr lang="en-US" sz="2200" dirty="0">
                <a:solidFill>
                  <a:srgbClr val="003399"/>
                </a:solidFill>
              </a:rPr>
              <a:t>What is the maximum expansion of the spring, as seen at point C? </a:t>
            </a:r>
          </a:p>
          <a:p>
            <a:pPr marL="457200" indent="-457200">
              <a:buAutoNum type="alphaLcParenBoth"/>
            </a:pPr>
            <a:r>
              <a:rPr lang="en-US" sz="2200" dirty="0">
                <a:solidFill>
                  <a:srgbClr val="003399"/>
                </a:solidFill>
              </a:rPr>
              <a:t>What is the total potential energy at point B, halfway between A and C?</a:t>
            </a:r>
          </a:p>
          <a:p>
            <a:r>
              <a:rPr lang="en-US" sz="2200" dirty="0">
                <a:solidFill>
                  <a:srgbClr val="003399"/>
                </a:solidFill>
              </a:rPr>
              <a:t>(c) What is the speed of the block at point B? </a:t>
            </a:r>
          </a:p>
        </p:txBody>
      </p:sp>
      <p:pic>
        <p:nvPicPr>
          <p:cNvPr id="9" name="Picture 8" descr="Text&#10;&#10;Description automatically generated">
            <a:extLst>
              <a:ext uri="{FF2B5EF4-FFF2-40B4-BE49-F238E27FC236}">
                <a16:creationId xmlns:a16="http://schemas.microsoft.com/office/drawing/2014/main" id="{9D684A42-50CC-D148-BDFE-46199F2A05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0305" y="4901894"/>
            <a:ext cx="3049868" cy="1634109"/>
          </a:xfrm>
          <a:prstGeom prst="rect">
            <a:avLst/>
          </a:prstGeom>
        </p:spPr>
      </p:pic>
    </p:spTree>
    <p:extLst>
      <p:ext uri="{BB962C8B-B14F-4D97-AF65-F5344CB8AC3E}">
        <p14:creationId xmlns:p14="http://schemas.microsoft.com/office/powerpoint/2010/main" val="162777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2623930" y="89044"/>
            <a:ext cx="6480313" cy="523220"/>
          </a:xfrm>
          <a:prstGeom prst="rect">
            <a:avLst/>
          </a:prstGeom>
        </p:spPr>
        <p:txBody>
          <a:bodyPr wrap="square">
            <a:spAutoFit/>
          </a:bodyPr>
          <a:lstStyle/>
          <a:p>
            <a:r>
              <a:rPr lang="en-US" sz="2800" dirty="0">
                <a:solidFill>
                  <a:srgbClr val="C00000"/>
                </a:solidFill>
                <a:latin typeface="NewBaskervilleStd-Roman"/>
              </a:rPr>
              <a:t>Conservative and Non-Conservative Forces </a:t>
            </a:r>
          </a:p>
        </p:txBody>
      </p:sp>
      <p:sp>
        <p:nvSpPr>
          <p:cNvPr id="2" name="Rectangle 1">
            <a:extLst>
              <a:ext uri="{FF2B5EF4-FFF2-40B4-BE49-F238E27FC236}">
                <a16:creationId xmlns:a16="http://schemas.microsoft.com/office/drawing/2014/main" id="{15764A5A-837F-C24E-87A1-E735E531039F}"/>
              </a:ext>
            </a:extLst>
          </p:cNvPr>
          <p:cNvSpPr/>
          <p:nvPr/>
        </p:nvSpPr>
        <p:spPr>
          <a:xfrm>
            <a:off x="463825" y="612264"/>
            <a:ext cx="10491454" cy="1323439"/>
          </a:xfrm>
          <a:prstGeom prst="rect">
            <a:avLst/>
          </a:prstGeom>
        </p:spPr>
        <p:txBody>
          <a:bodyPr wrap="square">
            <a:spAutoFit/>
          </a:bodyPr>
          <a:lstStyle/>
          <a:p>
            <a:r>
              <a:rPr lang="en-US" sz="2000" dirty="0">
                <a:solidFill>
                  <a:srgbClr val="7030A0"/>
                </a:solidFill>
                <a:latin typeface="LiberationSerif"/>
              </a:rPr>
              <a:t>In </a:t>
            </a:r>
            <a:r>
              <a:rPr lang="en-US" sz="2000" dirty="0">
                <a:solidFill>
                  <a:srgbClr val="7030A0"/>
                </a:solidFill>
                <a:latin typeface="LiberationSans"/>
              </a:rPr>
              <a:t>previous examples</a:t>
            </a:r>
            <a:r>
              <a:rPr lang="en-US" sz="2000" dirty="0">
                <a:solidFill>
                  <a:srgbClr val="7030A0"/>
                </a:solidFill>
                <a:latin typeface="LiberationSerif"/>
              </a:rPr>
              <a:t>, any transition between kinetic and potential energy conserved the total energy of the system. This was path independent, meaning that we can start and stop at any two points in the problem, and the total energy of the system—kinetic plus potential—at these points are equal to each other. This is characteristic of a </a:t>
            </a:r>
            <a:r>
              <a:rPr lang="en-US" sz="2000" dirty="0">
                <a:solidFill>
                  <a:srgbClr val="C00000"/>
                </a:solidFill>
                <a:latin typeface="LiberationSerif"/>
              </a:rPr>
              <a:t>conservative force. </a:t>
            </a:r>
            <a:endParaRPr lang="en-US" sz="2000" dirty="0">
              <a:solidFill>
                <a:srgbClr val="C00000"/>
              </a:solidFill>
            </a:endParaRPr>
          </a:p>
        </p:txBody>
      </p:sp>
      <p:pic>
        <p:nvPicPr>
          <p:cNvPr id="6" name="Picture 5" descr="Text, letter&#10;&#10;Description automatically generated">
            <a:extLst>
              <a:ext uri="{FF2B5EF4-FFF2-40B4-BE49-F238E27FC236}">
                <a16:creationId xmlns:a16="http://schemas.microsoft.com/office/drawing/2014/main" id="{306E157F-C97B-BB44-B7C5-90C71E8256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85" y="2118140"/>
            <a:ext cx="11257883" cy="3341756"/>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DDB25088-C649-8542-BEA7-FF40C76F42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11668" y="3251567"/>
            <a:ext cx="990600" cy="2235200"/>
          </a:xfrm>
          <a:prstGeom prst="rect">
            <a:avLst/>
          </a:prstGeom>
        </p:spPr>
      </p:pic>
      <p:sp>
        <p:nvSpPr>
          <p:cNvPr id="9" name="Rectangle 8">
            <a:extLst>
              <a:ext uri="{FF2B5EF4-FFF2-40B4-BE49-F238E27FC236}">
                <a16:creationId xmlns:a16="http://schemas.microsoft.com/office/drawing/2014/main" id="{B07F4F80-892C-AD43-AAD3-C3F21F47203C}"/>
              </a:ext>
            </a:extLst>
          </p:cNvPr>
          <p:cNvSpPr/>
          <p:nvPr/>
        </p:nvSpPr>
        <p:spPr>
          <a:xfrm>
            <a:off x="1516204" y="5642333"/>
            <a:ext cx="6058582" cy="369332"/>
          </a:xfrm>
          <a:prstGeom prst="rect">
            <a:avLst/>
          </a:prstGeom>
        </p:spPr>
        <p:txBody>
          <a:bodyPr wrap="none">
            <a:spAutoFit/>
          </a:bodyPr>
          <a:lstStyle/>
          <a:p>
            <a:r>
              <a:rPr lang="en-US" dirty="0">
                <a:solidFill>
                  <a:srgbClr val="C00000"/>
                </a:solidFill>
                <a:latin typeface="LiberationSerif"/>
              </a:rPr>
              <a:t>The work done is independent of path if the infinitesimal work </a:t>
            </a:r>
            <a:endParaRPr lang="en-US" dirty="0">
              <a:solidFill>
                <a:srgbClr val="C00000"/>
              </a:solidFill>
            </a:endParaRPr>
          </a:p>
        </p:txBody>
      </p:sp>
      <p:sp>
        <p:nvSpPr>
          <p:cNvPr id="10" name="Rectangle 9">
            <a:extLst>
              <a:ext uri="{FF2B5EF4-FFF2-40B4-BE49-F238E27FC236}">
                <a16:creationId xmlns:a16="http://schemas.microsoft.com/office/drawing/2014/main" id="{CDFA82D1-4136-F145-B140-55C11468EC27}"/>
              </a:ext>
            </a:extLst>
          </p:cNvPr>
          <p:cNvSpPr/>
          <p:nvPr/>
        </p:nvSpPr>
        <p:spPr>
          <a:xfrm>
            <a:off x="8524297" y="5637511"/>
            <a:ext cx="2336024" cy="369332"/>
          </a:xfrm>
          <a:prstGeom prst="rect">
            <a:avLst/>
          </a:prstGeom>
        </p:spPr>
        <p:txBody>
          <a:bodyPr wrap="none">
            <a:spAutoFit/>
          </a:bodyPr>
          <a:lstStyle/>
          <a:p>
            <a:r>
              <a:rPr lang="en-US" dirty="0">
                <a:solidFill>
                  <a:srgbClr val="C00000"/>
                </a:solidFill>
                <a:latin typeface="LiberationSerif"/>
              </a:rPr>
              <a:t>is an </a:t>
            </a:r>
            <a:r>
              <a:rPr lang="en-US" b="1" dirty="0">
                <a:solidFill>
                  <a:srgbClr val="7030A0"/>
                </a:solidFill>
                <a:latin typeface="LiberationSerif"/>
              </a:rPr>
              <a:t>exact differential </a:t>
            </a:r>
            <a:endParaRPr lang="en-US" dirty="0">
              <a:solidFill>
                <a:srgbClr val="7030A0"/>
              </a:solidFill>
            </a:endParaRPr>
          </a:p>
        </p:txBody>
      </p:sp>
      <p:pic>
        <p:nvPicPr>
          <p:cNvPr id="12" name="Picture 11" descr="A picture containing text, clock, watch, gauge&#10;&#10;Description automatically generated">
            <a:extLst>
              <a:ext uri="{FF2B5EF4-FFF2-40B4-BE49-F238E27FC236}">
                <a16:creationId xmlns:a16="http://schemas.microsoft.com/office/drawing/2014/main" id="{238EC1D2-6671-024E-A530-74750C69E8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3697" y="5604749"/>
            <a:ext cx="990600" cy="444500"/>
          </a:xfrm>
          <a:prstGeom prst="rect">
            <a:avLst/>
          </a:prstGeom>
        </p:spPr>
      </p:pic>
      <p:sp>
        <p:nvSpPr>
          <p:cNvPr id="13" name="Rectangle 12">
            <a:extLst>
              <a:ext uri="{FF2B5EF4-FFF2-40B4-BE49-F238E27FC236}">
                <a16:creationId xmlns:a16="http://schemas.microsoft.com/office/drawing/2014/main" id="{AD449FB7-83B8-C242-8C49-BBFD8B0BE9C8}"/>
              </a:ext>
            </a:extLst>
          </p:cNvPr>
          <p:cNvSpPr/>
          <p:nvPr/>
        </p:nvSpPr>
        <p:spPr>
          <a:xfrm>
            <a:off x="644385" y="6194102"/>
            <a:ext cx="3643049" cy="369332"/>
          </a:xfrm>
          <a:prstGeom prst="rect">
            <a:avLst/>
          </a:prstGeom>
        </p:spPr>
        <p:txBody>
          <a:bodyPr wrap="none">
            <a:spAutoFit/>
          </a:bodyPr>
          <a:lstStyle/>
          <a:p>
            <a:r>
              <a:rPr lang="en-US" dirty="0">
                <a:solidFill>
                  <a:srgbClr val="000066"/>
                </a:solidFill>
                <a:latin typeface="LiberationSerif"/>
              </a:rPr>
              <a:t>In two dimensions, the condition for </a:t>
            </a:r>
            <a:endParaRPr lang="en-US" dirty="0">
              <a:solidFill>
                <a:srgbClr val="000066"/>
              </a:solidFill>
            </a:endParaRPr>
          </a:p>
        </p:txBody>
      </p:sp>
      <p:sp>
        <p:nvSpPr>
          <p:cNvPr id="14" name="Rectangle 13">
            <a:extLst>
              <a:ext uri="{FF2B5EF4-FFF2-40B4-BE49-F238E27FC236}">
                <a16:creationId xmlns:a16="http://schemas.microsoft.com/office/drawing/2014/main" id="{E6D75367-373F-3A4F-BB49-01B00FA3F5A0}"/>
              </a:ext>
            </a:extLst>
          </p:cNvPr>
          <p:cNvSpPr/>
          <p:nvPr/>
        </p:nvSpPr>
        <p:spPr>
          <a:xfrm>
            <a:off x="6682485" y="6184458"/>
            <a:ext cx="2832250" cy="369332"/>
          </a:xfrm>
          <a:prstGeom prst="rect">
            <a:avLst/>
          </a:prstGeom>
        </p:spPr>
        <p:txBody>
          <a:bodyPr wrap="none">
            <a:spAutoFit/>
          </a:bodyPr>
          <a:lstStyle/>
          <a:p>
            <a:r>
              <a:rPr lang="en-US" dirty="0">
                <a:solidFill>
                  <a:srgbClr val="000066"/>
                </a:solidFill>
                <a:latin typeface="LiberationSerif"/>
              </a:rPr>
              <a:t>to be an exact differential is </a:t>
            </a:r>
            <a:endParaRPr lang="en-US" dirty="0">
              <a:solidFill>
                <a:srgbClr val="000066"/>
              </a:solidFill>
            </a:endParaRPr>
          </a:p>
        </p:txBody>
      </p:sp>
      <p:pic>
        <p:nvPicPr>
          <p:cNvPr id="16" name="Picture 15" descr="Text&#10;&#10;Description automatically generated">
            <a:extLst>
              <a:ext uri="{FF2B5EF4-FFF2-40B4-BE49-F238E27FC236}">
                <a16:creationId xmlns:a16="http://schemas.microsoft.com/office/drawing/2014/main" id="{394D0270-70BB-724F-95B5-A01F79F052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0585" y="6118934"/>
            <a:ext cx="2501900" cy="444500"/>
          </a:xfrm>
          <a:prstGeom prst="rect">
            <a:avLst/>
          </a:prstGeom>
        </p:spPr>
      </p:pic>
      <p:pic>
        <p:nvPicPr>
          <p:cNvPr id="18" name="Picture 17" descr="Text&#10;&#10;Description automatically generated">
            <a:extLst>
              <a:ext uri="{FF2B5EF4-FFF2-40B4-BE49-F238E27FC236}">
                <a16:creationId xmlns:a16="http://schemas.microsoft.com/office/drawing/2014/main" id="{E0E92D69-95BC-724D-A61D-B5DAD15EE2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73808" y="5981774"/>
            <a:ext cx="1282700" cy="774700"/>
          </a:xfrm>
          <a:prstGeom prst="rect">
            <a:avLst/>
          </a:prstGeom>
        </p:spPr>
      </p:pic>
      <p:pic>
        <p:nvPicPr>
          <p:cNvPr id="19" name="Picture Placeholder 1" descr="A photograph of a grinding wheel being used.">
            <a:extLst>
              <a:ext uri="{FF2B5EF4-FFF2-40B4-BE49-F238E27FC236}">
                <a16:creationId xmlns:a16="http://schemas.microsoft.com/office/drawing/2014/main" id="{E32B4267-5055-0743-A9CE-1276CD26459C}"/>
              </a:ext>
            </a:extLst>
          </p:cNvPr>
          <p:cNvPicPr>
            <a:picLocks noChangeAspect="1"/>
          </p:cNvPicPr>
          <p:nvPr/>
        </p:nvPicPr>
        <p:blipFill>
          <a:blip r:embed="rId8">
            <a:extLst>
              <a:ext uri="{28A0092B-C50C-407E-A947-70E740481C1C}">
                <a14:useLocalDpi xmlns:a14="http://schemas.microsoft.com/office/drawing/2010/main" val="0"/>
              </a:ext>
            </a:extLst>
          </a:blip>
          <a:srcRect l="-28834" r="-28834"/>
          <a:stretch>
            <a:fillRect/>
          </a:stretch>
        </p:blipFill>
        <p:spPr>
          <a:xfrm>
            <a:off x="9502491" y="3352965"/>
            <a:ext cx="2715660" cy="1178855"/>
          </a:xfrm>
          <a:prstGeom prst="rect">
            <a:avLst/>
          </a:prstGeom>
        </p:spPr>
      </p:pic>
      <p:sp>
        <p:nvSpPr>
          <p:cNvPr id="20" name="Text Placeholder 6">
            <a:extLst>
              <a:ext uri="{FF2B5EF4-FFF2-40B4-BE49-F238E27FC236}">
                <a16:creationId xmlns:a16="http://schemas.microsoft.com/office/drawing/2014/main" id="{41C85581-6863-B24D-9747-E4E7212DD6E4}"/>
              </a:ext>
            </a:extLst>
          </p:cNvPr>
          <p:cNvSpPr txBox="1">
            <a:spLocks/>
          </p:cNvSpPr>
          <p:nvPr/>
        </p:nvSpPr>
        <p:spPr>
          <a:xfrm>
            <a:off x="9649455" y="4531820"/>
            <a:ext cx="2458764" cy="117885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A grinding wheel applies a non-conservative force, because the work done depends on how many rotations the wheel makes, so it is path-dependent.</a:t>
            </a:r>
          </a:p>
        </p:txBody>
      </p:sp>
    </p:spTree>
    <p:extLst>
      <p:ext uri="{BB962C8B-B14F-4D97-AF65-F5344CB8AC3E}">
        <p14:creationId xmlns:p14="http://schemas.microsoft.com/office/powerpoint/2010/main" val="900430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2623930" y="89044"/>
            <a:ext cx="6480313" cy="523220"/>
          </a:xfrm>
          <a:prstGeom prst="rect">
            <a:avLst/>
          </a:prstGeom>
        </p:spPr>
        <p:txBody>
          <a:bodyPr wrap="square">
            <a:spAutoFit/>
          </a:bodyPr>
          <a:lstStyle/>
          <a:p>
            <a:r>
              <a:rPr lang="en-US" sz="2800" dirty="0">
                <a:solidFill>
                  <a:srgbClr val="C00000"/>
                </a:solidFill>
                <a:latin typeface="NewBaskervilleStd-Roman"/>
              </a:rPr>
              <a:t>Conservative and Non-Conservative Forces </a:t>
            </a:r>
          </a:p>
        </p:txBody>
      </p:sp>
      <p:sp>
        <p:nvSpPr>
          <p:cNvPr id="9" name="Rectangle 8">
            <a:extLst>
              <a:ext uri="{FF2B5EF4-FFF2-40B4-BE49-F238E27FC236}">
                <a16:creationId xmlns:a16="http://schemas.microsoft.com/office/drawing/2014/main" id="{B07F4F80-892C-AD43-AAD3-C3F21F47203C}"/>
              </a:ext>
            </a:extLst>
          </p:cNvPr>
          <p:cNvSpPr/>
          <p:nvPr/>
        </p:nvSpPr>
        <p:spPr>
          <a:xfrm>
            <a:off x="1516204" y="5642333"/>
            <a:ext cx="6058582" cy="369332"/>
          </a:xfrm>
          <a:prstGeom prst="rect">
            <a:avLst/>
          </a:prstGeom>
        </p:spPr>
        <p:txBody>
          <a:bodyPr wrap="none">
            <a:spAutoFit/>
          </a:bodyPr>
          <a:lstStyle/>
          <a:p>
            <a:r>
              <a:rPr lang="en-US" dirty="0">
                <a:solidFill>
                  <a:srgbClr val="C00000"/>
                </a:solidFill>
                <a:latin typeface="LiberationSerif"/>
              </a:rPr>
              <a:t>The work done is independent of path if the infinitesimal work </a:t>
            </a:r>
            <a:endParaRPr lang="en-US" dirty="0">
              <a:solidFill>
                <a:srgbClr val="C00000"/>
              </a:solidFill>
            </a:endParaRPr>
          </a:p>
        </p:txBody>
      </p:sp>
      <p:sp>
        <p:nvSpPr>
          <p:cNvPr id="10" name="Rectangle 9">
            <a:extLst>
              <a:ext uri="{FF2B5EF4-FFF2-40B4-BE49-F238E27FC236}">
                <a16:creationId xmlns:a16="http://schemas.microsoft.com/office/drawing/2014/main" id="{CDFA82D1-4136-F145-B140-55C11468EC27}"/>
              </a:ext>
            </a:extLst>
          </p:cNvPr>
          <p:cNvSpPr/>
          <p:nvPr/>
        </p:nvSpPr>
        <p:spPr>
          <a:xfrm>
            <a:off x="8524297" y="5637511"/>
            <a:ext cx="2336024" cy="369332"/>
          </a:xfrm>
          <a:prstGeom prst="rect">
            <a:avLst/>
          </a:prstGeom>
        </p:spPr>
        <p:txBody>
          <a:bodyPr wrap="none">
            <a:spAutoFit/>
          </a:bodyPr>
          <a:lstStyle/>
          <a:p>
            <a:r>
              <a:rPr lang="en-US" dirty="0">
                <a:solidFill>
                  <a:srgbClr val="C00000"/>
                </a:solidFill>
                <a:latin typeface="LiberationSerif"/>
              </a:rPr>
              <a:t>is an </a:t>
            </a:r>
            <a:r>
              <a:rPr lang="en-US" b="1" dirty="0">
                <a:solidFill>
                  <a:srgbClr val="7030A0"/>
                </a:solidFill>
                <a:latin typeface="LiberationSerif"/>
              </a:rPr>
              <a:t>exact differential </a:t>
            </a:r>
            <a:endParaRPr lang="en-US" dirty="0">
              <a:solidFill>
                <a:srgbClr val="7030A0"/>
              </a:solidFill>
            </a:endParaRPr>
          </a:p>
        </p:txBody>
      </p:sp>
      <p:pic>
        <p:nvPicPr>
          <p:cNvPr id="12" name="Picture 11" descr="A picture containing text, clock, watch, gauge&#10;&#10;Description automatically generated">
            <a:extLst>
              <a:ext uri="{FF2B5EF4-FFF2-40B4-BE49-F238E27FC236}">
                <a16:creationId xmlns:a16="http://schemas.microsoft.com/office/drawing/2014/main" id="{238EC1D2-6671-024E-A530-74750C69E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3697" y="5604749"/>
            <a:ext cx="990600" cy="444500"/>
          </a:xfrm>
          <a:prstGeom prst="rect">
            <a:avLst/>
          </a:prstGeom>
        </p:spPr>
      </p:pic>
      <p:sp>
        <p:nvSpPr>
          <p:cNvPr id="13" name="Rectangle 12">
            <a:extLst>
              <a:ext uri="{FF2B5EF4-FFF2-40B4-BE49-F238E27FC236}">
                <a16:creationId xmlns:a16="http://schemas.microsoft.com/office/drawing/2014/main" id="{AD449FB7-83B8-C242-8C49-BBFD8B0BE9C8}"/>
              </a:ext>
            </a:extLst>
          </p:cNvPr>
          <p:cNvSpPr/>
          <p:nvPr/>
        </p:nvSpPr>
        <p:spPr>
          <a:xfrm>
            <a:off x="644385" y="6194102"/>
            <a:ext cx="3643049" cy="369332"/>
          </a:xfrm>
          <a:prstGeom prst="rect">
            <a:avLst/>
          </a:prstGeom>
        </p:spPr>
        <p:txBody>
          <a:bodyPr wrap="none">
            <a:spAutoFit/>
          </a:bodyPr>
          <a:lstStyle/>
          <a:p>
            <a:r>
              <a:rPr lang="en-US" dirty="0">
                <a:solidFill>
                  <a:srgbClr val="000066"/>
                </a:solidFill>
                <a:latin typeface="LiberationSerif"/>
              </a:rPr>
              <a:t>In two dimensions, the condition for </a:t>
            </a:r>
            <a:endParaRPr lang="en-US" dirty="0">
              <a:solidFill>
                <a:srgbClr val="000066"/>
              </a:solidFill>
            </a:endParaRPr>
          </a:p>
        </p:txBody>
      </p:sp>
      <p:sp>
        <p:nvSpPr>
          <p:cNvPr id="14" name="Rectangle 13">
            <a:extLst>
              <a:ext uri="{FF2B5EF4-FFF2-40B4-BE49-F238E27FC236}">
                <a16:creationId xmlns:a16="http://schemas.microsoft.com/office/drawing/2014/main" id="{E6D75367-373F-3A4F-BB49-01B00FA3F5A0}"/>
              </a:ext>
            </a:extLst>
          </p:cNvPr>
          <p:cNvSpPr/>
          <p:nvPr/>
        </p:nvSpPr>
        <p:spPr>
          <a:xfrm>
            <a:off x="6682485" y="6184458"/>
            <a:ext cx="2832250" cy="369332"/>
          </a:xfrm>
          <a:prstGeom prst="rect">
            <a:avLst/>
          </a:prstGeom>
        </p:spPr>
        <p:txBody>
          <a:bodyPr wrap="none">
            <a:spAutoFit/>
          </a:bodyPr>
          <a:lstStyle/>
          <a:p>
            <a:r>
              <a:rPr lang="en-US" dirty="0">
                <a:solidFill>
                  <a:srgbClr val="000066"/>
                </a:solidFill>
                <a:latin typeface="LiberationSerif"/>
              </a:rPr>
              <a:t>to be an exact differential is </a:t>
            </a:r>
            <a:endParaRPr lang="en-US" dirty="0">
              <a:solidFill>
                <a:srgbClr val="000066"/>
              </a:solidFill>
            </a:endParaRPr>
          </a:p>
        </p:txBody>
      </p:sp>
      <p:pic>
        <p:nvPicPr>
          <p:cNvPr id="16" name="Picture 15" descr="Text&#10;&#10;Description automatically generated">
            <a:extLst>
              <a:ext uri="{FF2B5EF4-FFF2-40B4-BE49-F238E27FC236}">
                <a16:creationId xmlns:a16="http://schemas.microsoft.com/office/drawing/2014/main" id="{394D0270-70BB-724F-95B5-A01F79F05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0585" y="6118934"/>
            <a:ext cx="2501900" cy="444500"/>
          </a:xfrm>
          <a:prstGeom prst="rect">
            <a:avLst/>
          </a:prstGeom>
        </p:spPr>
      </p:pic>
      <p:pic>
        <p:nvPicPr>
          <p:cNvPr id="18" name="Picture 17" descr="Text&#10;&#10;Description automatically generated">
            <a:extLst>
              <a:ext uri="{FF2B5EF4-FFF2-40B4-BE49-F238E27FC236}">
                <a16:creationId xmlns:a16="http://schemas.microsoft.com/office/drawing/2014/main" id="{E0E92D69-95BC-724D-A61D-B5DAD15EE2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3808" y="5981774"/>
            <a:ext cx="1282700" cy="774700"/>
          </a:xfrm>
          <a:prstGeom prst="rect">
            <a:avLst/>
          </a:prstGeom>
        </p:spPr>
      </p:pic>
      <p:sp>
        <p:nvSpPr>
          <p:cNvPr id="15" name="Rectangle 14">
            <a:extLst>
              <a:ext uri="{FF2B5EF4-FFF2-40B4-BE49-F238E27FC236}">
                <a16:creationId xmlns:a16="http://schemas.microsoft.com/office/drawing/2014/main" id="{284E0F92-E6F9-F841-BB21-4572F9A655A5}"/>
              </a:ext>
            </a:extLst>
          </p:cNvPr>
          <p:cNvSpPr/>
          <p:nvPr/>
        </p:nvSpPr>
        <p:spPr>
          <a:xfrm>
            <a:off x="611435" y="400336"/>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7" name="Picture 6" descr="Text&#10;&#10;Description automatically generated with low confidence">
            <a:extLst>
              <a:ext uri="{FF2B5EF4-FFF2-40B4-BE49-F238E27FC236}">
                <a16:creationId xmlns:a16="http://schemas.microsoft.com/office/drawing/2014/main" id="{AE59A49D-01C6-6844-89C8-34DB19D223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435" y="826082"/>
            <a:ext cx="10842582" cy="2073870"/>
          </a:xfrm>
          <a:prstGeom prst="rect">
            <a:avLst/>
          </a:prstGeom>
        </p:spPr>
      </p:pic>
      <p:pic>
        <p:nvPicPr>
          <p:cNvPr id="17" name="Picture 16">
            <a:extLst>
              <a:ext uri="{FF2B5EF4-FFF2-40B4-BE49-F238E27FC236}">
                <a16:creationId xmlns:a16="http://schemas.microsoft.com/office/drawing/2014/main" id="{4755FB22-9E75-5247-B07F-4586360067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435" y="3000750"/>
            <a:ext cx="8506920" cy="813816"/>
          </a:xfrm>
          <a:prstGeom prst="rect">
            <a:avLst/>
          </a:prstGeom>
        </p:spPr>
      </p:pic>
      <p:pic>
        <p:nvPicPr>
          <p:cNvPr id="20" name="Picture 19" descr="A picture containing timeline&#10;&#10;Description automatically generated">
            <a:extLst>
              <a:ext uri="{FF2B5EF4-FFF2-40B4-BE49-F238E27FC236}">
                <a16:creationId xmlns:a16="http://schemas.microsoft.com/office/drawing/2014/main" id="{9044D791-E36D-C649-8B8F-3D367A7B531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1435" y="3772617"/>
            <a:ext cx="8420100" cy="1854200"/>
          </a:xfrm>
          <a:prstGeom prst="rect">
            <a:avLst/>
          </a:prstGeom>
        </p:spPr>
      </p:pic>
    </p:spTree>
    <p:extLst>
      <p:ext uri="{BB962C8B-B14F-4D97-AF65-F5344CB8AC3E}">
        <p14:creationId xmlns:p14="http://schemas.microsoft.com/office/powerpoint/2010/main" val="8439093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2623930" y="89044"/>
            <a:ext cx="6480313" cy="523220"/>
          </a:xfrm>
          <a:prstGeom prst="rect">
            <a:avLst/>
          </a:prstGeom>
        </p:spPr>
        <p:txBody>
          <a:bodyPr wrap="square">
            <a:spAutoFit/>
          </a:bodyPr>
          <a:lstStyle/>
          <a:p>
            <a:r>
              <a:rPr lang="en-US" sz="2800" dirty="0">
                <a:solidFill>
                  <a:srgbClr val="C00000"/>
                </a:solidFill>
                <a:latin typeface="NewBaskervilleStd-Roman"/>
              </a:rPr>
              <a:t>Conservative and Non-Conservative Forces </a:t>
            </a:r>
          </a:p>
        </p:txBody>
      </p:sp>
      <p:sp>
        <p:nvSpPr>
          <p:cNvPr id="2" name="Rectangle 1">
            <a:extLst>
              <a:ext uri="{FF2B5EF4-FFF2-40B4-BE49-F238E27FC236}">
                <a16:creationId xmlns:a16="http://schemas.microsoft.com/office/drawing/2014/main" id="{56CDD376-A1B4-134A-B705-7027F0233806}"/>
              </a:ext>
            </a:extLst>
          </p:cNvPr>
          <p:cNvSpPr/>
          <p:nvPr/>
        </p:nvSpPr>
        <p:spPr>
          <a:xfrm>
            <a:off x="587363" y="612264"/>
            <a:ext cx="10014376" cy="1785104"/>
          </a:xfrm>
          <a:prstGeom prst="rect">
            <a:avLst/>
          </a:prstGeom>
        </p:spPr>
        <p:txBody>
          <a:bodyPr wrap="square">
            <a:spAutoFit/>
          </a:bodyPr>
          <a:lstStyle/>
          <a:p>
            <a:r>
              <a:rPr lang="en-US" sz="2200" dirty="0">
                <a:solidFill>
                  <a:srgbClr val="7030A0"/>
                </a:solidFill>
                <a:latin typeface="LiberationSerif"/>
              </a:rPr>
              <a:t>Non-conservative forces do not have potential energy associated with them because the energy is lost to the system and can’t be turned into useful work later. </a:t>
            </a:r>
          </a:p>
          <a:p>
            <a:endParaRPr lang="en-US" sz="2200" dirty="0">
              <a:solidFill>
                <a:srgbClr val="C00000"/>
              </a:solidFill>
              <a:latin typeface="LiberationSerif"/>
            </a:endParaRPr>
          </a:p>
          <a:p>
            <a:r>
              <a:rPr lang="en-US" sz="2200" dirty="0">
                <a:solidFill>
                  <a:srgbClr val="C00000"/>
                </a:solidFill>
                <a:latin typeface="LiberationSerif"/>
              </a:rPr>
              <a:t>There is always a conservative force associated with every potential energy. The relationship between force and potential energy associated with it is:</a:t>
            </a:r>
            <a:endParaRPr lang="en-US" sz="2200" dirty="0">
              <a:solidFill>
                <a:srgbClr val="C00000"/>
              </a:solidFill>
            </a:endParaRPr>
          </a:p>
        </p:txBody>
      </p:sp>
      <p:pic>
        <p:nvPicPr>
          <p:cNvPr id="7" name="Picture 6" descr="A picture containing text&#10;&#10;Description automatically generated">
            <a:extLst>
              <a:ext uri="{FF2B5EF4-FFF2-40B4-BE49-F238E27FC236}">
                <a16:creationId xmlns:a16="http://schemas.microsoft.com/office/drawing/2014/main" id="{74BE966E-2894-8846-AA7F-FF03FDF95D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9000" y="2397368"/>
            <a:ext cx="1397000" cy="685800"/>
          </a:xfrm>
          <a:prstGeom prst="rect">
            <a:avLst/>
          </a:prstGeom>
        </p:spPr>
      </p:pic>
      <p:sp>
        <p:nvSpPr>
          <p:cNvPr id="8" name="Rectangle 7">
            <a:extLst>
              <a:ext uri="{FF2B5EF4-FFF2-40B4-BE49-F238E27FC236}">
                <a16:creationId xmlns:a16="http://schemas.microsoft.com/office/drawing/2014/main" id="{C7AC4B3A-3F25-4D43-A3D2-F24C7D726F90}"/>
              </a:ext>
            </a:extLst>
          </p:cNvPr>
          <p:cNvSpPr/>
          <p:nvPr/>
        </p:nvSpPr>
        <p:spPr>
          <a:xfrm>
            <a:off x="6242709" y="3244334"/>
            <a:ext cx="2903424" cy="369332"/>
          </a:xfrm>
          <a:prstGeom prst="rect">
            <a:avLst/>
          </a:prstGeom>
        </p:spPr>
        <p:txBody>
          <a:bodyPr wrap="none">
            <a:spAutoFit/>
          </a:bodyPr>
          <a:lstStyle/>
          <a:p>
            <a:r>
              <a:rPr lang="en-US" dirty="0">
                <a:solidFill>
                  <a:srgbClr val="000066"/>
                </a:solidFill>
                <a:latin typeface="LiberationSerif"/>
              </a:rPr>
              <a:t>For one-dimensional motion </a:t>
            </a:r>
            <a:endParaRPr lang="en-US" dirty="0">
              <a:solidFill>
                <a:srgbClr val="000066"/>
              </a:solidFill>
            </a:endParaRPr>
          </a:p>
        </p:txBody>
      </p:sp>
      <p:sp>
        <p:nvSpPr>
          <p:cNvPr id="9" name="Rectangle 8">
            <a:extLst>
              <a:ext uri="{FF2B5EF4-FFF2-40B4-BE49-F238E27FC236}">
                <a16:creationId xmlns:a16="http://schemas.microsoft.com/office/drawing/2014/main" id="{B306C242-72BD-7349-B594-DD82EC7184E2}"/>
              </a:ext>
            </a:extLst>
          </p:cNvPr>
          <p:cNvSpPr/>
          <p:nvPr/>
        </p:nvSpPr>
        <p:spPr>
          <a:xfrm>
            <a:off x="6242709" y="3946699"/>
            <a:ext cx="2014782" cy="369332"/>
          </a:xfrm>
          <a:prstGeom prst="rect">
            <a:avLst/>
          </a:prstGeom>
        </p:spPr>
        <p:txBody>
          <a:bodyPr wrap="none">
            <a:spAutoFit/>
          </a:bodyPr>
          <a:lstStyle/>
          <a:p>
            <a:r>
              <a:rPr lang="en-US" dirty="0">
                <a:solidFill>
                  <a:srgbClr val="000066"/>
                </a:solidFill>
                <a:latin typeface="LiberationSerif"/>
              </a:rPr>
              <a:t>In two dimensions, </a:t>
            </a:r>
            <a:endParaRPr lang="en-US" dirty="0">
              <a:solidFill>
                <a:srgbClr val="000066"/>
              </a:solidFill>
            </a:endParaRPr>
          </a:p>
        </p:txBody>
      </p:sp>
      <p:pic>
        <p:nvPicPr>
          <p:cNvPr id="11" name="Picture 10" descr="A picture containing text, clock, watch&#10;&#10;Description automatically generated">
            <a:extLst>
              <a:ext uri="{FF2B5EF4-FFF2-40B4-BE49-F238E27FC236}">
                <a16:creationId xmlns:a16="http://schemas.microsoft.com/office/drawing/2014/main" id="{C132D299-22B1-254A-AA10-E969736A93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6133" y="3155950"/>
            <a:ext cx="2108200" cy="546100"/>
          </a:xfrm>
          <a:prstGeom prst="rect">
            <a:avLst/>
          </a:prstGeom>
        </p:spPr>
      </p:pic>
      <p:pic>
        <p:nvPicPr>
          <p:cNvPr id="13" name="Picture 12" descr="A picture containing diagram&#10;&#10;Description automatically generated">
            <a:extLst>
              <a:ext uri="{FF2B5EF4-FFF2-40B4-BE49-F238E27FC236}">
                <a16:creationId xmlns:a16="http://schemas.microsoft.com/office/drawing/2014/main" id="{322492B9-D7E3-744C-BC7B-DE0C52AE4D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5103" y="3702050"/>
            <a:ext cx="3848100" cy="762000"/>
          </a:xfrm>
          <a:prstGeom prst="rect">
            <a:avLst/>
          </a:prstGeom>
        </p:spPr>
      </p:pic>
      <p:sp>
        <p:nvSpPr>
          <p:cNvPr id="14" name="Rectangle 13">
            <a:extLst>
              <a:ext uri="{FF2B5EF4-FFF2-40B4-BE49-F238E27FC236}">
                <a16:creationId xmlns:a16="http://schemas.microsoft.com/office/drawing/2014/main" id="{9F12EEB7-0C32-DB47-BA67-B46F3EAE82D8}"/>
              </a:ext>
            </a:extLst>
          </p:cNvPr>
          <p:cNvSpPr/>
          <p:nvPr/>
        </p:nvSpPr>
        <p:spPr>
          <a:xfrm>
            <a:off x="587363" y="4811815"/>
            <a:ext cx="10989643" cy="769441"/>
          </a:xfrm>
          <a:prstGeom prst="rect">
            <a:avLst/>
          </a:prstGeom>
        </p:spPr>
        <p:txBody>
          <a:bodyPr wrap="square">
            <a:spAutoFit/>
          </a:bodyPr>
          <a:lstStyle/>
          <a:p>
            <a:r>
              <a:rPr lang="en-US" sz="2200" dirty="0">
                <a:solidFill>
                  <a:srgbClr val="0000CC"/>
                </a:solidFill>
              </a:rPr>
              <a:t>Assignment 2</a:t>
            </a:r>
          </a:p>
          <a:p>
            <a:endParaRPr lang="en-US" sz="2200" dirty="0">
              <a:solidFill>
                <a:srgbClr val="0000CC"/>
              </a:solidFill>
            </a:endParaRPr>
          </a:p>
        </p:txBody>
      </p:sp>
      <p:pic>
        <p:nvPicPr>
          <p:cNvPr id="16" name="Picture 15" descr="A picture containing text&#10;&#10;Description automatically generated">
            <a:extLst>
              <a:ext uri="{FF2B5EF4-FFF2-40B4-BE49-F238E27FC236}">
                <a16:creationId xmlns:a16="http://schemas.microsoft.com/office/drawing/2014/main" id="{F8DD1AB1-793D-C64E-A84E-2397D8B502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364" y="5307599"/>
            <a:ext cx="7443454" cy="1138411"/>
          </a:xfrm>
          <a:prstGeom prst="rect">
            <a:avLst/>
          </a:prstGeom>
        </p:spPr>
      </p:pic>
    </p:spTree>
    <p:extLst>
      <p:ext uri="{BB962C8B-B14F-4D97-AF65-F5344CB8AC3E}">
        <p14:creationId xmlns:p14="http://schemas.microsoft.com/office/powerpoint/2010/main" val="3247531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2623930" y="89044"/>
            <a:ext cx="6480313" cy="523220"/>
          </a:xfrm>
          <a:prstGeom prst="rect">
            <a:avLst/>
          </a:prstGeom>
        </p:spPr>
        <p:txBody>
          <a:bodyPr wrap="square">
            <a:spAutoFit/>
          </a:bodyPr>
          <a:lstStyle/>
          <a:p>
            <a:r>
              <a:rPr lang="en-US" sz="2800" dirty="0">
                <a:solidFill>
                  <a:srgbClr val="C00000"/>
                </a:solidFill>
                <a:latin typeface="NewBaskervilleStd-Roman"/>
              </a:rPr>
              <a:t>Conservative and Non-Conservative Forces </a:t>
            </a:r>
          </a:p>
        </p:txBody>
      </p:sp>
      <p:sp>
        <p:nvSpPr>
          <p:cNvPr id="6" name="Rectangle 5">
            <a:extLst>
              <a:ext uri="{FF2B5EF4-FFF2-40B4-BE49-F238E27FC236}">
                <a16:creationId xmlns:a16="http://schemas.microsoft.com/office/drawing/2014/main" id="{306B9F50-1C3B-4F4C-8C0A-0EFFACFFFB08}"/>
              </a:ext>
            </a:extLst>
          </p:cNvPr>
          <p:cNvSpPr/>
          <p:nvPr/>
        </p:nvSpPr>
        <p:spPr>
          <a:xfrm>
            <a:off x="653623" y="259583"/>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3" name="Picture 2" descr="Text&#10;&#10;Description automatically generated">
            <a:extLst>
              <a:ext uri="{FF2B5EF4-FFF2-40B4-BE49-F238E27FC236}">
                <a16:creationId xmlns:a16="http://schemas.microsoft.com/office/drawing/2014/main" id="{8D89659A-B0A1-C64D-80B7-B19A4426D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623" y="641709"/>
            <a:ext cx="9588500" cy="2160789"/>
          </a:xfrm>
          <a:prstGeom prst="rect">
            <a:avLst/>
          </a:prstGeom>
        </p:spPr>
      </p:pic>
      <p:pic>
        <p:nvPicPr>
          <p:cNvPr id="8" name="Picture 7" descr="Text&#10;&#10;Description automatically generated">
            <a:extLst>
              <a:ext uri="{FF2B5EF4-FFF2-40B4-BE49-F238E27FC236}">
                <a16:creationId xmlns:a16="http://schemas.microsoft.com/office/drawing/2014/main" id="{E057549A-745F-304E-9339-1DE7BC4AB6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623" y="2803419"/>
            <a:ext cx="8572500" cy="1485900"/>
          </a:xfrm>
          <a:prstGeom prst="rect">
            <a:avLst/>
          </a:prstGeom>
        </p:spPr>
      </p:pic>
      <p:pic>
        <p:nvPicPr>
          <p:cNvPr id="10" name="Picture 9" descr="Text, letter&#10;&#10;Description automatically generated">
            <a:extLst>
              <a:ext uri="{FF2B5EF4-FFF2-40B4-BE49-F238E27FC236}">
                <a16:creationId xmlns:a16="http://schemas.microsoft.com/office/drawing/2014/main" id="{12FE15D3-1319-5D4E-B896-0B9325FB61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623" y="3847874"/>
            <a:ext cx="9588500" cy="2895600"/>
          </a:xfrm>
          <a:prstGeom prst="rect">
            <a:avLst/>
          </a:prstGeom>
        </p:spPr>
      </p:pic>
      <p:pic>
        <p:nvPicPr>
          <p:cNvPr id="12" name="Picture 11" descr="Logo&#10;&#10;Description automatically generated with medium confidence">
            <a:extLst>
              <a:ext uri="{FF2B5EF4-FFF2-40B4-BE49-F238E27FC236}">
                <a16:creationId xmlns:a16="http://schemas.microsoft.com/office/drawing/2014/main" id="{87088EB3-994F-3740-8A5D-B16DEA8B06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6482" y="3585075"/>
            <a:ext cx="3467100" cy="444500"/>
          </a:xfrm>
          <a:prstGeom prst="rect">
            <a:avLst/>
          </a:prstGeom>
        </p:spPr>
      </p:pic>
    </p:spTree>
    <p:extLst>
      <p:ext uri="{BB962C8B-B14F-4D97-AF65-F5344CB8AC3E}">
        <p14:creationId xmlns:p14="http://schemas.microsoft.com/office/powerpoint/2010/main" val="15624890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Conservation of Energy </a:t>
            </a:r>
          </a:p>
        </p:txBody>
      </p:sp>
      <p:sp>
        <p:nvSpPr>
          <p:cNvPr id="2" name="Rectangle 1">
            <a:extLst>
              <a:ext uri="{FF2B5EF4-FFF2-40B4-BE49-F238E27FC236}">
                <a16:creationId xmlns:a16="http://schemas.microsoft.com/office/drawing/2014/main" id="{95E3D32F-C2AF-514F-95A2-8C75D69DF71D}"/>
              </a:ext>
            </a:extLst>
          </p:cNvPr>
          <p:cNvSpPr/>
          <p:nvPr/>
        </p:nvSpPr>
        <p:spPr>
          <a:xfrm>
            <a:off x="574765" y="663776"/>
            <a:ext cx="10633166" cy="769441"/>
          </a:xfrm>
          <a:prstGeom prst="rect">
            <a:avLst/>
          </a:prstGeom>
        </p:spPr>
        <p:txBody>
          <a:bodyPr wrap="square">
            <a:spAutoFit/>
          </a:bodyPr>
          <a:lstStyle/>
          <a:p>
            <a:r>
              <a:rPr lang="en-US" sz="2200" dirty="0">
                <a:solidFill>
                  <a:srgbClr val="7030A0"/>
                </a:solidFill>
                <a:latin typeface="LiberationSerif"/>
              </a:rPr>
              <a:t>We define the sum of the kinetic and potential energies, </a:t>
            </a:r>
          </a:p>
          <a:p>
            <a:r>
              <a:rPr lang="en-US" sz="2200" i="1" dirty="0">
                <a:solidFill>
                  <a:srgbClr val="7030A0"/>
                </a:solidFill>
                <a:latin typeface="STIXGeneral" pitchFamily="2" charset="2"/>
              </a:rPr>
              <a:t>								</a:t>
            </a:r>
            <a:r>
              <a:rPr lang="en-US" sz="2200" i="1" dirty="0">
                <a:latin typeface="STIXGeneral" pitchFamily="2" charset="2"/>
              </a:rPr>
              <a:t>K </a:t>
            </a:r>
            <a:r>
              <a:rPr lang="en-US" sz="2200" dirty="0">
                <a:latin typeface="STIXGeneral" pitchFamily="2" charset="2"/>
              </a:rPr>
              <a:t>+ </a:t>
            </a:r>
            <a:r>
              <a:rPr lang="en-US" sz="2200" i="1" dirty="0">
                <a:latin typeface="STIXGeneral" pitchFamily="2" charset="2"/>
              </a:rPr>
              <a:t>U </a:t>
            </a:r>
            <a:r>
              <a:rPr lang="en-US" sz="2200" dirty="0">
                <a:latin typeface="STIXGeneral" pitchFamily="2" charset="2"/>
              </a:rPr>
              <a:t>= </a:t>
            </a:r>
            <a:r>
              <a:rPr lang="en-US" sz="2200" i="1" dirty="0">
                <a:latin typeface="STIXGeneral" pitchFamily="2" charset="2"/>
              </a:rPr>
              <a:t>E</a:t>
            </a:r>
            <a:r>
              <a:rPr lang="en-US" sz="2200" dirty="0">
                <a:solidFill>
                  <a:srgbClr val="7030A0"/>
                </a:solidFill>
                <a:latin typeface="STIXGeneral" pitchFamily="2" charset="2"/>
              </a:rPr>
              <a:t>; </a:t>
            </a:r>
            <a:r>
              <a:rPr lang="en-US" sz="2200" dirty="0">
                <a:solidFill>
                  <a:srgbClr val="7030A0"/>
                </a:solidFill>
                <a:latin typeface="LiberationSerif"/>
              </a:rPr>
              <a:t>to be the </a:t>
            </a:r>
            <a:r>
              <a:rPr lang="en-US" sz="2200" b="1" dirty="0">
                <a:solidFill>
                  <a:srgbClr val="C00000"/>
                </a:solidFill>
                <a:latin typeface="LiberationSerif"/>
              </a:rPr>
              <a:t>mechanical energy </a:t>
            </a:r>
            <a:r>
              <a:rPr lang="en-US" sz="2200" dirty="0">
                <a:solidFill>
                  <a:srgbClr val="7030A0"/>
                </a:solidFill>
                <a:latin typeface="LiberationSerif"/>
              </a:rPr>
              <a:t>of the particle. </a:t>
            </a:r>
            <a:endParaRPr lang="en-US" sz="2200" dirty="0">
              <a:solidFill>
                <a:srgbClr val="7030A0"/>
              </a:solidFill>
            </a:endParaRPr>
          </a:p>
        </p:txBody>
      </p:sp>
      <p:pic>
        <p:nvPicPr>
          <p:cNvPr id="6" name="Picture 5" descr="Text&#10;&#10;Description automatically generated">
            <a:extLst>
              <a:ext uri="{FF2B5EF4-FFF2-40B4-BE49-F238E27FC236}">
                <a16:creationId xmlns:a16="http://schemas.microsoft.com/office/drawing/2014/main" id="{E3D0E460-D2D7-434E-B96F-5CA09CFFA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88" y="1658800"/>
            <a:ext cx="11508423" cy="1920424"/>
          </a:xfrm>
          <a:prstGeom prst="rect">
            <a:avLst/>
          </a:prstGeom>
        </p:spPr>
      </p:pic>
      <p:pic>
        <p:nvPicPr>
          <p:cNvPr id="8" name="Picture 7" descr="Shape&#10;&#10;Description automatically generated with low confidence">
            <a:extLst>
              <a:ext uri="{FF2B5EF4-FFF2-40B4-BE49-F238E27FC236}">
                <a16:creationId xmlns:a16="http://schemas.microsoft.com/office/drawing/2014/main" id="{6A725E5B-F4C9-5E4E-98FC-D1D0D638D2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3349" y="2908300"/>
            <a:ext cx="1422400" cy="520700"/>
          </a:xfrm>
          <a:prstGeom prst="rect">
            <a:avLst/>
          </a:prstGeom>
        </p:spPr>
      </p:pic>
      <p:sp>
        <p:nvSpPr>
          <p:cNvPr id="9" name="Rectangle 8">
            <a:extLst>
              <a:ext uri="{FF2B5EF4-FFF2-40B4-BE49-F238E27FC236}">
                <a16:creationId xmlns:a16="http://schemas.microsoft.com/office/drawing/2014/main" id="{D1712A31-3EBF-B64A-9D88-803A8A3B1517}"/>
              </a:ext>
            </a:extLst>
          </p:cNvPr>
          <p:cNvSpPr/>
          <p:nvPr/>
        </p:nvSpPr>
        <p:spPr>
          <a:xfrm>
            <a:off x="901337" y="3620141"/>
            <a:ext cx="11106479" cy="369332"/>
          </a:xfrm>
          <a:prstGeom prst="rect">
            <a:avLst/>
          </a:prstGeom>
        </p:spPr>
        <p:txBody>
          <a:bodyPr wrap="square">
            <a:spAutoFit/>
          </a:bodyPr>
          <a:lstStyle/>
          <a:p>
            <a:r>
              <a:rPr lang="en-US" dirty="0">
                <a:solidFill>
                  <a:srgbClr val="C00000"/>
                </a:solidFill>
                <a:latin typeface="LiberationSerif"/>
              </a:rPr>
              <a:t>The mechanical energy of a particle does not change if all the non-conservative forces that may act on it do </a:t>
            </a:r>
            <a:r>
              <a:rPr lang="en-US" dirty="0">
                <a:solidFill>
                  <a:srgbClr val="7030A0"/>
                </a:solidFill>
                <a:latin typeface="LiberationSerif"/>
              </a:rPr>
              <a:t>no work. </a:t>
            </a:r>
            <a:endParaRPr lang="en-US" dirty="0">
              <a:solidFill>
                <a:srgbClr val="7030A0"/>
              </a:solidFill>
            </a:endParaRPr>
          </a:p>
        </p:txBody>
      </p:sp>
      <p:pic>
        <p:nvPicPr>
          <p:cNvPr id="11" name="Picture 10" descr="Diagram&#10;&#10;Description automatically generated with low confidence">
            <a:extLst>
              <a:ext uri="{FF2B5EF4-FFF2-40B4-BE49-F238E27FC236}">
                <a16:creationId xmlns:a16="http://schemas.microsoft.com/office/drawing/2014/main" id="{552C7ABA-6607-9A47-AF84-6393D45387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6249" y="3997082"/>
            <a:ext cx="3619500" cy="508000"/>
          </a:xfrm>
          <a:prstGeom prst="rect">
            <a:avLst/>
          </a:prstGeom>
        </p:spPr>
      </p:pic>
      <p:pic>
        <p:nvPicPr>
          <p:cNvPr id="13" name="Picture 12" descr="Diagram&#10;&#10;Description automatically generated">
            <a:extLst>
              <a:ext uri="{FF2B5EF4-FFF2-40B4-BE49-F238E27FC236}">
                <a16:creationId xmlns:a16="http://schemas.microsoft.com/office/drawing/2014/main" id="{E107BA94-BC23-E748-BC31-65B345CA1D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9651" y="4000553"/>
            <a:ext cx="3923120" cy="2806785"/>
          </a:xfrm>
          <a:prstGeom prst="rect">
            <a:avLst/>
          </a:prstGeom>
        </p:spPr>
      </p:pic>
      <p:sp>
        <p:nvSpPr>
          <p:cNvPr id="14" name="Rectangle 13">
            <a:extLst>
              <a:ext uri="{FF2B5EF4-FFF2-40B4-BE49-F238E27FC236}">
                <a16:creationId xmlns:a16="http://schemas.microsoft.com/office/drawing/2014/main" id="{D21F2CA1-7268-8343-B460-B1E35D188170}"/>
              </a:ext>
            </a:extLst>
          </p:cNvPr>
          <p:cNvSpPr/>
          <p:nvPr/>
        </p:nvSpPr>
        <p:spPr>
          <a:xfrm>
            <a:off x="4932771" y="4534807"/>
            <a:ext cx="7259229" cy="2123658"/>
          </a:xfrm>
          <a:prstGeom prst="rect">
            <a:avLst/>
          </a:prstGeom>
        </p:spPr>
        <p:txBody>
          <a:bodyPr wrap="square">
            <a:spAutoFit/>
          </a:bodyPr>
          <a:lstStyle/>
          <a:p>
            <a:r>
              <a:rPr lang="en-US" sz="2200" dirty="0">
                <a:solidFill>
                  <a:srgbClr val="008000"/>
                </a:solidFill>
                <a:latin typeface="LiberationSans"/>
              </a:rPr>
              <a:t>Example</a:t>
            </a:r>
          </a:p>
          <a:p>
            <a:r>
              <a:rPr lang="en-US" sz="2200" dirty="0">
                <a:latin typeface="LiberationSans"/>
              </a:rPr>
              <a:t>A particle of mass m is hung from the ceiling by a massless string of length 1.0 m, as shown in Figure. The particle is released from rest, when the angle between the string and the downward vertical direction is 30°. </a:t>
            </a:r>
          </a:p>
          <a:p>
            <a:r>
              <a:rPr lang="en-US" sz="2200" dirty="0">
                <a:latin typeface="LiberationSans"/>
              </a:rPr>
              <a:t>What is its speed when it reaches the lowest point of its arc?</a:t>
            </a:r>
          </a:p>
        </p:txBody>
      </p:sp>
    </p:spTree>
    <p:extLst>
      <p:ext uri="{BB962C8B-B14F-4D97-AF65-F5344CB8AC3E}">
        <p14:creationId xmlns:p14="http://schemas.microsoft.com/office/powerpoint/2010/main" val="18701273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Conservation of Energy </a:t>
            </a:r>
          </a:p>
        </p:txBody>
      </p:sp>
      <p:pic>
        <p:nvPicPr>
          <p:cNvPr id="13" name="Picture 12" descr="Diagram&#10;&#10;Description automatically generated">
            <a:extLst>
              <a:ext uri="{FF2B5EF4-FFF2-40B4-BE49-F238E27FC236}">
                <a16:creationId xmlns:a16="http://schemas.microsoft.com/office/drawing/2014/main" id="{E107BA94-BC23-E748-BC31-65B345CA1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651" y="4000553"/>
            <a:ext cx="3923120" cy="2806785"/>
          </a:xfrm>
          <a:prstGeom prst="rect">
            <a:avLst/>
          </a:prstGeom>
        </p:spPr>
      </p:pic>
      <p:sp>
        <p:nvSpPr>
          <p:cNvPr id="14" name="Rectangle 13">
            <a:extLst>
              <a:ext uri="{FF2B5EF4-FFF2-40B4-BE49-F238E27FC236}">
                <a16:creationId xmlns:a16="http://schemas.microsoft.com/office/drawing/2014/main" id="{D21F2CA1-7268-8343-B460-B1E35D188170}"/>
              </a:ext>
            </a:extLst>
          </p:cNvPr>
          <p:cNvSpPr/>
          <p:nvPr/>
        </p:nvSpPr>
        <p:spPr>
          <a:xfrm>
            <a:off x="4932771" y="4534807"/>
            <a:ext cx="7259229" cy="2123658"/>
          </a:xfrm>
          <a:prstGeom prst="rect">
            <a:avLst/>
          </a:prstGeom>
        </p:spPr>
        <p:txBody>
          <a:bodyPr wrap="square">
            <a:spAutoFit/>
          </a:bodyPr>
          <a:lstStyle/>
          <a:p>
            <a:r>
              <a:rPr lang="en-US" sz="2200" dirty="0">
                <a:solidFill>
                  <a:srgbClr val="008000"/>
                </a:solidFill>
                <a:latin typeface="LiberationSans"/>
              </a:rPr>
              <a:t>Example</a:t>
            </a:r>
          </a:p>
          <a:p>
            <a:r>
              <a:rPr lang="en-US" sz="2200" dirty="0">
                <a:latin typeface="LiberationSans"/>
              </a:rPr>
              <a:t>A particle of mass m is hung from the ceiling by a massless string of length 1.0 m, as shown in Figure. The particle is released from rest, when the angle between the string and the downward vertical direction is 30°. </a:t>
            </a:r>
          </a:p>
          <a:p>
            <a:r>
              <a:rPr lang="en-US" sz="2200" dirty="0">
                <a:latin typeface="LiberationSans"/>
              </a:rPr>
              <a:t>What is its speed when it reaches the lowest point of its arc?</a:t>
            </a:r>
          </a:p>
        </p:txBody>
      </p:sp>
      <p:pic>
        <p:nvPicPr>
          <p:cNvPr id="7" name="Picture 6" descr="Chart, bar chart&#10;&#10;Description automatically generated">
            <a:extLst>
              <a:ext uri="{FF2B5EF4-FFF2-40B4-BE49-F238E27FC236}">
                <a16:creationId xmlns:a16="http://schemas.microsoft.com/office/drawing/2014/main" id="{ED5E2739-40D9-2846-A01B-02CDF8935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651" y="663980"/>
            <a:ext cx="9296400" cy="3187700"/>
          </a:xfrm>
          <a:prstGeom prst="rect">
            <a:avLst/>
          </a:prstGeom>
        </p:spPr>
      </p:pic>
      <p:sp>
        <p:nvSpPr>
          <p:cNvPr id="12" name="Rectangle 11">
            <a:hlinkClick r:id="rId5"/>
            <a:extLst>
              <a:ext uri="{FF2B5EF4-FFF2-40B4-BE49-F238E27FC236}">
                <a16:creationId xmlns:a16="http://schemas.microsoft.com/office/drawing/2014/main" id="{47BB4893-5828-E143-8ABB-8110E40924F5}"/>
              </a:ext>
            </a:extLst>
          </p:cNvPr>
          <p:cNvSpPr/>
          <p:nvPr/>
        </p:nvSpPr>
        <p:spPr>
          <a:xfrm>
            <a:off x="6662861" y="3903396"/>
            <a:ext cx="1749903" cy="400110"/>
          </a:xfrm>
          <a:prstGeom prst="rect">
            <a:avLst/>
          </a:prstGeom>
        </p:spPr>
        <p:txBody>
          <a:bodyPr wrap="none">
            <a:spAutoFit/>
          </a:bodyPr>
          <a:lstStyle/>
          <a:p>
            <a:r>
              <a:rPr lang="en-US" sz="2000" dirty="0">
                <a:solidFill>
                  <a:srgbClr val="C00000"/>
                </a:solidFill>
                <a:latin typeface="LiberationSans"/>
                <a:hlinkClick r:id="rId5">
                  <a:extLst>
                    <a:ext uri="{A12FA001-AC4F-418D-AE19-62706E023703}">
                      <ahyp:hlinkClr xmlns:ahyp="http://schemas.microsoft.com/office/drawing/2018/hyperlinkcolor" val="tx"/>
                    </a:ext>
                  </a:extLst>
                </a:hlinkClick>
              </a:rPr>
              <a:t>Demonstration</a:t>
            </a:r>
            <a:endParaRPr lang="en-US" sz="2000" dirty="0">
              <a:solidFill>
                <a:srgbClr val="C00000"/>
              </a:solidFill>
            </a:endParaRPr>
          </a:p>
        </p:txBody>
      </p:sp>
    </p:spTree>
    <p:extLst>
      <p:ext uri="{BB962C8B-B14F-4D97-AF65-F5344CB8AC3E}">
        <p14:creationId xmlns:p14="http://schemas.microsoft.com/office/powerpoint/2010/main" val="2681968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Conservation of Energy </a:t>
            </a:r>
          </a:p>
        </p:txBody>
      </p:sp>
      <p:pic>
        <p:nvPicPr>
          <p:cNvPr id="3" name="Picture 2" descr="Diagram&#10;&#10;Description automatically generated">
            <a:extLst>
              <a:ext uri="{FF2B5EF4-FFF2-40B4-BE49-F238E27FC236}">
                <a16:creationId xmlns:a16="http://schemas.microsoft.com/office/drawing/2014/main" id="{A3A7AB80-3301-2240-A6BE-D4EE21287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574" y="1358624"/>
            <a:ext cx="6324600" cy="5094817"/>
          </a:xfrm>
          <a:prstGeom prst="rect">
            <a:avLst/>
          </a:prstGeom>
        </p:spPr>
      </p:pic>
      <p:sp>
        <p:nvSpPr>
          <p:cNvPr id="6" name="Rectangle 5">
            <a:extLst>
              <a:ext uri="{FF2B5EF4-FFF2-40B4-BE49-F238E27FC236}">
                <a16:creationId xmlns:a16="http://schemas.microsoft.com/office/drawing/2014/main" id="{AC53E7F7-3B0D-8A47-BBB7-72962C6F2DB6}"/>
              </a:ext>
            </a:extLst>
          </p:cNvPr>
          <p:cNvSpPr/>
          <p:nvPr/>
        </p:nvSpPr>
        <p:spPr>
          <a:xfrm>
            <a:off x="6904383" y="1590001"/>
            <a:ext cx="4837043" cy="4154984"/>
          </a:xfrm>
          <a:prstGeom prst="rect">
            <a:avLst/>
          </a:prstGeom>
        </p:spPr>
        <p:txBody>
          <a:bodyPr wrap="square">
            <a:spAutoFit/>
          </a:bodyPr>
          <a:lstStyle/>
          <a:p>
            <a:r>
              <a:rPr lang="en-US" sz="2200" dirty="0">
                <a:solidFill>
                  <a:srgbClr val="008000"/>
                </a:solidFill>
                <a:latin typeface="LiberationSans"/>
              </a:rPr>
              <a:t>Example</a:t>
            </a:r>
          </a:p>
          <a:p>
            <a:r>
              <a:rPr lang="en-US" sz="2200" dirty="0">
                <a:latin typeface="LiberationSans"/>
              </a:rPr>
              <a:t>A helicopter is hovering at an altitude of 1 km when a panel from its underside breaks loose and plummets to the ground. </a:t>
            </a:r>
          </a:p>
          <a:p>
            <a:endParaRPr lang="en-US" sz="2200" dirty="0">
              <a:latin typeface="LiberationSans"/>
            </a:endParaRPr>
          </a:p>
          <a:p>
            <a:r>
              <a:rPr lang="en-US" sz="2200" dirty="0">
                <a:latin typeface="LiberationSans"/>
              </a:rPr>
              <a:t>The mass of the panel is 15 kg, and it hits the ground with a speed of 45 m/s . </a:t>
            </a:r>
          </a:p>
          <a:p>
            <a:endParaRPr lang="en-US" sz="2200" dirty="0">
              <a:latin typeface="LiberationSans"/>
            </a:endParaRPr>
          </a:p>
          <a:p>
            <a:r>
              <a:rPr lang="en-US" sz="2200" dirty="0">
                <a:latin typeface="LiberationSans"/>
              </a:rPr>
              <a:t>How much mechanical energy was dissipated by air resistance during the panel’s descent? </a:t>
            </a:r>
          </a:p>
        </p:txBody>
      </p:sp>
      <p:pic>
        <p:nvPicPr>
          <p:cNvPr id="8" name="Picture 7" descr="Diagram&#10;&#10;Description automatically generated">
            <a:extLst>
              <a:ext uri="{FF2B5EF4-FFF2-40B4-BE49-F238E27FC236}">
                <a16:creationId xmlns:a16="http://schemas.microsoft.com/office/drawing/2014/main" id="{FB779EEA-4590-B549-8101-24DAE35138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2704" y="5744985"/>
            <a:ext cx="3200400" cy="533400"/>
          </a:xfrm>
          <a:prstGeom prst="rect">
            <a:avLst/>
          </a:prstGeom>
        </p:spPr>
      </p:pic>
    </p:spTree>
    <p:extLst>
      <p:ext uri="{BB962C8B-B14F-4D97-AF65-F5344CB8AC3E}">
        <p14:creationId xmlns:p14="http://schemas.microsoft.com/office/powerpoint/2010/main" val="42686344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Conservation of Energy </a:t>
            </a:r>
          </a:p>
        </p:txBody>
      </p:sp>
      <p:pic>
        <p:nvPicPr>
          <p:cNvPr id="8" name="Picture 7" descr="Diagram&#10;&#10;Description automatically generated">
            <a:extLst>
              <a:ext uri="{FF2B5EF4-FFF2-40B4-BE49-F238E27FC236}">
                <a16:creationId xmlns:a16="http://schemas.microsoft.com/office/drawing/2014/main" id="{FB779EEA-4590-B549-8101-24DAE3513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2704" y="5744985"/>
            <a:ext cx="3200400" cy="533400"/>
          </a:xfrm>
          <a:prstGeom prst="rect">
            <a:avLst/>
          </a:prstGeom>
        </p:spPr>
      </p:pic>
      <p:sp>
        <p:nvSpPr>
          <p:cNvPr id="7" name="Rectangle 6">
            <a:extLst>
              <a:ext uri="{FF2B5EF4-FFF2-40B4-BE49-F238E27FC236}">
                <a16:creationId xmlns:a16="http://schemas.microsoft.com/office/drawing/2014/main" id="{49331032-5AE9-CD48-8EC3-F960CB634CCC}"/>
              </a:ext>
            </a:extLst>
          </p:cNvPr>
          <p:cNvSpPr/>
          <p:nvPr/>
        </p:nvSpPr>
        <p:spPr>
          <a:xfrm>
            <a:off x="2631347" y="2810831"/>
            <a:ext cx="10989643" cy="769441"/>
          </a:xfrm>
          <a:prstGeom prst="rect">
            <a:avLst/>
          </a:prstGeom>
        </p:spPr>
        <p:txBody>
          <a:bodyPr wrap="square">
            <a:spAutoFit/>
          </a:bodyPr>
          <a:lstStyle/>
          <a:p>
            <a:r>
              <a:rPr lang="en-US" sz="2200" dirty="0">
                <a:solidFill>
                  <a:srgbClr val="0000CC"/>
                </a:solidFill>
              </a:rPr>
              <a:t>Assignment 3</a:t>
            </a:r>
          </a:p>
          <a:p>
            <a:endParaRPr lang="en-US" sz="2200" dirty="0">
              <a:solidFill>
                <a:srgbClr val="0000CC"/>
              </a:solidFill>
            </a:endParaRPr>
          </a:p>
        </p:txBody>
      </p:sp>
      <p:pic>
        <p:nvPicPr>
          <p:cNvPr id="9" name="Picture 8" descr="Text&#10;&#10;Description automatically generated">
            <a:extLst>
              <a:ext uri="{FF2B5EF4-FFF2-40B4-BE49-F238E27FC236}">
                <a16:creationId xmlns:a16="http://schemas.microsoft.com/office/drawing/2014/main" id="{E92E17A3-F620-5E48-AFBE-C65458FF48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1347" y="3195552"/>
            <a:ext cx="6929306" cy="1828800"/>
          </a:xfrm>
          <a:prstGeom prst="rect">
            <a:avLst/>
          </a:prstGeom>
        </p:spPr>
      </p:pic>
    </p:spTree>
    <p:extLst>
      <p:ext uri="{BB962C8B-B14F-4D97-AF65-F5344CB8AC3E}">
        <p14:creationId xmlns:p14="http://schemas.microsoft.com/office/powerpoint/2010/main" val="18838614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2743201" y="89044"/>
            <a:ext cx="6533322" cy="523220"/>
          </a:xfrm>
          <a:prstGeom prst="rect">
            <a:avLst/>
          </a:prstGeom>
        </p:spPr>
        <p:txBody>
          <a:bodyPr wrap="square">
            <a:spAutoFit/>
          </a:bodyPr>
          <a:lstStyle/>
          <a:p>
            <a:r>
              <a:rPr lang="en-US" sz="2800" dirty="0">
                <a:solidFill>
                  <a:srgbClr val="C00000"/>
                </a:solidFill>
                <a:latin typeface="NewBaskervilleStd-Roman"/>
              </a:rPr>
              <a:t>Potential Energy Diagrams and Stability </a:t>
            </a:r>
          </a:p>
        </p:txBody>
      </p:sp>
      <p:sp>
        <p:nvSpPr>
          <p:cNvPr id="2" name="Rectangle 1">
            <a:extLst>
              <a:ext uri="{FF2B5EF4-FFF2-40B4-BE49-F238E27FC236}">
                <a16:creationId xmlns:a16="http://schemas.microsoft.com/office/drawing/2014/main" id="{8C44C9CF-A616-344E-9FA2-CBAF3B982EC6}"/>
              </a:ext>
            </a:extLst>
          </p:cNvPr>
          <p:cNvSpPr/>
          <p:nvPr/>
        </p:nvSpPr>
        <p:spPr>
          <a:xfrm>
            <a:off x="516834" y="612264"/>
            <a:ext cx="10243931" cy="1446550"/>
          </a:xfrm>
          <a:prstGeom prst="rect">
            <a:avLst/>
          </a:prstGeom>
        </p:spPr>
        <p:txBody>
          <a:bodyPr wrap="square">
            <a:spAutoFit/>
          </a:bodyPr>
          <a:lstStyle/>
          <a:p>
            <a:r>
              <a:rPr lang="en-US" sz="2200" b="1" dirty="0">
                <a:solidFill>
                  <a:srgbClr val="008000"/>
                </a:solidFill>
                <a:latin typeface="LiberationSerif"/>
              </a:rPr>
              <a:t>Potential energy diagrams </a:t>
            </a:r>
            <a:r>
              <a:rPr lang="en-US" sz="2200" dirty="0">
                <a:solidFill>
                  <a:srgbClr val="7030A0"/>
                </a:solidFill>
                <a:latin typeface="LiberationSerif"/>
              </a:rPr>
              <a:t>provide </a:t>
            </a:r>
            <a:r>
              <a:rPr lang="en-US" sz="2200" dirty="0">
                <a:solidFill>
                  <a:srgbClr val="7030A0"/>
                </a:solidFill>
              </a:rPr>
              <a:t>useful information about the dynamical behavior of a mechanical system. This is most easily accomplished for a one-dimensional system. </a:t>
            </a:r>
          </a:p>
          <a:p>
            <a:endParaRPr lang="en-US" sz="2200" dirty="0">
              <a:solidFill>
                <a:srgbClr val="7030A0"/>
              </a:solidFill>
            </a:endParaRPr>
          </a:p>
          <a:p>
            <a:endParaRPr lang="en-US" sz="2200" dirty="0">
              <a:solidFill>
                <a:srgbClr val="7030A0"/>
              </a:solidFill>
            </a:endParaRPr>
          </a:p>
        </p:txBody>
      </p:sp>
      <p:pic>
        <p:nvPicPr>
          <p:cNvPr id="6" name="Picture Placeholder 1" descr="The energy, in units of Joules, is plotted as a function of height above the ground in meters. The graph of potential energy U is a straight red line through the origin, where y sub zero equals zero. The equation of the line is given as U of y equals m g y. The graph of the total energy E which is equal to K plus U is a constant, which appears as a black horizontal line. The height above the ground where the E and U graphs intersect is y sub max. The energy between the red U line and the horizontal axis us U sub A. The energy between the red U of y line and the black E line is K sub A.">
            <a:extLst>
              <a:ext uri="{FF2B5EF4-FFF2-40B4-BE49-F238E27FC236}">
                <a16:creationId xmlns:a16="http://schemas.microsoft.com/office/drawing/2014/main" id="{44003706-6E40-264D-BE81-0480178DA9AB}"/>
              </a:ext>
            </a:extLst>
          </p:cNvPr>
          <p:cNvPicPr>
            <a:picLocks noChangeAspect="1"/>
          </p:cNvPicPr>
          <p:nvPr/>
        </p:nvPicPr>
        <p:blipFill>
          <a:blip r:embed="rId3">
            <a:extLst>
              <a:ext uri="{28A0092B-C50C-407E-A947-70E740481C1C}">
                <a14:useLocalDpi xmlns:a14="http://schemas.microsoft.com/office/drawing/2010/main" val="0"/>
              </a:ext>
            </a:extLst>
          </a:blip>
          <a:srcRect l="-16859" r="-16859"/>
          <a:stretch>
            <a:fillRect/>
          </a:stretch>
        </p:blipFill>
        <p:spPr>
          <a:xfrm>
            <a:off x="-404189" y="1678964"/>
            <a:ext cx="8062913" cy="3500071"/>
          </a:xfrm>
          <a:prstGeom prst="rect">
            <a:avLst/>
          </a:prstGeom>
        </p:spPr>
      </p:pic>
      <p:sp>
        <p:nvSpPr>
          <p:cNvPr id="7" name="Text Placeholder 6">
            <a:extLst>
              <a:ext uri="{FF2B5EF4-FFF2-40B4-BE49-F238E27FC236}">
                <a16:creationId xmlns:a16="http://schemas.microsoft.com/office/drawing/2014/main" id="{A3501E97-1F30-B84D-A147-3C242E4D1B2E}"/>
              </a:ext>
            </a:extLst>
          </p:cNvPr>
          <p:cNvSpPr txBox="1">
            <a:spLocks/>
          </p:cNvSpPr>
          <p:nvPr/>
        </p:nvSpPr>
        <p:spPr>
          <a:xfrm>
            <a:off x="463830" y="5321061"/>
            <a:ext cx="6467060"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The potential energy graph for an object in vertical free fall, with various quantities indicated.</a:t>
            </a:r>
          </a:p>
        </p:txBody>
      </p:sp>
      <p:sp>
        <p:nvSpPr>
          <p:cNvPr id="3" name="Rectangle 2">
            <a:extLst>
              <a:ext uri="{FF2B5EF4-FFF2-40B4-BE49-F238E27FC236}">
                <a16:creationId xmlns:a16="http://schemas.microsoft.com/office/drawing/2014/main" id="{5C6CC3AB-42CF-1243-9474-976D0507D5B2}"/>
              </a:ext>
            </a:extLst>
          </p:cNvPr>
          <p:cNvSpPr/>
          <p:nvPr/>
        </p:nvSpPr>
        <p:spPr>
          <a:xfrm>
            <a:off x="6878415" y="2058360"/>
            <a:ext cx="5645427" cy="923330"/>
          </a:xfrm>
          <a:prstGeom prst="rect">
            <a:avLst/>
          </a:prstGeom>
        </p:spPr>
        <p:txBody>
          <a:bodyPr wrap="square">
            <a:spAutoFit/>
          </a:bodyPr>
          <a:lstStyle/>
          <a:p>
            <a:r>
              <a:rPr lang="en-US" dirty="0">
                <a:solidFill>
                  <a:srgbClr val="000066"/>
                </a:solidFill>
                <a:latin typeface="LiberationSerif"/>
              </a:rPr>
              <a:t>If we use the gravitational potential energy reference point of zero at </a:t>
            </a:r>
            <a:r>
              <a:rPr lang="en-US" i="1" dirty="0">
                <a:solidFill>
                  <a:srgbClr val="000066"/>
                </a:solidFill>
                <a:latin typeface="STIXGeneral" pitchFamily="2" charset="2"/>
              </a:rPr>
              <a:t>y</a:t>
            </a:r>
            <a:r>
              <a:rPr lang="en-US" sz="1400" baseline="-25000" dirty="0">
                <a:solidFill>
                  <a:srgbClr val="000066"/>
                </a:solidFill>
                <a:latin typeface="STIXGeneral" pitchFamily="2" charset="2"/>
              </a:rPr>
              <a:t>0</a:t>
            </a:r>
            <a:r>
              <a:rPr lang="en-US" dirty="0">
                <a:solidFill>
                  <a:srgbClr val="000066"/>
                </a:solidFill>
                <a:latin typeface="STIXGeneral" pitchFamily="2" charset="2"/>
              </a:rPr>
              <a:t>,</a:t>
            </a:r>
            <a:r>
              <a:rPr lang="en-US" dirty="0">
                <a:solidFill>
                  <a:srgbClr val="000066"/>
                </a:solidFill>
                <a:latin typeface="LiberationSerif"/>
              </a:rPr>
              <a:t> we can rewrite the gravitational potential energy </a:t>
            </a:r>
            <a:r>
              <a:rPr lang="en-US" i="1" dirty="0">
                <a:solidFill>
                  <a:srgbClr val="000066"/>
                </a:solidFill>
                <a:latin typeface="LiberationSerif"/>
              </a:rPr>
              <a:t>U </a:t>
            </a:r>
            <a:r>
              <a:rPr lang="en-US" dirty="0">
                <a:solidFill>
                  <a:srgbClr val="000066"/>
                </a:solidFill>
                <a:latin typeface="LiberationSerif"/>
              </a:rPr>
              <a:t>as </a:t>
            </a:r>
            <a:r>
              <a:rPr lang="en-US" i="1" dirty="0" err="1">
                <a:latin typeface="LiberationSerif"/>
              </a:rPr>
              <a:t>mgy</a:t>
            </a:r>
            <a:r>
              <a:rPr lang="en-US" dirty="0">
                <a:latin typeface="LiberationSerif"/>
              </a:rPr>
              <a:t>. </a:t>
            </a:r>
            <a:r>
              <a:rPr lang="en-US" dirty="0">
                <a:solidFill>
                  <a:srgbClr val="000066"/>
                </a:solidFill>
                <a:latin typeface="LiberationSerif"/>
              </a:rPr>
              <a:t>Solving for </a:t>
            </a:r>
            <a:r>
              <a:rPr lang="en-US" i="1" dirty="0">
                <a:solidFill>
                  <a:srgbClr val="000066"/>
                </a:solidFill>
                <a:latin typeface="LiberationSerif"/>
              </a:rPr>
              <a:t>y </a:t>
            </a:r>
            <a:r>
              <a:rPr lang="en-US" dirty="0">
                <a:solidFill>
                  <a:srgbClr val="000066"/>
                </a:solidFill>
                <a:latin typeface="LiberationSerif"/>
              </a:rPr>
              <a:t>results in </a:t>
            </a:r>
            <a:endParaRPr lang="en-US" dirty="0">
              <a:solidFill>
                <a:srgbClr val="000066"/>
              </a:solidFill>
            </a:endParaRPr>
          </a:p>
        </p:txBody>
      </p:sp>
      <p:pic>
        <p:nvPicPr>
          <p:cNvPr id="9" name="Picture 8" descr="Text&#10;&#10;Description automatically generated">
            <a:extLst>
              <a:ext uri="{FF2B5EF4-FFF2-40B4-BE49-F238E27FC236}">
                <a16:creationId xmlns:a16="http://schemas.microsoft.com/office/drawing/2014/main" id="{89E32441-B6FF-D547-A2E0-C6F5E6BBB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6278" y="1368375"/>
            <a:ext cx="1676400" cy="774700"/>
          </a:xfrm>
          <a:prstGeom prst="rect">
            <a:avLst/>
          </a:prstGeom>
        </p:spPr>
      </p:pic>
      <p:pic>
        <p:nvPicPr>
          <p:cNvPr id="11" name="Picture 10" descr="Text&#10;&#10;Description automatically generated">
            <a:extLst>
              <a:ext uri="{FF2B5EF4-FFF2-40B4-BE49-F238E27FC236}">
                <a16:creationId xmlns:a16="http://schemas.microsoft.com/office/drawing/2014/main" id="{546B8228-D906-6242-8FAB-CEECDE8327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1504" y="2972080"/>
            <a:ext cx="1805159" cy="521208"/>
          </a:xfrm>
          <a:prstGeom prst="rect">
            <a:avLst/>
          </a:prstGeom>
        </p:spPr>
      </p:pic>
      <p:sp>
        <p:nvSpPr>
          <p:cNvPr id="12" name="Rectangle 11">
            <a:extLst>
              <a:ext uri="{FF2B5EF4-FFF2-40B4-BE49-F238E27FC236}">
                <a16:creationId xmlns:a16="http://schemas.microsoft.com/office/drawing/2014/main" id="{80DDEFBF-BCDE-4C4E-85F1-317B43AC6AD5}"/>
              </a:ext>
            </a:extLst>
          </p:cNvPr>
          <p:cNvSpPr/>
          <p:nvPr/>
        </p:nvSpPr>
        <p:spPr>
          <a:xfrm>
            <a:off x="6930890" y="3504910"/>
            <a:ext cx="5171732" cy="1754326"/>
          </a:xfrm>
          <a:prstGeom prst="rect">
            <a:avLst/>
          </a:prstGeom>
        </p:spPr>
        <p:txBody>
          <a:bodyPr wrap="square">
            <a:spAutoFit/>
          </a:bodyPr>
          <a:lstStyle/>
          <a:p>
            <a:r>
              <a:rPr lang="en-US" dirty="0">
                <a:solidFill>
                  <a:srgbClr val="000066"/>
                </a:solidFill>
                <a:latin typeface="LiberationSerif"/>
              </a:rPr>
              <a:t>At the maximum height, the kinetic energy and the speed are zero, so if the object were initially traveling upward, its velocity would go through zero there, and </a:t>
            </a:r>
            <a:r>
              <a:rPr lang="en-US" i="1" dirty="0" err="1">
                <a:solidFill>
                  <a:srgbClr val="000066"/>
                </a:solidFill>
                <a:latin typeface="STIXGeneral" pitchFamily="2" charset="2"/>
              </a:rPr>
              <a:t>y</a:t>
            </a:r>
            <a:r>
              <a:rPr lang="en-US" sz="1400" dirty="0" err="1">
                <a:solidFill>
                  <a:srgbClr val="000066"/>
                </a:solidFill>
                <a:latin typeface="STIXGeneral" pitchFamily="2" charset="2"/>
              </a:rPr>
              <a:t>max</a:t>
            </a:r>
            <a:r>
              <a:rPr lang="en-US" sz="1400" dirty="0">
                <a:solidFill>
                  <a:srgbClr val="000066"/>
                </a:solidFill>
                <a:latin typeface="STIXGeneral" pitchFamily="2" charset="2"/>
              </a:rPr>
              <a:t> </a:t>
            </a:r>
            <a:r>
              <a:rPr lang="en-US" dirty="0">
                <a:solidFill>
                  <a:srgbClr val="000066"/>
                </a:solidFill>
                <a:latin typeface="LiberationSerif"/>
              </a:rPr>
              <a:t>would be a turning point in the motion. </a:t>
            </a:r>
          </a:p>
          <a:p>
            <a:r>
              <a:rPr lang="en-US" dirty="0">
                <a:solidFill>
                  <a:srgbClr val="000066"/>
                </a:solidFill>
                <a:latin typeface="LiberationSerif"/>
              </a:rPr>
              <a:t>At ground level, </a:t>
            </a:r>
            <a:r>
              <a:rPr lang="en-US" i="1" dirty="0">
                <a:solidFill>
                  <a:srgbClr val="000066"/>
                </a:solidFill>
                <a:latin typeface="STIXGeneral" pitchFamily="2" charset="2"/>
              </a:rPr>
              <a:t>y</a:t>
            </a:r>
            <a:r>
              <a:rPr lang="en-US" sz="1400" baseline="-25000" dirty="0">
                <a:solidFill>
                  <a:srgbClr val="000066"/>
                </a:solidFill>
                <a:latin typeface="STIXGeneral" pitchFamily="2" charset="2"/>
              </a:rPr>
              <a:t>0 </a:t>
            </a:r>
            <a:r>
              <a:rPr lang="en-US" dirty="0">
                <a:solidFill>
                  <a:srgbClr val="000066"/>
                </a:solidFill>
                <a:latin typeface="STIXGeneral" pitchFamily="2" charset="2"/>
              </a:rPr>
              <a:t>= 0 </a:t>
            </a:r>
            <a:r>
              <a:rPr lang="en-US" dirty="0">
                <a:solidFill>
                  <a:srgbClr val="000066"/>
                </a:solidFill>
                <a:latin typeface="LiberationSerif"/>
              </a:rPr>
              <a:t>, the potential energy is zero, and the kinetic energy and the speed are maximum: </a:t>
            </a:r>
            <a:endParaRPr lang="en-US" dirty="0">
              <a:solidFill>
                <a:srgbClr val="000066"/>
              </a:solidFill>
            </a:endParaRPr>
          </a:p>
        </p:txBody>
      </p:sp>
      <p:pic>
        <p:nvPicPr>
          <p:cNvPr id="14" name="Picture 13" descr="Text&#10;&#10;Description automatically generated">
            <a:extLst>
              <a:ext uri="{FF2B5EF4-FFF2-40B4-BE49-F238E27FC236}">
                <a16:creationId xmlns:a16="http://schemas.microsoft.com/office/drawing/2014/main" id="{C6AC15DE-C9A8-7445-906D-AC9BF93F38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36278" y="5312614"/>
            <a:ext cx="2247900" cy="1384300"/>
          </a:xfrm>
          <a:prstGeom prst="rect">
            <a:avLst/>
          </a:prstGeom>
        </p:spPr>
      </p:pic>
    </p:spTree>
    <p:extLst>
      <p:ext uri="{BB962C8B-B14F-4D97-AF65-F5344CB8AC3E}">
        <p14:creationId xmlns:p14="http://schemas.microsoft.com/office/powerpoint/2010/main" val="37559301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Placeholder 1" descr="Figure a is an illustration of a glider between springs on a horizontal air track. Figure b is a graph of energy in Joules as a function of displacement from unstretched length in meters. The potential energy U of x is plotted as a red upward opening parabola. The function U of x is equal to one half k x squared. The equilibrium point is at the minimum of the parabola, where x sub zero equals zero. The total energy E which is equal to K plus U and is constant is plotted as a horizontal black line. The points where the total E line meets the potential U curve are labeled as turning points. One turning point is at minus x sub max, and the other is at plus x sub max.">
            <a:extLst>
              <a:ext uri="{FF2B5EF4-FFF2-40B4-BE49-F238E27FC236}">
                <a16:creationId xmlns:a16="http://schemas.microsoft.com/office/drawing/2014/main" id="{FF75FEF4-0ED4-C34F-BCF1-89729E973D7A}"/>
              </a:ext>
            </a:extLst>
          </p:cNvPr>
          <p:cNvPicPr>
            <a:picLocks noChangeAspect="1"/>
          </p:cNvPicPr>
          <p:nvPr/>
        </p:nvPicPr>
        <p:blipFill>
          <a:blip r:embed="rId3" cstate="email">
            <a:extLst>
              <a:ext uri="{28A0092B-C50C-407E-A947-70E740481C1C}">
                <a14:useLocalDpi xmlns:a14="http://schemas.microsoft.com/office/drawing/2010/main" val="0"/>
              </a:ext>
            </a:extLst>
          </a:blip>
          <a:srcRect t="-3308" b="-3308"/>
          <a:stretch>
            <a:fillRect/>
          </a:stretch>
        </p:blipFill>
        <p:spPr>
          <a:xfrm>
            <a:off x="443947" y="802276"/>
            <a:ext cx="8062913" cy="3500071"/>
          </a:xfrm>
          <a:prstGeom prst="rect">
            <a:avLst/>
          </a:prstGeom>
        </p:spPr>
      </p:pic>
      <p:sp>
        <p:nvSpPr>
          <p:cNvPr id="7" name="Text Placeholder 6">
            <a:extLst>
              <a:ext uri="{FF2B5EF4-FFF2-40B4-BE49-F238E27FC236}">
                <a16:creationId xmlns:a16="http://schemas.microsoft.com/office/drawing/2014/main" id="{C4EF842B-56DE-EA40-9FA7-24DC914F09BC}"/>
              </a:ext>
            </a:extLst>
          </p:cNvPr>
          <p:cNvSpPr txBox="1">
            <a:spLocks/>
          </p:cNvSpPr>
          <p:nvPr/>
        </p:nvSpPr>
        <p:spPr>
          <a:xfrm>
            <a:off x="443948" y="4341584"/>
            <a:ext cx="8062912"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Tx/>
              <a:buAutoNum type="alphaLcParenBoth"/>
            </a:pPr>
            <a:r>
              <a:rPr lang="en-US" sz="1600">
                <a:solidFill>
                  <a:srgbClr val="000066"/>
                </a:solidFill>
              </a:rPr>
              <a:t>A glider between springs on an air track is an example of a horizontal mass-spring system. </a:t>
            </a:r>
          </a:p>
          <a:p>
            <a:pPr marL="342900" indent="-342900">
              <a:buFontTx/>
              <a:buAutoNum type="alphaLcParenBoth"/>
            </a:pPr>
            <a:r>
              <a:rPr lang="en-US" sz="1600">
                <a:solidFill>
                  <a:srgbClr val="000066"/>
                </a:solidFill>
              </a:rPr>
              <a:t>The potential energy diagram for this system, with various quantities indicated.</a:t>
            </a:r>
            <a:endParaRPr lang="en-US" sz="1600" dirty="0">
              <a:solidFill>
                <a:srgbClr val="000066"/>
              </a:solidFill>
            </a:endParaRPr>
          </a:p>
        </p:txBody>
      </p:sp>
      <p:sp>
        <p:nvSpPr>
          <p:cNvPr id="2" name="Rectangle 1">
            <a:extLst>
              <a:ext uri="{FF2B5EF4-FFF2-40B4-BE49-F238E27FC236}">
                <a16:creationId xmlns:a16="http://schemas.microsoft.com/office/drawing/2014/main" id="{FEE0977F-5BAA-E044-A5C3-D33C3A8A1347}"/>
              </a:ext>
            </a:extLst>
          </p:cNvPr>
          <p:cNvSpPr/>
          <p:nvPr/>
        </p:nvSpPr>
        <p:spPr>
          <a:xfrm>
            <a:off x="1060174" y="5070555"/>
            <a:ext cx="10913165" cy="400110"/>
          </a:xfrm>
          <a:prstGeom prst="rect">
            <a:avLst/>
          </a:prstGeom>
        </p:spPr>
        <p:txBody>
          <a:bodyPr wrap="square">
            <a:spAutoFit/>
          </a:bodyPr>
          <a:lstStyle/>
          <a:p>
            <a:r>
              <a:rPr lang="en-US" sz="2000" i="1" dirty="0">
                <a:solidFill>
                  <a:srgbClr val="7030A0"/>
                </a:solidFill>
                <a:latin typeface="STIXGeneral" pitchFamily="2" charset="2"/>
              </a:rPr>
              <a:t>K </a:t>
            </a:r>
            <a:r>
              <a:rPr lang="en-US" sz="2000" dirty="0">
                <a:solidFill>
                  <a:srgbClr val="7030A0"/>
                </a:solidFill>
                <a:latin typeface="STIXGeneral" pitchFamily="2" charset="2"/>
              </a:rPr>
              <a:t>= 0 </a:t>
            </a:r>
            <a:r>
              <a:rPr lang="en-US" sz="2000" dirty="0">
                <a:solidFill>
                  <a:srgbClr val="7030A0"/>
                </a:solidFill>
                <a:latin typeface="LiberationSerif"/>
              </a:rPr>
              <a:t>and </a:t>
            </a:r>
            <a:r>
              <a:rPr lang="en-US" sz="2000" i="1" dirty="0">
                <a:solidFill>
                  <a:srgbClr val="7030A0"/>
                </a:solidFill>
                <a:latin typeface="STIXGeneral" pitchFamily="2" charset="2"/>
              </a:rPr>
              <a:t>U </a:t>
            </a:r>
            <a:r>
              <a:rPr lang="en-US" sz="2000" dirty="0">
                <a:solidFill>
                  <a:srgbClr val="7030A0"/>
                </a:solidFill>
                <a:latin typeface="STIXGeneral" pitchFamily="2" charset="2"/>
              </a:rPr>
              <a:t>= </a:t>
            </a:r>
            <a:r>
              <a:rPr lang="en-US" sz="2000" i="1" dirty="0">
                <a:solidFill>
                  <a:srgbClr val="7030A0"/>
                </a:solidFill>
                <a:latin typeface="STIXGeneral" pitchFamily="2" charset="2"/>
              </a:rPr>
              <a:t>E </a:t>
            </a:r>
            <a:r>
              <a:rPr lang="en-US" sz="2000" dirty="0">
                <a:solidFill>
                  <a:srgbClr val="7030A0"/>
                </a:solidFill>
                <a:latin typeface="LiberationSerif"/>
              </a:rPr>
              <a:t>at a </a:t>
            </a:r>
            <a:r>
              <a:rPr lang="en-US" sz="2000" b="1" dirty="0">
                <a:solidFill>
                  <a:srgbClr val="C00000"/>
                </a:solidFill>
                <a:latin typeface="LiberationSerif"/>
              </a:rPr>
              <a:t>turning point</a:t>
            </a:r>
            <a:r>
              <a:rPr lang="en-US" sz="2000" dirty="0">
                <a:solidFill>
                  <a:srgbClr val="7030A0"/>
                </a:solidFill>
                <a:latin typeface="LiberationSerif"/>
              </a:rPr>
              <a:t>, of which there are two for the elastic spring potential energy, </a:t>
            </a:r>
            <a:endParaRPr lang="en-US" sz="2000" dirty="0">
              <a:solidFill>
                <a:srgbClr val="7030A0"/>
              </a:solidFill>
            </a:endParaRPr>
          </a:p>
        </p:txBody>
      </p:sp>
      <p:pic>
        <p:nvPicPr>
          <p:cNvPr id="8" name="Picture 7" descr="Diagram&#10;&#10;Description automatically generated">
            <a:extLst>
              <a:ext uri="{FF2B5EF4-FFF2-40B4-BE49-F238E27FC236}">
                <a16:creationId xmlns:a16="http://schemas.microsoft.com/office/drawing/2014/main" id="{185E3567-1975-D340-B9E6-8527732A9F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2423" y="5480423"/>
            <a:ext cx="1689100" cy="444500"/>
          </a:xfrm>
          <a:prstGeom prst="rect">
            <a:avLst/>
          </a:prstGeom>
        </p:spPr>
      </p:pic>
      <p:sp>
        <p:nvSpPr>
          <p:cNvPr id="9" name="Rectangle 8">
            <a:extLst>
              <a:ext uri="{FF2B5EF4-FFF2-40B4-BE49-F238E27FC236}">
                <a16:creationId xmlns:a16="http://schemas.microsoft.com/office/drawing/2014/main" id="{F878B30D-0EFE-4F4D-9B05-F8DB06B1963A}"/>
              </a:ext>
            </a:extLst>
          </p:cNvPr>
          <p:cNvSpPr/>
          <p:nvPr/>
        </p:nvSpPr>
        <p:spPr>
          <a:xfrm>
            <a:off x="1060174" y="5922231"/>
            <a:ext cx="10014375" cy="707886"/>
          </a:xfrm>
          <a:prstGeom prst="rect">
            <a:avLst/>
          </a:prstGeom>
        </p:spPr>
        <p:txBody>
          <a:bodyPr wrap="square">
            <a:spAutoFit/>
          </a:bodyPr>
          <a:lstStyle/>
          <a:p>
            <a:r>
              <a:rPr lang="en-US" sz="2000" dirty="0">
                <a:solidFill>
                  <a:srgbClr val="7030A0"/>
                </a:solidFill>
                <a:latin typeface="LiberationSerif"/>
              </a:rPr>
              <a:t>At the bottom of the potential well, </a:t>
            </a:r>
            <a:r>
              <a:rPr lang="en-US" sz="2000" i="1" dirty="0">
                <a:latin typeface="STIXGeneral" pitchFamily="2" charset="2"/>
              </a:rPr>
              <a:t>x </a:t>
            </a:r>
            <a:r>
              <a:rPr lang="en-US" sz="2000" dirty="0">
                <a:latin typeface="STIXGeneral" pitchFamily="2" charset="2"/>
              </a:rPr>
              <a:t>= 0, </a:t>
            </a:r>
            <a:r>
              <a:rPr lang="en-US" sz="2000" i="1" dirty="0">
                <a:latin typeface="STIXGeneral" pitchFamily="2" charset="2"/>
              </a:rPr>
              <a:t>U </a:t>
            </a:r>
            <a:r>
              <a:rPr lang="en-US" sz="2000" dirty="0">
                <a:latin typeface="STIXGeneral" pitchFamily="2" charset="2"/>
              </a:rPr>
              <a:t>= 0 </a:t>
            </a:r>
            <a:r>
              <a:rPr lang="en-US" sz="2000" dirty="0">
                <a:solidFill>
                  <a:srgbClr val="7030A0"/>
                </a:solidFill>
                <a:latin typeface="LiberationSerif"/>
              </a:rPr>
              <a:t>and the kinetic </a:t>
            </a:r>
            <a:r>
              <a:rPr lang="en-US" sz="2000" dirty="0">
                <a:solidFill>
                  <a:srgbClr val="7030A0"/>
                </a:solidFill>
              </a:rPr>
              <a:t>energy is a maximum, </a:t>
            </a:r>
            <a:r>
              <a:rPr lang="en-US" sz="2000" i="1" dirty="0"/>
              <a:t>K </a:t>
            </a:r>
            <a:r>
              <a:rPr lang="en-US" sz="2000" dirty="0"/>
              <a:t>= </a:t>
            </a:r>
            <a:r>
              <a:rPr lang="en-US" sz="2000" i="1" dirty="0"/>
              <a:t>E</a:t>
            </a:r>
            <a:r>
              <a:rPr lang="en-US" sz="2000" dirty="0">
                <a:solidFill>
                  <a:srgbClr val="7030A0"/>
                </a:solidFill>
              </a:rPr>
              <a:t>, so </a:t>
            </a:r>
          </a:p>
          <a:p>
            <a:r>
              <a:rPr lang="en-US" sz="2000" dirty="0">
                <a:solidFill>
                  <a:srgbClr val="7030A0"/>
                </a:solidFill>
                <a:latin typeface="LiberationSerif"/>
              </a:rPr>
              <a:t> </a:t>
            </a:r>
            <a:endParaRPr lang="en-US" sz="2000" dirty="0">
              <a:solidFill>
                <a:srgbClr val="7030A0"/>
              </a:solidFill>
            </a:endParaRPr>
          </a:p>
        </p:txBody>
      </p:sp>
      <p:pic>
        <p:nvPicPr>
          <p:cNvPr id="11" name="Picture 10" descr="Diagram&#10;&#10;Description automatically generated">
            <a:extLst>
              <a:ext uri="{FF2B5EF4-FFF2-40B4-BE49-F238E27FC236}">
                <a16:creationId xmlns:a16="http://schemas.microsoft.com/office/drawing/2014/main" id="{0C372E5B-16D1-1145-B834-0AF5ED14E4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2423" y="6322623"/>
            <a:ext cx="1587500" cy="406400"/>
          </a:xfrm>
          <a:prstGeom prst="rect">
            <a:avLst/>
          </a:prstGeom>
        </p:spPr>
      </p:pic>
      <p:sp>
        <p:nvSpPr>
          <p:cNvPr id="12" name="Rectangle 11">
            <a:extLst>
              <a:ext uri="{FF2B5EF4-FFF2-40B4-BE49-F238E27FC236}">
                <a16:creationId xmlns:a16="http://schemas.microsoft.com/office/drawing/2014/main" id="{0C1FC8CD-A590-0046-BDEB-1BD8110211E6}"/>
              </a:ext>
            </a:extLst>
          </p:cNvPr>
          <p:cNvSpPr/>
          <p:nvPr/>
        </p:nvSpPr>
        <p:spPr>
          <a:xfrm>
            <a:off x="2743201" y="89044"/>
            <a:ext cx="6533322" cy="523220"/>
          </a:xfrm>
          <a:prstGeom prst="rect">
            <a:avLst/>
          </a:prstGeom>
        </p:spPr>
        <p:txBody>
          <a:bodyPr wrap="square">
            <a:spAutoFit/>
          </a:bodyPr>
          <a:lstStyle/>
          <a:p>
            <a:r>
              <a:rPr lang="en-US" sz="2800" dirty="0">
                <a:solidFill>
                  <a:srgbClr val="C00000"/>
                </a:solidFill>
                <a:latin typeface="NewBaskervilleStd-Roman"/>
              </a:rPr>
              <a:t>Potential Energy Diagrams and Stability </a:t>
            </a:r>
          </a:p>
        </p:txBody>
      </p:sp>
    </p:spTree>
    <p:extLst>
      <p:ext uri="{BB962C8B-B14F-4D97-AF65-F5344CB8AC3E}">
        <p14:creationId xmlns:p14="http://schemas.microsoft.com/office/powerpoint/2010/main" val="6949362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8EF3E76-95E4-4C46-95A6-4F057AD34A60}"/>
              </a:ext>
            </a:extLst>
          </p:cNvPr>
          <p:cNvSpPr/>
          <p:nvPr/>
        </p:nvSpPr>
        <p:spPr>
          <a:xfrm>
            <a:off x="2743201" y="89044"/>
            <a:ext cx="6533322" cy="523220"/>
          </a:xfrm>
          <a:prstGeom prst="rect">
            <a:avLst/>
          </a:prstGeom>
        </p:spPr>
        <p:txBody>
          <a:bodyPr wrap="square">
            <a:spAutoFit/>
          </a:bodyPr>
          <a:lstStyle/>
          <a:p>
            <a:r>
              <a:rPr lang="en-US" sz="2800" dirty="0">
                <a:solidFill>
                  <a:srgbClr val="C00000"/>
                </a:solidFill>
                <a:latin typeface="NewBaskervilleStd-Roman"/>
              </a:rPr>
              <a:t>Potential Energy Diagrams and Stability </a:t>
            </a:r>
          </a:p>
        </p:txBody>
      </p:sp>
      <p:sp>
        <p:nvSpPr>
          <p:cNvPr id="7" name="Rectangle 6">
            <a:extLst>
              <a:ext uri="{FF2B5EF4-FFF2-40B4-BE49-F238E27FC236}">
                <a16:creationId xmlns:a16="http://schemas.microsoft.com/office/drawing/2014/main" id="{2E3A629D-4670-064E-9534-6F3EFD5FDD08}"/>
              </a:ext>
            </a:extLst>
          </p:cNvPr>
          <p:cNvSpPr/>
          <p:nvPr/>
        </p:nvSpPr>
        <p:spPr>
          <a:xfrm>
            <a:off x="679569" y="1128309"/>
            <a:ext cx="10832862" cy="1785104"/>
          </a:xfrm>
          <a:prstGeom prst="rect">
            <a:avLst/>
          </a:prstGeom>
        </p:spPr>
        <p:txBody>
          <a:bodyPr wrap="square">
            <a:spAutoFit/>
          </a:bodyPr>
          <a:lstStyle/>
          <a:p>
            <a:r>
              <a:rPr lang="en-US" sz="2200" dirty="0">
                <a:solidFill>
                  <a:srgbClr val="0000CC"/>
                </a:solidFill>
              </a:rPr>
              <a:t>Assignment 4</a:t>
            </a:r>
          </a:p>
          <a:p>
            <a:r>
              <a:rPr lang="en-US" sz="2200" dirty="0"/>
              <a:t>A particle of mass 0.50 kg moves along the </a:t>
            </a:r>
            <a:r>
              <a:rPr lang="en-US" sz="2200" i="1" dirty="0"/>
              <a:t>x</a:t>
            </a:r>
            <a:r>
              <a:rPr lang="en-US" sz="2200" dirty="0"/>
              <a:t>-axis with a potential energy whose dependence on </a:t>
            </a:r>
            <a:r>
              <a:rPr lang="en-US" sz="2200" i="1" dirty="0"/>
              <a:t>x </a:t>
            </a:r>
            <a:r>
              <a:rPr lang="en-US" sz="2200" dirty="0"/>
              <a:t>is shown below. What is the force on the particle at </a:t>
            </a:r>
            <a:r>
              <a:rPr lang="en-US" sz="2200" i="1" dirty="0"/>
              <a:t>x </a:t>
            </a:r>
            <a:r>
              <a:rPr lang="en-US" sz="2200" dirty="0"/>
              <a:t>= 2.0, 5.0, 8.0, and 12 m? </a:t>
            </a:r>
          </a:p>
          <a:p>
            <a:endParaRPr lang="en-US" sz="2200" dirty="0">
              <a:solidFill>
                <a:srgbClr val="0000CC"/>
              </a:solidFill>
            </a:endParaRPr>
          </a:p>
          <a:p>
            <a:endParaRPr lang="en-US" sz="2200" dirty="0">
              <a:solidFill>
                <a:srgbClr val="0000CC"/>
              </a:solidFill>
            </a:endParaRPr>
          </a:p>
        </p:txBody>
      </p:sp>
      <p:pic>
        <p:nvPicPr>
          <p:cNvPr id="3" name="Picture 2" descr="Chart, line chart&#10;&#10;Description automatically generated">
            <a:extLst>
              <a:ext uri="{FF2B5EF4-FFF2-40B4-BE49-F238E27FC236}">
                <a16:creationId xmlns:a16="http://schemas.microsoft.com/office/drawing/2014/main" id="{2DD8B69C-C3C9-984C-AFB8-2C09D03F9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1" y="2445025"/>
            <a:ext cx="6515281" cy="4041976"/>
          </a:xfrm>
          <a:prstGeom prst="rect">
            <a:avLst/>
          </a:prstGeom>
        </p:spPr>
      </p:pic>
    </p:spTree>
    <p:extLst>
      <p:ext uri="{BB962C8B-B14F-4D97-AF65-F5344CB8AC3E}">
        <p14:creationId xmlns:p14="http://schemas.microsoft.com/office/powerpoint/2010/main" val="12477866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882887" y="89044"/>
            <a:ext cx="2886623" cy="523220"/>
          </a:xfrm>
          <a:prstGeom prst="rect">
            <a:avLst/>
          </a:prstGeom>
        </p:spPr>
        <p:txBody>
          <a:bodyPr wrap="square">
            <a:spAutoFit/>
          </a:bodyPr>
          <a:lstStyle/>
          <a:p>
            <a:r>
              <a:rPr lang="en-US" sz="2800" dirty="0">
                <a:solidFill>
                  <a:srgbClr val="C00000"/>
                </a:solidFill>
                <a:latin typeface="NewBaskervilleStd-Roman"/>
              </a:rPr>
              <a:t>Sources of Energy </a:t>
            </a:r>
          </a:p>
        </p:txBody>
      </p:sp>
      <p:pic>
        <p:nvPicPr>
          <p:cNvPr id="3" name="Picture 2" descr="Timeline&#10;&#10;Description automatically generated">
            <a:extLst>
              <a:ext uri="{FF2B5EF4-FFF2-40B4-BE49-F238E27FC236}">
                <a16:creationId xmlns:a16="http://schemas.microsoft.com/office/drawing/2014/main" id="{31EF29E8-C6A1-4746-ACCF-5C53E3309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95" y="612264"/>
            <a:ext cx="8020050" cy="5943600"/>
          </a:xfrm>
          <a:prstGeom prst="rect">
            <a:avLst/>
          </a:prstGeom>
        </p:spPr>
      </p:pic>
      <p:sp>
        <p:nvSpPr>
          <p:cNvPr id="8" name="Text Placeholder 6">
            <a:extLst>
              <a:ext uri="{FF2B5EF4-FFF2-40B4-BE49-F238E27FC236}">
                <a16:creationId xmlns:a16="http://schemas.microsoft.com/office/drawing/2014/main" id="{C8ADF162-4EFF-A849-8802-76FCC56AB8A0}"/>
              </a:ext>
            </a:extLst>
          </p:cNvPr>
          <p:cNvSpPr txBox="1">
            <a:spLocks/>
          </p:cNvSpPr>
          <p:nvPr/>
        </p:nvSpPr>
        <p:spPr>
          <a:xfrm>
            <a:off x="8593511" y="1003326"/>
            <a:ext cx="3732959" cy="350664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C00000"/>
                </a:solidFill>
              </a:rPr>
              <a:t>Energy that we use in society takes many forms, which is converted from one into another depending on the process involved. </a:t>
            </a:r>
          </a:p>
          <a:p>
            <a:pPr marL="0" indent="0">
              <a:buNone/>
            </a:pPr>
            <a:r>
              <a:rPr lang="en-US" sz="1000" dirty="0"/>
              <a:t>(credit “sun”: EIT SOHO </a:t>
            </a:r>
            <a:r>
              <a:rPr lang="nl-NL" sz="1000" dirty="0"/>
              <a:t>Consortium, ESA, NASA; credit “</a:t>
            </a:r>
            <a:r>
              <a:rPr lang="nl-NL" sz="1000" dirty="0" err="1"/>
              <a:t>solar</a:t>
            </a:r>
            <a:r>
              <a:rPr lang="nl-NL" sz="1000" dirty="0"/>
              <a:t> panels”: “</a:t>
            </a:r>
            <a:r>
              <a:rPr lang="nl-NL" sz="1000" dirty="0" err="1"/>
              <a:t>kjkolb</a:t>
            </a:r>
            <a:r>
              <a:rPr lang="nl-NL" sz="1000" dirty="0"/>
              <a:t>”/Wikimedia </a:t>
            </a:r>
            <a:r>
              <a:rPr lang="nl-NL" sz="1000" dirty="0" err="1"/>
              <a:t>Commons</a:t>
            </a:r>
            <a:r>
              <a:rPr lang="nl-NL" sz="1000" dirty="0"/>
              <a:t>; credit “gas </a:t>
            </a:r>
            <a:r>
              <a:rPr lang="nl-NL" sz="1000" dirty="0" err="1"/>
              <a:t>burner</a:t>
            </a:r>
            <a:r>
              <a:rPr lang="nl-NL" sz="1000" dirty="0"/>
              <a:t>”: Steven </a:t>
            </a:r>
            <a:r>
              <a:rPr lang="nl-NL" sz="1000" dirty="0" err="1"/>
              <a:t>Depolo</a:t>
            </a:r>
            <a:r>
              <a:rPr lang="nl-NL" sz="1000" dirty="0"/>
              <a:t>)</a:t>
            </a:r>
            <a:endParaRPr lang="en-US" sz="1000" dirty="0"/>
          </a:p>
        </p:txBody>
      </p:sp>
      <p:sp>
        <p:nvSpPr>
          <p:cNvPr id="9" name="Rectangle 8">
            <a:extLst>
              <a:ext uri="{FF2B5EF4-FFF2-40B4-BE49-F238E27FC236}">
                <a16:creationId xmlns:a16="http://schemas.microsoft.com/office/drawing/2014/main" id="{EED445B6-69CA-6E49-8058-B89CD4346E99}"/>
              </a:ext>
            </a:extLst>
          </p:cNvPr>
          <p:cNvSpPr/>
          <p:nvPr/>
        </p:nvSpPr>
        <p:spPr>
          <a:xfrm>
            <a:off x="8593511" y="3429000"/>
            <a:ext cx="3485148" cy="1754326"/>
          </a:xfrm>
          <a:prstGeom prst="rect">
            <a:avLst/>
          </a:prstGeom>
        </p:spPr>
        <p:txBody>
          <a:bodyPr wrap="square">
            <a:spAutoFit/>
          </a:bodyPr>
          <a:lstStyle/>
          <a:p>
            <a:r>
              <a:rPr lang="en-US" dirty="0">
                <a:latin typeface="LiberationSerif"/>
              </a:rPr>
              <a:t>Atoms and molecules inside all objects are in random motion. The internal kinetic energy from these random motions is called </a:t>
            </a:r>
            <a:r>
              <a:rPr lang="en-US" i="1" dirty="0">
                <a:solidFill>
                  <a:srgbClr val="C00000"/>
                </a:solidFill>
                <a:latin typeface="LiberationSerif"/>
              </a:rPr>
              <a:t>thermal energy</a:t>
            </a:r>
            <a:r>
              <a:rPr lang="en-US" dirty="0">
                <a:solidFill>
                  <a:srgbClr val="C00000"/>
                </a:solidFill>
                <a:latin typeface="LiberationSerif"/>
              </a:rPr>
              <a:t>,</a:t>
            </a:r>
            <a:r>
              <a:rPr lang="en-US" dirty="0">
                <a:latin typeface="LiberationSerif"/>
              </a:rPr>
              <a:t> because it is related to the temperature of the object. </a:t>
            </a:r>
            <a:endParaRPr lang="en-US" dirty="0">
              <a:latin typeface="LiberationSans"/>
            </a:endParaRPr>
          </a:p>
        </p:txBody>
      </p:sp>
      <p:sp>
        <p:nvSpPr>
          <p:cNvPr id="10" name="Rectangle 9">
            <a:extLst>
              <a:ext uri="{FF2B5EF4-FFF2-40B4-BE49-F238E27FC236}">
                <a16:creationId xmlns:a16="http://schemas.microsoft.com/office/drawing/2014/main" id="{3B91603F-0214-E240-8E14-7BA4428DB643}"/>
              </a:ext>
            </a:extLst>
          </p:cNvPr>
          <p:cNvSpPr/>
          <p:nvPr/>
        </p:nvSpPr>
        <p:spPr>
          <a:xfrm>
            <a:off x="8593510" y="5201975"/>
            <a:ext cx="3485147" cy="1200329"/>
          </a:xfrm>
          <a:prstGeom prst="rect">
            <a:avLst/>
          </a:prstGeom>
        </p:spPr>
        <p:txBody>
          <a:bodyPr wrap="square">
            <a:spAutoFit/>
          </a:bodyPr>
          <a:lstStyle/>
          <a:p>
            <a:r>
              <a:rPr lang="en-US" i="1" dirty="0">
                <a:solidFill>
                  <a:srgbClr val="7030A0"/>
                </a:solidFill>
                <a:latin typeface="LiberationSerif"/>
              </a:rPr>
              <a:t>Electrical energy </a:t>
            </a:r>
            <a:r>
              <a:rPr lang="en-US" dirty="0">
                <a:latin typeface="LiberationSerif"/>
              </a:rPr>
              <a:t>is a common form that is converted to many other forms and does work in a wide range of practical situations. </a:t>
            </a:r>
            <a:endParaRPr lang="en-US" dirty="0">
              <a:latin typeface="LiberationSans"/>
            </a:endParaRPr>
          </a:p>
        </p:txBody>
      </p:sp>
    </p:spTree>
    <p:extLst>
      <p:ext uri="{BB962C8B-B14F-4D97-AF65-F5344CB8AC3E}">
        <p14:creationId xmlns:p14="http://schemas.microsoft.com/office/powerpoint/2010/main" val="4287260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882887" y="89044"/>
            <a:ext cx="2886623" cy="523220"/>
          </a:xfrm>
          <a:prstGeom prst="rect">
            <a:avLst/>
          </a:prstGeom>
        </p:spPr>
        <p:txBody>
          <a:bodyPr wrap="square">
            <a:spAutoFit/>
          </a:bodyPr>
          <a:lstStyle/>
          <a:p>
            <a:r>
              <a:rPr lang="en-US" sz="2800" dirty="0">
                <a:solidFill>
                  <a:srgbClr val="C00000"/>
                </a:solidFill>
                <a:latin typeface="NewBaskervilleStd-Roman"/>
              </a:rPr>
              <a:t>Sources of Energy </a:t>
            </a:r>
          </a:p>
        </p:txBody>
      </p:sp>
      <p:pic>
        <p:nvPicPr>
          <p:cNvPr id="3" name="Picture 2" descr="Timeline&#10;&#10;Description automatically generated">
            <a:extLst>
              <a:ext uri="{FF2B5EF4-FFF2-40B4-BE49-F238E27FC236}">
                <a16:creationId xmlns:a16="http://schemas.microsoft.com/office/drawing/2014/main" id="{31EF29E8-C6A1-4746-ACCF-5C53E3309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95" y="612264"/>
            <a:ext cx="8020050" cy="5943600"/>
          </a:xfrm>
          <a:prstGeom prst="rect">
            <a:avLst/>
          </a:prstGeom>
        </p:spPr>
      </p:pic>
      <p:sp>
        <p:nvSpPr>
          <p:cNvPr id="2" name="Rectangle 1">
            <a:extLst>
              <a:ext uri="{FF2B5EF4-FFF2-40B4-BE49-F238E27FC236}">
                <a16:creationId xmlns:a16="http://schemas.microsoft.com/office/drawing/2014/main" id="{2855B186-89DE-8C44-A0A5-5ADCDC1ABBE6}"/>
              </a:ext>
            </a:extLst>
          </p:cNvPr>
          <p:cNvSpPr/>
          <p:nvPr/>
        </p:nvSpPr>
        <p:spPr>
          <a:xfrm>
            <a:off x="8606117" y="860177"/>
            <a:ext cx="3375211" cy="1200329"/>
          </a:xfrm>
          <a:prstGeom prst="rect">
            <a:avLst/>
          </a:prstGeom>
        </p:spPr>
        <p:txBody>
          <a:bodyPr wrap="square">
            <a:spAutoFit/>
          </a:bodyPr>
          <a:lstStyle/>
          <a:p>
            <a:r>
              <a:rPr lang="en-US" dirty="0">
                <a:latin typeface="LiberationSerif"/>
              </a:rPr>
              <a:t>Fuels, such as gasoline and food, have </a:t>
            </a:r>
            <a:r>
              <a:rPr lang="en-US" i="1" dirty="0">
                <a:solidFill>
                  <a:srgbClr val="FF6600"/>
                </a:solidFill>
                <a:latin typeface="LiberationSerif"/>
              </a:rPr>
              <a:t>chemical energy</a:t>
            </a:r>
            <a:r>
              <a:rPr lang="en-US" dirty="0">
                <a:solidFill>
                  <a:srgbClr val="FF6600"/>
                </a:solidFill>
                <a:latin typeface="LiberationSerif"/>
              </a:rPr>
              <a:t>, </a:t>
            </a:r>
            <a:r>
              <a:rPr lang="en-US" dirty="0">
                <a:latin typeface="LiberationSerif"/>
              </a:rPr>
              <a:t>which is potential energy arising from their molecular structure. </a:t>
            </a:r>
            <a:endParaRPr lang="en-US" dirty="0">
              <a:latin typeface="LiberationSans"/>
            </a:endParaRPr>
          </a:p>
        </p:txBody>
      </p:sp>
      <p:sp>
        <p:nvSpPr>
          <p:cNvPr id="6" name="Rectangle 5">
            <a:extLst>
              <a:ext uri="{FF2B5EF4-FFF2-40B4-BE49-F238E27FC236}">
                <a16:creationId xmlns:a16="http://schemas.microsoft.com/office/drawing/2014/main" id="{30DFA09F-DD31-F049-A5D5-9C217B001823}"/>
              </a:ext>
            </a:extLst>
          </p:cNvPr>
          <p:cNvSpPr/>
          <p:nvPr/>
        </p:nvSpPr>
        <p:spPr>
          <a:xfrm>
            <a:off x="8606117" y="2126921"/>
            <a:ext cx="3518207" cy="2031325"/>
          </a:xfrm>
          <a:prstGeom prst="rect">
            <a:avLst/>
          </a:prstGeom>
        </p:spPr>
        <p:txBody>
          <a:bodyPr wrap="square">
            <a:spAutoFit/>
          </a:bodyPr>
          <a:lstStyle/>
          <a:p>
            <a:r>
              <a:rPr lang="en-US" dirty="0">
                <a:latin typeface="LiberationSerif"/>
              </a:rPr>
              <a:t>Light is just one kind of electromagnetic radiation, or </a:t>
            </a:r>
            <a:r>
              <a:rPr lang="en-US" i="1" dirty="0">
                <a:solidFill>
                  <a:srgbClr val="008000"/>
                </a:solidFill>
                <a:latin typeface="LiberationSerif"/>
              </a:rPr>
              <a:t>radiant energy</a:t>
            </a:r>
            <a:r>
              <a:rPr lang="en-US" dirty="0">
                <a:solidFill>
                  <a:srgbClr val="008000"/>
                </a:solidFill>
                <a:latin typeface="LiberationSerif"/>
              </a:rPr>
              <a:t>, </a:t>
            </a:r>
            <a:r>
              <a:rPr lang="en-US" dirty="0">
                <a:latin typeface="LiberationSerif"/>
              </a:rPr>
              <a:t>which also includes radio, infrared, ultraviolet, X-rays, and gamma rays. All bodies with thermal energy can radiate energy in electromagnetic waves. </a:t>
            </a:r>
            <a:endParaRPr lang="en-US" dirty="0">
              <a:latin typeface="LiberationSans"/>
            </a:endParaRPr>
          </a:p>
        </p:txBody>
      </p:sp>
      <p:sp>
        <p:nvSpPr>
          <p:cNvPr id="7" name="Rectangle 6">
            <a:extLst>
              <a:ext uri="{FF2B5EF4-FFF2-40B4-BE49-F238E27FC236}">
                <a16:creationId xmlns:a16="http://schemas.microsoft.com/office/drawing/2014/main" id="{FBD8EFF8-DE04-A14F-B13D-42FDE6857DA9}"/>
              </a:ext>
            </a:extLst>
          </p:cNvPr>
          <p:cNvSpPr/>
          <p:nvPr/>
        </p:nvSpPr>
        <p:spPr>
          <a:xfrm>
            <a:off x="8637493" y="4178548"/>
            <a:ext cx="3518207" cy="2585323"/>
          </a:xfrm>
          <a:prstGeom prst="rect">
            <a:avLst/>
          </a:prstGeom>
        </p:spPr>
        <p:txBody>
          <a:bodyPr wrap="square">
            <a:spAutoFit/>
          </a:bodyPr>
          <a:lstStyle/>
          <a:p>
            <a:r>
              <a:rPr lang="en-US" i="1" dirty="0">
                <a:solidFill>
                  <a:srgbClr val="3611D3"/>
                </a:solidFill>
                <a:latin typeface="LiberationSerif"/>
              </a:rPr>
              <a:t>Nuclear energy</a:t>
            </a:r>
            <a:r>
              <a:rPr lang="en-US" i="1" dirty="0">
                <a:latin typeface="LiberationSerif"/>
              </a:rPr>
              <a:t> </a:t>
            </a:r>
            <a:r>
              <a:rPr lang="en-US" dirty="0">
                <a:latin typeface="LiberationSerif"/>
              </a:rPr>
              <a:t>comes from reactions and processes that convert measurable amounts of mass into energy. Nuclear energy is transformed into radiant energy in the Sun, into thermal energy in the boilers of nuclear power plants, and then into electrical energy in the generators of power plants. </a:t>
            </a:r>
            <a:endParaRPr lang="en-US" dirty="0">
              <a:latin typeface="LiberationSans"/>
            </a:endParaRPr>
          </a:p>
        </p:txBody>
      </p:sp>
    </p:spTree>
    <p:extLst>
      <p:ext uri="{BB962C8B-B14F-4D97-AF65-F5344CB8AC3E}">
        <p14:creationId xmlns:p14="http://schemas.microsoft.com/office/powerpoint/2010/main" val="23583951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8289</TotalTime>
  <Words>1781</Words>
  <Application>Microsoft Office PowerPoint</Application>
  <PresentationFormat>Widescreen</PresentationFormat>
  <Paragraphs>120</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LiberationSans</vt:lpstr>
      <vt:lpstr>LiberationSerif</vt:lpstr>
      <vt:lpstr>NewBaskervilleStd-Roman</vt:lpstr>
      <vt:lpstr>STIXGeneral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287</cp:revision>
  <dcterms:created xsi:type="dcterms:W3CDTF">2020-07-24T02:56:39Z</dcterms:created>
  <dcterms:modified xsi:type="dcterms:W3CDTF">2021-12-15T17:53:48Z</dcterms:modified>
</cp:coreProperties>
</file>