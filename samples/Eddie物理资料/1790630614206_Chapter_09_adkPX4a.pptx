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98" r:id="rId2"/>
    <p:sldId id="553" r:id="rId3"/>
    <p:sldId id="572" r:id="rId4"/>
    <p:sldId id="573" r:id="rId5"/>
    <p:sldId id="570" r:id="rId6"/>
    <p:sldId id="574" r:id="rId7"/>
    <p:sldId id="571" r:id="rId8"/>
    <p:sldId id="575" r:id="rId9"/>
    <p:sldId id="577" r:id="rId10"/>
    <p:sldId id="584" r:id="rId11"/>
    <p:sldId id="585" r:id="rId12"/>
    <p:sldId id="586" r:id="rId13"/>
    <p:sldId id="587" r:id="rId14"/>
    <p:sldId id="580" r:id="rId15"/>
    <p:sldId id="581" r:id="rId16"/>
    <p:sldId id="582" r:id="rId17"/>
    <p:sldId id="588" r:id="rId18"/>
    <p:sldId id="589" r:id="rId19"/>
    <p:sldId id="591" r:id="rId20"/>
    <p:sldId id="590" r:id="rId21"/>
    <p:sldId id="583" r:id="rId22"/>
    <p:sldId id="592" r:id="rId23"/>
    <p:sldId id="593" r:id="rId24"/>
    <p:sldId id="594" r:id="rId25"/>
    <p:sldId id="595" r:id="rId26"/>
    <p:sldId id="596" r:id="rId27"/>
    <p:sldId id="578" r:id="rId28"/>
    <p:sldId id="597" r:id="rId29"/>
    <p:sldId id="598" r:id="rId30"/>
    <p:sldId id="599" r:id="rId31"/>
    <p:sldId id="36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124D"/>
    <a:srgbClr val="008000"/>
    <a:srgbClr val="000066"/>
    <a:srgbClr val="3611D3"/>
    <a:srgbClr val="FF6600"/>
    <a:srgbClr val="003399"/>
    <a:srgbClr val="FFE3BD"/>
    <a:srgbClr val="A50021"/>
    <a:srgbClr val="0000CC"/>
    <a:srgbClr val="F1DB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066" autoAdjust="0"/>
    <p:restoredTop sz="94035" autoAdjust="0"/>
  </p:normalViewPr>
  <p:slideViewPr>
    <p:cSldViewPr snapToGrid="0">
      <p:cViewPr varScale="1">
        <p:scale>
          <a:sx n="77" d="100"/>
          <a:sy n="77" d="100"/>
        </p:scale>
        <p:origin x="82" y="1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5.png"/><Relationship Id="rId5" Type="http://schemas.openxmlformats.org/officeDocument/2006/relationships/image" Target="../media/image10.png"/><Relationship Id="rId10" Type="http://schemas.openxmlformats.org/officeDocument/2006/relationships/image" Target="../media/image24.jpg"/><Relationship Id="rId4" Type="http://schemas.openxmlformats.org/officeDocument/2006/relationships/image" Target="../media/image20.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jp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jpe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43.gif"/><Relationship Id="rId4" Type="http://schemas.openxmlformats.org/officeDocument/2006/relationships/image" Target="../media/image42.gif"/></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jpeg"/><Relationship Id="rId7" Type="http://schemas.openxmlformats.org/officeDocument/2006/relationships/image" Target="../media/image62.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8.jpeg"/><Relationship Id="rId7" Type="http://schemas.openxmlformats.org/officeDocument/2006/relationships/image" Target="../media/image6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5.png"/><Relationship Id="rId4" Type="http://schemas.openxmlformats.org/officeDocument/2006/relationships/image" Target="../media/image64.png"/></Relationships>
</file>

<file path=ppt/slides/_rels/slide2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21.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2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25.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jpeg"/><Relationship Id="rId9" Type="http://schemas.openxmlformats.org/officeDocument/2006/relationships/image" Target="../media/image100.png"/></Relationships>
</file>

<file path=ppt/slides/_rels/slide2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2.png"/><Relationship Id="rId7" Type="http://schemas.openxmlformats.org/officeDocument/2006/relationships/image" Target="../media/image10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3.png"/><Relationship Id="rId4" Type="http://schemas.openxmlformats.org/officeDocument/2006/relationships/image" Target="../media/image95.jpeg"/></Relationships>
</file>

<file path=ppt/slides/_rels/slide27.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jpg"/></Relationships>
</file>

<file path=ppt/slides/_rels/slide28.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jp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2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31.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3000" t="19000" r="-14000" b="7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6610913" y="5201479"/>
            <a:ext cx="5600965" cy="1069458"/>
          </a:xfrm>
          <a:prstGeom prst="rect">
            <a:avLst/>
          </a:prstGeom>
          <a:solidFill>
            <a:schemeClr val="accent6">
              <a:lumMod val="50000"/>
              <a:alpha val="40000"/>
            </a:schemeClr>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9 </a:t>
            </a:r>
          </a:p>
          <a:p>
            <a:pPr>
              <a:spcAft>
                <a:spcPts val="600"/>
              </a:spcAft>
            </a:pPr>
            <a:r>
              <a:rPr lang="en-US" altLang="en-US" sz="3200" dirty="0"/>
              <a:t>Linear Momentum and Collisions</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CF49F42D-A1FF-234B-BD25-2129A3225046}"/>
              </a:ext>
            </a:extLst>
          </p:cNvPr>
          <p:cNvSpPr/>
          <p:nvPr/>
        </p:nvSpPr>
        <p:spPr>
          <a:xfrm>
            <a:off x="9170504" y="6167705"/>
            <a:ext cx="3538329" cy="246221"/>
          </a:xfrm>
          <a:prstGeom prst="rect">
            <a:avLst/>
          </a:prstGeom>
        </p:spPr>
        <p:txBody>
          <a:bodyPr wrap="square">
            <a:spAutoFit/>
          </a:bodyPr>
          <a:lstStyle/>
          <a:p>
            <a:r>
              <a:rPr lang="en-US" sz="1000" dirty="0"/>
              <a:t>Image </a:t>
            </a:r>
            <a:r>
              <a:rPr lang="en-US" sz="1000" dirty="0" err="1"/>
              <a:t>credit:modification</a:t>
            </a:r>
            <a:r>
              <a:rPr lang="en-US" sz="1000" dirty="0"/>
              <a:t> of work by “Cathy T”/Flickr </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Linear Momentum </a:t>
            </a:r>
          </a:p>
        </p:txBody>
      </p:sp>
      <p:pic>
        <p:nvPicPr>
          <p:cNvPr id="6" name="Picture Placeholder 2" descr="Photo of a soccer player kicking a ball. Two arrows have been added to the photo at the ball’s position. Both arrows point forward, in the direction the player is kicking. One arrow is labeled velocity, the other arrow is labeled momentum.">
            <a:extLst>
              <a:ext uri="{FF2B5EF4-FFF2-40B4-BE49-F238E27FC236}">
                <a16:creationId xmlns:a16="http://schemas.microsoft.com/office/drawing/2014/main" id="{7E9AEEDD-FD4C-4244-B0B5-1231D43D4D95}"/>
              </a:ext>
            </a:extLst>
          </p:cNvPr>
          <p:cNvPicPr>
            <a:picLocks noChangeAspect="1"/>
          </p:cNvPicPr>
          <p:nvPr/>
        </p:nvPicPr>
        <p:blipFill>
          <a:blip r:embed="rId3" cstate="email">
            <a:extLst>
              <a:ext uri="{28A0092B-C50C-407E-A947-70E740481C1C}">
                <a14:useLocalDpi xmlns:a14="http://schemas.microsoft.com/office/drawing/2010/main" val="0"/>
              </a:ext>
            </a:extLst>
          </a:blip>
          <a:srcRect l="-6710" r="-6710"/>
          <a:stretch>
            <a:fillRect/>
          </a:stretch>
        </p:blipFill>
        <p:spPr>
          <a:xfrm>
            <a:off x="8275983" y="1512743"/>
            <a:ext cx="4032250" cy="5256213"/>
          </a:xfrm>
          <a:prstGeom prst="rect">
            <a:avLst/>
          </a:prstGeom>
        </p:spPr>
      </p:pic>
      <p:sp>
        <p:nvSpPr>
          <p:cNvPr id="7" name="Text Placeholder 13">
            <a:extLst>
              <a:ext uri="{FF2B5EF4-FFF2-40B4-BE49-F238E27FC236}">
                <a16:creationId xmlns:a16="http://schemas.microsoft.com/office/drawing/2014/main" id="{231C918B-A684-B243-B2C8-CE4D1C02FD14}"/>
              </a:ext>
            </a:extLst>
          </p:cNvPr>
          <p:cNvSpPr txBox="1">
            <a:spLocks/>
          </p:cNvSpPr>
          <p:nvPr/>
        </p:nvSpPr>
        <p:spPr>
          <a:xfrm>
            <a:off x="4797287" y="3675559"/>
            <a:ext cx="3775834" cy="17344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dirty="0">
                <a:solidFill>
                  <a:srgbClr val="002060"/>
                </a:solidFill>
              </a:rPr>
              <a:t>The velocity and momentum vectors for the ball are in the same direction. The mass of the ball is about 0.5 kg, so the momentum vector is about half the length of the velocity vector because momentum is velocity time mass. </a:t>
            </a:r>
          </a:p>
          <a:p>
            <a:pPr marL="0" indent="0">
              <a:buNone/>
            </a:pPr>
            <a:r>
              <a:rPr lang="en-US" sz="1500" dirty="0">
                <a:solidFill>
                  <a:srgbClr val="000000"/>
                </a:solidFill>
              </a:rPr>
              <a:t>(</a:t>
            </a:r>
            <a:r>
              <a:rPr lang="en-US" sz="1200" dirty="0">
                <a:solidFill>
                  <a:srgbClr val="000000"/>
                </a:solidFill>
              </a:rPr>
              <a:t>credit: modification of work by Ben Sutherland)</a:t>
            </a:r>
          </a:p>
        </p:txBody>
      </p:sp>
      <p:pic>
        <p:nvPicPr>
          <p:cNvPr id="3" name="Picture 2" descr="Graphical user interface, text, application&#10;&#10;Description automatically generated">
            <a:extLst>
              <a:ext uri="{FF2B5EF4-FFF2-40B4-BE49-F238E27FC236}">
                <a16:creationId xmlns:a16="http://schemas.microsoft.com/office/drawing/2014/main" id="{2BD4F1AA-5EFB-0846-A60D-9E18C2D90B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059" y="640764"/>
            <a:ext cx="7408812" cy="1402066"/>
          </a:xfrm>
          <a:prstGeom prst="rect">
            <a:avLst/>
          </a:prstGeom>
        </p:spPr>
      </p:pic>
      <p:sp>
        <p:nvSpPr>
          <p:cNvPr id="8" name="Rectangle 7">
            <a:extLst>
              <a:ext uri="{FF2B5EF4-FFF2-40B4-BE49-F238E27FC236}">
                <a16:creationId xmlns:a16="http://schemas.microsoft.com/office/drawing/2014/main" id="{D7816DF5-DDEC-724F-952E-AEFE5923DAC6}"/>
              </a:ext>
            </a:extLst>
          </p:cNvPr>
          <p:cNvSpPr/>
          <p:nvPr/>
        </p:nvSpPr>
        <p:spPr>
          <a:xfrm>
            <a:off x="309059" y="2134002"/>
            <a:ext cx="5959219" cy="646331"/>
          </a:xfrm>
          <a:prstGeom prst="rect">
            <a:avLst/>
          </a:prstGeom>
        </p:spPr>
        <p:txBody>
          <a:bodyPr wrap="square">
            <a:spAutoFit/>
          </a:bodyPr>
          <a:lstStyle/>
          <a:p>
            <a:r>
              <a:rPr lang="en-US" dirty="0">
                <a:solidFill>
                  <a:srgbClr val="008000"/>
                </a:solidFill>
                <a:latin typeface="LiberationSerif"/>
              </a:rPr>
              <a:t>Since velocity is a vector quantity, momentum is also a vector, it has the same direction as velocity vector.</a:t>
            </a:r>
            <a:endParaRPr lang="en-US" dirty="0">
              <a:solidFill>
                <a:srgbClr val="008000"/>
              </a:solidFill>
            </a:endParaRPr>
          </a:p>
        </p:txBody>
      </p:sp>
      <p:pic>
        <p:nvPicPr>
          <p:cNvPr id="11" name="Picture Placeholder 1" descr="Photo of a soccer player kicking a ball. Two arrows have been added to the photo at the ball’s position. Both arrows point forward, in the direction the player is kicking. One arrow is labeled velocity, the other arrow is labeled momentum.">
            <a:extLst>
              <a:ext uri="{FF2B5EF4-FFF2-40B4-BE49-F238E27FC236}">
                <a16:creationId xmlns:a16="http://schemas.microsoft.com/office/drawing/2014/main" id="{4E90C121-2C1E-DF42-9B76-DA904F30E44B}"/>
              </a:ext>
            </a:extLst>
          </p:cNvPr>
          <p:cNvPicPr>
            <a:picLocks noChangeAspect="1"/>
          </p:cNvPicPr>
          <p:nvPr/>
        </p:nvPicPr>
        <p:blipFill>
          <a:blip r:embed="rId5" cstate="email">
            <a:extLst>
              <a:ext uri="{28A0092B-C50C-407E-A947-70E740481C1C}">
                <a14:useLocalDpi xmlns:a14="http://schemas.microsoft.com/office/drawing/2010/main" val="0"/>
              </a:ext>
            </a:extLst>
          </a:blip>
          <a:srcRect l="-20906" r="-20906"/>
          <a:stretch>
            <a:fillRect/>
          </a:stretch>
        </p:blipFill>
        <p:spPr>
          <a:xfrm>
            <a:off x="-479878" y="3017279"/>
            <a:ext cx="5959220" cy="2586868"/>
          </a:xfrm>
          <a:prstGeom prst="rect">
            <a:avLst/>
          </a:prstGeom>
        </p:spPr>
      </p:pic>
      <p:sp>
        <p:nvSpPr>
          <p:cNvPr id="12" name="Text Placeholder 6">
            <a:extLst>
              <a:ext uri="{FF2B5EF4-FFF2-40B4-BE49-F238E27FC236}">
                <a16:creationId xmlns:a16="http://schemas.microsoft.com/office/drawing/2014/main" id="{2E4BB480-FA68-B241-A80D-BDAA35E0205B}"/>
              </a:ext>
            </a:extLst>
          </p:cNvPr>
          <p:cNvSpPr txBox="1">
            <a:spLocks/>
          </p:cNvSpPr>
          <p:nvPr/>
        </p:nvSpPr>
        <p:spPr>
          <a:xfrm>
            <a:off x="309059" y="5760769"/>
            <a:ext cx="6290524" cy="10081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C00000"/>
                </a:solidFill>
              </a:rPr>
              <a:t>This supertanker transports a huge mass of oil; as a consequence,               it takes a long time for a force to change its (comparatively small) velocity. </a:t>
            </a:r>
            <a:r>
              <a:rPr lang="en-US" sz="1000" dirty="0"/>
              <a:t>(credit: modification of work by “</a:t>
            </a:r>
            <a:r>
              <a:rPr lang="en-US" sz="1000" dirty="0" err="1"/>
              <a:t>the_tahoe_guy</a:t>
            </a:r>
            <a:r>
              <a:rPr lang="en-US" sz="1000" dirty="0"/>
              <a:t>”/Flickr)</a:t>
            </a:r>
          </a:p>
        </p:txBody>
      </p:sp>
    </p:spTree>
    <p:extLst>
      <p:ext uri="{BB962C8B-B14F-4D97-AF65-F5344CB8AC3E}">
        <p14:creationId xmlns:p14="http://schemas.microsoft.com/office/powerpoint/2010/main" val="77342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Impulse and Collisions </a:t>
            </a:r>
          </a:p>
        </p:txBody>
      </p:sp>
      <p:pic>
        <p:nvPicPr>
          <p:cNvPr id="6" name="Picture Placeholder 1" descr="Two soccer balls are shown. In one figure, a red arrow labeled vector F, t sub 0 points to the right and a blue arrow labeled delta p vector also points to the right. In the second figure, a red arrow of the same length as in the first figure points to the right and is labeled vector F, 2 t sub 0. A blue arrow twice as long as the blue arrow in the first figure points to the right and is labeled 2 delta p vector.">
            <a:extLst>
              <a:ext uri="{FF2B5EF4-FFF2-40B4-BE49-F238E27FC236}">
                <a16:creationId xmlns:a16="http://schemas.microsoft.com/office/drawing/2014/main" id="{F0313564-3990-CB4E-82F3-1A518019E01D}"/>
              </a:ext>
            </a:extLst>
          </p:cNvPr>
          <p:cNvPicPr>
            <a:picLocks noChangeAspect="1"/>
          </p:cNvPicPr>
          <p:nvPr/>
        </p:nvPicPr>
        <p:blipFill>
          <a:blip r:embed="rId3">
            <a:extLst>
              <a:ext uri="{28A0092B-C50C-407E-A947-70E740481C1C}">
                <a14:useLocalDpi xmlns:a14="http://schemas.microsoft.com/office/drawing/2010/main" val="0"/>
              </a:ext>
            </a:extLst>
          </a:blip>
          <a:srcRect l="-12001" r="-12001"/>
          <a:stretch>
            <a:fillRect/>
          </a:stretch>
        </p:blipFill>
        <p:spPr>
          <a:xfrm>
            <a:off x="185525" y="701155"/>
            <a:ext cx="5519531" cy="2396001"/>
          </a:xfrm>
          <a:prstGeom prst="rect">
            <a:avLst/>
          </a:prstGeom>
        </p:spPr>
      </p:pic>
      <p:sp>
        <p:nvSpPr>
          <p:cNvPr id="7" name="Text Placeholder 6">
            <a:extLst>
              <a:ext uri="{FF2B5EF4-FFF2-40B4-BE49-F238E27FC236}">
                <a16:creationId xmlns:a16="http://schemas.microsoft.com/office/drawing/2014/main" id="{B054E5E6-8DD8-CE46-9C44-174C9640F304}"/>
              </a:ext>
            </a:extLst>
          </p:cNvPr>
          <p:cNvSpPr txBox="1">
            <a:spLocks/>
          </p:cNvSpPr>
          <p:nvPr/>
        </p:nvSpPr>
        <p:spPr>
          <a:xfrm>
            <a:off x="464862" y="3097156"/>
            <a:ext cx="4584216" cy="1166382"/>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3B124D"/>
                </a:solidFill>
              </a:rPr>
              <a:t>The change in momentum of an object is proportional to the length of time during which the force is applied. If a force is exerted on the lower ball for twice as long as on the upper ball, then the change in the momentum of the lower ball is twice that of the upper ball.</a:t>
            </a:r>
          </a:p>
        </p:txBody>
      </p:sp>
      <p:sp>
        <p:nvSpPr>
          <p:cNvPr id="2" name="Rectangle 1">
            <a:extLst>
              <a:ext uri="{FF2B5EF4-FFF2-40B4-BE49-F238E27FC236}">
                <a16:creationId xmlns:a16="http://schemas.microsoft.com/office/drawing/2014/main" id="{3C6DC744-4898-A444-8060-665D3A72B9B8}"/>
              </a:ext>
            </a:extLst>
          </p:cNvPr>
          <p:cNvSpPr/>
          <p:nvPr/>
        </p:nvSpPr>
        <p:spPr>
          <a:xfrm>
            <a:off x="4606837" y="661501"/>
            <a:ext cx="3292255" cy="1323439"/>
          </a:xfrm>
          <a:prstGeom prst="rect">
            <a:avLst/>
          </a:prstGeom>
        </p:spPr>
        <p:txBody>
          <a:bodyPr wrap="square">
            <a:spAutoFit/>
          </a:bodyPr>
          <a:lstStyle/>
          <a:p>
            <a:r>
              <a:rPr lang="en-US" sz="2000" dirty="0">
                <a:solidFill>
                  <a:srgbClr val="C00000"/>
                </a:solidFill>
                <a:latin typeface="LiberationSerif"/>
              </a:rPr>
              <a:t>The product of a force and a time interval (over which that force acts) is called </a:t>
            </a:r>
            <a:r>
              <a:rPr lang="en-US" sz="2000" b="1" dirty="0">
                <a:solidFill>
                  <a:srgbClr val="7030A0"/>
                </a:solidFill>
                <a:latin typeface="LiberationSerif"/>
              </a:rPr>
              <a:t>impulse</a:t>
            </a:r>
            <a:r>
              <a:rPr lang="en-US" sz="2000" dirty="0">
                <a:solidFill>
                  <a:srgbClr val="C00000"/>
                </a:solidFill>
                <a:latin typeface="LiberationSerif"/>
              </a:rPr>
              <a:t>, and is given the symbol </a:t>
            </a:r>
            <a:endParaRPr lang="en-US" sz="2000" dirty="0">
              <a:solidFill>
                <a:srgbClr val="C00000"/>
              </a:solidFill>
            </a:endParaRPr>
          </a:p>
        </p:txBody>
      </p:sp>
      <p:pic>
        <p:nvPicPr>
          <p:cNvPr id="8" name="Picture 7" descr="A picture containing metalware&#10;&#10;Description automatically generated">
            <a:extLst>
              <a:ext uri="{FF2B5EF4-FFF2-40B4-BE49-F238E27FC236}">
                <a16:creationId xmlns:a16="http://schemas.microsoft.com/office/drawing/2014/main" id="{DBF3AD36-2E94-6943-81F2-19E1B9696D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1013" y="1563725"/>
            <a:ext cx="327612" cy="421215"/>
          </a:xfrm>
          <a:prstGeom prst="rect">
            <a:avLst/>
          </a:prstGeom>
        </p:spPr>
      </p:pic>
      <p:pic>
        <p:nvPicPr>
          <p:cNvPr id="10" name="Picture 9" descr="Text&#10;&#10;Description automatically generated">
            <a:extLst>
              <a:ext uri="{FF2B5EF4-FFF2-40B4-BE49-F238E27FC236}">
                <a16:creationId xmlns:a16="http://schemas.microsoft.com/office/drawing/2014/main" id="{463B1BAA-9BEC-DC45-8B1B-61D7525D88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8485" y="4642257"/>
            <a:ext cx="11356531" cy="1851308"/>
          </a:xfrm>
          <a:prstGeom prst="rect">
            <a:avLst/>
          </a:prstGeom>
        </p:spPr>
      </p:pic>
      <p:pic>
        <p:nvPicPr>
          <p:cNvPr id="12" name="Picture 11" descr="Shape&#10;&#10;Description automatically generated with low confidence">
            <a:extLst>
              <a:ext uri="{FF2B5EF4-FFF2-40B4-BE49-F238E27FC236}">
                <a16:creationId xmlns:a16="http://schemas.microsoft.com/office/drawing/2014/main" id="{91C5EA17-CDD3-7F4A-BA80-3E20EB2B81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09715" y="5829852"/>
            <a:ext cx="2463800" cy="660400"/>
          </a:xfrm>
          <a:prstGeom prst="rect">
            <a:avLst/>
          </a:prstGeom>
        </p:spPr>
      </p:pic>
      <p:pic>
        <p:nvPicPr>
          <p:cNvPr id="14" name="Picture 13" descr="Shape&#10;&#10;Description automatically generated with low confidence">
            <a:extLst>
              <a:ext uri="{FF2B5EF4-FFF2-40B4-BE49-F238E27FC236}">
                <a16:creationId xmlns:a16="http://schemas.microsoft.com/office/drawing/2014/main" id="{4FA27CF6-24CA-F044-914B-A3CD7E37DA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03648" y="5243741"/>
            <a:ext cx="1337917" cy="358617"/>
          </a:xfrm>
          <a:prstGeom prst="rect">
            <a:avLst/>
          </a:prstGeom>
        </p:spPr>
      </p:pic>
      <p:pic>
        <p:nvPicPr>
          <p:cNvPr id="15" name="Picture Placeholder 1" descr="A drawing of a tennis racket hitting a tennis ball. Two arrows pointing to the right are drawn near the ball. One is labeled vector F d t and th other is labeled d J vector.">
            <a:extLst>
              <a:ext uri="{FF2B5EF4-FFF2-40B4-BE49-F238E27FC236}">
                <a16:creationId xmlns:a16="http://schemas.microsoft.com/office/drawing/2014/main" id="{1635B07A-ECCB-D648-8C3E-47686A6C9A74}"/>
              </a:ext>
            </a:extLst>
          </p:cNvPr>
          <p:cNvPicPr>
            <a:picLocks noChangeAspect="1"/>
          </p:cNvPicPr>
          <p:nvPr/>
        </p:nvPicPr>
        <p:blipFill>
          <a:blip r:embed="rId7">
            <a:extLst>
              <a:ext uri="{28A0092B-C50C-407E-A947-70E740481C1C}">
                <a14:useLocalDpi xmlns:a14="http://schemas.microsoft.com/office/drawing/2010/main" val="0"/>
              </a:ext>
            </a:extLst>
          </a:blip>
          <a:srcRect l="-5780" r="-5780"/>
          <a:stretch>
            <a:fillRect/>
          </a:stretch>
        </p:blipFill>
        <p:spPr>
          <a:xfrm>
            <a:off x="7899093" y="381108"/>
            <a:ext cx="3175456" cy="4140975"/>
          </a:xfrm>
          <a:prstGeom prst="rect">
            <a:avLst/>
          </a:prstGeom>
        </p:spPr>
      </p:pic>
      <p:sp>
        <p:nvSpPr>
          <p:cNvPr id="16" name="Text Placeholder 13">
            <a:extLst>
              <a:ext uri="{FF2B5EF4-FFF2-40B4-BE49-F238E27FC236}">
                <a16:creationId xmlns:a16="http://schemas.microsoft.com/office/drawing/2014/main" id="{0EA2C56F-A311-6E49-8D3E-BA4CBE57F083}"/>
              </a:ext>
            </a:extLst>
          </p:cNvPr>
          <p:cNvSpPr txBox="1">
            <a:spLocks/>
          </p:cNvSpPr>
          <p:nvPr/>
        </p:nvSpPr>
        <p:spPr>
          <a:xfrm>
            <a:off x="5586802" y="3418840"/>
            <a:ext cx="2525031" cy="13234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2060"/>
                </a:solidFill>
              </a:rPr>
              <a:t>A force applied by a tennis racquet to a tennis ball over a time interval generates an impulse acting on the ball.</a:t>
            </a:r>
          </a:p>
        </p:txBody>
      </p:sp>
    </p:spTree>
    <p:extLst>
      <p:ext uri="{BB962C8B-B14F-4D97-AF65-F5344CB8AC3E}">
        <p14:creationId xmlns:p14="http://schemas.microsoft.com/office/powerpoint/2010/main" val="1562542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Impulse and Collisions </a:t>
            </a:r>
          </a:p>
        </p:txBody>
      </p:sp>
      <p:pic>
        <p:nvPicPr>
          <p:cNvPr id="6" name="Picture 5" descr="Text&#10;&#10;Description automatically generated">
            <a:extLst>
              <a:ext uri="{FF2B5EF4-FFF2-40B4-BE49-F238E27FC236}">
                <a16:creationId xmlns:a16="http://schemas.microsoft.com/office/drawing/2014/main" id="{18FA7D47-2715-7940-B4A0-0658DBEEE1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734" y="944900"/>
            <a:ext cx="11356531" cy="1851308"/>
          </a:xfrm>
          <a:prstGeom prst="rect">
            <a:avLst/>
          </a:prstGeom>
        </p:spPr>
      </p:pic>
      <p:pic>
        <p:nvPicPr>
          <p:cNvPr id="7" name="Picture 6" descr="Shape&#10;&#10;Description automatically generated with low confidence">
            <a:extLst>
              <a:ext uri="{FF2B5EF4-FFF2-40B4-BE49-F238E27FC236}">
                <a16:creationId xmlns:a16="http://schemas.microsoft.com/office/drawing/2014/main" id="{ABB6CE2C-CAC6-E44A-975E-5AFF43E477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08964" y="2132495"/>
            <a:ext cx="2463800" cy="660400"/>
          </a:xfrm>
          <a:prstGeom prst="rect">
            <a:avLst/>
          </a:prstGeom>
        </p:spPr>
      </p:pic>
      <p:pic>
        <p:nvPicPr>
          <p:cNvPr id="8" name="Picture 7" descr="Shape&#10;&#10;Description automatically generated with low confidence">
            <a:extLst>
              <a:ext uri="{FF2B5EF4-FFF2-40B4-BE49-F238E27FC236}">
                <a16:creationId xmlns:a16="http://schemas.microsoft.com/office/drawing/2014/main" id="{21F1B7C4-8DE8-AE41-AFA3-FB27CBA81E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02897" y="1546384"/>
            <a:ext cx="1337917" cy="358617"/>
          </a:xfrm>
          <a:prstGeom prst="rect">
            <a:avLst/>
          </a:prstGeom>
        </p:spPr>
      </p:pic>
      <p:sp>
        <p:nvSpPr>
          <p:cNvPr id="2" name="Rectangle 1">
            <a:extLst>
              <a:ext uri="{FF2B5EF4-FFF2-40B4-BE49-F238E27FC236}">
                <a16:creationId xmlns:a16="http://schemas.microsoft.com/office/drawing/2014/main" id="{0940CA87-0AAD-004C-B9D7-068F42B23385}"/>
              </a:ext>
            </a:extLst>
          </p:cNvPr>
          <p:cNvSpPr/>
          <p:nvPr/>
        </p:nvSpPr>
        <p:spPr>
          <a:xfrm>
            <a:off x="417734" y="2938832"/>
            <a:ext cx="4713342" cy="400110"/>
          </a:xfrm>
          <a:prstGeom prst="rect">
            <a:avLst/>
          </a:prstGeom>
        </p:spPr>
        <p:txBody>
          <a:bodyPr wrap="none">
            <a:spAutoFit/>
          </a:bodyPr>
          <a:lstStyle/>
          <a:p>
            <a:r>
              <a:rPr lang="en-US" sz="2000" dirty="0">
                <a:solidFill>
                  <a:srgbClr val="3B124D"/>
                </a:solidFill>
                <a:latin typeface="LiberationSerif"/>
              </a:rPr>
              <a:t>The total impulse over the interval </a:t>
            </a:r>
            <a:r>
              <a:rPr lang="en-US" sz="2000" i="1" dirty="0" err="1">
                <a:solidFill>
                  <a:srgbClr val="3B124D"/>
                </a:solidFill>
                <a:latin typeface="STIXGeneral" pitchFamily="2" charset="2"/>
              </a:rPr>
              <a:t>t</a:t>
            </a:r>
            <a:r>
              <a:rPr lang="en-US" sz="2000" baseline="-25000" dirty="0" err="1">
                <a:solidFill>
                  <a:srgbClr val="3B124D"/>
                </a:solidFill>
                <a:latin typeface="STIXGeneral" pitchFamily="2" charset="2"/>
              </a:rPr>
              <a:t>f</a:t>
            </a:r>
            <a:r>
              <a:rPr lang="en-US" sz="2000" dirty="0">
                <a:solidFill>
                  <a:srgbClr val="3B124D"/>
                </a:solidFill>
                <a:latin typeface="STIXGeneral" pitchFamily="2" charset="2"/>
              </a:rPr>
              <a:t> − </a:t>
            </a:r>
            <a:r>
              <a:rPr lang="en-US" sz="2000" i="1" dirty="0" err="1">
                <a:solidFill>
                  <a:srgbClr val="3B124D"/>
                </a:solidFill>
                <a:latin typeface="STIXGeneral" pitchFamily="2" charset="2"/>
              </a:rPr>
              <a:t>t</a:t>
            </a:r>
            <a:r>
              <a:rPr lang="en-US" sz="2000" baseline="-25000" dirty="0" err="1">
                <a:solidFill>
                  <a:srgbClr val="3B124D"/>
                </a:solidFill>
                <a:latin typeface="STIXGeneral" pitchFamily="2" charset="2"/>
              </a:rPr>
              <a:t>i</a:t>
            </a:r>
            <a:r>
              <a:rPr lang="en-US" sz="2000" dirty="0">
                <a:solidFill>
                  <a:srgbClr val="3B124D"/>
                </a:solidFill>
                <a:latin typeface="STIXGeneral" pitchFamily="2" charset="2"/>
              </a:rPr>
              <a:t> </a:t>
            </a:r>
            <a:r>
              <a:rPr lang="en-US" sz="2000" dirty="0">
                <a:solidFill>
                  <a:srgbClr val="3B124D"/>
                </a:solidFill>
                <a:latin typeface="LiberationSerif"/>
              </a:rPr>
              <a:t>is </a:t>
            </a:r>
            <a:endParaRPr lang="en-US" sz="2000" dirty="0">
              <a:solidFill>
                <a:srgbClr val="3B124D"/>
              </a:solidFill>
            </a:endParaRPr>
          </a:p>
        </p:txBody>
      </p:sp>
      <p:pic>
        <p:nvPicPr>
          <p:cNvPr id="9" name="Picture 8" descr="A picture containing text, clock, gauge&#10;&#10;Description automatically generated">
            <a:extLst>
              <a:ext uri="{FF2B5EF4-FFF2-40B4-BE49-F238E27FC236}">
                <a16:creationId xmlns:a16="http://schemas.microsoft.com/office/drawing/2014/main" id="{FA39D901-6B38-7B45-8C93-4E483EFA22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4744" y="3399064"/>
            <a:ext cx="3835400" cy="863600"/>
          </a:xfrm>
          <a:prstGeom prst="rect">
            <a:avLst/>
          </a:prstGeom>
        </p:spPr>
      </p:pic>
      <p:sp>
        <p:nvSpPr>
          <p:cNvPr id="10" name="Rectangle 9">
            <a:extLst>
              <a:ext uri="{FF2B5EF4-FFF2-40B4-BE49-F238E27FC236}">
                <a16:creationId xmlns:a16="http://schemas.microsoft.com/office/drawing/2014/main" id="{EFDEEC7A-AEE0-7442-8AF7-E4F667321202}"/>
              </a:ext>
            </a:extLst>
          </p:cNvPr>
          <p:cNvSpPr/>
          <p:nvPr/>
        </p:nvSpPr>
        <p:spPr>
          <a:xfrm>
            <a:off x="574744" y="4463534"/>
            <a:ext cx="4249047" cy="1015663"/>
          </a:xfrm>
          <a:prstGeom prst="rect">
            <a:avLst/>
          </a:prstGeom>
        </p:spPr>
        <p:txBody>
          <a:bodyPr wrap="square">
            <a:spAutoFit/>
          </a:bodyPr>
          <a:lstStyle/>
          <a:p>
            <a:r>
              <a:rPr lang="en-US" sz="2000" dirty="0">
                <a:solidFill>
                  <a:srgbClr val="C00000"/>
                </a:solidFill>
                <a:latin typeface="LiberationSerif"/>
              </a:rPr>
              <a:t>We often don’t know the fore function F(t), but if we know the average force, then </a:t>
            </a:r>
            <a:endParaRPr lang="en-US" sz="2000" dirty="0">
              <a:solidFill>
                <a:srgbClr val="C00000"/>
              </a:solidFill>
            </a:endParaRPr>
          </a:p>
        </p:txBody>
      </p:sp>
      <p:pic>
        <p:nvPicPr>
          <p:cNvPr id="12" name="Picture 11" descr="Text&#10;&#10;Description automatically generated with medium confidence">
            <a:extLst>
              <a:ext uri="{FF2B5EF4-FFF2-40B4-BE49-F238E27FC236}">
                <a16:creationId xmlns:a16="http://schemas.microsoft.com/office/drawing/2014/main" id="{9FFAEF4C-15CC-0C45-ABFF-211341AFFE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55582" y="5362567"/>
            <a:ext cx="1917700" cy="635000"/>
          </a:xfrm>
          <a:prstGeom prst="rect">
            <a:avLst/>
          </a:prstGeom>
        </p:spPr>
      </p:pic>
      <p:pic>
        <p:nvPicPr>
          <p:cNvPr id="16" name="Picture 15" descr="Text, letter&#10;&#10;Description automatically generated">
            <a:extLst>
              <a:ext uri="{FF2B5EF4-FFF2-40B4-BE49-F238E27FC236}">
                <a16:creationId xmlns:a16="http://schemas.microsoft.com/office/drawing/2014/main" id="{82124C78-2D9A-7D4C-AAA2-58D0E6D9CA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3791" y="4061793"/>
            <a:ext cx="7288236" cy="2615997"/>
          </a:xfrm>
          <a:prstGeom prst="rect">
            <a:avLst/>
          </a:prstGeom>
        </p:spPr>
      </p:pic>
      <p:sp>
        <p:nvSpPr>
          <p:cNvPr id="17" name="Rectangle 16">
            <a:extLst>
              <a:ext uri="{FF2B5EF4-FFF2-40B4-BE49-F238E27FC236}">
                <a16:creationId xmlns:a16="http://schemas.microsoft.com/office/drawing/2014/main" id="{36232E30-2035-0346-A6E2-4761EBAF4341}"/>
              </a:ext>
            </a:extLst>
          </p:cNvPr>
          <p:cNvSpPr/>
          <p:nvPr/>
        </p:nvSpPr>
        <p:spPr>
          <a:xfrm>
            <a:off x="6202249" y="3107046"/>
            <a:ext cx="5339211" cy="923330"/>
          </a:xfrm>
          <a:prstGeom prst="rect">
            <a:avLst/>
          </a:prstGeom>
        </p:spPr>
        <p:txBody>
          <a:bodyPr wrap="square">
            <a:spAutoFit/>
          </a:bodyPr>
          <a:lstStyle/>
          <a:p>
            <a:r>
              <a:rPr lang="en-US" dirty="0">
                <a:latin typeface="LiberationSerif"/>
              </a:rPr>
              <a:t>To calculate the impulse, a useful result follows from </a:t>
            </a:r>
          </a:p>
          <a:p>
            <a:endParaRPr lang="en-US" dirty="0">
              <a:latin typeface="LiberationSerif"/>
            </a:endParaRPr>
          </a:p>
          <a:p>
            <a:r>
              <a:rPr lang="en-US" dirty="0">
                <a:latin typeface="LiberationSerif"/>
              </a:rPr>
              <a:t>writing the force as </a:t>
            </a:r>
            <a:endParaRPr lang="en-US" dirty="0"/>
          </a:p>
        </p:txBody>
      </p:sp>
      <p:pic>
        <p:nvPicPr>
          <p:cNvPr id="19" name="Picture 18" descr="Text&#10;&#10;Description automatically generated with medium confidence">
            <a:extLst>
              <a:ext uri="{FF2B5EF4-FFF2-40B4-BE49-F238E27FC236}">
                <a16:creationId xmlns:a16="http://schemas.microsoft.com/office/drawing/2014/main" id="{BC621B41-27FF-C249-BAE6-854C970EF8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34038" y="3562186"/>
            <a:ext cx="1612900" cy="495300"/>
          </a:xfrm>
          <a:prstGeom prst="rect">
            <a:avLst/>
          </a:prstGeom>
        </p:spPr>
      </p:pic>
    </p:spTree>
    <p:extLst>
      <p:ext uri="{BB962C8B-B14F-4D97-AF65-F5344CB8AC3E}">
        <p14:creationId xmlns:p14="http://schemas.microsoft.com/office/powerpoint/2010/main" val="31559663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Impulse and Collisions </a:t>
            </a:r>
          </a:p>
        </p:txBody>
      </p:sp>
      <p:pic>
        <p:nvPicPr>
          <p:cNvPr id="7" name="Picture 6" descr="Text, letter&#10;&#10;Description automatically generated">
            <a:extLst>
              <a:ext uri="{FF2B5EF4-FFF2-40B4-BE49-F238E27FC236}">
                <a16:creationId xmlns:a16="http://schemas.microsoft.com/office/drawing/2014/main" id="{52939F43-D74D-DF4C-A128-CA27936F75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791" y="4061793"/>
            <a:ext cx="7288236" cy="2615997"/>
          </a:xfrm>
          <a:prstGeom prst="rect">
            <a:avLst/>
          </a:prstGeom>
        </p:spPr>
      </p:pic>
      <p:pic>
        <p:nvPicPr>
          <p:cNvPr id="3" name="Picture 2" descr="Text&#10;&#10;Description automatically generated">
            <a:extLst>
              <a:ext uri="{FF2B5EF4-FFF2-40B4-BE49-F238E27FC236}">
                <a16:creationId xmlns:a16="http://schemas.microsoft.com/office/drawing/2014/main" id="{A38BB7CC-9E4D-9B46-B6BD-C663BB4395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765" y="849731"/>
            <a:ext cx="11218469" cy="2974594"/>
          </a:xfrm>
          <a:prstGeom prst="rect">
            <a:avLst/>
          </a:prstGeom>
        </p:spPr>
      </p:pic>
      <p:sp>
        <p:nvSpPr>
          <p:cNvPr id="8" name="Rectangle 7">
            <a:extLst>
              <a:ext uri="{FF2B5EF4-FFF2-40B4-BE49-F238E27FC236}">
                <a16:creationId xmlns:a16="http://schemas.microsoft.com/office/drawing/2014/main" id="{43C518E2-1464-FC40-8BDB-26B7ACC1472F}"/>
              </a:ext>
            </a:extLst>
          </p:cNvPr>
          <p:cNvSpPr/>
          <p:nvPr/>
        </p:nvSpPr>
        <p:spPr>
          <a:xfrm>
            <a:off x="526521" y="580438"/>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9" name="Picture Placeholder 1" descr="Before the collision, a car is traveling at velocity v sub I equals 27 meters per second to the right. After the collision, the car has velocity v sub f = 0 and the passenger feels a force minus F to the left.">
            <a:extLst>
              <a:ext uri="{FF2B5EF4-FFF2-40B4-BE49-F238E27FC236}">
                <a16:creationId xmlns:a16="http://schemas.microsoft.com/office/drawing/2014/main" id="{B2A0ADBF-A49B-D24B-84B0-219D7712E328}"/>
              </a:ext>
            </a:extLst>
          </p:cNvPr>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a:xfrm>
            <a:off x="161734" y="4061792"/>
            <a:ext cx="4622301" cy="1945924"/>
          </a:xfrm>
          <a:prstGeom prst="rect">
            <a:avLst/>
          </a:prstGeom>
        </p:spPr>
      </p:pic>
      <p:sp>
        <p:nvSpPr>
          <p:cNvPr id="10" name="Rectangle 9">
            <a:extLst>
              <a:ext uri="{FF2B5EF4-FFF2-40B4-BE49-F238E27FC236}">
                <a16:creationId xmlns:a16="http://schemas.microsoft.com/office/drawing/2014/main" id="{2744B847-72D0-8644-9C4D-69589B811B71}"/>
              </a:ext>
            </a:extLst>
          </p:cNvPr>
          <p:cNvSpPr/>
          <p:nvPr/>
        </p:nvSpPr>
        <p:spPr>
          <a:xfrm>
            <a:off x="161734" y="5985174"/>
            <a:ext cx="4463275" cy="584775"/>
          </a:xfrm>
          <a:prstGeom prst="rect">
            <a:avLst/>
          </a:prstGeom>
        </p:spPr>
        <p:txBody>
          <a:bodyPr wrap="square">
            <a:spAutoFit/>
          </a:bodyPr>
          <a:lstStyle/>
          <a:p>
            <a:r>
              <a:rPr lang="en-US" sz="1600" dirty="0">
                <a:solidFill>
                  <a:srgbClr val="000066"/>
                </a:solidFill>
              </a:rPr>
              <a:t>The motion of a car and its driver at the instant before and the instant after colliding with the wall. </a:t>
            </a:r>
          </a:p>
        </p:txBody>
      </p:sp>
    </p:spTree>
    <p:extLst>
      <p:ext uri="{BB962C8B-B14F-4D97-AF65-F5344CB8AC3E}">
        <p14:creationId xmlns:p14="http://schemas.microsoft.com/office/powerpoint/2010/main" val="40936102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Impulse and Collisions </a:t>
            </a:r>
          </a:p>
        </p:txBody>
      </p:sp>
      <p:pic>
        <p:nvPicPr>
          <p:cNvPr id="3" name="Picture 2" descr="Text&#10;&#10;Description automatically generated">
            <a:extLst>
              <a:ext uri="{FF2B5EF4-FFF2-40B4-BE49-F238E27FC236}">
                <a16:creationId xmlns:a16="http://schemas.microsoft.com/office/drawing/2014/main" id="{C64D299D-83BC-874F-A951-0052015877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3790" y="1407967"/>
            <a:ext cx="8072783" cy="1882138"/>
          </a:xfrm>
          <a:prstGeom prst="rect">
            <a:avLst/>
          </a:prstGeom>
        </p:spPr>
      </p:pic>
      <p:pic>
        <p:nvPicPr>
          <p:cNvPr id="7" name="Picture 6" descr="Text&#10;&#10;Description automatically generated with medium confidence">
            <a:extLst>
              <a:ext uri="{FF2B5EF4-FFF2-40B4-BE49-F238E27FC236}">
                <a16:creationId xmlns:a16="http://schemas.microsoft.com/office/drawing/2014/main" id="{9150BCA2-5894-E649-B595-D2D223CD4C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3790" y="4898741"/>
            <a:ext cx="1917700" cy="635000"/>
          </a:xfrm>
          <a:prstGeom prst="rect">
            <a:avLst/>
          </a:prstGeom>
        </p:spPr>
      </p:pic>
      <p:pic>
        <p:nvPicPr>
          <p:cNvPr id="8" name="Picture 7" descr="Text, letter&#10;&#10;Description automatically generated">
            <a:extLst>
              <a:ext uri="{FF2B5EF4-FFF2-40B4-BE49-F238E27FC236}">
                <a16:creationId xmlns:a16="http://schemas.microsoft.com/office/drawing/2014/main" id="{44C22C78-E80F-FA41-B666-3F4EA4656A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60785" y="3608457"/>
            <a:ext cx="8551242" cy="3069333"/>
          </a:xfrm>
          <a:prstGeom prst="rect">
            <a:avLst/>
          </a:prstGeom>
        </p:spPr>
      </p:pic>
      <p:sp>
        <p:nvSpPr>
          <p:cNvPr id="9" name="Rectangle 8">
            <a:extLst>
              <a:ext uri="{FF2B5EF4-FFF2-40B4-BE49-F238E27FC236}">
                <a16:creationId xmlns:a16="http://schemas.microsoft.com/office/drawing/2014/main" id="{D54A722C-E794-0E49-9639-7DB1A0684071}"/>
              </a:ext>
            </a:extLst>
          </p:cNvPr>
          <p:cNvSpPr/>
          <p:nvPr/>
        </p:nvSpPr>
        <p:spPr>
          <a:xfrm>
            <a:off x="1134681" y="1126155"/>
            <a:ext cx="10989643" cy="769441"/>
          </a:xfrm>
          <a:prstGeom prst="rect">
            <a:avLst/>
          </a:prstGeom>
        </p:spPr>
        <p:txBody>
          <a:bodyPr wrap="square">
            <a:spAutoFit/>
          </a:bodyPr>
          <a:lstStyle/>
          <a:p>
            <a:r>
              <a:rPr lang="en-US" sz="2200" dirty="0">
                <a:solidFill>
                  <a:srgbClr val="0000CC"/>
                </a:solidFill>
              </a:rPr>
              <a:t>Assignment 1</a:t>
            </a:r>
          </a:p>
          <a:p>
            <a:endParaRPr lang="en-US" sz="2200" dirty="0">
              <a:solidFill>
                <a:srgbClr val="0000CC"/>
              </a:solidFill>
            </a:endParaRPr>
          </a:p>
        </p:txBody>
      </p:sp>
    </p:spTree>
    <p:extLst>
      <p:ext uri="{BB962C8B-B14F-4D97-AF65-F5344CB8AC3E}">
        <p14:creationId xmlns:p14="http://schemas.microsoft.com/office/powerpoint/2010/main" val="4052488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Momentum and Force </a:t>
            </a:r>
          </a:p>
        </p:txBody>
      </p:sp>
      <p:sp>
        <p:nvSpPr>
          <p:cNvPr id="2" name="Rectangle 1">
            <a:extLst>
              <a:ext uri="{FF2B5EF4-FFF2-40B4-BE49-F238E27FC236}">
                <a16:creationId xmlns:a16="http://schemas.microsoft.com/office/drawing/2014/main" id="{187F20BB-3962-924F-9407-DA4FC6CAB688}"/>
              </a:ext>
            </a:extLst>
          </p:cNvPr>
          <p:cNvSpPr/>
          <p:nvPr/>
        </p:nvSpPr>
        <p:spPr>
          <a:xfrm>
            <a:off x="691401" y="605691"/>
            <a:ext cx="6590587" cy="830997"/>
          </a:xfrm>
          <a:prstGeom prst="rect">
            <a:avLst/>
          </a:prstGeom>
        </p:spPr>
        <p:txBody>
          <a:bodyPr wrap="none">
            <a:spAutoFit/>
          </a:bodyPr>
          <a:lstStyle/>
          <a:p>
            <a:r>
              <a:rPr lang="en-US" sz="2000" dirty="0">
                <a:solidFill>
                  <a:srgbClr val="000066"/>
                </a:solidFill>
                <a:latin typeface="LiberationSerif"/>
              </a:rPr>
              <a:t>As we have seen</a:t>
            </a:r>
          </a:p>
          <a:p>
            <a:endParaRPr lang="en-US" sz="800" dirty="0">
              <a:solidFill>
                <a:srgbClr val="000066"/>
              </a:solidFill>
              <a:latin typeface="LiberationSerif"/>
            </a:endParaRPr>
          </a:p>
          <a:p>
            <a:r>
              <a:rPr lang="en-US" sz="2000" dirty="0">
                <a:solidFill>
                  <a:srgbClr val="000066"/>
                </a:solidFill>
                <a:latin typeface="LiberationSerif"/>
              </a:rPr>
              <a:t>					This is the change in momentum, thus: </a:t>
            </a:r>
            <a:endParaRPr lang="en-US" sz="2000" dirty="0">
              <a:solidFill>
                <a:srgbClr val="000066"/>
              </a:solidFill>
            </a:endParaRPr>
          </a:p>
        </p:txBody>
      </p:sp>
      <p:pic>
        <p:nvPicPr>
          <p:cNvPr id="6" name="Picture 5" descr="Logo&#10;&#10;Description automatically generated with medium confidence">
            <a:extLst>
              <a:ext uri="{FF2B5EF4-FFF2-40B4-BE49-F238E27FC236}">
                <a16:creationId xmlns:a16="http://schemas.microsoft.com/office/drawing/2014/main" id="{4DA85E17-A0CD-D04A-B10B-B14D06ABEC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770" y="497970"/>
            <a:ext cx="1397000" cy="546100"/>
          </a:xfrm>
          <a:prstGeom prst="rect">
            <a:avLst/>
          </a:prstGeom>
        </p:spPr>
      </p:pic>
      <p:pic>
        <p:nvPicPr>
          <p:cNvPr id="9" name="Picture 8" descr="Diagram, text&#10;&#10;Description automatically generated with medium confidence">
            <a:extLst>
              <a:ext uri="{FF2B5EF4-FFF2-40B4-BE49-F238E27FC236}">
                <a16:creationId xmlns:a16="http://schemas.microsoft.com/office/drawing/2014/main" id="{3100F437-D228-F94F-B05F-5147D01CA1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821" y="1452996"/>
            <a:ext cx="10845800" cy="1612900"/>
          </a:xfrm>
          <a:prstGeom prst="rect">
            <a:avLst/>
          </a:prstGeom>
        </p:spPr>
      </p:pic>
      <p:pic>
        <p:nvPicPr>
          <p:cNvPr id="11" name="Picture 10" descr="Shape&#10;&#10;Description automatically generated with low confidence">
            <a:extLst>
              <a:ext uri="{FF2B5EF4-FFF2-40B4-BE49-F238E27FC236}">
                <a16:creationId xmlns:a16="http://schemas.microsoft.com/office/drawing/2014/main" id="{588E99E2-B365-9341-B353-BC17299CB5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3757" y="2376552"/>
            <a:ext cx="2162864" cy="579737"/>
          </a:xfrm>
          <a:prstGeom prst="rect">
            <a:avLst/>
          </a:prstGeom>
        </p:spPr>
      </p:pic>
      <p:pic>
        <p:nvPicPr>
          <p:cNvPr id="13" name="Picture 12">
            <a:extLst>
              <a:ext uri="{FF2B5EF4-FFF2-40B4-BE49-F238E27FC236}">
                <a16:creationId xmlns:a16="http://schemas.microsoft.com/office/drawing/2014/main" id="{D18D0823-5FA1-D84E-BE2D-421959E6F6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58526" y="3324807"/>
            <a:ext cx="1917700" cy="635000"/>
          </a:xfrm>
          <a:prstGeom prst="rect">
            <a:avLst/>
          </a:prstGeom>
        </p:spPr>
      </p:pic>
      <p:sp>
        <p:nvSpPr>
          <p:cNvPr id="14" name="Rectangle 13">
            <a:extLst>
              <a:ext uri="{FF2B5EF4-FFF2-40B4-BE49-F238E27FC236}">
                <a16:creationId xmlns:a16="http://schemas.microsoft.com/office/drawing/2014/main" id="{212A1260-63BB-0A48-B9A2-FABA5F3D6043}"/>
              </a:ext>
            </a:extLst>
          </p:cNvPr>
          <p:cNvSpPr/>
          <p:nvPr/>
        </p:nvSpPr>
        <p:spPr>
          <a:xfrm>
            <a:off x="500821" y="3429000"/>
            <a:ext cx="2197461" cy="400110"/>
          </a:xfrm>
          <a:prstGeom prst="rect">
            <a:avLst/>
          </a:prstGeom>
        </p:spPr>
        <p:txBody>
          <a:bodyPr wrap="none">
            <a:spAutoFit/>
          </a:bodyPr>
          <a:lstStyle/>
          <a:p>
            <a:r>
              <a:rPr lang="en-US" sz="2000" dirty="0">
                <a:solidFill>
                  <a:srgbClr val="000066"/>
                </a:solidFill>
                <a:latin typeface="LiberationSerif"/>
              </a:rPr>
              <a:t>Taking into account</a:t>
            </a:r>
            <a:endParaRPr lang="en-US" sz="2000" dirty="0"/>
          </a:p>
        </p:txBody>
      </p:sp>
      <p:pic>
        <p:nvPicPr>
          <p:cNvPr id="16" name="Picture 15" descr="A picture containing chart&#10;&#10;Description automatically generated">
            <a:extLst>
              <a:ext uri="{FF2B5EF4-FFF2-40B4-BE49-F238E27FC236}">
                <a16:creationId xmlns:a16="http://schemas.microsoft.com/office/drawing/2014/main" id="{D5FB33F5-3F93-4A4C-9464-E86956A3B1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2344" y="3186211"/>
            <a:ext cx="1447800" cy="800100"/>
          </a:xfrm>
          <a:prstGeom prst="rect">
            <a:avLst/>
          </a:prstGeom>
        </p:spPr>
      </p:pic>
      <p:sp>
        <p:nvSpPr>
          <p:cNvPr id="17" name="Right Arrow 16">
            <a:extLst>
              <a:ext uri="{FF2B5EF4-FFF2-40B4-BE49-F238E27FC236}">
                <a16:creationId xmlns:a16="http://schemas.microsoft.com/office/drawing/2014/main" id="{1E78772B-89FA-E24D-B14C-632E4FE6BFFE}"/>
              </a:ext>
            </a:extLst>
          </p:cNvPr>
          <p:cNvSpPr/>
          <p:nvPr/>
        </p:nvSpPr>
        <p:spPr>
          <a:xfrm>
            <a:off x="4691354" y="3522752"/>
            <a:ext cx="565617" cy="26935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81AAB012-F0E0-504D-A794-C877BA86F16B}"/>
              </a:ext>
            </a:extLst>
          </p:cNvPr>
          <p:cNvSpPr/>
          <p:nvPr/>
        </p:nvSpPr>
        <p:spPr>
          <a:xfrm>
            <a:off x="6970645" y="3522752"/>
            <a:ext cx="565617" cy="269353"/>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picture containing text, clock, gauge&#10;&#10;Description automatically generated">
            <a:extLst>
              <a:ext uri="{FF2B5EF4-FFF2-40B4-BE49-F238E27FC236}">
                <a16:creationId xmlns:a16="http://schemas.microsoft.com/office/drawing/2014/main" id="{FA7B21A2-A664-F54E-A332-8312D244A21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26763" y="3229005"/>
            <a:ext cx="1600200" cy="800100"/>
          </a:xfrm>
          <a:prstGeom prst="rect">
            <a:avLst/>
          </a:prstGeom>
        </p:spPr>
      </p:pic>
      <p:sp>
        <p:nvSpPr>
          <p:cNvPr id="23" name="Rectangle 22">
            <a:extLst>
              <a:ext uri="{FF2B5EF4-FFF2-40B4-BE49-F238E27FC236}">
                <a16:creationId xmlns:a16="http://schemas.microsoft.com/office/drawing/2014/main" id="{F827E357-C70B-6E44-9309-8B556506CBD6}"/>
              </a:ext>
            </a:extLst>
          </p:cNvPr>
          <p:cNvSpPr/>
          <p:nvPr/>
        </p:nvSpPr>
        <p:spPr>
          <a:xfrm>
            <a:off x="3530294" y="4421147"/>
            <a:ext cx="8815507" cy="1015663"/>
          </a:xfrm>
          <a:prstGeom prst="rect">
            <a:avLst/>
          </a:prstGeom>
        </p:spPr>
        <p:txBody>
          <a:bodyPr wrap="square">
            <a:spAutoFit/>
          </a:bodyPr>
          <a:lstStyle/>
          <a:p>
            <a:r>
              <a:rPr lang="en-US" sz="2000" dirty="0">
                <a:solidFill>
                  <a:srgbClr val="C00000"/>
                </a:solidFill>
                <a:latin typeface="LiberationSerif"/>
              </a:rPr>
              <a:t>For a </a:t>
            </a:r>
            <a:r>
              <a:rPr lang="en-US" sz="2000" i="1" dirty="0">
                <a:solidFill>
                  <a:srgbClr val="C00000"/>
                </a:solidFill>
                <a:latin typeface="LiberationSerif"/>
              </a:rPr>
              <a:t>continuously </a:t>
            </a:r>
            <a:r>
              <a:rPr lang="en-US" sz="2000" dirty="0">
                <a:solidFill>
                  <a:srgbClr val="C00000"/>
                </a:solidFill>
                <a:latin typeface="LiberationSerif"/>
              </a:rPr>
              <a:t>changing momentum—due to a continuously changing force— in the limit </a:t>
            </a:r>
          </a:p>
          <a:p>
            <a:endParaRPr lang="en-US" sz="2000" dirty="0">
              <a:solidFill>
                <a:srgbClr val="C00000"/>
              </a:solidFill>
            </a:endParaRPr>
          </a:p>
        </p:txBody>
      </p:sp>
      <p:pic>
        <p:nvPicPr>
          <p:cNvPr id="25" name="Picture 24">
            <a:extLst>
              <a:ext uri="{FF2B5EF4-FFF2-40B4-BE49-F238E27FC236}">
                <a16:creationId xmlns:a16="http://schemas.microsoft.com/office/drawing/2014/main" id="{93BC7778-4276-2445-A24E-4386A190F44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05473" y="4769667"/>
            <a:ext cx="876300" cy="304800"/>
          </a:xfrm>
          <a:prstGeom prst="rect">
            <a:avLst/>
          </a:prstGeom>
        </p:spPr>
      </p:pic>
      <p:sp>
        <p:nvSpPr>
          <p:cNvPr id="28" name="Rectangle 27">
            <a:extLst>
              <a:ext uri="{FF2B5EF4-FFF2-40B4-BE49-F238E27FC236}">
                <a16:creationId xmlns:a16="http://schemas.microsoft.com/office/drawing/2014/main" id="{31582DF6-501D-DB49-B972-175069B0798A}"/>
              </a:ext>
            </a:extLst>
          </p:cNvPr>
          <p:cNvSpPr/>
          <p:nvPr/>
        </p:nvSpPr>
        <p:spPr>
          <a:xfrm>
            <a:off x="6671780" y="5107478"/>
            <a:ext cx="4972139" cy="1200329"/>
          </a:xfrm>
          <a:prstGeom prst="rect">
            <a:avLst/>
          </a:prstGeom>
        </p:spPr>
        <p:txBody>
          <a:bodyPr wrap="square">
            <a:spAutoFit/>
          </a:bodyPr>
          <a:lstStyle/>
          <a:p>
            <a:r>
              <a:rPr lang="en-US" dirty="0">
                <a:solidFill>
                  <a:srgbClr val="3B124D"/>
                </a:solidFill>
                <a:latin typeface="LiberationSerif"/>
              </a:rPr>
              <a:t>This is, in fact, Newton’s second law, written in terms of momentum rather than acceleration. </a:t>
            </a:r>
          </a:p>
          <a:p>
            <a:r>
              <a:rPr lang="en-US" dirty="0">
                <a:solidFill>
                  <a:srgbClr val="3B124D"/>
                </a:solidFill>
                <a:latin typeface="LiberationSerif"/>
              </a:rPr>
              <a:t>This is the relationship Newton himself presented in his </a:t>
            </a:r>
            <a:r>
              <a:rPr lang="en-US" i="1" dirty="0">
                <a:solidFill>
                  <a:srgbClr val="3B124D"/>
                </a:solidFill>
                <a:latin typeface="LiberationSerif"/>
              </a:rPr>
              <a:t>Principia Mathematica. </a:t>
            </a:r>
            <a:endParaRPr lang="en-US" dirty="0">
              <a:solidFill>
                <a:srgbClr val="3B124D"/>
              </a:solidFill>
            </a:endParaRPr>
          </a:p>
        </p:txBody>
      </p:sp>
      <p:pic>
        <p:nvPicPr>
          <p:cNvPr id="29" name="Picture Placeholder 1" descr="A portrait of Isaac Newton.">
            <a:extLst>
              <a:ext uri="{FF2B5EF4-FFF2-40B4-BE49-F238E27FC236}">
                <a16:creationId xmlns:a16="http://schemas.microsoft.com/office/drawing/2014/main" id="{25135FE7-B6A7-6C46-8EF0-431AB19A8E3A}"/>
              </a:ext>
            </a:extLst>
          </p:cNvPr>
          <p:cNvPicPr>
            <a:picLocks noChangeAspect="1"/>
          </p:cNvPicPr>
          <p:nvPr/>
        </p:nvPicPr>
        <p:blipFill>
          <a:blip r:embed="rId10">
            <a:extLst>
              <a:ext uri="{28A0092B-C50C-407E-A947-70E740481C1C}">
                <a14:useLocalDpi xmlns:a14="http://schemas.microsoft.com/office/drawing/2010/main" val="0"/>
              </a:ext>
            </a:extLst>
          </a:blip>
          <a:srcRect t="-3327" b="-3327"/>
          <a:stretch>
            <a:fillRect/>
          </a:stretch>
        </p:blipFill>
        <p:spPr>
          <a:xfrm>
            <a:off x="593864" y="3923293"/>
            <a:ext cx="2104418" cy="2743200"/>
          </a:xfrm>
          <a:prstGeom prst="rect">
            <a:avLst/>
          </a:prstGeom>
        </p:spPr>
      </p:pic>
      <p:sp>
        <p:nvSpPr>
          <p:cNvPr id="30" name="Rounded Rectangular Callout 29">
            <a:extLst>
              <a:ext uri="{FF2B5EF4-FFF2-40B4-BE49-F238E27FC236}">
                <a16:creationId xmlns:a16="http://schemas.microsoft.com/office/drawing/2014/main" id="{594CFA46-99CD-E54B-A8A2-39C6B0915F50}"/>
              </a:ext>
            </a:extLst>
          </p:cNvPr>
          <p:cNvSpPr/>
          <p:nvPr/>
        </p:nvSpPr>
        <p:spPr>
          <a:xfrm>
            <a:off x="3554902" y="5202012"/>
            <a:ext cx="3048000" cy="1138807"/>
          </a:xfrm>
          <a:prstGeom prst="wedgeRoundRectCallout">
            <a:avLst>
              <a:gd name="adj1" fmla="val -101156"/>
              <a:gd name="adj2" fmla="val -82548"/>
              <a:gd name="adj3" fmla="val 16667"/>
            </a:avLst>
          </a:prstGeom>
          <a:solidFill>
            <a:srgbClr val="F1DBB7"/>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Diagram&#10;&#10;Description automatically generated with medium confidence">
            <a:extLst>
              <a:ext uri="{FF2B5EF4-FFF2-40B4-BE49-F238E27FC236}">
                <a16:creationId xmlns:a16="http://schemas.microsoft.com/office/drawing/2014/main" id="{4F3D0ADB-EE3B-344F-B60B-038C94F73AE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09228" y="5294893"/>
            <a:ext cx="1460500" cy="825500"/>
          </a:xfrm>
          <a:prstGeom prst="rect">
            <a:avLst/>
          </a:prstGeom>
        </p:spPr>
      </p:pic>
      <p:sp>
        <p:nvSpPr>
          <p:cNvPr id="33" name="Rectangle 32">
            <a:extLst>
              <a:ext uri="{FF2B5EF4-FFF2-40B4-BE49-F238E27FC236}">
                <a16:creationId xmlns:a16="http://schemas.microsoft.com/office/drawing/2014/main" id="{CFCDF4F4-864E-C94A-896C-A594047DAB05}"/>
              </a:ext>
            </a:extLst>
          </p:cNvPr>
          <p:cNvSpPr/>
          <p:nvPr/>
        </p:nvSpPr>
        <p:spPr>
          <a:xfrm>
            <a:off x="3313597" y="6425472"/>
            <a:ext cx="4240520" cy="369332"/>
          </a:xfrm>
          <a:prstGeom prst="rect">
            <a:avLst/>
          </a:prstGeom>
        </p:spPr>
        <p:txBody>
          <a:bodyPr wrap="none">
            <a:spAutoFit/>
          </a:bodyPr>
          <a:lstStyle/>
          <a:p>
            <a:r>
              <a:rPr lang="en-US" dirty="0">
                <a:solidFill>
                  <a:srgbClr val="000066"/>
                </a:solidFill>
                <a:latin typeface="LiberationSerif"/>
              </a:rPr>
              <a:t>If the mass of the system remains constant </a:t>
            </a:r>
            <a:endParaRPr lang="en-US" dirty="0">
              <a:solidFill>
                <a:srgbClr val="000066"/>
              </a:solidFill>
            </a:endParaRPr>
          </a:p>
        </p:txBody>
      </p:sp>
      <p:pic>
        <p:nvPicPr>
          <p:cNvPr id="37" name="Picture 36" descr="A picture containing text&#10;&#10;Description automatically generated">
            <a:extLst>
              <a:ext uri="{FF2B5EF4-FFF2-40B4-BE49-F238E27FC236}">
                <a16:creationId xmlns:a16="http://schemas.microsoft.com/office/drawing/2014/main" id="{A1087A65-4404-D647-8735-895C25EA2D6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414099" y="6309360"/>
            <a:ext cx="2557054" cy="548640"/>
          </a:xfrm>
          <a:prstGeom prst="rect">
            <a:avLst/>
          </a:prstGeom>
        </p:spPr>
      </p:pic>
    </p:spTree>
    <p:extLst>
      <p:ext uri="{BB962C8B-B14F-4D97-AF65-F5344CB8AC3E}">
        <p14:creationId xmlns:p14="http://schemas.microsoft.com/office/powerpoint/2010/main" val="31281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Momentum and Force </a:t>
            </a:r>
          </a:p>
        </p:txBody>
      </p:sp>
      <p:pic>
        <p:nvPicPr>
          <p:cNvPr id="29" name="Picture Placeholder 1" descr="A portrait of Isaac Newton.">
            <a:extLst>
              <a:ext uri="{FF2B5EF4-FFF2-40B4-BE49-F238E27FC236}">
                <a16:creationId xmlns:a16="http://schemas.microsoft.com/office/drawing/2014/main" id="{25135FE7-B6A7-6C46-8EF0-431AB19A8E3A}"/>
              </a:ext>
            </a:extLst>
          </p:cNvPr>
          <p:cNvPicPr>
            <a:picLocks noChangeAspect="1"/>
          </p:cNvPicPr>
          <p:nvPr/>
        </p:nvPicPr>
        <p:blipFill>
          <a:blip r:embed="rId3">
            <a:extLst>
              <a:ext uri="{28A0092B-C50C-407E-A947-70E740481C1C}">
                <a14:useLocalDpi xmlns:a14="http://schemas.microsoft.com/office/drawing/2010/main" val="0"/>
              </a:ext>
            </a:extLst>
          </a:blip>
          <a:srcRect t="-3327" b="-3327"/>
          <a:stretch>
            <a:fillRect/>
          </a:stretch>
        </p:blipFill>
        <p:spPr>
          <a:xfrm>
            <a:off x="593864" y="3923293"/>
            <a:ext cx="2104418" cy="2743200"/>
          </a:xfrm>
          <a:prstGeom prst="rect">
            <a:avLst/>
          </a:prstGeom>
        </p:spPr>
      </p:pic>
      <p:sp>
        <p:nvSpPr>
          <p:cNvPr id="30" name="Rounded Rectangular Callout 29">
            <a:extLst>
              <a:ext uri="{FF2B5EF4-FFF2-40B4-BE49-F238E27FC236}">
                <a16:creationId xmlns:a16="http://schemas.microsoft.com/office/drawing/2014/main" id="{594CFA46-99CD-E54B-A8A2-39C6B0915F50}"/>
              </a:ext>
            </a:extLst>
          </p:cNvPr>
          <p:cNvSpPr/>
          <p:nvPr/>
        </p:nvSpPr>
        <p:spPr>
          <a:xfrm>
            <a:off x="3554902" y="5202012"/>
            <a:ext cx="3048000" cy="1138807"/>
          </a:xfrm>
          <a:prstGeom prst="wedgeRoundRectCallout">
            <a:avLst>
              <a:gd name="adj1" fmla="val -101156"/>
              <a:gd name="adj2" fmla="val -82548"/>
              <a:gd name="adj3" fmla="val 16667"/>
            </a:avLst>
          </a:prstGeom>
          <a:solidFill>
            <a:srgbClr val="F1DBB7"/>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Diagram&#10;&#10;Description automatically generated with medium confidence">
            <a:extLst>
              <a:ext uri="{FF2B5EF4-FFF2-40B4-BE49-F238E27FC236}">
                <a16:creationId xmlns:a16="http://schemas.microsoft.com/office/drawing/2014/main" id="{4F3D0ADB-EE3B-344F-B60B-038C94F73A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9228" y="5294893"/>
            <a:ext cx="1460500" cy="825500"/>
          </a:xfrm>
          <a:prstGeom prst="rect">
            <a:avLst/>
          </a:prstGeom>
        </p:spPr>
      </p:pic>
      <p:pic>
        <p:nvPicPr>
          <p:cNvPr id="24" name="Picture Placeholder 1" descr="A tennis ball leaves the racket with velocity v sub f equals 58 meters per second i hat which points horizontally to the right.">
            <a:extLst>
              <a:ext uri="{FF2B5EF4-FFF2-40B4-BE49-F238E27FC236}">
                <a16:creationId xmlns:a16="http://schemas.microsoft.com/office/drawing/2014/main" id="{A5452F1C-F585-D942-9C8A-F8F9AF42E430}"/>
              </a:ext>
            </a:extLst>
          </p:cNvPr>
          <p:cNvPicPr>
            <a:picLocks noChangeAspect="1"/>
          </p:cNvPicPr>
          <p:nvPr/>
        </p:nvPicPr>
        <p:blipFill>
          <a:blip r:embed="rId5">
            <a:extLst>
              <a:ext uri="{28A0092B-C50C-407E-A947-70E740481C1C}">
                <a14:useLocalDpi xmlns:a14="http://schemas.microsoft.com/office/drawing/2010/main" val="0"/>
              </a:ext>
            </a:extLst>
          </a:blip>
          <a:srcRect l="-14555" r="-14555"/>
          <a:stretch>
            <a:fillRect/>
          </a:stretch>
        </p:blipFill>
        <p:spPr>
          <a:xfrm>
            <a:off x="8159750" y="899078"/>
            <a:ext cx="4032250" cy="5256213"/>
          </a:xfrm>
          <a:prstGeom prst="rect">
            <a:avLst/>
          </a:prstGeom>
        </p:spPr>
      </p:pic>
      <mc:AlternateContent xmlns:mc="http://schemas.openxmlformats.org/markup-compatibility/2006" xmlns:a14="http://schemas.microsoft.com/office/drawing/2010/main">
        <mc:Choice Requires="a14">
          <p:sp>
            <p:nvSpPr>
              <p:cNvPr id="26" name="Text Placeholder 13">
                <a:extLst>
                  <a:ext uri="{FF2B5EF4-FFF2-40B4-BE49-F238E27FC236}">
                    <a16:creationId xmlns:a16="http://schemas.microsoft.com/office/drawing/2014/main" id="{747D34F4-F358-B341-8EAC-8F4424AEF061}"/>
                  </a:ext>
                </a:extLst>
              </p:cNvPr>
              <p:cNvSpPr txBox="1">
                <a:spLocks/>
              </p:cNvSpPr>
              <p:nvPr/>
            </p:nvSpPr>
            <p:spPr>
              <a:xfrm>
                <a:off x="8842718" y="6213869"/>
                <a:ext cx="2781922" cy="6595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The final velocity of the tennis ball is </a:t>
                </a:r>
                <a14:m>
                  <m:oMath xmlns:m="http://schemas.openxmlformats.org/officeDocument/2006/math">
                    <m:sSub>
                      <m:sSubPr>
                        <m:ctrlPr>
                          <a:rPr lang="cs-CZ" sz="1800" i="1">
                            <a:solidFill>
                              <a:srgbClr val="000066"/>
                            </a:solidFill>
                            <a:latin typeface="Cambria Math" panose="02040503050406030204" pitchFamily="18" charset="0"/>
                          </a:rPr>
                        </m:ctrlPr>
                      </m:sSubPr>
                      <m:e>
                        <m:acc>
                          <m:accPr>
                            <m:chr m:val="⃗"/>
                            <m:ctrlPr>
                              <a:rPr lang="cs-CZ" sz="1800" i="1">
                                <a:solidFill>
                                  <a:srgbClr val="000066"/>
                                </a:solidFill>
                                <a:latin typeface="Cambria Math" panose="02040503050406030204" pitchFamily="18" charset="0"/>
                              </a:rPr>
                            </m:ctrlPr>
                          </m:accPr>
                          <m:e>
                            <m:r>
                              <a:rPr lang="en-US" sz="1800" b="1" smtClean="0">
                                <a:solidFill>
                                  <a:srgbClr val="000066"/>
                                </a:solidFill>
                                <a:latin typeface="Cambria Math"/>
                              </a:rPr>
                              <m:t>𝐯</m:t>
                            </m:r>
                          </m:e>
                        </m:acc>
                      </m:e>
                      <m:sub>
                        <m:r>
                          <m:rPr>
                            <m:sty m:val="p"/>
                          </m:rPr>
                          <a:rPr lang="en-US" sz="1800" smtClean="0">
                            <a:solidFill>
                              <a:srgbClr val="000066"/>
                            </a:solidFill>
                            <a:latin typeface="Cambria Math"/>
                          </a:rPr>
                          <m:t>f</m:t>
                        </m:r>
                      </m:sub>
                    </m:sSub>
                    <m:r>
                      <a:rPr lang="en-US" sz="1800" smtClean="0">
                        <a:solidFill>
                          <a:srgbClr val="000066"/>
                        </a:solidFill>
                        <a:latin typeface="Cambria Math"/>
                      </a:rPr>
                      <m:t>=</m:t>
                    </m:r>
                  </m:oMath>
                </a14:m>
                <a:r>
                  <a:rPr lang="en-US" sz="1800" dirty="0">
                    <a:solidFill>
                      <a:srgbClr val="000066"/>
                    </a:solidFill>
                  </a:rPr>
                  <a:t> (58 m/s)</a:t>
                </a:r>
                <a14:m>
                  <m:oMath xmlns:m="http://schemas.openxmlformats.org/officeDocument/2006/math">
                    <m:acc>
                      <m:accPr>
                        <m:chr m:val="̂"/>
                        <m:ctrlPr>
                          <a:rPr lang="en-US" sz="1800" i="1" smtClean="0">
                            <a:solidFill>
                              <a:srgbClr val="000066"/>
                            </a:solidFill>
                            <a:latin typeface="Cambria Math" panose="02040503050406030204" pitchFamily="18" charset="0"/>
                          </a:rPr>
                        </m:ctrlPr>
                      </m:accPr>
                      <m:e>
                        <m:r>
                          <a:rPr lang="en-US" sz="1800" b="1" smtClean="0">
                            <a:solidFill>
                              <a:srgbClr val="000066"/>
                            </a:solidFill>
                            <a:latin typeface="Cambria Math"/>
                          </a:rPr>
                          <m:t>𝐢</m:t>
                        </m:r>
                      </m:e>
                    </m:acc>
                  </m:oMath>
                </a14:m>
                <a:r>
                  <a:rPr lang="en-US" sz="1800" dirty="0">
                    <a:solidFill>
                      <a:srgbClr val="000066"/>
                    </a:solidFill>
                  </a:rPr>
                  <a:t> </a:t>
                </a:r>
              </a:p>
            </p:txBody>
          </p:sp>
        </mc:Choice>
        <mc:Fallback xmlns="">
          <p:sp>
            <p:nvSpPr>
              <p:cNvPr id="26" name="Text Placeholder 13">
                <a:extLst>
                  <a:ext uri="{FF2B5EF4-FFF2-40B4-BE49-F238E27FC236}">
                    <a16:creationId xmlns:a16="http://schemas.microsoft.com/office/drawing/2014/main" id="{747D34F4-F358-B341-8EAC-8F4424AEF061}"/>
                  </a:ext>
                </a:extLst>
              </p:cNvPr>
              <p:cNvSpPr txBox="1">
                <a:spLocks noRot="1" noChangeAspect="1" noMove="1" noResize="1" noEditPoints="1" noAdjustHandles="1" noChangeArrowheads="1" noChangeShapeType="1" noTextEdit="1"/>
              </p:cNvSpPr>
              <p:nvPr/>
            </p:nvSpPr>
            <p:spPr>
              <a:xfrm>
                <a:off x="8842718" y="6213869"/>
                <a:ext cx="2781922" cy="659536"/>
              </a:xfrm>
              <a:prstGeom prst="rect">
                <a:avLst/>
              </a:prstGeom>
              <a:blipFill>
                <a:blip r:embed="rId6"/>
                <a:stretch>
                  <a:fillRect l="-1818" t="-7547" b="-3774"/>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A0908C8F-37E0-DA40-98DA-CA974A7B3EDB}"/>
              </a:ext>
            </a:extLst>
          </p:cNvPr>
          <p:cNvSpPr/>
          <p:nvPr/>
        </p:nvSpPr>
        <p:spPr>
          <a:xfrm>
            <a:off x="459064" y="826364"/>
            <a:ext cx="7982571" cy="2862322"/>
          </a:xfrm>
          <a:prstGeom prst="rect">
            <a:avLst/>
          </a:prstGeom>
        </p:spPr>
        <p:txBody>
          <a:bodyPr wrap="square">
            <a:spAutoFit/>
          </a:bodyPr>
          <a:lstStyle/>
          <a:p>
            <a:r>
              <a:rPr lang="en-US" sz="2000" b="1" dirty="0">
                <a:solidFill>
                  <a:srgbClr val="213866"/>
                </a:solidFill>
                <a:latin typeface="LiberationSans"/>
              </a:rPr>
              <a:t>Calculating Force: Venus Williams’ Tennis Serve </a:t>
            </a:r>
            <a:endParaRPr lang="en-US" sz="2000" dirty="0"/>
          </a:p>
          <a:p>
            <a:r>
              <a:rPr lang="en-US" sz="2000" dirty="0">
                <a:solidFill>
                  <a:srgbClr val="3B124D"/>
                </a:solidFill>
                <a:latin typeface="LiberationSerif"/>
              </a:rPr>
              <a:t>During the 2007 French Open, Venus Williams hit the fastest recorded serve in a premier women’s match, reaching a speed of 58 m/s (209 km/h). </a:t>
            </a:r>
          </a:p>
          <a:p>
            <a:endParaRPr lang="en-US" sz="2000" dirty="0">
              <a:solidFill>
                <a:srgbClr val="3B124D"/>
              </a:solidFill>
              <a:latin typeface="LiberationSerif"/>
            </a:endParaRPr>
          </a:p>
          <a:p>
            <a:r>
              <a:rPr lang="en-US" sz="2000" dirty="0">
                <a:solidFill>
                  <a:srgbClr val="3B124D"/>
                </a:solidFill>
                <a:latin typeface="LiberationSerif"/>
              </a:rPr>
              <a:t>What is the average force exerted on the 0.057-kg tennis ball by Venus Williams’ racquet? Assume that the ball’s speed just after impact is 58 m/s, as shown in </a:t>
            </a:r>
            <a:r>
              <a:rPr lang="en-US" sz="2000" dirty="0">
                <a:solidFill>
                  <a:srgbClr val="3B124D"/>
                </a:solidFill>
                <a:latin typeface="LiberationSans"/>
              </a:rPr>
              <a:t>figure</a:t>
            </a:r>
            <a:r>
              <a:rPr lang="en-US" sz="2000" dirty="0">
                <a:solidFill>
                  <a:srgbClr val="3B124D"/>
                </a:solidFill>
                <a:latin typeface="LiberationSerif"/>
              </a:rPr>
              <a:t>, that the initial horizontal component of the velocity before impact is negligible, and that the ball remained in contact with the racquet for 5.0 </a:t>
            </a:r>
            <a:r>
              <a:rPr lang="en-US" sz="2000" dirty="0" err="1">
                <a:solidFill>
                  <a:srgbClr val="3B124D"/>
                </a:solidFill>
                <a:latin typeface="LiberationSerif"/>
              </a:rPr>
              <a:t>ms.</a:t>
            </a:r>
            <a:r>
              <a:rPr lang="en-US" sz="2000" dirty="0">
                <a:solidFill>
                  <a:srgbClr val="3B124D"/>
                </a:solidFill>
                <a:latin typeface="LiberationSerif"/>
              </a:rPr>
              <a:t> </a:t>
            </a:r>
            <a:endParaRPr lang="en-US" sz="2000" dirty="0">
              <a:solidFill>
                <a:srgbClr val="3B124D"/>
              </a:solidFill>
            </a:endParaRPr>
          </a:p>
        </p:txBody>
      </p:sp>
      <p:sp>
        <p:nvSpPr>
          <p:cNvPr id="31" name="Rectangle 30">
            <a:extLst>
              <a:ext uri="{FF2B5EF4-FFF2-40B4-BE49-F238E27FC236}">
                <a16:creationId xmlns:a16="http://schemas.microsoft.com/office/drawing/2014/main" id="{B26B3F9F-EB0D-394F-9787-61BA0D2526AA}"/>
              </a:ext>
            </a:extLst>
          </p:cNvPr>
          <p:cNvSpPr/>
          <p:nvPr/>
        </p:nvSpPr>
        <p:spPr>
          <a:xfrm>
            <a:off x="459064" y="421428"/>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11" name="Picture 10" descr="A picture containing text, clock, gauge&#10;&#10;Description automatically generated">
            <a:extLst>
              <a:ext uri="{FF2B5EF4-FFF2-40B4-BE49-F238E27FC236}">
                <a16:creationId xmlns:a16="http://schemas.microsoft.com/office/drawing/2014/main" id="{464E711B-562F-4E45-A81F-05A5C2BF9F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39378" y="4093622"/>
            <a:ext cx="1600200" cy="800100"/>
          </a:xfrm>
          <a:prstGeom prst="rect">
            <a:avLst/>
          </a:prstGeom>
        </p:spPr>
      </p:pic>
    </p:spTree>
    <p:extLst>
      <p:ext uri="{BB962C8B-B14F-4D97-AF65-F5344CB8AC3E}">
        <p14:creationId xmlns:p14="http://schemas.microsoft.com/office/powerpoint/2010/main" val="4380535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092824" y="89044"/>
            <a:ext cx="5423448" cy="523220"/>
          </a:xfrm>
          <a:prstGeom prst="rect">
            <a:avLst/>
          </a:prstGeom>
        </p:spPr>
        <p:txBody>
          <a:bodyPr wrap="square">
            <a:spAutoFit/>
          </a:bodyPr>
          <a:lstStyle/>
          <a:p>
            <a:r>
              <a:rPr lang="en-US" sz="2800" dirty="0">
                <a:solidFill>
                  <a:srgbClr val="C00000"/>
                </a:solidFill>
                <a:latin typeface="NewBaskervilleStd-Roman"/>
              </a:rPr>
              <a:t>Conservation of Linear Momentum </a:t>
            </a:r>
          </a:p>
        </p:txBody>
      </p:sp>
      <p:sp>
        <p:nvSpPr>
          <p:cNvPr id="2" name="Rectangle 1">
            <a:extLst>
              <a:ext uri="{FF2B5EF4-FFF2-40B4-BE49-F238E27FC236}">
                <a16:creationId xmlns:a16="http://schemas.microsoft.com/office/drawing/2014/main" id="{3A10F801-7899-5C45-B030-6540BE88662D}"/>
              </a:ext>
            </a:extLst>
          </p:cNvPr>
          <p:cNvSpPr/>
          <p:nvPr/>
        </p:nvSpPr>
        <p:spPr>
          <a:xfrm>
            <a:off x="438368" y="802276"/>
            <a:ext cx="5724644" cy="4493538"/>
          </a:xfrm>
          <a:prstGeom prst="rect">
            <a:avLst/>
          </a:prstGeom>
        </p:spPr>
        <p:txBody>
          <a:bodyPr wrap="none">
            <a:spAutoFit/>
          </a:bodyPr>
          <a:lstStyle/>
          <a:p>
            <a:r>
              <a:rPr lang="en-US" sz="2200" dirty="0">
                <a:solidFill>
                  <a:srgbClr val="3B124D"/>
                </a:solidFill>
                <a:latin typeface="LiberationSerif"/>
              </a:rPr>
              <a:t>Newton’s third law says</a:t>
            </a:r>
          </a:p>
          <a:p>
            <a:endParaRPr lang="en-US" sz="2200" dirty="0">
              <a:solidFill>
                <a:srgbClr val="3B124D"/>
              </a:solidFill>
              <a:latin typeface="LiberationSerif"/>
            </a:endParaRPr>
          </a:p>
          <a:p>
            <a:endParaRPr lang="en-US" sz="2200" dirty="0">
              <a:solidFill>
                <a:srgbClr val="3B124D"/>
              </a:solidFill>
              <a:latin typeface="LiberationSerif"/>
            </a:endParaRPr>
          </a:p>
          <a:p>
            <a:r>
              <a:rPr lang="en-US" sz="2200" dirty="0">
                <a:solidFill>
                  <a:srgbClr val="3B124D"/>
                </a:solidFill>
                <a:latin typeface="LiberationSerif"/>
              </a:rPr>
              <a:t>Then, if masses are not changing				</a:t>
            </a:r>
          </a:p>
          <a:p>
            <a:endParaRPr lang="en-US" sz="2200" dirty="0">
              <a:solidFill>
                <a:srgbClr val="3B124D"/>
              </a:solidFill>
              <a:latin typeface="LiberationSerif"/>
            </a:endParaRPr>
          </a:p>
          <a:p>
            <a:r>
              <a:rPr lang="en-US" sz="2200" dirty="0">
                <a:solidFill>
                  <a:srgbClr val="3B124D"/>
                </a:solidFill>
                <a:latin typeface="LiberationSerif"/>
              </a:rPr>
              <a:t>or </a:t>
            </a:r>
          </a:p>
          <a:p>
            <a:endParaRPr lang="en-US" sz="2200" dirty="0">
              <a:solidFill>
                <a:srgbClr val="3B124D"/>
              </a:solidFill>
              <a:latin typeface="LiberationSerif"/>
            </a:endParaRPr>
          </a:p>
          <a:p>
            <a:endParaRPr lang="en-US" sz="2200" dirty="0">
              <a:solidFill>
                <a:srgbClr val="3B124D"/>
              </a:solidFill>
              <a:latin typeface="LiberationSerif"/>
            </a:endParaRPr>
          </a:p>
          <a:p>
            <a:endParaRPr lang="en-US" sz="2200" dirty="0">
              <a:solidFill>
                <a:srgbClr val="3B124D"/>
              </a:solidFill>
              <a:latin typeface="LiberationSerif"/>
            </a:endParaRPr>
          </a:p>
          <a:p>
            <a:endParaRPr lang="en-US" sz="2200" dirty="0">
              <a:solidFill>
                <a:srgbClr val="3B124D"/>
              </a:solidFill>
              <a:latin typeface="LiberationSerif"/>
            </a:endParaRPr>
          </a:p>
          <a:p>
            <a:endParaRPr lang="en-US" sz="2200" dirty="0">
              <a:solidFill>
                <a:srgbClr val="3B124D"/>
              </a:solidFill>
              <a:latin typeface="LiberationSerif"/>
            </a:endParaRPr>
          </a:p>
          <a:p>
            <a:endParaRPr lang="en-US" sz="2200" dirty="0">
              <a:solidFill>
                <a:srgbClr val="3B124D"/>
              </a:solidFill>
              <a:latin typeface="LiberationSerif"/>
            </a:endParaRPr>
          </a:p>
          <a:p>
            <a:r>
              <a:rPr lang="en-US" sz="2200" dirty="0">
                <a:solidFill>
                  <a:srgbClr val="3B124D"/>
                </a:solidFill>
                <a:latin typeface="LiberationSerif"/>
              </a:rPr>
              <a:t>which means </a:t>
            </a:r>
            <a:endParaRPr lang="en-US" sz="2200" dirty="0">
              <a:solidFill>
                <a:srgbClr val="3B124D"/>
              </a:solidFill>
              <a:latin typeface="LiberationSans"/>
            </a:endParaRPr>
          </a:p>
        </p:txBody>
      </p:sp>
      <p:sp>
        <p:nvSpPr>
          <p:cNvPr id="3" name="Rectangle 2">
            <a:extLst>
              <a:ext uri="{FF2B5EF4-FFF2-40B4-BE49-F238E27FC236}">
                <a16:creationId xmlns:a16="http://schemas.microsoft.com/office/drawing/2014/main" id="{C5379B9F-2422-E64B-8D90-41321CC7715A}"/>
              </a:ext>
            </a:extLst>
          </p:cNvPr>
          <p:cNvSpPr/>
          <p:nvPr/>
        </p:nvSpPr>
        <p:spPr>
          <a:xfrm>
            <a:off x="6096000" y="742477"/>
            <a:ext cx="6028323" cy="923330"/>
          </a:xfrm>
          <a:prstGeom prst="rect">
            <a:avLst/>
          </a:prstGeom>
        </p:spPr>
        <p:txBody>
          <a:bodyPr wrap="square">
            <a:spAutoFit/>
          </a:bodyPr>
          <a:lstStyle/>
          <a:p>
            <a:r>
              <a:rPr lang="en-US" dirty="0">
                <a:solidFill>
                  <a:srgbClr val="3B124D"/>
                </a:solidFill>
                <a:latin typeface="LiberationSerif"/>
              </a:rPr>
              <a:t>These two forces do not cancel because they are applied to different objects. </a:t>
            </a:r>
          </a:p>
          <a:p>
            <a:r>
              <a:rPr lang="en-US" i="1" dirty="0">
                <a:solidFill>
                  <a:srgbClr val="3B124D"/>
                </a:solidFill>
                <a:latin typeface="STIXGeneral" pitchFamily="2" charset="2"/>
              </a:rPr>
              <a:t>F</a:t>
            </a:r>
            <a:r>
              <a:rPr lang="en-US" sz="1400" baseline="-25000" dirty="0">
                <a:solidFill>
                  <a:srgbClr val="3B124D"/>
                </a:solidFill>
                <a:latin typeface="STIXGeneral" pitchFamily="2" charset="2"/>
              </a:rPr>
              <a:t>21</a:t>
            </a:r>
            <a:r>
              <a:rPr lang="en-US" sz="1400" dirty="0">
                <a:solidFill>
                  <a:srgbClr val="3B124D"/>
                </a:solidFill>
                <a:latin typeface="STIXGeneral" pitchFamily="2" charset="2"/>
              </a:rPr>
              <a:t> </a:t>
            </a:r>
            <a:r>
              <a:rPr lang="en-US" dirty="0">
                <a:solidFill>
                  <a:srgbClr val="3B124D"/>
                </a:solidFill>
                <a:latin typeface="LiberationSerif"/>
              </a:rPr>
              <a:t>causes </a:t>
            </a:r>
            <a:r>
              <a:rPr lang="en-US" i="1" dirty="0">
                <a:solidFill>
                  <a:srgbClr val="3B124D"/>
                </a:solidFill>
                <a:latin typeface="STIXGeneral" pitchFamily="2" charset="2"/>
              </a:rPr>
              <a:t>m</a:t>
            </a:r>
            <a:r>
              <a:rPr lang="en-US" sz="1400" baseline="-25000" dirty="0">
                <a:solidFill>
                  <a:srgbClr val="3B124D"/>
                </a:solidFill>
                <a:latin typeface="STIXGeneral" pitchFamily="2" charset="2"/>
              </a:rPr>
              <a:t>1</a:t>
            </a:r>
            <a:r>
              <a:rPr lang="en-US" sz="1400" dirty="0">
                <a:solidFill>
                  <a:srgbClr val="3B124D"/>
                </a:solidFill>
                <a:latin typeface="STIXGeneral" pitchFamily="2" charset="2"/>
              </a:rPr>
              <a:t> </a:t>
            </a:r>
            <a:r>
              <a:rPr lang="en-US" dirty="0">
                <a:solidFill>
                  <a:srgbClr val="3B124D"/>
                </a:solidFill>
                <a:latin typeface="LiberationSerif"/>
              </a:rPr>
              <a:t>to accelerate, and </a:t>
            </a:r>
            <a:r>
              <a:rPr lang="en-US" i="1" dirty="0">
                <a:solidFill>
                  <a:srgbClr val="3B124D"/>
                </a:solidFill>
                <a:latin typeface="STIXGeneral" pitchFamily="2" charset="2"/>
              </a:rPr>
              <a:t>F</a:t>
            </a:r>
            <a:r>
              <a:rPr lang="en-US" sz="1400" baseline="-25000" dirty="0">
                <a:solidFill>
                  <a:srgbClr val="3B124D"/>
                </a:solidFill>
                <a:latin typeface="STIXGeneral" pitchFamily="2" charset="2"/>
              </a:rPr>
              <a:t>12</a:t>
            </a:r>
            <a:r>
              <a:rPr lang="en-US" sz="1400" dirty="0">
                <a:solidFill>
                  <a:srgbClr val="3B124D"/>
                </a:solidFill>
                <a:latin typeface="STIXGeneral" pitchFamily="2" charset="2"/>
              </a:rPr>
              <a:t> </a:t>
            </a:r>
            <a:r>
              <a:rPr lang="en-US" dirty="0">
                <a:solidFill>
                  <a:srgbClr val="3B124D"/>
                </a:solidFill>
                <a:latin typeface="LiberationSerif"/>
              </a:rPr>
              <a:t>causes </a:t>
            </a:r>
            <a:r>
              <a:rPr lang="en-US" i="1" dirty="0">
                <a:solidFill>
                  <a:srgbClr val="3B124D"/>
                </a:solidFill>
                <a:latin typeface="STIXGeneral" pitchFamily="2" charset="2"/>
              </a:rPr>
              <a:t>m</a:t>
            </a:r>
            <a:r>
              <a:rPr lang="en-US" sz="1400" baseline="-25000" dirty="0">
                <a:solidFill>
                  <a:srgbClr val="3B124D"/>
                </a:solidFill>
                <a:latin typeface="STIXGeneral" pitchFamily="2" charset="2"/>
              </a:rPr>
              <a:t>2</a:t>
            </a:r>
            <a:r>
              <a:rPr lang="en-US" sz="1400" dirty="0">
                <a:solidFill>
                  <a:srgbClr val="3B124D"/>
                </a:solidFill>
                <a:latin typeface="STIXGeneral" pitchFamily="2" charset="2"/>
              </a:rPr>
              <a:t> </a:t>
            </a:r>
            <a:r>
              <a:rPr lang="en-US" dirty="0">
                <a:solidFill>
                  <a:srgbClr val="3B124D"/>
                </a:solidFill>
                <a:latin typeface="LiberationSerif"/>
              </a:rPr>
              <a:t>to accelerate. </a:t>
            </a:r>
            <a:endParaRPr lang="en-US" dirty="0">
              <a:solidFill>
                <a:srgbClr val="3B124D"/>
              </a:solidFill>
            </a:endParaRPr>
          </a:p>
        </p:txBody>
      </p:sp>
      <p:pic>
        <p:nvPicPr>
          <p:cNvPr id="7" name="Picture 6" descr="Diagram&#10;&#10;Description automatically generated with low confidence">
            <a:extLst>
              <a:ext uri="{FF2B5EF4-FFF2-40B4-BE49-F238E27FC236}">
                <a16:creationId xmlns:a16="http://schemas.microsoft.com/office/drawing/2014/main" id="{C4727918-6E23-6546-951E-1905C8D85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6022" y="738707"/>
            <a:ext cx="2755900" cy="9271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23659A50-AC3A-FD40-BA42-BD6510120E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4998" y="1748357"/>
            <a:ext cx="2959100" cy="622300"/>
          </a:xfrm>
          <a:prstGeom prst="rect">
            <a:avLst/>
          </a:prstGeom>
        </p:spPr>
      </p:pic>
      <p:pic>
        <p:nvPicPr>
          <p:cNvPr id="11" name="Picture 10" descr="A picture containing text, clock&#10;&#10;Description automatically generated">
            <a:extLst>
              <a:ext uri="{FF2B5EF4-FFF2-40B4-BE49-F238E27FC236}">
                <a16:creationId xmlns:a16="http://schemas.microsoft.com/office/drawing/2014/main" id="{C373628A-D79C-6040-A842-1A1182FC09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6012" y="2328546"/>
            <a:ext cx="2082800" cy="787400"/>
          </a:xfrm>
          <a:prstGeom prst="rect">
            <a:avLst/>
          </a:prstGeom>
        </p:spPr>
      </p:pic>
      <p:pic>
        <p:nvPicPr>
          <p:cNvPr id="13" name="Picture 12" descr="Diagram, schematic&#10;&#10;Description automatically generated">
            <a:extLst>
              <a:ext uri="{FF2B5EF4-FFF2-40B4-BE49-F238E27FC236}">
                <a16:creationId xmlns:a16="http://schemas.microsoft.com/office/drawing/2014/main" id="{07A80633-9BAF-7E4D-9933-69DDDADB4D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6012" y="3305958"/>
            <a:ext cx="2082800" cy="731460"/>
          </a:xfrm>
          <a:prstGeom prst="rect">
            <a:avLst/>
          </a:prstGeom>
        </p:spPr>
      </p:pic>
      <p:pic>
        <p:nvPicPr>
          <p:cNvPr id="15" name="Picture 14" descr="A picture containing text, clock&#10;&#10;Description automatically generated">
            <a:extLst>
              <a:ext uri="{FF2B5EF4-FFF2-40B4-BE49-F238E27FC236}">
                <a16:creationId xmlns:a16="http://schemas.microsoft.com/office/drawing/2014/main" id="{816A5089-3BF7-7542-95A0-7FE66C28F76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5724" y="4151005"/>
            <a:ext cx="2073088" cy="611142"/>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C66E3EFC-A955-214F-956A-E6E7EA45C2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5724" y="5251498"/>
            <a:ext cx="2476500" cy="622300"/>
          </a:xfrm>
          <a:prstGeom prst="rect">
            <a:avLst/>
          </a:prstGeom>
        </p:spPr>
      </p:pic>
      <p:sp>
        <p:nvSpPr>
          <p:cNvPr id="18" name="Rectangle 17">
            <a:extLst>
              <a:ext uri="{FF2B5EF4-FFF2-40B4-BE49-F238E27FC236}">
                <a16:creationId xmlns:a16="http://schemas.microsoft.com/office/drawing/2014/main" id="{9144F8A2-5616-4948-8011-668C13C8B291}"/>
              </a:ext>
            </a:extLst>
          </p:cNvPr>
          <p:cNvSpPr/>
          <p:nvPr/>
        </p:nvSpPr>
        <p:spPr>
          <a:xfrm>
            <a:off x="886012" y="6004999"/>
            <a:ext cx="10896601" cy="461665"/>
          </a:xfrm>
          <a:prstGeom prst="rect">
            <a:avLst/>
          </a:prstGeom>
        </p:spPr>
        <p:txBody>
          <a:bodyPr wrap="square">
            <a:spAutoFit/>
          </a:bodyPr>
          <a:lstStyle/>
          <a:p>
            <a:r>
              <a:rPr lang="en-US" sz="2400" dirty="0">
                <a:solidFill>
                  <a:srgbClr val="C00000"/>
                </a:solidFill>
                <a:latin typeface="LiberationSerif"/>
              </a:rPr>
              <a:t>The total momentum of the system before and after the collision remains the same. </a:t>
            </a:r>
            <a:endParaRPr lang="en-US" sz="2400" dirty="0">
              <a:solidFill>
                <a:srgbClr val="C00000"/>
              </a:solidFill>
            </a:endParaRPr>
          </a:p>
        </p:txBody>
      </p:sp>
      <p:pic>
        <p:nvPicPr>
          <p:cNvPr id="19" name="Picture Placeholder 1" descr="Before collision yellow ball1 is moving down and to the right, aiming at the center of blue ball 2. Blue ball 2 is moving to the left and slightly down, and more slowly than ball 1. We are told that p total vector equals p 1 vector plus p 2 vector and we are shown the sum as a vector diagram: p 1 and p 2 are placed with the tail of p 2 at the head of p 1. A vector is drawn from the tail of p 1 to the head of p 2. After the collision, the yellow ball is moving slowly to the right and p 2 is moving more rapidly down and to the left. We are told that p prime total vector equals p prime 1 vector plus p prime 2 vector and we are shown the sum as a vector diagram: p prime 1 and p prime 2 are placed with the tail of p prime 2 at the head of p prime 1. A vector is drawn from the tail of p prime 1 to the head of p prime 2 and is the same length and in the same direction as the sum vector before collision.">
            <a:extLst>
              <a:ext uri="{FF2B5EF4-FFF2-40B4-BE49-F238E27FC236}">
                <a16:creationId xmlns:a16="http://schemas.microsoft.com/office/drawing/2014/main" id="{3156EBB0-6D1A-D647-94D9-B5369EE77885}"/>
              </a:ext>
            </a:extLst>
          </p:cNvPr>
          <p:cNvPicPr>
            <a:picLocks noChangeAspect="1"/>
          </p:cNvPicPr>
          <p:nvPr/>
        </p:nvPicPr>
        <p:blipFill>
          <a:blip r:embed="rId9" cstate="email">
            <a:extLst>
              <a:ext uri="{28A0092B-C50C-407E-A947-70E740481C1C}">
                <a14:useLocalDpi xmlns:a14="http://schemas.microsoft.com/office/drawing/2010/main" val="0"/>
              </a:ext>
            </a:extLst>
          </a:blip>
          <a:srcRect/>
          <a:stretch>
            <a:fillRect/>
          </a:stretch>
        </p:blipFill>
        <p:spPr>
          <a:xfrm>
            <a:off x="6820198" y="2400969"/>
            <a:ext cx="4646938" cy="3500071"/>
          </a:xfrm>
          <a:prstGeom prst="rect">
            <a:avLst/>
          </a:prstGeom>
        </p:spPr>
      </p:pic>
      <p:sp>
        <p:nvSpPr>
          <p:cNvPr id="21" name="Rectangle 20">
            <a:extLst>
              <a:ext uri="{FF2B5EF4-FFF2-40B4-BE49-F238E27FC236}">
                <a16:creationId xmlns:a16="http://schemas.microsoft.com/office/drawing/2014/main" id="{8B0C6A03-2654-1745-8CF2-3769E2F6F352}"/>
              </a:ext>
            </a:extLst>
          </p:cNvPr>
          <p:cNvSpPr/>
          <p:nvPr/>
        </p:nvSpPr>
        <p:spPr>
          <a:xfrm>
            <a:off x="3705186" y="3464215"/>
            <a:ext cx="3115012" cy="1754326"/>
          </a:xfrm>
          <a:prstGeom prst="rect">
            <a:avLst/>
          </a:prstGeom>
        </p:spPr>
        <p:txBody>
          <a:bodyPr wrap="square">
            <a:spAutoFit/>
          </a:bodyPr>
          <a:lstStyle/>
          <a:p>
            <a:r>
              <a:rPr lang="en-US" dirty="0">
                <a:solidFill>
                  <a:srgbClr val="000066"/>
                </a:solidFill>
              </a:rPr>
              <a:t>Before and after the collision, the two billiard balls travel with different momenta. </a:t>
            </a:r>
          </a:p>
          <a:p>
            <a:r>
              <a:rPr lang="en-US" dirty="0">
                <a:solidFill>
                  <a:srgbClr val="000066"/>
                </a:solidFill>
              </a:rPr>
              <a:t>The total momentum, however, has not changed, as shown by the red vector arrow. </a:t>
            </a:r>
          </a:p>
        </p:txBody>
      </p:sp>
    </p:spTree>
    <p:extLst>
      <p:ext uri="{BB962C8B-B14F-4D97-AF65-F5344CB8AC3E}">
        <p14:creationId xmlns:p14="http://schemas.microsoft.com/office/powerpoint/2010/main" val="623772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092824" y="89044"/>
            <a:ext cx="5423448" cy="523220"/>
          </a:xfrm>
          <a:prstGeom prst="rect">
            <a:avLst/>
          </a:prstGeom>
        </p:spPr>
        <p:txBody>
          <a:bodyPr wrap="square">
            <a:spAutoFit/>
          </a:bodyPr>
          <a:lstStyle/>
          <a:p>
            <a:r>
              <a:rPr lang="en-US" sz="2800" dirty="0">
                <a:solidFill>
                  <a:srgbClr val="C00000"/>
                </a:solidFill>
                <a:latin typeface="NewBaskervilleStd-Roman"/>
              </a:rPr>
              <a:t>Conservation of Linear Momentum </a:t>
            </a:r>
          </a:p>
        </p:txBody>
      </p:sp>
      <p:sp>
        <p:nvSpPr>
          <p:cNvPr id="6" name="Rectangle 5">
            <a:extLst>
              <a:ext uri="{FF2B5EF4-FFF2-40B4-BE49-F238E27FC236}">
                <a16:creationId xmlns:a16="http://schemas.microsoft.com/office/drawing/2014/main" id="{17757E96-C993-1246-B843-8E1DCBDFE239}"/>
              </a:ext>
            </a:extLst>
          </p:cNvPr>
          <p:cNvSpPr/>
          <p:nvPr/>
        </p:nvSpPr>
        <p:spPr>
          <a:xfrm>
            <a:off x="438368" y="802276"/>
            <a:ext cx="1603965" cy="430887"/>
          </a:xfrm>
          <a:prstGeom prst="rect">
            <a:avLst/>
          </a:prstGeom>
        </p:spPr>
        <p:txBody>
          <a:bodyPr wrap="none">
            <a:spAutoFit/>
          </a:bodyPr>
          <a:lstStyle/>
          <a:p>
            <a:r>
              <a:rPr lang="en-US" sz="2200" dirty="0">
                <a:solidFill>
                  <a:srgbClr val="3B124D"/>
                </a:solidFill>
                <a:latin typeface="LiberationSerif"/>
              </a:rPr>
              <a:t>Generalizing</a:t>
            </a:r>
            <a:endParaRPr lang="en-US" sz="2200" dirty="0">
              <a:solidFill>
                <a:srgbClr val="3B124D"/>
              </a:solidFill>
              <a:latin typeface="LiberationSans"/>
            </a:endParaRPr>
          </a:p>
        </p:txBody>
      </p:sp>
      <p:pic>
        <p:nvPicPr>
          <p:cNvPr id="3" name="Picture 2" descr="A picture containing text, clock&#10;&#10;Description automatically generated">
            <a:extLst>
              <a:ext uri="{FF2B5EF4-FFF2-40B4-BE49-F238E27FC236}">
                <a16:creationId xmlns:a16="http://schemas.microsoft.com/office/drawing/2014/main" id="{D40BC962-3A29-6A48-AA08-5F6117B305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2333" y="802276"/>
            <a:ext cx="4686300" cy="1257300"/>
          </a:xfrm>
          <a:prstGeom prst="rect">
            <a:avLst/>
          </a:prstGeom>
        </p:spPr>
      </p:pic>
      <p:pic>
        <p:nvPicPr>
          <p:cNvPr id="8" name="Picture 7" descr="Graphical user interface, text, application&#10;&#10;Description automatically generated">
            <a:extLst>
              <a:ext uri="{FF2B5EF4-FFF2-40B4-BE49-F238E27FC236}">
                <a16:creationId xmlns:a16="http://schemas.microsoft.com/office/drawing/2014/main" id="{2A456957-96BA-DB4F-AF83-7843E6DF2A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633" y="2249588"/>
            <a:ext cx="6223000" cy="1600200"/>
          </a:xfrm>
          <a:prstGeom prst="rect">
            <a:avLst/>
          </a:prstGeom>
        </p:spPr>
      </p:pic>
      <p:sp>
        <p:nvSpPr>
          <p:cNvPr id="9" name="Rectangle 8">
            <a:extLst>
              <a:ext uri="{FF2B5EF4-FFF2-40B4-BE49-F238E27FC236}">
                <a16:creationId xmlns:a16="http://schemas.microsoft.com/office/drawing/2014/main" id="{3A3FDFDF-FE33-C44E-B92D-540D6C793224}"/>
              </a:ext>
            </a:extLst>
          </p:cNvPr>
          <p:cNvSpPr/>
          <p:nvPr/>
        </p:nvSpPr>
        <p:spPr>
          <a:xfrm>
            <a:off x="7065251" y="1051135"/>
            <a:ext cx="5126749" cy="923330"/>
          </a:xfrm>
          <a:prstGeom prst="rect">
            <a:avLst/>
          </a:prstGeom>
        </p:spPr>
        <p:txBody>
          <a:bodyPr wrap="square">
            <a:spAutoFit/>
          </a:bodyPr>
          <a:lstStyle/>
          <a:p>
            <a:pPr>
              <a:buFont typeface="+mj-lt"/>
              <a:buAutoNum type="arabicPeriod"/>
            </a:pPr>
            <a:r>
              <a:rPr lang="en-US" i="1" dirty="0">
                <a:solidFill>
                  <a:srgbClr val="000066"/>
                </a:solidFill>
                <a:latin typeface="LiberationSerif"/>
              </a:rPr>
              <a:t>The mass of the system must remain constant during the interaction.</a:t>
            </a:r>
          </a:p>
          <a:p>
            <a:pPr>
              <a:buFont typeface="+mj-lt"/>
              <a:buAutoNum type="arabicPeriod"/>
            </a:pPr>
            <a:r>
              <a:rPr lang="en-US" i="1" dirty="0">
                <a:solidFill>
                  <a:srgbClr val="000066"/>
                </a:solidFill>
              </a:rPr>
              <a:t>The net external force on the system must be zero.</a:t>
            </a:r>
            <a:endParaRPr lang="en-US" dirty="0">
              <a:solidFill>
                <a:srgbClr val="000066"/>
              </a:solidFill>
              <a:latin typeface="LiberationSans"/>
            </a:endParaRPr>
          </a:p>
        </p:txBody>
      </p:sp>
      <p:sp>
        <p:nvSpPr>
          <p:cNvPr id="10" name="Rectangle 9">
            <a:extLst>
              <a:ext uri="{FF2B5EF4-FFF2-40B4-BE49-F238E27FC236}">
                <a16:creationId xmlns:a16="http://schemas.microsoft.com/office/drawing/2014/main" id="{02C2AFF8-08F0-2947-A67E-045207B5092F}"/>
              </a:ext>
            </a:extLst>
          </p:cNvPr>
          <p:cNvSpPr/>
          <p:nvPr/>
        </p:nvSpPr>
        <p:spPr>
          <a:xfrm>
            <a:off x="7065251" y="2413337"/>
            <a:ext cx="4628006" cy="1015663"/>
          </a:xfrm>
          <a:prstGeom prst="rect">
            <a:avLst/>
          </a:prstGeom>
        </p:spPr>
        <p:txBody>
          <a:bodyPr wrap="square">
            <a:spAutoFit/>
          </a:bodyPr>
          <a:lstStyle/>
          <a:p>
            <a:r>
              <a:rPr lang="en-US" sz="2000" dirty="0">
                <a:latin typeface="LiberationSerif"/>
              </a:rPr>
              <a:t>A system of objects that meets these two requirements is said to be a </a:t>
            </a:r>
            <a:r>
              <a:rPr lang="en-US" sz="2000" b="1" dirty="0">
                <a:solidFill>
                  <a:srgbClr val="C00000"/>
                </a:solidFill>
                <a:latin typeface="LiberationSerif"/>
              </a:rPr>
              <a:t>closed system </a:t>
            </a:r>
            <a:r>
              <a:rPr lang="en-US" sz="2000" dirty="0">
                <a:latin typeface="LiberationSerif"/>
              </a:rPr>
              <a:t>(also called an isolated system). </a:t>
            </a:r>
            <a:endParaRPr lang="en-US" sz="2000" dirty="0"/>
          </a:p>
        </p:txBody>
      </p:sp>
      <p:sp>
        <p:nvSpPr>
          <p:cNvPr id="11" name="Rectangle 10">
            <a:extLst>
              <a:ext uri="{FF2B5EF4-FFF2-40B4-BE49-F238E27FC236}">
                <a16:creationId xmlns:a16="http://schemas.microsoft.com/office/drawing/2014/main" id="{26495AD6-5038-8743-A2E9-BB3C05D64B8A}"/>
              </a:ext>
            </a:extLst>
          </p:cNvPr>
          <p:cNvSpPr/>
          <p:nvPr/>
        </p:nvSpPr>
        <p:spPr>
          <a:xfrm>
            <a:off x="6842898" y="3540634"/>
            <a:ext cx="5425203" cy="369332"/>
          </a:xfrm>
          <a:prstGeom prst="rect">
            <a:avLst/>
          </a:prstGeom>
        </p:spPr>
        <p:txBody>
          <a:bodyPr wrap="none">
            <a:spAutoFit/>
          </a:bodyPr>
          <a:lstStyle/>
          <a:p>
            <a:r>
              <a:rPr lang="en-US" i="1" dirty="0">
                <a:solidFill>
                  <a:srgbClr val="7030A0"/>
                </a:solidFill>
                <a:latin typeface="LiberationSerif"/>
              </a:rPr>
              <a:t>In a closed system, the total momentum never changes. </a:t>
            </a:r>
            <a:endParaRPr lang="en-US" dirty="0">
              <a:solidFill>
                <a:srgbClr val="7030A0"/>
              </a:solidFill>
            </a:endParaRPr>
          </a:p>
        </p:txBody>
      </p:sp>
      <p:pic>
        <p:nvPicPr>
          <p:cNvPr id="12" name="Picture Placeholder 1" descr="Illustration of collision of two cars with masses m 1 and m 2. The system of interest is the two cars before and after the collision. Before the collision, car m 2 is in front and moving forward with velocity v 2, and car m 1 is behind it, moving forward with velocity v 1. Net vector F = 0 and vectors p 1 plus p 2 equal p tot. After the collision, car m 2 is in front and moving forward with velocity v 2 prime which is larger than v 2 before the collision, and car m 1 is behind it, moving forward with velocity v 1 prime that is less than v 1 before the collision. Vectors p 1 prime plus p 2 prime equal p tot prime.">
            <a:extLst>
              <a:ext uri="{FF2B5EF4-FFF2-40B4-BE49-F238E27FC236}">
                <a16:creationId xmlns:a16="http://schemas.microsoft.com/office/drawing/2014/main" id="{BCC6AD25-9854-0742-8A5C-675A621BCEA7}"/>
              </a:ext>
            </a:extLst>
          </p:cNvPr>
          <p:cNvPicPr>
            <a:picLocks noChangeAspect="1"/>
          </p:cNvPicPr>
          <p:nvPr/>
        </p:nvPicPr>
        <p:blipFill>
          <a:blip r:embed="rId5" cstate="email">
            <a:extLst>
              <a:ext uri="{28A0092B-C50C-407E-A947-70E740481C1C}">
                <a14:useLocalDpi xmlns:a14="http://schemas.microsoft.com/office/drawing/2010/main" val="0"/>
              </a:ext>
            </a:extLst>
          </a:blip>
          <a:srcRect l="-27366" r="-27366"/>
          <a:stretch>
            <a:fillRect/>
          </a:stretch>
        </p:blipFill>
        <p:spPr>
          <a:xfrm>
            <a:off x="505633" y="3941940"/>
            <a:ext cx="6791217" cy="2948034"/>
          </a:xfrm>
          <a:prstGeom prst="rect">
            <a:avLst/>
          </a:prstGeom>
        </p:spPr>
      </p:pic>
      <p:sp>
        <p:nvSpPr>
          <p:cNvPr id="13" name="Text Placeholder 6">
            <a:extLst>
              <a:ext uri="{FF2B5EF4-FFF2-40B4-BE49-F238E27FC236}">
                <a16:creationId xmlns:a16="http://schemas.microsoft.com/office/drawing/2014/main" id="{97463374-122A-A04D-8FC3-1BC20CEC3D56}"/>
              </a:ext>
            </a:extLst>
          </p:cNvPr>
          <p:cNvSpPr txBox="1">
            <a:spLocks/>
          </p:cNvSpPr>
          <p:nvPr/>
        </p:nvSpPr>
        <p:spPr>
          <a:xfrm>
            <a:off x="6293224" y="4454695"/>
            <a:ext cx="5831100" cy="16988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3B124D"/>
                </a:solidFill>
              </a:rPr>
              <a:t>The two cars together form the system that is to be analyzed. </a:t>
            </a:r>
          </a:p>
          <a:p>
            <a:pPr marL="0" indent="0">
              <a:buNone/>
            </a:pPr>
            <a:r>
              <a:rPr lang="en-US" sz="2000" dirty="0">
                <a:solidFill>
                  <a:srgbClr val="3B124D"/>
                </a:solidFill>
              </a:rPr>
              <a:t>It is important to remember that the contents (the mass) of the system do not change before, during, or after the objects in the system interact.</a:t>
            </a:r>
          </a:p>
        </p:txBody>
      </p:sp>
    </p:spTree>
    <p:extLst>
      <p:ext uri="{BB962C8B-B14F-4D97-AF65-F5344CB8AC3E}">
        <p14:creationId xmlns:p14="http://schemas.microsoft.com/office/powerpoint/2010/main" val="3635465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092824" y="89044"/>
            <a:ext cx="5423448" cy="523220"/>
          </a:xfrm>
          <a:prstGeom prst="rect">
            <a:avLst/>
          </a:prstGeom>
        </p:spPr>
        <p:txBody>
          <a:bodyPr wrap="square">
            <a:spAutoFit/>
          </a:bodyPr>
          <a:lstStyle/>
          <a:p>
            <a:r>
              <a:rPr lang="en-US" sz="2800" dirty="0">
                <a:solidFill>
                  <a:srgbClr val="C00000"/>
                </a:solidFill>
                <a:latin typeface="NewBaskervilleStd-Roman"/>
              </a:rPr>
              <a:t>Conservation of Linear Momentum </a:t>
            </a:r>
          </a:p>
        </p:txBody>
      </p:sp>
      <p:sp>
        <p:nvSpPr>
          <p:cNvPr id="6" name="Rectangle 5">
            <a:extLst>
              <a:ext uri="{FF2B5EF4-FFF2-40B4-BE49-F238E27FC236}">
                <a16:creationId xmlns:a16="http://schemas.microsoft.com/office/drawing/2014/main" id="{4B54198F-8C0B-F542-8D95-84C58BC5845C}"/>
              </a:ext>
            </a:extLst>
          </p:cNvPr>
          <p:cNvSpPr/>
          <p:nvPr/>
        </p:nvSpPr>
        <p:spPr>
          <a:xfrm>
            <a:off x="534547" y="61226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7" name="Picture Placeholder 1" descr="An illustration of two lab carts on a track, stuck together.">
            <a:extLst>
              <a:ext uri="{FF2B5EF4-FFF2-40B4-BE49-F238E27FC236}">
                <a16:creationId xmlns:a16="http://schemas.microsoft.com/office/drawing/2014/main" id="{316168B5-996E-EF43-B6C7-ED27E08CD523}"/>
              </a:ext>
            </a:extLst>
          </p:cNvPr>
          <p:cNvPicPr>
            <a:picLocks noChangeAspect="1"/>
          </p:cNvPicPr>
          <p:nvPr/>
        </p:nvPicPr>
        <p:blipFill>
          <a:blip r:embed="rId3">
            <a:extLst>
              <a:ext uri="{28A0092B-C50C-407E-A947-70E740481C1C}">
                <a14:useLocalDpi xmlns:a14="http://schemas.microsoft.com/office/drawing/2010/main" val="0"/>
              </a:ext>
            </a:extLst>
          </a:blip>
          <a:srcRect t="-68564" b="-68564"/>
          <a:stretch>
            <a:fillRect/>
          </a:stretch>
        </p:blipFill>
        <p:spPr>
          <a:xfrm>
            <a:off x="1773091" y="2117469"/>
            <a:ext cx="8062913" cy="3500071"/>
          </a:xfrm>
          <a:prstGeom prst="rect">
            <a:avLst/>
          </a:prstGeom>
        </p:spPr>
      </p:pic>
      <p:sp>
        <p:nvSpPr>
          <p:cNvPr id="2" name="Rectangle 1">
            <a:extLst>
              <a:ext uri="{FF2B5EF4-FFF2-40B4-BE49-F238E27FC236}">
                <a16:creationId xmlns:a16="http://schemas.microsoft.com/office/drawing/2014/main" id="{93907A3D-834E-2540-AF7A-D86C439FE0E6}"/>
              </a:ext>
            </a:extLst>
          </p:cNvPr>
          <p:cNvSpPr/>
          <p:nvPr/>
        </p:nvSpPr>
        <p:spPr>
          <a:xfrm>
            <a:off x="534547" y="1135484"/>
            <a:ext cx="10734088" cy="1631216"/>
          </a:xfrm>
          <a:prstGeom prst="rect">
            <a:avLst/>
          </a:prstGeom>
        </p:spPr>
        <p:txBody>
          <a:bodyPr wrap="square">
            <a:spAutoFit/>
          </a:bodyPr>
          <a:lstStyle/>
          <a:p>
            <a:r>
              <a:rPr lang="en-US" sz="2000" b="1" dirty="0">
                <a:solidFill>
                  <a:srgbClr val="213866"/>
                </a:solidFill>
                <a:latin typeface="LiberationSans"/>
              </a:rPr>
              <a:t>Colliding Carts </a:t>
            </a:r>
            <a:endParaRPr lang="en-US" sz="2000" dirty="0"/>
          </a:p>
          <a:p>
            <a:r>
              <a:rPr lang="en-US" sz="2000" dirty="0">
                <a:latin typeface="LiberationSerif"/>
              </a:rPr>
              <a:t>Two carts in a physics lab roll on a level track, with negligible friction. These carts have small magnets at their ends, so that when they collide, they stick together. The first cart has a mass of 675 grams and is rolling at 0.75 m/s to the right; the second has a mass of 500 grams and is rolling at 1.33 m/s, also to the right. After the collision, what is the velocity of the two joined carts? </a:t>
            </a:r>
            <a:endParaRPr lang="en-US" sz="2000" dirty="0"/>
          </a:p>
        </p:txBody>
      </p:sp>
      <p:pic>
        <p:nvPicPr>
          <p:cNvPr id="8" name="Picture 7" descr="A picture containing text&#10;&#10;Description automatically generated">
            <a:extLst>
              <a:ext uri="{FF2B5EF4-FFF2-40B4-BE49-F238E27FC236}">
                <a16:creationId xmlns:a16="http://schemas.microsoft.com/office/drawing/2014/main" id="{C63B3DA9-516C-E048-9FC7-20AC85A68D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6297" y="4727063"/>
            <a:ext cx="2476500" cy="6223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DAC2E1F-E27D-C244-8287-686D6F14867A}"/>
                  </a:ext>
                </a:extLst>
              </p:cNvPr>
              <p:cNvSpPr txBox="1"/>
              <p:nvPr/>
            </p:nvSpPr>
            <p:spPr>
              <a:xfrm>
                <a:off x="3421585" y="5650735"/>
                <a:ext cx="4960012" cy="465384"/>
              </a:xfrm>
              <a:prstGeom prst="rect">
                <a:avLst/>
              </a:prstGeom>
              <a:noFill/>
            </p:spPr>
            <p:txBody>
              <a:bodyPr wrap="none" lIns="0" tIns="0" rIns="0" bIns="0" rtlCol="0">
                <a:spAutoFit/>
              </a:bodyPr>
              <a:lstStyle/>
              <a:p>
                <a14:m>
                  <m:oMath xmlns:m="http://schemas.openxmlformats.org/officeDocument/2006/math">
                    <m:sSub>
                      <m:sSubPr>
                        <m:ctrlPr>
                          <a:rPr lang="en-US" sz="2800" i="1" smtClean="0">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1</m:t>
                        </m:r>
                      </m:sub>
                    </m:sSub>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i="1">
                            <a:solidFill>
                              <a:srgbClr val="3B124D"/>
                            </a:solidFill>
                            <a:latin typeface="Cambria Math" panose="02040503050406030204" pitchFamily="18" charset="0"/>
                          </a:rPr>
                          <m:t>1</m:t>
                        </m:r>
                        <m:r>
                          <a:rPr lang="en-US" sz="2800" b="0" i="1" smtClean="0">
                            <a:solidFill>
                              <a:srgbClr val="3B124D"/>
                            </a:solidFill>
                            <a:latin typeface="Cambria Math" panose="02040503050406030204" pitchFamily="18" charset="0"/>
                          </a:rPr>
                          <m:t>𝑖</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2</m:t>
                        </m:r>
                      </m:sub>
                    </m:sSub>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b="0" i="1" smtClean="0">
                            <a:solidFill>
                              <a:srgbClr val="3B124D"/>
                            </a:solidFill>
                            <a:latin typeface="Cambria Math" panose="02040503050406030204" pitchFamily="18" charset="0"/>
                          </a:rPr>
                          <m:t>2</m:t>
                        </m:r>
                        <m:r>
                          <a:rPr lang="en-US" sz="2800" b="0" i="1" smtClean="0">
                            <a:solidFill>
                              <a:srgbClr val="3B124D"/>
                            </a:solidFill>
                            <a:latin typeface="Cambria Math" panose="02040503050406030204" pitchFamily="18" charset="0"/>
                          </a:rPr>
                          <m:t>𝑖</m:t>
                        </m:r>
                      </m:sub>
                    </m:sSub>
                    <m:r>
                      <a:rPr lang="en-US" sz="2800" b="0" i="1" smtClean="0">
                        <a:solidFill>
                          <a:srgbClr val="3B124D"/>
                        </a:solidFill>
                        <a:latin typeface="Cambria Math" panose="02040503050406030204" pitchFamily="18" charset="0"/>
                      </a:rPr>
                      <m:t>=</m:t>
                    </m:r>
                    <m:sSub>
                      <m:sSubPr>
                        <m:ctrlPr>
                          <a:rPr lang="en-US" sz="2800" i="1" smtClean="0">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i="1">
                            <a:solidFill>
                              <a:srgbClr val="3B124D"/>
                            </a:solidFill>
                            <a:latin typeface="Cambria Math" panose="02040503050406030204" pitchFamily="18" charset="0"/>
                          </a:rPr>
                          <m:t>1</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i="1">
                            <a:solidFill>
                              <a:srgbClr val="3B124D"/>
                            </a:solidFill>
                            <a:latin typeface="Cambria Math" panose="02040503050406030204" pitchFamily="18" charset="0"/>
                          </a:rPr>
                          <m:t>1</m:t>
                        </m:r>
                        <m:r>
                          <a:rPr lang="en-US" sz="2800" b="0" i="1" smtClean="0">
                            <a:solidFill>
                              <a:srgbClr val="3B124D"/>
                            </a:solidFill>
                            <a:latin typeface="Cambria Math" panose="02040503050406030204" pitchFamily="18" charset="0"/>
                          </a:rPr>
                          <m:t>𝑓</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2</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b="0" i="1" smtClean="0">
                            <a:solidFill>
                              <a:srgbClr val="3B124D"/>
                            </a:solidFill>
                            <a:latin typeface="Cambria Math" panose="02040503050406030204" pitchFamily="18" charset="0"/>
                          </a:rPr>
                          <m:t>2</m:t>
                        </m:r>
                        <m:r>
                          <a:rPr lang="en-US" sz="2800" b="0" i="1" smtClean="0">
                            <a:solidFill>
                              <a:srgbClr val="3B124D"/>
                            </a:solidFill>
                            <a:latin typeface="Cambria Math" panose="02040503050406030204" pitchFamily="18" charset="0"/>
                          </a:rPr>
                          <m:t>𝑓</m:t>
                        </m:r>
                      </m:sub>
                    </m:sSub>
                  </m:oMath>
                </a14:m>
                <a:endParaRPr lang="en-US" sz="2800" dirty="0">
                  <a:solidFill>
                    <a:srgbClr val="3B124D"/>
                  </a:solidFill>
                </a:endParaRPr>
              </a:p>
            </p:txBody>
          </p:sp>
        </mc:Choice>
        <mc:Fallback xmlns="">
          <p:sp>
            <p:nvSpPr>
              <p:cNvPr id="3" name="TextBox 2">
                <a:extLst>
                  <a:ext uri="{FF2B5EF4-FFF2-40B4-BE49-F238E27FC236}">
                    <a16:creationId xmlns:a16="http://schemas.microsoft.com/office/drawing/2014/main" id="{3DAC2E1F-E27D-C244-8287-686D6F14867A}"/>
                  </a:ext>
                </a:extLst>
              </p:cNvPr>
              <p:cNvSpPr txBox="1">
                <a:spLocks noRot="1" noChangeAspect="1" noMove="1" noResize="1" noEditPoints="1" noAdjustHandles="1" noChangeArrowheads="1" noChangeShapeType="1" noTextEdit="1"/>
              </p:cNvSpPr>
              <p:nvPr/>
            </p:nvSpPr>
            <p:spPr>
              <a:xfrm>
                <a:off x="3421585" y="5650735"/>
                <a:ext cx="4960012" cy="465384"/>
              </a:xfrm>
              <a:prstGeom prst="rect">
                <a:avLst/>
              </a:prstGeom>
              <a:blipFill>
                <a:blip r:embed="rId5"/>
                <a:stretch>
                  <a:fillRect l="-1790" t="-18421" r="-1023" b="-39474"/>
                </a:stretch>
              </a:blipFill>
            </p:spPr>
            <p:txBody>
              <a:bodyPr/>
              <a:lstStyle/>
              <a:p>
                <a:r>
                  <a:rPr lang="en-US">
                    <a:noFill/>
                  </a:rPr>
                  <a:t> </a:t>
                </a:r>
              </a:p>
            </p:txBody>
          </p:sp>
        </mc:Fallback>
      </mc:AlternateContent>
    </p:spTree>
    <p:extLst>
      <p:ext uri="{BB962C8B-B14F-4D97-AF65-F5344CB8AC3E}">
        <p14:creationId xmlns:p14="http://schemas.microsoft.com/office/powerpoint/2010/main" val="34391078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092824" y="89044"/>
            <a:ext cx="5423448" cy="523220"/>
          </a:xfrm>
          <a:prstGeom prst="rect">
            <a:avLst/>
          </a:prstGeom>
        </p:spPr>
        <p:txBody>
          <a:bodyPr wrap="square">
            <a:spAutoFit/>
          </a:bodyPr>
          <a:lstStyle/>
          <a:p>
            <a:r>
              <a:rPr lang="en-US" sz="2800" dirty="0">
                <a:solidFill>
                  <a:srgbClr val="C00000"/>
                </a:solidFill>
                <a:latin typeface="NewBaskervilleStd-Roman"/>
              </a:rPr>
              <a:t>Conservation of Linear Momentum </a:t>
            </a:r>
          </a:p>
        </p:txBody>
      </p:sp>
      <p:sp>
        <p:nvSpPr>
          <p:cNvPr id="6" name="Rectangle 5">
            <a:extLst>
              <a:ext uri="{FF2B5EF4-FFF2-40B4-BE49-F238E27FC236}">
                <a16:creationId xmlns:a16="http://schemas.microsoft.com/office/drawing/2014/main" id="{C3F6B0B0-93FA-5040-B253-F2C35FB082DF}"/>
              </a:ext>
            </a:extLst>
          </p:cNvPr>
          <p:cNvSpPr/>
          <p:nvPr/>
        </p:nvSpPr>
        <p:spPr>
          <a:xfrm>
            <a:off x="771609" y="545045"/>
            <a:ext cx="10989643" cy="769441"/>
          </a:xfrm>
          <a:prstGeom prst="rect">
            <a:avLst/>
          </a:prstGeom>
        </p:spPr>
        <p:txBody>
          <a:bodyPr wrap="square">
            <a:spAutoFit/>
          </a:bodyPr>
          <a:lstStyle/>
          <a:p>
            <a:r>
              <a:rPr lang="en-US" sz="2200" dirty="0">
                <a:solidFill>
                  <a:srgbClr val="0000CC"/>
                </a:solidFill>
              </a:rPr>
              <a:t>Assignment 2</a:t>
            </a:r>
          </a:p>
          <a:p>
            <a:endParaRPr lang="en-US" sz="2200" dirty="0">
              <a:solidFill>
                <a:srgbClr val="0000CC"/>
              </a:solidFill>
            </a:endParaRPr>
          </a:p>
        </p:txBody>
      </p:sp>
      <p:sp>
        <p:nvSpPr>
          <p:cNvPr id="2" name="Rectangle 1">
            <a:extLst>
              <a:ext uri="{FF2B5EF4-FFF2-40B4-BE49-F238E27FC236}">
                <a16:creationId xmlns:a16="http://schemas.microsoft.com/office/drawing/2014/main" id="{5D8F89B3-AE04-AB42-9416-575B6C4BB3B8}"/>
              </a:ext>
            </a:extLst>
          </p:cNvPr>
          <p:cNvSpPr/>
          <p:nvPr/>
        </p:nvSpPr>
        <p:spPr>
          <a:xfrm>
            <a:off x="771609" y="957863"/>
            <a:ext cx="10873543" cy="1446550"/>
          </a:xfrm>
          <a:prstGeom prst="rect">
            <a:avLst/>
          </a:prstGeom>
        </p:spPr>
        <p:txBody>
          <a:bodyPr wrap="square">
            <a:spAutoFit/>
          </a:bodyPr>
          <a:lstStyle/>
          <a:p>
            <a:r>
              <a:rPr lang="en-US" sz="2200" dirty="0">
                <a:latin typeface="LiberationSerif"/>
              </a:rPr>
              <a:t>Two hockey pucks of identical mass are on a flat, horizontal ice hockey rink. The red puck is motionless; the blue puck is moving at 2.5 m/s to the left. It collides with the motionless red puck. The pucks have a mass of 15 g. After the collision, the red puck is moving at 2.5 m/s, to the left. What is the final velocity of the blue puck? </a:t>
            </a:r>
            <a:endParaRPr lang="en-US" sz="2200" dirty="0"/>
          </a:p>
        </p:txBody>
      </p:sp>
      <p:pic>
        <p:nvPicPr>
          <p:cNvPr id="7" name="Picture Placeholder 2" descr="Two hockey pucks are shown. The top diagram shows the puck on the left with 0 meters per second and the puck on the right moving to the left with 2.5 meters per second. The bottom diagram shows the puck on the left moving to the left at 2.5 meters per second and the puck on the right moving with unknown v.">
            <a:extLst>
              <a:ext uri="{FF2B5EF4-FFF2-40B4-BE49-F238E27FC236}">
                <a16:creationId xmlns:a16="http://schemas.microsoft.com/office/drawing/2014/main" id="{D7080751-2FE2-6543-A8F9-BE35CF7AA98B}"/>
              </a:ext>
            </a:extLst>
          </p:cNvPr>
          <p:cNvPicPr>
            <a:picLocks noChangeAspect="1"/>
          </p:cNvPicPr>
          <p:nvPr/>
        </p:nvPicPr>
        <p:blipFill>
          <a:blip r:embed="rId3">
            <a:extLst>
              <a:ext uri="{28A0092B-C50C-407E-A947-70E740481C1C}">
                <a14:useLocalDpi xmlns:a14="http://schemas.microsoft.com/office/drawing/2010/main" val="0"/>
              </a:ext>
            </a:extLst>
          </a:blip>
          <a:srcRect l="-4269" r="-4269"/>
          <a:stretch>
            <a:fillRect/>
          </a:stretch>
        </p:blipFill>
        <p:spPr>
          <a:xfrm>
            <a:off x="1773091" y="2560000"/>
            <a:ext cx="8062913" cy="350007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BE0A72-B4F6-4C49-AAC7-E2F6D057AC42}"/>
                  </a:ext>
                </a:extLst>
              </p:cNvPr>
              <p:cNvSpPr txBox="1"/>
              <p:nvPr/>
            </p:nvSpPr>
            <p:spPr>
              <a:xfrm>
                <a:off x="3786424" y="6215658"/>
                <a:ext cx="4960012" cy="465384"/>
              </a:xfrm>
              <a:prstGeom prst="rect">
                <a:avLst/>
              </a:prstGeom>
              <a:noFill/>
            </p:spPr>
            <p:txBody>
              <a:bodyPr wrap="none" lIns="0" tIns="0" rIns="0" bIns="0" rtlCol="0">
                <a:spAutoFit/>
              </a:bodyPr>
              <a:lstStyle/>
              <a:p>
                <a14:m>
                  <m:oMath xmlns:m="http://schemas.openxmlformats.org/officeDocument/2006/math">
                    <m:sSub>
                      <m:sSubPr>
                        <m:ctrlPr>
                          <a:rPr lang="en-US" sz="2800" i="1" smtClean="0">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1</m:t>
                        </m:r>
                      </m:sub>
                    </m:sSub>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i="1">
                            <a:solidFill>
                              <a:srgbClr val="3B124D"/>
                            </a:solidFill>
                            <a:latin typeface="Cambria Math" panose="02040503050406030204" pitchFamily="18" charset="0"/>
                          </a:rPr>
                          <m:t>1</m:t>
                        </m:r>
                        <m:r>
                          <a:rPr lang="en-US" sz="2800" b="0" i="1" smtClean="0">
                            <a:solidFill>
                              <a:srgbClr val="3B124D"/>
                            </a:solidFill>
                            <a:latin typeface="Cambria Math" panose="02040503050406030204" pitchFamily="18" charset="0"/>
                          </a:rPr>
                          <m:t>𝑖</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2</m:t>
                        </m:r>
                      </m:sub>
                    </m:sSub>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b="0" i="1" smtClean="0">
                            <a:solidFill>
                              <a:srgbClr val="3B124D"/>
                            </a:solidFill>
                            <a:latin typeface="Cambria Math" panose="02040503050406030204" pitchFamily="18" charset="0"/>
                          </a:rPr>
                          <m:t>2</m:t>
                        </m:r>
                        <m:r>
                          <a:rPr lang="en-US" sz="2800" b="0" i="1" smtClean="0">
                            <a:solidFill>
                              <a:srgbClr val="3B124D"/>
                            </a:solidFill>
                            <a:latin typeface="Cambria Math" panose="02040503050406030204" pitchFamily="18" charset="0"/>
                          </a:rPr>
                          <m:t>𝑖</m:t>
                        </m:r>
                      </m:sub>
                    </m:sSub>
                    <m:r>
                      <a:rPr lang="en-US" sz="2800" b="0" i="1" smtClean="0">
                        <a:solidFill>
                          <a:srgbClr val="3B124D"/>
                        </a:solidFill>
                        <a:latin typeface="Cambria Math" panose="02040503050406030204" pitchFamily="18" charset="0"/>
                      </a:rPr>
                      <m:t>=</m:t>
                    </m:r>
                    <m:sSub>
                      <m:sSubPr>
                        <m:ctrlPr>
                          <a:rPr lang="en-US" sz="2800" i="1" smtClean="0">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i="1">
                            <a:solidFill>
                              <a:srgbClr val="3B124D"/>
                            </a:solidFill>
                            <a:latin typeface="Cambria Math" panose="02040503050406030204" pitchFamily="18" charset="0"/>
                          </a:rPr>
                          <m:t>1</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i="1">
                            <a:solidFill>
                              <a:srgbClr val="3B124D"/>
                            </a:solidFill>
                            <a:latin typeface="Cambria Math" panose="02040503050406030204" pitchFamily="18" charset="0"/>
                          </a:rPr>
                          <m:t>1</m:t>
                        </m:r>
                        <m:r>
                          <a:rPr lang="en-US" sz="2800" b="0" i="1" smtClean="0">
                            <a:solidFill>
                              <a:srgbClr val="3B124D"/>
                            </a:solidFill>
                            <a:latin typeface="Cambria Math" panose="02040503050406030204" pitchFamily="18" charset="0"/>
                          </a:rPr>
                          <m:t>𝑓</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2</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b="0" i="1" smtClean="0">
                            <a:solidFill>
                              <a:srgbClr val="3B124D"/>
                            </a:solidFill>
                            <a:latin typeface="Cambria Math" panose="02040503050406030204" pitchFamily="18" charset="0"/>
                          </a:rPr>
                          <m:t>2</m:t>
                        </m:r>
                        <m:r>
                          <a:rPr lang="en-US" sz="2800" b="0" i="1" smtClean="0">
                            <a:solidFill>
                              <a:srgbClr val="3B124D"/>
                            </a:solidFill>
                            <a:latin typeface="Cambria Math" panose="02040503050406030204" pitchFamily="18" charset="0"/>
                          </a:rPr>
                          <m:t>𝑓</m:t>
                        </m:r>
                      </m:sub>
                    </m:sSub>
                  </m:oMath>
                </a14:m>
                <a:endParaRPr lang="en-US" sz="2800" dirty="0">
                  <a:solidFill>
                    <a:srgbClr val="3B124D"/>
                  </a:solidFill>
                </a:endParaRPr>
              </a:p>
            </p:txBody>
          </p:sp>
        </mc:Choice>
        <mc:Fallback xmlns="">
          <p:sp>
            <p:nvSpPr>
              <p:cNvPr id="8" name="TextBox 7">
                <a:extLst>
                  <a:ext uri="{FF2B5EF4-FFF2-40B4-BE49-F238E27FC236}">
                    <a16:creationId xmlns:a16="http://schemas.microsoft.com/office/drawing/2014/main" id="{16BE0A72-B4F6-4C49-AAC7-E2F6D057AC42}"/>
                  </a:ext>
                </a:extLst>
              </p:cNvPr>
              <p:cNvSpPr txBox="1">
                <a:spLocks noRot="1" noChangeAspect="1" noMove="1" noResize="1" noEditPoints="1" noAdjustHandles="1" noChangeArrowheads="1" noChangeShapeType="1" noTextEdit="1"/>
              </p:cNvSpPr>
              <p:nvPr/>
            </p:nvSpPr>
            <p:spPr>
              <a:xfrm>
                <a:off x="3786424" y="6215658"/>
                <a:ext cx="4960012" cy="465384"/>
              </a:xfrm>
              <a:prstGeom prst="rect">
                <a:avLst/>
              </a:prstGeom>
              <a:blipFill>
                <a:blip r:embed="rId4"/>
                <a:stretch>
                  <a:fillRect l="-1790" t="-21053" r="-1023" b="-36842"/>
                </a:stretch>
              </a:blipFill>
            </p:spPr>
            <p:txBody>
              <a:bodyPr/>
              <a:lstStyle/>
              <a:p>
                <a:r>
                  <a:rPr lang="en-US">
                    <a:noFill/>
                  </a:rPr>
                  <a:t> </a:t>
                </a:r>
              </a:p>
            </p:txBody>
          </p:sp>
        </mc:Fallback>
      </mc:AlternateContent>
    </p:spTree>
    <p:extLst>
      <p:ext uri="{BB962C8B-B14F-4D97-AF65-F5344CB8AC3E}">
        <p14:creationId xmlns:p14="http://schemas.microsoft.com/office/powerpoint/2010/main" val="771961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724835" y="89044"/>
            <a:ext cx="5423448" cy="523220"/>
          </a:xfrm>
          <a:prstGeom prst="rect">
            <a:avLst/>
          </a:prstGeom>
        </p:spPr>
        <p:txBody>
          <a:bodyPr wrap="square">
            <a:spAutoFit/>
          </a:bodyPr>
          <a:lstStyle/>
          <a:p>
            <a:r>
              <a:rPr lang="en-US" sz="2800" dirty="0">
                <a:solidFill>
                  <a:srgbClr val="C00000"/>
                </a:solidFill>
                <a:latin typeface="NewBaskervilleStd-Roman"/>
              </a:rPr>
              <a:t>Types of Collisions </a:t>
            </a:r>
          </a:p>
        </p:txBody>
      </p:sp>
      <p:sp>
        <p:nvSpPr>
          <p:cNvPr id="2" name="Rectangle 1">
            <a:extLst>
              <a:ext uri="{FF2B5EF4-FFF2-40B4-BE49-F238E27FC236}">
                <a16:creationId xmlns:a16="http://schemas.microsoft.com/office/drawing/2014/main" id="{DF37F27F-028A-1B4C-8D0E-220D16BB7289}"/>
              </a:ext>
            </a:extLst>
          </p:cNvPr>
          <p:cNvSpPr/>
          <p:nvPr/>
        </p:nvSpPr>
        <p:spPr>
          <a:xfrm>
            <a:off x="448234" y="598817"/>
            <a:ext cx="8408645" cy="4493538"/>
          </a:xfrm>
          <a:prstGeom prst="rect">
            <a:avLst/>
          </a:prstGeom>
        </p:spPr>
        <p:txBody>
          <a:bodyPr wrap="square">
            <a:spAutoFit/>
          </a:bodyPr>
          <a:lstStyle/>
          <a:p>
            <a:r>
              <a:rPr lang="en-US" sz="2200" dirty="0">
                <a:solidFill>
                  <a:srgbClr val="3B124D"/>
                </a:solidFill>
                <a:latin typeface="LiberationSerif"/>
              </a:rPr>
              <a:t>Multiple objects can collide and stick together, forming a single object. This type of collision is called </a:t>
            </a:r>
            <a:r>
              <a:rPr lang="en-US" sz="2200" dirty="0">
                <a:solidFill>
                  <a:srgbClr val="C00000"/>
                </a:solidFill>
                <a:latin typeface="LiberationSerif"/>
              </a:rPr>
              <a:t>inelastic.</a:t>
            </a:r>
            <a:r>
              <a:rPr lang="en-US" sz="2200" dirty="0">
                <a:solidFill>
                  <a:srgbClr val="3B124D"/>
                </a:solidFill>
                <a:latin typeface="LiberationSerif"/>
              </a:rPr>
              <a:t> </a:t>
            </a:r>
          </a:p>
          <a:p>
            <a:r>
              <a:rPr lang="en-US" sz="2200" dirty="0">
                <a:solidFill>
                  <a:srgbClr val="3B124D"/>
                </a:solidFill>
                <a:latin typeface="LiberationSerif"/>
              </a:rPr>
              <a:t>Momentum is conserved, kinetic energy is </a:t>
            </a:r>
            <a:r>
              <a:rPr lang="en-US" sz="2200" dirty="0">
                <a:solidFill>
                  <a:srgbClr val="C00000"/>
                </a:solidFill>
                <a:latin typeface="LiberationSerif"/>
              </a:rPr>
              <a:t>not</a:t>
            </a:r>
            <a:r>
              <a:rPr lang="en-US" sz="2200" dirty="0">
                <a:solidFill>
                  <a:srgbClr val="3B124D"/>
                </a:solidFill>
                <a:latin typeface="LiberationSerif"/>
              </a:rPr>
              <a:t> conserved (some                    energy is transformed to heat, deformation of objects, sound, etc. </a:t>
            </a:r>
          </a:p>
          <a:p>
            <a:r>
              <a:rPr lang="en-US" sz="2200" dirty="0">
                <a:solidFill>
                  <a:srgbClr val="3B124D"/>
                </a:solidFill>
                <a:latin typeface="LiberationSerif"/>
              </a:rPr>
              <a:t>If after collision the objects become motionless, we call it        		      </a:t>
            </a:r>
            <a:r>
              <a:rPr lang="en-US" sz="2200" dirty="0">
                <a:solidFill>
                  <a:srgbClr val="C00000"/>
                </a:solidFill>
                <a:latin typeface="LiberationSerif"/>
              </a:rPr>
              <a:t>perfectly inelastic </a:t>
            </a:r>
            <a:r>
              <a:rPr lang="en-US" sz="2200" dirty="0">
                <a:solidFill>
                  <a:srgbClr val="3B124D"/>
                </a:solidFill>
                <a:latin typeface="LiberationSerif"/>
              </a:rPr>
              <a:t>(max. KE loss).</a:t>
            </a:r>
          </a:p>
          <a:p>
            <a:endParaRPr lang="en-US" sz="2200" dirty="0">
              <a:solidFill>
                <a:srgbClr val="3B124D"/>
              </a:solidFill>
              <a:latin typeface="LiberationSerif"/>
            </a:endParaRPr>
          </a:p>
          <a:p>
            <a:r>
              <a:rPr lang="en-US" sz="2200" dirty="0">
                <a:solidFill>
                  <a:srgbClr val="3B124D"/>
                </a:solidFill>
                <a:latin typeface="LiberationSerif"/>
              </a:rPr>
              <a:t>The inverse of perfectly inelastic collision is </a:t>
            </a:r>
            <a:r>
              <a:rPr lang="en-US" sz="2200" dirty="0">
                <a:solidFill>
                  <a:srgbClr val="FF0000"/>
                </a:solidFill>
                <a:latin typeface="LiberationSerif"/>
              </a:rPr>
              <a:t>explosion:</a:t>
            </a:r>
            <a:r>
              <a:rPr lang="en-US" sz="2200" dirty="0">
                <a:solidFill>
                  <a:srgbClr val="3B124D"/>
                </a:solidFill>
                <a:latin typeface="LiberationSerif"/>
              </a:rPr>
              <a:t> a single object may break apart into two or more pieces. An example of this is a firecracker, or a bow and arrow, or a rocket rising through the air toward space. Momentum still conserved, KE increases (at the expense of some other energy source, for example potential energy, chemical energy…)</a:t>
            </a:r>
          </a:p>
          <a:p>
            <a:endParaRPr lang="en-US" sz="2200" dirty="0">
              <a:solidFill>
                <a:srgbClr val="3B124D"/>
              </a:solidFill>
              <a:latin typeface="LiberationSerif"/>
            </a:endParaRPr>
          </a:p>
        </p:txBody>
      </p:sp>
      <p:sp>
        <p:nvSpPr>
          <p:cNvPr id="3" name="Rectangle 2">
            <a:extLst>
              <a:ext uri="{FF2B5EF4-FFF2-40B4-BE49-F238E27FC236}">
                <a16:creationId xmlns:a16="http://schemas.microsoft.com/office/drawing/2014/main" id="{BD02C85F-2E3D-DF4B-8097-14E6C6710E4C}"/>
              </a:ext>
            </a:extLst>
          </p:cNvPr>
          <p:cNvSpPr/>
          <p:nvPr/>
        </p:nvSpPr>
        <p:spPr>
          <a:xfrm>
            <a:off x="448234" y="4810863"/>
            <a:ext cx="9542931" cy="1785104"/>
          </a:xfrm>
          <a:prstGeom prst="rect">
            <a:avLst/>
          </a:prstGeom>
        </p:spPr>
        <p:txBody>
          <a:bodyPr wrap="square">
            <a:spAutoFit/>
          </a:bodyPr>
          <a:lstStyle/>
          <a:p>
            <a:r>
              <a:rPr lang="en-US" sz="2200" dirty="0">
                <a:latin typeface="LiberationSerif"/>
              </a:rPr>
              <a:t>Finally, two or more objects approach each other, collide, and bounce off each other, moving away from each other at the same relative speed at which they approached each other (for example, two billiard balls). In this case, the total kinetic energy of the system is conserved and the momentum is conserved. Such an interaction is called </a:t>
            </a:r>
            <a:r>
              <a:rPr lang="en-US" sz="2200" dirty="0">
                <a:solidFill>
                  <a:srgbClr val="008000"/>
                </a:solidFill>
                <a:latin typeface="LiberationSerif"/>
              </a:rPr>
              <a:t>elastic.</a:t>
            </a:r>
          </a:p>
        </p:txBody>
      </p:sp>
      <p:pic>
        <p:nvPicPr>
          <p:cNvPr id="1026" name="Picture 2" descr="Elastic collision GIFs - Get the best gif on GIFER">
            <a:extLst>
              <a:ext uri="{FF2B5EF4-FFF2-40B4-BE49-F238E27FC236}">
                <a16:creationId xmlns:a16="http://schemas.microsoft.com/office/drawing/2014/main" id="{DF21C00D-9DBA-B240-85D2-C39D75E6DC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7805" y="4946080"/>
            <a:ext cx="1697348" cy="169381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8F67FD4-13CF-404E-B89C-DDCD6355AAF2}"/>
              </a:ext>
            </a:extLst>
          </p:cNvPr>
          <p:cNvSpPr/>
          <p:nvPr/>
        </p:nvSpPr>
        <p:spPr>
          <a:xfrm>
            <a:off x="9630935" y="6585475"/>
            <a:ext cx="2331087" cy="246221"/>
          </a:xfrm>
          <a:prstGeom prst="rect">
            <a:avLst/>
          </a:prstGeom>
        </p:spPr>
        <p:txBody>
          <a:bodyPr wrap="none">
            <a:spAutoFit/>
          </a:bodyPr>
          <a:lstStyle/>
          <a:p>
            <a:r>
              <a:rPr lang="en-US" sz="1000" dirty="0"/>
              <a:t>https://</a:t>
            </a:r>
            <a:r>
              <a:rPr lang="en-US" sz="1000" dirty="0" err="1"/>
              <a:t>gifer.com</a:t>
            </a:r>
            <a:r>
              <a:rPr lang="en-US" sz="1000" dirty="0"/>
              <a:t>/</a:t>
            </a:r>
            <a:r>
              <a:rPr lang="en-US" sz="1000" dirty="0" err="1"/>
              <a:t>en</a:t>
            </a:r>
            <a:r>
              <a:rPr lang="en-US" sz="1000" dirty="0"/>
              <a:t>/gifs/elastic-collision</a:t>
            </a:r>
          </a:p>
        </p:txBody>
      </p:sp>
      <p:pic>
        <p:nvPicPr>
          <p:cNvPr id="1028" name="Picture 4" descr="Collision GIF - Find on GIFER">
            <a:extLst>
              <a:ext uri="{FF2B5EF4-FFF2-40B4-BE49-F238E27FC236}">
                <a16:creationId xmlns:a16="http://schemas.microsoft.com/office/drawing/2014/main" id="{65018ECA-089E-C04D-9C13-BC8E91AFE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41218" y="932560"/>
            <a:ext cx="3810000" cy="1955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ar-Newton&amp;#39;s third law-momentum-collisions- exercises">
            <a:extLst>
              <a:ext uri="{FF2B5EF4-FFF2-40B4-BE49-F238E27FC236}">
                <a16:creationId xmlns:a16="http://schemas.microsoft.com/office/drawing/2014/main" id="{DE631170-C0C3-194F-8F8A-183B25D709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7197" y="3061711"/>
            <a:ext cx="2774827" cy="142441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4280831-C5C6-6744-872E-B8D8327D3845}"/>
              </a:ext>
            </a:extLst>
          </p:cNvPr>
          <p:cNvSpPr/>
          <p:nvPr/>
        </p:nvSpPr>
        <p:spPr>
          <a:xfrm>
            <a:off x="9407242" y="2823669"/>
            <a:ext cx="1624163" cy="246221"/>
          </a:xfrm>
          <a:prstGeom prst="rect">
            <a:avLst/>
          </a:prstGeom>
        </p:spPr>
        <p:txBody>
          <a:bodyPr wrap="none">
            <a:spAutoFit/>
          </a:bodyPr>
          <a:lstStyle/>
          <a:p>
            <a:r>
              <a:rPr lang="en-US" sz="1000" dirty="0"/>
              <a:t>https://</a:t>
            </a:r>
            <a:r>
              <a:rPr lang="en-US" sz="1000" dirty="0" err="1"/>
              <a:t>gifer.com</a:t>
            </a:r>
            <a:r>
              <a:rPr lang="en-US" sz="1000" dirty="0"/>
              <a:t>/</a:t>
            </a:r>
            <a:r>
              <a:rPr lang="en-US" sz="1000" dirty="0" err="1"/>
              <a:t>en</a:t>
            </a:r>
            <a:r>
              <a:rPr lang="en-US" sz="1000" dirty="0"/>
              <a:t>/EHm8</a:t>
            </a:r>
          </a:p>
        </p:txBody>
      </p:sp>
      <p:sp>
        <p:nvSpPr>
          <p:cNvPr id="8" name="Rectangle 7">
            <a:extLst>
              <a:ext uri="{FF2B5EF4-FFF2-40B4-BE49-F238E27FC236}">
                <a16:creationId xmlns:a16="http://schemas.microsoft.com/office/drawing/2014/main" id="{795186B9-BD07-E848-9991-B54C4AABCFDF}"/>
              </a:ext>
            </a:extLst>
          </p:cNvPr>
          <p:cNvSpPr/>
          <p:nvPr/>
        </p:nvSpPr>
        <p:spPr>
          <a:xfrm>
            <a:off x="9321008" y="4465794"/>
            <a:ext cx="2774828" cy="400110"/>
          </a:xfrm>
          <a:prstGeom prst="rect">
            <a:avLst/>
          </a:prstGeom>
        </p:spPr>
        <p:txBody>
          <a:bodyPr wrap="square">
            <a:spAutoFit/>
          </a:bodyPr>
          <a:lstStyle/>
          <a:p>
            <a:r>
              <a:rPr lang="en-US" sz="1000" dirty="0"/>
              <a:t>http://</a:t>
            </a:r>
            <a:r>
              <a:rPr lang="en-US" sz="1000" dirty="0" err="1"/>
              <a:t>www.dynamicscience.com.au</a:t>
            </a:r>
            <a:r>
              <a:rPr lang="en-US" sz="1000" dirty="0"/>
              <a:t>/tester/solutions1/war/newton/</a:t>
            </a:r>
            <a:r>
              <a:rPr lang="en-US" sz="1000" dirty="0" err="1"/>
              <a:t>monetumexes.htm</a:t>
            </a:r>
            <a:endParaRPr lang="en-US" sz="1000" dirty="0"/>
          </a:p>
        </p:txBody>
      </p:sp>
    </p:spTree>
    <p:extLst>
      <p:ext uri="{BB962C8B-B14F-4D97-AF65-F5344CB8AC3E}">
        <p14:creationId xmlns:p14="http://schemas.microsoft.com/office/powerpoint/2010/main" val="184230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Momentum and Force </a:t>
            </a:r>
          </a:p>
        </p:txBody>
      </p:sp>
      <p:sp>
        <p:nvSpPr>
          <p:cNvPr id="6" name="Rectangle 5">
            <a:extLst>
              <a:ext uri="{FF2B5EF4-FFF2-40B4-BE49-F238E27FC236}">
                <a16:creationId xmlns:a16="http://schemas.microsoft.com/office/drawing/2014/main" id="{BDAAD2B1-BE0A-2043-AAB6-573D5E20169A}"/>
              </a:ext>
            </a:extLst>
          </p:cNvPr>
          <p:cNvSpPr/>
          <p:nvPr/>
        </p:nvSpPr>
        <p:spPr>
          <a:xfrm>
            <a:off x="534547" y="612264"/>
            <a:ext cx="6922262" cy="769441"/>
          </a:xfrm>
          <a:prstGeom prst="rect">
            <a:avLst/>
          </a:prstGeom>
        </p:spPr>
        <p:txBody>
          <a:bodyPr wrap="square">
            <a:spAutoFit/>
          </a:bodyPr>
          <a:lstStyle/>
          <a:p>
            <a:r>
              <a:rPr lang="en-US" sz="2200" dirty="0">
                <a:solidFill>
                  <a:srgbClr val="008000"/>
                </a:solidFill>
                <a:latin typeface="LiberationSans"/>
              </a:rPr>
              <a:t>Example: </a:t>
            </a:r>
            <a:r>
              <a:rPr lang="en-US" sz="2200" dirty="0">
                <a:solidFill>
                  <a:srgbClr val="C00000"/>
                </a:solidFill>
                <a:latin typeface="LiberationSerif"/>
              </a:rPr>
              <a:t>inelastic collision</a:t>
            </a:r>
            <a:endParaRPr lang="en-US" sz="2200" dirty="0">
              <a:solidFill>
                <a:srgbClr val="008000"/>
              </a:solidFill>
              <a:latin typeface="LiberationSans"/>
            </a:endParaRPr>
          </a:p>
          <a:p>
            <a:endParaRPr lang="en-US" sz="2200" dirty="0">
              <a:solidFill>
                <a:srgbClr val="003399"/>
              </a:solidFill>
            </a:endParaRPr>
          </a:p>
        </p:txBody>
      </p:sp>
      <p:pic>
        <p:nvPicPr>
          <p:cNvPr id="3" name="Picture 2" descr="Chart, bubble chart&#10;&#10;Description automatically generated">
            <a:extLst>
              <a:ext uri="{FF2B5EF4-FFF2-40B4-BE49-F238E27FC236}">
                <a16:creationId xmlns:a16="http://schemas.microsoft.com/office/drawing/2014/main" id="{48798F20-4209-C44F-BB5E-DFC8DD0DD6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547" y="996984"/>
            <a:ext cx="10653406" cy="364138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D321E313-85B1-9441-9C50-BCF55EDAE2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8899" y="4948702"/>
            <a:ext cx="2152276" cy="479724"/>
          </a:xfrm>
          <a:prstGeom prst="rect">
            <a:avLst/>
          </a:prstGeom>
        </p:spPr>
      </p:pic>
      <p:pic>
        <p:nvPicPr>
          <p:cNvPr id="10" name="Picture 9" descr="Text&#10;&#10;Description automatically generated with medium confidence">
            <a:extLst>
              <a:ext uri="{FF2B5EF4-FFF2-40B4-BE49-F238E27FC236}">
                <a16:creationId xmlns:a16="http://schemas.microsoft.com/office/drawing/2014/main" id="{2331906D-036D-FA47-9D0B-3D75AAA457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9647" y="5506784"/>
            <a:ext cx="5102096" cy="1187790"/>
          </a:xfrm>
          <a:prstGeom prst="rect">
            <a:avLst/>
          </a:prstGeom>
        </p:spPr>
      </p:pic>
      <p:pic>
        <p:nvPicPr>
          <p:cNvPr id="12" name="Picture 11" descr="A picture containing logo&#10;&#10;Description automatically generated">
            <a:extLst>
              <a:ext uri="{FF2B5EF4-FFF2-40B4-BE49-F238E27FC236}">
                <a16:creationId xmlns:a16="http://schemas.microsoft.com/office/drawing/2014/main" id="{451AA447-432D-9C43-A96C-C902FAC3E4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5846" y="4935255"/>
            <a:ext cx="2324949" cy="493171"/>
          </a:xfrm>
          <a:prstGeom prst="rect">
            <a:avLst/>
          </a:prstGeom>
        </p:spPr>
      </p:pic>
      <p:sp>
        <p:nvSpPr>
          <p:cNvPr id="14" name="Rectangle 13">
            <a:extLst>
              <a:ext uri="{FF2B5EF4-FFF2-40B4-BE49-F238E27FC236}">
                <a16:creationId xmlns:a16="http://schemas.microsoft.com/office/drawing/2014/main" id="{20785461-246B-7843-B4B2-A3B0943E2604}"/>
              </a:ext>
            </a:extLst>
          </p:cNvPr>
          <p:cNvSpPr/>
          <p:nvPr/>
        </p:nvSpPr>
        <p:spPr>
          <a:xfrm>
            <a:off x="6297935" y="5506784"/>
            <a:ext cx="5894065" cy="1200329"/>
          </a:xfrm>
          <a:prstGeom prst="rect">
            <a:avLst/>
          </a:prstGeom>
        </p:spPr>
        <p:txBody>
          <a:bodyPr wrap="square">
            <a:spAutoFit/>
          </a:bodyPr>
          <a:lstStyle/>
          <a:p>
            <a:r>
              <a:rPr lang="en-US" dirty="0">
                <a:solidFill>
                  <a:srgbClr val="3B124D"/>
                </a:solidFill>
                <a:latin typeface="LiberationSerif"/>
              </a:rPr>
              <a:t>This is essentially how particle colliders like the Large Hadron Collider work: They accelerate particles up to very high speeds (large momenta), but in opposite directions. This maximizes the creation of so-called “daughter particles.” </a:t>
            </a:r>
            <a:endParaRPr lang="en-US" dirty="0">
              <a:solidFill>
                <a:srgbClr val="3B124D"/>
              </a:solidFill>
            </a:endParaRPr>
          </a:p>
        </p:txBody>
      </p:sp>
    </p:spTree>
    <p:extLst>
      <p:ext uri="{BB962C8B-B14F-4D97-AF65-F5344CB8AC3E}">
        <p14:creationId xmlns:p14="http://schemas.microsoft.com/office/powerpoint/2010/main" val="36569749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Momentum and Force </a:t>
            </a:r>
          </a:p>
        </p:txBody>
      </p:sp>
      <p:sp>
        <p:nvSpPr>
          <p:cNvPr id="6" name="Rectangle 5">
            <a:extLst>
              <a:ext uri="{FF2B5EF4-FFF2-40B4-BE49-F238E27FC236}">
                <a16:creationId xmlns:a16="http://schemas.microsoft.com/office/drawing/2014/main" id="{B9C71634-3697-C147-A4F7-426985705252}"/>
              </a:ext>
            </a:extLst>
          </p:cNvPr>
          <p:cNvSpPr/>
          <p:nvPr/>
        </p:nvSpPr>
        <p:spPr>
          <a:xfrm>
            <a:off x="534547" y="612264"/>
            <a:ext cx="6922262" cy="769441"/>
          </a:xfrm>
          <a:prstGeom prst="rect">
            <a:avLst/>
          </a:prstGeom>
        </p:spPr>
        <p:txBody>
          <a:bodyPr wrap="square">
            <a:spAutoFit/>
          </a:bodyPr>
          <a:lstStyle/>
          <a:p>
            <a:r>
              <a:rPr lang="en-US" sz="2200" dirty="0">
                <a:solidFill>
                  <a:srgbClr val="008000"/>
                </a:solidFill>
                <a:latin typeface="LiberationSans"/>
              </a:rPr>
              <a:t>Example: </a:t>
            </a:r>
            <a:r>
              <a:rPr lang="en-US" sz="2200" dirty="0">
                <a:solidFill>
                  <a:srgbClr val="C00000"/>
                </a:solidFill>
                <a:latin typeface="LiberationSerif"/>
              </a:rPr>
              <a:t>perfectly </a:t>
            </a:r>
            <a:r>
              <a:rPr lang="en-US" sz="2200" dirty="0">
                <a:solidFill>
                  <a:srgbClr val="008000"/>
                </a:solidFill>
                <a:latin typeface="LiberationSerif"/>
              </a:rPr>
              <a:t>elastic</a:t>
            </a:r>
            <a:r>
              <a:rPr lang="en-US" sz="2200" dirty="0">
                <a:solidFill>
                  <a:srgbClr val="C00000"/>
                </a:solidFill>
                <a:latin typeface="LiberationSerif"/>
              </a:rPr>
              <a:t> collision</a:t>
            </a:r>
            <a:endParaRPr lang="en-US" sz="2200" dirty="0">
              <a:solidFill>
                <a:srgbClr val="008000"/>
              </a:solidFill>
              <a:latin typeface="LiberationSans"/>
            </a:endParaRPr>
          </a:p>
          <a:p>
            <a:endParaRPr lang="en-US" sz="2200" dirty="0">
              <a:solidFill>
                <a:srgbClr val="003399"/>
              </a:solidFill>
            </a:endParaRPr>
          </a:p>
        </p:txBody>
      </p:sp>
      <p:sp>
        <p:nvSpPr>
          <p:cNvPr id="2" name="Rectangle 1">
            <a:extLst>
              <a:ext uri="{FF2B5EF4-FFF2-40B4-BE49-F238E27FC236}">
                <a16:creationId xmlns:a16="http://schemas.microsoft.com/office/drawing/2014/main" id="{BAC55581-931C-A14C-8661-31AFF971C7DB}"/>
              </a:ext>
            </a:extLst>
          </p:cNvPr>
          <p:cNvSpPr/>
          <p:nvPr/>
        </p:nvSpPr>
        <p:spPr>
          <a:xfrm>
            <a:off x="534547" y="1027762"/>
            <a:ext cx="11122906" cy="1323439"/>
          </a:xfrm>
          <a:prstGeom prst="rect">
            <a:avLst/>
          </a:prstGeom>
        </p:spPr>
        <p:txBody>
          <a:bodyPr wrap="square">
            <a:spAutoFit/>
          </a:bodyPr>
          <a:lstStyle/>
          <a:p>
            <a:r>
              <a:rPr lang="en-US" sz="2000" dirty="0">
                <a:latin typeface="LiberationSerif"/>
              </a:rPr>
              <a:t>Two ice hockey pucks of different masses are on a flat, horizontal hockey rink. The red puck has a mass of 15 grams and is motionless; the blue puck has a mass of 12 grams and is moving at 2.5 m/s to the left. It collides with the motionless red puck. If the collision is perfectly elastic, what are the final velocities of the two pucks? </a:t>
            </a:r>
            <a:endParaRPr lang="en-US" sz="2000" dirty="0"/>
          </a:p>
        </p:txBody>
      </p:sp>
      <p:pic>
        <p:nvPicPr>
          <p:cNvPr id="7" name="Picture 6" descr="Chart, bubble chart&#10;&#10;Description automatically generated">
            <a:extLst>
              <a:ext uri="{FF2B5EF4-FFF2-40B4-BE49-F238E27FC236}">
                <a16:creationId xmlns:a16="http://schemas.microsoft.com/office/drawing/2014/main" id="{D6405E57-5C43-FC48-8036-4CCB69A7E8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547" y="2405683"/>
            <a:ext cx="7208983" cy="3172968"/>
          </a:xfrm>
          <a:prstGeom prst="rect">
            <a:avLst/>
          </a:prstGeom>
        </p:spPr>
      </p:pic>
      <p:sp>
        <p:nvSpPr>
          <p:cNvPr id="8" name="Rectangle 7">
            <a:extLst>
              <a:ext uri="{FF2B5EF4-FFF2-40B4-BE49-F238E27FC236}">
                <a16:creationId xmlns:a16="http://schemas.microsoft.com/office/drawing/2014/main" id="{3ED1E2E3-D58E-C144-BF19-8693758874A5}"/>
              </a:ext>
            </a:extLst>
          </p:cNvPr>
          <p:cNvSpPr/>
          <p:nvPr/>
        </p:nvSpPr>
        <p:spPr>
          <a:xfrm>
            <a:off x="8339586" y="2582033"/>
            <a:ext cx="2881815" cy="369332"/>
          </a:xfrm>
          <a:prstGeom prst="rect">
            <a:avLst/>
          </a:prstGeom>
        </p:spPr>
        <p:txBody>
          <a:bodyPr wrap="none">
            <a:spAutoFit/>
          </a:bodyPr>
          <a:lstStyle/>
          <a:p>
            <a:r>
              <a:rPr lang="en-US" dirty="0">
                <a:solidFill>
                  <a:srgbClr val="7030A0"/>
                </a:solidFill>
                <a:latin typeface="LiberationSerif"/>
              </a:rPr>
              <a:t>Conservation of momentum </a:t>
            </a:r>
            <a:endParaRPr lang="en-US" dirty="0">
              <a:solidFill>
                <a:srgbClr val="7030A0"/>
              </a:solidFill>
            </a:endParaRPr>
          </a:p>
        </p:txBody>
      </p:sp>
      <p:sp>
        <p:nvSpPr>
          <p:cNvPr id="9" name="Rectangle 8">
            <a:extLst>
              <a:ext uri="{FF2B5EF4-FFF2-40B4-BE49-F238E27FC236}">
                <a16:creationId xmlns:a16="http://schemas.microsoft.com/office/drawing/2014/main" id="{AC6CB745-673E-F146-A826-6C590853144E}"/>
              </a:ext>
            </a:extLst>
          </p:cNvPr>
          <p:cNvSpPr/>
          <p:nvPr/>
        </p:nvSpPr>
        <p:spPr>
          <a:xfrm>
            <a:off x="8339586" y="3721970"/>
            <a:ext cx="3089564" cy="369332"/>
          </a:xfrm>
          <a:prstGeom prst="rect">
            <a:avLst/>
          </a:prstGeom>
        </p:spPr>
        <p:txBody>
          <a:bodyPr wrap="none">
            <a:spAutoFit/>
          </a:bodyPr>
          <a:lstStyle/>
          <a:p>
            <a:r>
              <a:rPr lang="en-US" dirty="0">
                <a:solidFill>
                  <a:srgbClr val="C00000"/>
                </a:solidFill>
                <a:latin typeface="LiberationSerif"/>
              </a:rPr>
              <a:t>Conservation of kinetic energy </a:t>
            </a:r>
            <a:endParaRPr lang="en-US" dirty="0">
              <a:solidFill>
                <a:srgbClr val="C00000"/>
              </a:solidFill>
            </a:endParaRPr>
          </a:p>
        </p:txBody>
      </p:sp>
      <p:pic>
        <p:nvPicPr>
          <p:cNvPr id="11" name="Picture 10" descr="Schematic&#10;&#10;Description automatically generated with medium confidence">
            <a:extLst>
              <a:ext uri="{FF2B5EF4-FFF2-40B4-BE49-F238E27FC236}">
                <a16:creationId xmlns:a16="http://schemas.microsoft.com/office/drawing/2014/main" id="{DCA017A2-8E67-D442-80C6-B0B2FEA688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3718" y="3012817"/>
            <a:ext cx="2781300" cy="647700"/>
          </a:xfrm>
          <a:prstGeom prst="rect">
            <a:avLst/>
          </a:prstGeom>
        </p:spPr>
      </p:pic>
      <p:pic>
        <p:nvPicPr>
          <p:cNvPr id="13" name="Picture 12" descr="Text&#10;&#10;Description automatically generated">
            <a:extLst>
              <a:ext uri="{FF2B5EF4-FFF2-40B4-BE49-F238E27FC236}">
                <a16:creationId xmlns:a16="http://schemas.microsoft.com/office/drawing/2014/main" id="{DD362E05-517A-324B-BE5B-FD9D050F2A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6253" y="4164187"/>
            <a:ext cx="3251200" cy="889000"/>
          </a:xfrm>
          <a:prstGeom prst="rect">
            <a:avLst/>
          </a:prstGeom>
        </p:spPr>
      </p:pic>
      <p:sp>
        <p:nvSpPr>
          <p:cNvPr id="14" name="Rectangle 13">
            <a:extLst>
              <a:ext uri="{FF2B5EF4-FFF2-40B4-BE49-F238E27FC236}">
                <a16:creationId xmlns:a16="http://schemas.microsoft.com/office/drawing/2014/main" id="{EACD7E4D-D161-9144-9462-CAB9893551EB}"/>
              </a:ext>
            </a:extLst>
          </p:cNvPr>
          <p:cNvSpPr/>
          <p:nvPr/>
        </p:nvSpPr>
        <p:spPr>
          <a:xfrm>
            <a:off x="7745233" y="5209319"/>
            <a:ext cx="4573240" cy="369332"/>
          </a:xfrm>
          <a:prstGeom prst="rect">
            <a:avLst/>
          </a:prstGeom>
        </p:spPr>
        <p:txBody>
          <a:bodyPr wrap="none">
            <a:spAutoFit/>
          </a:bodyPr>
          <a:lstStyle/>
          <a:p>
            <a:r>
              <a:rPr lang="en-US" dirty="0">
                <a:solidFill>
                  <a:srgbClr val="3B124D"/>
                </a:solidFill>
                <a:latin typeface="LiberationSerif"/>
              </a:rPr>
              <a:t>There are our two equations in two unknowns </a:t>
            </a:r>
            <a:endParaRPr lang="en-US" dirty="0">
              <a:solidFill>
                <a:srgbClr val="3B124D"/>
              </a:solidFill>
            </a:endParaRPr>
          </a:p>
        </p:txBody>
      </p:sp>
      <p:pic>
        <p:nvPicPr>
          <p:cNvPr id="16" name="Picture 15" descr="Text&#10;&#10;Description automatically generated with low confidence">
            <a:extLst>
              <a:ext uri="{FF2B5EF4-FFF2-40B4-BE49-F238E27FC236}">
                <a16:creationId xmlns:a16="http://schemas.microsoft.com/office/drawing/2014/main" id="{58201216-7C31-F740-A585-729C5E6E31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06253" y="5549756"/>
            <a:ext cx="3340100" cy="1219200"/>
          </a:xfrm>
          <a:prstGeom prst="rect">
            <a:avLst/>
          </a:prstGeom>
        </p:spPr>
      </p:pic>
      <p:sp>
        <p:nvSpPr>
          <p:cNvPr id="17" name="Left Arrow 16">
            <a:extLst>
              <a:ext uri="{FF2B5EF4-FFF2-40B4-BE49-F238E27FC236}">
                <a16:creationId xmlns:a16="http://schemas.microsoft.com/office/drawing/2014/main" id="{9AAAC85C-0D0E-D646-A8F6-660F035D3162}"/>
              </a:ext>
            </a:extLst>
          </p:cNvPr>
          <p:cNvSpPr/>
          <p:nvPr/>
        </p:nvSpPr>
        <p:spPr>
          <a:xfrm>
            <a:off x="7225379" y="6051055"/>
            <a:ext cx="1039707" cy="38936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Text&#10;&#10;Description automatically generated with low confidence">
            <a:extLst>
              <a:ext uri="{FF2B5EF4-FFF2-40B4-BE49-F238E27FC236}">
                <a16:creationId xmlns:a16="http://schemas.microsoft.com/office/drawing/2014/main" id="{5FBAD99D-36FB-A944-B1E3-DDD604B3DE0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11696" y="5775836"/>
            <a:ext cx="1943100" cy="939800"/>
          </a:xfrm>
          <a:prstGeom prst="rect">
            <a:avLst/>
          </a:prstGeom>
        </p:spPr>
      </p:pic>
      <p:sp>
        <p:nvSpPr>
          <p:cNvPr id="20" name="Rectangle 19">
            <a:extLst>
              <a:ext uri="{FF2B5EF4-FFF2-40B4-BE49-F238E27FC236}">
                <a16:creationId xmlns:a16="http://schemas.microsoft.com/office/drawing/2014/main" id="{95B5291B-7D04-BE43-9E0A-75DCA5C1F66B}"/>
              </a:ext>
            </a:extLst>
          </p:cNvPr>
          <p:cNvSpPr/>
          <p:nvPr/>
        </p:nvSpPr>
        <p:spPr>
          <a:xfrm>
            <a:off x="3009360" y="6315364"/>
            <a:ext cx="2260362" cy="276999"/>
          </a:xfrm>
          <a:prstGeom prst="rect">
            <a:avLst/>
          </a:prstGeom>
        </p:spPr>
        <p:txBody>
          <a:bodyPr wrap="none">
            <a:spAutoFit/>
          </a:bodyPr>
          <a:lstStyle/>
          <a:p>
            <a:r>
              <a:rPr lang="en-US" sz="1200" dirty="0">
                <a:solidFill>
                  <a:srgbClr val="C00000"/>
                </a:solidFill>
                <a:latin typeface="LiberationSerif"/>
              </a:rPr>
              <a:t>Negative, now moves to the right</a:t>
            </a:r>
            <a:endParaRPr lang="en-US" sz="1200" dirty="0"/>
          </a:p>
        </p:txBody>
      </p:sp>
    </p:spTree>
    <p:extLst>
      <p:ext uri="{BB962C8B-B14F-4D97-AF65-F5344CB8AC3E}">
        <p14:creationId xmlns:p14="http://schemas.microsoft.com/office/powerpoint/2010/main" val="391082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73479" y="89044"/>
            <a:ext cx="5645041" cy="523220"/>
          </a:xfrm>
          <a:prstGeom prst="rect">
            <a:avLst/>
          </a:prstGeom>
        </p:spPr>
        <p:txBody>
          <a:bodyPr wrap="square">
            <a:spAutoFit/>
          </a:bodyPr>
          <a:lstStyle/>
          <a:p>
            <a:r>
              <a:rPr lang="en-US" sz="2800" dirty="0">
                <a:solidFill>
                  <a:srgbClr val="C00000"/>
                </a:solidFill>
                <a:latin typeface="NewBaskervilleStd-Roman"/>
              </a:rPr>
              <a:t>Collisions in Multiple Dimensions </a:t>
            </a:r>
          </a:p>
        </p:txBody>
      </p:sp>
      <p:sp>
        <p:nvSpPr>
          <p:cNvPr id="2" name="Rectangle 1">
            <a:extLst>
              <a:ext uri="{FF2B5EF4-FFF2-40B4-BE49-F238E27FC236}">
                <a16:creationId xmlns:a16="http://schemas.microsoft.com/office/drawing/2014/main" id="{DE40C008-5621-8A44-A7B6-00255D6F6A36}"/>
              </a:ext>
            </a:extLst>
          </p:cNvPr>
          <p:cNvSpPr/>
          <p:nvPr/>
        </p:nvSpPr>
        <p:spPr>
          <a:xfrm>
            <a:off x="255774" y="612264"/>
            <a:ext cx="10014857" cy="400110"/>
          </a:xfrm>
          <a:prstGeom prst="rect">
            <a:avLst/>
          </a:prstGeom>
        </p:spPr>
        <p:txBody>
          <a:bodyPr wrap="none">
            <a:spAutoFit/>
          </a:bodyPr>
          <a:lstStyle/>
          <a:p>
            <a:r>
              <a:rPr lang="en-US" sz="2000" dirty="0">
                <a:solidFill>
                  <a:srgbClr val="7030A0"/>
                </a:solidFill>
                <a:latin typeface="LiberationSerif"/>
              </a:rPr>
              <a:t>For collisions that occur in two or three dimensions, we use the component form of equations </a:t>
            </a:r>
            <a:endParaRPr lang="en-US" sz="2000" dirty="0">
              <a:solidFill>
                <a:srgbClr val="7030A0"/>
              </a:solidFill>
            </a:endParaRPr>
          </a:p>
        </p:txBody>
      </p:sp>
      <p:pic>
        <p:nvPicPr>
          <p:cNvPr id="6" name="Picture 5" descr="Text&#10;&#10;Description automatically generated">
            <a:extLst>
              <a:ext uri="{FF2B5EF4-FFF2-40B4-BE49-F238E27FC236}">
                <a16:creationId xmlns:a16="http://schemas.microsoft.com/office/drawing/2014/main" id="{E49D58EB-F749-6D4C-94B6-C3E3760E7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1165" y="1012374"/>
            <a:ext cx="1320800" cy="838200"/>
          </a:xfrm>
          <a:prstGeom prst="rect">
            <a:avLst/>
          </a:prstGeom>
        </p:spPr>
      </p:pic>
      <p:sp>
        <p:nvSpPr>
          <p:cNvPr id="7" name="Rectangle 6">
            <a:extLst>
              <a:ext uri="{FF2B5EF4-FFF2-40B4-BE49-F238E27FC236}">
                <a16:creationId xmlns:a16="http://schemas.microsoft.com/office/drawing/2014/main" id="{B6E2B07C-09CE-D74E-8297-C555CDD61FA2}"/>
              </a:ext>
            </a:extLst>
          </p:cNvPr>
          <p:cNvSpPr/>
          <p:nvPr/>
        </p:nvSpPr>
        <p:spPr>
          <a:xfrm>
            <a:off x="255774" y="1650519"/>
            <a:ext cx="10273273" cy="400110"/>
          </a:xfrm>
          <a:prstGeom prst="rect">
            <a:avLst/>
          </a:prstGeom>
        </p:spPr>
        <p:txBody>
          <a:bodyPr wrap="square">
            <a:spAutoFit/>
          </a:bodyPr>
          <a:lstStyle/>
          <a:p>
            <a:r>
              <a:rPr lang="en-US" sz="2000" dirty="0">
                <a:solidFill>
                  <a:srgbClr val="7030A0"/>
                </a:solidFill>
                <a:latin typeface="LiberationSerif"/>
              </a:rPr>
              <a:t>Expressing both the force and the momentum in component form </a:t>
            </a:r>
            <a:endParaRPr lang="en-US" sz="2000" dirty="0">
              <a:solidFill>
                <a:srgbClr val="7030A0"/>
              </a:solidFill>
            </a:endParaRPr>
          </a:p>
        </p:txBody>
      </p:sp>
      <p:pic>
        <p:nvPicPr>
          <p:cNvPr id="9" name="Picture 8" descr="Text, letter&#10;&#10;Description automatically generated">
            <a:extLst>
              <a:ext uri="{FF2B5EF4-FFF2-40B4-BE49-F238E27FC236}">
                <a16:creationId xmlns:a16="http://schemas.microsoft.com/office/drawing/2014/main" id="{03B07485-FF94-D645-AABF-7A31FF478F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0715" y="2050629"/>
            <a:ext cx="3441700" cy="723900"/>
          </a:xfrm>
          <a:prstGeom prst="rect">
            <a:avLst/>
          </a:prstGeom>
        </p:spPr>
      </p:pic>
      <p:sp>
        <p:nvSpPr>
          <p:cNvPr id="10" name="Rectangle 9">
            <a:extLst>
              <a:ext uri="{FF2B5EF4-FFF2-40B4-BE49-F238E27FC236}">
                <a16:creationId xmlns:a16="http://schemas.microsoft.com/office/drawing/2014/main" id="{AFD2C1FC-97D2-B847-8339-A67B8FFFF1E8}"/>
              </a:ext>
            </a:extLst>
          </p:cNvPr>
          <p:cNvSpPr/>
          <p:nvPr/>
        </p:nvSpPr>
        <p:spPr>
          <a:xfrm>
            <a:off x="255774" y="2974584"/>
            <a:ext cx="7261132" cy="1015663"/>
          </a:xfrm>
          <a:prstGeom prst="rect">
            <a:avLst/>
          </a:prstGeom>
        </p:spPr>
        <p:txBody>
          <a:bodyPr wrap="square">
            <a:spAutoFit/>
          </a:bodyPr>
          <a:lstStyle/>
          <a:p>
            <a:r>
              <a:rPr lang="en-US" sz="2000" dirty="0">
                <a:solidFill>
                  <a:srgbClr val="C00000"/>
                </a:solidFill>
                <a:latin typeface="LiberationSerif"/>
              </a:rPr>
              <a:t>The momentum conservation equation can be written separately for x, y and z directions and solved. </a:t>
            </a:r>
          </a:p>
          <a:p>
            <a:r>
              <a:rPr lang="en-US" sz="2000" dirty="0">
                <a:solidFill>
                  <a:srgbClr val="C00000"/>
                </a:solidFill>
                <a:latin typeface="LiberationSerif"/>
              </a:rPr>
              <a:t>For x and y directions:</a:t>
            </a:r>
            <a:endParaRPr lang="en-US" sz="2000" dirty="0">
              <a:solidFill>
                <a:srgbClr val="C00000"/>
              </a:solidFill>
            </a:endParaRPr>
          </a:p>
        </p:txBody>
      </p:sp>
      <p:pic>
        <p:nvPicPr>
          <p:cNvPr id="12" name="Picture 11" descr="Diagram&#10;&#10;Description automatically generated with medium confidence">
            <a:extLst>
              <a:ext uri="{FF2B5EF4-FFF2-40B4-BE49-F238E27FC236}">
                <a16:creationId xmlns:a16="http://schemas.microsoft.com/office/drawing/2014/main" id="{F713921E-880E-A946-AA01-DBE932DBDA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926" y="4088702"/>
            <a:ext cx="2476500" cy="825500"/>
          </a:xfrm>
          <a:prstGeom prst="rect">
            <a:avLst/>
          </a:prstGeom>
        </p:spPr>
      </p:pic>
      <p:pic>
        <p:nvPicPr>
          <p:cNvPr id="14" name="Picture 13" descr="Chart&#10;&#10;Description automatically generated with low confidence">
            <a:extLst>
              <a:ext uri="{FF2B5EF4-FFF2-40B4-BE49-F238E27FC236}">
                <a16:creationId xmlns:a16="http://schemas.microsoft.com/office/drawing/2014/main" id="{3B448A7C-9191-4843-91D8-A002356999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67882" y="4037183"/>
            <a:ext cx="4449056" cy="2743200"/>
          </a:xfrm>
          <a:prstGeom prst="rect">
            <a:avLst/>
          </a:prstGeom>
        </p:spPr>
      </p:pic>
      <p:pic>
        <p:nvPicPr>
          <p:cNvPr id="16" name="Picture 15" descr="Diagram&#10;&#10;Description automatically generated">
            <a:extLst>
              <a:ext uri="{FF2B5EF4-FFF2-40B4-BE49-F238E27FC236}">
                <a16:creationId xmlns:a16="http://schemas.microsoft.com/office/drawing/2014/main" id="{D33730A7-2A4D-424A-8DAD-61E03CA43EE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40362" y="1293983"/>
            <a:ext cx="4189015" cy="5486400"/>
          </a:xfrm>
          <a:prstGeom prst="rect">
            <a:avLst/>
          </a:prstGeom>
        </p:spPr>
      </p:pic>
    </p:spTree>
    <p:extLst>
      <p:ext uri="{BB962C8B-B14F-4D97-AF65-F5344CB8AC3E}">
        <p14:creationId xmlns:p14="http://schemas.microsoft.com/office/powerpoint/2010/main" val="36164384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73479" y="89044"/>
            <a:ext cx="5645041" cy="523220"/>
          </a:xfrm>
          <a:prstGeom prst="rect">
            <a:avLst/>
          </a:prstGeom>
        </p:spPr>
        <p:txBody>
          <a:bodyPr wrap="square">
            <a:spAutoFit/>
          </a:bodyPr>
          <a:lstStyle/>
          <a:p>
            <a:r>
              <a:rPr lang="en-US" sz="2800" dirty="0">
                <a:solidFill>
                  <a:srgbClr val="C00000"/>
                </a:solidFill>
                <a:latin typeface="NewBaskervilleStd-Roman"/>
              </a:rPr>
              <a:t>Collisions in Multiple Dimensions </a:t>
            </a:r>
          </a:p>
        </p:txBody>
      </p:sp>
      <p:sp>
        <p:nvSpPr>
          <p:cNvPr id="6" name="Rectangle 5">
            <a:extLst>
              <a:ext uri="{FF2B5EF4-FFF2-40B4-BE49-F238E27FC236}">
                <a16:creationId xmlns:a16="http://schemas.microsoft.com/office/drawing/2014/main" id="{83E1CDF1-19A5-0843-9422-3F9B7AAD227C}"/>
              </a:ext>
            </a:extLst>
          </p:cNvPr>
          <p:cNvSpPr/>
          <p:nvPr/>
        </p:nvSpPr>
        <p:spPr>
          <a:xfrm>
            <a:off x="534547" y="61226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2" name="Rectangle 1">
            <a:extLst>
              <a:ext uri="{FF2B5EF4-FFF2-40B4-BE49-F238E27FC236}">
                <a16:creationId xmlns:a16="http://schemas.microsoft.com/office/drawing/2014/main" id="{CA7DEBD8-327B-5243-8E07-C46728B90FBC}"/>
              </a:ext>
            </a:extLst>
          </p:cNvPr>
          <p:cNvSpPr/>
          <p:nvPr/>
        </p:nvSpPr>
        <p:spPr>
          <a:xfrm>
            <a:off x="534547" y="996984"/>
            <a:ext cx="11218182" cy="1323439"/>
          </a:xfrm>
          <a:prstGeom prst="rect">
            <a:avLst/>
          </a:prstGeom>
        </p:spPr>
        <p:txBody>
          <a:bodyPr wrap="square">
            <a:spAutoFit/>
          </a:bodyPr>
          <a:lstStyle/>
          <a:p>
            <a:r>
              <a:rPr lang="en-US" sz="2000" b="1" dirty="0">
                <a:solidFill>
                  <a:srgbClr val="213866"/>
                </a:solidFill>
                <a:latin typeface="LiberationSans"/>
              </a:rPr>
              <a:t>Traffic Collision </a:t>
            </a:r>
            <a:endParaRPr lang="en-US" sz="2000" dirty="0"/>
          </a:p>
          <a:p>
            <a:r>
              <a:rPr lang="en-US" sz="2000" dirty="0">
                <a:latin typeface="LiberationSerif"/>
              </a:rPr>
              <a:t>A small car of mass 1200 kg traveling east at 60 km/</a:t>
            </a:r>
            <a:r>
              <a:rPr lang="en-US" sz="2000" dirty="0" err="1">
                <a:latin typeface="LiberationSerif"/>
              </a:rPr>
              <a:t>hr</a:t>
            </a:r>
            <a:r>
              <a:rPr lang="en-US" sz="2000" dirty="0">
                <a:latin typeface="LiberationSerif"/>
              </a:rPr>
              <a:t> collides at an intersection with a truck of mass 3000 kg that is traveling due north at 40 km/hr. The two vehicles are locked together. What is the velocity of the combined wreckage? </a:t>
            </a:r>
            <a:endParaRPr lang="en-US" sz="2000" dirty="0"/>
          </a:p>
        </p:txBody>
      </p:sp>
      <p:pic>
        <p:nvPicPr>
          <p:cNvPr id="7" name="Picture Placeholder 1" descr="An x y coordinate system is shown. A large truck mass m T = 3000 kilograms is moving north toward the origin with velocity v T. A small car mass m c = 1200 kilograms is moving east toward the origin with velocity v c, which is less than v T.">
            <a:extLst>
              <a:ext uri="{FF2B5EF4-FFF2-40B4-BE49-F238E27FC236}">
                <a16:creationId xmlns:a16="http://schemas.microsoft.com/office/drawing/2014/main" id="{4C2B1427-EB3D-BA40-BC1B-BD2A216405F6}"/>
              </a:ext>
            </a:extLst>
          </p:cNvPr>
          <p:cNvPicPr>
            <a:picLocks noChangeAspect="1"/>
          </p:cNvPicPr>
          <p:nvPr/>
        </p:nvPicPr>
        <p:blipFill>
          <a:blip r:embed="rId3" cstate="email">
            <a:extLst>
              <a:ext uri="{28A0092B-C50C-407E-A947-70E740481C1C}">
                <a14:useLocalDpi xmlns:a14="http://schemas.microsoft.com/office/drawing/2010/main" val="0"/>
              </a:ext>
            </a:extLst>
          </a:blip>
          <a:srcRect l="-53700" r="-53700"/>
          <a:stretch>
            <a:fillRect/>
          </a:stretch>
        </p:blipFill>
        <p:spPr>
          <a:xfrm>
            <a:off x="-1990165" y="2410665"/>
            <a:ext cx="9799293" cy="4253825"/>
          </a:xfrm>
          <a:prstGeom prst="rect">
            <a:avLst/>
          </a:prstGeom>
        </p:spPr>
      </p:pic>
      <p:sp>
        <p:nvSpPr>
          <p:cNvPr id="3" name="Rectangle 2">
            <a:extLst>
              <a:ext uri="{FF2B5EF4-FFF2-40B4-BE49-F238E27FC236}">
                <a16:creationId xmlns:a16="http://schemas.microsoft.com/office/drawing/2014/main" id="{01BFD275-7991-A145-8801-CBA3FB94E863}"/>
              </a:ext>
            </a:extLst>
          </p:cNvPr>
          <p:cNvSpPr/>
          <p:nvPr/>
        </p:nvSpPr>
        <p:spPr>
          <a:xfrm>
            <a:off x="5551706" y="2320423"/>
            <a:ext cx="4046942" cy="369332"/>
          </a:xfrm>
          <a:prstGeom prst="rect">
            <a:avLst/>
          </a:prstGeom>
        </p:spPr>
        <p:txBody>
          <a:bodyPr wrap="none">
            <a:spAutoFit/>
          </a:bodyPr>
          <a:lstStyle/>
          <a:p>
            <a:r>
              <a:rPr lang="en-US" i="1" dirty="0">
                <a:solidFill>
                  <a:srgbClr val="3B124D"/>
                </a:solidFill>
                <a:latin typeface="LiberationSerif"/>
              </a:rPr>
              <a:t>Before </a:t>
            </a:r>
            <a:r>
              <a:rPr lang="en-US" dirty="0">
                <a:solidFill>
                  <a:srgbClr val="3B124D"/>
                </a:solidFill>
                <a:latin typeface="LiberationSerif"/>
              </a:rPr>
              <a:t>the collision the total momentum </a:t>
            </a:r>
            <a:endParaRPr lang="en-US" dirty="0">
              <a:solidFill>
                <a:srgbClr val="3B124D"/>
              </a:solidFill>
            </a:endParaRPr>
          </a:p>
        </p:txBody>
      </p:sp>
      <p:sp>
        <p:nvSpPr>
          <p:cNvPr id="9" name="Rectangle 8">
            <a:extLst>
              <a:ext uri="{FF2B5EF4-FFF2-40B4-BE49-F238E27FC236}">
                <a16:creationId xmlns:a16="http://schemas.microsoft.com/office/drawing/2014/main" id="{2484D7BC-C203-5A4E-B2AB-DB8A6BB2940E}"/>
              </a:ext>
            </a:extLst>
          </p:cNvPr>
          <p:cNvSpPr/>
          <p:nvPr/>
        </p:nvSpPr>
        <p:spPr>
          <a:xfrm>
            <a:off x="5529295" y="2853823"/>
            <a:ext cx="4790670" cy="369332"/>
          </a:xfrm>
          <a:prstGeom prst="rect">
            <a:avLst/>
          </a:prstGeom>
        </p:spPr>
        <p:txBody>
          <a:bodyPr wrap="none">
            <a:spAutoFit/>
          </a:bodyPr>
          <a:lstStyle/>
          <a:p>
            <a:r>
              <a:rPr lang="en-US" i="1" dirty="0">
                <a:solidFill>
                  <a:srgbClr val="3B124D"/>
                </a:solidFill>
                <a:latin typeface="LiberationSerif"/>
              </a:rPr>
              <a:t>After </a:t>
            </a:r>
            <a:r>
              <a:rPr lang="en-US" dirty="0">
                <a:solidFill>
                  <a:srgbClr val="3B124D"/>
                </a:solidFill>
                <a:latin typeface="LiberationSerif"/>
              </a:rPr>
              <a:t>the collision, the wreckage has momentum </a:t>
            </a:r>
            <a:endParaRPr lang="en-US" dirty="0">
              <a:solidFill>
                <a:srgbClr val="3B124D"/>
              </a:solidFill>
            </a:endParaRPr>
          </a:p>
        </p:txBody>
      </p:sp>
      <p:pic>
        <p:nvPicPr>
          <p:cNvPr id="11" name="Picture 10" descr="A picture containing text, clock&#10;&#10;Description automatically generated">
            <a:extLst>
              <a:ext uri="{FF2B5EF4-FFF2-40B4-BE49-F238E27FC236}">
                <a16:creationId xmlns:a16="http://schemas.microsoft.com/office/drawing/2014/main" id="{581ED646-20ED-C94C-BA4C-7480CD9E8A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08124" y="2209557"/>
            <a:ext cx="2616200" cy="533400"/>
          </a:xfrm>
          <a:prstGeom prst="rect">
            <a:avLst/>
          </a:prstGeom>
        </p:spPr>
      </p:pic>
      <p:pic>
        <p:nvPicPr>
          <p:cNvPr id="13" name="Picture 12" descr="Diagram, schematic&#10;&#10;Description automatically generated">
            <a:extLst>
              <a:ext uri="{FF2B5EF4-FFF2-40B4-BE49-F238E27FC236}">
                <a16:creationId xmlns:a16="http://schemas.microsoft.com/office/drawing/2014/main" id="{441E830E-F561-1647-9B09-3713156BAB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03129" y="3224475"/>
            <a:ext cx="2286000" cy="457200"/>
          </a:xfrm>
          <a:prstGeom prst="rect">
            <a:avLst/>
          </a:prstGeom>
        </p:spPr>
      </p:pic>
      <p:sp>
        <p:nvSpPr>
          <p:cNvPr id="14" name="Rectangle 13">
            <a:extLst>
              <a:ext uri="{FF2B5EF4-FFF2-40B4-BE49-F238E27FC236}">
                <a16:creationId xmlns:a16="http://schemas.microsoft.com/office/drawing/2014/main" id="{1610F158-468C-A246-867C-2F777642D898}"/>
              </a:ext>
            </a:extLst>
          </p:cNvPr>
          <p:cNvSpPr/>
          <p:nvPr/>
        </p:nvSpPr>
        <p:spPr>
          <a:xfrm>
            <a:off x="5551706" y="3769684"/>
            <a:ext cx="5700150" cy="369332"/>
          </a:xfrm>
          <a:prstGeom prst="rect">
            <a:avLst/>
          </a:prstGeom>
        </p:spPr>
        <p:txBody>
          <a:bodyPr wrap="none">
            <a:spAutoFit/>
          </a:bodyPr>
          <a:lstStyle/>
          <a:p>
            <a:r>
              <a:rPr lang="en-US" dirty="0">
                <a:solidFill>
                  <a:srgbClr val="3B124D"/>
                </a:solidFill>
                <a:latin typeface="LiberationSerif"/>
              </a:rPr>
              <a:t>Since the system is closed, momentum must be conserved </a:t>
            </a:r>
            <a:endParaRPr lang="en-US" dirty="0">
              <a:solidFill>
                <a:srgbClr val="3B124D"/>
              </a:solidFill>
            </a:endParaRPr>
          </a:p>
        </p:txBody>
      </p:sp>
      <p:pic>
        <p:nvPicPr>
          <p:cNvPr id="16" name="Picture 15" descr="Diagram&#10;&#10;Description automatically generated with medium confidence">
            <a:extLst>
              <a:ext uri="{FF2B5EF4-FFF2-40B4-BE49-F238E27FC236}">
                <a16:creationId xmlns:a16="http://schemas.microsoft.com/office/drawing/2014/main" id="{50F47782-5B65-7849-9EB4-65818BF628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18650" y="4162772"/>
            <a:ext cx="3771900" cy="495300"/>
          </a:xfrm>
          <a:prstGeom prst="rect">
            <a:avLst/>
          </a:prstGeom>
        </p:spPr>
      </p:pic>
      <p:pic>
        <p:nvPicPr>
          <p:cNvPr id="17" name="Picture Placeholder 1" descr="Arrow p c points horizontally to the right. Arrow p t points vertically upward. The head of p t meets the tail of p c. P t is longer than p t. A dashed line is shown from the tail of p t to the head of p c. The angle between the dashed line and p t, at the tail of p t, is labeled as theta.">
            <a:extLst>
              <a:ext uri="{FF2B5EF4-FFF2-40B4-BE49-F238E27FC236}">
                <a16:creationId xmlns:a16="http://schemas.microsoft.com/office/drawing/2014/main" id="{77A67630-A090-5441-B1B9-BF4C7201C088}"/>
              </a:ext>
            </a:extLst>
          </p:cNvPr>
          <p:cNvPicPr>
            <a:picLocks noChangeAspect="1"/>
          </p:cNvPicPr>
          <p:nvPr/>
        </p:nvPicPr>
        <p:blipFill>
          <a:blip r:embed="rId7">
            <a:extLst>
              <a:ext uri="{28A0092B-C50C-407E-A947-70E740481C1C}">
                <a14:useLocalDpi xmlns:a14="http://schemas.microsoft.com/office/drawing/2010/main" val="0"/>
              </a:ext>
            </a:extLst>
          </a:blip>
          <a:srcRect l="-6549" r="-6549"/>
          <a:stretch>
            <a:fillRect/>
          </a:stretch>
        </p:blipFill>
        <p:spPr>
          <a:xfrm>
            <a:off x="5342492" y="4537577"/>
            <a:ext cx="1602292" cy="2088657"/>
          </a:xfrm>
          <a:prstGeom prst="rect">
            <a:avLst/>
          </a:prstGeom>
        </p:spPr>
      </p:pic>
      <p:pic>
        <p:nvPicPr>
          <p:cNvPr id="19" name="Picture 18" descr="Text&#10;&#10;Description automatically generated with medium confidence">
            <a:extLst>
              <a:ext uri="{FF2B5EF4-FFF2-40B4-BE49-F238E27FC236}">
                <a16:creationId xmlns:a16="http://schemas.microsoft.com/office/drawing/2014/main" id="{55EEBBF7-8C66-044C-BD5D-D67A46782D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18650" y="5236671"/>
            <a:ext cx="2730500" cy="1016000"/>
          </a:xfrm>
          <a:prstGeom prst="rect">
            <a:avLst/>
          </a:prstGeom>
        </p:spPr>
      </p:pic>
    </p:spTree>
    <p:extLst>
      <p:ext uri="{BB962C8B-B14F-4D97-AF65-F5344CB8AC3E}">
        <p14:creationId xmlns:p14="http://schemas.microsoft.com/office/powerpoint/2010/main" val="35270075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73479" y="89044"/>
            <a:ext cx="5645041" cy="523220"/>
          </a:xfrm>
          <a:prstGeom prst="rect">
            <a:avLst/>
          </a:prstGeom>
        </p:spPr>
        <p:txBody>
          <a:bodyPr wrap="square">
            <a:spAutoFit/>
          </a:bodyPr>
          <a:lstStyle/>
          <a:p>
            <a:r>
              <a:rPr lang="en-US" sz="2800" dirty="0">
                <a:solidFill>
                  <a:srgbClr val="C00000"/>
                </a:solidFill>
                <a:latin typeface="NewBaskervilleStd-Roman"/>
              </a:rPr>
              <a:t>Collisions in Multiple Dimensions </a:t>
            </a:r>
          </a:p>
        </p:txBody>
      </p:sp>
      <p:sp>
        <p:nvSpPr>
          <p:cNvPr id="6" name="Rectangle 5">
            <a:extLst>
              <a:ext uri="{FF2B5EF4-FFF2-40B4-BE49-F238E27FC236}">
                <a16:creationId xmlns:a16="http://schemas.microsoft.com/office/drawing/2014/main" id="{4CC8523E-480A-2B4C-A544-D3E3F608E47B}"/>
              </a:ext>
            </a:extLst>
          </p:cNvPr>
          <p:cNvSpPr/>
          <p:nvPr/>
        </p:nvSpPr>
        <p:spPr>
          <a:xfrm>
            <a:off x="534547" y="61226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7" name="Rectangle 6">
            <a:extLst>
              <a:ext uri="{FF2B5EF4-FFF2-40B4-BE49-F238E27FC236}">
                <a16:creationId xmlns:a16="http://schemas.microsoft.com/office/drawing/2014/main" id="{8F5FA714-C75E-C641-96F6-EF263E5CFB5F}"/>
              </a:ext>
            </a:extLst>
          </p:cNvPr>
          <p:cNvSpPr/>
          <p:nvPr/>
        </p:nvSpPr>
        <p:spPr>
          <a:xfrm>
            <a:off x="534547" y="996984"/>
            <a:ext cx="11218182" cy="1323439"/>
          </a:xfrm>
          <a:prstGeom prst="rect">
            <a:avLst/>
          </a:prstGeom>
        </p:spPr>
        <p:txBody>
          <a:bodyPr wrap="square">
            <a:spAutoFit/>
          </a:bodyPr>
          <a:lstStyle/>
          <a:p>
            <a:r>
              <a:rPr lang="en-US" sz="2000" b="1" dirty="0">
                <a:solidFill>
                  <a:srgbClr val="213866"/>
                </a:solidFill>
                <a:latin typeface="LiberationSans"/>
              </a:rPr>
              <a:t>Traffic Collision </a:t>
            </a:r>
            <a:endParaRPr lang="en-US" sz="2000" dirty="0"/>
          </a:p>
          <a:p>
            <a:r>
              <a:rPr lang="en-US" sz="2000" dirty="0">
                <a:latin typeface="LiberationSerif"/>
              </a:rPr>
              <a:t>A small car of mass 1200 kg traveling east at 60 km/</a:t>
            </a:r>
            <a:r>
              <a:rPr lang="en-US" sz="2000" dirty="0" err="1">
                <a:latin typeface="LiberationSerif"/>
              </a:rPr>
              <a:t>hr</a:t>
            </a:r>
            <a:r>
              <a:rPr lang="en-US" sz="2000" dirty="0">
                <a:latin typeface="LiberationSerif"/>
              </a:rPr>
              <a:t> collides at an intersection with a truck of mass 3000 kg that is traveling due north at 40 km/hr. The two vehicles are locked together. What is the velocity of the combined wreckage? </a:t>
            </a:r>
            <a:endParaRPr lang="en-US" sz="2000" dirty="0"/>
          </a:p>
        </p:txBody>
      </p:sp>
      <p:pic>
        <p:nvPicPr>
          <p:cNvPr id="8" name="Picture Placeholder 1" descr="An x y coordinate system is shown. A large truck mass m T = 3000 kilograms is moving north toward the origin with velocity v T. A small car mass m c = 1200 kilograms is moving east toward the origin with velocity v c, which is less than v T.">
            <a:extLst>
              <a:ext uri="{FF2B5EF4-FFF2-40B4-BE49-F238E27FC236}">
                <a16:creationId xmlns:a16="http://schemas.microsoft.com/office/drawing/2014/main" id="{A37CCFB9-8C92-6D44-8CFF-7B3FF2C825E7}"/>
              </a:ext>
            </a:extLst>
          </p:cNvPr>
          <p:cNvPicPr>
            <a:picLocks noChangeAspect="1"/>
          </p:cNvPicPr>
          <p:nvPr/>
        </p:nvPicPr>
        <p:blipFill>
          <a:blip r:embed="rId3" cstate="email">
            <a:extLst>
              <a:ext uri="{28A0092B-C50C-407E-A947-70E740481C1C}">
                <a14:useLocalDpi xmlns:a14="http://schemas.microsoft.com/office/drawing/2010/main" val="0"/>
              </a:ext>
            </a:extLst>
          </a:blip>
          <a:srcRect l="-53700" r="-53700"/>
          <a:stretch>
            <a:fillRect/>
          </a:stretch>
        </p:blipFill>
        <p:spPr>
          <a:xfrm>
            <a:off x="-1990165" y="2410665"/>
            <a:ext cx="9799293" cy="4253825"/>
          </a:xfrm>
          <a:prstGeom prst="rect">
            <a:avLst/>
          </a:prstGeom>
        </p:spPr>
      </p:pic>
      <p:sp>
        <p:nvSpPr>
          <p:cNvPr id="2" name="Rectangle 1">
            <a:extLst>
              <a:ext uri="{FF2B5EF4-FFF2-40B4-BE49-F238E27FC236}">
                <a16:creationId xmlns:a16="http://schemas.microsoft.com/office/drawing/2014/main" id="{F69FA2AE-290E-8745-A36F-2AB51718D139}"/>
              </a:ext>
            </a:extLst>
          </p:cNvPr>
          <p:cNvSpPr/>
          <p:nvPr/>
        </p:nvSpPr>
        <p:spPr>
          <a:xfrm>
            <a:off x="5553531" y="2703436"/>
            <a:ext cx="1903278" cy="369332"/>
          </a:xfrm>
          <a:prstGeom prst="rect">
            <a:avLst/>
          </a:prstGeom>
        </p:spPr>
        <p:txBody>
          <a:bodyPr wrap="none">
            <a:spAutoFit/>
          </a:bodyPr>
          <a:lstStyle/>
          <a:p>
            <a:r>
              <a:rPr lang="en-US" dirty="0">
                <a:solidFill>
                  <a:srgbClr val="3B124D"/>
                </a:solidFill>
                <a:latin typeface="LiberationSerif"/>
              </a:rPr>
              <a:t>in the </a:t>
            </a:r>
            <a:r>
              <a:rPr lang="en-US" i="1" dirty="0">
                <a:solidFill>
                  <a:srgbClr val="3B124D"/>
                </a:solidFill>
                <a:latin typeface="LiberationSerif"/>
              </a:rPr>
              <a:t>x</a:t>
            </a:r>
            <a:r>
              <a:rPr lang="en-US" dirty="0">
                <a:solidFill>
                  <a:srgbClr val="3B124D"/>
                </a:solidFill>
                <a:latin typeface="LiberationSerif"/>
              </a:rPr>
              <a:t>-direction: </a:t>
            </a:r>
            <a:endParaRPr lang="en-US" dirty="0">
              <a:solidFill>
                <a:srgbClr val="3B124D"/>
              </a:solidFill>
            </a:endParaRPr>
          </a:p>
        </p:txBody>
      </p:sp>
      <p:pic>
        <p:nvPicPr>
          <p:cNvPr id="9" name="Picture 8" descr="Diagram&#10;&#10;Description automatically generated with medium confidence">
            <a:extLst>
              <a:ext uri="{FF2B5EF4-FFF2-40B4-BE49-F238E27FC236}">
                <a16:creationId xmlns:a16="http://schemas.microsoft.com/office/drawing/2014/main" id="{7DF67087-60FC-FE4A-8445-077B24AE64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2570" y="2117894"/>
            <a:ext cx="3771900" cy="495300"/>
          </a:xfrm>
          <a:prstGeom prst="rect">
            <a:avLst/>
          </a:prstGeom>
        </p:spPr>
      </p:pic>
      <p:sp>
        <p:nvSpPr>
          <p:cNvPr id="3" name="Rectangle 2">
            <a:extLst>
              <a:ext uri="{FF2B5EF4-FFF2-40B4-BE49-F238E27FC236}">
                <a16:creationId xmlns:a16="http://schemas.microsoft.com/office/drawing/2014/main" id="{07FC131C-112F-C642-B02F-E7343A70F41F}"/>
              </a:ext>
            </a:extLst>
          </p:cNvPr>
          <p:cNvSpPr/>
          <p:nvPr/>
        </p:nvSpPr>
        <p:spPr>
          <a:xfrm>
            <a:off x="5553531" y="3917062"/>
            <a:ext cx="1843966" cy="369332"/>
          </a:xfrm>
          <a:prstGeom prst="rect">
            <a:avLst/>
          </a:prstGeom>
        </p:spPr>
        <p:txBody>
          <a:bodyPr wrap="none">
            <a:spAutoFit/>
          </a:bodyPr>
          <a:lstStyle/>
          <a:p>
            <a:r>
              <a:rPr lang="en-US" dirty="0">
                <a:solidFill>
                  <a:srgbClr val="3B124D"/>
                </a:solidFill>
                <a:latin typeface="LiberationSerif"/>
              </a:rPr>
              <a:t>in the </a:t>
            </a:r>
            <a:r>
              <a:rPr lang="en-US" i="1" dirty="0">
                <a:solidFill>
                  <a:srgbClr val="3B124D"/>
                </a:solidFill>
                <a:latin typeface="LiberationSerif"/>
              </a:rPr>
              <a:t>y</a:t>
            </a:r>
            <a:r>
              <a:rPr lang="en-US" dirty="0">
                <a:solidFill>
                  <a:srgbClr val="3B124D"/>
                </a:solidFill>
                <a:latin typeface="LiberationSerif"/>
              </a:rPr>
              <a:t>-direction:</a:t>
            </a:r>
            <a:endParaRPr lang="en-US" dirty="0">
              <a:solidFill>
                <a:srgbClr val="3B124D"/>
              </a:solidFill>
            </a:endParaRPr>
          </a:p>
        </p:txBody>
      </p:sp>
      <p:pic>
        <p:nvPicPr>
          <p:cNvPr id="11" name="Picture 10" descr="Diagram, text&#10;&#10;Description automatically generated">
            <a:extLst>
              <a:ext uri="{FF2B5EF4-FFF2-40B4-BE49-F238E27FC236}">
                <a16:creationId xmlns:a16="http://schemas.microsoft.com/office/drawing/2014/main" id="{E7E3B4B3-8C82-1841-AD48-57BD1D51A2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1370" y="2888102"/>
            <a:ext cx="2654300" cy="1041400"/>
          </a:xfrm>
          <a:prstGeom prst="rect">
            <a:avLst/>
          </a:prstGeom>
        </p:spPr>
      </p:pic>
      <p:pic>
        <p:nvPicPr>
          <p:cNvPr id="15" name="Picture 14" descr="Diagram, text&#10;&#10;Description automatically generated">
            <a:extLst>
              <a:ext uri="{FF2B5EF4-FFF2-40B4-BE49-F238E27FC236}">
                <a16:creationId xmlns:a16="http://schemas.microsoft.com/office/drawing/2014/main" id="{EB1CF4D6-4DDD-E241-843D-C9B1A55BDB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1370" y="4286394"/>
            <a:ext cx="2755900" cy="1041400"/>
          </a:xfrm>
          <a:prstGeom prst="rect">
            <a:avLst/>
          </a:prstGeom>
        </p:spPr>
      </p:pic>
      <p:sp>
        <p:nvSpPr>
          <p:cNvPr id="16" name="Rectangle 15">
            <a:extLst>
              <a:ext uri="{FF2B5EF4-FFF2-40B4-BE49-F238E27FC236}">
                <a16:creationId xmlns:a16="http://schemas.microsoft.com/office/drawing/2014/main" id="{9EE75EF1-6FF4-ED4B-8B82-BE082D78748D}"/>
              </a:ext>
            </a:extLst>
          </p:cNvPr>
          <p:cNvSpPr/>
          <p:nvPr/>
        </p:nvSpPr>
        <p:spPr>
          <a:xfrm>
            <a:off x="5553531" y="5418036"/>
            <a:ext cx="4051750" cy="369332"/>
          </a:xfrm>
          <a:prstGeom prst="rect">
            <a:avLst/>
          </a:prstGeom>
        </p:spPr>
        <p:txBody>
          <a:bodyPr wrap="none">
            <a:spAutoFit/>
          </a:bodyPr>
          <a:lstStyle/>
          <a:p>
            <a:r>
              <a:rPr lang="en-US" dirty="0">
                <a:solidFill>
                  <a:srgbClr val="3B124D"/>
                </a:solidFill>
                <a:latin typeface="LiberationSerif"/>
              </a:rPr>
              <a:t>Applying the Pythagorean theorem gives </a:t>
            </a:r>
            <a:endParaRPr lang="en-US" dirty="0">
              <a:solidFill>
                <a:srgbClr val="3B124D"/>
              </a:solidFill>
            </a:endParaRPr>
          </a:p>
        </p:txBody>
      </p:sp>
      <p:pic>
        <p:nvPicPr>
          <p:cNvPr id="18" name="Picture 17" descr="Diagram, schematic&#10;&#10;Description automatically generated">
            <a:extLst>
              <a:ext uri="{FF2B5EF4-FFF2-40B4-BE49-F238E27FC236}">
                <a16:creationId xmlns:a16="http://schemas.microsoft.com/office/drawing/2014/main" id="{11BB7715-CA1D-4F43-A639-F458BE19BC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18378" y="5807586"/>
            <a:ext cx="4381500" cy="876300"/>
          </a:xfrm>
          <a:prstGeom prst="rect">
            <a:avLst/>
          </a:prstGeom>
        </p:spPr>
      </p:pic>
      <p:pic>
        <p:nvPicPr>
          <p:cNvPr id="20" name="Picture 19" descr="Text&#10;&#10;Description automatically generated with low confidence">
            <a:extLst>
              <a:ext uri="{FF2B5EF4-FFF2-40B4-BE49-F238E27FC236}">
                <a16:creationId xmlns:a16="http://schemas.microsoft.com/office/drawing/2014/main" id="{939EE12C-41CB-5342-913F-0410C779E00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37491" y="5947286"/>
            <a:ext cx="1689100" cy="596900"/>
          </a:xfrm>
          <a:prstGeom prst="rect">
            <a:avLst/>
          </a:prstGeom>
        </p:spPr>
      </p:pic>
    </p:spTree>
    <p:extLst>
      <p:ext uri="{BB962C8B-B14F-4D97-AF65-F5344CB8AC3E}">
        <p14:creationId xmlns:p14="http://schemas.microsoft.com/office/powerpoint/2010/main" val="11095192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73479" y="89044"/>
            <a:ext cx="5645041" cy="523220"/>
          </a:xfrm>
          <a:prstGeom prst="rect">
            <a:avLst/>
          </a:prstGeom>
        </p:spPr>
        <p:txBody>
          <a:bodyPr wrap="square">
            <a:spAutoFit/>
          </a:bodyPr>
          <a:lstStyle/>
          <a:p>
            <a:r>
              <a:rPr lang="en-US" sz="2800" dirty="0">
                <a:solidFill>
                  <a:srgbClr val="C00000"/>
                </a:solidFill>
                <a:latin typeface="NewBaskervilleStd-Roman"/>
              </a:rPr>
              <a:t>Collisions in Multiple Dimensions </a:t>
            </a:r>
          </a:p>
        </p:txBody>
      </p:sp>
      <p:sp>
        <p:nvSpPr>
          <p:cNvPr id="6" name="Rectangle 5">
            <a:extLst>
              <a:ext uri="{FF2B5EF4-FFF2-40B4-BE49-F238E27FC236}">
                <a16:creationId xmlns:a16="http://schemas.microsoft.com/office/drawing/2014/main" id="{4CC8523E-480A-2B4C-A544-D3E3F608E47B}"/>
              </a:ext>
            </a:extLst>
          </p:cNvPr>
          <p:cNvSpPr/>
          <p:nvPr/>
        </p:nvSpPr>
        <p:spPr>
          <a:xfrm>
            <a:off x="534547" y="61226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7" name="Rectangle 6">
            <a:extLst>
              <a:ext uri="{FF2B5EF4-FFF2-40B4-BE49-F238E27FC236}">
                <a16:creationId xmlns:a16="http://schemas.microsoft.com/office/drawing/2014/main" id="{8F5FA714-C75E-C641-96F6-EF263E5CFB5F}"/>
              </a:ext>
            </a:extLst>
          </p:cNvPr>
          <p:cNvSpPr/>
          <p:nvPr/>
        </p:nvSpPr>
        <p:spPr>
          <a:xfrm>
            <a:off x="534547" y="996984"/>
            <a:ext cx="11218182" cy="1323439"/>
          </a:xfrm>
          <a:prstGeom prst="rect">
            <a:avLst/>
          </a:prstGeom>
        </p:spPr>
        <p:txBody>
          <a:bodyPr wrap="square">
            <a:spAutoFit/>
          </a:bodyPr>
          <a:lstStyle/>
          <a:p>
            <a:r>
              <a:rPr lang="en-US" sz="2000" b="1" dirty="0">
                <a:solidFill>
                  <a:srgbClr val="213866"/>
                </a:solidFill>
                <a:latin typeface="LiberationSans"/>
              </a:rPr>
              <a:t>Traffic Collision </a:t>
            </a:r>
            <a:endParaRPr lang="en-US" sz="2000" dirty="0"/>
          </a:p>
          <a:p>
            <a:r>
              <a:rPr lang="en-US" sz="2000" dirty="0">
                <a:latin typeface="LiberationSerif"/>
              </a:rPr>
              <a:t>A small car of mass 1200 kg traveling east at 60 km/</a:t>
            </a:r>
            <a:r>
              <a:rPr lang="en-US" sz="2000" dirty="0" err="1">
                <a:latin typeface="LiberationSerif"/>
              </a:rPr>
              <a:t>hr</a:t>
            </a:r>
            <a:r>
              <a:rPr lang="en-US" sz="2000" dirty="0">
                <a:latin typeface="LiberationSerif"/>
              </a:rPr>
              <a:t> collides at an intersection with a truck of mass 3000 kg that is traveling due north at 40 km/hr. The two vehicles are locked together. What is the velocity of the combined wreckage? </a:t>
            </a:r>
            <a:endParaRPr lang="en-US" sz="2000" dirty="0"/>
          </a:p>
        </p:txBody>
      </p:sp>
      <p:pic>
        <p:nvPicPr>
          <p:cNvPr id="8" name="Picture Placeholder 1" descr="An x y coordinate system is shown. A large truck mass m T = 3000 kilograms is moving north toward the origin with velocity v T. A small car mass m c = 1200 kilograms is moving east toward the origin with velocity v c, which is less than v T.">
            <a:extLst>
              <a:ext uri="{FF2B5EF4-FFF2-40B4-BE49-F238E27FC236}">
                <a16:creationId xmlns:a16="http://schemas.microsoft.com/office/drawing/2014/main" id="{A37CCFB9-8C92-6D44-8CFF-7B3FF2C825E7}"/>
              </a:ext>
            </a:extLst>
          </p:cNvPr>
          <p:cNvPicPr>
            <a:picLocks noChangeAspect="1"/>
          </p:cNvPicPr>
          <p:nvPr/>
        </p:nvPicPr>
        <p:blipFill>
          <a:blip r:embed="rId3" cstate="email">
            <a:extLst>
              <a:ext uri="{28A0092B-C50C-407E-A947-70E740481C1C}">
                <a14:useLocalDpi xmlns:a14="http://schemas.microsoft.com/office/drawing/2010/main" val="0"/>
              </a:ext>
            </a:extLst>
          </a:blip>
          <a:srcRect l="-53700" r="-53700"/>
          <a:stretch>
            <a:fillRect/>
          </a:stretch>
        </p:blipFill>
        <p:spPr>
          <a:xfrm>
            <a:off x="-1990165" y="2410665"/>
            <a:ext cx="9799293" cy="4253825"/>
          </a:xfrm>
          <a:prstGeom prst="rect">
            <a:avLst/>
          </a:prstGeom>
        </p:spPr>
      </p:pic>
      <p:pic>
        <p:nvPicPr>
          <p:cNvPr id="17" name="Picture 16" descr="Diagram, text&#10;&#10;Description automatically generated">
            <a:extLst>
              <a:ext uri="{FF2B5EF4-FFF2-40B4-BE49-F238E27FC236}">
                <a16:creationId xmlns:a16="http://schemas.microsoft.com/office/drawing/2014/main" id="{E4B8DAF0-2367-6D4F-BFF0-C0FA3E2AB2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8378" y="2109469"/>
            <a:ext cx="2654300" cy="1041400"/>
          </a:xfrm>
          <a:prstGeom prst="rect">
            <a:avLst/>
          </a:prstGeom>
        </p:spPr>
      </p:pic>
      <p:pic>
        <p:nvPicPr>
          <p:cNvPr id="19" name="Picture 18" descr="Diagram, text&#10;&#10;Description automatically generated">
            <a:extLst>
              <a:ext uri="{FF2B5EF4-FFF2-40B4-BE49-F238E27FC236}">
                <a16:creationId xmlns:a16="http://schemas.microsoft.com/office/drawing/2014/main" id="{50EC2D1D-81FB-5E48-ACD7-A1508773FA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1928" y="2109469"/>
            <a:ext cx="2755900" cy="1041400"/>
          </a:xfrm>
          <a:prstGeom prst="rect">
            <a:avLst/>
          </a:prstGeom>
        </p:spPr>
      </p:pic>
      <p:pic>
        <p:nvPicPr>
          <p:cNvPr id="12" name="Picture 11" descr="Text&#10;&#10;Description automatically generated">
            <a:extLst>
              <a:ext uri="{FF2B5EF4-FFF2-40B4-BE49-F238E27FC236}">
                <a16:creationId xmlns:a16="http://schemas.microsoft.com/office/drawing/2014/main" id="{DE629618-EF49-4C47-937D-DCE87AED08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89816" y="3270216"/>
            <a:ext cx="5715000" cy="2590800"/>
          </a:xfrm>
          <a:prstGeom prst="rect">
            <a:avLst/>
          </a:prstGeom>
        </p:spPr>
      </p:pic>
      <p:pic>
        <p:nvPicPr>
          <p:cNvPr id="14" name="Picture 13" descr="A picture containing text&#10;&#10;Description automatically generated">
            <a:extLst>
              <a:ext uri="{FF2B5EF4-FFF2-40B4-BE49-F238E27FC236}">
                <a16:creationId xmlns:a16="http://schemas.microsoft.com/office/drawing/2014/main" id="{917915CC-D22A-2A48-85DF-6E862E330D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9816" y="5965368"/>
            <a:ext cx="4203700" cy="596900"/>
          </a:xfrm>
          <a:prstGeom prst="rect">
            <a:avLst/>
          </a:prstGeom>
        </p:spPr>
      </p:pic>
    </p:spTree>
    <p:extLst>
      <p:ext uri="{BB962C8B-B14F-4D97-AF65-F5344CB8AC3E}">
        <p14:creationId xmlns:p14="http://schemas.microsoft.com/office/powerpoint/2010/main" val="45716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273479" y="89044"/>
            <a:ext cx="5645041" cy="523220"/>
          </a:xfrm>
          <a:prstGeom prst="rect">
            <a:avLst/>
          </a:prstGeom>
        </p:spPr>
        <p:txBody>
          <a:bodyPr wrap="square">
            <a:spAutoFit/>
          </a:bodyPr>
          <a:lstStyle/>
          <a:p>
            <a:r>
              <a:rPr lang="en-US" sz="2800" dirty="0">
                <a:solidFill>
                  <a:srgbClr val="C00000"/>
                </a:solidFill>
                <a:latin typeface="NewBaskervilleStd-Roman"/>
              </a:rPr>
              <a:t>Collisions in Multiple Dimensions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C5A12C9-2646-9744-8223-DBAD4F05F45C}"/>
                  </a:ext>
                </a:extLst>
              </p:cNvPr>
              <p:cNvSpPr txBox="1"/>
              <p:nvPr/>
            </p:nvSpPr>
            <p:spPr>
              <a:xfrm>
                <a:off x="3396460" y="612264"/>
                <a:ext cx="4960012" cy="465384"/>
              </a:xfrm>
              <a:prstGeom prst="rect">
                <a:avLst/>
              </a:prstGeom>
              <a:noFill/>
            </p:spPr>
            <p:txBody>
              <a:bodyPr wrap="none" lIns="0" tIns="0" rIns="0" bIns="0" rtlCol="0">
                <a:spAutoFit/>
              </a:bodyPr>
              <a:lstStyle/>
              <a:p>
                <a14:m>
                  <m:oMath xmlns:m="http://schemas.openxmlformats.org/officeDocument/2006/math">
                    <m:sSub>
                      <m:sSubPr>
                        <m:ctrlPr>
                          <a:rPr lang="en-US" sz="2800" i="1" smtClean="0">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1</m:t>
                        </m:r>
                      </m:sub>
                    </m:sSub>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i="1">
                            <a:solidFill>
                              <a:srgbClr val="3B124D"/>
                            </a:solidFill>
                            <a:latin typeface="Cambria Math" panose="02040503050406030204" pitchFamily="18" charset="0"/>
                          </a:rPr>
                          <m:t>1</m:t>
                        </m:r>
                        <m:r>
                          <a:rPr lang="en-US" sz="2800" b="0" i="1" smtClean="0">
                            <a:solidFill>
                              <a:srgbClr val="3B124D"/>
                            </a:solidFill>
                            <a:latin typeface="Cambria Math" panose="02040503050406030204" pitchFamily="18" charset="0"/>
                          </a:rPr>
                          <m:t>𝑖</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2</m:t>
                        </m:r>
                      </m:sub>
                    </m:sSub>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b="0" i="1" smtClean="0">
                            <a:solidFill>
                              <a:srgbClr val="3B124D"/>
                            </a:solidFill>
                            <a:latin typeface="Cambria Math" panose="02040503050406030204" pitchFamily="18" charset="0"/>
                          </a:rPr>
                          <m:t>2</m:t>
                        </m:r>
                        <m:r>
                          <a:rPr lang="en-US" sz="2800" b="0" i="1" smtClean="0">
                            <a:solidFill>
                              <a:srgbClr val="3B124D"/>
                            </a:solidFill>
                            <a:latin typeface="Cambria Math" panose="02040503050406030204" pitchFamily="18" charset="0"/>
                          </a:rPr>
                          <m:t>𝑖</m:t>
                        </m:r>
                      </m:sub>
                    </m:sSub>
                    <m:r>
                      <a:rPr lang="en-US" sz="2800" b="0" i="1" smtClean="0">
                        <a:solidFill>
                          <a:srgbClr val="3B124D"/>
                        </a:solidFill>
                        <a:latin typeface="Cambria Math" panose="02040503050406030204" pitchFamily="18" charset="0"/>
                      </a:rPr>
                      <m:t>=</m:t>
                    </m:r>
                    <m:sSub>
                      <m:sSubPr>
                        <m:ctrlPr>
                          <a:rPr lang="en-US" sz="2800" i="1" smtClean="0">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i="1">
                            <a:solidFill>
                              <a:srgbClr val="3B124D"/>
                            </a:solidFill>
                            <a:latin typeface="Cambria Math" panose="02040503050406030204" pitchFamily="18" charset="0"/>
                          </a:rPr>
                          <m:t>1</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i="1">
                            <a:solidFill>
                              <a:srgbClr val="3B124D"/>
                            </a:solidFill>
                            <a:latin typeface="Cambria Math" panose="02040503050406030204" pitchFamily="18" charset="0"/>
                          </a:rPr>
                          <m:t>1</m:t>
                        </m:r>
                        <m:r>
                          <a:rPr lang="en-US" sz="2800" b="0" i="1" smtClean="0">
                            <a:solidFill>
                              <a:srgbClr val="3B124D"/>
                            </a:solidFill>
                            <a:latin typeface="Cambria Math" panose="02040503050406030204" pitchFamily="18" charset="0"/>
                          </a:rPr>
                          <m:t>𝑓</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i="1">
                            <a:solidFill>
                              <a:srgbClr val="3B124D"/>
                            </a:solidFill>
                            <a:latin typeface="Cambria Math" panose="02040503050406030204" pitchFamily="18" charset="0"/>
                          </a:rPr>
                          <m:t>𝑚</m:t>
                        </m:r>
                      </m:e>
                      <m:sub>
                        <m:r>
                          <a:rPr lang="en-US" sz="2800" b="0" i="1" smtClean="0">
                            <a:solidFill>
                              <a:srgbClr val="3B124D"/>
                            </a:solidFill>
                            <a:latin typeface="Cambria Math" panose="02040503050406030204" pitchFamily="18" charset="0"/>
                          </a:rPr>
                          <m:t>2</m:t>
                        </m:r>
                      </m:sub>
                    </m:sSub>
                  </m:oMath>
                </a14:m>
                <a:r>
                  <a:rPr lang="en-US" sz="2800" dirty="0">
                    <a:solidFill>
                      <a:srgbClr val="3B124D"/>
                    </a:solidFill>
                  </a:rPr>
                  <a:t> </a:t>
                </a:r>
                <a14:m>
                  <m:oMath xmlns:m="http://schemas.openxmlformats.org/officeDocument/2006/math">
                    <m:sSub>
                      <m:sSubPr>
                        <m:ctrlPr>
                          <a:rPr lang="en-US" sz="2800" i="1">
                            <a:solidFill>
                              <a:srgbClr val="3B124D"/>
                            </a:solidFill>
                            <a:latin typeface="Cambria Math" panose="02040503050406030204" pitchFamily="18" charset="0"/>
                          </a:rPr>
                        </m:ctrlPr>
                      </m:sSubPr>
                      <m:e>
                        <m:r>
                          <a:rPr lang="en-US" sz="2800" b="0" i="1" smtClean="0">
                            <a:solidFill>
                              <a:srgbClr val="3B124D"/>
                            </a:solidFill>
                            <a:latin typeface="Cambria Math" panose="02040503050406030204" pitchFamily="18" charset="0"/>
                          </a:rPr>
                          <m:t>𝑣</m:t>
                        </m:r>
                      </m:e>
                      <m:sub>
                        <m:r>
                          <a:rPr lang="en-US" sz="2800" b="0" i="1" smtClean="0">
                            <a:solidFill>
                              <a:srgbClr val="3B124D"/>
                            </a:solidFill>
                            <a:latin typeface="Cambria Math" panose="02040503050406030204" pitchFamily="18" charset="0"/>
                          </a:rPr>
                          <m:t>2</m:t>
                        </m:r>
                        <m:r>
                          <a:rPr lang="en-US" sz="2800" b="0" i="1" smtClean="0">
                            <a:solidFill>
                              <a:srgbClr val="3B124D"/>
                            </a:solidFill>
                            <a:latin typeface="Cambria Math" panose="02040503050406030204" pitchFamily="18" charset="0"/>
                          </a:rPr>
                          <m:t>𝑓</m:t>
                        </m:r>
                      </m:sub>
                    </m:sSub>
                  </m:oMath>
                </a14:m>
                <a:endParaRPr lang="en-US" sz="2800" dirty="0">
                  <a:solidFill>
                    <a:srgbClr val="3B124D"/>
                  </a:solidFill>
                </a:endParaRPr>
              </a:p>
            </p:txBody>
          </p:sp>
        </mc:Choice>
        <mc:Fallback xmlns="">
          <p:sp>
            <p:nvSpPr>
              <p:cNvPr id="6" name="TextBox 5">
                <a:extLst>
                  <a:ext uri="{FF2B5EF4-FFF2-40B4-BE49-F238E27FC236}">
                    <a16:creationId xmlns:a16="http://schemas.microsoft.com/office/drawing/2014/main" id="{5C5A12C9-2646-9744-8223-DBAD4F05F45C}"/>
                  </a:ext>
                </a:extLst>
              </p:cNvPr>
              <p:cNvSpPr txBox="1">
                <a:spLocks noRot="1" noChangeAspect="1" noMove="1" noResize="1" noEditPoints="1" noAdjustHandles="1" noChangeArrowheads="1" noChangeShapeType="1" noTextEdit="1"/>
              </p:cNvSpPr>
              <p:nvPr/>
            </p:nvSpPr>
            <p:spPr>
              <a:xfrm>
                <a:off x="3396460" y="612264"/>
                <a:ext cx="4960012" cy="465384"/>
              </a:xfrm>
              <a:prstGeom prst="rect">
                <a:avLst/>
              </a:prstGeom>
              <a:blipFill>
                <a:blip r:embed="rId3"/>
                <a:stretch>
                  <a:fillRect l="-1786" t="-21622" r="-765" b="-40541"/>
                </a:stretch>
              </a:blipFill>
            </p:spPr>
            <p:txBody>
              <a:bodyPr/>
              <a:lstStyle/>
              <a:p>
                <a:r>
                  <a:rPr lang="en-US">
                    <a:noFill/>
                  </a:rPr>
                  <a:t> </a:t>
                </a:r>
              </a:p>
            </p:txBody>
          </p:sp>
        </mc:Fallback>
      </mc:AlternateContent>
      <p:pic>
        <p:nvPicPr>
          <p:cNvPr id="3" name="Picture 2" descr="Text&#10;&#10;Description automatically generated">
            <a:extLst>
              <a:ext uri="{FF2B5EF4-FFF2-40B4-BE49-F238E27FC236}">
                <a16:creationId xmlns:a16="http://schemas.microsoft.com/office/drawing/2014/main" id="{6F900138-AAB5-2643-B0C9-206913481B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145" y="1600200"/>
            <a:ext cx="8289235" cy="3657600"/>
          </a:xfrm>
          <a:prstGeom prst="rect">
            <a:avLst/>
          </a:prstGeom>
        </p:spPr>
      </p:pic>
      <p:sp>
        <p:nvSpPr>
          <p:cNvPr id="7" name="Rectangle 6">
            <a:extLst>
              <a:ext uri="{FF2B5EF4-FFF2-40B4-BE49-F238E27FC236}">
                <a16:creationId xmlns:a16="http://schemas.microsoft.com/office/drawing/2014/main" id="{B8FEE224-483B-5943-B223-0C73EF1A6DF0}"/>
              </a:ext>
            </a:extLst>
          </p:cNvPr>
          <p:cNvSpPr/>
          <p:nvPr/>
        </p:nvSpPr>
        <p:spPr>
          <a:xfrm>
            <a:off x="503145" y="1215479"/>
            <a:ext cx="10989643" cy="769441"/>
          </a:xfrm>
          <a:prstGeom prst="rect">
            <a:avLst/>
          </a:prstGeom>
        </p:spPr>
        <p:txBody>
          <a:bodyPr wrap="square">
            <a:spAutoFit/>
          </a:bodyPr>
          <a:lstStyle/>
          <a:p>
            <a:r>
              <a:rPr lang="en-US" sz="2200" dirty="0">
                <a:solidFill>
                  <a:srgbClr val="0000CC"/>
                </a:solidFill>
              </a:rPr>
              <a:t>Assignment 3</a:t>
            </a:r>
          </a:p>
          <a:p>
            <a:endParaRPr lang="en-US" sz="2200" dirty="0">
              <a:solidFill>
                <a:srgbClr val="0000CC"/>
              </a:solidFill>
            </a:endParaRPr>
          </a:p>
        </p:txBody>
      </p:sp>
      <p:cxnSp>
        <p:nvCxnSpPr>
          <p:cNvPr id="9" name="Straight Arrow Connector 8">
            <a:extLst>
              <a:ext uri="{FF2B5EF4-FFF2-40B4-BE49-F238E27FC236}">
                <a16:creationId xmlns:a16="http://schemas.microsoft.com/office/drawing/2014/main" id="{A5305416-D594-AD4D-B4C2-03434EFB84A4}"/>
              </a:ext>
            </a:extLst>
          </p:cNvPr>
          <p:cNvCxnSpPr/>
          <p:nvPr/>
        </p:nvCxnSpPr>
        <p:spPr>
          <a:xfrm>
            <a:off x="4647762" y="5674659"/>
            <a:ext cx="1995085"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1" name="Straight Arrow Connector 10">
            <a:extLst>
              <a:ext uri="{FF2B5EF4-FFF2-40B4-BE49-F238E27FC236}">
                <a16:creationId xmlns:a16="http://schemas.microsoft.com/office/drawing/2014/main" id="{859FE2AA-0100-C341-B11C-71140C8116DD}"/>
              </a:ext>
            </a:extLst>
          </p:cNvPr>
          <p:cNvCxnSpPr>
            <a:cxnSpLocks/>
          </p:cNvCxnSpPr>
          <p:nvPr/>
        </p:nvCxnSpPr>
        <p:spPr>
          <a:xfrm flipV="1">
            <a:off x="4894729" y="5741894"/>
            <a:ext cx="1734671" cy="56393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E39C8EB-E557-8649-AD4C-314F58C73F85}"/>
                  </a:ext>
                </a:extLst>
              </p:cNvPr>
              <p:cNvSpPr/>
              <p:nvPr/>
            </p:nvSpPr>
            <p:spPr>
              <a:xfrm>
                <a:off x="5269439" y="5325034"/>
                <a:ext cx="5335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𝑚</m:t>
                          </m:r>
                        </m:e>
                        <m:sub>
                          <m:r>
                            <a:rPr lang="en-US" i="1">
                              <a:solidFill>
                                <a:srgbClr val="C00000"/>
                              </a:solidFill>
                              <a:latin typeface="Cambria Math" panose="02040503050406030204" pitchFamily="18" charset="0"/>
                            </a:rPr>
                            <m:t>1</m:t>
                          </m:r>
                        </m:sub>
                      </m:sSub>
                    </m:oMath>
                  </m:oMathPara>
                </a14:m>
                <a:endParaRPr lang="en-US" dirty="0">
                  <a:solidFill>
                    <a:srgbClr val="C00000"/>
                  </a:solidFill>
                </a:endParaRPr>
              </a:p>
            </p:txBody>
          </p:sp>
        </mc:Choice>
        <mc:Fallback xmlns="">
          <p:sp>
            <p:nvSpPr>
              <p:cNvPr id="13" name="Rectangle 12">
                <a:extLst>
                  <a:ext uri="{FF2B5EF4-FFF2-40B4-BE49-F238E27FC236}">
                    <a16:creationId xmlns:a16="http://schemas.microsoft.com/office/drawing/2014/main" id="{3E39C8EB-E557-8649-AD4C-314F58C73F85}"/>
                  </a:ext>
                </a:extLst>
              </p:cNvPr>
              <p:cNvSpPr>
                <a:spLocks noRot="1" noChangeAspect="1" noMove="1" noResize="1" noEditPoints="1" noAdjustHandles="1" noChangeArrowheads="1" noChangeShapeType="1" noTextEdit="1"/>
              </p:cNvSpPr>
              <p:nvPr/>
            </p:nvSpPr>
            <p:spPr>
              <a:xfrm>
                <a:off x="5269439" y="5325034"/>
                <a:ext cx="53354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717D9C64-81B4-E24F-A483-7B1C1CBD171B}"/>
                  </a:ext>
                </a:extLst>
              </p:cNvPr>
              <p:cNvSpPr/>
              <p:nvPr/>
            </p:nvSpPr>
            <p:spPr>
              <a:xfrm>
                <a:off x="5492631" y="6023860"/>
                <a:ext cx="538865" cy="369332"/>
              </a:xfrm>
              <a:prstGeom prst="rect">
                <a:avLst/>
              </a:prstGeom>
            </p:spPr>
            <p:txBody>
              <a:bodyPr wrap="none">
                <a:spAutoFit/>
              </a:bodyPr>
              <a:lstStyle/>
              <a:p>
                <a14:m>
                  <m:oMath xmlns:m="http://schemas.openxmlformats.org/officeDocument/2006/math">
                    <m:sSub>
                      <m:sSubPr>
                        <m:ctrlPr>
                          <a:rPr lang="en-US" i="1" smtClean="0">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𝑚</m:t>
                        </m:r>
                      </m:e>
                      <m:sub>
                        <m:r>
                          <a:rPr lang="en-US" i="1">
                            <a:solidFill>
                              <a:schemeClr val="accent1"/>
                            </a:solidFill>
                            <a:latin typeface="Cambria Math" panose="02040503050406030204" pitchFamily="18" charset="0"/>
                          </a:rPr>
                          <m:t>2</m:t>
                        </m:r>
                      </m:sub>
                    </m:sSub>
                  </m:oMath>
                </a14:m>
                <a:r>
                  <a:rPr lang="en-US" dirty="0">
                    <a:solidFill>
                      <a:schemeClr val="accent1"/>
                    </a:solidFill>
                  </a:rPr>
                  <a:t> </a:t>
                </a:r>
              </a:p>
            </p:txBody>
          </p:sp>
        </mc:Choice>
        <mc:Fallback xmlns="">
          <p:sp>
            <p:nvSpPr>
              <p:cNvPr id="14" name="Rectangle 13">
                <a:extLst>
                  <a:ext uri="{FF2B5EF4-FFF2-40B4-BE49-F238E27FC236}">
                    <a16:creationId xmlns:a16="http://schemas.microsoft.com/office/drawing/2014/main" id="{717D9C64-81B4-E24F-A483-7B1C1CBD171B}"/>
                  </a:ext>
                </a:extLst>
              </p:cNvPr>
              <p:cNvSpPr>
                <a:spLocks noRot="1" noChangeAspect="1" noMove="1" noResize="1" noEditPoints="1" noAdjustHandles="1" noChangeArrowheads="1" noChangeShapeType="1" noTextEdit="1"/>
              </p:cNvSpPr>
              <p:nvPr/>
            </p:nvSpPr>
            <p:spPr>
              <a:xfrm>
                <a:off x="5492631" y="6023860"/>
                <a:ext cx="538865" cy="369332"/>
              </a:xfrm>
              <a:prstGeom prst="rect">
                <a:avLst/>
              </a:prstGeom>
              <a:blipFill>
                <a:blip r:embed="rId6"/>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A8AD79C1-5BDA-794C-B59A-0259C1BF50FE}"/>
              </a:ext>
            </a:extLst>
          </p:cNvPr>
          <p:cNvCxnSpPr/>
          <p:nvPr/>
        </p:nvCxnSpPr>
        <p:spPr>
          <a:xfrm>
            <a:off x="9497703" y="5867400"/>
            <a:ext cx="1995085"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9B908631-8D13-6148-86AF-5F5CE0957487}"/>
                  </a:ext>
                </a:extLst>
              </p:cNvPr>
              <p:cNvSpPr/>
              <p:nvPr/>
            </p:nvSpPr>
            <p:spPr>
              <a:xfrm>
                <a:off x="10807777" y="5534815"/>
                <a:ext cx="5335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𝑚</m:t>
                          </m:r>
                        </m:e>
                        <m:sub>
                          <m:r>
                            <a:rPr lang="en-US" i="1">
                              <a:solidFill>
                                <a:srgbClr val="C00000"/>
                              </a:solidFill>
                              <a:latin typeface="Cambria Math" panose="02040503050406030204" pitchFamily="18" charset="0"/>
                            </a:rPr>
                            <m:t>1</m:t>
                          </m:r>
                        </m:sub>
                      </m:sSub>
                    </m:oMath>
                  </m:oMathPara>
                </a14:m>
                <a:endParaRPr lang="en-US" dirty="0">
                  <a:solidFill>
                    <a:srgbClr val="C00000"/>
                  </a:solidFill>
                </a:endParaRPr>
              </a:p>
            </p:txBody>
          </p:sp>
        </mc:Choice>
        <mc:Fallback xmlns="">
          <p:sp>
            <p:nvSpPr>
              <p:cNvPr id="16" name="Rectangle 15">
                <a:extLst>
                  <a:ext uri="{FF2B5EF4-FFF2-40B4-BE49-F238E27FC236}">
                    <a16:creationId xmlns:a16="http://schemas.microsoft.com/office/drawing/2014/main" id="{9B908631-8D13-6148-86AF-5F5CE0957487}"/>
                  </a:ext>
                </a:extLst>
              </p:cNvPr>
              <p:cNvSpPr>
                <a:spLocks noRot="1" noChangeAspect="1" noMove="1" noResize="1" noEditPoints="1" noAdjustHandles="1" noChangeArrowheads="1" noChangeShapeType="1" noTextEdit="1"/>
              </p:cNvSpPr>
              <p:nvPr/>
            </p:nvSpPr>
            <p:spPr>
              <a:xfrm>
                <a:off x="10807777" y="5534815"/>
                <a:ext cx="533544" cy="369332"/>
              </a:xfrm>
              <a:prstGeom prst="rect">
                <a:avLst/>
              </a:prstGeom>
              <a:blipFill>
                <a:blip r:embed="rId7"/>
                <a:stretch>
                  <a:fillRect/>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1DC44EC7-5B56-4844-82C8-56EB422D2648}"/>
              </a:ext>
            </a:extLst>
          </p:cNvPr>
          <p:cNvCxnSpPr>
            <a:cxnSpLocks/>
          </p:cNvCxnSpPr>
          <p:nvPr/>
        </p:nvCxnSpPr>
        <p:spPr>
          <a:xfrm flipV="1">
            <a:off x="9497703" y="5303468"/>
            <a:ext cx="1734671" cy="56393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B9D5DD17-3C55-934A-B8F8-51D13303CC74}"/>
                  </a:ext>
                </a:extLst>
              </p:cNvPr>
              <p:cNvSpPr/>
              <p:nvPr/>
            </p:nvSpPr>
            <p:spPr>
              <a:xfrm>
                <a:off x="10278751" y="5128737"/>
                <a:ext cx="538865" cy="369332"/>
              </a:xfrm>
              <a:prstGeom prst="rect">
                <a:avLst/>
              </a:prstGeom>
            </p:spPr>
            <p:txBody>
              <a:bodyPr wrap="none">
                <a:spAutoFit/>
              </a:bodyPr>
              <a:lstStyle/>
              <a:p>
                <a14:m>
                  <m:oMath xmlns:m="http://schemas.openxmlformats.org/officeDocument/2006/math">
                    <m:sSub>
                      <m:sSubPr>
                        <m:ctrlPr>
                          <a:rPr lang="en-US" i="1" smtClean="0">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𝑚</m:t>
                        </m:r>
                      </m:e>
                      <m:sub>
                        <m:r>
                          <a:rPr lang="en-US" i="1">
                            <a:solidFill>
                              <a:schemeClr val="accent1"/>
                            </a:solidFill>
                            <a:latin typeface="Cambria Math" panose="02040503050406030204" pitchFamily="18" charset="0"/>
                          </a:rPr>
                          <m:t>2</m:t>
                        </m:r>
                      </m:sub>
                    </m:sSub>
                  </m:oMath>
                </a14:m>
                <a:r>
                  <a:rPr lang="en-US" dirty="0">
                    <a:solidFill>
                      <a:schemeClr val="accent1"/>
                    </a:solidFill>
                  </a:rPr>
                  <a:t> </a:t>
                </a:r>
              </a:p>
            </p:txBody>
          </p:sp>
        </mc:Choice>
        <mc:Fallback xmlns="">
          <p:sp>
            <p:nvSpPr>
              <p:cNvPr id="18" name="Rectangle 17">
                <a:extLst>
                  <a:ext uri="{FF2B5EF4-FFF2-40B4-BE49-F238E27FC236}">
                    <a16:creationId xmlns:a16="http://schemas.microsoft.com/office/drawing/2014/main" id="{B9D5DD17-3C55-934A-B8F8-51D13303CC74}"/>
                  </a:ext>
                </a:extLst>
              </p:cNvPr>
              <p:cNvSpPr>
                <a:spLocks noRot="1" noChangeAspect="1" noMove="1" noResize="1" noEditPoints="1" noAdjustHandles="1" noChangeArrowheads="1" noChangeShapeType="1" noTextEdit="1"/>
              </p:cNvSpPr>
              <p:nvPr/>
            </p:nvSpPr>
            <p:spPr>
              <a:xfrm>
                <a:off x="10278751" y="5128737"/>
                <a:ext cx="538865"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5C81BC8-E059-FD4C-9467-1B87F7DDB88E}"/>
                  </a:ext>
                </a:extLst>
              </p:cNvPr>
              <p:cNvSpPr txBox="1"/>
              <p:nvPr/>
            </p:nvSpPr>
            <p:spPr>
              <a:xfrm>
                <a:off x="10184014" y="5627148"/>
                <a:ext cx="1894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oMath>
                  </m:oMathPara>
                </a14:m>
                <a:endParaRPr lang="en-US" dirty="0"/>
              </a:p>
            </p:txBody>
          </p:sp>
        </mc:Choice>
        <mc:Fallback xmlns="">
          <p:sp>
            <p:nvSpPr>
              <p:cNvPr id="19" name="TextBox 18">
                <a:extLst>
                  <a:ext uri="{FF2B5EF4-FFF2-40B4-BE49-F238E27FC236}">
                    <a16:creationId xmlns:a16="http://schemas.microsoft.com/office/drawing/2014/main" id="{15C81BC8-E059-FD4C-9467-1B87F7DDB88E}"/>
                  </a:ext>
                </a:extLst>
              </p:cNvPr>
              <p:cNvSpPr txBox="1">
                <a:spLocks noRot="1" noChangeAspect="1" noMove="1" noResize="1" noEditPoints="1" noAdjustHandles="1" noChangeArrowheads="1" noChangeShapeType="1" noTextEdit="1"/>
              </p:cNvSpPr>
              <p:nvPr/>
            </p:nvSpPr>
            <p:spPr>
              <a:xfrm>
                <a:off x="10184014" y="5627148"/>
                <a:ext cx="189474" cy="276999"/>
              </a:xfrm>
              <a:prstGeom prst="rect">
                <a:avLst/>
              </a:prstGeom>
              <a:blipFill>
                <a:blip r:embed="rId9"/>
                <a:stretch>
                  <a:fillRect l="-33333" r="-26667"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E46785C-7F01-B749-89A6-2DF5AEA91393}"/>
                  </a:ext>
                </a:extLst>
              </p:cNvPr>
              <p:cNvSpPr txBox="1"/>
              <p:nvPr/>
            </p:nvSpPr>
            <p:spPr>
              <a:xfrm>
                <a:off x="5964164" y="5660383"/>
                <a:ext cx="1894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oMath>
                  </m:oMathPara>
                </a14:m>
                <a:endParaRPr lang="en-US" dirty="0"/>
              </a:p>
            </p:txBody>
          </p:sp>
        </mc:Choice>
        <mc:Fallback xmlns="">
          <p:sp>
            <p:nvSpPr>
              <p:cNvPr id="20" name="TextBox 19">
                <a:extLst>
                  <a:ext uri="{FF2B5EF4-FFF2-40B4-BE49-F238E27FC236}">
                    <a16:creationId xmlns:a16="http://schemas.microsoft.com/office/drawing/2014/main" id="{8E46785C-7F01-B749-89A6-2DF5AEA91393}"/>
                  </a:ext>
                </a:extLst>
              </p:cNvPr>
              <p:cNvSpPr txBox="1">
                <a:spLocks noRot="1" noChangeAspect="1" noMove="1" noResize="1" noEditPoints="1" noAdjustHandles="1" noChangeArrowheads="1" noChangeShapeType="1" noTextEdit="1"/>
              </p:cNvSpPr>
              <p:nvPr/>
            </p:nvSpPr>
            <p:spPr>
              <a:xfrm>
                <a:off x="5964164" y="5660383"/>
                <a:ext cx="189474" cy="276999"/>
              </a:xfrm>
              <a:prstGeom prst="rect">
                <a:avLst/>
              </a:prstGeom>
              <a:blipFill>
                <a:blip r:embed="rId10"/>
                <a:stretch>
                  <a:fillRect l="-25000" r="-25000" b="-4348"/>
                </a:stretch>
              </a:blipFill>
            </p:spPr>
            <p:txBody>
              <a:bodyPr/>
              <a:lstStyle/>
              <a:p>
                <a:r>
                  <a:rPr lang="en-US">
                    <a:noFill/>
                  </a:rPr>
                  <a:t> </a:t>
                </a:r>
              </a:p>
            </p:txBody>
          </p:sp>
        </mc:Fallback>
      </mc:AlternateContent>
    </p:spTree>
    <p:extLst>
      <p:ext uri="{BB962C8B-B14F-4D97-AF65-F5344CB8AC3E}">
        <p14:creationId xmlns:p14="http://schemas.microsoft.com/office/powerpoint/2010/main" val="39919027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Center of Mass </a:t>
            </a:r>
          </a:p>
        </p:txBody>
      </p:sp>
      <p:sp>
        <p:nvSpPr>
          <p:cNvPr id="2" name="Rectangle 1">
            <a:extLst>
              <a:ext uri="{FF2B5EF4-FFF2-40B4-BE49-F238E27FC236}">
                <a16:creationId xmlns:a16="http://schemas.microsoft.com/office/drawing/2014/main" id="{8F0BA726-DC1C-B941-B489-4E2066797DE6}"/>
              </a:ext>
            </a:extLst>
          </p:cNvPr>
          <p:cNvSpPr/>
          <p:nvPr/>
        </p:nvSpPr>
        <p:spPr>
          <a:xfrm>
            <a:off x="424064" y="612264"/>
            <a:ext cx="10427711" cy="400110"/>
          </a:xfrm>
          <a:prstGeom prst="rect">
            <a:avLst/>
          </a:prstGeom>
        </p:spPr>
        <p:txBody>
          <a:bodyPr wrap="square">
            <a:spAutoFit/>
          </a:bodyPr>
          <a:lstStyle/>
          <a:p>
            <a:r>
              <a:rPr lang="en-US" sz="2000" dirty="0">
                <a:solidFill>
                  <a:srgbClr val="7030A0"/>
                </a:solidFill>
                <a:latin typeface="LiberationSerif"/>
              </a:rPr>
              <a:t>Suppose we have an extended object of mass </a:t>
            </a:r>
            <a:r>
              <a:rPr lang="en-US" sz="2000" i="1" dirty="0">
                <a:solidFill>
                  <a:srgbClr val="7030A0"/>
                </a:solidFill>
                <a:latin typeface="LiberationSerif"/>
              </a:rPr>
              <a:t>M</a:t>
            </a:r>
            <a:r>
              <a:rPr lang="en-US" sz="2000" dirty="0">
                <a:solidFill>
                  <a:srgbClr val="7030A0"/>
                </a:solidFill>
                <a:latin typeface="LiberationSerif"/>
              </a:rPr>
              <a:t>, made of </a:t>
            </a:r>
            <a:r>
              <a:rPr lang="en-US" sz="2000" i="1" dirty="0">
                <a:solidFill>
                  <a:srgbClr val="7030A0"/>
                </a:solidFill>
                <a:latin typeface="LiberationSerif"/>
              </a:rPr>
              <a:t>N </a:t>
            </a:r>
            <a:r>
              <a:rPr lang="en-US" sz="2000" dirty="0">
                <a:solidFill>
                  <a:srgbClr val="7030A0"/>
                </a:solidFill>
                <a:latin typeface="LiberationSerif"/>
              </a:rPr>
              <a:t>interacting particles. The total mass</a:t>
            </a:r>
            <a:endParaRPr lang="en-US" sz="2000" dirty="0">
              <a:solidFill>
                <a:srgbClr val="7030A0"/>
              </a:solidFill>
            </a:endParaRPr>
          </a:p>
        </p:txBody>
      </p:sp>
      <p:pic>
        <p:nvPicPr>
          <p:cNvPr id="6" name="Picture 5" descr="Text&#10;&#10;Description automatically generated">
            <a:extLst>
              <a:ext uri="{FF2B5EF4-FFF2-40B4-BE49-F238E27FC236}">
                <a16:creationId xmlns:a16="http://schemas.microsoft.com/office/drawing/2014/main" id="{DC93E4B8-D077-7745-B564-78400DE57F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6002" y="1012374"/>
            <a:ext cx="1511300" cy="889000"/>
          </a:xfrm>
          <a:prstGeom prst="rect">
            <a:avLst/>
          </a:prstGeom>
        </p:spPr>
      </p:pic>
      <p:sp>
        <p:nvSpPr>
          <p:cNvPr id="7" name="Rectangle 6">
            <a:extLst>
              <a:ext uri="{FF2B5EF4-FFF2-40B4-BE49-F238E27FC236}">
                <a16:creationId xmlns:a16="http://schemas.microsoft.com/office/drawing/2014/main" id="{0053036C-45AD-FF45-B1C4-134FED7185B3}"/>
              </a:ext>
            </a:extLst>
          </p:cNvPr>
          <p:cNvSpPr/>
          <p:nvPr/>
        </p:nvSpPr>
        <p:spPr>
          <a:xfrm>
            <a:off x="424064" y="1947541"/>
            <a:ext cx="11530370" cy="646331"/>
          </a:xfrm>
          <a:prstGeom prst="rect">
            <a:avLst/>
          </a:prstGeom>
        </p:spPr>
        <p:txBody>
          <a:bodyPr wrap="square">
            <a:spAutoFit/>
          </a:bodyPr>
          <a:lstStyle/>
          <a:p>
            <a:r>
              <a:rPr lang="en-US" sz="2000" dirty="0">
                <a:latin typeface="LiberationSerif"/>
              </a:rPr>
              <a:t>When some net </a:t>
            </a:r>
            <a:r>
              <a:rPr lang="en-US" sz="2000" b="1" dirty="0">
                <a:solidFill>
                  <a:srgbClr val="C00000"/>
                </a:solidFill>
                <a:latin typeface="LiberationSerif"/>
              </a:rPr>
              <a:t>external force </a:t>
            </a:r>
            <a:r>
              <a:rPr lang="en-US" sz="2000" dirty="0">
                <a:latin typeface="LiberationSerif"/>
              </a:rPr>
              <a:t>is applied, every particle experiences some fraction (“share”) of that force. </a:t>
            </a:r>
            <a:r>
              <a:rPr lang="en-US" sz="1600" dirty="0">
                <a:solidFill>
                  <a:srgbClr val="C00000"/>
                </a:solidFill>
                <a:latin typeface="LiberationSerif"/>
              </a:rPr>
              <a:t>Every particle is also interacting with other particles with internal forces, but these forces cancel each other.</a:t>
            </a:r>
            <a:endParaRPr lang="en-US" sz="1600" dirty="0">
              <a:solidFill>
                <a:srgbClr val="C00000"/>
              </a:solidFill>
            </a:endParaRPr>
          </a:p>
        </p:txBody>
      </p:sp>
      <p:sp>
        <p:nvSpPr>
          <p:cNvPr id="8" name="Rectangle 7">
            <a:extLst>
              <a:ext uri="{FF2B5EF4-FFF2-40B4-BE49-F238E27FC236}">
                <a16:creationId xmlns:a16="http://schemas.microsoft.com/office/drawing/2014/main" id="{FE449D9A-A31C-BC4F-92C1-0045D1342686}"/>
              </a:ext>
            </a:extLst>
          </p:cNvPr>
          <p:cNvSpPr/>
          <p:nvPr/>
        </p:nvSpPr>
        <p:spPr>
          <a:xfrm>
            <a:off x="424064" y="2846584"/>
            <a:ext cx="8790227" cy="400110"/>
          </a:xfrm>
          <a:prstGeom prst="rect">
            <a:avLst/>
          </a:prstGeom>
        </p:spPr>
        <p:txBody>
          <a:bodyPr wrap="none">
            <a:spAutoFit/>
          </a:bodyPr>
          <a:lstStyle/>
          <a:p>
            <a:r>
              <a:rPr lang="en-US" sz="2000" dirty="0">
                <a:solidFill>
                  <a:srgbClr val="3B124D"/>
                </a:solidFill>
                <a:latin typeface="LiberationSerif"/>
              </a:rPr>
              <a:t>The net external force will change the momentum of every particle, and the sum is</a:t>
            </a:r>
            <a:endParaRPr lang="en-US" sz="2000" dirty="0">
              <a:solidFill>
                <a:srgbClr val="3B124D"/>
              </a:solidFill>
            </a:endParaRPr>
          </a:p>
        </p:txBody>
      </p:sp>
      <p:pic>
        <p:nvPicPr>
          <p:cNvPr id="10" name="Picture 9" descr="A picture containing text, clock&#10;&#10;Description automatically generated">
            <a:extLst>
              <a:ext uri="{FF2B5EF4-FFF2-40B4-BE49-F238E27FC236}">
                <a16:creationId xmlns:a16="http://schemas.microsoft.com/office/drawing/2014/main" id="{9F403B27-7FD7-3646-8CDF-359920AED0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6002" y="3294637"/>
            <a:ext cx="2159000" cy="889000"/>
          </a:xfrm>
          <a:prstGeom prst="rect">
            <a:avLst/>
          </a:prstGeom>
        </p:spPr>
      </p:pic>
      <p:sp>
        <p:nvSpPr>
          <p:cNvPr id="11" name="Rectangle 10">
            <a:extLst>
              <a:ext uri="{FF2B5EF4-FFF2-40B4-BE49-F238E27FC236}">
                <a16:creationId xmlns:a16="http://schemas.microsoft.com/office/drawing/2014/main" id="{82BA981E-526A-C649-A3DF-C011F20EDB34}"/>
              </a:ext>
            </a:extLst>
          </p:cNvPr>
          <p:cNvSpPr/>
          <p:nvPr/>
        </p:nvSpPr>
        <p:spPr>
          <a:xfrm>
            <a:off x="424063" y="4264129"/>
            <a:ext cx="11530370" cy="707886"/>
          </a:xfrm>
          <a:prstGeom prst="rect">
            <a:avLst/>
          </a:prstGeom>
        </p:spPr>
        <p:txBody>
          <a:bodyPr wrap="square">
            <a:spAutoFit/>
          </a:bodyPr>
          <a:lstStyle/>
          <a:p>
            <a:r>
              <a:rPr lang="en-US" sz="2000" dirty="0">
                <a:solidFill>
                  <a:srgbClr val="3B124D"/>
                </a:solidFill>
                <a:latin typeface="LiberationSerif"/>
              </a:rPr>
              <a:t>The center of the mass of an extended object is the point to which if the force was applied, the object would move similarly. We note</a:t>
            </a:r>
            <a:endParaRPr lang="en-US" sz="2000" dirty="0"/>
          </a:p>
        </p:txBody>
      </p:sp>
      <p:pic>
        <p:nvPicPr>
          <p:cNvPr id="13" name="Picture 12" descr="Text&#10;&#10;Description automatically generated with low confidence">
            <a:extLst>
              <a:ext uri="{FF2B5EF4-FFF2-40B4-BE49-F238E27FC236}">
                <a16:creationId xmlns:a16="http://schemas.microsoft.com/office/drawing/2014/main" id="{F3D7C249-DC1A-674F-A8EC-508EF95906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31552" y="4916951"/>
            <a:ext cx="2070100" cy="876300"/>
          </a:xfrm>
          <a:prstGeom prst="rect">
            <a:avLst/>
          </a:prstGeom>
        </p:spPr>
      </p:pic>
      <p:sp>
        <p:nvSpPr>
          <p:cNvPr id="14" name="Right Arrow 13">
            <a:extLst>
              <a:ext uri="{FF2B5EF4-FFF2-40B4-BE49-F238E27FC236}">
                <a16:creationId xmlns:a16="http://schemas.microsoft.com/office/drawing/2014/main" id="{5CEAF22B-52C4-8141-BFBC-704185F356BB}"/>
              </a:ext>
            </a:extLst>
          </p:cNvPr>
          <p:cNvSpPr/>
          <p:nvPr/>
        </p:nvSpPr>
        <p:spPr>
          <a:xfrm>
            <a:off x="5165631" y="5201072"/>
            <a:ext cx="591671" cy="376517"/>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Text&#10;&#10;Description automatically generated with medium confidence">
            <a:extLst>
              <a:ext uri="{FF2B5EF4-FFF2-40B4-BE49-F238E27FC236}">
                <a16:creationId xmlns:a16="http://schemas.microsoft.com/office/drawing/2014/main" id="{923440E3-0B27-4349-AF95-6A496E1DC1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46633" y="5031251"/>
            <a:ext cx="1663700" cy="762000"/>
          </a:xfrm>
          <a:prstGeom prst="rect">
            <a:avLst/>
          </a:prstGeom>
        </p:spPr>
      </p:pic>
      <p:pic>
        <p:nvPicPr>
          <p:cNvPr id="18" name="Picture 17" descr="Text&#10;&#10;Description automatically generated with medium confidence">
            <a:extLst>
              <a:ext uri="{FF2B5EF4-FFF2-40B4-BE49-F238E27FC236}">
                <a16:creationId xmlns:a16="http://schemas.microsoft.com/office/drawing/2014/main" id="{4F0BF010-33E7-2C4B-9255-BF3A1AA7CB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03348" y="5908843"/>
            <a:ext cx="1790700" cy="736600"/>
          </a:xfrm>
          <a:prstGeom prst="rect">
            <a:avLst/>
          </a:prstGeom>
        </p:spPr>
      </p:pic>
      <p:pic>
        <p:nvPicPr>
          <p:cNvPr id="20" name="Picture 19" descr="Diagram, schematic&#10;&#10;Description automatically generated with medium confidence">
            <a:extLst>
              <a:ext uri="{FF2B5EF4-FFF2-40B4-BE49-F238E27FC236}">
                <a16:creationId xmlns:a16="http://schemas.microsoft.com/office/drawing/2014/main" id="{5AD6FD0F-55E1-BD46-8CFF-7A531B683BE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06936" y="5845627"/>
            <a:ext cx="3492500" cy="863600"/>
          </a:xfrm>
          <a:prstGeom prst="rect">
            <a:avLst/>
          </a:prstGeom>
        </p:spPr>
      </p:pic>
    </p:spTree>
    <p:extLst>
      <p:ext uri="{BB962C8B-B14F-4D97-AF65-F5344CB8AC3E}">
        <p14:creationId xmlns:p14="http://schemas.microsoft.com/office/powerpoint/2010/main" val="3025192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Center of Mass </a:t>
            </a:r>
          </a:p>
        </p:txBody>
      </p:sp>
      <p:pic>
        <p:nvPicPr>
          <p:cNvPr id="6" name="Picture 5" descr="Text&#10;&#10;Description automatically generated with medium confidence">
            <a:extLst>
              <a:ext uri="{FF2B5EF4-FFF2-40B4-BE49-F238E27FC236}">
                <a16:creationId xmlns:a16="http://schemas.microsoft.com/office/drawing/2014/main" id="{EF6EAC60-0584-D64A-BFF7-B4454FBDC7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44" y="612264"/>
            <a:ext cx="1663700" cy="762000"/>
          </a:xfrm>
          <a:prstGeom prst="rect">
            <a:avLst/>
          </a:prstGeom>
        </p:spPr>
      </p:pic>
      <p:pic>
        <p:nvPicPr>
          <p:cNvPr id="7" name="Picture 6" descr="Text&#10;&#10;Description automatically generated with medium confidence">
            <a:extLst>
              <a:ext uri="{FF2B5EF4-FFF2-40B4-BE49-F238E27FC236}">
                <a16:creationId xmlns:a16="http://schemas.microsoft.com/office/drawing/2014/main" id="{73B12BFC-6088-5B4D-90B4-5C744FDE2F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759" y="1489856"/>
            <a:ext cx="1790700" cy="736600"/>
          </a:xfrm>
          <a:prstGeom prst="rect">
            <a:avLst/>
          </a:prstGeom>
        </p:spPr>
      </p:pic>
      <p:pic>
        <p:nvPicPr>
          <p:cNvPr id="8" name="Picture 7" descr="Diagram, schematic&#10;&#10;Description automatically generated with medium confidence">
            <a:extLst>
              <a:ext uri="{FF2B5EF4-FFF2-40B4-BE49-F238E27FC236}">
                <a16:creationId xmlns:a16="http://schemas.microsoft.com/office/drawing/2014/main" id="{6CE0455A-E1EF-5F49-B790-53B2AD0469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5347" y="1426640"/>
            <a:ext cx="3492500" cy="863600"/>
          </a:xfrm>
          <a:prstGeom prst="rect">
            <a:avLst/>
          </a:prstGeom>
        </p:spPr>
      </p:pic>
      <p:sp>
        <p:nvSpPr>
          <p:cNvPr id="2" name="Rectangle 1">
            <a:extLst>
              <a:ext uri="{FF2B5EF4-FFF2-40B4-BE49-F238E27FC236}">
                <a16:creationId xmlns:a16="http://schemas.microsoft.com/office/drawing/2014/main" id="{3C7CD5CA-254B-2943-93DD-F73A5FCE9D07}"/>
              </a:ext>
            </a:extLst>
          </p:cNvPr>
          <p:cNvSpPr/>
          <p:nvPr/>
        </p:nvSpPr>
        <p:spPr>
          <a:xfrm>
            <a:off x="3016814" y="834786"/>
            <a:ext cx="1081450" cy="369332"/>
          </a:xfrm>
          <a:prstGeom prst="rect">
            <a:avLst/>
          </a:prstGeom>
        </p:spPr>
        <p:txBody>
          <a:bodyPr wrap="none">
            <a:spAutoFit/>
          </a:bodyPr>
          <a:lstStyle/>
          <a:p>
            <a:r>
              <a:rPr lang="en-US" i="1" dirty="0">
                <a:solidFill>
                  <a:srgbClr val="3B124D"/>
                </a:solidFill>
                <a:latin typeface="LiberationSerif"/>
              </a:rPr>
              <a:t>Note that</a:t>
            </a:r>
            <a:endParaRPr lang="en-US" i="1" dirty="0"/>
          </a:p>
        </p:txBody>
      </p:sp>
      <p:pic>
        <p:nvPicPr>
          <p:cNvPr id="9" name="Picture 8" descr="A picture containing text&#10;&#10;Description automatically generated">
            <a:extLst>
              <a:ext uri="{FF2B5EF4-FFF2-40B4-BE49-F238E27FC236}">
                <a16:creationId xmlns:a16="http://schemas.microsoft.com/office/drawing/2014/main" id="{730DDF1B-DF9D-074A-BFCE-C1D83FF9DA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98264" y="612264"/>
            <a:ext cx="2870200" cy="787400"/>
          </a:xfrm>
          <a:prstGeom prst="rect">
            <a:avLst/>
          </a:prstGeom>
        </p:spPr>
      </p:pic>
      <p:pic>
        <p:nvPicPr>
          <p:cNvPr id="11" name="Picture 10" descr="Text, letter&#10;&#10;Description automatically generated">
            <a:extLst>
              <a:ext uri="{FF2B5EF4-FFF2-40B4-BE49-F238E27FC236}">
                <a16:creationId xmlns:a16="http://schemas.microsoft.com/office/drawing/2014/main" id="{F6C1D120-B33D-014C-83B2-EC7995D983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65500" y="2317216"/>
            <a:ext cx="2730500" cy="1689100"/>
          </a:xfrm>
          <a:prstGeom prst="rect">
            <a:avLst/>
          </a:prstGeom>
        </p:spPr>
      </p:pic>
      <p:sp>
        <p:nvSpPr>
          <p:cNvPr id="12" name="Rectangle 11">
            <a:extLst>
              <a:ext uri="{FF2B5EF4-FFF2-40B4-BE49-F238E27FC236}">
                <a16:creationId xmlns:a16="http://schemas.microsoft.com/office/drawing/2014/main" id="{52272169-1EEB-B94D-9002-03BE55E80F0A}"/>
              </a:ext>
            </a:extLst>
          </p:cNvPr>
          <p:cNvSpPr/>
          <p:nvPr/>
        </p:nvSpPr>
        <p:spPr>
          <a:xfrm>
            <a:off x="3124390" y="4141258"/>
            <a:ext cx="3720162" cy="646331"/>
          </a:xfrm>
          <a:prstGeom prst="rect">
            <a:avLst/>
          </a:prstGeom>
        </p:spPr>
        <p:txBody>
          <a:bodyPr wrap="square">
            <a:spAutoFit/>
          </a:bodyPr>
          <a:lstStyle/>
          <a:p>
            <a:r>
              <a:rPr lang="en-US" dirty="0">
                <a:solidFill>
                  <a:srgbClr val="3B124D"/>
                </a:solidFill>
                <a:latin typeface="LiberationSerif"/>
              </a:rPr>
              <a:t>Dividing both sides by </a:t>
            </a:r>
            <a:r>
              <a:rPr lang="en-US" i="1" dirty="0">
                <a:solidFill>
                  <a:srgbClr val="3B124D"/>
                </a:solidFill>
                <a:latin typeface="LiberationSerif"/>
              </a:rPr>
              <a:t>M </a:t>
            </a:r>
            <a:r>
              <a:rPr lang="en-US" dirty="0">
                <a:solidFill>
                  <a:srgbClr val="3B124D"/>
                </a:solidFill>
                <a:latin typeface="LiberationSerif"/>
              </a:rPr>
              <a:t>(the total mass of the extended object) gives us </a:t>
            </a:r>
            <a:endParaRPr lang="en-US" dirty="0">
              <a:solidFill>
                <a:srgbClr val="3B124D"/>
              </a:solidFill>
            </a:endParaRPr>
          </a:p>
        </p:txBody>
      </p:sp>
      <p:pic>
        <p:nvPicPr>
          <p:cNvPr id="14" name="Picture 13" descr="Text, whiteboard&#10;&#10;Description automatically generated">
            <a:extLst>
              <a:ext uri="{FF2B5EF4-FFF2-40B4-BE49-F238E27FC236}">
                <a16:creationId xmlns:a16="http://schemas.microsoft.com/office/drawing/2014/main" id="{D430A27A-1824-4543-83F7-E6899BC7983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29000" y="4787589"/>
            <a:ext cx="2603500" cy="914400"/>
          </a:xfrm>
          <a:prstGeom prst="rect">
            <a:avLst/>
          </a:prstGeom>
        </p:spPr>
      </p:pic>
      <p:pic>
        <p:nvPicPr>
          <p:cNvPr id="16" name="Picture 15" descr="Text&#10;&#10;Description automatically generated with medium confidence">
            <a:extLst>
              <a:ext uri="{FF2B5EF4-FFF2-40B4-BE49-F238E27FC236}">
                <a16:creationId xmlns:a16="http://schemas.microsoft.com/office/drawing/2014/main" id="{7CB9F659-CDFB-2F40-A698-CACE46E60EF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83000" y="5808110"/>
            <a:ext cx="2413000" cy="939800"/>
          </a:xfrm>
          <a:prstGeom prst="rect">
            <a:avLst/>
          </a:prstGeom>
        </p:spPr>
      </p:pic>
      <p:sp>
        <p:nvSpPr>
          <p:cNvPr id="17" name="Rectangle 16">
            <a:extLst>
              <a:ext uri="{FF2B5EF4-FFF2-40B4-BE49-F238E27FC236}">
                <a16:creationId xmlns:a16="http://schemas.microsoft.com/office/drawing/2014/main" id="{0C83BF1D-7D33-7F42-B90A-772E7E1C9389}"/>
              </a:ext>
            </a:extLst>
          </p:cNvPr>
          <p:cNvSpPr/>
          <p:nvPr/>
        </p:nvSpPr>
        <p:spPr>
          <a:xfrm>
            <a:off x="6287847" y="6093344"/>
            <a:ext cx="4699043" cy="430887"/>
          </a:xfrm>
          <a:prstGeom prst="rect">
            <a:avLst/>
          </a:prstGeom>
        </p:spPr>
        <p:txBody>
          <a:bodyPr wrap="none">
            <a:spAutoFit/>
          </a:bodyPr>
          <a:lstStyle/>
          <a:p>
            <a:r>
              <a:rPr lang="en-US" sz="2200" dirty="0">
                <a:latin typeface="LiberationSerif"/>
              </a:rPr>
              <a:t>This is the </a:t>
            </a:r>
            <a:r>
              <a:rPr lang="en-US" sz="2200" b="1" dirty="0">
                <a:solidFill>
                  <a:srgbClr val="C00000"/>
                </a:solidFill>
                <a:latin typeface="LiberationSerif"/>
              </a:rPr>
              <a:t>center of mass </a:t>
            </a:r>
            <a:r>
              <a:rPr lang="en-US" sz="2200" dirty="0">
                <a:latin typeface="LiberationSerif"/>
              </a:rPr>
              <a:t>of the object </a:t>
            </a:r>
            <a:endParaRPr lang="en-US" sz="2200" dirty="0"/>
          </a:p>
        </p:txBody>
      </p:sp>
      <p:pic>
        <p:nvPicPr>
          <p:cNvPr id="19" name="Picture 18" descr="A picture containing text, sky, map, different&#10;&#10;Description automatically generated">
            <a:extLst>
              <a:ext uri="{FF2B5EF4-FFF2-40B4-BE49-F238E27FC236}">
                <a16:creationId xmlns:a16="http://schemas.microsoft.com/office/drawing/2014/main" id="{D012430D-FC39-3045-A0F4-A91414784EE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189060" y="897498"/>
            <a:ext cx="4855315" cy="5195846"/>
          </a:xfrm>
          <a:prstGeom prst="rect">
            <a:avLst/>
          </a:prstGeom>
        </p:spPr>
      </p:pic>
    </p:spTree>
    <p:extLst>
      <p:ext uri="{BB962C8B-B14F-4D97-AF65-F5344CB8AC3E}">
        <p14:creationId xmlns:p14="http://schemas.microsoft.com/office/powerpoint/2010/main" val="17949811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Center of Mass </a:t>
            </a:r>
          </a:p>
        </p:txBody>
      </p:sp>
      <p:pic>
        <p:nvPicPr>
          <p:cNvPr id="6" name="Picture 5" descr="Text&#10;&#10;Description automatically generated with medium confidence">
            <a:extLst>
              <a:ext uri="{FF2B5EF4-FFF2-40B4-BE49-F238E27FC236}">
                <a16:creationId xmlns:a16="http://schemas.microsoft.com/office/drawing/2014/main" id="{35FA19BB-9E2F-5B40-AD85-DC05A89573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3000" y="5808110"/>
            <a:ext cx="2413000" cy="939800"/>
          </a:xfrm>
          <a:prstGeom prst="rect">
            <a:avLst/>
          </a:prstGeom>
        </p:spPr>
      </p:pic>
      <p:sp>
        <p:nvSpPr>
          <p:cNvPr id="7" name="Rectangle 6">
            <a:extLst>
              <a:ext uri="{FF2B5EF4-FFF2-40B4-BE49-F238E27FC236}">
                <a16:creationId xmlns:a16="http://schemas.microsoft.com/office/drawing/2014/main" id="{55A01DB0-1C85-CA49-8452-3AF4153843CA}"/>
              </a:ext>
            </a:extLst>
          </p:cNvPr>
          <p:cNvSpPr/>
          <p:nvPr/>
        </p:nvSpPr>
        <p:spPr>
          <a:xfrm>
            <a:off x="6287847" y="6093344"/>
            <a:ext cx="4699043" cy="430887"/>
          </a:xfrm>
          <a:prstGeom prst="rect">
            <a:avLst/>
          </a:prstGeom>
        </p:spPr>
        <p:txBody>
          <a:bodyPr wrap="none">
            <a:spAutoFit/>
          </a:bodyPr>
          <a:lstStyle/>
          <a:p>
            <a:r>
              <a:rPr lang="en-US" sz="2200" dirty="0">
                <a:latin typeface="LiberationSerif"/>
              </a:rPr>
              <a:t>This is the </a:t>
            </a:r>
            <a:r>
              <a:rPr lang="en-US" sz="2200" b="1" dirty="0">
                <a:solidFill>
                  <a:srgbClr val="C00000"/>
                </a:solidFill>
                <a:latin typeface="LiberationSerif"/>
              </a:rPr>
              <a:t>center of mass </a:t>
            </a:r>
            <a:r>
              <a:rPr lang="en-US" sz="2200" dirty="0">
                <a:latin typeface="LiberationSerif"/>
              </a:rPr>
              <a:t>of the object </a:t>
            </a:r>
            <a:endParaRPr lang="en-US" sz="2200" dirty="0"/>
          </a:p>
        </p:txBody>
      </p:sp>
      <p:pic>
        <p:nvPicPr>
          <p:cNvPr id="9" name="Picture 8" descr="A picture containing text, sky, map, different&#10;&#10;Description automatically generated">
            <a:extLst>
              <a:ext uri="{FF2B5EF4-FFF2-40B4-BE49-F238E27FC236}">
                <a16:creationId xmlns:a16="http://schemas.microsoft.com/office/drawing/2014/main" id="{87655927-5CFD-F545-9226-092B69DCE3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9060" y="897498"/>
            <a:ext cx="4855315" cy="5195846"/>
          </a:xfrm>
          <a:prstGeom prst="rect">
            <a:avLst/>
          </a:prstGeom>
        </p:spPr>
      </p:pic>
      <p:sp>
        <p:nvSpPr>
          <p:cNvPr id="2" name="Rectangle 1">
            <a:extLst>
              <a:ext uri="{FF2B5EF4-FFF2-40B4-BE49-F238E27FC236}">
                <a16:creationId xmlns:a16="http://schemas.microsoft.com/office/drawing/2014/main" id="{70FA0E5E-E13A-D240-ACEB-90223E715371}"/>
              </a:ext>
            </a:extLst>
          </p:cNvPr>
          <p:cNvSpPr/>
          <p:nvPr/>
        </p:nvSpPr>
        <p:spPr>
          <a:xfrm>
            <a:off x="638419" y="623595"/>
            <a:ext cx="792205" cy="400110"/>
          </a:xfrm>
          <a:prstGeom prst="rect">
            <a:avLst/>
          </a:prstGeom>
        </p:spPr>
        <p:txBody>
          <a:bodyPr wrap="none">
            <a:spAutoFit/>
          </a:bodyPr>
          <a:lstStyle/>
          <a:p>
            <a:r>
              <a:rPr lang="en-US" sz="2000" dirty="0">
                <a:solidFill>
                  <a:srgbClr val="7030A0"/>
                </a:solidFill>
                <a:latin typeface="LiberationSerif"/>
              </a:rPr>
              <a:t>Since </a:t>
            </a:r>
            <a:endParaRPr lang="en-US" sz="2000" dirty="0">
              <a:solidFill>
                <a:srgbClr val="7030A0"/>
              </a:solidFill>
            </a:endParaRPr>
          </a:p>
        </p:txBody>
      </p:sp>
      <p:sp>
        <p:nvSpPr>
          <p:cNvPr id="3" name="Rectangle 2">
            <a:extLst>
              <a:ext uri="{FF2B5EF4-FFF2-40B4-BE49-F238E27FC236}">
                <a16:creationId xmlns:a16="http://schemas.microsoft.com/office/drawing/2014/main" id="{4A3DC75F-F3FC-ED44-A40A-5ED2D17330CE}"/>
              </a:ext>
            </a:extLst>
          </p:cNvPr>
          <p:cNvSpPr/>
          <p:nvPr/>
        </p:nvSpPr>
        <p:spPr>
          <a:xfrm>
            <a:off x="3901673" y="623595"/>
            <a:ext cx="1752600" cy="400110"/>
          </a:xfrm>
          <a:prstGeom prst="rect">
            <a:avLst/>
          </a:prstGeom>
        </p:spPr>
        <p:txBody>
          <a:bodyPr wrap="square">
            <a:spAutoFit/>
          </a:bodyPr>
          <a:lstStyle/>
          <a:p>
            <a:r>
              <a:rPr lang="en-US" sz="2000" dirty="0">
                <a:solidFill>
                  <a:srgbClr val="7030A0"/>
                </a:solidFill>
                <a:latin typeface="LiberationSerif"/>
              </a:rPr>
              <a:t>it follows that:</a:t>
            </a:r>
            <a:endParaRPr lang="en-US" sz="2000" dirty="0">
              <a:solidFill>
                <a:srgbClr val="7030A0"/>
              </a:solidFill>
            </a:endParaRPr>
          </a:p>
        </p:txBody>
      </p:sp>
      <p:pic>
        <p:nvPicPr>
          <p:cNvPr id="11" name="Picture 10" descr="A picture containing text, clock, watch&#10;&#10;Description automatically generated">
            <a:extLst>
              <a:ext uri="{FF2B5EF4-FFF2-40B4-BE49-F238E27FC236}">
                <a16:creationId xmlns:a16="http://schemas.microsoft.com/office/drawing/2014/main" id="{F9EAE366-A1F8-B440-B476-9FC317347A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0684" y="538083"/>
            <a:ext cx="2438400" cy="520700"/>
          </a:xfrm>
          <a:prstGeom prst="rect">
            <a:avLst/>
          </a:prstGeom>
        </p:spPr>
      </p:pic>
      <p:pic>
        <p:nvPicPr>
          <p:cNvPr id="13" name="Picture 12" descr="Text&#10;&#10;Description automatically generated">
            <a:extLst>
              <a:ext uri="{FF2B5EF4-FFF2-40B4-BE49-F238E27FC236}">
                <a16:creationId xmlns:a16="http://schemas.microsoft.com/office/drawing/2014/main" id="{C0BA2D10-4035-0D49-B334-EA8110518B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49650" y="1058783"/>
            <a:ext cx="2349500" cy="2514600"/>
          </a:xfrm>
          <a:prstGeom prst="rect">
            <a:avLst/>
          </a:prstGeom>
        </p:spPr>
      </p:pic>
      <p:pic>
        <p:nvPicPr>
          <p:cNvPr id="15" name="Picture 14" descr="Diagram, schematic&#10;&#10;Description automatically generated">
            <a:extLst>
              <a:ext uri="{FF2B5EF4-FFF2-40B4-BE49-F238E27FC236}">
                <a16:creationId xmlns:a16="http://schemas.microsoft.com/office/drawing/2014/main" id="{7144FD1E-BE2A-EC49-9899-FAD198CE95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6850" y="3621094"/>
            <a:ext cx="4432300" cy="1193800"/>
          </a:xfrm>
          <a:prstGeom prst="rect">
            <a:avLst/>
          </a:prstGeom>
        </p:spPr>
      </p:pic>
      <p:pic>
        <p:nvPicPr>
          <p:cNvPr id="17" name="Picture 16" descr="A picture containing text, clock&#10;&#10;Description automatically generated">
            <a:extLst>
              <a:ext uri="{FF2B5EF4-FFF2-40B4-BE49-F238E27FC236}">
                <a16:creationId xmlns:a16="http://schemas.microsoft.com/office/drawing/2014/main" id="{26C8298E-B012-354D-8381-CFDAE310B1B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68794" y="4939999"/>
            <a:ext cx="3769659" cy="743005"/>
          </a:xfrm>
          <a:prstGeom prst="rect">
            <a:avLst/>
          </a:prstGeom>
        </p:spPr>
      </p:pic>
      <p:sp>
        <p:nvSpPr>
          <p:cNvPr id="18" name="Rectangle 17">
            <a:extLst>
              <a:ext uri="{FF2B5EF4-FFF2-40B4-BE49-F238E27FC236}">
                <a16:creationId xmlns:a16="http://schemas.microsoft.com/office/drawing/2014/main" id="{34F9C0F4-039B-7E45-AC4A-08B3C23F06A8}"/>
              </a:ext>
            </a:extLst>
          </p:cNvPr>
          <p:cNvSpPr/>
          <p:nvPr/>
        </p:nvSpPr>
        <p:spPr>
          <a:xfrm>
            <a:off x="541843" y="5019113"/>
            <a:ext cx="2438400" cy="584775"/>
          </a:xfrm>
          <a:prstGeom prst="rect">
            <a:avLst/>
          </a:prstGeom>
        </p:spPr>
        <p:txBody>
          <a:bodyPr wrap="square">
            <a:spAutoFit/>
          </a:bodyPr>
          <a:lstStyle/>
          <a:p>
            <a:r>
              <a:rPr lang="en-US" sz="1600" dirty="0">
                <a:solidFill>
                  <a:srgbClr val="3B124D"/>
                </a:solidFill>
                <a:latin typeface="LiberationSerif"/>
              </a:rPr>
              <a:t>The instantaneous velocity of the center of mass </a:t>
            </a:r>
            <a:endParaRPr lang="en-US" sz="1600" dirty="0">
              <a:solidFill>
                <a:srgbClr val="3B124D"/>
              </a:solidFill>
            </a:endParaRPr>
          </a:p>
        </p:txBody>
      </p:sp>
    </p:spTree>
    <p:extLst>
      <p:ext uri="{BB962C8B-B14F-4D97-AF65-F5344CB8AC3E}">
        <p14:creationId xmlns:p14="http://schemas.microsoft.com/office/powerpoint/2010/main" val="8288883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Center of Mass </a:t>
            </a:r>
          </a:p>
        </p:txBody>
      </p:sp>
      <p:pic>
        <p:nvPicPr>
          <p:cNvPr id="3" name="Picture 2" descr="Chart, line chart&#10;&#10;Description automatically generated">
            <a:extLst>
              <a:ext uri="{FF2B5EF4-FFF2-40B4-BE49-F238E27FC236}">
                <a16:creationId xmlns:a16="http://schemas.microsoft.com/office/drawing/2014/main" id="{8690207F-20CA-FD41-9985-32DAC74745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451" y="1314449"/>
            <a:ext cx="6202456" cy="3445809"/>
          </a:xfrm>
          <a:prstGeom prst="rect">
            <a:avLst/>
          </a:prstGeom>
        </p:spPr>
      </p:pic>
      <p:pic>
        <p:nvPicPr>
          <p:cNvPr id="6" name="Picture 5" descr="Text&#10;&#10;Description automatically generated">
            <a:extLst>
              <a:ext uri="{FF2B5EF4-FFF2-40B4-BE49-F238E27FC236}">
                <a16:creationId xmlns:a16="http://schemas.microsoft.com/office/drawing/2014/main" id="{76938182-94CE-424E-AA9E-A9205C94B4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9713" y="1521661"/>
            <a:ext cx="3025962" cy="3238597"/>
          </a:xfrm>
          <a:prstGeom prst="rect">
            <a:avLst/>
          </a:prstGeom>
        </p:spPr>
      </p:pic>
      <p:sp>
        <p:nvSpPr>
          <p:cNvPr id="8" name="Rectangle 7">
            <a:extLst>
              <a:ext uri="{FF2B5EF4-FFF2-40B4-BE49-F238E27FC236}">
                <a16:creationId xmlns:a16="http://schemas.microsoft.com/office/drawing/2014/main" id="{2F843999-9265-2745-9037-342125E00894}"/>
              </a:ext>
            </a:extLst>
          </p:cNvPr>
          <p:cNvSpPr/>
          <p:nvPr/>
        </p:nvSpPr>
        <p:spPr>
          <a:xfrm>
            <a:off x="1117451" y="929728"/>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Tree>
    <p:extLst>
      <p:ext uri="{BB962C8B-B14F-4D97-AF65-F5344CB8AC3E}">
        <p14:creationId xmlns:p14="http://schemas.microsoft.com/office/powerpoint/2010/main" val="33922224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192797" y="89044"/>
            <a:ext cx="5806406" cy="954107"/>
          </a:xfrm>
          <a:prstGeom prst="rect">
            <a:avLst/>
          </a:prstGeom>
        </p:spPr>
        <p:txBody>
          <a:bodyPr wrap="square">
            <a:spAutoFit/>
          </a:bodyPr>
          <a:lstStyle/>
          <a:p>
            <a:r>
              <a:rPr lang="en-US" sz="2800" dirty="0">
                <a:solidFill>
                  <a:srgbClr val="C00000"/>
                </a:solidFill>
                <a:latin typeface="NewBaskervilleStd-Roman"/>
              </a:rPr>
              <a:t>Center of Mass of Continuous Objects </a:t>
            </a:r>
          </a:p>
          <a:p>
            <a:endParaRPr lang="en-US" sz="2800" dirty="0">
              <a:solidFill>
                <a:srgbClr val="C00000"/>
              </a:solidFill>
              <a:latin typeface="NewBaskervilleStd-Roman"/>
            </a:endParaRPr>
          </a:p>
        </p:txBody>
      </p:sp>
      <p:sp>
        <p:nvSpPr>
          <p:cNvPr id="2" name="Rectangle 1">
            <a:extLst>
              <a:ext uri="{FF2B5EF4-FFF2-40B4-BE49-F238E27FC236}">
                <a16:creationId xmlns:a16="http://schemas.microsoft.com/office/drawing/2014/main" id="{C64D4286-2103-FF46-816E-20F32694DB93}"/>
              </a:ext>
            </a:extLst>
          </p:cNvPr>
          <p:cNvSpPr/>
          <p:nvPr/>
        </p:nvSpPr>
        <p:spPr>
          <a:xfrm>
            <a:off x="654422" y="689208"/>
            <a:ext cx="10035989" cy="707886"/>
          </a:xfrm>
          <a:prstGeom prst="rect">
            <a:avLst/>
          </a:prstGeom>
        </p:spPr>
        <p:txBody>
          <a:bodyPr wrap="square">
            <a:spAutoFit/>
          </a:bodyPr>
          <a:lstStyle/>
          <a:p>
            <a:r>
              <a:rPr lang="en-US" sz="2000" dirty="0">
                <a:latin typeface="LiberationSerif"/>
              </a:rPr>
              <a:t>If the object in question has its mass distributed uniformly in space, rather than as a collection of discrete particles, then </a:t>
            </a:r>
            <a:r>
              <a:rPr lang="en-US" sz="2000" i="1" dirty="0" err="1">
                <a:latin typeface="STIXGeneral" pitchFamily="2" charset="2"/>
              </a:rPr>
              <a:t>m</a:t>
            </a:r>
            <a:r>
              <a:rPr lang="en-US" sz="2000" i="1" baseline="-25000" dirty="0" err="1">
                <a:latin typeface="STIXGeneral" pitchFamily="2" charset="2"/>
              </a:rPr>
              <a:t>j</a:t>
            </a:r>
            <a:r>
              <a:rPr lang="en-US" sz="2000" i="1" dirty="0">
                <a:latin typeface="STIXGeneral" pitchFamily="2" charset="2"/>
              </a:rPr>
              <a:t> </a:t>
            </a:r>
            <a:r>
              <a:rPr lang="en-US" sz="2000" dirty="0">
                <a:latin typeface="STIXGeneral" pitchFamily="2" charset="2"/>
              </a:rPr>
              <a:t>→ </a:t>
            </a:r>
            <a:r>
              <a:rPr lang="en-US" sz="2000" i="1" dirty="0">
                <a:latin typeface="STIXGeneral" pitchFamily="2" charset="2"/>
              </a:rPr>
              <a:t>dm </a:t>
            </a:r>
            <a:r>
              <a:rPr lang="en-US" sz="2000" dirty="0">
                <a:latin typeface="LiberationSerif"/>
              </a:rPr>
              <a:t>, and the summation becomes an integral: </a:t>
            </a:r>
            <a:endParaRPr lang="en-US" sz="2000" dirty="0"/>
          </a:p>
        </p:txBody>
      </p:sp>
      <p:pic>
        <p:nvPicPr>
          <p:cNvPr id="6" name="Picture 5" descr="Text&#10;&#10;Description automatically generated">
            <a:extLst>
              <a:ext uri="{FF2B5EF4-FFF2-40B4-BE49-F238E27FC236}">
                <a16:creationId xmlns:a16="http://schemas.microsoft.com/office/drawing/2014/main" id="{3A0BEBB1-8A66-E942-9104-48DC6E3693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4816" y="1397094"/>
            <a:ext cx="2235200" cy="685800"/>
          </a:xfrm>
          <a:prstGeom prst="rect">
            <a:avLst/>
          </a:prstGeom>
        </p:spPr>
      </p:pic>
      <p:pic>
        <p:nvPicPr>
          <p:cNvPr id="10" name="Picture Placeholder 1" descr="A hoop of radius r is centered on the origin of an x y coordinate system. A short arc of length ds at an angle theta is highlighted and labeled as mass dm. The radius r from the origin to ds is the hypotenuse of the right triangle with bottom side length x.">
            <a:extLst>
              <a:ext uri="{FF2B5EF4-FFF2-40B4-BE49-F238E27FC236}">
                <a16:creationId xmlns:a16="http://schemas.microsoft.com/office/drawing/2014/main" id="{607445A1-C332-FC48-B654-8E77516C7C9A}"/>
              </a:ext>
            </a:extLst>
          </p:cNvPr>
          <p:cNvPicPr>
            <a:picLocks noChangeAspect="1"/>
          </p:cNvPicPr>
          <p:nvPr/>
        </p:nvPicPr>
        <p:blipFill>
          <a:blip r:embed="rId4" cstate="email">
            <a:extLst>
              <a:ext uri="{28A0092B-C50C-407E-A947-70E740481C1C}">
                <a14:useLocalDpi xmlns:a14="http://schemas.microsoft.com/office/drawing/2010/main" val="0"/>
              </a:ext>
            </a:extLst>
          </a:blip>
          <a:srcRect l="-66643" r="-66643"/>
          <a:stretch>
            <a:fillRect/>
          </a:stretch>
        </p:blipFill>
        <p:spPr>
          <a:xfrm>
            <a:off x="-1966913" y="2193777"/>
            <a:ext cx="8062913" cy="3500071"/>
          </a:xfrm>
          <a:prstGeom prst="rect">
            <a:avLst/>
          </a:prstGeom>
        </p:spPr>
      </p:pic>
      <p:sp>
        <p:nvSpPr>
          <p:cNvPr id="11" name="Rectangle 10">
            <a:extLst>
              <a:ext uri="{FF2B5EF4-FFF2-40B4-BE49-F238E27FC236}">
                <a16:creationId xmlns:a16="http://schemas.microsoft.com/office/drawing/2014/main" id="{A3834B07-81E5-F345-B3F4-3CE9C1CA4F2F}"/>
              </a:ext>
            </a:extLst>
          </p:cNvPr>
          <p:cNvSpPr/>
          <p:nvPr/>
        </p:nvSpPr>
        <p:spPr>
          <a:xfrm>
            <a:off x="3868270" y="2193777"/>
            <a:ext cx="8062913" cy="923330"/>
          </a:xfrm>
          <a:prstGeom prst="rect">
            <a:avLst/>
          </a:prstGeom>
        </p:spPr>
        <p:txBody>
          <a:bodyPr wrap="square">
            <a:spAutoFit/>
          </a:bodyPr>
          <a:lstStyle/>
          <a:p>
            <a:r>
              <a:rPr lang="en-US" dirty="0">
                <a:solidFill>
                  <a:srgbClr val="008000"/>
                </a:solidFill>
                <a:latin typeface="LiberationSerif"/>
              </a:rPr>
              <a:t>Example</a:t>
            </a:r>
          </a:p>
          <a:p>
            <a:r>
              <a:rPr lang="en-US" dirty="0">
                <a:latin typeface="LiberationSerif"/>
              </a:rPr>
              <a:t>Find the center of mass of a uniform hoop. We express the coordinates of a differential piece of the hoop, and then integrate around the hoop.</a:t>
            </a:r>
            <a:endParaRPr lang="en-US" dirty="0"/>
          </a:p>
        </p:txBody>
      </p:sp>
      <p:sp>
        <p:nvSpPr>
          <p:cNvPr id="12" name="Rectangle 11">
            <a:extLst>
              <a:ext uri="{FF2B5EF4-FFF2-40B4-BE49-F238E27FC236}">
                <a16:creationId xmlns:a16="http://schemas.microsoft.com/office/drawing/2014/main" id="{576E2AF5-D728-8F4C-AD4D-F64E799023B2}"/>
              </a:ext>
            </a:extLst>
          </p:cNvPr>
          <p:cNvSpPr/>
          <p:nvPr/>
        </p:nvSpPr>
        <p:spPr>
          <a:xfrm>
            <a:off x="0" y="5710123"/>
            <a:ext cx="4423337" cy="646331"/>
          </a:xfrm>
          <a:prstGeom prst="rect">
            <a:avLst/>
          </a:prstGeom>
        </p:spPr>
        <p:txBody>
          <a:bodyPr wrap="square">
            <a:spAutoFit/>
          </a:bodyPr>
          <a:lstStyle/>
          <a:p>
            <a:r>
              <a:rPr lang="en-US" dirty="0">
                <a:solidFill>
                  <a:srgbClr val="C00000"/>
                </a:solidFill>
                <a:latin typeface="LiberationSerif"/>
              </a:rPr>
              <a:t>The hoop’s symmetry suggests the center of mass should be at its geometric center. </a:t>
            </a:r>
            <a:endParaRPr lang="en-US" dirty="0">
              <a:solidFill>
                <a:srgbClr val="C00000"/>
              </a:solidFill>
            </a:endParaRPr>
          </a:p>
        </p:txBody>
      </p:sp>
      <p:pic>
        <p:nvPicPr>
          <p:cNvPr id="14" name="Picture 13" descr="A picture containing text, watch&#10;&#10;Description automatically generated">
            <a:extLst>
              <a:ext uri="{FF2B5EF4-FFF2-40B4-BE49-F238E27FC236}">
                <a16:creationId xmlns:a16="http://schemas.microsoft.com/office/drawing/2014/main" id="{D36C11AB-436B-FD4F-8870-5A7F5945AF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66386" y="3126348"/>
            <a:ext cx="2222500" cy="660400"/>
          </a:xfrm>
          <a:prstGeom prst="rect">
            <a:avLst/>
          </a:prstGeom>
        </p:spPr>
      </p:pic>
      <p:pic>
        <p:nvPicPr>
          <p:cNvPr id="16" name="Picture 15" descr="Text&#10;&#10;Description automatically generated with medium confidence">
            <a:extLst>
              <a:ext uri="{FF2B5EF4-FFF2-40B4-BE49-F238E27FC236}">
                <a16:creationId xmlns:a16="http://schemas.microsoft.com/office/drawing/2014/main" id="{48FC84D4-D4B0-BD47-ADAD-FA715B1D25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61243" y="3852538"/>
            <a:ext cx="3962400" cy="825500"/>
          </a:xfrm>
          <a:prstGeom prst="rect">
            <a:avLst/>
          </a:prstGeom>
        </p:spPr>
      </p:pic>
      <p:sp>
        <p:nvSpPr>
          <p:cNvPr id="17" name="Rectangle 16">
            <a:extLst>
              <a:ext uri="{FF2B5EF4-FFF2-40B4-BE49-F238E27FC236}">
                <a16:creationId xmlns:a16="http://schemas.microsoft.com/office/drawing/2014/main" id="{231D3D22-9C09-2449-97EB-A4FC0A4CADE2}"/>
              </a:ext>
            </a:extLst>
          </p:cNvPr>
          <p:cNvSpPr/>
          <p:nvPr/>
        </p:nvSpPr>
        <p:spPr>
          <a:xfrm>
            <a:off x="9345705" y="4118601"/>
            <a:ext cx="2585477" cy="1200329"/>
          </a:xfrm>
          <a:prstGeom prst="rect">
            <a:avLst/>
          </a:prstGeom>
        </p:spPr>
        <p:txBody>
          <a:bodyPr wrap="square">
            <a:spAutoFit/>
          </a:bodyPr>
          <a:lstStyle/>
          <a:p>
            <a:r>
              <a:rPr lang="en-US" dirty="0">
                <a:solidFill>
                  <a:srgbClr val="3B124D"/>
                </a:solidFill>
                <a:latin typeface="LiberationSerif"/>
              </a:rPr>
              <a:t>Substitute		</a:t>
            </a:r>
          </a:p>
          <a:p>
            <a:r>
              <a:rPr lang="en-US" dirty="0">
                <a:solidFill>
                  <a:srgbClr val="3B124D"/>
                </a:solidFill>
                <a:latin typeface="LiberationSerif"/>
              </a:rPr>
              <a:t>where </a:t>
            </a:r>
            <a:r>
              <a:rPr lang="el-GR" dirty="0">
                <a:solidFill>
                  <a:srgbClr val="3B124D"/>
                </a:solidFill>
                <a:latin typeface="LiberationSerif"/>
              </a:rPr>
              <a:t>λ</a:t>
            </a:r>
            <a:r>
              <a:rPr lang="en-US" dirty="0">
                <a:solidFill>
                  <a:srgbClr val="3B124D"/>
                </a:solidFill>
                <a:latin typeface="LiberationSerif"/>
              </a:rPr>
              <a:t> is the linear mass density (</a:t>
            </a:r>
            <a:r>
              <a:rPr lang="en-US" dirty="0">
                <a:solidFill>
                  <a:srgbClr val="3B124D"/>
                </a:solidFill>
              </a:rPr>
              <a:t>kilograms of material per meter</a:t>
            </a:r>
            <a:r>
              <a:rPr lang="en-US" dirty="0">
                <a:solidFill>
                  <a:srgbClr val="3B124D"/>
                </a:solidFill>
                <a:latin typeface="LiberationSerif"/>
              </a:rPr>
              <a:t>)</a:t>
            </a:r>
            <a:endParaRPr lang="en-US" dirty="0">
              <a:solidFill>
                <a:srgbClr val="3B124D"/>
              </a:solidFill>
            </a:endParaRPr>
          </a:p>
        </p:txBody>
      </p:sp>
      <p:pic>
        <p:nvPicPr>
          <p:cNvPr id="19" name="Picture 18" descr="Text&#10;&#10;Description automatically generated">
            <a:extLst>
              <a:ext uri="{FF2B5EF4-FFF2-40B4-BE49-F238E27FC236}">
                <a16:creationId xmlns:a16="http://schemas.microsoft.com/office/drawing/2014/main" id="{98266A14-E8DE-3A40-BF8B-36586FD032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37531" y="4141163"/>
            <a:ext cx="1054100" cy="317500"/>
          </a:xfrm>
          <a:prstGeom prst="rect">
            <a:avLst/>
          </a:prstGeom>
        </p:spPr>
      </p:pic>
      <p:pic>
        <p:nvPicPr>
          <p:cNvPr id="21" name="Picture 20" descr="Text&#10;&#10;Description automatically generated">
            <a:extLst>
              <a:ext uri="{FF2B5EF4-FFF2-40B4-BE49-F238E27FC236}">
                <a16:creationId xmlns:a16="http://schemas.microsoft.com/office/drawing/2014/main" id="{102988C0-81DB-074C-B95B-E22E79407A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61243" y="4797616"/>
            <a:ext cx="3962400" cy="787400"/>
          </a:xfrm>
          <a:prstGeom prst="rect">
            <a:avLst/>
          </a:prstGeom>
        </p:spPr>
      </p:pic>
      <p:sp>
        <p:nvSpPr>
          <p:cNvPr id="22" name="Rectangle 21">
            <a:extLst>
              <a:ext uri="{FF2B5EF4-FFF2-40B4-BE49-F238E27FC236}">
                <a16:creationId xmlns:a16="http://schemas.microsoft.com/office/drawing/2014/main" id="{6EFBCE1F-F4B5-854B-9C9A-D93A7F9FB2DB}"/>
              </a:ext>
            </a:extLst>
          </p:cNvPr>
          <p:cNvSpPr/>
          <p:nvPr/>
        </p:nvSpPr>
        <p:spPr>
          <a:xfrm>
            <a:off x="5070598" y="5644868"/>
            <a:ext cx="6003951" cy="369332"/>
          </a:xfrm>
          <a:prstGeom prst="rect">
            <a:avLst/>
          </a:prstGeom>
        </p:spPr>
        <p:txBody>
          <a:bodyPr wrap="none">
            <a:spAutoFit/>
          </a:bodyPr>
          <a:lstStyle/>
          <a:p>
            <a:r>
              <a:rPr lang="en-US" dirty="0">
                <a:solidFill>
                  <a:srgbClr val="3B124D"/>
                </a:solidFill>
                <a:latin typeface="LiberationSerif"/>
              </a:rPr>
              <a:t>the arc length </a:t>
            </a:r>
            <a:r>
              <a:rPr lang="en-US" i="1" dirty="0">
                <a:solidFill>
                  <a:srgbClr val="3B124D"/>
                </a:solidFill>
                <a:latin typeface="LiberationSerif"/>
              </a:rPr>
              <a:t>ds </a:t>
            </a:r>
            <a:r>
              <a:rPr lang="en-US" dirty="0">
                <a:solidFill>
                  <a:srgbClr val="3B124D"/>
                </a:solidFill>
                <a:latin typeface="LiberationSerif"/>
              </a:rPr>
              <a:t>subtends a differential angle </a:t>
            </a:r>
            <a:r>
              <a:rPr lang="en-US" i="1" dirty="0">
                <a:solidFill>
                  <a:srgbClr val="3B124D"/>
                </a:solidFill>
                <a:latin typeface="STIXGeneral" pitchFamily="2" charset="2"/>
              </a:rPr>
              <a:t>d</a:t>
            </a:r>
            <a:r>
              <a:rPr lang="el-GR" i="1" dirty="0">
                <a:solidFill>
                  <a:srgbClr val="3B124D"/>
                </a:solidFill>
                <a:latin typeface="STIXGeneral" pitchFamily="2" charset="2"/>
              </a:rPr>
              <a:t>θ </a:t>
            </a:r>
            <a:r>
              <a:rPr lang="el-GR" dirty="0">
                <a:solidFill>
                  <a:srgbClr val="3B124D"/>
                </a:solidFill>
                <a:latin typeface="LiberationSerif"/>
              </a:rPr>
              <a:t>, </a:t>
            </a:r>
            <a:r>
              <a:rPr lang="en-US" dirty="0">
                <a:solidFill>
                  <a:srgbClr val="3B124D"/>
                </a:solidFill>
                <a:latin typeface="LiberationSerif"/>
              </a:rPr>
              <a:t>so we have </a:t>
            </a:r>
            <a:endParaRPr lang="en-US" dirty="0">
              <a:solidFill>
                <a:srgbClr val="3B124D"/>
              </a:solidFill>
            </a:endParaRPr>
          </a:p>
        </p:txBody>
      </p:sp>
      <p:pic>
        <p:nvPicPr>
          <p:cNvPr id="24" name="Picture 23" descr="Text&#10;&#10;Description automatically generated">
            <a:extLst>
              <a:ext uri="{FF2B5EF4-FFF2-40B4-BE49-F238E27FC236}">
                <a16:creationId xmlns:a16="http://schemas.microsoft.com/office/drawing/2014/main" id="{773147DA-390E-7144-B35A-D4D7A3D0A15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924521" y="5617974"/>
            <a:ext cx="1016000" cy="368300"/>
          </a:xfrm>
          <a:prstGeom prst="rect">
            <a:avLst/>
          </a:prstGeom>
        </p:spPr>
      </p:pic>
      <p:pic>
        <p:nvPicPr>
          <p:cNvPr id="26" name="Picture 25" descr="Text&#10;&#10;Description automatically generated with medium confidence">
            <a:extLst>
              <a:ext uri="{FF2B5EF4-FFF2-40B4-BE49-F238E27FC236}">
                <a16:creationId xmlns:a16="http://schemas.microsoft.com/office/drawing/2014/main" id="{828B0959-AB44-6340-B65D-DD45444AD77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162458" y="5986274"/>
            <a:ext cx="4089400" cy="838200"/>
          </a:xfrm>
          <a:prstGeom prst="rect">
            <a:avLst/>
          </a:prstGeom>
        </p:spPr>
      </p:pic>
    </p:spTree>
    <p:extLst>
      <p:ext uri="{BB962C8B-B14F-4D97-AF65-F5344CB8AC3E}">
        <p14:creationId xmlns:p14="http://schemas.microsoft.com/office/powerpoint/2010/main" val="5511713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A1A21DD-C6A9-4F47-A9F8-6BA65D8C04E7}"/>
              </a:ext>
            </a:extLst>
          </p:cNvPr>
          <p:cNvSpPr/>
          <p:nvPr/>
        </p:nvSpPr>
        <p:spPr>
          <a:xfrm>
            <a:off x="310028" y="6372730"/>
            <a:ext cx="8489576" cy="369332"/>
          </a:xfrm>
          <a:prstGeom prst="rect">
            <a:avLst/>
          </a:prstGeom>
        </p:spPr>
        <p:txBody>
          <a:bodyPr wrap="square">
            <a:spAutoFit/>
          </a:bodyPr>
          <a:lstStyle/>
          <a:p>
            <a:r>
              <a:rPr lang="en-US" dirty="0">
                <a:solidFill>
                  <a:srgbClr val="3B124D"/>
                </a:solidFill>
                <a:latin typeface="LiberationSerif"/>
              </a:rPr>
              <a:t>Conservation of momentum expressed in terms of the center of mass of the system </a:t>
            </a:r>
            <a:endParaRPr lang="en-US" dirty="0">
              <a:solidFill>
                <a:srgbClr val="3B124D"/>
              </a:solidFill>
            </a:endParaRPr>
          </a:p>
        </p:txBody>
      </p:sp>
      <p:pic>
        <p:nvPicPr>
          <p:cNvPr id="7" name="Picture 6" descr="Diagram&#10;&#10;Description automatically generated with medium confidence">
            <a:extLst>
              <a:ext uri="{FF2B5EF4-FFF2-40B4-BE49-F238E27FC236}">
                <a16:creationId xmlns:a16="http://schemas.microsoft.com/office/drawing/2014/main" id="{1A40415B-DED4-F64D-91A8-7B1B6A3A3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2811" y="6261847"/>
            <a:ext cx="2387600" cy="609600"/>
          </a:xfrm>
          <a:prstGeom prst="rect">
            <a:avLst/>
          </a:prstGeom>
        </p:spPr>
      </p:pic>
      <p:sp>
        <p:nvSpPr>
          <p:cNvPr id="8" name="Rectangle 7">
            <a:extLst>
              <a:ext uri="{FF2B5EF4-FFF2-40B4-BE49-F238E27FC236}">
                <a16:creationId xmlns:a16="http://schemas.microsoft.com/office/drawing/2014/main" id="{B9F1B945-8800-0146-93FB-F69FAF041F6D}"/>
              </a:ext>
            </a:extLst>
          </p:cNvPr>
          <p:cNvSpPr/>
          <p:nvPr/>
        </p:nvSpPr>
        <p:spPr>
          <a:xfrm>
            <a:off x="3192797" y="89044"/>
            <a:ext cx="5806406" cy="954107"/>
          </a:xfrm>
          <a:prstGeom prst="rect">
            <a:avLst/>
          </a:prstGeom>
        </p:spPr>
        <p:txBody>
          <a:bodyPr wrap="square">
            <a:spAutoFit/>
          </a:bodyPr>
          <a:lstStyle/>
          <a:p>
            <a:r>
              <a:rPr lang="en-US" sz="2800" dirty="0">
                <a:solidFill>
                  <a:srgbClr val="C00000"/>
                </a:solidFill>
                <a:latin typeface="NewBaskervilleStd-Roman"/>
              </a:rPr>
              <a:t>Center of Mass of Continuous Objects </a:t>
            </a:r>
          </a:p>
          <a:p>
            <a:endParaRPr lang="en-US" sz="2800" dirty="0">
              <a:solidFill>
                <a:srgbClr val="C00000"/>
              </a:solidFill>
              <a:latin typeface="NewBaskervilleStd-Roman"/>
            </a:endParaRPr>
          </a:p>
        </p:txBody>
      </p:sp>
      <p:pic>
        <p:nvPicPr>
          <p:cNvPr id="9" name="Picture Placeholder 1" descr="A hoop of radius r is centered on the origin of an x y coordinate system. A short arc of length ds at an angle theta is highlighted and labeled as mass dm. The radius r from the origin to ds is the hypotenuse of the right triangle with bottom side length x.">
            <a:extLst>
              <a:ext uri="{FF2B5EF4-FFF2-40B4-BE49-F238E27FC236}">
                <a16:creationId xmlns:a16="http://schemas.microsoft.com/office/drawing/2014/main" id="{1C2E0B5B-C748-6449-A0F5-9386C5E6BE95}"/>
              </a:ext>
            </a:extLst>
          </p:cNvPr>
          <p:cNvPicPr>
            <a:picLocks noChangeAspect="1"/>
          </p:cNvPicPr>
          <p:nvPr/>
        </p:nvPicPr>
        <p:blipFill>
          <a:blip r:embed="rId4" cstate="email">
            <a:extLst>
              <a:ext uri="{28A0092B-C50C-407E-A947-70E740481C1C}">
                <a14:useLocalDpi xmlns:a14="http://schemas.microsoft.com/office/drawing/2010/main" val="0"/>
              </a:ext>
            </a:extLst>
          </a:blip>
          <a:srcRect l="-66643" r="-66643"/>
          <a:stretch>
            <a:fillRect/>
          </a:stretch>
        </p:blipFill>
        <p:spPr>
          <a:xfrm>
            <a:off x="-1966913" y="2193777"/>
            <a:ext cx="8062913" cy="3500071"/>
          </a:xfrm>
          <a:prstGeom prst="rect">
            <a:avLst/>
          </a:prstGeom>
        </p:spPr>
      </p:pic>
      <p:sp>
        <p:nvSpPr>
          <p:cNvPr id="2" name="Rectangle 1">
            <a:extLst>
              <a:ext uri="{FF2B5EF4-FFF2-40B4-BE49-F238E27FC236}">
                <a16:creationId xmlns:a16="http://schemas.microsoft.com/office/drawing/2014/main" id="{0ED2501E-FF02-3C44-9F2A-074CE66FCD8A}"/>
              </a:ext>
            </a:extLst>
          </p:cNvPr>
          <p:cNvSpPr/>
          <p:nvPr/>
        </p:nvSpPr>
        <p:spPr>
          <a:xfrm>
            <a:off x="735105" y="1625036"/>
            <a:ext cx="10170459" cy="400110"/>
          </a:xfrm>
          <a:prstGeom prst="rect">
            <a:avLst/>
          </a:prstGeom>
        </p:spPr>
        <p:txBody>
          <a:bodyPr wrap="square">
            <a:spAutoFit/>
          </a:bodyPr>
          <a:lstStyle/>
          <a:p>
            <a:r>
              <a:rPr lang="el-GR" sz="2000" i="1" dirty="0">
                <a:latin typeface="STIXGeneral" pitchFamily="2" charset="2"/>
              </a:rPr>
              <a:t>λ </a:t>
            </a:r>
            <a:r>
              <a:rPr lang="en-US" sz="2000" dirty="0">
                <a:latin typeface="LiberationSerif"/>
              </a:rPr>
              <a:t>is the linear mass density, it is computed by dividing the total mass by the length of the hoop: </a:t>
            </a:r>
            <a:endParaRPr lang="en-US" sz="2000" dirty="0"/>
          </a:p>
        </p:txBody>
      </p:sp>
      <p:pic>
        <p:nvPicPr>
          <p:cNvPr id="10" name="Picture 9" descr="Text&#10;&#10;Description automatically generated">
            <a:extLst>
              <a:ext uri="{FF2B5EF4-FFF2-40B4-BE49-F238E27FC236}">
                <a16:creationId xmlns:a16="http://schemas.microsoft.com/office/drawing/2014/main" id="{9297365A-F956-1C4F-9C24-B794C41A2D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72336" y="1457177"/>
            <a:ext cx="927100" cy="736600"/>
          </a:xfrm>
          <a:prstGeom prst="rect">
            <a:avLst/>
          </a:prstGeom>
        </p:spPr>
      </p:pic>
      <p:pic>
        <p:nvPicPr>
          <p:cNvPr id="11" name="Picture 10" descr="Text&#10;&#10;Description automatically generated with medium confidence">
            <a:extLst>
              <a:ext uri="{FF2B5EF4-FFF2-40B4-BE49-F238E27FC236}">
                <a16:creationId xmlns:a16="http://schemas.microsoft.com/office/drawing/2014/main" id="{A8BD0496-9203-7841-AB73-B2913E57C4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09803" y="688744"/>
            <a:ext cx="4089400" cy="838200"/>
          </a:xfrm>
          <a:prstGeom prst="rect">
            <a:avLst/>
          </a:prstGeom>
        </p:spPr>
      </p:pic>
      <p:pic>
        <p:nvPicPr>
          <p:cNvPr id="13" name="Picture 12" descr="Diagram&#10;&#10;Description automatically generated">
            <a:extLst>
              <a:ext uri="{FF2B5EF4-FFF2-40B4-BE49-F238E27FC236}">
                <a16:creationId xmlns:a16="http://schemas.microsoft.com/office/drawing/2014/main" id="{B8BB971A-738A-3A4F-A3A8-991CE4F07B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09803" y="2025146"/>
            <a:ext cx="4622800" cy="1549400"/>
          </a:xfrm>
          <a:prstGeom prst="rect">
            <a:avLst/>
          </a:prstGeom>
        </p:spPr>
      </p:pic>
      <p:sp>
        <p:nvSpPr>
          <p:cNvPr id="14" name="Rectangle 13">
            <a:extLst>
              <a:ext uri="{FF2B5EF4-FFF2-40B4-BE49-F238E27FC236}">
                <a16:creationId xmlns:a16="http://schemas.microsoft.com/office/drawing/2014/main" id="{C072E4DF-A322-B545-8D6C-86BAA0800C1A}"/>
              </a:ext>
            </a:extLst>
          </p:cNvPr>
          <p:cNvSpPr/>
          <p:nvPr/>
        </p:nvSpPr>
        <p:spPr>
          <a:xfrm>
            <a:off x="4105527" y="3600460"/>
            <a:ext cx="8018797" cy="1200329"/>
          </a:xfrm>
          <a:prstGeom prst="rect">
            <a:avLst/>
          </a:prstGeom>
        </p:spPr>
        <p:txBody>
          <a:bodyPr wrap="square">
            <a:spAutoFit/>
          </a:bodyPr>
          <a:lstStyle/>
          <a:p>
            <a:r>
              <a:rPr lang="en-US" dirty="0">
                <a:latin typeface="LiberationSerif"/>
              </a:rPr>
              <a:t>The variable of integration is now the angle </a:t>
            </a:r>
            <a:r>
              <a:rPr lang="el-GR" i="1" dirty="0">
                <a:latin typeface="STIXGeneral" pitchFamily="2" charset="2"/>
              </a:rPr>
              <a:t>θ </a:t>
            </a:r>
            <a:r>
              <a:rPr lang="el-GR" dirty="0">
                <a:latin typeface="LiberationSerif"/>
              </a:rPr>
              <a:t>. </a:t>
            </a:r>
            <a:r>
              <a:rPr lang="en-US" dirty="0">
                <a:latin typeface="LiberationSerif"/>
              </a:rPr>
              <a:t>The limits of integration (around the </a:t>
            </a:r>
            <a:endParaRPr lang="en-US" dirty="0"/>
          </a:p>
          <a:p>
            <a:r>
              <a:rPr lang="en-US" dirty="0">
                <a:latin typeface="LiberationSerif"/>
              </a:rPr>
              <a:t>circular hoop) are </a:t>
            </a:r>
            <a:r>
              <a:rPr lang="el-GR" i="1" dirty="0">
                <a:latin typeface="STIXGeneral" pitchFamily="2" charset="2"/>
              </a:rPr>
              <a:t>θ </a:t>
            </a:r>
            <a:r>
              <a:rPr lang="el-GR" dirty="0">
                <a:latin typeface="STIXGeneral" pitchFamily="2" charset="2"/>
              </a:rPr>
              <a:t>= 0 </a:t>
            </a:r>
            <a:r>
              <a:rPr lang="en-US" dirty="0">
                <a:latin typeface="STIXGeneral" pitchFamily="2" charset="2"/>
              </a:rPr>
              <a:t>to </a:t>
            </a:r>
            <a:r>
              <a:rPr lang="el-GR" i="1" dirty="0">
                <a:latin typeface="STIXGeneral" pitchFamily="2" charset="2"/>
              </a:rPr>
              <a:t>θ </a:t>
            </a:r>
            <a:r>
              <a:rPr lang="el-GR" dirty="0">
                <a:latin typeface="STIXGeneral" pitchFamily="2" charset="2"/>
              </a:rPr>
              <a:t>= 2</a:t>
            </a:r>
            <a:r>
              <a:rPr lang="el-GR" i="1" dirty="0">
                <a:latin typeface="STIXGeneral" pitchFamily="2" charset="2"/>
              </a:rPr>
              <a:t>π </a:t>
            </a:r>
            <a:r>
              <a:rPr lang="el-GR" dirty="0">
                <a:latin typeface="LiberationSerif"/>
              </a:rPr>
              <a:t>, </a:t>
            </a:r>
            <a:r>
              <a:rPr lang="en-US" dirty="0">
                <a:latin typeface="LiberationSerif"/>
              </a:rPr>
              <a:t>so </a:t>
            </a:r>
            <a:r>
              <a:rPr lang="en-US" i="1" dirty="0">
                <a:latin typeface="STIXGeneral" pitchFamily="2" charset="2"/>
              </a:rPr>
              <a:t>a </a:t>
            </a:r>
            <a:r>
              <a:rPr lang="en-US" dirty="0">
                <a:latin typeface="STIXGeneral" pitchFamily="2" charset="2"/>
              </a:rPr>
              <a:t>= 0 </a:t>
            </a:r>
            <a:r>
              <a:rPr lang="en-US" dirty="0">
                <a:latin typeface="LiberationSerif"/>
              </a:rPr>
              <a:t>and </a:t>
            </a:r>
            <a:r>
              <a:rPr lang="en-US" i="1" dirty="0">
                <a:latin typeface="STIXGeneral" pitchFamily="2" charset="2"/>
              </a:rPr>
              <a:t>b </a:t>
            </a:r>
            <a:r>
              <a:rPr lang="en-US" dirty="0">
                <a:latin typeface="STIXGeneral" pitchFamily="2" charset="2"/>
              </a:rPr>
              <a:t>= 2</a:t>
            </a:r>
            <a:r>
              <a:rPr lang="el-GR" i="1" dirty="0">
                <a:latin typeface="STIXGeneral" pitchFamily="2" charset="2"/>
              </a:rPr>
              <a:t>π </a:t>
            </a:r>
            <a:r>
              <a:rPr lang="el-GR" dirty="0">
                <a:latin typeface="LiberationSerif"/>
              </a:rPr>
              <a:t>.</a:t>
            </a:r>
            <a:r>
              <a:rPr lang="en-US" dirty="0">
                <a:latin typeface="LiberationSerif"/>
              </a:rPr>
              <a:t> S</a:t>
            </a:r>
            <a:r>
              <a:rPr lang="en-US" dirty="0"/>
              <a:t>eparating the integral into the </a:t>
            </a:r>
            <a:r>
              <a:rPr lang="en-US" i="1" dirty="0"/>
              <a:t>x</a:t>
            </a:r>
            <a:r>
              <a:rPr lang="en-US" dirty="0"/>
              <a:t>- and </a:t>
            </a:r>
            <a:r>
              <a:rPr lang="en-US" i="1" dirty="0"/>
              <a:t>y</a:t>
            </a:r>
            <a:r>
              <a:rPr lang="en-US" dirty="0"/>
              <a:t>-components </a:t>
            </a:r>
          </a:p>
          <a:p>
            <a:r>
              <a:rPr lang="el-GR" dirty="0">
                <a:latin typeface="LiberationSerif"/>
              </a:rPr>
              <a:t> </a:t>
            </a:r>
            <a:endParaRPr lang="el-GR" dirty="0"/>
          </a:p>
        </p:txBody>
      </p:sp>
      <p:pic>
        <p:nvPicPr>
          <p:cNvPr id="16" name="Picture 15" descr="Diagram, schematic&#10;&#10;Description automatically generated">
            <a:extLst>
              <a:ext uri="{FF2B5EF4-FFF2-40B4-BE49-F238E27FC236}">
                <a16:creationId xmlns:a16="http://schemas.microsoft.com/office/drawing/2014/main" id="{ECB7C837-38AD-2C40-8591-06EA136539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35003" y="4253428"/>
            <a:ext cx="5295900" cy="1739900"/>
          </a:xfrm>
          <a:prstGeom prst="rect">
            <a:avLst/>
          </a:prstGeom>
        </p:spPr>
      </p:pic>
      <p:sp>
        <p:nvSpPr>
          <p:cNvPr id="17" name="Rectangle 16">
            <a:extLst>
              <a:ext uri="{FF2B5EF4-FFF2-40B4-BE49-F238E27FC236}">
                <a16:creationId xmlns:a16="http://schemas.microsoft.com/office/drawing/2014/main" id="{6B002181-A64D-6947-8946-C52588A3A1E2}"/>
              </a:ext>
            </a:extLst>
          </p:cNvPr>
          <p:cNvSpPr/>
          <p:nvPr/>
        </p:nvSpPr>
        <p:spPr>
          <a:xfrm>
            <a:off x="9298242" y="5549523"/>
            <a:ext cx="1406604" cy="369332"/>
          </a:xfrm>
          <a:prstGeom prst="rect">
            <a:avLst/>
          </a:prstGeom>
        </p:spPr>
        <p:txBody>
          <a:bodyPr wrap="none">
            <a:spAutoFit/>
          </a:bodyPr>
          <a:lstStyle/>
          <a:p>
            <a:r>
              <a:rPr lang="en-US" dirty="0">
                <a:solidFill>
                  <a:srgbClr val="C00000"/>
                </a:solidFill>
                <a:latin typeface="LiberationSerif"/>
              </a:rPr>
              <a:t>as expected. </a:t>
            </a:r>
            <a:endParaRPr lang="en-US" dirty="0">
              <a:solidFill>
                <a:srgbClr val="C00000"/>
              </a:solidFill>
            </a:endParaRPr>
          </a:p>
        </p:txBody>
      </p:sp>
    </p:spTree>
    <p:extLst>
      <p:ext uri="{BB962C8B-B14F-4D97-AF65-F5344CB8AC3E}">
        <p14:creationId xmlns:p14="http://schemas.microsoft.com/office/powerpoint/2010/main" val="24250373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Rocket Propulsion </a:t>
            </a:r>
          </a:p>
        </p:txBody>
      </p:sp>
      <p:pic>
        <p:nvPicPr>
          <p:cNvPr id="7" name="Picture Placeholder 1" descr="A photograph of the space shuttle taking off.">
            <a:extLst>
              <a:ext uri="{FF2B5EF4-FFF2-40B4-BE49-F238E27FC236}">
                <a16:creationId xmlns:a16="http://schemas.microsoft.com/office/drawing/2014/main" id="{B18FBBF0-E203-7740-A531-86554E768D60}"/>
              </a:ext>
            </a:extLst>
          </p:cNvPr>
          <p:cNvPicPr>
            <a:picLocks noChangeAspect="1"/>
          </p:cNvPicPr>
          <p:nvPr/>
        </p:nvPicPr>
        <p:blipFill>
          <a:blip r:embed="rId3" cstate="email">
            <a:extLst>
              <a:ext uri="{28A0092B-C50C-407E-A947-70E740481C1C}">
                <a14:useLocalDpi xmlns:a14="http://schemas.microsoft.com/office/drawing/2010/main" val="0"/>
              </a:ext>
            </a:extLst>
          </a:blip>
          <a:srcRect t="-992" b="-992"/>
          <a:stretch>
            <a:fillRect/>
          </a:stretch>
        </p:blipFill>
        <p:spPr>
          <a:xfrm>
            <a:off x="219436" y="800893"/>
            <a:ext cx="4030663" cy="5256213"/>
          </a:xfrm>
          <a:prstGeom prst="rect">
            <a:avLst/>
          </a:prstGeom>
        </p:spPr>
      </p:pic>
      <p:sp>
        <p:nvSpPr>
          <p:cNvPr id="2" name="Rectangle 1">
            <a:extLst>
              <a:ext uri="{FF2B5EF4-FFF2-40B4-BE49-F238E27FC236}">
                <a16:creationId xmlns:a16="http://schemas.microsoft.com/office/drawing/2014/main" id="{67BE9672-BA60-A446-B04B-F5AED93C701E}"/>
              </a:ext>
            </a:extLst>
          </p:cNvPr>
          <p:cNvSpPr/>
          <p:nvPr/>
        </p:nvSpPr>
        <p:spPr>
          <a:xfrm>
            <a:off x="719965" y="6057106"/>
            <a:ext cx="2582695" cy="276999"/>
          </a:xfrm>
          <a:prstGeom prst="rect">
            <a:avLst/>
          </a:prstGeom>
        </p:spPr>
        <p:txBody>
          <a:bodyPr wrap="none">
            <a:spAutoFit/>
          </a:bodyPr>
          <a:lstStyle/>
          <a:p>
            <a:r>
              <a:rPr lang="en-US" sz="1200" dirty="0">
                <a:solidFill>
                  <a:srgbClr val="000000"/>
                </a:solidFill>
              </a:rPr>
              <a:t>(credit: modification of work by NASA)</a:t>
            </a:r>
            <a:endParaRPr lang="en-US" sz="1200" dirty="0"/>
          </a:p>
        </p:txBody>
      </p:sp>
      <p:sp>
        <p:nvSpPr>
          <p:cNvPr id="3" name="Rectangle 2">
            <a:extLst>
              <a:ext uri="{FF2B5EF4-FFF2-40B4-BE49-F238E27FC236}">
                <a16:creationId xmlns:a16="http://schemas.microsoft.com/office/drawing/2014/main" id="{E2E2ACF7-1895-EE4A-832F-057ACA66F83B}"/>
              </a:ext>
            </a:extLst>
          </p:cNvPr>
          <p:cNvSpPr/>
          <p:nvPr/>
        </p:nvSpPr>
        <p:spPr>
          <a:xfrm>
            <a:off x="4338600" y="800893"/>
            <a:ext cx="7785724" cy="1200329"/>
          </a:xfrm>
          <a:prstGeom prst="rect">
            <a:avLst/>
          </a:prstGeom>
        </p:spPr>
        <p:txBody>
          <a:bodyPr wrap="square">
            <a:spAutoFit/>
          </a:bodyPr>
          <a:lstStyle/>
          <a:p>
            <a:r>
              <a:rPr lang="en-US" dirty="0">
                <a:solidFill>
                  <a:srgbClr val="7030A0"/>
                </a:solidFill>
                <a:latin typeface="LiberationSerif"/>
              </a:rPr>
              <a:t>The mass and velocity of the rocket are changing; also, the total mass of ejected gases is changing. If we define our system to be the rocket + fuel, then this is a closed system (since the rocket is in deep space, there are no external forces acting on this system); as a result, momentum is conserved for this system. </a:t>
            </a:r>
            <a:endParaRPr lang="en-US" dirty="0">
              <a:solidFill>
                <a:srgbClr val="7030A0"/>
              </a:solidFill>
              <a:effectLst/>
            </a:endParaRPr>
          </a:p>
        </p:txBody>
      </p:sp>
      <p:pic>
        <p:nvPicPr>
          <p:cNvPr id="10" name="Picture Placeholder 1" descr="An x y coordinate system is shown. A rocket mass m is moving to the right with velocity v. the rocket’s exhaust mass d m sub g is moving to the left with velocity u. The system consists of the rocket and the exhaust.">
            <a:extLst>
              <a:ext uri="{FF2B5EF4-FFF2-40B4-BE49-F238E27FC236}">
                <a16:creationId xmlns:a16="http://schemas.microsoft.com/office/drawing/2014/main" id="{10139E01-6922-5647-829B-AFE9EB522A98}"/>
              </a:ext>
            </a:extLst>
          </p:cNvPr>
          <p:cNvPicPr>
            <a:picLocks noChangeAspect="1"/>
          </p:cNvPicPr>
          <p:nvPr/>
        </p:nvPicPr>
        <p:blipFill>
          <a:blip r:embed="rId4">
            <a:extLst>
              <a:ext uri="{28A0092B-C50C-407E-A947-70E740481C1C}">
                <a14:useLocalDpi xmlns:a14="http://schemas.microsoft.com/office/drawing/2010/main" val="0"/>
              </a:ext>
            </a:extLst>
          </a:blip>
          <a:srcRect l="-24981" r="-24981"/>
          <a:stretch>
            <a:fillRect/>
          </a:stretch>
        </p:blipFill>
        <p:spPr>
          <a:xfrm>
            <a:off x="4200005" y="2040358"/>
            <a:ext cx="8062913" cy="3500071"/>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58F0F830-0173-9145-86FD-BCE2ED56E4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8149" y="5709223"/>
            <a:ext cx="1282700" cy="546100"/>
          </a:xfrm>
          <a:prstGeom prst="rect">
            <a:avLst/>
          </a:prstGeom>
        </p:spPr>
      </p:pic>
      <p:pic>
        <p:nvPicPr>
          <p:cNvPr id="11" name="Picture 10" descr="Diagram, text&#10;&#10;Description automatically generated">
            <a:extLst>
              <a:ext uri="{FF2B5EF4-FFF2-40B4-BE49-F238E27FC236}">
                <a16:creationId xmlns:a16="http://schemas.microsoft.com/office/drawing/2014/main" id="{01497A20-5ADA-1C4D-B745-C2127FB710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43464" y="5711711"/>
            <a:ext cx="4229100" cy="1066800"/>
          </a:xfrm>
          <a:prstGeom prst="rect">
            <a:avLst/>
          </a:prstGeom>
        </p:spPr>
      </p:pic>
    </p:spTree>
    <p:extLst>
      <p:ext uri="{BB962C8B-B14F-4D97-AF65-F5344CB8AC3E}">
        <p14:creationId xmlns:p14="http://schemas.microsoft.com/office/powerpoint/2010/main" val="39085880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Rocket Propulsion </a:t>
            </a:r>
          </a:p>
        </p:txBody>
      </p:sp>
      <p:pic>
        <p:nvPicPr>
          <p:cNvPr id="9" name="Picture Placeholder 1" descr="An x y coordinate system is shown. A rocket mass m is moving to the right with velocity v. the rocket’s exhaust mass d m sub g is moving to the left with velocity u. The system consists of the rocket and the exhaust.">
            <a:extLst>
              <a:ext uri="{FF2B5EF4-FFF2-40B4-BE49-F238E27FC236}">
                <a16:creationId xmlns:a16="http://schemas.microsoft.com/office/drawing/2014/main" id="{8075FE98-FF73-444B-9D5B-C88B997731AA}"/>
              </a:ext>
            </a:extLst>
          </p:cNvPr>
          <p:cNvPicPr>
            <a:picLocks noChangeAspect="1"/>
          </p:cNvPicPr>
          <p:nvPr/>
        </p:nvPicPr>
        <p:blipFill>
          <a:blip r:embed="rId3">
            <a:extLst>
              <a:ext uri="{28A0092B-C50C-407E-A947-70E740481C1C}">
                <a14:useLocalDpi xmlns:a14="http://schemas.microsoft.com/office/drawing/2010/main" val="0"/>
              </a:ext>
            </a:extLst>
          </a:blip>
          <a:srcRect l="-24981" r="-24981"/>
          <a:stretch>
            <a:fillRect/>
          </a:stretch>
        </p:blipFill>
        <p:spPr>
          <a:xfrm>
            <a:off x="5897111" y="417133"/>
            <a:ext cx="5620071" cy="2439645"/>
          </a:xfrm>
          <a:prstGeom prst="rect">
            <a:avLst/>
          </a:prstGeom>
        </p:spPr>
      </p:pic>
      <p:pic>
        <p:nvPicPr>
          <p:cNvPr id="10" name="Picture 9" descr="A picture containing diagram&#10;&#10;Description automatically generated">
            <a:extLst>
              <a:ext uri="{FF2B5EF4-FFF2-40B4-BE49-F238E27FC236}">
                <a16:creationId xmlns:a16="http://schemas.microsoft.com/office/drawing/2014/main" id="{222D2A09-7B85-E049-A927-20571FCE4E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9499" y="2967048"/>
            <a:ext cx="1282700" cy="546100"/>
          </a:xfrm>
          <a:prstGeom prst="rect">
            <a:avLst/>
          </a:prstGeom>
        </p:spPr>
      </p:pic>
      <p:pic>
        <p:nvPicPr>
          <p:cNvPr id="11" name="Picture 10" descr="Diagram, text&#10;&#10;Description automatically generated">
            <a:extLst>
              <a:ext uri="{FF2B5EF4-FFF2-40B4-BE49-F238E27FC236}">
                <a16:creationId xmlns:a16="http://schemas.microsoft.com/office/drawing/2014/main" id="{DA72F9C9-3D74-1C43-B257-BBD500122B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95224" y="2979748"/>
            <a:ext cx="4229100" cy="1066800"/>
          </a:xfrm>
          <a:prstGeom prst="rect">
            <a:avLst/>
          </a:prstGeom>
        </p:spPr>
      </p:pic>
      <p:pic>
        <p:nvPicPr>
          <p:cNvPr id="3" name="Picture 2" descr="Text, letter&#10;&#10;Description automatically generated">
            <a:extLst>
              <a:ext uri="{FF2B5EF4-FFF2-40B4-BE49-F238E27FC236}">
                <a16:creationId xmlns:a16="http://schemas.microsoft.com/office/drawing/2014/main" id="{0DC85C9F-64BF-DC42-BBAC-C81AB39494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4065" y="576173"/>
            <a:ext cx="4826000" cy="1422400"/>
          </a:xfrm>
          <a:prstGeom prst="rect">
            <a:avLst/>
          </a:prstGeom>
        </p:spPr>
      </p:pic>
      <p:sp>
        <p:nvSpPr>
          <p:cNvPr id="12" name="Rectangle 11">
            <a:extLst>
              <a:ext uri="{FF2B5EF4-FFF2-40B4-BE49-F238E27FC236}">
                <a16:creationId xmlns:a16="http://schemas.microsoft.com/office/drawing/2014/main" id="{DF125213-17A5-574C-8D5E-F5336209374E}"/>
              </a:ext>
            </a:extLst>
          </p:cNvPr>
          <p:cNvSpPr/>
          <p:nvPr/>
        </p:nvSpPr>
        <p:spPr>
          <a:xfrm>
            <a:off x="424065" y="1929598"/>
            <a:ext cx="4968206" cy="646331"/>
          </a:xfrm>
          <a:prstGeom prst="rect">
            <a:avLst/>
          </a:prstGeom>
        </p:spPr>
        <p:txBody>
          <a:bodyPr wrap="square">
            <a:spAutoFit/>
          </a:bodyPr>
          <a:lstStyle/>
          <a:p>
            <a:r>
              <a:rPr lang="en-US" i="1" dirty="0">
                <a:solidFill>
                  <a:srgbClr val="3B124D"/>
                </a:solidFill>
                <a:latin typeface="STIXGeneral" pitchFamily="2" charset="2"/>
              </a:rPr>
              <a:t>dm</a:t>
            </a:r>
            <a:r>
              <a:rPr lang="en-US" sz="1400" i="1" dirty="0">
                <a:solidFill>
                  <a:srgbClr val="3B124D"/>
                </a:solidFill>
                <a:latin typeface="STIXGeneral" pitchFamily="2" charset="2"/>
              </a:rPr>
              <a:t>g </a:t>
            </a:r>
            <a:r>
              <a:rPr lang="en-US" dirty="0">
                <a:solidFill>
                  <a:srgbClr val="3B124D"/>
                </a:solidFill>
                <a:latin typeface="LiberationSerif"/>
              </a:rPr>
              <a:t>and </a:t>
            </a:r>
            <a:r>
              <a:rPr lang="en-US" i="1" dirty="0">
                <a:solidFill>
                  <a:srgbClr val="3B124D"/>
                </a:solidFill>
                <a:latin typeface="LiberationSerif"/>
              </a:rPr>
              <a:t>dv </a:t>
            </a:r>
            <a:r>
              <a:rPr lang="en-US" dirty="0">
                <a:solidFill>
                  <a:srgbClr val="3B124D"/>
                </a:solidFill>
                <a:latin typeface="LiberationSerif"/>
              </a:rPr>
              <a:t>are each very small; thus, their product </a:t>
            </a:r>
            <a:r>
              <a:rPr lang="en-US" i="1" dirty="0">
                <a:solidFill>
                  <a:srgbClr val="3B124D"/>
                </a:solidFill>
                <a:latin typeface="STIXGeneral" pitchFamily="2" charset="2"/>
              </a:rPr>
              <a:t>dm</a:t>
            </a:r>
            <a:r>
              <a:rPr lang="en-US" sz="1400" i="1" dirty="0">
                <a:solidFill>
                  <a:srgbClr val="3B124D"/>
                </a:solidFill>
                <a:latin typeface="STIXGeneral" pitchFamily="2" charset="2"/>
              </a:rPr>
              <a:t>g </a:t>
            </a:r>
            <a:r>
              <a:rPr lang="en-US" i="1" dirty="0">
                <a:solidFill>
                  <a:srgbClr val="3B124D"/>
                </a:solidFill>
                <a:latin typeface="STIXGeneral" pitchFamily="2" charset="2"/>
              </a:rPr>
              <a:t>dv </a:t>
            </a:r>
            <a:r>
              <a:rPr lang="en-US" dirty="0">
                <a:solidFill>
                  <a:srgbClr val="3B124D"/>
                </a:solidFill>
                <a:latin typeface="LiberationSerif"/>
              </a:rPr>
              <a:t>is very, very small, so ignore. We get:</a:t>
            </a:r>
            <a:endParaRPr lang="en-US" dirty="0">
              <a:solidFill>
                <a:srgbClr val="3B124D"/>
              </a:solidFill>
            </a:endParaRPr>
          </a:p>
        </p:txBody>
      </p:sp>
      <p:pic>
        <p:nvPicPr>
          <p:cNvPr id="14" name="Picture 13" descr="Text&#10;&#10;Description automatically generated">
            <a:extLst>
              <a:ext uri="{FF2B5EF4-FFF2-40B4-BE49-F238E27FC236}">
                <a16:creationId xmlns:a16="http://schemas.microsoft.com/office/drawing/2014/main" id="{95777C0A-1942-134D-A617-A1B43E929C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79230" y="2640175"/>
            <a:ext cx="1460500" cy="393700"/>
          </a:xfrm>
          <a:prstGeom prst="rect">
            <a:avLst/>
          </a:prstGeom>
        </p:spPr>
      </p:pic>
      <p:sp>
        <p:nvSpPr>
          <p:cNvPr id="15" name="Rectangle 14">
            <a:extLst>
              <a:ext uri="{FF2B5EF4-FFF2-40B4-BE49-F238E27FC236}">
                <a16:creationId xmlns:a16="http://schemas.microsoft.com/office/drawing/2014/main" id="{138D39A3-7E7C-F143-9CA3-E05F37B86926}"/>
              </a:ext>
            </a:extLst>
          </p:cNvPr>
          <p:cNvSpPr/>
          <p:nvPr/>
        </p:nvSpPr>
        <p:spPr>
          <a:xfrm>
            <a:off x="424065" y="3123218"/>
            <a:ext cx="4968206" cy="923330"/>
          </a:xfrm>
          <a:prstGeom prst="rect">
            <a:avLst/>
          </a:prstGeom>
        </p:spPr>
        <p:txBody>
          <a:bodyPr wrap="square">
            <a:spAutoFit/>
          </a:bodyPr>
          <a:lstStyle/>
          <a:p>
            <a:r>
              <a:rPr lang="en-US" dirty="0">
                <a:solidFill>
                  <a:srgbClr val="3B124D"/>
                </a:solidFill>
                <a:latin typeface="LiberationSerif"/>
              </a:rPr>
              <a:t>since </a:t>
            </a:r>
            <a:r>
              <a:rPr lang="en-US" i="1" dirty="0">
                <a:solidFill>
                  <a:srgbClr val="3B124D"/>
                </a:solidFill>
                <a:latin typeface="STIXGeneral" pitchFamily="2" charset="2"/>
              </a:rPr>
              <a:t>dm</a:t>
            </a:r>
            <a:r>
              <a:rPr lang="en-US" sz="1400" i="1" dirty="0">
                <a:solidFill>
                  <a:srgbClr val="3B124D"/>
                </a:solidFill>
                <a:latin typeface="STIXGeneral" pitchFamily="2" charset="2"/>
              </a:rPr>
              <a:t>g </a:t>
            </a:r>
            <a:r>
              <a:rPr lang="en-US" dirty="0">
                <a:solidFill>
                  <a:srgbClr val="3B124D"/>
                </a:solidFill>
                <a:latin typeface="LiberationSerif"/>
              </a:rPr>
              <a:t>represents an increase in the mass of ejected gases, it must also represent a decrease of mass of the rocket: </a:t>
            </a:r>
            <a:endParaRPr lang="en-US" dirty="0">
              <a:solidFill>
                <a:srgbClr val="3B124D"/>
              </a:solidFill>
            </a:endParaRPr>
          </a:p>
        </p:txBody>
      </p:sp>
      <p:pic>
        <p:nvPicPr>
          <p:cNvPr id="17" name="Picture 16" descr="A picture containing text&#10;&#10;Description automatically generated">
            <a:extLst>
              <a:ext uri="{FF2B5EF4-FFF2-40B4-BE49-F238E27FC236}">
                <a16:creationId xmlns:a16="http://schemas.microsoft.com/office/drawing/2014/main" id="{88B592F3-A83B-7D40-96EA-9190AD68DCB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79230" y="4046548"/>
            <a:ext cx="1397000" cy="482600"/>
          </a:xfrm>
          <a:prstGeom prst="rect">
            <a:avLst/>
          </a:prstGeom>
        </p:spPr>
      </p:pic>
      <p:pic>
        <p:nvPicPr>
          <p:cNvPr id="19" name="Picture 18" descr="Letter&#10;&#10;Description automatically generated">
            <a:extLst>
              <a:ext uri="{FF2B5EF4-FFF2-40B4-BE49-F238E27FC236}">
                <a16:creationId xmlns:a16="http://schemas.microsoft.com/office/drawing/2014/main" id="{4999F251-3939-6D4D-ACAA-3F5988A60B8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79230" y="4710779"/>
            <a:ext cx="1536700" cy="1397000"/>
          </a:xfrm>
          <a:prstGeom prst="rect">
            <a:avLst/>
          </a:prstGeom>
        </p:spPr>
      </p:pic>
      <p:sp>
        <p:nvSpPr>
          <p:cNvPr id="20" name="Rectangle 19">
            <a:extLst>
              <a:ext uri="{FF2B5EF4-FFF2-40B4-BE49-F238E27FC236}">
                <a16:creationId xmlns:a16="http://schemas.microsoft.com/office/drawing/2014/main" id="{63B0F211-8F5B-C54E-8077-485B504E974C}"/>
              </a:ext>
            </a:extLst>
          </p:cNvPr>
          <p:cNvSpPr/>
          <p:nvPr/>
        </p:nvSpPr>
        <p:spPr>
          <a:xfrm>
            <a:off x="3355524" y="5588338"/>
            <a:ext cx="2740476" cy="523220"/>
          </a:xfrm>
          <a:prstGeom prst="rect">
            <a:avLst/>
          </a:prstGeom>
        </p:spPr>
        <p:txBody>
          <a:bodyPr wrap="square">
            <a:spAutoFit/>
          </a:bodyPr>
          <a:lstStyle/>
          <a:p>
            <a:r>
              <a:rPr lang="en-US" sz="1400" dirty="0">
                <a:latin typeface="LiberationSerif"/>
              </a:rPr>
              <a:t>Integrating from the initial mass </a:t>
            </a:r>
            <a:r>
              <a:rPr lang="en-US" sz="1400" i="1" dirty="0">
                <a:latin typeface="LiberationSerif"/>
              </a:rPr>
              <a:t>m</a:t>
            </a:r>
            <a:r>
              <a:rPr lang="en-US" sz="1400" baseline="-25000" dirty="0">
                <a:latin typeface="LiberationSerif"/>
              </a:rPr>
              <a:t>i</a:t>
            </a:r>
            <a:r>
              <a:rPr lang="en-US" sz="1400" dirty="0">
                <a:latin typeface="LiberationSerif"/>
              </a:rPr>
              <a:t> to the final mass </a:t>
            </a:r>
            <a:r>
              <a:rPr lang="en-US" sz="1400" i="1" dirty="0">
                <a:latin typeface="LiberationSerif"/>
              </a:rPr>
              <a:t>m </a:t>
            </a:r>
            <a:r>
              <a:rPr lang="en-US" sz="1400" dirty="0">
                <a:latin typeface="LiberationSerif"/>
              </a:rPr>
              <a:t>of the rocket </a:t>
            </a:r>
            <a:endParaRPr lang="en-US" sz="1400" dirty="0"/>
          </a:p>
        </p:txBody>
      </p:sp>
      <p:pic>
        <p:nvPicPr>
          <p:cNvPr id="22" name="Picture 21" descr="Text&#10;&#10;Description automatically generated">
            <a:extLst>
              <a:ext uri="{FF2B5EF4-FFF2-40B4-BE49-F238E27FC236}">
                <a16:creationId xmlns:a16="http://schemas.microsoft.com/office/drawing/2014/main" id="{57DF3145-7AC0-784B-9158-DCD180BD66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28862" y="5529509"/>
            <a:ext cx="2273300" cy="1244600"/>
          </a:xfrm>
          <a:prstGeom prst="rect">
            <a:avLst/>
          </a:prstGeom>
        </p:spPr>
      </p:pic>
      <p:pic>
        <p:nvPicPr>
          <p:cNvPr id="24" name="Picture 23" descr="Text, logo, company name&#10;&#10;Description automatically generated">
            <a:extLst>
              <a:ext uri="{FF2B5EF4-FFF2-40B4-BE49-F238E27FC236}">
                <a16:creationId xmlns:a16="http://schemas.microsoft.com/office/drawing/2014/main" id="{B3EC0487-3187-E14A-8212-147B32F50E1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983958" y="5943600"/>
            <a:ext cx="2231136" cy="914400"/>
          </a:xfrm>
          <a:prstGeom prst="rect">
            <a:avLst/>
          </a:prstGeom>
        </p:spPr>
      </p:pic>
      <p:sp>
        <p:nvSpPr>
          <p:cNvPr id="25" name="Rectangle 24">
            <a:extLst>
              <a:ext uri="{FF2B5EF4-FFF2-40B4-BE49-F238E27FC236}">
                <a16:creationId xmlns:a16="http://schemas.microsoft.com/office/drawing/2014/main" id="{D8D1378C-A9ED-7643-B204-FC8AD088EFC5}"/>
              </a:ext>
            </a:extLst>
          </p:cNvPr>
          <p:cNvSpPr/>
          <p:nvPr/>
        </p:nvSpPr>
        <p:spPr>
          <a:xfrm>
            <a:off x="8908932" y="5529509"/>
            <a:ext cx="2432269" cy="400110"/>
          </a:xfrm>
          <a:prstGeom prst="rect">
            <a:avLst/>
          </a:prstGeom>
        </p:spPr>
        <p:txBody>
          <a:bodyPr wrap="none">
            <a:spAutoFit/>
          </a:bodyPr>
          <a:lstStyle/>
          <a:p>
            <a:r>
              <a:rPr lang="en-US" sz="2000" dirty="0">
                <a:solidFill>
                  <a:srgbClr val="3B124D"/>
                </a:solidFill>
                <a:latin typeface="LiberationSerif"/>
              </a:rPr>
              <a:t>The</a:t>
            </a:r>
            <a:r>
              <a:rPr lang="en-US" sz="2000" dirty="0">
                <a:latin typeface="LiberationSerif"/>
              </a:rPr>
              <a:t> </a:t>
            </a:r>
            <a:r>
              <a:rPr lang="en-US" sz="2000" b="1" dirty="0">
                <a:solidFill>
                  <a:srgbClr val="C00000"/>
                </a:solidFill>
                <a:latin typeface="LiberationSerif"/>
              </a:rPr>
              <a:t>rocket equation</a:t>
            </a:r>
            <a:r>
              <a:rPr lang="en-US" sz="2000" dirty="0">
                <a:solidFill>
                  <a:srgbClr val="C00000"/>
                </a:solidFill>
                <a:latin typeface="LiberationSerif"/>
              </a:rPr>
              <a:t>. </a:t>
            </a:r>
            <a:endParaRPr lang="en-US" sz="2000" dirty="0">
              <a:solidFill>
                <a:srgbClr val="C00000"/>
              </a:solidFill>
            </a:endParaRPr>
          </a:p>
        </p:txBody>
      </p:sp>
      <p:pic>
        <p:nvPicPr>
          <p:cNvPr id="6" name="Picture 5" descr="A picture containing text, clipart&#10;&#10;Description automatically generated">
            <a:extLst>
              <a:ext uri="{FF2B5EF4-FFF2-40B4-BE49-F238E27FC236}">
                <a16:creationId xmlns:a16="http://schemas.microsoft.com/office/drawing/2014/main" id="{A920808F-3E9E-DF40-9233-666FDA7105F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65727" y="1566805"/>
            <a:ext cx="650579" cy="325290"/>
          </a:xfrm>
          <a:prstGeom prst="rect">
            <a:avLst/>
          </a:prstGeom>
        </p:spPr>
      </p:pic>
    </p:spTree>
    <p:extLst>
      <p:ext uri="{BB962C8B-B14F-4D97-AF65-F5344CB8AC3E}">
        <p14:creationId xmlns:p14="http://schemas.microsoft.com/office/powerpoint/2010/main" val="17993619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Rocket Propulsion </a:t>
            </a:r>
          </a:p>
        </p:txBody>
      </p:sp>
      <p:sp>
        <p:nvSpPr>
          <p:cNvPr id="8" name="Rectangle 7">
            <a:extLst>
              <a:ext uri="{FF2B5EF4-FFF2-40B4-BE49-F238E27FC236}">
                <a16:creationId xmlns:a16="http://schemas.microsoft.com/office/drawing/2014/main" id="{A0ECECBC-54A2-BC42-BE98-D19F5C3F1781}"/>
              </a:ext>
            </a:extLst>
          </p:cNvPr>
          <p:cNvSpPr/>
          <p:nvPr/>
        </p:nvSpPr>
        <p:spPr>
          <a:xfrm>
            <a:off x="651802" y="1603693"/>
            <a:ext cx="10888395" cy="1697068"/>
          </a:xfrm>
          <a:prstGeom prst="rect">
            <a:avLst/>
          </a:prstGeom>
        </p:spPr>
        <p:txBody>
          <a:bodyPr wrap="square">
            <a:spAutoFit/>
          </a:bodyPr>
          <a:lstStyle/>
          <a:p>
            <a:pPr marR="0" lvl="0">
              <a:lnSpc>
                <a:spcPct val="150000"/>
              </a:lnSpc>
              <a:spcBef>
                <a:spcPts val="0"/>
              </a:spcBef>
              <a:spcAft>
                <a:spcPts val="0"/>
              </a:spcAft>
            </a:pPr>
            <a:r>
              <a:rPr lang="en-US" sz="2400" dirty="0">
                <a:solidFill>
                  <a:srgbClr val="3B124D"/>
                </a:solidFill>
                <a:latin typeface="Calibri" panose="020F0502020204030204" pitchFamily="34" charset="0"/>
                <a:ea typeface="Calibri" panose="020F0502020204030204" pitchFamily="34" charset="0"/>
                <a:cs typeface="Times New Roman" panose="02020603050405020304" pitchFamily="18" charset="0"/>
              </a:rPr>
              <a:t>A rocket initially moving at v</a:t>
            </a:r>
            <a:r>
              <a:rPr lang="en-US" sz="2400" baseline="-25000" dirty="0">
                <a:solidFill>
                  <a:srgbClr val="3B124D"/>
                </a:solidFill>
                <a:latin typeface="Calibri" panose="020F0502020204030204" pitchFamily="34" charset="0"/>
                <a:ea typeface="Calibri" panose="020F0502020204030204" pitchFamily="34" charset="0"/>
                <a:cs typeface="Times New Roman" panose="02020603050405020304" pitchFamily="18" charset="0"/>
              </a:rPr>
              <a:t>i</a:t>
            </a:r>
            <a:r>
              <a:rPr lang="en-US" sz="2400" dirty="0">
                <a:solidFill>
                  <a:srgbClr val="3B124D"/>
                </a:solidFill>
                <a:latin typeface="Calibri" panose="020F0502020204030204" pitchFamily="34" charset="0"/>
                <a:ea typeface="Calibri" panose="020F0502020204030204" pitchFamily="34" charset="0"/>
                <a:cs typeface="Times New Roman" panose="02020603050405020304" pitchFamily="18" charset="0"/>
              </a:rPr>
              <a:t>=2.3 km/s in space fires its engines. The initial mass of rocket is m</a:t>
            </a:r>
            <a:r>
              <a:rPr lang="en-US" sz="2400" baseline="-25000" dirty="0">
                <a:solidFill>
                  <a:srgbClr val="3B124D"/>
                </a:solidFill>
                <a:latin typeface="Calibri" panose="020F0502020204030204" pitchFamily="34" charset="0"/>
                <a:ea typeface="Calibri" panose="020F0502020204030204" pitchFamily="34" charset="0"/>
                <a:cs typeface="Times New Roman" panose="02020603050405020304" pitchFamily="18" charset="0"/>
              </a:rPr>
              <a:t>i</a:t>
            </a:r>
            <a:r>
              <a:rPr lang="en-US" sz="2400" dirty="0">
                <a:solidFill>
                  <a:srgbClr val="3B124D"/>
                </a:solidFill>
                <a:latin typeface="Calibri" panose="020F0502020204030204" pitchFamily="34" charset="0"/>
                <a:ea typeface="Calibri" panose="020F0502020204030204" pitchFamily="34" charset="0"/>
                <a:cs typeface="Times New Roman" panose="02020603050405020304" pitchFamily="18" charset="0"/>
              </a:rPr>
              <a:t>=100 000 kg and the final mass of the rocket is m=10 000 kg. If the exhaust velocity is u=4.0 km/s, calculate the final speed in km/s. </a:t>
            </a:r>
            <a:endParaRPr lang="en-US" sz="2400" dirty="0">
              <a:solidFill>
                <a:srgbClr val="3B124D"/>
              </a:solidFill>
            </a:endParaRPr>
          </a:p>
        </p:txBody>
      </p:sp>
      <p:sp>
        <p:nvSpPr>
          <p:cNvPr id="9" name="Rectangle 8">
            <a:extLst>
              <a:ext uri="{FF2B5EF4-FFF2-40B4-BE49-F238E27FC236}">
                <a16:creationId xmlns:a16="http://schemas.microsoft.com/office/drawing/2014/main" id="{D6BCF4F3-7E1A-744B-8A28-ADA7E58E31BE}"/>
              </a:ext>
            </a:extLst>
          </p:cNvPr>
          <p:cNvSpPr/>
          <p:nvPr/>
        </p:nvSpPr>
        <p:spPr>
          <a:xfrm>
            <a:off x="651802" y="1341917"/>
            <a:ext cx="10989643" cy="769441"/>
          </a:xfrm>
          <a:prstGeom prst="rect">
            <a:avLst/>
          </a:prstGeom>
        </p:spPr>
        <p:txBody>
          <a:bodyPr wrap="square">
            <a:spAutoFit/>
          </a:bodyPr>
          <a:lstStyle/>
          <a:p>
            <a:r>
              <a:rPr lang="en-US" sz="2200" dirty="0">
                <a:solidFill>
                  <a:srgbClr val="0000CC"/>
                </a:solidFill>
              </a:rPr>
              <a:t>Assignment 4</a:t>
            </a:r>
          </a:p>
          <a:p>
            <a:endParaRPr lang="en-US" sz="2200" dirty="0">
              <a:solidFill>
                <a:srgbClr val="0000CC"/>
              </a:solidFill>
            </a:endParaRPr>
          </a:p>
        </p:txBody>
      </p:sp>
      <p:pic>
        <p:nvPicPr>
          <p:cNvPr id="3" name="Picture 2" descr="A picture containing text&#10;&#10;Description automatically generated">
            <a:extLst>
              <a:ext uri="{FF2B5EF4-FFF2-40B4-BE49-F238E27FC236}">
                <a16:creationId xmlns:a16="http://schemas.microsoft.com/office/drawing/2014/main" id="{1F2C8C3F-2F80-A045-8560-ABF921E71E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2065" y="3300761"/>
            <a:ext cx="4292600" cy="1155700"/>
          </a:xfrm>
          <a:prstGeom prst="rect">
            <a:avLst/>
          </a:prstGeom>
        </p:spPr>
      </p:pic>
      <p:sp>
        <p:nvSpPr>
          <p:cNvPr id="10" name="Rectangle 9">
            <a:extLst>
              <a:ext uri="{FF2B5EF4-FFF2-40B4-BE49-F238E27FC236}">
                <a16:creationId xmlns:a16="http://schemas.microsoft.com/office/drawing/2014/main" id="{61F3112B-CC85-6743-ABA4-967DBA192E6D}"/>
              </a:ext>
            </a:extLst>
          </p:cNvPr>
          <p:cNvSpPr/>
          <p:nvPr/>
        </p:nvSpPr>
        <p:spPr>
          <a:xfrm>
            <a:off x="651802" y="4531199"/>
            <a:ext cx="11165060" cy="430887"/>
          </a:xfrm>
          <a:prstGeom prst="rect">
            <a:avLst/>
          </a:prstGeom>
        </p:spPr>
        <p:txBody>
          <a:bodyPr wrap="square">
            <a:spAutoFit/>
          </a:bodyPr>
          <a:lstStyle/>
          <a:p>
            <a:r>
              <a:rPr lang="en-US" sz="2200" dirty="0">
                <a:solidFill>
                  <a:schemeClr val="accent5">
                    <a:lumMod val="75000"/>
                  </a:schemeClr>
                </a:solidFill>
                <a:latin typeface="Times New Roman" panose="02020603050405020304" pitchFamily="18" charset="0"/>
                <a:ea typeface="Calibri" panose="020F0502020204030204" pitchFamily="34" charset="0"/>
              </a:rPr>
              <a:t>During the acceleration of the rocket, it gains kinetic energy. Where is this energy coming from?</a:t>
            </a:r>
            <a:endParaRPr lang="en-US" sz="2200" dirty="0">
              <a:solidFill>
                <a:schemeClr val="accent5">
                  <a:lumMod val="75000"/>
                </a:schemeClr>
              </a:solidFill>
            </a:endParaRPr>
          </a:p>
        </p:txBody>
      </p:sp>
    </p:spTree>
    <p:extLst>
      <p:ext uri="{BB962C8B-B14F-4D97-AF65-F5344CB8AC3E}">
        <p14:creationId xmlns:p14="http://schemas.microsoft.com/office/powerpoint/2010/main" val="8738189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Rocket Propulsion </a:t>
            </a:r>
          </a:p>
        </p:txBody>
      </p:sp>
      <p:pic>
        <p:nvPicPr>
          <p:cNvPr id="7" name="Picture Placeholder 1" descr="A photograph of the space shuttle taking off.">
            <a:extLst>
              <a:ext uri="{FF2B5EF4-FFF2-40B4-BE49-F238E27FC236}">
                <a16:creationId xmlns:a16="http://schemas.microsoft.com/office/drawing/2014/main" id="{B18FBBF0-E203-7740-A531-86554E768D60}"/>
              </a:ext>
            </a:extLst>
          </p:cNvPr>
          <p:cNvPicPr>
            <a:picLocks noChangeAspect="1"/>
          </p:cNvPicPr>
          <p:nvPr/>
        </p:nvPicPr>
        <p:blipFill>
          <a:blip r:embed="rId3" cstate="email">
            <a:extLst>
              <a:ext uri="{28A0092B-C50C-407E-A947-70E740481C1C}">
                <a14:useLocalDpi xmlns:a14="http://schemas.microsoft.com/office/drawing/2010/main" val="0"/>
              </a:ext>
            </a:extLst>
          </a:blip>
          <a:srcRect t="-992" b="-992"/>
          <a:stretch>
            <a:fillRect/>
          </a:stretch>
        </p:blipFill>
        <p:spPr>
          <a:xfrm>
            <a:off x="219436" y="800893"/>
            <a:ext cx="4030663" cy="5256213"/>
          </a:xfrm>
          <a:prstGeom prst="rect">
            <a:avLst/>
          </a:prstGeom>
        </p:spPr>
      </p:pic>
      <p:sp>
        <p:nvSpPr>
          <p:cNvPr id="2" name="Rectangle 1">
            <a:extLst>
              <a:ext uri="{FF2B5EF4-FFF2-40B4-BE49-F238E27FC236}">
                <a16:creationId xmlns:a16="http://schemas.microsoft.com/office/drawing/2014/main" id="{67BE9672-BA60-A446-B04B-F5AED93C701E}"/>
              </a:ext>
            </a:extLst>
          </p:cNvPr>
          <p:cNvSpPr/>
          <p:nvPr/>
        </p:nvSpPr>
        <p:spPr>
          <a:xfrm>
            <a:off x="719965" y="6057106"/>
            <a:ext cx="2582695" cy="276999"/>
          </a:xfrm>
          <a:prstGeom prst="rect">
            <a:avLst/>
          </a:prstGeom>
        </p:spPr>
        <p:txBody>
          <a:bodyPr wrap="none">
            <a:spAutoFit/>
          </a:bodyPr>
          <a:lstStyle/>
          <a:p>
            <a:r>
              <a:rPr lang="en-US" sz="1200" dirty="0">
                <a:solidFill>
                  <a:srgbClr val="000000"/>
                </a:solidFill>
              </a:rPr>
              <a:t>(credit: modification of work by NASA)</a:t>
            </a:r>
            <a:endParaRPr lang="en-US" sz="1200" dirty="0"/>
          </a:p>
        </p:txBody>
      </p:sp>
      <p:sp>
        <p:nvSpPr>
          <p:cNvPr id="6" name="Rectangle 5">
            <a:extLst>
              <a:ext uri="{FF2B5EF4-FFF2-40B4-BE49-F238E27FC236}">
                <a16:creationId xmlns:a16="http://schemas.microsoft.com/office/drawing/2014/main" id="{83AEF2EF-88B0-3D4C-A984-04650AA6A3A8}"/>
              </a:ext>
            </a:extLst>
          </p:cNvPr>
          <p:cNvSpPr/>
          <p:nvPr/>
        </p:nvSpPr>
        <p:spPr>
          <a:xfrm>
            <a:off x="4483559" y="809060"/>
            <a:ext cx="6640036" cy="1938992"/>
          </a:xfrm>
          <a:prstGeom prst="rect">
            <a:avLst/>
          </a:prstGeom>
        </p:spPr>
        <p:txBody>
          <a:bodyPr wrap="square">
            <a:spAutoFit/>
          </a:bodyPr>
          <a:lstStyle/>
          <a:p>
            <a:r>
              <a:rPr lang="en-US" sz="2000" dirty="0">
                <a:solidFill>
                  <a:srgbClr val="3B124D"/>
                </a:solidFill>
                <a:latin typeface="LiberationSerif"/>
              </a:rPr>
              <a:t>The velocity change of the rocket during the launch phase, from the surface of Earth. </a:t>
            </a:r>
          </a:p>
          <a:p>
            <a:endParaRPr lang="en-US" sz="2000" dirty="0">
              <a:solidFill>
                <a:srgbClr val="3B124D"/>
              </a:solidFill>
            </a:endParaRPr>
          </a:p>
          <a:p>
            <a:r>
              <a:rPr lang="en-US" sz="2000" dirty="0">
                <a:solidFill>
                  <a:srgbClr val="3B124D"/>
                </a:solidFill>
              </a:rPr>
              <a:t>Restricting our attention to distances for which the acceleration caused by gravity can be treated as a constant </a:t>
            </a:r>
            <a:r>
              <a:rPr lang="en-US" sz="2000" i="1" dirty="0">
                <a:solidFill>
                  <a:srgbClr val="3B124D"/>
                </a:solidFill>
              </a:rPr>
              <a:t>g</a:t>
            </a:r>
            <a:r>
              <a:rPr lang="en-US" sz="2000" dirty="0">
                <a:solidFill>
                  <a:srgbClr val="3B124D"/>
                </a:solidFill>
              </a:rPr>
              <a:t>. </a:t>
            </a:r>
          </a:p>
          <a:p>
            <a:endParaRPr lang="en-US" sz="2000" dirty="0">
              <a:solidFill>
                <a:srgbClr val="3B124D"/>
              </a:solidFill>
            </a:endParaRPr>
          </a:p>
        </p:txBody>
      </p:sp>
      <p:pic>
        <p:nvPicPr>
          <p:cNvPr id="12" name="Picture 11" descr="A picture containing text&#10;&#10;Description automatically generated">
            <a:extLst>
              <a:ext uri="{FF2B5EF4-FFF2-40B4-BE49-F238E27FC236}">
                <a16:creationId xmlns:a16="http://schemas.microsoft.com/office/drawing/2014/main" id="{16BC77C9-BBED-0F4D-88F6-97B4DF91DE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5953" y="2666999"/>
            <a:ext cx="2463800" cy="762000"/>
          </a:xfrm>
          <a:prstGeom prst="rect">
            <a:avLst/>
          </a:prstGeom>
        </p:spPr>
      </p:pic>
      <p:sp>
        <p:nvSpPr>
          <p:cNvPr id="13" name="Rectangle 12">
            <a:extLst>
              <a:ext uri="{FF2B5EF4-FFF2-40B4-BE49-F238E27FC236}">
                <a16:creationId xmlns:a16="http://schemas.microsoft.com/office/drawing/2014/main" id="{6342D1C0-6C20-9F44-8D8E-0B61E6CC15C0}"/>
              </a:ext>
            </a:extLst>
          </p:cNvPr>
          <p:cNvSpPr/>
          <p:nvPr/>
        </p:nvSpPr>
        <p:spPr>
          <a:xfrm>
            <a:off x="8176440" y="3507997"/>
            <a:ext cx="3419526" cy="400110"/>
          </a:xfrm>
          <a:prstGeom prst="rect">
            <a:avLst/>
          </a:prstGeom>
        </p:spPr>
        <p:txBody>
          <a:bodyPr wrap="none">
            <a:spAutoFit/>
          </a:bodyPr>
          <a:lstStyle/>
          <a:p>
            <a:r>
              <a:rPr lang="el-GR" sz="2000" dirty="0">
                <a:solidFill>
                  <a:srgbClr val="7030A0"/>
                </a:solidFill>
                <a:latin typeface="STIXGeneral" pitchFamily="2" charset="2"/>
              </a:rPr>
              <a:t>Δ</a:t>
            </a:r>
            <a:r>
              <a:rPr lang="en-US" sz="2000" i="1" dirty="0">
                <a:solidFill>
                  <a:srgbClr val="7030A0"/>
                </a:solidFill>
                <a:latin typeface="STIXGeneral" pitchFamily="2" charset="2"/>
              </a:rPr>
              <a:t>t </a:t>
            </a:r>
            <a:r>
              <a:rPr lang="en-US" sz="2000" dirty="0">
                <a:solidFill>
                  <a:srgbClr val="7030A0"/>
                </a:solidFill>
                <a:latin typeface="LiberationSerif"/>
              </a:rPr>
              <a:t>is the burn time of the fuel. </a:t>
            </a:r>
            <a:endParaRPr lang="en-US" sz="2000" dirty="0">
              <a:solidFill>
                <a:srgbClr val="7030A0"/>
              </a:solidFill>
            </a:endParaRPr>
          </a:p>
        </p:txBody>
      </p:sp>
      <p:sp>
        <p:nvSpPr>
          <p:cNvPr id="14" name="Rectangle 13">
            <a:extLst>
              <a:ext uri="{FF2B5EF4-FFF2-40B4-BE49-F238E27FC236}">
                <a16:creationId xmlns:a16="http://schemas.microsoft.com/office/drawing/2014/main" id="{01C0B314-1441-1341-8A72-73204ABDBDE1}"/>
              </a:ext>
            </a:extLst>
          </p:cNvPr>
          <p:cNvSpPr/>
          <p:nvPr/>
        </p:nvSpPr>
        <p:spPr>
          <a:xfrm>
            <a:off x="4703048" y="3963450"/>
            <a:ext cx="7135045" cy="1938992"/>
          </a:xfrm>
          <a:prstGeom prst="rect">
            <a:avLst/>
          </a:prstGeom>
        </p:spPr>
        <p:txBody>
          <a:bodyPr wrap="square">
            <a:spAutoFit/>
          </a:bodyPr>
          <a:lstStyle/>
          <a:p>
            <a:r>
              <a:rPr lang="en-US" sz="2000" dirty="0">
                <a:latin typeface="LiberationSerif"/>
              </a:rPr>
              <a:t>−</a:t>
            </a:r>
            <a:r>
              <a:rPr lang="en-US" sz="2000" i="1" dirty="0">
                <a:latin typeface="LiberationSerif"/>
              </a:rPr>
              <a:t>g </a:t>
            </a:r>
            <a:r>
              <a:rPr lang="el-GR" sz="2000" dirty="0">
                <a:latin typeface="STIXGeneral" pitchFamily="2" charset="2"/>
              </a:rPr>
              <a:t>Δ</a:t>
            </a:r>
            <a:r>
              <a:rPr lang="en-US" sz="2000" i="1" dirty="0">
                <a:latin typeface="STIXGeneral" pitchFamily="2" charset="2"/>
              </a:rPr>
              <a:t>t </a:t>
            </a:r>
            <a:r>
              <a:rPr lang="en-US" sz="2000" dirty="0">
                <a:latin typeface="LiberationSerif"/>
              </a:rPr>
              <a:t>term tells us that the </a:t>
            </a:r>
            <a:r>
              <a:rPr lang="en-US" sz="2000" i="1" dirty="0">
                <a:solidFill>
                  <a:srgbClr val="C00000"/>
                </a:solidFill>
                <a:latin typeface="LiberationSerif"/>
              </a:rPr>
              <a:t>longer</a:t>
            </a:r>
            <a:r>
              <a:rPr lang="en-US" sz="2000" i="1" dirty="0">
                <a:latin typeface="LiberationSerif"/>
              </a:rPr>
              <a:t> </a:t>
            </a:r>
            <a:r>
              <a:rPr lang="en-US" sz="2000" dirty="0">
                <a:latin typeface="LiberationSerif"/>
              </a:rPr>
              <a:t>the burn time is, the </a:t>
            </a:r>
            <a:endParaRPr lang="en-US" sz="2000" dirty="0"/>
          </a:p>
          <a:p>
            <a:r>
              <a:rPr lang="en-US" sz="2000" i="1" dirty="0">
                <a:solidFill>
                  <a:srgbClr val="C00000"/>
                </a:solidFill>
                <a:latin typeface="LiberationSerif"/>
              </a:rPr>
              <a:t>smaller</a:t>
            </a:r>
            <a:r>
              <a:rPr lang="en-US" sz="2000" i="1" dirty="0">
                <a:latin typeface="LiberationSerif"/>
              </a:rPr>
              <a:t> </a:t>
            </a:r>
            <a:r>
              <a:rPr lang="en-US" sz="2000" dirty="0">
                <a:latin typeface="LiberationSerif"/>
              </a:rPr>
              <a:t>the rocket’s change of velocity will be. </a:t>
            </a:r>
          </a:p>
          <a:p>
            <a:endParaRPr lang="en-US" sz="2000" dirty="0">
              <a:latin typeface="LiberationSerif"/>
            </a:endParaRPr>
          </a:p>
          <a:p>
            <a:r>
              <a:rPr lang="en-US" sz="2000" dirty="0">
                <a:latin typeface="LiberationSerif"/>
              </a:rPr>
              <a:t>This is the reason that the launch of a rocket is so spectacular at the first moment of liftoff: It’s essential to </a:t>
            </a:r>
            <a:r>
              <a:rPr lang="en-US" sz="2000" dirty="0">
                <a:solidFill>
                  <a:srgbClr val="C00000"/>
                </a:solidFill>
                <a:latin typeface="LiberationSerif"/>
              </a:rPr>
              <a:t>burn the fuel as quickly as possible,</a:t>
            </a:r>
            <a:r>
              <a:rPr lang="en-US" sz="2000" dirty="0">
                <a:latin typeface="LiberationSerif"/>
              </a:rPr>
              <a:t> to get as large a </a:t>
            </a:r>
            <a:r>
              <a:rPr lang="el-GR" sz="2000" dirty="0">
                <a:latin typeface="STIXGeneral" pitchFamily="2" charset="2"/>
              </a:rPr>
              <a:t>Δ</a:t>
            </a:r>
            <a:r>
              <a:rPr lang="en-US" sz="2000" i="1" dirty="0">
                <a:latin typeface="STIXGeneral" pitchFamily="2" charset="2"/>
              </a:rPr>
              <a:t>v </a:t>
            </a:r>
            <a:r>
              <a:rPr lang="en-US" sz="2000" dirty="0">
                <a:latin typeface="LiberationSerif"/>
              </a:rPr>
              <a:t>as possible. </a:t>
            </a:r>
            <a:endParaRPr lang="en-US" sz="2000" dirty="0"/>
          </a:p>
        </p:txBody>
      </p:sp>
      <p:sp>
        <p:nvSpPr>
          <p:cNvPr id="15" name="Rectangle 14">
            <a:extLst>
              <a:ext uri="{FF2B5EF4-FFF2-40B4-BE49-F238E27FC236}">
                <a16:creationId xmlns:a16="http://schemas.microsoft.com/office/drawing/2014/main" id="{8F87E4DD-AE05-7749-97F2-2743CFC01351}"/>
              </a:ext>
            </a:extLst>
          </p:cNvPr>
          <p:cNvSpPr/>
          <p:nvPr/>
        </p:nvSpPr>
        <p:spPr>
          <a:xfrm>
            <a:off x="4797177" y="5879223"/>
            <a:ext cx="7505369" cy="646331"/>
          </a:xfrm>
          <a:prstGeom prst="rect">
            <a:avLst/>
          </a:prstGeom>
        </p:spPr>
        <p:txBody>
          <a:bodyPr wrap="square">
            <a:spAutoFit/>
          </a:bodyPr>
          <a:lstStyle/>
          <a:p>
            <a:r>
              <a:rPr lang="en-US" dirty="0">
                <a:solidFill>
                  <a:srgbClr val="7030A0"/>
                </a:solidFill>
                <a:latin typeface="LiberationSerif"/>
              </a:rPr>
              <a:t>(In the absence of gravity, it makes no difference how much time it takes to burn the entire mass of fuel; the change of velocity does not depend on </a:t>
            </a:r>
            <a:r>
              <a:rPr lang="el-GR" dirty="0">
                <a:solidFill>
                  <a:srgbClr val="7030A0"/>
                </a:solidFill>
                <a:latin typeface="STIXGeneral" pitchFamily="2" charset="2"/>
              </a:rPr>
              <a:t>Δ</a:t>
            </a:r>
            <a:r>
              <a:rPr lang="en-US" i="1" dirty="0">
                <a:solidFill>
                  <a:srgbClr val="7030A0"/>
                </a:solidFill>
                <a:latin typeface="STIXGeneral" pitchFamily="2" charset="2"/>
              </a:rPr>
              <a:t>t</a:t>
            </a:r>
            <a:r>
              <a:rPr lang="en-US" dirty="0">
                <a:solidFill>
                  <a:srgbClr val="7030A0"/>
                </a:solidFill>
                <a:latin typeface="STIXGeneral" pitchFamily="2" charset="2"/>
              </a:rPr>
              <a:t>)</a:t>
            </a:r>
            <a:r>
              <a:rPr lang="en-US" dirty="0">
                <a:solidFill>
                  <a:srgbClr val="7030A0"/>
                </a:solidFill>
                <a:latin typeface="LiberationSerif"/>
              </a:rPr>
              <a:t>. </a:t>
            </a:r>
            <a:endParaRPr lang="en-US" dirty="0">
              <a:solidFill>
                <a:srgbClr val="7030A0"/>
              </a:solidFill>
            </a:endParaRPr>
          </a:p>
        </p:txBody>
      </p:sp>
    </p:spTree>
    <p:extLst>
      <p:ext uri="{BB962C8B-B14F-4D97-AF65-F5344CB8AC3E}">
        <p14:creationId xmlns:p14="http://schemas.microsoft.com/office/powerpoint/2010/main" val="3795194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8875</TotalTime>
  <Words>2461</Words>
  <Application>Microsoft Office PowerPoint</Application>
  <PresentationFormat>Widescreen</PresentationFormat>
  <Paragraphs>187</Paragraphs>
  <Slides>31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Calibri</vt:lpstr>
      <vt:lpstr>Calibri Light</vt:lpstr>
      <vt:lpstr>Cambria Math</vt:lpstr>
      <vt:lpstr>LiberationSans</vt:lpstr>
      <vt:lpstr>LiberationSerif</vt:lpstr>
      <vt:lpstr>NewBaskervilleStd-Roman</vt:lpstr>
      <vt:lpstr>STIXGeneral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300</cp:revision>
  <dcterms:created xsi:type="dcterms:W3CDTF">2020-07-24T02:56:39Z</dcterms:created>
  <dcterms:modified xsi:type="dcterms:W3CDTF">2021-12-15T17:54:02Z</dcterms:modified>
</cp:coreProperties>
</file>