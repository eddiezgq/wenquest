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6"/>
  </p:notesMasterIdLst>
  <p:sldIdLst>
    <p:sldId id="298" r:id="rId2"/>
    <p:sldId id="336" r:id="rId3"/>
    <p:sldId id="337" r:id="rId4"/>
    <p:sldId id="338" r:id="rId5"/>
    <p:sldId id="350" r:id="rId6"/>
    <p:sldId id="339" r:id="rId7"/>
    <p:sldId id="340" r:id="rId8"/>
    <p:sldId id="341" r:id="rId9"/>
    <p:sldId id="342" r:id="rId10"/>
    <p:sldId id="343" r:id="rId11"/>
    <p:sldId id="344" r:id="rId12"/>
    <p:sldId id="351" r:id="rId13"/>
    <p:sldId id="345" r:id="rId14"/>
    <p:sldId id="346" r:id="rId15"/>
    <p:sldId id="347" r:id="rId16"/>
    <p:sldId id="348" r:id="rId17"/>
    <p:sldId id="349" r:id="rId18"/>
    <p:sldId id="352" r:id="rId19"/>
    <p:sldId id="353" r:id="rId20"/>
    <p:sldId id="365" r:id="rId21"/>
    <p:sldId id="362" r:id="rId22"/>
    <p:sldId id="363" r:id="rId23"/>
    <p:sldId id="364" r:id="rId24"/>
    <p:sldId id="366"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66"/>
    <a:srgbClr val="008000"/>
    <a:srgbClr val="3B124D"/>
    <a:srgbClr val="3611D3"/>
    <a:srgbClr val="0000CC"/>
    <a:srgbClr val="A50021"/>
    <a:srgbClr val="003399"/>
    <a:srgbClr val="FF6600"/>
    <a:srgbClr val="CCECFF"/>
    <a:srgbClr val="DDDDD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4843" autoAdjust="0"/>
    <p:restoredTop sz="94092" autoAdjust="0"/>
  </p:normalViewPr>
  <p:slideViewPr>
    <p:cSldViewPr snapToGrid="0">
      <p:cViewPr varScale="1">
        <p:scale>
          <a:sx n="75" d="100"/>
          <a:sy n="75" d="100"/>
        </p:scale>
        <p:origin x="62" y="178"/>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55" d="100"/>
          <a:sy n="55" d="100"/>
        </p:scale>
        <p:origin x="2880" y="7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C8A8A30-7305-4ECD-9707-8185AE31915A}" type="datetimeFigureOut">
              <a:rPr lang="en-US" smtClean="0"/>
              <a:t>12/15/2021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9A271F1-787B-4F17-8E58-0893057F05A7}" type="slidenum">
              <a:rPr lang="en-US" smtClean="0"/>
              <a:t>‹#›</a:t>
            </a:fld>
            <a:endParaRPr lang="en-US"/>
          </a:p>
        </p:txBody>
      </p:sp>
    </p:spTree>
    <p:extLst>
      <p:ext uri="{BB962C8B-B14F-4D97-AF65-F5344CB8AC3E}">
        <p14:creationId xmlns:p14="http://schemas.microsoft.com/office/powerpoint/2010/main" val="12951672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16CE86D-487B-4DC5-AD96-B605C5D30EBA}" type="datetimeFigureOut">
              <a:rPr lang="en-US" smtClean="0"/>
              <a:t>12/15/2021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A1DDD8-2086-495A-9395-F2E7DBF98025}" type="slidenum">
              <a:rPr lang="en-US" smtClean="0"/>
              <a:t>‹#›</a:t>
            </a:fld>
            <a:endParaRPr lang="en-US"/>
          </a:p>
        </p:txBody>
      </p:sp>
    </p:spTree>
    <p:extLst>
      <p:ext uri="{BB962C8B-B14F-4D97-AF65-F5344CB8AC3E}">
        <p14:creationId xmlns:p14="http://schemas.microsoft.com/office/powerpoint/2010/main" val="379233431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16CE86D-487B-4DC5-AD96-B605C5D30EBA}" type="datetimeFigureOut">
              <a:rPr lang="en-US" smtClean="0"/>
              <a:t>12/15/2021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A1DDD8-2086-495A-9395-F2E7DBF98025}" type="slidenum">
              <a:rPr lang="en-US" smtClean="0"/>
              <a:t>‹#›</a:t>
            </a:fld>
            <a:endParaRPr lang="en-US"/>
          </a:p>
        </p:txBody>
      </p:sp>
    </p:spTree>
    <p:extLst>
      <p:ext uri="{BB962C8B-B14F-4D97-AF65-F5344CB8AC3E}">
        <p14:creationId xmlns:p14="http://schemas.microsoft.com/office/powerpoint/2010/main" val="367731164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16CE86D-487B-4DC5-AD96-B605C5D30EBA}" type="datetimeFigureOut">
              <a:rPr lang="en-US" smtClean="0"/>
              <a:t>12/15/2021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A1DDD8-2086-495A-9395-F2E7DBF98025}" type="slidenum">
              <a:rPr lang="en-US" smtClean="0"/>
              <a:t>‹#›</a:t>
            </a:fld>
            <a:endParaRPr lang="en-US"/>
          </a:p>
        </p:txBody>
      </p:sp>
    </p:spTree>
    <p:extLst>
      <p:ext uri="{BB962C8B-B14F-4D97-AF65-F5344CB8AC3E}">
        <p14:creationId xmlns:p14="http://schemas.microsoft.com/office/powerpoint/2010/main" val="202561179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16CE86D-487B-4DC5-AD96-B605C5D30EBA}" type="datetimeFigureOut">
              <a:rPr lang="en-US" smtClean="0"/>
              <a:t>12/15/2021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2A1DDD8-2086-495A-9395-F2E7DBF98025}" type="slidenum">
              <a:rPr lang="en-US" smtClean="0"/>
              <a:t>‹#›</a:t>
            </a:fld>
            <a:endParaRPr lang="en-US"/>
          </a:p>
        </p:txBody>
      </p:sp>
    </p:spTree>
    <p:extLst>
      <p:ext uri="{BB962C8B-B14F-4D97-AF65-F5344CB8AC3E}">
        <p14:creationId xmlns:p14="http://schemas.microsoft.com/office/powerpoint/2010/main" val="94865717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16CE86D-487B-4DC5-AD96-B605C5D30EBA}" type="datetimeFigureOut">
              <a:rPr lang="en-US" smtClean="0"/>
              <a:t>12/15/2021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2A1DDD8-2086-495A-9395-F2E7DBF98025}" type="slidenum">
              <a:rPr lang="en-US" smtClean="0"/>
              <a:t>‹#›</a:t>
            </a:fld>
            <a:endParaRPr lang="en-US"/>
          </a:p>
        </p:txBody>
      </p:sp>
    </p:spTree>
    <p:extLst>
      <p:ext uri="{BB962C8B-B14F-4D97-AF65-F5344CB8AC3E}">
        <p14:creationId xmlns:p14="http://schemas.microsoft.com/office/powerpoint/2010/main" val="235685421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16CE86D-487B-4DC5-AD96-B605C5D30EBA}" type="datetimeFigureOut">
              <a:rPr lang="en-US" smtClean="0"/>
              <a:t>12/15/2021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2A1DDD8-2086-495A-9395-F2E7DBF98025}" type="slidenum">
              <a:rPr lang="en-US" smtClean="0"/>
              <a:t>‹#›</a:t>
            </a:fld>
            <a:endParaRPr lang="en-US"/>
          </a:p>
        </p:txBody>
      </p:sp>
    </p:spTree>
    <p:extLst>
      <p:ext uri="{BB962C8B-B14F-4D97-AF65-F5344CB8AC3E}">
        <p14:creationId xmlns:p14="http://schemas.microsoft.com/office/powerpoint/2010/main" val="171103503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16CE86D-487B-4DC5-AD96-B605C5D30EBA}" type="datetimeFigureOut">
              <a:rPr lang="en-US" smtClean="0"/>
              <a:t>12/15/2021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2A1DDD8-2086-495A-9395-F2E7DBF98025}" type="slidenum">
              <a:rPr lang="en-US" smtClean="0"/>
              <a:t>‹#›</a:t>
            </a:fld>
            <a:endParaRPr lang="en-US"/>
          </a:p>
        </p:txBody>
      </p:sp>
    </p:spTree>
    <p:extLst>
      <p:ext uri="{BB962C8B-B14F-4D97-AF65-F5344CB8AC3E}">
        <p14:creationId xmlns:p14="http://schemas.microsoft.com/office/powerpoint/2010/main" val="326496518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16CE86D-487B-4DC5-AD96-B605C5D30EBA}" type="datetimeFigureOut">
              <a:rPr lang="en-US" smtClean="0"/>
              <a:t>12/15/2021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2A1DDD8-2086-495A-9395-F2E7DBF98025}" type="slidenum">
              <a:rPr lang="en-US" smtClean="0"/>
              <a:t>‹#›</a:t>
            </a:fld>
            <a:endParaRPr lang="en-US"/>
          </a:p>
        </p:txBody>
      </p:sp>
    </p:spTree>
    <p:extLst>
      <p:ext uri="{BB962C8B-B14F-4D97-AF65-F5344CB8AC3E}">
        <p14:creationId xmlns:p14="http://schemas.microsoft.com/office/powerpoint/2010/main" val="35890743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16CE86D-487B-4DC5-AD96-B605C5D30EBA}" type="datetimeFigureOut">
              <a:rPr lang="en-US" smtClean="0"/>
              <a:t>12/15/2021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2A1DDD8-2086-495A-9395-F2E7DBF98025}" type="slidenum">
              <a:rPr lang="en-US" smtClean="0"/>
              <a:t>‹#›</a:t>
            </a:fld>
            <a:endParaRPr lang="en-US"/>
          </a:p>
        </p:txBody>
      </p:sp>
    </p:spTree>
    <p:extLst>
      <p:ext uri="{BB962C8B-B14F-4D97-AF65-F5344CB8AC3E}">
        <p14:creationId xmlns:p14="http://schemas.microsoft.com/office/powerpoint/2010/main" val="49178633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16CE86D-487B-4DC5-AD96-B605C5D30EBA}" type="datetimeFigureOut">
              <a:rPr lang="en-US" smtClean="0"/>
              <a:t>12/15/2021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A1DDD8-2086-495A-9395-F2E7DBF98025}" type="slidenum">
              <a:rPr lang="en-US" smtClean="0"/>
              <a:t>‹#›</a:t>
            </a:fld>
            <a:endParaRPr lang="en-US"/>
          </a:p>
        </p:txBody>
      </p:sp>
    </p:spTree>
    <p:extLst>
      <p:ext uri="{BB962C8B-B14F-4D97-AF65-F5344CB8AC3E}">
        <p14:creationId xmlns:p14="http://schemas.microsoft.com/office/powerpoint/2010/main" val="324195226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16CE86D-487B-4DC5-AD96-B605C5D30EBA}" type="datetimeFigureOut">
              <a:rPr lang="en-US" smtClean="0"/>
              <a:t>12/15/2021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A1DDD8-2086-495A-9395-F2E7DBF98025}" type="slidenum">
              <a:rPr lang="en-US" smtClean="0"/>
              <a:t>‹#›</a:t>
            </a:fld>
            <a:endParaRPr lang="en-US"/>
          </a:p>
        </p:txBody>
      </p:sp>
    </p:spTree>
    <p:extLst>
      <p:ext uri="{BB962C8B-B14F-4D97-AF65-F5344CB8AC3E}">
        <p14:creationId xmlns:p14="http://schemas.microsoft.com/office/powerpoint/2010/main" val="142442728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16CE86D-487B-4DC5-AD96-B605C5D30EBA}" type="datetimeFigureOut">
              <a:rPr lang="en-US" smtClean="0"/>
              <a:t>12/15/2021</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2A1DDD8-2086-495A-9395-F2E7DBF98025}" type="slidenum">
              <a:rPr lang="en-US" smtClean="0"/>
              <a:t>‹#›</a:t>
            </a:fld>
            <a:endParaRPr lang="en-US"/>
          </a:p>
        </p:txBody>
      </p:sp>
    </p:spTree>
    <p:extLst>
      <p:ext uri="{BB962C8B-B14F-4D97-AF65-F5344CB8AC3E}">
        <p14:creationId xmlns:p14="http://schemas.microsoft.com/office/powerpoint/2010/main" val="186879582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 Id="rId5" Type="http://schemas.openxmlformats.org/officeDocument/2006/relationships/hyperlink" Target="https://www.nist.gov/image/wattbalancersicover-3000resizedjpg" TargetMode="External"/><Relationship Id="rId4" Type="http://schemas.openxmlformats.org/officeDocument/2006/relationships/hyperlink" Target="https://openstax.org/details/books/university-physics-volume-1"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image" Target="../media/image5.jpeg"/></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5.jpeg"/><Relationship Id="rId1" Type="http://schemas.openxmlformats.org/officeDocument/2006/relationships/slideLayout" Target="../slideLayouts/slideLayout2.xml"/><Relationship Id="rId6" Type="http://schemas.openxmlformats.org/officeDocument/2006/relationships/hyperlink" Target="https://news.berkeley.edu/2013/05/30/scientists-capture-first-images-of-molecules-before-and-after-reaction/" TargetMode="External"/><Relationship Id="rId5" Type="http://schemas.openxmlformats.org/officeDocument/2006/relationships/image" Target="../media/image12.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image" Target="../media/image5.jpeg"/><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emf"/></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5.jpe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9.xml.rels><?xml version="1.0" encoding="UTF-8" standalone="yes"?>
<Relationships xmlns="http://schemas.openxmlformats.org/package/2006/relationships"><Relationship Id="rId3" Type="http://schemas.openxmlformats.org/officeDocument/2006/relationships/image" Target="../media/image190.png"/><Relationship Id="rId2" Type="http://schemas.openxmlformats.org/officeDocument/2006/relationships/image" Target="../media/image5.jpeg"/><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5.jpeg"/><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11.xml.rels><?xml version="1.0" encoding="UTF-8" standalone="yes"?>
<Relationships xmlns="http://schemas.openxmlformats.org/package/2006/relationships"><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image" Target="../media/image5.jpeg"/><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5.jpeg"/><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13.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image" Target="../media/image5.jpeg"/><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20.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image" Target="../media/image5.jpeg"/><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21.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image" Target="../media/image5.jpeg"/><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22.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image" Target="../media/image5.jpeg"/><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23.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hyperlink" Target="https://openstax.org/" TargetMode="External"/><Relationship Id="rId2" Type="http://schemas.openxmlformats.org/officeDocument/2006/relationships/hyperlink" Target="https://openstax.org/details/books/university-physics-volume-1" TargetMode="External"/><Relationship Id="rId1" Type="http://schemas.openxmlformats.org/officeDocument/2006/relationships/slideLayout" Target="../slideLayouts/slideLayout3.xml"/><Relationship Id="rId4" Type="http://schemas.openxmlformats.org/officeDocument/2006/relationships/hyperlink" Target="https://creativecommons.org/licenses/by/4.0/"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70" name="Freeform: Shape 69">
            <a:extLst>
              <a:ext uri="{FF2B5EF4-FFF2-40B4-BE49-F238E27FC236}">
                <a16:creationId xmlns:a16="http://schemas.microsoft.com/office/drawing/2014/main" id="{0C526D66-3621-4347-B1EF-342CBF4DB9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83466"/>
            <a:ext cx="5393770" cy="6374535"/>
          </a:xfrm>
          <a:custGeom>
            <a:avLst/>
            <a:gdLst>
              <a:gd name="connsiteX0" fmla="*/ 2047752 w 5393770"/>
              <a:gd name="connsiteY0" fmla="*/ 0 h 6374535"/>
              <a:gd name="connsiteX1" fmla="*/ 5393770 w 5393770"/>
              <a:gd name="connsiteY1" fmla="*/ 3346018 h 6374535"/>
              <a:gd name="connsiteX2" fmla="*/ 3642663 w 5393770"/>
              <a:gd name="connsiteY2" fmla="*/ 6288190 h 6374535"/>
              <a:gd name="connsiteX3" fmla="*/ 3463422 w 5393770"/>
              <a:gd name="connsiteY3" fmla="*/ 6374535 h 6374535"/>
              <a:gd name="connsiteX4" fmla="*/ 624279 w 5393770"/>
              <a:gd name="connsiteY4" fmla="*/ 6374535 h 6374535"/>
              <a:gd name="connsiteX5" fmla="*/ 382249 w 5393770"/>
              <a:gd name="connsiteY5" fmla="*/ 6248727 h 6374535"/>
              <a:gd name="connsiteX6" fmla="*/ 143729 w 5393770"/>
              <a:gd name="connsiteY6" fmla="*/ 6097845 h 6374535"/>
              <a:gd name="connsiteX7" fmla="*/ 0 w 5393770"/>
              <a:gd name="connsiteY7" fmla="*/ 5989017 h 6374535"/>
              <a:gd name="connsiteX8" fmla="*/ 0 w 5393770"/>
              <a:gd name="connsiteY8" fmla="*/ 703020 h 6374535"/>
              <a:gd name="connsiteX9" fmla="*/ 143728 w 5393770"/>
              <a:gd name="connsiteY9" fmla="*/ 594191 h 6374535"/>
              <a:gd name="connsiteX10" fmla="*/ 2047752 w 5393770"/>
              <a:gd name="connsiteY10" fmla="*/ 0 h 63745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393770" h="6374535">
                <a:moveTo>
                  <a:pt x="2047752" y="0"/>
                </a:moveTo>
                <a:cubicBezTo>
                  <a:pt x="3895707" y="0"/>
                  <a:pt x="5393770" y="1498063"/>
                  <a:pt x="5393770" y="3346018"/>
                </a:cubicBezTo>
                <a:cubicBezTo>
                  <a:pt x="5393770" y="4616487"/>
                  <a:pt x="4685701" y="5721578"/>
                  <a:pt x="3642663" y="6288190"/>
                </a:cubicBezTo>
                <a:lnTo>
                  <a:pt x="3463422" y="6374535"/>
                </a:lnTo>
                <a:lnTo>
                  <a:pt x="624279" y="6374535"/>
                </a:lnTo>
                <a:lnTo>
                  <a:pt x="382249" y="6248727"/>
                </a:lnTo>
                <a:cubicBezTo>
                  <a:pt x="300507" y="6201724"/>
                  <a:pt x="220937" y="6151368"/>
                  <a:pt x="143729" y="6097845"/>
                </a:cubicBezTo>
                <a:lnTo>
                  <a:pt x="0" y="5989017"/>
                </a:lnTo>
                <a:lnTo>
                  <a:pt x="0" y="703020"/>
                </a:lnTo>
                <a:lnTo>
                  <a:pt x="143728" y="594191"/>
                </a:lnTo>
                <a:cubicBezTo>
                  <a:pt x="684187" y="219535"/>
                  <a:pt x="1340332" y="0"/>
                  <a:pt x="2047752" y="0"/>
                </a:cubicBez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72" name="Freeform: Shape 71">
            <a:extLst>
              <a:ext uri="{FF2B5EF4-FFF2-40B4-BE49-F238E27FC236}">
                <a16:creationId xmlns:a16="http://schemas.microsoft.com/office/drawing/2014/main" id="{0193166D-DDF1-4F9A-A786-A7AEF5375C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7373"/>
            <a:ext cx="5229863" cy="6210629"/>
          </a:xfrm>
          <a:custGeom>
            <a:avLst/>
            <a:gdLst>
              <a:gd name="connsiteX0" fmla="*/ 2047751 w 5229863"/>
              <a:gd name="connsiteY0" fmla="*/ 0 h 6210629"/>
              <a:gd name="connsiteX1" fmla="*/ 5229863 w 5229863"/>
              <a:gd name="connsiteY1" fmla="*/ 3182112 h 6210629"/>
              <a:gd name="connsiteX2" fmla="*/ 3286373 w 5229863"/>
              <a:gd name="connsiteY2" fmla="*/ 6114158 h 6210629"/>
              <a:gd name="connsiteX3" fmla="*/ 3022794 w 5229863"/>
              <a:gd name="connsiteY3" fmla="*/ 6210629 h 6210629"/>
              <a:gd name="connsiteX4" fmla="*/ 1077939 w 5229863"/>
              <a:gd name="connsiteY4" fmla="*/ 6210629 h 6210629"/>
              <a:gd name="connsiteX5" fmla="*/ 953634 w 5229863"/>
              <a:gd name="connsiteY5" fmla="*/ 6171135 h 6210629"/>
              <a:gd name="connsiteX6" fmla="*/ 23632 w 5229863"/>
              <a:gd name="connsiteY6" fmla="*/ 5637585 h 6210629"/>
              <a:gd name="connsiteX7" fmla="*/ 0 w 5229863"/>
              <a:gd name="connsiteY7" fmla="*/ 5616107 h 6210629"/>
              <a:gd name="connsiteX8" fmla="*/ 0 w 5229863"/>
              <a:gd name="connsiteY8" fmla="*/ 748118 h 6210629"/>
              <a:gd name="connsiteX9" fmla="*/ 23632 w 5229863"/>
              <a:gd name="connsiteY9" fmla="*/ 726640 h 6210629"/>
              <a:gd name="connsiteX10" fmla="*/ 2047751 w 5229863"/>
              <a:gd name="connsiteY10" fmla="*/ 0 h 6210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29863" h="6210629">
                <a:moveTo>
                  <a:pt x="2047751" y="0"/>
                </a:moveTo>
                <a:cubicBezTo>
                  <a:pt x="3805183" y="0"/>
                  <a:pt x="5229863" y="1424680"/>
                  <a:pt x="5229863" y="3182112"/>
                </a:cubicBezTo>
                <a:cubicBezTo>
                  <a:pt x="5229863" y="4500186"/>
                  <a:pt x="4428481" y="5631087"/>
                  <a:pt x="3286373" y="6114158"/>
                </a:cubicBezTo>
                <a:lnTo>
                  <a:pt x="3022794" y="6210629"/>
                </a:lnTo>
                <a:lnTo>
                  <a:pt x="1077939" y="6210629"/>
                </a:lnTo>
                <a:lnTo>
                  <a:pt x="953634" y="6171135"/>
                </a:lnTo>
                <a:cubicBezTo>
                  <a:pt x="612471" y="6046219"/>
                  <a:pt x="298661" y="5864559"/>
                  <a:pt x="23632" y="5637585"/>
                </a:cubicBezTo>
                <a:lnTo>
                  <a:pt x="0" y="5616107"/>
                </a:lnTo>
                <a:lnTo>
                  <a:pt x="0" y="748118"/>
                </a:lnTo>
                <a:lnTo>
                  <a:pt x="23632" y="726640"/>
                </a:lnTo>
                <a:cubicBezTo>
                  <a:pt x="573689" y="272693"/>
                  <a:pt x="1278875" y="0"/>
                  <a:pt x="2047751"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74" name="Freeform: Shape 73">
            <a:extLst>
              <a:ext uri="{FF2B5EF4-FFF2-40B4-BE49-F238E27FC236}">
                <a16:creationId xmlns:a16="http://schemas.microsoft.com/office/drawing/2014/main" id="{8A177BCC-4208-4795-8572-4D623BA1E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33763" y="1"/>
            <a:ext cx="4480560" cy="2513993"/>
          </a:xfrm>
          <a:custGeom>
            <a:avLst/>
            <a:gdLst>
              <a:gd name="connsiteX0" fmla="*/ 18382 w 4480560"/>
              <a:gd name="connsiteY0" fmla="*/ 0 h 2513993"/>
              <a:gd name="connsiteX1" fmla="*/ 4462178 w 4480560"/>
              <a:gd name="connsiteY1" fmla="*/ 0 h 2513993"/>
              <a:gd name="connsiteX2" fmla="*/ 4468994 w 4480560"/>
              <a:gd name="connsiteY2" fmla="*/ 44657 h 2513993"/>
              <a:gd name="connsiteX3" fmla="*/ 4480560 w 4480560"/>
              <a:gd name="connsiteY3" fmla="*/ 273713 h 2513993"/>
              <a:gd name="connsiteX4" fmla="*/ 2240280 w 4480560"/>
              <a:gd name="connsiteY4" fmla="*/ 2513993 h 2513993"/>
              <a:gd name="connsiteX5" fmla="*/ 0 w 4480560"/>
              <a:gd name="connsiteY5" fmla="*/ 273713 h 2513993"/>
              <a:gd name="connsiteX6" fmla="*/ 11567 w 4480560"/>
              <a:gd name="connsiteY6" fmla="*/ 44657 h 25139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80560" h="2513993">
                <a:moveTo>
                  <a:pt x="18382" y="0"/>
                </a:moveTo>
                <a:lnTo>
                  <a:pt x="4462178" y="0"/>
                </a:lnTo>
                <a:lnTo>
                  <a:pt x="4468994" y="44657"/>
                </a:lnTo>
                <a:cubicBezTo>
                  <a:pt x="4476642" y="119969"/>
                  <a:pt x="4480560" y="196384"/>
                  <a:pt x="4480560" y="273713"/>
                </a:cubicBezTo>
                <a:cubicBezTo>
                  <a:pt x="4480560" y="1510985"/>
                  <a:pt x="3477552" y="2513993"/>
                  <a:pt x="2240280" y="2513993"/>
                </a:cubicBezTo>
                <a:cubicBezTo>
                  <a:pt x="1003008" y="2513993"/>
                  <a:pt x="0" y="1510985"/>
                  <a:pt x="0" y="273713"/>
                </a:cubicBezTo>
                <a:cubicBezTo>
                  <a:pt x="0" y="196384"/>
                  <a:pt x="3918" y="119969"/>
                  <a:pt x="11567" y="44657"/>
                </a:cubicBez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76" name="Freeform: Shape 75">
            <a:extLst>
              <a:ext uri="{FF2B5EF4-FFF2-40B4-BE49-F238E27FC236}">
                <a16:creationId xmlns:a16="http://schemas.microsoft.com/office/drawing/2014/main" id="{E4EE7214-AC05-465E-A501-65AA04EF5E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98355" y="2"/>
            <a:ext cx="4151376" cy="2349401"/>
          </a:xfrm>
          <a:custGeom>
            <a:avLst/>
            <a:gdLst>
              <a:gd name="connsiteX0" fmla="*/ 20101 w 4151376"/>
              <a:gd name="connsiteY0" fmla="*/ 0 h 2349401"/>
              <a:gd name="connsiteX1" fmla="*/ 4131276 w 4151376"/>
              <a:gd name="connsiteY1" fmla="*/ 0 h 2349401"/>
              <a:gd name="connsiteX2" fmla="*/ 4140659 w 4151376"/>
              <a:gd name="connsiteY2" fmla="*/ 61486 h 2349401"/>
              <a:gd name="connsiteX3" fmla="*/ 4151376 w 4151376"/>
              <a:gd name="connsiteY3" fmla="*/ 273713 h 2349401"/>
              <a:gd name="connsiteX4" fmla="*/ 2075688 w 4151376"/>
              <a:gd name="connsiteY4" fmla="*/ 2349401 h 2349401"/>
              <a:gd name="connsiteX5" fmla="*/ 0 w 4151376"/>
              <a:gd name="connsiteY5" fmla="*/ 273713 h 2349401"/>
              <a:gd name="connsiteX6" fmla="*/ 10717 w 4151376"/>
              <a:gd name="connsiteY6" fmla="*/ 61486 h 2349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51376" h="2349401">
                <a:moveTo>
                  <a:pt x="20101" y="0"/>
                </a:moveTo>
                <a:lnTo>
                  <a:pt x="4131276" y="0"/>
                </a:lnTo>
                <a:lnTo>
                  <a:pt x="4140659" y="61486"/>
                </a:lnTo>
                <a:cubicBezTo>
                  <a:pt x="4147746" y="131265"/>
                  <a:pt x="4151376" y="202065"/>
                  <a:pt x="4151376" y="273713"/>
                </a:cubicBezTo>
                <a:cubicBezTo>
                  <a:pt x="4151376" y="1420084"/>
                  <a:pt x="3222059" y="2349401"/>
                  <a:pt x="2075688" y="2349401"/>
                </a:cubicBezTo>
                <a:cubicBezTo>
                  <a:pt x="929317" y="2349401"/>
                  <a:pt x="0" y="1420084"/>
                  <a:pt x="0" y="273713"/>
                </a:cubicBezTo>
                <a:cubicBezTo>
                  <a:pt x="0" y="202065"/>
                  <a:pt x="3630" y="131265"/>
                  <a:pt x="10717" y="61486"/>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7" name="Rectangle 2">
            <a:extLst>
              <a:ext uri="{FF2B5EF4-FFF2-40B4-BE49-F238E27FC236}">
                <a16:creationId xmlns:a16="http://schemas.microsoft.com/office/drawing/2014/main" id="{5E62A1D4-056C-4BD6-8BAE-F355EA770FD7}"/>
              </a:ext>
            </a:extLst>
          </p:cNvPr>
          <p:cNvSpPr txBox="1">
            <a:spLocks/>
          </p:cNvSpPr>
          <p:nvPr/>
        </p:nvSpPr>
        <p:spPr>
          <a:xfrm>
            <a:off x="7836932" y="3146566"/>
            <a:ext cx="4480560" cy="1212242"/>
          </a:xfrm>
          <a:prstGeom prst="rect">
            <a:avLst/>
          </a:prstGeom>
        </p:spPr>
        <p:txBody>
          <a:bodyPr vert="horz" lIns="91440" tIns="45720" rIns="91440" bIns="4572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Aft>
                <a:spcPts val="600"/>
              </a:spcAft>
            </a:pPr>
            <a:r>
              <a:rPr lang="en-US" altLang="en-US" sz="3200" dirty="0"/>
              <a:t>Chapter 1 </a:t>
            </a:r>
          </a:p>
          <a:p>
            <a:pPr>
              <a:spcAft>
                <a:spcPts val="600"/>
              </a:spcAft>
            </a:pPr>
            <a:r>
              <a:rPr lang="en-US" altLang="en-US" sz="3200" dirty="0"/>
              <a:t>Units and Measurement </a:t>
            </a:r>
          </a:p>
        </p:txBody>
      </p:sp>
      <p:sp>
        <p:nvSpPr>
          <p:cNvPr id="4" name="Rectangle 2">
            <a:extLst>
              <a:ext uri="{FF2B5EF4-FFF2-40B4-BE49-F238E27FC236}">
                <a16:creationId xmlns:a16="http://schemas.microsoft.com/office/drawing/2014/main" id="{0546D111-6592-4E70-8C6B-D34F7E8A89B8}"/>
              </a:ext>
            </a:extLst>
          </p:cNvPr>
          <p:cNvSpPr txBox="1">
            <a:spLocks/>
          </p:cNvSpPr>
          <p:nvPr/>
        </p:nvSpPr>
        <p:spPr>
          <a:xfrm>
            <a:off x="4578397" y="102044"/>
            <a:ext cx="5756227" cy="1587648"/>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Aft>
                <a:spcPts val="600"/>
              </a:spcAft>
            </a:pPr>
            <a:r>
              <a:rPr lang="en-US" altLang="en-US" sz="3200" dirty="0">
                <a:solidFill>
                  <a:srgbClr val="0000CC"/>
                </a:solidFill>
              </a:rPr>
              <a:t>PHYS 2425  </a:t>
            </a:r>
          </a:p>
          <a:p>
            <a:pPr>
              <a:spcAft>
                <a:spcPts val="600"/>
              </a:spcAft>
            </a:pPr>
            <a:r>
              <a:rPr lang="en-US" altLang="en-US" sz="3200" dirty="0">
                <a:solidFill>
                  <a:srgbClr val="0000CC"/>
                </a:solidFill>
              </a:rPr>
              <a:t>Physics for Scientists </a:t>
            </a:r>
          </a:p>
          <a:p>
            <a:pPr>
              <a:spcAft>
                <a:spcPts val="600"/>
              </a:spcAft>
            </a:pPr>
            <a:r>
              <a:rPr lang="en-US" altLang="en-US" sz="3200" dirty="0">
                <a:solidFill>
                  <a:srgbClr val="0000CC"/>
                </a:solidFill>
              </a:rPr>
              <a:t>and Engineers I</a:t>
            </a:r>
          </a:p>
        </p:txBody>
      </p:sp>
      <p:pic>
        <p:nvPicPr>
          <p:cNvPr id="5" name="Picture 4" descr="A picture containing text&#10;&#10;Description automatically generated">
            <a:extLst>
              <a:ext uri="{FF2B5EF4-FFF2-40B4-BE49-F238E27FC236}">
                <a16:creationId xmlns:a16="http://schemas.microsoft.com/office/drawing/2014/main" id="{00364511-71A3-4D48-AC90-C9D92CFAE66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635" y="1320950"/>
            <a:ext cx="3888245" cy="5029200"/>
          </a:xfrm>
          <a:prstGeom prst="rect">
            <a:avLst/>
          </a:prstGeom>
        </p:spPr>
      </p:pic>
      <p:sp>
        <p:nvSpPr>
          <p:cNvPr id="9" name="Rectangle 8">
            <a:extLst>
              <a:ext uri="{FF2B5EF4-FFF2-40B4-BE49-F238E27FC236}">
                <a16:creationId xmlns:a16="http://schemas.microsoft.com/office/drawing/2014/main" id="{524225FA-6C77-8B48-B8FF-D02A53285D2F}"/>
              </a:ext>
            </a:extLst>
          </p:cNvPr>
          <p:cNvSpPr/>
          <p:nvPr/>
        </p:nvSpPr>
        <p:spPr>
          <a:xfrm>
            <a:off x="895268" y="6317187"/>
            <a:ext cx="2018620" cy="553998"/>
          </a:xfrm>
          <a:prstGeom prst="rect">
            <a:avLst/>
          </a:prstGeom>
        </p:spPr>
        <p:txBody>
          <a:bodyPr wrap="square">
            <a:spAutoFit/>
          </a:bodyPr>
          <a:lstStyle/>
          <a:p>
            <a:r>
              <a:rPr lang="en-US" sz="1000" dirty="0">
                <a:solidFill>
                  <a:srgbClr val="A50021"/>
                </a:solidFill>
                <a:latin typeface="Calibri" panose="020F0502020204030204" pitchFamily="34" charset="0"/>
              </a:rPr>
              <a:t>Download the textbook for free at </a:t>
            </a:r>
            <a:r>
              <a:rPr lang="en-US" sz="1000" dirty="0">
                <a:solidFill>
                  <a:srgbClr val="A50021"/>
                </a:solidFill>
                <a:latin typeface="Calibri" panose="020F0502020204030204" pitchFamily="34" charset="0"/>
                <a:hlinkClick r:id="rId4"/>
              </a:rPr>
              <a:t>https://openstax.org/details/books/university-physics-volume-1</a:t>
            </a:r>
            <a:r>
              <a:rPr lang="en-US" sz="1000" dirty="0">
                <a:solidFill>
                  <a:srgbClr val="A50021"/>
                </a:solidFill>
                <a:latin typeface="Calibri" panose="020F0502020204030204" pitchFamily="34" charset="0"/>
              </a:rPr>
              <a:t> </a:t>
            </a:r>
            <a:endParaRPr lang="en-US" sz="1000" dirty="0">
              <a:solidFill>
                <a:srgbClr val="A50021"/>
              </a:solidFill>
              <a:effectLst/>
            </a:endParaRPr>
          </a:p>
        </p:txBody>
      </p:sp>
      <p:sp>
        <p:nvSpPr>
          <p:cNvPr id="10" name="Rectangle 9">
            <a:extLst>
              <a:ext uri="{FF2B5EF4-FFF2-40B4-BE49-F238E27FC236}">
                <a16:creationId xmlns:a16="http://schemas.microsoft.com/office/drawing/2014/main" id="{0F7B427F-99C8-C74D-B61F-8F041FEB891B}"/>
              </a:ext>
            </a:extLst>
          </p:cNvPr>
          <p:cNvSpPr/>
          <p:nvPr/>
        </p:nvSpPr>
        <p:spPr>
          <a:xfrm>
            <a:off x="8390502" y="6386024"/>
            <a:ext cx="3801498" cy="400110"/>
          </a:xfrm>
          <a:prstGeom prst="rect">
            <a:avLst/>
          </a:prstGeom>
        </p:spPr>
        <p:txBody>
          <a:bodyPr wrap="square">
            <a:spAutoFit/>
          </a:bodyPr>
          <a:lstStyle/>
          <a:p>
            <a:r>
              <a:rPr lang="en-US" sz="1000" dirty="0"/>
              <a:t>Image credit</a:t>
            </a:r>
          </a:p>
          <a:p>
            <a:r>
              <a:rPr lang="en-US" sz="1000" dirty="0">
                <a:solidFill>
                  <a:srgbClr val="0563C1"/>
                </a:solidFill>
                <a:hlinkClick r:id="rId5">
                  <a:extLst>
                    <a:ext uri="{A12FA001-AC4F-418D-AE19-62706E023703}">
                      <ahyp:hlinkClr xmlns:ahyp="http://schemas.microsoft.com/office/drawing/2018/hyperlinkcolor" val="tx"/>
                    </a:ext>
                  </a:extLst>
                </a:hlinkClick>
              </a:rPr>
              <a:t>https://www.nist.gov/image/</a:t>
            </a:r>
            <a:r>
              <a:rPr lang="en-US" sz="1000" dirty="0">
                <a:hlinkClick r:id="rId5">
                  <a:extLst>
                    <a:ext uri="{A12FA001-AC4F-418D-AE19-62706E023703}">
                      <ahyp:hlinkClr xmlns:ahyp="http://schemas.microsoft.com/office/drawing/2018/hyperlinkcolor" val="tx"/>
                    </a:ext>
                  </a:extLst>
                </a:hlinkClick>
              </a:rPr>
              <a:t>wattbalancersicover-3000resizedjpg</a:t>
            </a:r>
            <a:endParaRPr lang="en-US" sz="1000" dirty="0"/>
          </a:p>
        </p:txBody>
      </p:sp>
    </p:spTree>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a:extLst>
              <a:ext uri="{FF2B5EF4-FFF2-40B4-BE49-F238E27FC236}">
                <a16:creationId xmlns:a16="http://schemas.microsoft.com/office/drawing/2014/main" id="{7C432AFE-B3D2-4BFF-BF8F-96C27AFF1A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Placeholder 1" descr="A photograph of the Whirlpool Galaxy">
            <a:extLst>
              <a:ext uri="{FF2B5EF4-FFF2-40B4-BE49-F238E27FC236}">
                <a16:creationId xmlns:a16="http://schemas.microsoft.com/office/drawing/2014/main" id="{844623B1-FB3F-1A48-B165-686737FD89C7}"/>
              </a:ext>
            </a:extLst>
          </p:cNvPr>
          <p:cNvPicPr>
            <a:picLocks noChangeAspect="1"/>
          </p:cNvPicPr>
          <p:nvPr/>
        </p:nvPicPr>
        <p:blipFill rotWithShape="1">
          <a:blip r:embed="rId2" cstate="email">
            <a:alphaModFix amt="40000"/>
            <a:extLst>
              <a:ext uri="{28A0092B-C50C-407E-A947-70E740481C1C}">
                <a14:useLocalDpi xmlns:a14="http://schemas.microsoft.com/office/drawing/2010/main" val="0"/>
              </a:ext>
            </a:extLst>
          </a:blip>
          <a:srcRect b="443"/>
          <a:stretch/>
        </p:blipFill>
        <p:spPr>
          <a:xfrm>
            <a:off x="20" y="10"/>
            <a:ext cx="12191979" cy="6857990"/>
          </a:xfrm>
          <a:prstGeom prst="rect">
            <a:avLst/>
          </a:prstGeom>
        </p:spPr>
      </p:pic>
      <p:sp>
        <p:nvSpPr>
          <p:cNvPr id="2" name="Rectangle 2">
            <a:extLst>
              <a:ext uri="{FF2B5EF4-FFF2-40B4-BE49-F238E27FC236}">
                <a16:creationId xmlns:a16="http://schemas.microsoft.com/office/drawing/2014/main" id="{9F2920B5-CBF3-244E-BC74-1BE8977CA13C}"/>
              </a:ext>
            </a:extLst>
          </p:cNvPr>
          <p:cNvSpPr>
            <a:spLocks noGrp="1" noChangeArrowheads="1"/>
          </p:cNvSpPr>
          <p:nvPr>
            <p:ph type="title"/>
          </p:nvPr>
        </p:nvSpPr>
        <p:spPr>
          <a:xfrm>
            <a:off x="1712787" y="259747"/>
            <a:ext cx="3730751" cy="852106"/>
          </a:xfrm>
        </p:spPr>
        <p:txBody>
          <a:bodyPr anchor="b">
            <a:normAutofit/>
          </a:bodyPr>
          <a:lstStyle/>
          <a:p>
            <a:pPr eaLnBrk="1" hangingPunct="1"/>
            <a:r>
              <a:rPr lang="en-US" altLang="en-US" sz="5000" dirty="0"/>
              <a:t>Physics*</a:t>
            </a:r>
          </a:p>
        </p:txBody>
      </p:sp>
      <p:sp>
        <p:nvSpPr>
          <p:cNvPr id="11" name="Rectangle 10">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0140"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3" name="Rectangle 12">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3241202"/>
            <a:ext cx="10506456" cy="18288"/>
          </a:xfrm>
          <a:prstGeom prst="rect">
            <a:avLst/>
          </a:prstGeom>
          <a:solidFill>
            <a:schemeClr val="tx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Rectangle 3">
            <a:extLst>
              <a:ext uri="{FF2B5EF4-FFF2-40B4-BE49-F238E27FC236}">
                <a16:creationId xmlns:a16="http://schemas.microsoft.com/office/drawing/2014/main" id="{9A4D1D14-36F1-0A4E-B217-007736B628FF}"/>
              </a:ext>
            </a:extLst>
          </p:cNvPr>
          <p:cNvSpPr>
            <a:spLocks noGrp="1" noChangeArrowheads="1"/>
          </p:cNvSpPr>
          <p:nvPr>
            <p:ph idx="1"/>
          </p:nvPr>
        </p:nvSpPr>
        <p:spPr>
          <a:xfrm>
            <a:off x="841248" y="1336679"/>
            <a:ext cx="11145966" cy="1177978"/>
          </a:xfrm>
        </p:spPr>
        <p:txBody>
          <a:bodyPr>
            <a:normAutofit/>
          </a:bodyPr>
          <a:lstStyle/>
          <a:p>
            <a:pPr marL="0" indent="0"/>
            <a:r>
              <a:rPr lang="en-US" altLang="en-US" sz="2000" dirty="0"/>
              <a:t>Fundamental Science</a:t>
            </a:r>
          </a:p>
          <a:p>
            <a:pPr lvl="1"/>
            <a:r>
              <a:rPr lang="en-US" altLang="en-US" sz="2000" dirty="0"/>
              <a:t>Concerned with the fundamental principles of the Universe: from subatomic particles to galaxies </a:t>
            </a:r>
          </a:p>
          <a:p>
            <a:pPr lvl="1" eaLnBrk="1" hangingPunct="1"/>
            <a:r>
              <a:rPr lang="en-US" altLang="en-US" sz="2000" dirty="0"/>
              <a:t>Foundation of other physical sciences (Chemistry, Biology, Geology, Space Science/Astronomy)</a:t>
            </a:r>
          </a:p>
        </p:txBody>
      </p:sp>
      <p:pic>
        <p:nvPicPr>
          <p:cNvPr id="8" name="Picture Placeholder 1" descr="Figure a shows a high resolution scanning electron microscope image of gold film. Figure b shows a magnified image of phytoplankton and ice crystals. Figure c shows a photograph of two galaxies.">
            <a:extLst>
              <a:ext uri="{FF2B5EF4-FFF2-40B4-BE49-F238E27FC236}">
                <a16:creationId xmlns:a16="http://schemas.microsoft.com/office/drawing/2014/main" id="{A5D7B061-439C-5040-AE63-8E75FF708A20}"/>
              </a:ext>
            </a:extLst>
          </p:cNvPr>
          <p:cNvPicPr>
            <a:picLocks noChangeAspect="1"/>
          </p:cNvPicPr>
          <p:nvPr/>
        </p:nvPicPr>
        <p:blipFill>
          <a:blip r:embed="rId3" cstate="email">
            <a:extLst>
              <a:ext uri="{28A0092B-C50C-407E-A947-70E740481C1C}">
                <a14:useLocalDpi xmlns:a14="http://schemas.microsoft.com/office/drawing/2010/main" val="0"/>
              </a:ext>
            </a:extLst>
          </a:blip>
          <a:srcRect t="-16339" b="-16339"/>
          <a:stretch>
            <a:fillRect/>
          </a:stretch>
        </p:blipFill>
        <p:spPr>
          <a:xfrm>
            <a:off x="6734753" y="4161761"/>
            <a:ext cx="4612951" cy="2002460"/>
          </a:xfrm>
          <a:prstGeom prst="rect">
            <a:avLst/>
          </a:prstGeom>
        </p:spPr>
      </p:pic>
      <p:pic>
        <p:nvPicPr>
          <p:cNvPr id="10" name="Picture 2" descr="L:\Clients\Connexions\01_CNX_ Admin\00_OSC_Project_Resources\14_OSC_Production\PowerPoints\OSX-Stacked-TM-CMYK-300dp1-2016.jpg">
            <a:extLst>
              <a:ext uri="{FF2B5EF4-FFF2-40B4-BE49-F238E27FC236}">
                <a16:creationId xmlns:a16="http://schemas.microsoft.com/office/drawing/2014/main" id="{2D4A00D9-5ECB-0E4C-807E-8CD7587E2D44}"/>
              </a:ext>
            </a:extLst>
          </p:cNvPr>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2A122802-35E2-804F-B449-E8618F719D18}"/>
              </a:ext>
            </a:extLst>
          </p:cNvPr>
          <p:cNvSpPr/>
          <p:nvPr/>
        </p:nvSpPr>
        <p:spPr>
          <a:xfrm>
            <a:off x="6633160" y="2831271"/>
            <a:ext cx="5462588" cy="1477328"/>
          </a:xfrm>
          <a:prstGeom prst="rect">
            <a:avLst/>
          </a:prstGeom>
        </p:spPr>
        <p:txBody>
          <a:bodyPr wrap="square">
            <a:spAutoFit/>
          </a:bodyPr>
          <a:lstStyle/>
          <a:p>
            <a:r>
              <a:rPr lang="en-US" sz="2400" dirty="0">
                <a:solidFill>
                  <a:srgbClr val="00B0F0"/>
                </a:solidFill>
                <a:latin typeface="LiberationSerif"/>
              </a:rPr>
              <a:t>Why do you need it</a:t>
            </a:r>
          </a:p>
          <a:p>
            <a:r>
              <a:rPr lang="en-US" sz="2200" dirty="0">
                <a:latin typeface="LiberationSerif"/>
              </a:rPr>
              <a:t>The same basic training in physics will prepare you to work in any area of physics and the related areas of science and engineering. </a:t>
            </a:r>
            <a:endParaRPr lang="en-US" sz="2200" dirty="0"/>
          </a:p>
        </p:txBody>
      </p:sp>
      <p:sp>
        <p:nvSpPr>
          <p:cNvPr id="6" name="Rectangle 5">
            <a:extLst>
              <a:ext uri="{FF2B5EF4-FFF2-40B4-BE49-F238E27FC236}">
                <a16:creationId xmlns:a16="http://schemas.microsoft.com/office/drawing/2014/main" id="{496EEEF7-8082-8541-A0F9-202E997D0651}"/>
              </a:ext>
            </a:extLst>
          </p:cNvPr>
          <p:cNvSpPr/>
          <p:nvPr/>
        </p:nvSpPr>
        <p:spPr>
          <a:xfrm>
            <a:off x="521493" y="5835267"/>
            <a:ext cx="11145966" cy="800219"/>
          </a:xfrm>
          <a:prstGeom prst="rect">
            <a:avLst/>
          </a:prstGeom>
        </p:spPr>
        <p:txBody>
          <a:bodyPr wrap="square">
            <a:spAutoFit/>
          </a:bodyPr>
          <a:lstStyle/>
          <a:p>
            <a:r>
              <a:rPr lang="en-US" sz="2800" b="1" dirty="0">
                <a:latin typeface="LiberationSerif"/>
              </a:rPr>
              <a:t>*</a:t>
            </a:r>
            <a:r>
              <a:rPr lang="en-US" b="1" dirty="0">
                <a:latin typeface="LiberationSerif"/>
              </a:rPr>
              <a:t>Physics </a:t>
            </a:r>
            <a:r>
              <a:rPr lang="en-US" dirty="0">
                <a:latin typeface="LiberationSerif"/>
              </a:rPr>
              <a:t>comes from the Greek </a:t>
            </a:r>
            <a:r>
              <a:rPr lang="en-US" i="1" dirty="0" err="1">
                <a:latin typeface="LiberationSerif"/>
              </a:rPr>
              <a:t>phúsis</a:t>
            </a:r>
            <a:r>
              <a:rPr lang="en-US" dirty="0">
                <a:latin typeface="LiberationSerif"/>
              </a:rPr>
              <a:t>, meaning “nature,” it is concerned with describing the interactions of energy, matter, space, and time to uncover the fundamental mechanisms that underlie every phenomenon. </a:t>
            </a:r>
            <a:endParaRPr lang="en-US" dirty="0"/>
          </a:p>
        </p:txBody>
      </p:sp>
      <p:sp>
        <p:nvSpPr>
          <p:cNvPr id="7" name="Rectangle 6">
            <a:extLst>
              <a:ext uri="{FF2B5EF4-FFF2-40B4-BE49-F238E27FC236}">
                <a16:creationId xmlns:a16="http://schemas.microsoft.com/office/drawing/2014/main" id="{AEDFB4C5-FB9E-6842-BE1D-240ECD61AFD9}"/>
              </a:ext>
            </a:extLst>
          </p:cNvPr>
          <p:cNvSpPr/>
          <p:nvPr/>
        </p:nvSpPr>
        <p:spPr>
          <a:xfrm>
            <a:off x="1669922" y="4687038"/>
            <a:ext cx="5125723" cy="923330"/>
          </a:xfrm>
          <a:prstGeom prst="rect">
            <a:avLst/>
          </a:prstGeom>
        </p:spPr>
        <p:txBody>
          <a:bodyPr wrap="square">
            <a:spAutoFit/>
          </a:bodyPr>
          <a:lstStyle/>
          <a:p>
            <a:r>
              <a:rPr lang="en-US" dirty="0">
                <a:latin typeface="LiberationSerif"/>
              </a:rPr>
              <a:t>Most branches of engineering are concerned with designing new technologies, processes, or structures within the constraints set by the laws of physics. </a:t>
            </a:r>
            <a:endParaRPr lang="en-US" dirty="0"/>
          </a:p>
        </p:txBody>
      </p:sp>
    </p:spTree>
    <p:extLst>
      <p:ext uri="{BB962C8B-B14F-4D97-AF65-F5344CB8AC3E}">
        <p14:creationId xmlns:p14="http://schemas.microsoft.com/office/powerpoint/2010/main" val="139576084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8710733-338A-9A45-A77B-9B015AFDC0F8}"/>
              </a:ext>
            </a:extLst>
          </p:cNvPr>
          <p:cNvSpPr/>
          <p:nvPr/>
        </p:nvSpPr>
        <p:spPr>
          <a:xfrm>
            <a:off x="4300062" y="139060"/>
            <a:ext cx="3591876" cy="523220"/>
          </a:xfrm>
          <a:prstGeom prst="rect">
            <a:avLst/>
          </a:prstGeom>
        </p:spPr>
        <p:txBody>
          <a:bodyPr wrap="square">
            <a:spAutoFit/>
          </a:bodyPr>
          <a:lstStyle/>
          <a:p>
            <a:r>
              <a:rPr lang="en-US" sz="2800" dirty="0">
                <a:solidFill>
                  <a:srgbClr val="C00000"/>
                </a:solidFill>
                <a:latin typeface="NewBaskervilleStd-Roman"/>
              </a:rPr>
              <a:t>The Scale of Physics </a:t>
            </a:r>
          </a:p>
        </p:txBody>
      </p:sp>
      <p:pic>
        <p:nvPicPr>
          <p:cNvPr id="3" name="Picture Placeholder 1" descr="Figure a shows a high resolution scanning electron microscope image of gold film. Figure b shows a magnified image of phytoplankton and ice crystals. Figure c shows a photograph of two galaxies.">
            <a:extLst>
              <a:ext uri="{FF2B5EF4-FFF2-40B4-BE49-F238E27FC236}">
                <a16:creationId xmlns:a16="http://schemas.microsoft.com/office/drawing/2014/main" id="{0E1CB2EF-5095-B643-94DB-7C5ACA5EAFDC}"/>
              </a:ext>
            </a:extLst>
          </p:cNvPr>
          <p:cNvPicPr>
            <a:picLocks noChangeAspect="1"/>
          </p:cNvPicPr>
          <p:nvPr/>
        </p:nvPicPr>
        <p:blipFill>
          <a:blip r:embed="rId2" cstate="email">
            <a:extLst>
              <a:ext uri="{28A0092B-C50C-407E-A947-70E740481C1C}">
                <a14:useLocalDpi xmlns:a14="http://schemas.microsoft.com/office/drawing/2010/main" val="0"/>
              </a:ext>
            </a:extLst>
          </a:blip>
          <a:srcRect t="-16339" b="-16339"/>
          <a:stretch>
            <a:fillRect/>
          </a:stretch>
        </p:blipFill>
        <p:spPr>
          <a:xfrm>
            <a:off x="2064543" y="468962"/>
            <a:ext cx="8062913" cy="3500071"/>
          </a:xfrm>
          <a:prstGeom prst="rect">
            <a:avLst/>
          </a:prstGeom>
        </p:spPr>
      </p:pic>
      <p:sp>
        <p:nvSpPr>
          <p:cNvPr id="4" name="Text Placeholder 6">
            <a:extLst>
              <a:ext uri="{FF2B5EF4-FFF2-40B4-BE49-F238E27FC236}">
                <a16:creationId xmlns:a16="http://schemas.microsoft.com/office/drawing/2014/main" id="{8495E5DF-19D0-2444-B916-F34B79AE76CA}"/>
              </a:ext>
            </a:extLst>
          </p:cNvPr>
          <p:cNvSpPr txBox="1">
            <a:spLocks/>
          </p:cNvSpPr>
          <p:nvPr/>
        </p:nvSpPr>
        <p:spPr>
          <a:xfrm>
            <a:off x="214311" y="3775715"/>
            <a:ext cx="11763375" cy="2943225"/>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Arial" panose="020B0604020202020204" pitchFamily="34" charset="0"/>
              <a:buAutoNum type="alphaLcParenBoth"/>
            </a:pPr>
            <a:r>
              <a:rPr lang="en-US" sz="1800" dirty="0">
                <a:solidFill>
                  <a:schemeClr val="accent6">
                    <a:lumMod val="75000"/>
                  </a:schemeClr>
                </a:solidFill>
              </a:rPr>
              <a:t>Using a scanning tunneling microscope, scientists can see the individual atoms (diameters around </a:t>
            </a:r>
            <a:r>
              <a:rPr lang="en-US" sz="1800" dirty="0">
                <a:solidFill>
                  <a:srgbClr val="C00000"/>
                </a:solidFill>
              </a:rPr>
              <a:t>10</a:t>
            </a:r>
            <a:r>
              <a:rPr lang="en-US" sz="1800" baseline="30000" dirty="0">
                <a:solidFill>
                  <a:srgbClr val="C00000"/>
                </a:solidFill>
              </a:rPr>
              <a:t>–10 </a:t>
            </a:r>
            <a:r>
              <a:rPr lang="en-US" sz="1800" dirty="0">
                <a:solidFill>
                  <a:srgbClr val="C00000"/>
                </a:solidFill>
              </a:rPr>
              <a:t>m</a:t>
            </a:r>
            <a:r>
              <a:rPr lang="en-US" sz="1800" dirty="0">
                <a:solidFill>
                  <a:schemeClr val="accent6">
                    <a:lumMod val="75000"/>
                  </a:schemeClr>
                </a:solidFill>
              </a:rPr>
              <a:t>) that compose this sheet of gold.</a:t>
            </a:r>
          </a:p>
          <a:p>
            <a:pPr>
              <a:buFont typeface="Arial" panose="020B0604020202020204" pitchFamily="34" charset="0"/>
              <a:buAutoNum type="alphaLcParenBoth"/>
            </a:pPr>
            <a:r>
              <a:rPr lang="en-US" sz="1800" dirty="0">
                <a:solidFill>
                  <a:srgbClr val="000066"/>
                </a:solidFill>
              </a:rPr>
              <a:t>Tiny phytoplankton swim among crystals of ice in the Antarctic Sea. They range from a few micrometers (1 </a:t>
            </a:r>
            <a:r>
              <a:rPr lang="en-US" sz="1800" i="1" dirty="0" err="1">
                <a:solidFill>
                  <a:srgbClr val="000066"/>
                </a:solidFill>
              </a:rPr>
              <a:t>μ</a:t>
            </a:r>
            <a:r>
              <a:rPr lang="en-US" sz="1800" dirty="0" err="1">
                <a:solidFill>
                  <a:srgbClr val="000066"/>
                </a:solidFill>
              </a:rPr>
              <a:t>m</a:t>
            </a:r>
            <a:r>
              <a:rPr lang="en-US" sz="1800" dirty="0">
                <a:solidFill>
                  <a:srgbClr val="000066"/>
                </a:solidFill>
              </a:rPr>
              <a:t> is </a:t>
            </a:r>
            <a:r>
              <a:rPr lang="en-US" sz="1800" dirty="0">
                <a:solidFill>
                  <a:srgbClr val="C00000"/>
                </a:solidFill>
              </a:rPr>
              <a:t>10</a:t>
            </a:r>
            <a:r>
              <a:rPr lang="en-US" sz="1800" baseline="30000" dirty="0">
                <a:solidFill>
                  <a:srgbClr val="C00000"/>
                </a:solidFill>
              </a:rPr>
              <a:t>–6</a:t>
            </a:r>
            <a:r>
              <a:rPr lang="en-US" sz="1800" dirty="0">
                <a:solidFill>
                  <a:srgbClr val="C00000"/>
                </a:solidFill>
              </a:rPr>
              <a:t> m</a:t>
            </a:r>
            <a:r>
              <a:rPr lang="en-US" sz="1800" dirty="0">
                <a:solidFill>
                  <a:srgbClr val="000066"/>
                </a:solidFill>
              </a:rPr>
              <a:t>) to as much as 2 mm (1 mm is 10</a:t>
            </a:r>
            <a:r>
              <a:rPr lang="en-US" sz="1800" baseline="30000" dirty="0">
                <a:solidFill>
                  <a:srgbClr val="000066"/>
                </a:solidFill>
              </a:rPr>
              <a:t>–2</a:t>
            </a:r>
            <a:r>
              <a:rPr lang="en-US" sz="1800" dirty="0">
                <a:solidFill>
                  <a:srgbClr val="000066"/>
                </a:solidFill>
              </a:rPr>
              <a:t> m) in length.</a:t>
            </a:r>
          </a:p>
          <a:p>
            <a:pPr>
              <a:buFont typeface="Arial" panose="020B0604020202020204" pitchFamily="34" charset="0"/>
              <a:buAutoNum type="alphaLcParenBoth"/>
            </a:pPr>
            <a:r>
              <a:rPr lang="en-US" sz="1800" dirty="0">
                <a:solidFill>
                  <a:srgbClr val="3B124D"/>
                </a:solidFill>
              </a:rPr>
              <a:t>These two colliding galaxies, known as NGC 4676A (right) and NGC 4676B (left), are nicknamed “The Mice” because of the tail of gas emanating from each one. They are located </a:t>
            </a:r>
            <a:r>
              <a:rPr lang="en-US" sz="1800" dirty="0">
                <a:solidFill>
                  <a:srgbClr val="C00000"/>
                </a:solidFill>
              </a:rPr>
              <a:t>300 million light-years </a:t>
            </a:r>
            <a:r>
              <a:rPr lang="en-US" sz="1800" dirty="0">
                <a:solidFill>
                  <a:srgbClr val="3B124D"/>
                </a:solidFill>
              </a:rPr>
              <a:t>from Earth in the constellation Coma Berenices. Eventually, these two galaxies will merge into one. </a:t>
            </a:r>
          </a:p>
          <a:p>
            <a:pPr marL="0" indent="0">
              <a:buNone/>
            </a:pPr>
            <a:r>
              <a:rPr lang="en-US" sz="1000" dirty="0">
                <a:solidFill>
                  <a:srgbClr val="3B124D"/>
                </a:solidFill>
              </a:rPr>
              <a:t>(credit a: modification of work by </a:t>
            </a:r>
            <a:r>
              <a:rPr lang="en-US" sz="1000" dirty="0" err="1">
                <a:solidFill>
                  <a:srgbClr val="3B124D"/>
                </a:solidFill>
              </a:rPr>
              <a:t>Erwinrossen</a:t>
            </a:r>
            <a:r>
              <a:rPr lang="en-US" sz="1000" dirty="0">
                <a:solidFill>
                  <a:srgbClr val="3B124D"/>
                </a:solidFill>
              </a:rPr>
              <a:t>; credit b: modification of work by Prof. Gordon T. Taylor, Stony Brook University; NOAA Corps Collections; credit c: modification of work by NASA, H. Ford (JHU), G. Illingworth (UCSC/LO), M. </a:t>
            </a:r>
            <a:r>
              <a:rPr lang="en-US" sz="1000" dirty="0" err="1">
                <a:solidFill>
                  <a:srgbClr val="3B124D"/>
                </a:solidFill>
              </a:rPr>
              <a:t>Clampin</a:t>
            </a:r>
            <a:r>
              <a:rPr lang="en-US" sz="1000" dirty="0">
                <a:solidFill>
                  <a:srgbClr val="3B124D"/>
                </a:solidFill>
              </a:rPr>
              <a:t> (</a:t>
            </a:r>
            <a:r>
              <a:rPr lang="en-US" sz="1000" dirty="0" err="1">
                <a:solidFill>
                  <a:srgbClr val="3B124D"/>
                </a:solidFill>
              </a:rPr>
              <a:t>STScI</a:t>
            </a:r>
            <a:r>
              <a:rPr lang="en-US" sz="1000" dirty="0">
                <a:solidFill>
                  <a:srgbClr val="3B124D"/>
                </a:solidFill>
              </a:rPr>
              <a:t>), G. </a:t>
            </a:r>
            <a:r>
              <a:rPr lang="en-US" sz="1000" dirty="0" err="1">
                <a:solidFill>
                  <a:srgbClr val="3B124D"/>
                </a:solidFill>
              </a:rPr>
              <a:t>Hartig</a:t>
            </a:r>
            <a:r>
              <a:rPr lang="en-US" sz="1000" dirty="0">
                <a:solidFill>
                  <a:srgbClr val="3B124D"/>
                </a:solidFill>
              </a:rPr>
              <a:t> (</a:t>
            </a:r>
            <a:r>
              <a:rPr lang="en-US" sz="1000" dirty="0" err="1">
                <a:solidFill>
                  <a:srgbClr val="3B124D"/>
                </a:solidFill>
              </a:rPr>
              <a:t>STScI</a:t>
            </a:r>
            <a:r>
              <a:rPr lang="en-US" sz="1000" dirty="0">
                <a:solidFill>
                  <a:srgbClr val="3B124D"/>
                </a:solidFill>
              </a:rPr>
              <a:t>), the ACS Science Team, and ESA)</a:t>
            </a:r>
          </a:p>
        </p:txBody>
      </p:sp>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p14="http://schemas.microsoft.com/office/powerpoint/2010/main" val="359261066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L:\Clients\Connexions\01_CNX_ Admin\00_OSC_Project_Resources\14_OSC_Production\PowerPoints\OSX-Stacked-TM-CMYK-300dp1-2016.jpg">
            <a:extLst>
              <a:ext uri="{FF2B5EF4-FFF2-40B4-BE49-F238E27FC236}">
                <a16:creationId xmlns:a16="http://schemas.microsoft.com/office/drawing/2014/main" id="{4B092BDE-C020-CB44-BA44-29C652FC36D9}"/>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9EBDEFF8-1662-D84A-8927-64E150341C72}"/>
              </a:ext>
            </a:extLst>
          </p:cNvPr>
          <p:cNvSpPr/>
          <p:nvPr/>
        </p:nvSpPr>
        <p:spPr>
          <a:xfrm>
            <a:off x="4300062" y="102484"/>
            <a:ext cx="3591876" cy="523220"/>
          </a:xfrm>
          <a:prstGeom prst="rect">
            <a:avLst/>
          </a:prstGeom>
        </p:spPr>
        <p:txBody>
          <a:bodyPr wrap="square">
            <a:spAutoFit/>
          </a:bodyPr>
          <a:lstStyle/>
          <a:p>
            <a:r>
              <a:rPr lang="en-US" sz="2800" dirty="0">
                <a:solidFill>
                  <a:srgbClr val="C00000"/>
                </a:solidFill>
                <a:latin typeface="NewBaskervilleStd-Roman"/>
              </a:rPr>
              <a:t>Order of Magnitude</a:t>
            </a:r>
          </a:p>
        </p:txBody>
      </p:sp>
      <p:sp>
        <p:nvSpPr>
          <p:cNvPr id="4" name="Rectangle 3">
            <a:extLst>
              <a:ext uri="{FF2B5EF4-FFF2-40B4-BE49-F238E27FC236}">
                <a16:creationId xmlns:a16="http://schemas.microsoft.com/office/drawing/2014/main" id="{78F7C324-6144-7741-A220-5BA1256E0BC3}"/>
              </a:ext>
            </a:extLst>
          </p:cNvPr>
          <p:cNvSpPr/>
          <p:nvPr/>
        </p:nvSpPr>
        <p:spPr>
          <a:xfrm>
            <a:off x="328799" y="581772"/>
            <a:ext cx="10850881" cy="1107996"/>
          </a:xfrm>
          <a:prstGeom prst="rect">
            <a:avLst/>
          </a:prstGeom>
        </p:spPr>
        <p:txBody>
          <a:bodyPr wrap="square">
            <a:spAutoFit/>
          </a:bodyPr>
          <a:lstStyle/>
          <a:p>
            <a:r>
              <a:rPr lang="en-US" sz="2200" dirty="0">
                <a:latin typeface="LiberationSerif"/>
              </a:rPr>
              <a:t>The </a:t>
            </a:r>
            <a:r>
              <a:rPr lang="en-US" sz="2200" b="1" dirty="0">
                <a:solidFill>
                  <a:srgbClr val="C00000"/>
                </a:solidFill>
                <a:latin typeface="LiberationSerif"/>
              </a:rPr>
              <a:t>order of magnitude </a:t>
            </a:r>
            <a:r>
              <a:rPr lang="en-US" sz="2200" dirty="0">
                <a:latin typeface="LiberationSerif"/>
              </a:rPr>
              <a:t>of a number is the power of 10 that most closely approximates it. It refers to the scale (or size) of a value. It is given in powers of 10. </a:t>
            </a:r>
          </a:p>
          <a:p>
            <a:endParaRPr lang="en-US" sz="2200" dirty="0">
              <a:latin typeface="LiberationSerif"/>
            </a:endParaRPr>
          </a:p>
        </p:txBody>
      </p:sp>
      <p:pic>
        <p:nvPicPr>
          <p:cNvPr id="6" name="Picture 5" descr="Text&#10;&#10;Description automatically generated with medium confidence">
            <a:extLst>
              <a:ext uri="{FF2B5EF4-FFF2-40B4-BE49-F238E27FC236}">
                <a16:creationId xmlns:a16="http://schemas.microsoft.com/office/drawing/2014/main" id="{21D38794-A746-504A-9D80-4B83CAB0BB0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85400" y="1763444"/>
            <a:ext cx="1722397" cy="365760"/>
          </a:xfrm>
          <a:prstGeom prst="rect">
            <a:avLst/>
          </a:prstGeom>
        </p:spPr>
      </p:pic>
      <p:pic>
        <p:nvPicPr>
          <p:cNvPr id="8" name="Picture 7" descr="Graphical user interface&#10;&#10;Description automatically generated with low confidence">
            <a:extLst>
              <a:ext uri="{FF2B5EF4-FFF2-40B4-BE49-F238E27FC236}">
                <a16:creationId xmlns:a16="http://schemas.microsoft.com/office/drawing/2014/main" id="{46976D04-A263-E944-8E69-687FE81334C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91693" y="1300160"/>
            <a:ext cx="5643155" cy="5486400"/>
          </a:xfrm>
          <a:prstGeom prst="rect">
            <a:avLst/>
          </a:prstGeom>
        </p:spPr>
      </p:pic>
      <mc:AlternateContent xmlns:mc="http://schemas.openxmlformats.org/markup-compatibility/2006" xmlns:a14="http://schemas.microsoft.com/office/drawing/2010/main">
        <mc:Choice Requires="a14">
          <p:sp>
            <p:nvSpPr>
              <p:cNvPr id="9" name="Rectangle 8">
                <a:extLst>
                  <a:ext uri="{FF2B5EF4-FFF2-40B4-BE49-F238E27FC236}">
                    <a16:creationId xmlns:a16="http://schemas.microsoft.com/office/drawing/2014/main" id="{47C0E984-7D0F-B74A-A71B-EE84345CC18E}"/>
                  </a:ext>
                </a:extLst>
              </p:cNvPr>
              <p:cNvSpPr/>
              <p:nvPr/>
            </p:nvSpPr>
            <p:spPr>
              <a:xfrm>
                <a:off x="525226" y="1344092"/>
                <a:ext cx="6096000" cy="2712602"/>
              </a:xfrm>
              <a:prstGeom prst="rect">
                <a:avLst/>
              </a:prstGeom>
            </p:spPr>
            <p:txBody>
              <a:bodyPr>
                <a:spAutoFit/>
              </a:bodyPr>
              <a:lstStyle/>
              <a:p>
                <a:pPr marL="285750" indent="-285750">
                  <a:lnSpc>
                    <a:spcPct val="125000"/>
                  </a:lnSpc>
                  <a:buFont typeface="Arial" panose="020B0604020202020204" pitchFamily="34" charset="0"/>
                  <a:buChar char="•"/>
                </a:pPr>
                <a:r>
                  <a:rPr lang="en-US" sz="2000" dirty="0">
                    <a:solidFill>
                      <a:srgbClr val="008000"/>
                    </a:solidFill>
                    <a:latin typeface="LiberationSerif"/>
                  </a:rPr>
                  <a:t>Write the number in scientific notation. If the 1</a:t>
                </a:r>
                <a:r>
                  <a:rPr lang="en-US" sz="2000" baseline="30000" dirty="0">
                    <a:solidFill>
                      <a:srgbClr val="008000"/>
                    </a:solidFill>
                    <a:latin typeface="LiberationSerif"/>
                  </a:rPr>
                  <a:t>st</a:t>
                </a:r>
                <a:r>
                  <a:rPr lang="en-US" sz="2000" dirty="0">
                    <a:solidFill>
                      <a:srgbClr val="008000"/>
                    </a:solidFill>
                    <a:latin typeface="LiberationSerif"/>
                  </a:rPr>
                  <a:t> factor is greater than                   		   the power of 10 increases by one, otherwise it stays the same.</a:t>
                </a:r>
              </a:p>
              <a:p>
                <a:pPr marL="285750" indent="-285750">
                  <a:lnSpc>
                    <a:spcPct val="125000"/>
                  </a:lnSpc>
                  <a:buFont typeface="Arial" panose="020B0604020202020204" pitchFamily="34" charset="0"/>
                  <a:buChar char="•"/>
                </a:pPr>
                <a:r>
                  <a:rPr lang="en-US" sz="2000" dirty="0">
                    <a:solidFill>
                      <a:srgbClr val="7030A0"/>
                    </a:solidFill>
                    <a:latin typeface="LiberationSerif"/>
                  </a:rPr>
                  <a:t>For example, </a:t>
                </a:r>
                <a14:m>
                  <m:oMath xmlns:m="http://schemas.openxmlformats.org/officeDocument/2006/math">
                    <m:r>
                      <a:rPr lang="en-US" sz="2000" i="1">
                        <a:latin typeface="Cambria Math" panose="02040503050406030204" pitchFamily="18" charset="0"/>
                      </a:rPr>
                      <m:t>800=8</m:t>
                    </m:r>
                    <m:r>
                      <a:rPr lang="en-US" sz="2000" i="1">
                        <a:latin typeface="Cambria Math" panose="02040503050406030204" pitchFamily="18" charset="0"/>
                        <a:ea typeface="Cambria Math" panose="02040503050406030204" pitchFamily="18" charset="0"/>
                      </a:rPr>
                      <m:t>×</m:t>
                    </m:r>
                    <m:sSup>
                      <m:sSupPr>
                        <m:ctrlPr>
                          <a:rPr lang="en-US" sz="2000" i="1">
                            <a:latin typeface="Cambria Math" panose="02040503050406030204" pitchFamily="18" charset="0"/>
                            <a:ea typeface="Cambria Math" panose="02040503050406030204" pitchFamily="18" charset="0"/>
                          </a:rPr>
                        </m:ctrlPr>
                      </m:sSupPr>
                      <m:e>
                        <m:r>
                          <a:rPr lang="en-US" sz="2000" i="1">
                            <a:latin typeface="Cambria Math" panose="02040503050406030204" pitchFamily="18" charset="0"/>
                            <a:ea typeface="Cambria Math" panose="02040503050406030204" pitchFamily="18" charset="0"/>
                          </a:rPr>
                          <m:t>10</m:t>
                        </m:r>
                      </m:e>
                      <m:sup>
                        <m:r>
                          <a:rPr lang="en-US" sz="2000" i="1">
                            <a:latin typeface="Cambria Math" panose="02040503050406030204" pitchFamily="18" charset="0"/>
                            <a:ea typeface="Cambria Math" panose="02040503050406030204" pitchFamily="18" charset="0"/>
                          </a:rPr>
                          <m:t>2</m:t>
                        </m:r>
                      </m:sup>
                    </m:sSup>
                    <m:r>
                      <a:rPr lang="en-US" sz="2000" i="1">
                        <a:latin typeface="Cambria Math" panose="02040503050406030204" pitchFamily="18" charset="0"/>
                        <a:ea typeface="Cambria Math" panose="02040503050406030204" pitchFamily="18" charset="0"/>
                      </a:rPr>
                      <m:t>≈</m:t>
                    </m:r>
                    <m:sSup>
                      <m:sSupPr>
                        <m:ctrlPr>
                          <a:rPr lang="en-US" sz="2000" i="1">
                            <a:latin typeface="Cambria Math" panose="02040503050406030204" pitchFamily="18" charset="0"/>
                            <a:ea typeface="Cambria Math" panose="02040503050406030204" pitchFamily="18" charset="0"/>
                          </a:rPr>
                        </m:ctrlPr>
                      </m:sSupPr>
                      <m:e>
                        <m:r>
                          <a:rPr lang="en-US" sz="2000" i="1">
                            <a:latin typeface="Cambria Math" panose="02040503050406030204" pitchFamily="18" charset="0"/>
                            <a:ea typeface="Cambria Math" panose="02040503050406030204" pitchFamily="18" charset="0"/>
                          </a:rPr>
                          <m:t>10</m:t>
                        </m:r>
                      </m:e>
                      <m:sup>
                        <m:r>
                          <a:rPr lang="en-US" sz="2000" i="1">
                            <a:latin typeface="Cambria Math" panose="02040503050406030204" pitchFamily="18" charset="0"/>
                            <a:ea typeface="Cambria Math" panose="02040503050406030204" pitchFamily="18" charset="0"/>
                          </a:rPr>
                          <m:t>3</m:t>
                        </m:r>
                      </m:sup>
                    </m:sSup>
                    <m:r>
                      <a:rPr lang="en-US" sz="2000" i="1">
                        <a:solidFill>
                          <a:srgbClr val="7030A0"/>
                        </a:solidFill>
                        <a:latin typeface="Cambria Math" panose="02040503050406030204" pitchFamily="18" charset="0"/>
                        <a:ea typeface="Cambria Math" panose="02040503050406030204" pitchFamily="18" charset="0"/>
                      </a:rPr>
                      <m:t> </m:t>
                    </m:r>
                  </m:oMath>
                </a14:m>
                <a:endParaRPr lang="en-US" sz="2000" i="1" dirty="0">
                  <a:solidFill>
                    <a:srgbClr val="7030A0"/>
                  </a:solidFill>
                  <a:latin typeface="Cambria Math" panose="02040503050406030204" pitchFamily="18" charset="0"/>
                  <a:ea typeface="Cambria Math" panose="02040503050406030204" pitchFamily="18" charset="0"/>
                </a:endParaRPr>
              </a:p>
              <a:p>
                <a:pPr algn="just">
                  <a:lnSpc>
                    <a:spcPct val="125000"/>
                  </a:lnSpc>
                </a:pPr>
                <a:r>
                  <a:rPr lang="en-US" dirty="0">
                    <a:solidFill>
                      <a:srgbClr val="7030A0"/>
                    </a:solidFill>
                    <a:ea typeface="Cambria Math" panose="02040503050406030204" pitchFamily="18" charset="0"/>
                  </a:rPr>
                  <a:t>	</a:t>
                </a:r>
                <a14:m>
                  <m:oMath xmlns:m="http://schemas.openxmlformats.org/officeDocument/2006/math">
                    <m:r>
                      <a:rPr lang="en-US" i="1">
                        <a:solidFill>
                          <a:srgbClr val="7030A0"/>
                        </a:solidFill>
                        <a:latin typeface="Cambria Math" panose="02040503050406030204" pitchFamily="18" charset="0"/>
                        <a:ea typeface="Cambria Math" panose="02040503050406030204" pitchFamily="18" charset="0"/>
                      </a:rPr>
                      <m:t>𝑏𝑒𝑐𝑎𝑢𝑠𝑒</m:t>
                    </m:r>
                    <m:r>
                      <a:rPr lang="en-US" i="1">
                        <a:solidFill>
                          <a:srgbClr val="7030A0"/>
                        </a:solidFill>
                        <a:latin typeface="Cambria Math" panose="02040503050406030204" pitchFamily="18" charset="0"/>
                        <a:ea typeface="Cambria Math" panose="02040503050406030204" pitchFamily="18" charset="0"/>
                      </a:rPr>
                      <m:t> 8&gt;</m:t>
                    </m:r>
                    <m:rad>
                      <m:radPr>
                        <m:degHide m:val="on"/>
                        <m:ctrlPr>
                          <a:rPr lang="en-US" i="1">
                            <a:solidFill>
                              <a:schemeClr val="tx1"/>
                            </a:solidFill>
                            <a:latin typeface="Cambria Math" panose="02040503050406030204" pitchFamily="18" charset="0"/>
                            <a:ea typeface="Cambria Math" panose="02040503050406030204" pitchFamily="18" charset="0"/>
                          </a:rPr>
                        </m:ctrlPr>
                      </m:radPr>
                      <m:deg/>
                      <m:e>
                        <m:r>
                          <a:rPr lang="en-US" i="1">
                            <a:solidFill>
                              <a:schemeClr val="tx1"/>
                            </a:solidFill>
                            <a:latin typeface="Cambria Math" panose="02040503050406030204" pitchFamily="18" charset="0"/>
                            <a:ea typeface="Cambria Math" panose="02040503050406030204" pitchFamily="18" charset="0"/>
                          </a:rPr>
                          <m:t>10</m:t>
                        </m:r>
                      </m:e>
                    </m:rad>
                    <m:r>
                      <a:rPr lang="en-US" i="1">
                        <a:solidFill>
                          <a:schemeClr val="tx1"/>
                        </a:solidFill>
                        <a:latin typeface="Cambria Math" panose="02040503050406030204" pitchFamily="18" charset="0"/>
                        <a:ea typeface="Cambria Math" panose="02040503050406030204" pitchFamily="18" charset="0"/>
                      </a:rPr>
                      <m:t>≈3</m:t>
                    </m:r>
                  </m:oMath>
                </a14:m>
                <a:r>
                  <a:rPr lang="en-US" dirty="0">
                    <a:solidFill>
                      <a:schemeClr val="tx1"/>
                    </a:solidFill>
                    <a:latin typeface="LiberationSerif"/>
                  </a:rPr>
                  <a:t> </a:t>
                </a:r>
                <a:r>
                  <a:rPr lang="en-US" dirty="0">
                    <a:solidFill>
                      <a:srgbClr val="7030A0"/>
                    </a:solidFill>
                    <a:latin typeface="LiberationSerif"/>
                  </a:rPr>
                  <a:t>or </a:t>
                </a:r>
                <a14:m>
                  <m:oMath xmlns:m="http://schemas.openxmlformats.org/officeDocument/2006/math">
                    <m:r>
                      <a:rPr lang="en-US" i="1" dirty="0">
                        <a:latin typeface="Cambria Math" panose="02040503050406030204" pitchFamily="18" charset="0"/>
                      </a:rPr>
                      <m:t>40</m:t>
                    </m:r>
                    <m:r>
                      <a:rPr lang="en-US" i="1">
                        <a:latin typeface="Cambria Math" panose="02040503050406030204" pitchFamily="18" charset="0"/>
                      </a:rPr>
                      <m:t>0=4</m:t>
                    </m:r>
                    <m:r>
                      <a:rPr lang="en-US" i="1">
                        <a:latin typeface="Cambria Math" panose="02040503050406030204" pitchFamily="18" charset="0"/>
                        <a:ea typeface="Cambria Math" panose="02040503050406030204" pitchFamily="18" charset="0"/>
                      </a:rPr>
                      <m:t>×</m:t>
                    </m:r>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10</m:t>
                        </m:r>
                      </m:e>
                      <m:sup>
                        <m:r>
                          <a:rPr lang="en-US" i="1">
                            <a:latin typeface="Cambria Math" panose="02040503050406030204" pitchFamily="18" charset="0"/>
                            <a:ea typeface="Cambria Math" panose="02040503050406030204" pitchFamily="18" charset="0"/>
                          </a:rPr>
                          <m:t>2</m:t>
                        </m:r>
                      </m:sup>
                    </m:sSup>
                    <m:r>
                      <a:rPr lang="en-US" i="1">
                        <a:latin typeface="Cambria Math" panose="02040503050406030204" pitchFamily="18" charset="0"/>
                        <a:ea typeface="Cambria Math" panose="02040503050406030204" pitchFamily="18" charset="0"/>
                      </a:rPr>
                      <m:t>≈</m:t>
                    </m:r>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10</m:t>
                        </m:r>
                      </m:e>
                      <m:sup>
                        <m:r>
                          <a:rPr lang="en-US" i="1">
                            <a:latin typeface="Cambria Math" panose="02040503050406030204" pitchFamily="18" charset="0"/>
                            <a:ea typeface="Cambria Math" panose="02040503050406030204" pitchFamily="18" charset="0"/>
                          </a:rPr>
                          <m:t>3</m:t>
                        </m:r>
                      </m:sup>
                    </m:sSup>
                  </m:oMath>
                </a14:m>
                <a:r>
                  <a:rPr lang="en-US" dirty="0">
                    <a:solidFill>
                      <a:srgbClr val="7030A0"/>
                    </a:solidFill>
                    <a:latin typeface="LiberationSerif"/>
                  </a:rPr>
                  <a:t> </a:t>
                </a:r>
              </a:p>
              <a:p>
                <a:pPr algn="just">
                  <a:lnSpc>
                    <a:spcPct val="125000"/>
                  </a:lnSpc>
                </a:pPr>
                <a:r>
                  <a:rPr lang="en-US" dirty="0">
                    <a:solidFill>
                      <a:srgbClr val="7030A0"/>
                    </a:solidFill>
                    <a:latin typeface="LiberationSerif"/>
                  </a:rPr>
                  <a:t>	but </a:t>
                </a:r>
                <a14:m>
                  <m:oMath xmlns:m="http://schemas.openxmlformats.org/officeDocument/2006/math">
                    <m:r>
                      <a:rPr lang="en-US" i="1" dirty="0">
                        <a:latin typeface="Cambria Math" panose="02040503050406030204" pitchFamily="18" charset="0"/>
                      </a:rPr>
                      <m:t>250</m:t>
                    </m:r>
                    <m:r>
                      <a:rPr lang="en-US" i="1">
                        <a:latin typeface="Cambria Math" panose="02040503050406030204" pitchFamily="18" charset="0"/>
                      </a:rPr>
                      <m:t>=2.5</m:t>
                    </m:r>
                    <m:r>
                      <a:rPr lang="en-US" i="1">
                        <a:latin typeface="Cambria Math" panose="02040503050406030204" pitchFamily="18" charset="0"/>
                        <a:ea typeface="Cambria Math" panose="02040503050406030204" pitchFamily="18" charset="0"/>
                      </a:rPr>
                      <m:t>×</m:t>
                    </m:r>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10</m:t>
                        </m:r>
                      </m:e>
                      <m:sup>
                        <m:r>
                          <a:rPr lang="en-US" i="1">
                            <a:latin typeface="Cambria Math" panose="02040503050406030204" pitchFamily="18" charset="0"/>
                            <a:ea typeface="Cambria Math" panose="02040503050406030204" pitchFamily="18" charset="0"/>
                          </a:rPr>
                          <m:t>2</m:t>
                        </m:r>
                      </m:sup>
                    </m:sSup>
                    <m:r>
                      <a:rPr lang="en-US" i="1">
                        <a:latin typeface="Cambria Math" panose="02040503050406030204" pitchFamily="18" charset="0"/>
                        <a:ea typeface="Cambria Math" panose="02040503050406030204" pitchFamily="18" charset="0"/>
                      </a:rPr>
                      <m:t>≈</m:t>
                    </m:r>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10</m:t>
                        </m:r>
                      </m:e>
                      <m:sup>
                        <m:r>
                          <a:rPr lang="en-US" i="1">
                            <a:latin typeface="Cambria Math" panose="02040503050406030204" pitchFamily="18" charset="0"/>
                            <a:ea typeface="Cambria Math" panose="02040503050406030204" pitchFamily="18" charset="0"/>
                          </a:rPr>
                          <m:t>2</m:t>
                        </m:r>
                      </m:sup>
                    </m:sSup>
                  </m:oMath>
                </a14:m>
                <a:endParaRPr lang="en-US" dirty="0">
                  <a:solidFill>
                    <a:srgbClr val="7030A0"/>
                  </a:solidFill>
                  <a:latin typeface="LiberationSerif"/>
                </a:endParaRPr>
              </a:p>
              <a:p>
                <a:pPr>
                  <a:lnSpc>
                    <a:spcPct val="125000"/>
                  </a:lnSpc>
                </a:pPr>
                <a:r>
                  <a:rPr lang="en-US" sz="2000" dirty="0">
                    <a:solidFill>
                      <a:srgbClr val="7030A0"/>
                    </a:solidFill>
                    <a:latin typeface="LiberationSerif"/>
                  </a:rPr>
                  <a:t>   </a:t>
                </a:r>
                <a:endParaRPr lang="en-US" sz="2000" dirty="0">
                  <a:solidFill>
                    <a:srgbClr val="7030A0"/>
                  </a:solidFill>
                </a:endParaRPr>
              </a:p>
            </p:txBody>
          </p:sp>
        </mc:Choice>
        <mc:Fallback xmlns="">
          <p:sp>
            <p:nvSpPr>
              <p:cNvPr id="9" name="Rectangle 8">
                <a:extLst>
                  <a:ext uri="{FF2B5EF4-FFF2-40B4-BE49-F238E27FC236}">
                    <a16:creationId xmlns:a16="http://schemas.microsoft.com/office/drawing/2014/main" id="{47C0E984-7D0F-B74A-A71B-EE84345CC18E}"/>
                  </a:ext>
                </a:extLst>
              </p:cNvPr>
              <p:cNvSpPr>
                <a:spLocks noRot="1" noChangeAspect="1" noMove="1" noResize="1" noEditPoints="1" noAdjustHandles="1" noChangeArrowheads="1" noChangeShapeType="1" noTextEdit="1"/>
              </p:cNvSpPr>
              <p:nvPr/>
            </p:nvSpPr>
            <p:spPr>
              <a:xfrm>
                <a:off x="525226" y="1344092"/>
                <a:ext cx="6096000" cy="2712602"/>
              </a:xfrm>
              <a:prstGeom prst="rect">
                <a:avLst/>
              </a:prstGeom>
              <a:blipFill>
                <a:blip r:embed="rId5"/>
                <a:stretch>
                  <a:fillRect l="-83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Rectangle 9">
                <a:extLst>
                  <a:ext uri="{FF2B5EF4-FFF2-40B4-BE49-F238E27FC236}">
                    <a16:creationId xmlns:a16="http://schemas.microsoft.com/office/drawing/2014/main" id="{606BBDDF-0B1A-1F40-9559-3D4E3BFA3FC7}"/>
                  </a:ext>
                </a:extLst>
              </p:cNvPr>
              <p:cNvSpPr/>
              <p:nvPr/>
            </p:nvSpPr>
            <p:spPr>
              <a:xfrm>
                <a:off x="386630" y="3679704"/>
                <a:ext cx="5519460" cy="2210798"/>
              </a:xfrm>
              <a:prstGeom prst="rect">
                <a:avLst/>
              </a:prstGeom>
            </p:spPr>
            <p:txBody>
              <a:bodyPr wrap="none">
                <a:spAutoFit/>
              </a:bodyPr>
              <a:lstStyle/>
              <a:p>
                <a:pPr>
                  <a:lnSpc>
                    <a:spcPct val="150000"/>
                  </a:lnSpc>
                </a:pPr>
                <a:r>
                  <a:rPr lang="en-US" dirty="0">
                    <a:solidFill>
                      <a:srgbClr val="008000"/>
                    </a:solidFill>
                  </a:rPr>
                  <a:t>Example: </a:t>
                </a:r>
                <a:r>
                  <a:rPr lang="en-US" dirty="0"/>
                  <a:t>Estimate number of seconds in one year</a:t>
                </a:r>
              </a:p>
              <a:p>
                <a:pPr>
                  <a:lnSpc>
                    <a:spcPct val="150000"/>
                  </a:lnSpc>
                </a:pPr>
                <a14:m>
                  <m:oMathPara xmlns:m="http://schemas.openxmlformats.org/officeDocument/2006/math">
                    <m:oMathParaPr>
                      <m:jc m:val="centerGroup"/>
                    </m:oMathParaPr>
                    <m:oMath xmlns:m="http://schemas.openxmlformats.org/officeDocument/2006/math">
                      <m:r>
                        <a:rPr lang="en-US" i="1" dirty="0">
                          <a:latin typeface="Cambria Math" panose="02040503050406030204" pitchFamily="18" charset="0"/>
                          <a:ea typeface="Cambria Math" panose="02040503050406030204" pitchFamily="18" charset="0"/>
                        </a:rPr>
                        <m:t>=</m:t>
                      </m:r>
                      <m:sSub>
                        <m:sSubPr>
                          <m:ctrlPr>
                            <a:rPr lang="en-US" b="0" i="1" dirty="0" smtClean="0">
                              <a:latin typeface="Cambria Math" panose="02040503050406030204" pitchFamily="18" charset="0"/>
                              <a:ea typeface="Cambria Math" panose="02040503050406030204" pitchFamily="18" charset="0"/>
                            </a:rPr>
                          </m:ctrlPr>
                        </m:sSubPr>
                        <m:e>
                          <m:r>
                            <a:rPr lang="en-US" b="0" i="1" dirty="0" smtClean="0">
                              <a:latin typeface="Cambria Math" panose="02040503050406030204" pitchFamily="18" charset="0"/>
                              <a:ea typeface="Cambria Math" panose="02040503050406030204" pitchFamily="18" charset="0"/>
                            </a:rPr>
                            <m:t>365.25</m:t>
                          </m:r>
                        </m:e>
                        <m:sub>
                          <m:r>
                            <a:rPr lang="en-US" b="0" i="1" dirty="0" smtClean="0">
                              <a:latin typeface="Cambria Math" panose="02040503050406030204" pitchFamily="18" charset="0"/>
                              <a:ea typeface="Cambria Math" panose="02040503050406030204" pitchFamily="18" charset="0"/>
                            </a:rPr>
                            <m:t>𝑑𝑎𝑦𝑠</m:t>
                          </m:r>
                          <m:r>
                            <a:rPr lang="en-US" b="0" i="1" dirty="0" smtClean="0">
                              <a:latin typeface="Cambria Math" panose="02040503050406030204" pitchFamily="18" charset="0"/>
                              <a:ea typeface="Cambria Math" panose="02040503050406030204" pitchFamily="18" charset="0"/>
                            </a:rPr>
                            <m:t>/</m:t>
                          </m:r>
                          <m:r>
                            <a:rPr lang="en-US" b="0" i="1" dirty="0" smtClean="0">
                              <a:latin typeface="Cambria Math" panose="02040503050406030204" pitchFamily="18" charset="0"/>
                              <a:ea typeface="Cambria Math" panose="02040503050406030204" pitchFamily="18" charset="0"/>
                            </a:rPr>
                            <m:t>𝑦𝑟</m:t>
                          </m:r>
                        </m:sub>
                      </m:sSub>
                      <m:r>
                        <a:rPr lang="en-US" b="0" i="1" dirty="0" smtClean="0">
                          <a:latin typeface="Cambria Math" panose="02040503050406030204" pitchFamily="18" charset="0"/>
                          <a:ea typeface="Cambria Math" panose="02040503050406030204" pitchFamily="18" charset="0"/>
                        </a:rPr>
                        <m:t>×</m:t>
                      </m:r>
                      <m:sSub>
                        <m:sSubPr>
                          <m:ctrlPr>
                            <a:rPr lang="en-US" i="1" dirty="0">
                              <a:latin typeface="Cambria Math" panose="02040503050406030204" pitchFamily="18" charset="0"/>
                              <a:ea typeface="Cambria Math" panose="02040503050406030204" pitchFamily="18" charset="0"/>
                            </a:rPr>
                          </m:ctrlPr>
                        </m:sSubPr>
                        <m:e>
                          <m:r>
                            <a:rPr lang="en-US" b="0" i="1" dirty="0" smtClean="0">
                              <a:latin typeface="Cambria Math" panose="02040503050406030204" pitchFamily="18" charset="0"/>
                              <a:ea typeface="Cambria Math" panose="02040503050406030204" pitchFamily="18" charset="0"/>
                            </a:rPr>
                            <m:t>24</m:t>
                          </m:r>
                        </m:e>
                        <m:sub>
                          <m:r>
                            <a:rPr lang="en-US" b="0" i="1" dirty="0" smtClean="0">
                              <a:latin typeface="Cambria Math" panose="02040503050406030204" pitchFamily="18" charset="0"/>
                              <a:ea typeface="Cambria Math" panose="02040503050406030204" pitchFamily="18" charset="0"/>
                            </a:rPr>
                            <m:t>h𝑟</m:t>
                          </m:r>
                          <m:r>
                            <a:rPr lang="en-US" i="1" dirty="0">
                              <a:latin typeface="Cambria Math" panose="02040503050406030204" pitchFamily="18" charset="0"/>
                              <a:ea typeface="Cambria Math" panose="02040503050406030204" pitchFamily="18" charset="0"/>
                            </a:rPr>
                            <m:t>/</m:t>
                          </m:r>
                          <m:r>
                            <a:rPr lang="en-US" b="0" i="1" dirty="0" smtClean="0">
                              <a:latin typeface="Cambria Math" panose="02040503050406030204" pitchFamily="18" charset="0"/>
                              <a:ea typeface="Cambria Math" panose="02040503050406030204" pitchFamily="18" charset="0"/>
                            </a:rPr>
                            <m:t>𝑑𝑎𝑦</m:t>
                          </m:r>
                        </m:sub>
                      </m:sSub>
                      <m:sSub>
                        <m:sSubPr>
                          <m:ctrlPr>
                            <a:rPr lang="en-US" i="1" dirty="0">
                              <a:latin typeface="Cambria Math" panose="02040503050406030204" pitchFamily="18" charset="0"/>
                              <a:ea typeface="Cambria Math" panose="02040503050406030204" pitchFamily="18" charset="0"/>
                            </a:rPr>
                          </m:ctrlPr>
                        </m:sSubPr>
                        <m:e>
                          <m:r>
                            <a:rPr lang="en-US" i="1" dirty="0">
                              <a:latin typeface="Cambria Math" panose="02040503050406030204" pitchFamily="18" charset="0"/>
                              <a:ea typeface="Cambria Math" panose="02040503050406030204" pitchFamily="18" charset="0"/>
                            </a:rPr>
                            <m:t>×</m:t>
                          </m:r>
                          <m:r>
                            <a:rPr lang="en-US" b="0" i="1" dirty="0" smtClean="0">
                              <a:latin typeface="Cambria Math" panose="02040503050406030204" pitchFamily="18" charset="0"/>
                              <a:ea typeface="Cambria Math" panose="02040503050406030204" pitchFamily="18" charset="0"/>
                            </a:rPr>
                            <m:t>60</m:t>
                          </m:r>
                        </m:e>
                        <m:sub>
                          <m:r>
                            <a:rPr lang="en-US" b="0" i="1" dirty="0" smtClean="0">
                              <a:latin typeface="Cambria Math" panose="02040503050406030204" pitchFamily="18" charset="0"/>
                              <a:ea typeface="Cambria Math" panose="02040503050406030204" pitchFamily="18" charset="0"/>
                            </a:rPr>
                            <m:t>𝑚𝑖𝑛</m:t>
                          </m:r>
                          <m:r>
                            <a:rPr lang="en-US" i="1" dirty="0">
                              <a:latin typeface="Cambria Math" panose="02040503050406030204" pitchFamily="18" charset="0"/>
                              <a:ea typeface="Cambria Math" panose="02040503050406030204" pitchFamily="18" charset="0"/>
                            </a:rPr>
                            <m:t>/</m:t>
                          </m:r>
                          <m:r>
                            <a:rPr lang="en-US" b="0" i="1" dirty="0" smtClean="0">
                              <a:latin typeface="Cambria Math" panose="02040503050406030204" pitchFamily="18" charset="0"/>
                              <a:ea typeface="Cambria Math" panose="02040503050406030204" pitchFamily="18" charset="0"/>
                            </a:rPr>
                            <m:t>h𝑟</m:t>
                          </m:r>
                        </m:sub>
                      </m:sSub>
                      <m:sSub>
                        <m:sSubPr>
                          <m:ctrlPr>
                            <a:rPr lang="en-US" i="1" dirty="0">
                              <a:latin typeface="Cambria Math" panose="02040503050406030204" pitchFamily="18" charset="0"/>
                              <a:ea typeface="Cambria Math" panose="02040503050406030204" pitchFamily="18" charset="0"/>
                            </a:rPr>
                          </m:ctrlPr>
                        </m:sSubPr>
                        <m:e>
                          <m:r>
                            <a:rPr lang="en-US" i="1" dirty="0">
                              <a:latin typeface="Cambria Math" panose="02040503050406030204" pitchFamily="18" charset="0"/>
                              <a:ea typeface="Cambria Math" panose="02040503050406030204" pitchFamily="18" charset="0"/>
                            </a:rPr>
                            <m:t>×60</m:t>
                          </m:r>
                        </m:e>
                        <m:sub>
                          <m:r>
                            <a:rPr lang="en-US" b="0" i="1" dirty="0" smtClean="0">
                              <a:latin typeface="Cambria Math" panose="02040503050406030204" pitchFamily="18" charset="0"/>
                              <a:ea typeface="Cambria Math" panose="02040503050406030204" pitchFamily="18" charset="0"/>
                            </a:rPr>
                            <m:t>𝑠</m:t>
                          </m:r>
                          <m:r>
                            <a:rPr lang="en-US" i="1" dirty="0">
                              <a:latin typeface="Cambria Math" panose="02040503050406030204" pitchFamily="18" charset="0"/>
                              <a:ea typeface="Cambria Math" panose="02040503050406030204" pitchFamily="18" charset="0"/>
                            </a:rPr>
                            <m:t>/</m:t>
                          </m:r>
                          <m:r>
                            <a:rPr lang="en-US" b="0" i="1" dirty="0" smtClean="0">
                              <a:latin typeface="Cambria Math" panose="02040503050406030204" pitchFamily="18" charset="0"/>
                              <a:ea typeface="Cambria Math" panose="02040503050406030204" pitchFamily="18" charset="0"/>
                            </a:rPr>
                            <m:t>𝑚𝑖𝑛</m:t>
                          </m:r>
                        </m:sub>
                      </m:sSub>
                      <m:r>
                        <a:rPr lang="en-US" b="0" i="1" dirty="0" smtClean="0">
                          <a:latin typeface="Cambria Math" panose="02040503050406030204" pitchFamily="18" charset="0"/>
                          <a:ea typeface="Cambria Math" panose="02040503050406030204" pitchFamily="18" charset="0"/>
                        </a:rPr>
                        <m:t>=</m:t>
                      </m:r>
                    </m:oMath>
                  </m:oMathPara>
                </a14:m>
                <a:endParaRPr lang="en-US" b="0" dirty="0">
                  <a:ea typeface="Cambria Math" panose="02040503050406030204" pitchFamily="18" charset="0"/>
                </a:endParaRPr>
              </a:p>
              <a:p>
                <a:pPr>
                  <a:lnSpc>
                    <a:spcPct val="150000"/>
                  </a:lnSpc>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ea typeface="Cambria Math" panose="02040503050406030204" pitchFamily="18" charset="0"/>
                        </a:rPr>
                        <m:t>=31557600 </m:t>
                      </m:r>
                      <m:r>
                        <a:rPr lang="en-US" b="0" i="1" smtClean="0">
                          <a:latin typeface="Cambria Math" panose="02040503050406030204" pitchFamily="18" charset="0"/>
                          <a:ea typeface="Cambria Math" panose="02040503050406030204" pitchFamily="18" charset="0"/>
                        </a:rPr>
                        <m:t>𝑠</m:t>
                      </m:r>
                      <m:r>
                        <a:rPr lang="en-US" b="0" i="1" smtClean="0">
                          <a:latin typeface="Cambria Math" panose="02040503050406030204" pitchFamily="18" charset="0"/>
                          <a:ea typeface="Cambria Math" panose="02040503050406030204" pitchFamily="18" charset="0"/>
                        </a:rPr>
                        <m:t>=3.15576×</m:t>
                      </m:r>
                      <m:sSup>
                        <m:sSupPr>
                          <m:ctrlPr>
                            <a:rPr lang="en-US" i="1" dirty="0">
                              <a:latin typeface="Cambria Math" panose="02040503050406030204" pitchFamily="18" charset="0"/>
                              <a:ea typeface="Cambria Math" panose="02040503050406030204" pitchFamily="18" charset="0"/>
                            </a:rPr>
                          </m:ctrlPr>
                        </m:sSupPr>
                        <m:e>
                          <m:r>
                            <a:rPr lang="en-US" i="1" dirty="0">
                              <a:latin typeface="Cambria Math" panose="02040503050406030204" pitchFamily="18" charset="0"/>
                              <a:ea typeface="Cambria Math" panose="02040503050406030204" pitchFamily="18" charset="0"/>
                            </a:rPr>
                            <m:t>10</m:t>
                          </m:r>
                        </m:e>
                        <m:sup>
                          <m:r>
                            <a:rPr lang="en-US" b="0" i="1" dirty="0" smtClean="0">
                              <a:latin typeface="Cambria Math" panose="02040503050406030204" pitchFamily="18" charset="0"/>
                              <a:ea typeface="Cambria Math" panose="02040503050406030204" pitchFamily="18" charset="0"/>
                            </a:rPr>
                            <m:t>7</m:t>
                          </m:r>
                        </m:sup>
                      </m:sSup>
                      <m:r>
                        <a:rPr lang="en-US" b="0" i="1" dirty="0" smtClean="0">
                          <a:latin typeface="Cambria Math" panose="02040503050406030204" pitchFamily="18" charset="0"/>
                          <a:ea typeface="Cambria Math" panose="02040503050406030204" pitchFamily="18" charset="0"/>
                        </a:rPr>
                        <m:t> </m:t>
                      </m:r>
                      <m:r>
                        <a:rPr lang="en-US" b="0" i="1" dirty="0" smtClean="0">
                          <a:latin typeface="Cambria Math" panose="02040503050406030204" pitchFamily="18" charset="0"/>
                          <a:ea typeface="Cambria Math" panose="02040503050406030204" pitchFamily="18" charset="0"/>
                        </a:rPr>
                        <m:t>𝑠</m:t>
                      </m:r>
                      <m:r>
                        <a:rPr lang="en-US" i="1">
                          <a:latin typeface="Cambria Math" panose="02040503050406030204" pitchFamily="18" charset="0"/>
                          <a:ea typeface="Cambria Math" panose="02040503050406030204" pitchFamily="18" charset="0"/>
                        </a:rPr>
                        <m:t>≈</m:t>
                      </m:r>
                      <m:sSup>
                        <m:sSupPr>
                          <m:ctrlPr>
                            <a:rPr lang="en-US" b="1" i="1">
                              <a:latin typeface="Cambria Math" panose="02040503050406030204" pitchFamily="18" charset="0"/>
                              <a:ea typeface="Cambria Math" panose="02040503050406030204" pitchFamily="18" charset="0"/>
                            </a:rPr>
                          </m:ctrlPr>
                        </m:sSupPr>
                        <m:e>
                          <m:r>
                            <a:rPr lang="en-US" b="1" i="1">
                              <a:latin typeface="Cambria Math" panose="02040503050406030204" pitchFamily="18" charset="0"/>
                              <a:ea typeface="Cambria Math" panose="02040503050406030204" pitchFamily="18" charset="0"/>
                            </a:rPr>
                            <m:t>𝟏𝟎</m:t>
                          </m:r>
                        </m:e>
                        <m:sup>
                          <m:r>
                            <a:rPr lang="en-US" b="1" i="1" smtClean="0">
                              <a:latin typeface="Cambria Math" panose="02040503050406030204" pitchFamily="18" charset="0"/>
                              <a:ea typeface="Cambria Math" panose="02040503050406030204" pitchFamily="18" charset="0"/>
                            </a:rPr>
                            <m:t>𝟕</m:t>
                          </m:r>
                        </m:sup>
                      </m:sSup>
                      <m:r>
                        <a:rPr lang="en-US" b="1" i="1" smtClean="0">
                          <a:latin typeface="Cambria Math" panose="02040503050406030204" pitchFamily="18" charset="0"/>
                          <a:ea typeface="Cambria Math" panose="02040503050406030204" pitchFamily="18" charset="0"/>
                        </a:rPr>
                        <m:t>𝒔</m:t>
                      </m:r>
                    </m:oMath>
                  </m:oMathPara>
                </a14:m>
                <a:endParaRPr lang="en-US" b="1" dirty="0">
                  <a:ea typeface="Cambria Math" panose="02040503050406030204" pitchFamily="18" charset="0"/>
                </a:endParaRPr>
              </a:p>
              <a:p>
                <a:pPr algn="r">
                  <a:lnSpc>
                    <a:spcPct val="150000"/>
                  </a:lnSpc>
                </a:pPr>
                <a:r>
                  <a:rPr lang="en-US" dirty="0">
                    <a:solidFill>
                      <a:srgbClr val="C00000"/>
                    </a:solidFill>
                    <a:ea typeface="Cambria Math" panose="02040503050406030204" pitchFamily="18" charset="0"/>
                  </a:rPr>
                  <a:t>In this case we were very close to </a:t>
                </a:r>
                <a14:m>
                  <m:oMath xmlns:m="http://schemas.openxmlformats.org/officeDocument/2006/math">
                    <m:rad>
                      <m:radPr>
                        <m:degHide m:val="on"/>
                        <m:ctrlPr>
                          <a:rPr lang="en-US" i="1" smtClean="0">
                            <a:solidFill>
                              <a:srgbClr val="C00000"/>
                            </a:solidFill>
                            <a:latin typeface="Cambria Math" panose="02040503050406030204" pitchFamily="18" charset="0"/>
                            <a:ea typeface="Cambria Math" panose="02040503050406030204" pitchFamily="18" charset="0"/>
                          </a:rPr>
                        </m:ctrlPr>
                      </m:radPr>
                      <m:deg/>
                      <m:e>
                        <m:r>
                          <a:rPr lang="en-US" b="0" i="1" smtClean="0">
                            <a:solidFill>
                              <a:srgbClr val="C00000"/>
                            </a:solidFill>
                            <a:latin typeface="Cambria Math" panose="02040503050406030204" pitchFamily="18" charset="0"/>
                            <a:ea typeface="Cambria Math" panose="02040503050406030204" pitchFamily="18" charset="0"/>
                          </a:rPr>
                          <m:t>10</m:t>
                        </m:r>
                      </m:e>
                    </m:rad>
                    <m:r>
                      <a:rPr lang="en-US" b="0" i="1" smtClean="0">
                        <a:solidFill>
                          <a:srgbClr val="C00000"/>
                        </a:solidFill>
                        <a:latin typeface="Cambria Math" panose="02040503050406030204" pitchFamily="18" charset="0"/>
                        <a:ea typeface="Cambria Math" panose="02040503050406030204" pitchFamily="18" charset="0"/>
                      </a:rPr>
                      <m:t>=3.1623</m:t>
                    </m:r>
                  </m:oMath>
                </a14:m>
                <a:endParaRPr lang="en-US" b="0" dirty="0">
                  <a:solidFill>
                    <a:srgbClr val="C00000"/>
                  </a:solidFill>
                  <a:ea typeface="Cambria Math" panose="02040503050406030204" pitchFamily="18" charset="0"/>
                </a:endParaRPr>
              </a:p>
              <a:p>
                <a:pPr>
                  <a:lnSpc>
                    <a:spcPct val="150000"/>
                  </a:lnSpc>
                </a:pPr>
                <a:endParaRPr lang="en-US" dirty="0"/>
              </a:p>
            </p:txBody>
          </p:sp>
        </mc:Choice>
        <mc:Fallback xmlns="">
          <p:sp>
            <p:nvSpPr>
              <p:cNvPr id="10" name="Rectangle 9">
                <a:extLst>
                  <a:ext uri="{FF2B5EF4-FFF2-40B4-BE49-F238E27FC236}">
                    <a16:creationId xmlns:a16="http://schemas.microsoft.com/office/drawing/2014/main" id="{606BBDDF-0B1A-1F40-9559-3D4E3BFA3FC7}"/>
                  </a:ext>
                </a:extLst>
              </p:cNvPr>
              <p:cNvSpPr>
                <a:spLocks noRot="1" noChangeAspect="1" noMove="1" noResize="1" noEditPoints="1" noAdjustHandles="1" noChangeArrowheads="1" noChangeShapeType="1" noTextEdit="1"/>
              </p:cNvSpPr>
              <p:nvPr/>
            </p:nvSpPr>
            <p:spPr>
              <a:xfrm>
                <a:off x="386630" y="3679704"/>
                <a:ext cx="5519460" cy="2210798"/>
              </a:xfrm>
              <a:prstGeom prst="rect">
                <a:avLst/>
              </a:prstGeom>
              <a:blipFill>
                <a:blip r:embed="rId6"/>
                <a:stretch>
                  <a:fillRect l="-917"/>
                </a:stretch>
              </a:blipFill>
            </p:spPr>
            <p:txBody>
              <a:bodyPr/>
              <a:lstStyle/>
              <a:p>
                <a:r>
                  <a:rPr lang="en-US">
                    <a:noFill/>
                  </a:rPr>
                  <a:t> </a:t>
                </a:r>
              </a:p>
            </p:txBody>
          </p:sp>
        </mc:Fallback>
      </mc:AlternateContent>
      <p:cxnSp>
        <p:nvCxnSpPr>
          <p:cNvPr id="12" name="Straight Arrow Connector 11">
            <a:extLst>
              <a:ext uri="{FF2B5EF4-FFF2-40B4-BE49-F238E27FC236}">
                <a16:creationId xmlns:a16="http://schemas.microsoft.com/office/drawing/2014/main" id="{8F0232AE-B6A2-0944-A904-D1FCDE962F22}"/>
              </a:ext>
            </a:extLst>
          </p:cNvPr>
          <p:cNvCxnSpPr/>
          <p:nvPr/>
        </p:nvCxnSpPr>
        <p:spPr>
          <a:xfrm>
            <a:off x="5181600" y="4838030"/>
            <a:ext cx="6132576" cy="0"/>
          </a:xfrm>
          <a:prstGeom prst="straightConnector1">
            <a:avLst/>
          </a:prstGeom>
          <a:ln>
            <a:tailEnd type="triangle"/>
          </a:ln>
        </p:spPr>
        <p:style>
          <a:lnRef idx="3">
            <a:schemeClr val="accent5"/>
          </a:lnRef>
          <a:fillRef idx="0">
            <a:schemeClr val="accent5"/>
          </a:fillRef>
          <a:effectRef idx="2">
            <a:schemeClr val="accent5"/>
          </a:effectRef>
          <a:fontRef idx="minor">
            <a:schemeClr val="tx1"/>
          </a:fontRef>
        </p:style>
      </p:cxnSp>
      <p:cxnSp>
        <p:nvCxnSpPr>
          <p:cNvPr id="14" name="Straight Arrow Connector 13">
            <a:extLst>
              <a:ext uri="{FF2B5EF4-FFF2-40B4-BE49-F238E27FC236}">
                <a16:creationId xmlns:a16="http://schemas.microsoft.com/office/drawing/2014/main" id="{9D6A0BFE-43E5-984B-A77A-9C531CE56D67}"/>
              </a:ext>
            </a:extLst>
          </p:cNvPr>
          <p:cNvCxnSpPr/>
          <p:nvPr/>
        </p:nvCxnSpPr>
        <p:spPr>
          <a:xfrm flipH="1">
            <a:off x="11086741" y="4841227"/>
            <a:ext cx="215243" cy="443149"/>
          </a:xfrm>
          <a:prstGeom prst="straightConnector1">
            <a:avLst/>
          </a:prstGeom>
          <a:ln>
            <a:tailEnd type="triangle"/>
          </a:ln>
        </p:spPr>
        <p:style>
          <a:lnRef idx="3">
            <a:schemeClr val="accent5"/>
          </a:lnRef>
          <a:fillRef idx="0">
            <a:schemeClr val="accent5"/>
          </a:fillRef>
          <a:effectRef idx="2">
            <a:schemeClr val="accent5"/>
          </a:effectRef>
          <a:fontRef idx="minor">
            <a:schemeClr val="tx1"/>
          </a:fontRef>
        </p:style>
      </p:cxnSp>
      <p:sp>
        <p:nvSpPr>
          <p:cNvPr id="15" name="Rectangle 14">
            <a:extLst>
              <a:ext uri="{FF2B5EF4-FFF2-40B4-BE49-F238E27FC236}">
                <a16:creationId xmlns:a16="http://schemas.microsoft.com/office/drawing/2014/main" id="{BF6EC4A0-BBC7-E144-BAEF-4F8B3436CDFE}"/>
              </a:ext>
            </a:extLst>
          </p:cNvPr>
          <p:cNvSpPr/>
          <p:nvPr/>
        </p:nvSpPr>
        <p:spPr>
          <a:xfrm>
            <a:off x="414143" y="5454714"/>
            <a:ext cx="5957113" cy="1200329"/>
          </a:xfrm>
          <a:prstGeom prst="rect">
            <a:avLst/>
          </a:prstGeom>
        </p:spPr>
        <p:txBody>
          <a:bodyPr wrap="square">
            <a:spAutoFit/>
          </a:bodyPr>
          <a:lstStyle/>
          <a:p>
            <a:r>
              <a:rPr lang="en-US" dirty="0">
                <a:solidFill>
                  <a:srgbClr val="0000CC"/>
                </a:solidFill>
              </a:rPr>
              <a:t>Assignment 1: </a:t>
            </a:r>
            <a:r>
              <a:rPr lang="en-US" dirty="0"/>
              <a:t>If you could drive to the moon, how many gallons of gasoline would you need. Assume 25 mile/gal</a:t>
            </a:r>
          </a:p>
          <a:p>
            <a:r>
              <a:rPr lang="en-US" dirty="0"/>
              <a:t>and distance to the moon 238 900 miles. </a:t>
            </a:r>
          </a:p>
          <a:p>
            <a:r>
              <a:rPr lang="en-US" dirty="0"/>
              <a:t>	</a:t>
            </a:r>
            <a:r>
              <a:rPr lang="en-US" dirty="0">
                <a:solidFill>
                  <a:srgbClr val="C00000"/>
                </a:solidFill>
              </a:rPr>
              <a:t>Give your answer in order of magnitude (power of 10) </a:t>
            </a:r>
          </a:p>
        </p:txBody>
      </p:sp>
    </p:spTree>
    <p:extLst>
      <p:ext uri="{BB962C8B-B14F-4D97-AF65-F5344CB8AC3E}">
        <p14:creationId xmlns:p14="http://schemas.microsoft.com/office/powerpoint/2010/main" val="18883360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up)">
                                      <p:cBhvr>
                                        <p:cTn id="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L:\Clients\Connexions\01_CNX_ Admin\00_OSC_Project_Resources\14_OSC_Production\PowerPoints\OSX-Stacked-TM-CMYK-300dp1-2016.jpg">
            <a:extLst>
              <a:ext uri="{FF2B5EF4-FFF2-40B4-BE49-F238E27FC236}">
                <a16:creationId xmlns:a16="http://schemas.microsoft.com/office/drawing/2014/main" id="{C34C680B-ED90-5348-80E8-759D74A0E791}"/>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5995D5C7-EE06-7F4A-8949-3BAD86CC9897}"/>
              </a:ext>
            </a:extLst>
          </p:cNvPr>
          <p:cNvSpPr/>
          <p:nvPr/>
        </p:nvSpPr>
        <p:spPr>
          <a:xfrm>
            <a:off x="4007454" y="89044"/>
            <a:ext cx="3591876" cy="523220"/>
          </a:xfrm>
          <a:prstGeom prst="rect">
            <a:avLst/>
          </a:prstGeom>
        </p:spPr>
        <p:txBody>
          <a:bodyPr wrap="square">
            <a:spAutoFit/>
          </a:bodyPr>
          <a:lstStyle/>
          <a:p>
            <a:r>
              <a:rPr lang="en-US" sz="2800" dirty="0">
                <a:solidFill>
                  <a:srgbClr val="C00000"/>
                </a:solidFill>
                <a:latin typeface="NewBaskervilleStd-Roman"/>
              </a:rPr>
              <a:t>Building Models</a:t>
            </a:r>
          </a:p>
        </p:txBody>
      </p:sp>
      <p:sp>
        <p:nvSpPr>
          <p:cNvPr id="4" name="Rectangle 3">
            <a:extLst>
              <a:ext uri="{FF2B5EF4-FFF2-40B4-BE49-F238E27FC236}">
                <a16:creationId xmlns:a16="http://schemas.microsoft.com/office/drawing/2014/main" id="{326C98DE-B525-F840-92C3-F48235F5E791}"/>
              </a:ext>
            </a:extLst>
          </p:cNvPr>
          <p:cNvSpPr/>
          <p:nvPr/>
        </p:nvSpPr>
        <p:spPr>
          <a:xfrm>
            <a:off x="755904" y="612264"/>
            <a:ext cx="6691772" cy="830997"/>
          </a:xfrm>
          <a:prstGeom prst="rect">
            <a:avLst/>
          </a:prstGeom>
        </p:spPr>
        <p:txBody>
          <a:bodyPr wrap="square">
            <a:spAutoFit/>
          </a:bodyPr>
          <a:lstStyle/>
          <a:p>
            <a:r>
              <a:rPr lang="en-US" sz="2400" dirty="0"/>
              <a:t>A </a:t>
            </a:r>
            <a:r>
              <a:rPr lang="en-US" sz="2400" b="1" dirty="0">
                <a:solidFill>
                  <a:srgbClr val="C00000"/>
                </a:solidFill>
              </a:rPr>
              <a:t>model</a:t>
            </a:r>
            <a:r>
              <a:rPr lang="en-US" sz="2400" dirty="0"/>
              <a:t> is a representation of something that is often too difficult (or impossible) to display directly. </a:t>
            </a:r>
          </a:p>
        </p:txBody>
      </p:sp>
      <p:sp>
        <p:nvSpPr>
          <p:cNvPr id="6" name="Text Placeholder 6">
            <a:extLst>
              <a:ext uri="{FF2B5EF4-FFF2-40B4-BE49-F238E27FC236}">
                <a16:creationId xmlns:a16="http://schemas.microsoft.com/office/drawing/2014/main" id="{CF4465DA-08BC-2349-8EFE-EE22771CB070}"/>
              </a:ext>
            </a:extLst>
          </p:cNvPr>
          <p:cNvSpPr txBox="1">
            <a:spLocks/>
          </p:cNvSpPr>
          <p:nvPr/>
        </p:nvSpPr>
        <p:spPr>
          <a:xfrm>
            <a:off x="539450" y="4488469"/>
            <a:ext cx="3485802" cy="2179757"/>
          </a:xfrm>
          <a:prstGeom prst="rect">
            <a:avLst/>
          </a:prstGeom>
        </p:spPr>
        <p:txBody>
          <a:bodyPr>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200" dirty="0"/>
              <a:t>The Bohr model of a single-electron atom shows the electron orbiting the nucleus in one of several possible circular orbits. Like all models, it captures some, but not all, aspects of the physical system.</a:t>
            </a:r>
          </a:p>
        </p:txBody>
      </p:sp>
      <p:pic>
        <p:nvPicPr>
          <p:cNvPr id="8" name="Picture 7" descr="A picture containing curtain&#10;&#10;Description automatically generated">
            <a:extLst>
              <a:ext uri="{FF2B5EF4-FFF2-40B4-BE49-F238E27FC236}">
                <a16:creationId xmlns:a16="http://schemas.microsoft.com/office/drawing/2014/main" id="{3E865DF3-5786-CA4B-8192-AC950C81170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81009" y="1594265"/>
            <a:ext cx="2853860" cy="2743200"/>
          </a:xfrm>
          <a:prstGeom prst="rect">
            <a:avLst/>
          </a:prstGeom>
        </p:spPr>
      </p:pic>
      <p:pic>
        <p:nvPicPr>
          <p:cNvPr id="1026" name="Picture 2">
            <a:extLst>
              <a:ext uri="{FF2B5EF4-FFF2-40B4-BE49-F238E27FC236}">
                <a16:creationId xmlns:a16="http://schemas.microsoft.com/office/drawing/2014/main" id="{E03E99F2-4D9E-3447-A761-CCA40D6E62E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843559" y="839895"/>
            <a:ext cx="4051139" cy="4572000"/>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a:extLst>
              <a:ext uri="{FF2B5EF4-FFF2-40B4-BE49-F238E27FC236}">
                <a16:creationId xmlns:a16="http://schemas.microsoft.com/office/drawing/2014/main" id="{A0E2550E-AC47-6449-8E4F-E7F8080F8813}"/>
              </a:ext>
            </a:extLst>
          </p:cNvPr>
          <p:cNvSpPr/>
          <p:nvPr/>
        </p:nvSpPr>
        <p:spPr>
          <a:xfrm>
            <a:off x="4180852" y="4339278"/>
            <a:ext cx="3211294" cy="1107996"/>
          </a:xfrm>
          <a:prstGeom prst="rect">
            <a:avLst/>
          </a:prstGeom>
        </p:spPr>
        <p:txBody>
          <a:bodyPr wrap="square">
            <a:spAutoFit/>
          </a:bodyPr>
          <a:lstStyle/>
          <a:p>
            <a:r>
              <a:rPr lang="en-US" dirty="0">
                <a:solidFill>
                  <a:schemeClr val="accent6">
                    <a:lumMod val="75000"/>
                  </a:schemeClr>
                </a:solidFill>
              </a:rPr>
              <a:t>Individual atoms in sheet of gold, taken by scanning tunneling microscope</a:t>
            </a:r>
          </a:p>
          <a:p>
            <a:r>
              <a:rPr lang="en-US" sz="1200" dirty="0"/>
              <a:t>Credit: modification of work by </a:t>
            </a:r>
            <a:r>
              <a:rPr lang="en-US" sz="1200" dirty="0" err="1"/>
              <a:t>Erwinrossen</a:t>
            </a:r>
            <a:endParaRPr lang="en-US" sz="1200" dirty="0"/>
          </a:p>
        </p:txBody>
      </p:sp>
      <p:pic>
        <p:nvPicPr>
          <p:cNvPr id="11" name="Picture 10" descr="A picture containing person&#10;&#10;Description automatically generated">
            <a:extLst>
              <a:ext uri="{FF2B5EF4-FFF2-40B4-BE49-F238E27FC236}">
                <a16:creationId xmlns:a16="http://schemas.microsoft.com/office/drawing/2014/main" id="{A2E70540-B7B1-3A44-A1EE-143A22D62D7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68960" y="1745269"/>
            <a:ext cx="3216166" cy="2743200"/>
          </a:xfrm>
          <a:prstGeom prst="rect">
            <a:avLst/>
          </a:prstGeom>
        </p:spPr>
      </p:pic>
      <p:sp>
        <p:nvSpPr>
          <p:cNvPr id="12" name="Rectangle 11">
            <a:extLst>
              <a:ext uri="{FF2B5EF4-FFF2-40B4-BE49-F238E27FC236}">
                <a16:creationId xmlns:a16="http://schemas.microsoft.com/office/drawing/2014/main" id="{A23304FD-1026-624C-A9CF-D9DB578229DC}"/>
              </a:ext>
            </a:extLst>
          </p:cNvPr>
          <p:cNvSpPr/>
          <p:nvPr/>
        </p:nvSpPr>
        <p:spPr>
          <a:xfrm>
            <a:off x="6045659" y="5463122"/>
            <a:ext cx="6078665" cy="1323439"/>
          </a:xfrm>
          <a:prstGeom prst="rect">
            <a:avLst/>
          </a:prstGeom>
        </p:spPr>
        <p:txBody>
          <a:bodyPr wrap="square">
            <a:spAutoFit/>
          </a:bodyPr>
          <a:lstStyle/>
          <a:p>
            <a:r>
              <a:rPr lang="en-US" sz="1600" dirty="0">
                <a:solidFill>
                  <a:srgbClr val="003262"/>
                </a:solidFill>
                <a:latin typeface="freight-sans-pro"/>
              </a:rPr>
              <a:t>Non-contact atomic force microscope (</a:t>
            </a:r>
            <a:r>
              <a:rPr lang="en-US" sz="1600" dirty="0" err="1">
                <a:solidFill>
                  <a:srgbClr val="003262"/>
                </a:solidFill>
                <a:latin typeface="freight-sans-pro"/>
              </a:rPr>
              <a:t>nc</a:t>
            </a:r>
            <a:r>
              <a:rPr lang="en-US" sz="1600" dirty="0">
                <a:solidFill>
                  <a:srgbClr val="003262"/>
                </a:solidFill>
                <a:latin typeface="freight-sans-pro"/>
              </a:rPr>
              <a:t>-AFM) images (center) of a molecule before and after a reaction improve immensely over images (top) from a scanning tunneling microscope. </a:t>
            </a:r>
            <a:r>
              <a:rPr lang="en-US" sz="1600" dirty="0">
                <a:latin typeface="freight-sans-pro"/>
              </a:rPr>
              <a:t>Credit: Berkley Lab </a:t>
            </a:r>
          </a:p>
          <a:p>
            <a:r>
              <a:rPr lang="en-US" sz="1600" dirty="0">
                <a:hlinkClick r:id="rId6"/>
              </a:rPr>
              <a:t>https://news.berkeley.edu/2013/05/30/scientists-capture-first-images-of-molecules-before-and-after-reaction/</a:t>
            </a:r>
            <a:endParaRPr lang="en-US" sz="1600" dirty="0"/>
          </a:p>
        </p:txBody>
      </p:sp>
    </p:spTree>
    <p:extLst>
      <p:ext uri="{BB962C8B-B14F-4D97-AF65-F5344CB8AC3E}">
        <p14:creationId xmlns:p14="http://schemas.microsoft.com/office/powerpoint/2010/main" val="260118344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L:\Clients\Connexions\01_CNX_ Admin\00_OSC_Project_Resources\14_OSC_Production\PowerPoints\OSX-Stacked-TM-CMYK-300dp1-2016.jpg">
            <a:extLst>
              <a:ext uri="{FF2B5EF4-FFF2-40B4-BE49-F238E27FC236}">
                <a16:creationId xmlns:a16="http://schemas.microsoft.com/office/drawing/2014/main" id="{C34C680B-ED90-5348-80E8-759D74A0E791}"/>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5995D5C7-EE06-7F4A-8949-3BAD86CC9897}"/>
              </a:ext>
            </a:extLst>
          </p:cNvPr>
          <p:cNvSpPr/>
          <p:nvPr/>
        </p:nvSpPr>
        <p:spPr>
          <a:xfrm>
            <a:off x="4007454" y="89044"/>
            <a:ext cx="3591876" cy="523220"/>
          </a:xfrm>
          <a:prstGeom prst="rect">
            <a:avLst/>
          </a:prstGeom>
        </p:spPr>
        <p:txBody>
          <a:bodyPr wrap="square">
            <a:spAutoFit/>
          </a:bodyPr>
          <a:lstStyle/>
          <a:p>
            <a:r>
              <a:rPr lang="en-US" sz="2800" dirty="0">
                <a:solidFill>
                  <a:srgbClr val="C00000"/>
                </a:solidFill>
                <a:latin typeface="NewBaskervilleStd-Roman"/>
              </a:rPr>
              <a:t>Units and Standards </a:t>
            </a:r>
          </a:p>
        </p:txBody>
      </p:sp>
      <p:sp>
        <p:nvSpPr>
          <p:cNvPr id="4" name="Rectangle 3">
            <a:extLst>
              <a:ext uri="{FF2B5EF4-FFF2-40B4-BE49-F238E27FC236}">
                <a16:creationId xmlns:a16="http://schemas.microsoft.com/office/drawing/2014/main" id="{326C98DE-B525-F840-92C3-F48235F5E791}"/>
              </a:ext>
            </a:extLst>
          </p:cNvPr>
          <p:cNvSpPr/>
          <p:nvPr/>
        </p:nvSpPr>
        <p:spPr>
          <a:xfrm>
            <a:off x="743712" y="657600"/>
            <a:ext cx="9107424" cy="461665"/>
          </a:xfrm>
          <a:prstGeom prst="rect">
            <a:avLst/>
          </a:prstGeom>
        </p:spPr>
        <p:txBody>
          <a:bodyPr wrap="square">
            <a:spAutoFit/>
          </a:bodyPr>
          <a:lstStyle/>
          <a:p>
            <a:r>
              <a:rPr lang="en-US" sz="2400" dirty="0"/>
              <a:t>Measurements of physical quantities are expressed in terms of </a:t>
            </a:r>
            <a:r>
              <a:rPr lang="en-US" sz="2400" b="1" dirty="0"/>
              <a:t>units.</a:t>
            </a:r>
            <a:r>
              <a:rPr lang="en-US" sz="2400" dirty="0"/>
              <a:t> </a:t>
            </a:r>
          </a:p>
        </p:txBody>
      </p:sp>
      <p:pic>
        <p:nvPicPr>
          <p:cNvPr id="5" name="Picture Placeholder 1" descr="A drawing of a person looking at a map that has the distance scale labeled as 1 cable, and wondering how big is a cable.">
            <a:extLst>
              <a:ext uri="{FF2B5EF4-FFF2-40B4-BE49-F238E27FC236}">
                <a16:creationId xmlns:a16="http://schemas.microsoft.com/office/drawing/2014/main" id="{BD144579-E713-7342-9010-C60050C813F6}"/>
              </a:ext>
            </a:extLst>
          </p:cNvPr>
          <p:cNvPicPr>
            <a:picLocks noChangeAspect="1"/>
          </p:cNvPicPr>
          <p:nvPr/>
        </p:nvPicPr>
        <p:blipFill>
          <a:blip r:embed="rId3">
            <a:extLst>
              <a:ext uri="{28A0092B-C50C-407E-A947-70E740481C1C}">
                <a14:useLocalDpi xmlns:a14="http://schemas.microsoft.com/office/drawing/2010/main" val="0"/>
              </a:ext>
            </a:extLst>
          </a:blip>
          <a:srcRect l="-49436" r="-49436"/>
          <a:stretch>
            <a:fillRect/>
          </a:stretch>
        </p:blipFill>
        <p:spPr>
          <a:xfrm>
            <a:off x="5819679" y="1164601"/>
            <a:ext cx="8062913" cy="3500071"/>
          </a:xfrm>
          <a:prstGeom prst="rect">
            <a:avLst/>
          </a:prstGeom>
        </p:spPr>
      </p:pic>
      <p:sp>
        <p:nvSpPr>
          <p:cNvPr id="6" name="Rectangle 5">
            <a:extLst>
              <a:ext uri="{FF2B5EF4-FFF2-40B4-BE49-F238E27FC236}">
                <a16:creationId xmlns:a16="http://schemas.microsoft.com/office/drawing/2014/main" id="{8366A51D-E14B-5C4D-865E-09C91E40BA20}"/>
              </a:ext>
            </a:extLst>
          </p:cNvPr>
          <p:cNvSpPr/>
          <p:nvPr/>
        </p:nvSpPr>
        <p:spPr>
          <a:xfrm>
            <a:off x="743712" y="1268260"/>
            <a:ext cx="6096000" cy="1938992"/>
          </a:xfrm>
          <a:prstGeom prst="rect">
            <a:avLst/>
          </a:prstGeom>
        </p:spPr>
        <p:txBody>
          <a:bodyPr>
            <a:spAutoFit/>
          </a:bodyPr>
          <a:lstStyle/>
          <a:p>
            <a:r>
              <a:rPr lang="en-US" sz="2000" dirty="0">
                <a:solidFill>
                  <a:srgbClr val="7030A0"/>
                </a:solidFill>
                <a:latin typeface="LiberationSerif"/>
              </a:rPr>
              <a:t>Two major systems of units are used in the world: </a:t>
            </a:r>
          </a:p>
          <a:p>
            <a:endParaRPr lang="en-US" sz="2000" dirty="0">
              <a:latin typeface="LiberationSerif"/>
            </a:endParaRPr>
          </a:p>
          <a:p>
            <a:pPr marL="342900" indent="-342900">
              <a:buFont typeface="Arial" panose="020B0604020202020204" pitchFamily="34" charset="0"/>
              <a:buChar char="•"/>
            </a:pPr>
            <a:r>
              <a:rPr lang="en-US" sz="2000" b="1" dirty="0">
                <a:solidFill>
                  <a:srgbClr val="C00000"/>
                </a:solidFill>
                <a:latin typeface="LiberationSerif"/>
              </a:rPr>
              <a:t>SI units </a:t>
            </a:r>
            <a:r>
              <a:rPr lang="en-US" sz="2000" dirty="0">
                <a:latin typeface="LiberationSerif"/>
              </a:rPr>
              <a:t>(for the French </a:t>
            </a:r>
            <a:r>
              <a:rPr lang="en-US" sz="2000" i="1" dirty="0" err="1">
                <a:latin typeface="LiberationSerif"/>
              </a:rPr>
              <a:t>Système</a:t>
            </a:r>
            <a:r>
              <a:rPr lang="en-US" sz="2000" i="1" dirty="0">
                <a:latin typeface="LiberationSerif"/>
              </a:rPr>
              <a:t> International </a:t>
            </a:r>
            <a:r>
              <a:rPr lang="en-US" sz="2000" i="1" dirty="0" err="1">
                <a:latin typeface="LiberationSerif"/>
              </a:rPr>
              <a:t>d’Unités</a:t>
            </a:r>
            <a:r>
              <a:rPr lang="en-US" sz="2000" dirty="0">
                <a:latin typeface="LiberationSerif"/>
              </a:rPr>
              <a:t>), also known as the </a:t>
            </a:r>
            <a:r>
              <a:rPr lang="en-US" sz="2000" i="1" dirty="0">
                <a:latin typeface="LiberationSerif"/>
              </a:rPr>
              <a:t>metric system</a:t>
            </a:r>
            <a:r>
              <a:rPr lang="en-US" sz="2000" dirty="0">
                <a:latin typeface="LiberationSerif"/>
              </a:rPr>
              <a:t>, and </a:t>
            </a:r>
          </a:p>
          <a:p>
            <a:pPr marL="342900" indent="-342900">
              <a:buFont typeface="Arial" panose="020B0604020202020204" pitchFamily="34" charset="0"/>
              <a:buChar char="•"/>
            </a:pPr>
            <a:r>
              <a:rPr lang="en-US" sz="2000" b="1" dirty="0">
                <a:solidFill>
                  <a:srgbClr val="C00000"/>
                </a:solidFill>
                <a:latin typeface="LiberationSerif"/>
              </a:rPr>
              <a:t>English units</a:t>
            </a:r>
            <a:r>
              <a:rPr lang="en-US" sz="2000" b="1" dirty="0">
                <a:latin typeface="LiberationSerif"/>
              </a:rPr>
              <a:t> </a:t>
            </a:r>
            <a:r>
              <a:rPr lang="en-US" sz="2000" dirty="0">
                <a:latin typeface="LiberationSerif"/>
              </a:rPr>
              <a:t>(also known as the </a:t>
            </a:r>
            <a:r>
              <a:rPr lang="en-US" sz="2000" i="1" dirty="0">
                <a:latin typeface="LiberationSerif"/>
              </a:rPr>
              <a:t>customary </a:t>
            </a:r>
            <a:r>
              <a:rPr lang="en-US" sz="2000" dirty="0">
                <a:latin typeface="LiberationSerif"/>
              </a:rPr>
              <a:t>or </a:t>
            </a:r>
            <a:r>
              <a:rPr lang="en-US" sz="2000" i="1" dirty="0">
                <a:latin typeface="LiberationSerif"/>
              </a:rPr>
              <a:t>imperial system, widely used in the United States</a:t>
            </a:r>
            <a:r>
              <a:rPr lang="en-US" sz="2000" dirty="0">
                <a:latin typeface="LiberationSerif"/>
              </a:rPr>
              <a:t>). </a:t>
            </a:r>
            <a:endParaRPr lang="en-US" sz="2000" dirty="0"/>
          </a:p>
        </p:txBody>
      </p:sp>
      <p:sp>
        <p:nvSpPr>
          <p:cNvPr id="7" name="Rectangle 6">
            <a:extLst>
              <a:ext uri="{FF2B5EF4-FFF2-40B4-BE49-F238E27FC236}">
                <a16:creationId xmlns:a16="http://schemas.microsoft.com/office/drawing/2014/main" id="{B1714C20-C293-C344-BC28-C9EB86515C2C}"/>
              </a:ext>
            </a:extLst>
          </p:cNvPr>
          <p:cNvSpPr/>
          <p:nvPr/>
        </p:nvSpPr>
        <p:spPr>
          <a:xfrm>
            <a:off x="2275598" y="3450609"/>
            <a:ext cx="2916183" cy="369332"/>
          </a:xfrm>
          <a:prstGeom prst="rect">
            <a:avLst/>
          </a:prstGeom>
        </p:spPr>
        <p:txBody>
          <a:bodyPr wrap="none">
            <a:spAutoFit/>
          </a:bodyPr>
          <a:lstStyle/>
          <a:p>
            <a:r>
              <a:rPr lang="en-US" b="1" i="0" u="none" strike="noStrike" baseline="0" dirty="0">
                <a:latin typeface="NewBaskervilleStd-Bold"/>
              </a:rPr>
              <a:t>SI </a:t>
            </a:r>
            <a:r>
              <a:rPr lang="en-US" b="0" i="0" u="none" strike="noStrike" baseline="0" dirty="0">
                <a:latin typeface="NewBaskervilleStd-Roman"/>
              </a:rPr>
              <a:t>(</a:t>
            </a:r>
            <a:r>
              <a:rPr lang="en-US" b="0" i="0" u="none" strike="noStrike" baseline="0" dirty="0" err="1">
                <a:latin typeface="NewBaskervilleStd-Roman"/>
              </a:rPr>
              <a:t>Système</a:t>
            </a:r>
            <a:r>
              <a:rPr lang="en-US" b="0" i="0" u="none" strike="noStrike" baseline="0" dirty="0">
                <a:latin typeface="NewBaskervilleStd-Roman"/>
              </a:rPr>
              <a:t> International)</a:t>
            </a:r>
            <a:endParaRPr lang="en-US" dirty="0"/>
          </a:p>
        </p:txBody>
      </p:sp>
      <p:sp>
        <p:nvSpPr>
          <p:cNvPr id="8" name="Rectangle 7">
            <a:extLst>
              <a:ext uri="{FF2B5EF4-FFF2-40B4-BE49-F238E27FC236}">
                <a16:creationId xmlns:a16="http://schemas.microsoft.com/office/drawing/2014/main" id="{C6BC58BB-6F33-6645-867C-AEA8CD49B159}"/>
              </a:ext>
            </a:extLst>
          </p:cNvPr>
          <p:cNvSpPr/>
          <p:nvPr/>
        </p:nvSpPr>
        <p:spPr>
          <a:xfrm>
            <a:off x="5473914" y="3995013"/>
            <a:ext cx="2616031" cy="1908215"/>
          </a:xfrm>
          <a:prstGeom prst="rect">
            <a:avLst/>
          </a:prstGeom>
        </p:spPr>
        <p:txBody>
          <a:bodyPr wrap="square">
            <a:spAutoFit/>
          </a:bodyPr>
          <a:lstStyle/>
          <a:p>
            <a:r>
              <a:rPr lang="en-US" dirty="0">
                <a:latin typeface="NewBaskervilleStd-Roman"/>
              </a:rPr>
              <a:t>inch, foot, yard, mile..</a:t>
            </a:r>
          </a:p>
          <a:p>
            <a:endParaRPr lang="en-US" sz="1600" b="0" i="0" u="none" strike="noStrike" baseline="0" dirty="0">
              <a:latin typeface="NewBaskervilleStd-Roman"/>
            </a:endParaRPr>
          </a:p>
          <a:p>
            <a:endParaRPr lang="en-US" sz="1600" b="0" i="0" u="none" strike="noStrike" baseline="0" dirty="0">
              <a:latin typeface="NewBaskervilleStd-Roman"/>
            </a:endParaRPr>
          </a:p>
          <a:p>
            <a:r>
              <a:rPr lang="en-US" sz="2000" dirty="0">
                <a:latin typeface="NewBaskervilleStd-Roman"/>
              </a:rPr>
              <a:t>ounce, pound, ton..</a:t>
            </a:r>
            <a:endParaRPr lang="en-US" sz="2000" b="0" i="0" u="none" strike="noStrike" baseline="0" dirty="0">
              <a:latin typeface="NewBaskervilleStd-Roman"/>
            </a:endParaRPr>
          </a:p>
          <a:p>
            <a:endParaRPr lang="en-US" sz="2400" b="0" i="0" u="none" strike="noStrike" baseline="0" dirty="0">
              <a:latin typeface="NewBaskervilleStd-Roman"/>
            </a:endParaRPr>
          </a:p>
          <a:p>
            <a:r>
              <a:rPr lang="en-US" sz="2000" dirty="0">
                <a:latin typeface="NewBaskervilleStd-Roman"/>
              </a:rPr>
              <a:t>s</a:t>
            </a:r>
            <a:r>
              <a:rPr lang="en-US" sz="2000" b="0" i="0" u="none" strike="noStrike" baseline="0" dirty="0">
                <a:latin typeface="NewBaskervilleStd-Roman"/>
              </a:rPr>
              <a:t>econd</a:t>
            </a:r>
            <a:endParaRPr lang="en-US" sz="2000" dirty="0"/>
          </a:p>
        </p:txBody>
      </p:sp>
      <p:sp>
        <p:nvSpPr>
          <p:cNvPr id="9" name="Rectangle 8">
            <a:extLst>
              <a:ext uri="{FF2B5EF4-FFF2-40B4-BE49-F238E27FC236}">
                <a16:creationId xmlns:a16="http://schemas.microsoft.com/office/drawing/2014/main" id="{B898F240-9292-2342-B12E-8DCBB178DABF}"/>
              </a:ext>
            </a:extLst>
          </p:cNvPr>
          <p:cNvSpPr/>
          <p:nvPr/>
        </p:nvSpPr>
        <p:spPr>
          <a:xfrm>
            <a:off x="5793114" y="3491701"/>
            <a:ext cx="1762021" cy="369332"/>
          </a:xfrm>
          <a:prstGeom prst="rect">
            <a:avLst/>
          </a:prstGeom>
        </p:spPr>
        <p:txBody>
          <a:bodyPr wrap="none">
            <a:spAutoFit/>
          </a:bodyPr>
          <a:lstStyle/>
          <a:p>
            <a:r>
              <a:rPr lang="en-US" b="0" i="0" u="none" strike="noStrike" baseline="0" dirty="0">
                <a:latin typeface="NewBaskervilleStd-Roman"/>
              </a:rPr>
              <a:t>U.S. customary</a:t>
            </a:r>
            <a:endParaRPr lang="en-US" dirty="0"/>
          </a:p>
        </p:txBody>
      </p:sp>
      <p:sp>
        <p:nvSpPr>
          <p:cNvPr id="10" name="Rectangle 9">
            <a:extLst>
              <a:ext uri="{FF2B5EF4-FFF2-40B4-BE49-F238E27FC236}">
                <a16:creationId xmlns:a16="http://schemas.microsoft.com/office/drawing/2014/main" id="{73612F42-5453-8B4B-8819-ED94339D296B}"/>
              </a:ext>
            </a:extLst>
          </p:cNvPr>
          <p:cNvSpPr/>
          <p:nvPr/>
        </p:nvSpPr>
        <p:spPr>
          <a:xfrm>
            <a:off x="2598281" y="3879370"/>
            <a:ext cx="1965603" cy="1938992"/>
          </a:xfrm>
          <a:prstGeom prst="rect">
            <a:avLst/>
          </a:prstGeom>
        </p:spPr>
        <p:txBody>
          <a:bodyPr wrap="none">
            <a:spAutoFit/>
          </a:bodyPr>
          <a:lstStyle/>
          <a:p>
            <a:r>
              <a:rPr lang="en-US" sz="2400" dirty="0">
                <a:latin typeface="NewBaskervilleStd-Roman"/>
              </a:rPr>
              <a:t>meter (m)</a:t>
            </a:r>
            <a:endParaRPr lang="en-US" sz="2400" b="0" i="0" u="none" strike="noStrike" baseline="0" dirty="0">
              <a:latin typeface="NewBaskervilleStd-Roman"/>
            </a:endParaRPr>
          </a:p>
          <a:p>
            <a:endParaRPr lang="en-US" sz="2400" b="0" i="0" u="none" strike="noStrike" baseline="0" dirty="0">
              <a:latin typeface="NewBaskervilleStd-Roman"/>
            </a:endParaRPr>
          </a:p>
          <a:p>
            <a:r>
              <a:rPr lang="en-US" sz="2400" dirty="0">
                <a:latin typeface="NewBaskervilleStd-Roman"/>
              </a:rPr>
              <a:t>k</a:t>
            </a:r>
            <a:r>
              <a:rPr lang="en-US" sz="2400" b="0" i="0" u="none" strike="noStrike" baseline="0" dirty="0">
                <a:latin typeface="NewBaskervilleStd-Roman"/>
              </a:rPr>
              <a:t>ilogram (kg)</a:t>
            </a:r>
          </a:p>
          <a:p>
            <a:endParaRPr lang="en-US" sz="2400" b="0" i="0" u="none" strike="noStrike" baseline="0" dirty="0">
              <a:latin typeface="NewBaskervilleStd-Roman"/>
            </a:endParaRPr>
          </a:p>
          <a:p>
            <a:r>
              <a:rPr lang="en-US" sz="2400" dirty="0">
                <a:latin typeface="NewBaskervilleStd-Roman"/>
              </a:rPr>
              <a:t>s</a:t>
            </a:r>
            <a:r>
              <a:rPr lang="en-US" sz="2400" b="0" i="0" u="none" strike="noStrike" baseline="0" dirty="0">
                <a:latin typeface="NewBaskervilleStd-Roman"/>
              </a:rPr>
              <a:t>econd (s)</a:t>
            </a:r>
            <a:endParaRPr lang="en-US" sz="2400" dirty="0"/>
          </a:p>
        </p:txBody>
      </p:sp>
      <p:sp>
        <p:nvSpPr>
          <p:cNvPr id="11" name="Rectangle 10">
            <a:extLst>
              <a:ext uri="{FF2B5EF4-FFF2-40B4-BE49-F238E27FC236}">
                <a16:creationId xmlns:a16="http://schemas.microsoft.com/office/drawing/2014/main" id="{8E1C00B2-8C8A-DB4D-A919-1E5533705DAC}"/>
              </a:ext>
            </a:extLst>
          </p:cNvPr>
          <p:cNvSpPr/>
          <p:nvPr/>
        </p:nvSpPr>
        <p:spPr>
          <a:xfrm>
            <a:off x="743712" y="3891562"/>
            <a:ext cx="1127232" cy="1938992"/>
          </a:xfrm>
          <a:prstGeom prst="rect">
            <a:avLst/>
          </a:prstGeom>
        </p:spPr>
        <p:txBody>
          <a:bodyPr wrap="none">
            <a:spAutoFit/>
          </a:bodyPr>
          <a:lstStyle/>
          <a:p>
            <a:r>
              <a:rPr lang="en-US" sz="2400" dirty="0">
                <a:latin typeface="NewBaskervilleStd-Roman"/>
              </a:rPr>
              <a:t>L</a:t>
            </a:r>
            <a:r>
              <a:rPr lang="en-US" sz="2400" b="0" i="0" u="none" strike="noStrike" baseline="0" dirty="0">
                <a:latin typeface="NewBaskervilleStd-Roman"/>
              </a:rPr>
              <a:t>ength</a:t>
            </a:r>
          </a:p>
          <a:p>
            <a:endParaRPr lang="en-US" sz="2400" b="0" i="0" u="none" strike="noStrike" baseline="0" dirty="0">
              <a:latin typeface="NewBaskervilleStd-Roman"/>
            </a:endParaRPr>
          </a:p>
          <a:p>
            <a:r>
              <a:rPr lang="en-US" sz="2400" b="0" i="0" u="none" strike="noStrike" baseline="0" dirty="0">
                <a:latin typeface="NewBaskervilleStd-Roman"/>
              </a:rPr>
              <a:t>Mass</a:t>
            </a:r>
          </a:p>
          <a:p>
            <a:endParaRPr lang="en-US" sz="2400" b="0" i="0" u="none" strike="noStrike" baseline="0" dirty="0">
              <a:latin typeface="NewBaskervilleStd-Roman"/>
            </a:endParaRPr>
          </a:p>
          <a:p>
            <a:r>
              <a:rPr lang="en-US" sz="2400" b="0" i="0" u="none" strike="noStrike" baseline="0" dirty="0">
                <a:latin typeface="NewBaskervilleStd-Roman"/>
              </a:rPr>
              <a:t>Time</a:t>
            </a:r>
            <a:endParaRPr lang="en-US" sz="2400" dirty="0"/>
          </a:p>
        </p:txBody>
      </p:sp>
      <p:sp>
        <p:nvSpPr>
          <p:cNvPr id="12" name="Multiply 11">
            <a:extLst>
              <a:ext uri="{FF2B5EF4-FFF2-40B4-BE49-F238E27FC236}">
                <a16:creationId xmlns:a16="http://schemas.microsoft.com/office/drawing/2014/main" id="{C3E04E16-E69B-E14D-ADAE-F5F3050BCEF7}"/>
              </a:ext>
            </a:extLst>
          </p:cNvPr>
          <p:cNvSpPr/>
          <p:nvPr/>
        </p:nvSpPr>
        <p:spPr>
          <a:xfrm>
            <a:off x="6004748" y="5712380"/>
            <a:ext cx="981268" cy="910218"/>
          </a:xfrm>
          <a:prstGeom prst="mathMultiply">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L-Shape 13">
            <a:extLst>
              <a:ext uri="{FF2B5EF4-FFF2-40B4-BE49-F238E27FC236}">
                <a16:creationId xmlns:a16="http://schemas.microsoft.com/office/drawing/2014/main" id="{2BE0FCE4-FEAE-AD45-A68A-82607CF9DA45}"/>
              </a:ext>
            </a:extLst>
          </p:cNvPr>
          <p:cNvSpPr/>
          <p:nvPr/>
        </p:nvSpPr>
        <p:spPr>
          <a:xfrm rot="19243461">
            <a:off x="3049088" y="5889920"/>
            <a:ext cx="694944" cy="375652"/>
          </a:xfrm>
          <a:prstGeom prst="corner">
            <a:avLst/>
          </a:prstGeom>
          <a:solidFill>
            <a:srgbClr val="008000"/>
          </a:solidFill>
          <a:ln>
            <a:solidFill>
              <a:srgbClr val="008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089605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L:\Clients\Connexions\01_CNX_ Admin\00_OSC_Project_Resources\14_OSC_Production\PowerPoints\OSX-Stacked-TM-CMYK-300dp1-2016.jpg">
            <a:extLst>
              <a:ext uri="{FF2B5EF4-FFF2-40B4-BE49-F238E27FC236}">
                <a16:creationId xmlns:a16="http://schemas.microsoft.com/office/drawing/2014/main" id="{C34C680B-ED90-5348-80E8-759D74A0E791}"/>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2601C03B-B534-9948-A130-C1EE0C56F52C}"/>
              </a:ext>
            </a:extLst>
          </p:cNvPr>
          <p:cNvSpPr/>
          <p:nvPr/>
        </p:nvSpPr>
        <p:spPr>
          <a:xfrm>
            <a:off x="4007454" y="89044"/>
            <a:ext cx="3591876" cy="523220"/>
          </a:xfrm>
          <a:prstGeom prst="rect">
            <a:avLst/>
          </a:prstGeom>
        </p:spPr>
        <p:txBody>
          <a:bodyPr wrap="square">
            <a:spAutoFit/>
          </a:bodyPr>
          <a:lstStyle/>
          <a:p>
            <a:r>
              <a:rPr lang="en-US" sz="2800" dirty="0">
                <a:solidFill>
                  <a:srgbClr val="C00000"/>
                </a:solidFill>
                <a:latin typeface="NewBaskervilleStd-Roman"/>
              </a:rPr>
              <a:t>Units and Standards </a:t>
            </a:r>
          </a:p>
        </p:txBody>
      </p:sp>
      <p:sp>
        <p:nvSpPr>
          <p:cNvPr id="4" name="Rectangle 3">
            <a:extLst>
              <a:ext uri="{FF2B5EF4-FFF2-40B4-BE49-F238E27FC236}">
                <a16:creationId xmlns:a16="http://schemas.microsoft.com/office/drawing/2014/main" id="{45AB3BEA-A73B-A143-81F8-03909B58DA41}"/>
              </a:ext>
            </a:extLst>
          </p:cNvPr>
          <p:cNvSpPr txBox="1">
            <a:spLocks noChangeArrowheads="1"/>
          </p:cNvSpPr>
          <p:nvPr/>
        </p:nvSpPr>
        <p:spPr>
          <a:xfrm>
            <a:off x="236103" y="640119"/>
            <a:ext cx="5750168" cy="259453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r>
              <a:rPr lang="en-US" altLang="en-US" sz="2200" dirty="0">
                <a:solidFill>
                  <a:schemeClr val="accent5">
                    <a:lumMod val="75000"/>
                  </a:schemeClr>
                </a:solidFill>
              </a:rPr>
              <a:t>meter, m</a:t>
            </a:r>
          </a:p>
          <a:p>
            <a:r>
              <a:rPr lang="en-US" altLang="en-US" sz="2200" dirty="0">
                <a:solidFill>
                  <a:schemeClr val="accent5">
                    <a:lumMod val="75000"/>
                  </a:schemeClr>
                </a:solidFill>
              </a:rPr>
              <a:t>The meter is currently defined in terms of the distance traveled by light in a vacuum during a given time</a:t>
            </a:r>
          </a:p>
          <a:p>
            <a:pPr lvl="1"/>
            <a:r>
              <a:rPr lang="en-US" altLang="en-US" sz="2200" dirty="0">
                <a:solidFill>
                  <a:schemeClr val="accent5">
                    <a:lumMod val="75000"/>
                  </a:schemeClr>
                </a:solidFill>
              </a:rPr>
              <a:t>Also establishes the value for the speed of light in a vacuum</a:t>
            </a:r>
          </a:p>
          <a:p>
            <a:pPr lvl="1"/>
            <a:endParaRPr lang="en-US" altLang="en-US" sz="2200" dirty="0">
              <a:solidFill>
                <a:schemeClr val="accent5">
                  <a:lumMod val="75000"/>
                </a:schemeClr>
              </a:solidFill>
            </a:endParaRPr>
          </a:p>
        </p:txBody>
      </p:sp>
      <p:pic>
        <p:nvPicPr>
          <p:cNvPr id="5" name="Picture 4" descr="Light travels a distance of 1 meter in 1/299792458 seconds">
            <a:extLst>
              <a:ext uri="{FF2B5EF4-FFF2-40B4-BE49-F238E27FC236}">
                <a16:creationId xmlns:a16="http://schemas.microsoft.com/office/drawing/2014/main" id="{5155FB6A-974C-644F-ACCB-5081CB7BBCD7}"/>
              </a:ext>
            </a:extLst>
          </p:cNvPr>
          <p:cNvPicPr>
            <a:picLocks noChangeAspect="1"/>
          </p:cNvPicPr>
          <p:nvPr/>
        </p:nvPicPr>
        <p:blipFill>
          <a:blip r:embed="rId3"/>
          <a:stretch>
            <a:fillRect/>
          </a:stretch>
        </p:blipFill>
        <p:spPr>
          <a:xfrm>
            <a:off x="843056" y="2677832"/>
            <a:ext cx="4786788" cy="1031344"/>
          </a:xfrm>
          <a:prstGeom prst="rect">
            <a:avLst/>
          </a:prstGeom>
        </p:spPr>
      </p:pic>
      <p:sp>
        <p:nvSpPr>
          <p:cNvPr id="6" name="Rectangle 3">
            <a:extLst>
              <a:ext uri="{FF2B5EF4-FFF2-40B4-BE49-F238E27FC236}">
                <a16:creationId xmlns:a16="http://schemas.microsoft.com/office/drawing/2014/main" id="{8C900A1E-9BFA-2840-9A5E-717E0386CE2D}"/>
              </a:ext>
            </a:extLst>
          </p:cNvPr>
          <p:cNvSpPr txBox="1">
            <a:spLocks noChangeArrowheads="1"/>
          </p:cNvSpPr>
          <p:nvPr/>
        </p:nvSpPr>
        <p:spPr>
          <a:xfrm>
            <a:off x="6046567" y="663938"/>
            <a:ext cx="5576592"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r>
              <a:rPr lang="en-US" altLang="en-US" sz="2200" dirty="0">
                <a:solidFill>
                  <a:schemeClr val="accent4">
                    <a:lumMod val="50000"/>
                  </a:schemeClr>
                </a:solidFill>
              </a:rPr>
              <a:t>seconds, s</a:t>
            </a:r>
          </a:p>
          <a:p>
            <a:r>
              <a:rPr lang="en-US" altLang="en-US" sz="2200" dirty="0">
                <a:solidFill>
                  <a:schemeClr val="accent4">
                    <a:lumMod val="50000"/>
                  </a:schemeClr>
                </a:solidFill>
              </a:rPr>
              <a:t>The second is currently defined in terms of the oscillation of radiation from a cesium atom Cs</a:t>
            </a:r>
            <a:r>
              <a:rPr lang="en-US" sz="2200" dirty="0">
                <a:solidFill>
                  <a:schemeClr val="accent4">
                    <a:lumMod val="50000"/>
                  </a:schemeClr>
                </a:solidFill>
              </a:rPr>
              <a:t>-133</a:t>
            </a:r>
            <a:endParaRPr lang="en-US" altLang="en-US" sz="2200" dirty="0">
              <a:solidFill>
                <a:schemeClr val="accent4">
                  <a:lumMod val="50000"/>
                </a:schemeClr>
              </a:solidFill>
            </a:endParaRPr>
          </a:p>
        </p:txBody>
      </p:sp>
      <p:pic>
        <p:nvPicPr>
          <p:cNvPr id="7" name="Picture 6" descr="Top view of an atomic clock">
            <a:extLst>
              <a:ext uri="{FF2B5EF4-FFF2-40B4-BE49-F238E27FC236}">
                <a16:creationId xmlns:a16="http://schemas.microsoft.com/office/drawing/2014/main" id="{F8E8314F-0772-CA47-9DD4-219E39605489}"/>
              </a:ext>
            </a:extLst>
          </p:cNvPr>
          <p:cNvPicPr>
            <a:picLocks noChangeAspect="1"/>
          </p:cNvPicPr>
          <p:nvPr/>
        </p:nvPicPr>
        <p:blipFill>
          <a:blip r:embed="rId4"/>
          <a:stretch>
            <a:fillRect/>
          </a:stretch>
        </p:blipFill>
        <p:spPr>
          <a:xfrm>
            <a:off x="8896366" y="1853489"/>
            <a:ext cx="3013952" cy="3000401"/>
          </a:xfrm>
          <a:prstGeom prst="rect">
            <a:avLst/>
          </a:prstGeom>
        </p:spPr>
      </p:pic>
      <p:sp>
        <p:nvSpPr>
          <p:cNvPr id="8" name="Text Placeholder 6">
            <a:extLst>
              <a:ext uri="{FF2B5EF4-FFF2-40B4-BE49-F238E27FC236}">
                <a16:creationId xmlns:a16="http://schemas.microsoft.com/office/drawing/2014/main" id="{7154DC0F-FFEB-2345-A30E-F6344A471724}"/>
              </a:ext>
            </a:extLst>
          </p:cNvPr>
          <p:cNvSpPr txBox="1">
            <a:spLocks/>
          </p:cNvSpPr>
          <p:nvPr/>
        </p:nvSpPr>
        <p:spPr>
          <a:xfrm>
            <a:off x="6253831" y="2159773"/>
            <a:ext cx="2707416" cy="2788700"/>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dirty="0"/>
              <a:t>An atomic clock such as this one uses the vibrations of cesium atoms to keep time to a precision of better than a microsecond per year. The fundamental unit of time, the second, is based on such clocks. This image looks down from the top of an atomic fountain nearly 30 feet tall. (credit: Steve </a:t>
            </a:r>
            <a:r>
              <a:rPr lang="en-US" sz="1600" dirty="0" err="1"/>
              <a:t>Jurvetson</a:t>
            </a:r>
            <a:r>
              <a:rPr lang="en-US" sz="1600" dirty="0"/>
              <a:t>)</a:t>
            </a:r>
          </a:p>
        </p:txBody>
      </p:sp>
      <mc:AlternateContent xmlns:mc="http://schemas.openxmlformats.org/markup-compatibility/2006" xmlns:a14="http://schemas.microsoft.com/office/drawing/2010/main">
        <mc:Choice Requires="a14">
          <p:sp>
            <p:nvSpPr>
              <p:cNvPr id="9" name="Rectangle 3" descr="The cylinder with mass of exactly 1 kg kept at International Bureau of Weights and Measures">
                <a:extLst>
                  <a:ext uri="{FF2B5EF4-FFF2-40B4-BE49-F238E27FC236}">
                    <a16:creationId xmlns:a16="http://schemas.microsoft.com/office/drawing/2014/main" id="{00888B46-E031-7245-927E-FC79D78E2F09}"/>
                  </a:ext>
                </a:extLst>
              </p:cNvPr>
              <p:cNvSpPr txBox="1">
                <a:spLocks noChangeArrowheads="1"/>
              </p:cNvSpPr>
              <p:nvPr/>
            </p:nvSpPr>
            <p:spPr>
              <a:xfrm>
                <a:off x="3082315" y="4620758"/>
                <a:ext cx="8895705" cy="208431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r>
                  <a:rPr lang="en-US" altLang="en-US" sz="2200" dirty="0">
                    <a:solidFill>
                      <a:srgbClr val="3B124D"/>
                    </a:solidFill>
                  </a:rPr>
                  <a:t>kilogram, kg</a:t>
                </a:r>
              </a:p>
              <a:p>
                <a:pPr marL="0" indent="0">
                  <a:buNone/>
                </a:pPr>
                <a:r>
                  <a:rPr lang="en-US" altLang="en-US" sz="2200" dirty="0">
                    <a:solidFill>
                      <a:srgbClr val="3B124D"/>
                    </a:solidFill>
                  </a:rPr>
                  <a:t>The kilogram is currently defined in terms of speed of light, atomic transition of Cs-133, and Planck constant </a:t>
                </a:r>
                <a14:m>
                  <m:oMath xmlns:m="http://schemas.openxmlformats.org/officeDocument/2006/math">
                    <m:r>
                      <a:rPr lang="en-US" altLang="en-US" sz="2200" i="1" dirty="0" smtClean="0">
                        <a:solidFill>
                          <a:srgbClr val="3B124D"/>
                        </a:solidFill>
                        <a:latin typeface="Cambria Math" panose="02040503050406030204" pitchFamily="18" charset="0"/>
                      </a:rPr>
                      <m:t>h</m:t>
                    </m:r>
                  </m:oMath>
                </a14:m>
                <a:r>
                  <a:rPr lang="en-US" altLang="en-US" sz="2200" dirty="0">
                    <a:solidFill>
                      <a:srgbClr val="3B124D"/>
                    </a:solidFill>
                  </a:rPr>
                  <a:t>. </a:t>
                </a:r>
              </a:p>
              <a:p>
                <a:pPr marL="0" indent="0">
                  <a:buNone/>
                </a:pPr>
                <a:r>
                  <a:rPr lang="en-US" altLang="en-US" sz="1900" dirty="0">
                    <a:solidFill>
                      <a:srgbClr val="3B124D"/>
                    </a:solidFill>
                  </a:rPr>
                  <a:t>Previously it was defined to be the mass of a platinum–iridium cylinder kept with the old meter standard at the International Bureau of Weights and Measures near Paris. </a:t>
                </a:r>
              </a:p>
              <a:p>
                <a:endParaRPr lang="en-US" altLang="en-US" sz="2200" dirty="0">
                  <a:solidFill>
                    <a:srgbClr val="3B124D"/>
                  </a:solidFill>
                </a:endParaRPr>
              </a:p>
            </p:txBody>
          </p:sp>
        </mc:Choice>
        <mc:Fallback xmlns="">
          <p:sp>
            <p:nvSpPr>
              <p:cNvPr id="9" name="Rectangle 3" descr="The cylinder with mass of exactly 1 kg kept at International Bureau of Weights and Measures">
                <a:extLst>
                  <a:ext uri="{FF2B5EF4-FFF2-40B4-BE49-F238E27FC236}">
                    <a16:creationId xmlns:a16="http://schemas.microsoft.com/office/drawing/2014/main" id="{00888B46-E031-7245-927E-FC79D78E2F09}"/>
                  </a:ext>
                </a:extLst>
              </p:cNvPr>
              <p:cNvSpPr txBox="1">
                <a:spLocks noRot="1" noChangeAspect="1" noMove="1" noResize="1" noEditPoints="1" noAdjustHandles="1" noChangeArrowheads="1" noChangeShapeType="1" noTextEdit="1"/>
              </p:cNvSpPr>
              <p:nvPr/>
            </p:nvSpPr>
            <p:spPr>
              <a:xfrm>
                <a:off x="3082315" y="4620758"/>
                <a:ext cx="8895705" cy="2084317"/>
              </a:xfrm>
              <a:prstGeom prst="rect">
                <a:avLst/>
              </a:prstGeom>
              <a:blipFill>
                <a:blip r:embed="rId5"/>
                <a:stretch>
                  <a:fillRect l="-855" t="-3636" r="-997"/>
                </a:stretch>
              </a:blipFill>
            </p:spPr>
            <p:txBody>
              <a:bodyPr/>
              <a:lstStyle/>
              <a:p>
                <a:r>
                  <a:rPr lang="en-US">
                    <a:noFill/>
                  </a:rPr>
                  <a:t> </a:t>
                </a:r>
              </a:p>
            </p:txBody>
          </p:sp>
        </mc:Fallback>
      </mc:AlternateContent>
      <p:pic>
        <p:nvPicPr>
          <p:cNvPr id="11" name="Picture 10" descr="A close-up of a machine&#10;&#10;Description automatically generated with low confidence">
            <a:extLst>
              <a:ext uri="{FF2B5EF4-FFF2-40B4-BE49-F238E27FC236}">
                <a16:creationId xmlns:a16="http://schemas.microsoft.com/office/drawing/2014/main" id="{164A0B04-216E-9A42-AFB0-BAA764A0D2E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32790" y="3712196"/>
            <a:ext cx="2083836" cy="2743200"/>
          </a:xfrm>
          <a:prstGeom prst="rect">
            <a:avLst/>
          </a:prstGeom>
        </p:spPr>
      </p:pic>
      <p:sp>
        <p:nvSpPr>
          <p:cNvPr id="12" name="Rectangle 11">
            <a:extLst>
              <a:ext uri="{FF2B5EF4-FFF2-40B4-BE49-F238E27FC236}">
                <a16:creationId xmlns:a16="http://schemas.microsoft.com/office/drawing/2014/main" id="{057DCF4E-0036-B54C-AB80-D423C73EF6C7}"/>
              </a:ext>
            </a:extLst>
          </p:cNvPr>
          <p:cNvSpPr/>
          <p:nvPr/>
        </p:nvSpPr>
        <p:spPr>
          <a:xfrm>
            <a:off x="2916626" y="3795538"/>
            <a:ext cx="3129941" cy="707886"/>
          </a:xfrm>
          <a:prstGeom prst="rect">
            <a:avLst/>
          </a:prstGeom>
        </p:spPr>
        <p:txBody>
          <a:bodyPr wrap="square">
            <a:spAutoFit/>
          </a:bodyPr>
          <a:lstStyle/>
          <a:p>
            <a:r>
              <a:rPr lang="en-US" sz="1000" dirty="0">
                <a:solidFill>
                  <a:srgbClr val="3B124D"/>
                </a:solidFill>
                <a:latin typeface="LiberationSerif"/>
              </a:rPr>
              <a:t>The U.S. National Institute of Standards and Technology’s watt balance is a machine that balances the weight of a test mass against the current and voltage (the “watt”) produced by a strong system of magnets. </a:t>
            </a:r>
            <a:endParaRPr lang="en-US" sz="1000" dirty="0">
              <a:solidFill>
                <a:srgbClr val="3B124D"/>
              </a:solidFill>
            </a:endParaRPr>
          </a:p>
        </p:txBody>
      </p:sp>
      <p:sp>
        <p:nvSpPr>
          <p:cNvPr id="13" name="Rectangle 12">
            <a:extLst>
              <a:ext uri="{FF2B5EF4-FFF2-40B4-BE49-F238E27FC236}">
                <a16:creationId xmlns:a16="http://schemas.microsoft.com/office/drawing/2014/main" id="{EBDFFE6C-D551-9148-9B69-E56B6D9312B0}"/>
              </a:ext>
            </a:extLst>
          </p:cNvPr>
          <p:cNvSpPr/>
          <p:nvPr/>
        </p:nvSpPr>
        <p:spPr>
          <a:xfrm>
            <a:off x="67676" y="6416707"/>
            <a:ext cx="6096000" cy="246221"/>
          </a:xfrm>
          <a:prstGeom prst="rect">
            <a:avLst/>
          </a:prstGeom>
        </p:spPr>
        <p:txBody>
          <a:bodyPr>
            <a:spAutoFit/>
          </a:bodyPr>
          <a:lstStyle/>
          <a:p>
            <a:r>
              <a:rPr lang="en-US" sz="1000" dirty="0">
                <a:latin typeface="LiberationSerif"/>
              </a:rPr>
              <a:t>credit: modification of work by National Institute of Standards and Technology </a:t>
            </a:r>
            <a:endParaRPr lang="en-US" sz="1000" dirty="0"/>
          </a:p>
        </p:txBody>
      </p:sp>
    </p:spTree>
    <p:extLst>
      <p:ext uri="{BB962C8B-B14F-4D97-AF65-F5344CB8AC3E}">
        <p14:creationId xmlns:p14="http://schemas.microsoft.com/office/powerpoint/2010/main" val="345306315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L:\Clients\Connexions\01_CNX_ Admin\00_OSC_Project_Resources\14_OSC_Production\PowerPoints\OSX-Stacked-TM-CMYK-300dp1-2016.jpg">
            <a:extLst>
              <a:ext uri="{FF2B5EF4-FFF2-40B4-BE49-F238E27FC236}">
                <a16:creationId xmlns:a16="http://schemas.microsoft.com/office/drawing/2014/main" id="{C34C680B-ED90-5348-80E8-759D74A0E791}"/>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7129D860-0669-D446-8079-90456682B154}"/>
              </a:ext>
            </a:extLst>
          </p:cNvPr>
          <p:cNvSpPr/>
          <p:nvPr/>
        </p:nvSpPr>
        <p:spPr>
          <a:xfrm>
            <a:off x="4007454" y="89044"/>
            <a:ext cx="3591876" cy="523220"/>
          </a:xfrm>
          <a:prstGeom prst="rect">
            <a:avLst/>
          </a:prstGeom>
        </p:spPr>
        <p:txBody>
          <a:bodyPr wrap="square">
            <a:spAutoFit/>
          </a:bodyPr>
          <a:lstStyle/>
          <a:p>
            <a:r>
              <a:rPr lang="en-US" sz="2800" dirty="0">
                <a:solidFill>
                  <a:srgbClr val="C00000"/>
                </a:solidFill>
                <a:latin typeface="NewBaskervilleStd-Roman"/>
              </a:rPr>
              <a:t>Metric Prefixes</a:t>
            </a:r>
          </a:p>
        </p:txBody>
      </p:sp>
      <p:sp>
        <p:nvSpPr>
          <p:cNvPr id="4" name="Rectangle 3">
            <a:extLst>
              <a:ext uri="{FF2B5EF4-FFF2-40B4-BE49-F238E27FC236}">
                <a16:creationId xmlns:a16="http://schemas.microsoft.com/office/drawing/2014/main" id="{11C2100B-1952-3E4B-901D-8006B728E384}"/>
              </a:ext>
            </a:extLst>
          </p:cNvPr>
          <p:cNvSpPr txBox="1">
            <a:spLocks noChangeArrowheads="1"/>
          </p:cNvSpPr>
          <p:nvPr/>
        </p:nvSpPr>
        <p:spPr>
          <a:xfrm>
            <a:off x="412066" y="612264"/>
            <a:ext cx="11367868" cy="62590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en-US" sz="2200" dirty="0"/>
              <a:t>Prefixes correspond to powers of 10. Each prefix has a specific symbol.</a:t>
            </a:r>
          </a:p>
        </p:txBody>
      </p:sp>
      <p:pic>
        <p:nvPicPr>
          <p:cNvPr id="6" name="Picture 5" descr="Table&#10;&#10;Description automatically generated">
            <a:extLst>
              <a:ext uri="{FF2B5EF4-FFF2-40B4-BE49-F238E27FC236}">
                <a16:creationId xmlns:a16="http://schemas.microsoft.com/office/drawing/2014/main" id="{DB3E78E1-9A93-CA4B-B738-25DDA975303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7974" y="1391516"/>
            <a:ext cx="7454900" cy="4521200"/>
          </a:xfrm>
          <a:prstGeom prst="rect">
            <a:avLst/>
          </a:prstGeom>
        </p:spPr>
      </p:pic>
      <p:grpSp>
        <p:nvGrpSpPr>
          <p:cNvPr id="7" name="Group 6">
            <a:extLst>
              <a:ext uri="{FF2B5EF4-FFF2-40B4-BE49-F238E27FC236}">
                <a16:creationId xmlns:a16="http://schemas.microsoft.com/office/drawing/2014/main" id="{F1B75FC0-B24C-8D4C-B4B5-4DE60FD7E8E2}"/>
              </a:ext>
            </a:extLst>
          </p:cNvPr>
          <p:cNvGrpSpPr/>
          <p:nvPr/>
        </p:nvGrpSpPr>
        <p:grpSpPr>
          <a:xfrm>
            <a:off x="8658941" y="2817998"/>
            <a:ext cx="2836494" cy="1222003"/>
            <a:chOff x="551334" y="4883413"/>
            <a:chExt cx="2836494" cy="1222003"/>
          </a:xfrm>
        </p:grpSpPr>
        <p:sp>
          <p:nvSpPr>
            <p:cNvPr id="8" name="Rectangle 7">
              <a:extLst>
                <a:ext uri="{FF2B5EF4-FFF2-40B4-BE49-F238E27FC236}">
                  <a16:creationId xmlns:a16="http://schemas.microsoft.com/office/drawing/2014/main" id="{D076574D-5A27-9346-B4FE-32E0AF0671A1}"/>
                </a:ext>
              </a:extLst>
            </p:cNvPr>
            <p:cNvSpPr/>
            <p:nvPr/>
          </p:nvSpPr>
          <p:spPr>
            <a:xfrm>
              <a:off x="736205" y="5252745"/>
              <a:ext cx="1845377" cy="369332"/>
            </a:xfrm>
            <a:prstGeom prst="rect">
              <a:avLst/>
            </a:prstGeom>
          </p:spPr>
          <p:txBody>
            <a:bodyPr wrap="none">
              <a:spAutoFit/>
            </a:bodyPr>
            <a:lstStyle/>
            <a:p>
              <a:r>
                <a:rPr lang="en-US" b="0" i="0" u="none" strike="noStrike" baseline="0" dirty="0">
                  <a:latin typeface="NewBaskervilleStd-Roman"/>
                </a:rPr>
                <a:t>1 km = 1000 m </a:t>
              </a:r>
              <a:endParaRPr lang="en-US" dirty="0"/>
            </a:p>
          </p:txBody>
        </p:sp>
        <mc:AlternateContent xmlns:mc="http://schemas.openxmlformats.org/markup-compatibility/2006" xmlns:a14="http://schemas.microsoft.com/office/drawing/2010/main">
          <mc:Choice Requires="a14">
            <p:sp>
              <p:nvSpPr>
                <p:cNvPr id="9" name="Rectangle 8">
                  <a:extLst>
                    <a:ext uri="{FF2B5EF4-FFF2-40B4-BE49-F238E27FC236}">
                      <a16:creationId xmlns:a16="http://schemas.microsoft.com/office/drawing/2014/main" id="{62DF9DA3-ACB2-0B42-9C6C-FBB5FBCB2CCE}"/>
                    </a:ext>
                  </a:extLst>
                </p:cNvPr>
                <p:cNvSpPr/>
                <p:nvPr/>
              </p:nvSpPr>
              <p:spPr>
                <a:xfrm>
                  <a:off x="736205" y="5736084"/>
                  <a:ext cx="2651623" cy="369332"/>
                </a:xfrm>
                <a:prstGeom prst="rect">
                  <a:avLst/>
                </a:prstGeom>
              </p:spPr>
              <p:txBody>
                <a:bodyPr wrap="none">
                  <a:spAutoFit/>
                </a:bodyPr>
                <a:lstStyle/>
                <a:p>
                  <a:r>
                    <a:rPr lang="en-US" b="0" i="0" u="none" strike="noStrike" baseline="0" dirty="0">
                      <a:latin typeface="NewBaskervilleStd-Roman"/>
                    </a:rPr>
                    <a:t>1 mm = </a:t>
                  </a:r>
                  <a14:m>
                    <m:oMath xmlns:m="http://schemas.openxmlformats.org/officeDocument/2006/math">
                      <m:sSup>
                        <m:sSupPr>
                          <m:ctrlPr>
                            <a:rPr lang="en-US" b="0" i="1" u="none" strike="noStrike" baseline="0" smtClean="0">
                              <a:latin typeface="Cambria Math" panose="02040503050406030204" pitchFamily="18" charset="0"/>
                            </a:rPr>
                          </m:ctrlPr>
                        </m:sSupPr>
                        <m:e>
                          <m:r>
                            <a:rPr lang="en-US" b="0" i="1" u="none" strike="noStrike" baseline="0" smtClean="0">
                              <a:latin typeface="Cambria Math" panose="02040503050406030204" pitchFamily="18" charset="0"/>
                            </a:rPr>
                            <m:t>10</m:t>
                          </m:r>
                        </m:e>
                        <m:sup>
                          <m:r>
                            <a:rPr lang="en-US" b="0" i="1" u="none" strike="noStrike" baseline="0" smtClean="0">
                              <a:latin typeface="Cambria Math" panose="02040503050406030204" pitchFamily="18" charset="0"/>
                            </a:rPr>
                            <m:t>−3</m:t>
                          </m:r>
                        </m:sup>
                      </m:sSup>
                    </m:oMath>
                  </a14:m>
                  <a:r>
                    <a:rPr lang="en-US" b="0" i="0" u="none" strike="noStrike" baseline="0" dirty="0">
                      <a:latin typeface="NewBaskervilleStd-Roman"/>
                    </a:rPr>
                    <a:t> m = 0.001m </a:t>
                  </a:r>
                  <a:endParaRPr lang="en-US" dirty="0"/>
                </a:p>
              </p:txBody>
            </p:sp>
          </mc:Choice>
          <mc:Fallback xmlns="">
            <p:sp>
              <p:nvSpPr>
                <p:cNvPr id="9" name="Rectangle 8">
                  <a:extLst>
                    <a:ext uri="{FF2B5EF4-FFF2-40B4-BE49-F238E27FC236}">
                      <a16:creationId xmlns:a16="http://schemas.microsoft.com/office/drawing/2014/main" id="{62DF9DA3-ACB2-0B42-9C6C-FBB5FBCB2CCE}"/>
                    </a:ext>
                  </a:extLst>
                </p:cNvPr>
                <p:cNvSpPr>
                  <a:spLocks noRot="1" noChangeAspect="1" noMove="1" noResize="1" noEditPoints="1" noAdjustHandles="1" noChangeArrowheads="1" noChangeShapeType="1" noTextEdit="1"/>
                </p:cNvSpPr>
                <p:nvPr/>
              </p:nvSpPr>
              <p:spPr>
                <a:xfrm>
                  <a:off x="736205" y="5736084"/>
                  <a:ext cx="2651623" cy="369332"/>
                </a:xfrm>
                <a:prstGeom prst="rect">
                  <a:avLst/>
                </a:prstGeom>
                <a:blipFill>
                  <a:blip r:embed="rId4"/>
                  <a:stretch>
                    <a:fillRect l="-1905" t="-3226" r="-952" b="-22581"/>
                  </a:stretch>
                </a:blipFill>
              </p:spPr>
              <p:txBody>
                <a:bodyPr/>
                <a:lstStyle/>
                <a:p>
                  <a:r>
                    <a:rPr lang="en-US">
                      <a:noFill/>
                    </a:rPr>
                    <a:t> </a:t>
                  </a:r>
                </a:p>
              </p:txBody>
            </p:sp>
          </mc:Fallback>
        </mc:AlternateContent>
        <p:sp>
          <p:nvSpPr>
            <p:cNvPr id="10" name="Rectangle 9">
              <a:extLst>
                <a:ext uri="{FF2B5EF4-FFF2-40B4-BE49-F238E27FC236}">
                  <a16:creationId xmlns:a16="http://schemas.microsoft.com/office/drawing/2014/main" id="{403E9388-D06F-0F4A-9748-54CF5C647BAE}"/>
                </a:ext>
              </a:extLst>
            </p:cNvPr>
            <p:cNvSpPr/>
            <p:nvPr/>
          </p:nvSpPr>
          <p:spPr>
            <a:xfrm>
              <a:off x="551334" y="4883413"/>
              <a:ext cx="1261884" cy="369332"/>
            </a:xfrm>
            <a:prstGeom prst="rect">
              <a:avLst/>
            </a:prstGeom>
          </p:spPr>
          <p:txBody>
            <a:bodyPr wrap="none">
              <a:spAutoFit/>
            </a:bodyPr>
            <a:lstStyle/>
            <a:p>
              <a:r>
                <a:rPr lang="en-US" dirty="0">
                  <a:latin typeface="NewBaskervilleStd-Roman"/>
                </a:rPr>
                <a:t>E</a:t>
              </a:r>
              <a:r>
                <a:rPr lang="en-US" b="0" i="0" u="none" strike="noStrike" baseline="0" dirty="0">
                  <a:latin typeface="NewBaskervilleStd-Roman"/>
                </a:rPr>
                <a:t>xamples:</a:t>
              </a:r>
              <a:endParaRPr lang="en-US" dirty="0"/>
            </a:p>
          </p:txBody>
        </p:sp>
      </p:grpSp>
    </p:spTree>
    <p:extLst>
      <p:ext uri="{BB962C8B-B14F-4D97-AF65-F5344CB8AC3E}">
        <p14:creationId xmlns:p14="http://schemas.microsoft.com/office/powerpoint/2010/main" val="89465100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L:\Clients\Connexions\01_CNX_ Admin\00_OSC_Project_Resources\14_OSC_Production\PowerPoints\OSX-Stacked-TM-CMYK-300dp1-2016.jpg">
            <a:extLst>
              <a:ext uri="{FF2B5EF4-FFF2-40B4-BE49-F238E27FC236}">
                <a16:creationId xmlns:a16="http://schemas.microsoft.com/office/drawing/2014/main" id="{C34C680B-ED90-5348-80E8-759D74A0E791}"/>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9A2BBE35-7140-3549-A9B9-FA377132696E}"/>
              </a:ext>
            </a:extLst>
          </p:cNvPr>
          <p:cNvSpPr/>
          <p:nvPr/>
        </p:nvSpPr>
        <p:spPr>
          <a:xfrm>
            <a:off x="4007454" y="89044"/>
            <a:ext cx="3591876" cy="523220"/>
          </a:xfrm>
          <a:prstGeom prst="rect">
            <a:avLst/>
          </a:prstGeom>
        </p:spPr>
        <p:txBody>
          <a:bodyPr wrap="square">
            <a:spAutoFit/>
          </a:bodyPr>
          <a:lstStyle/>
          <a:p>
            <a:r>
              <a:rPr lang="en-US" sz="2800" dirty="0">
                <a:solidFill>
                  <a:srgbClr val="C00000"/>
                </a:solidFill>
                <a:latin typeface="NewBaskervilleStd-Roman"/>
              </a:rPr>
              <a:t>Unit Conversion </a:t>
            </a:r>
          </a:p>
        </p:txBody>
      </p:sp>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31E9B880-2A23-3D43-8A9E-B18C575151F6}"/>
                  </a:ext>
                </a:extLst>
              </p:cNvPr>
              <p:cNvSpPr/>
              <p:nvPr/>
            </p:nvSpPr>
            <p:spPr>
              <a:xfrm>
                <a:off x="411373" y="716932"/>
                <a:ext cx="10890611" cy="1107996"/>
              </a:xfrm>
              <a:prstGeom prst="rect">
                <a:avLst/>
              </a:prstGeom>
            </p:spPr>
            <p:txBody>
              <a:bodyPr wrap="square">
                <a:spAutoFit/>
              </a:bodyPr>
              <a:lstStyle/>
              <a:p>
                <a:r>
                  <a:rPr lang="en-US" sz="2200" dirty="0"/>
                  <a:t>It is often necessary to convert from one unit to another.</a:t>
                </a:r>
              </a:p>
              <a:p>
                <a:r>
                  <a:rPr lang="en-US" sz="2200" dirty="0"/>
                  <a:t>In that case, we need </a:t>
                </a:r>
                <a:r>
                  <a:rPr lang="en-US" sz="2200" dirty="0">
                    <a:solidFill>
                      <a:srgbClr val="C00000"/>
                    </a:solidFill>
                  </a:rPr>
                  <a:t>conversion factor</a:t>
                </a:r>
                <a:r>
                  <a:rPr lang="en-US" sz="2200" dirty="0"/>
                  <a:t>, which is a ratio that expresses how many of one unit are equal to another unit, for example </a:t>
                </a:r>
                <a14:m>
                  <m:oMath xmlns:m="http://schemas.openxmlformats.org/officeDocument/2006/math">
                    <m:r>
                      <a:rPr lang="en-US" sz="2200" i="1" dirty="0" smtClean="0">
                        <a:latin typeface="Cambria Math" panose="02040503050406030204" pitchFamily="18" charset="0"/>
                      </a:rPr>
                      <m:t>1</m:t>
                    </m:r>
                    <m:r>
                      <a:rPr lang="en-US" sz="2200" i="1" dirty="0" smtClean="0">
                        <a:latin typeface="Cambria Math" panose="02040503050406030204" pitchFamily="18" charset="0"/>
                      </a:rPr>
                      <m:t>𝑘𝑚</m:t>
                    </m:r>
                    <m:r>
                      <a:rPr lang="en-US" sz="2200" i="1" dirty="0" smtClean="0">
                        <a:latin typeface="Cambria Math" panose="02040503050406030204" pitchFamily="18" charset="0"/>
                      </a:rPr>
                      <m:t>=</m:t>
                    </m:r>
                    <m:r>
                      <a:rPr lang="en-US" sz="2200" i="1" dirty="0" smtClean="0">
                        <a:latin typeface="Cambria Math" panose="02040503050406030204" pitchFamily="18" charset="0"/>
                      </a:rPr>
                      <m:t>1000</m:t>
                    </m:r>
                    <m:r>
                      <a:rPr lang="en-US" sz="2200" i="1" dirty="0" smtClean="0">
                        <a:latin typeface="Cambria Math" panose="02040503050406030204" pitchFamily="18" charset="0"/>
                      </a:rPr>
                      <m:t>𝑚</m:t>
                    </m:r>
                    <m:r>
                      <a:rPr lang="en-US" sz="2200" i="1" dirty="0" smtClean="0">
                        <a:latin typeface="Cambria Math" panose="02040503050406030204" pitchFamily="18" charset="0"/>
                      </a:rPr>
                      <m:t>,  </m:t>
                    </m:r>
                    <m:r>
                      <a:rPr lang="en-US" sz="2200" i="1" dirty="0" smtClean="0">
                        <a:latin typeface="Cambria Math" panose="02040503050406030204" pitchFamily="18" charset="0"/>
                      </a:rPr>
                      <m:t>1</m:t>
                    </m:r>
                    <m:r>
                      <a:rPr lang="en-US" sz="2200" i="1" dirty="0" smtClean="0">
                        <a:latin typeface="Cambria Math" panose="02040503050406030204" pitchFamily="18" charset="0"/>
                      </a:rPr>
                      <m:t>𝑚𝑖𝑙𝑒</m:t>
                    </m:r>
                    <m:r>
                      <a:rPr lang="en-US" sz="2200" i="1" dirty="0" smtClean="0">
                        <a:latin typeface="Cambria Math" panose="02040503050406030204" pitchFamily="18" charset="0"/>
                      </a:rPr>
                      <m:t>=</m:t>
                    </m:r>
                    <m:r>
                      <a:rPr lang="en-US" sz="2200" i="1" dirty="0" smtClean="0">
                        <a:latin typeface="Cambria Math" panose="02040503050406030204" pitchFamily="18" charset="0"/>
                      </a:rPr>
                      <m:t>1609</m:t>
                    </m:r>
                    <m:r>
                      <a:rPr lang="en-US" sz="2200" i="1" dirty="0" smtClean="0">
                        <a:latin typeface="Cambria Math" panose="02040503050406030204" pitchFamily="18" charset="0"/>
                      </a:rPr>
                      <m:t>𝑚</m:t>
                    </m:r>
                    <m:r>
                      <a:rPr lang="en-US" sz="2200" b="0" i="1" dirty="0" smtClean="0">
                        <a:latin typeface="Cambria Math" panose="02040503050406030204" pitchFamily="18" charset="0"/>
                      </a:rPr>
                      <m:t>,  </m:t>
                    </m:r>
                    <m:r>
                      <a:rPr lang="en-US" sz="2200" b="0" i="1" dirty="0" smtClean="0">
                        <a:latin typeface="Cambria Math" panose="02040503050406030204" pitchFamily="18" charset="0"/>
                      </a:rPr>
                      <m:t>1</m:t>
                    </m:r>
                    <m:r>
                      <a:rPr lang="en-US" sz="2200" b="0" i="1" dirty="0" smtClean="0">
                        <a:latin typeface="Cambria Math" panose="02040503050406030204" pitchFamily="18" charset="0"/>
                      </a:rPr>
                      <m:t> </m:t>
                    </m:r>
                    <m:r>
                      <a:rPr lang="en-US" sz="2200" b="0" i="1" dirty="0" smtClean="0">
                        <a:latin typeface="Cambria Math" panose="02040503050406030204" pitchFamily="18" charset="0"/>
                      </a:rPr>
                      <m:t>h</m:t>
                    </m:r>
                    <m:r>
                      <a:rPr lang="en-US" sz="2200" b="0" i="1" dirty="0" smtClean="0">
                        <a:latin typeface="Cambria Math" panose="02040503050406030204" pitchFamily="18" charset="0"/>
                      </a:rPr>
                      <m:t>𝑟</m:t>
                    </m:r>
                    <m:r>
                      <a:rPr lang="en-US" sz="2200" b="0" i="1" dirty="0" smtClean="0">
                        <a:latin typeface="Cambria Math" panose="02040503050406030204" pitchFamily="18" charset="0"/>
                      </a:rPr>
                      <m:t>=</m:t>
                    </m:r>
                    <m:r>
                      <a:rPr lang="en-US" sz="2200" b="0" i="1" dirty="0" smtClean="0">
                        <a:latin typeface="Cambria Math" panose="02040503050406030204" pitchFamily="18" charset="0"/>
                      </a:rPr>
                      <m:t>3600</m:t>
                    </m:r>
                    <m:r>
                      <a:rPr lang="en-US" sz="2200" b="0" i="1" dirty="0" smtClean="0">
                        <a:latin typeface="Cambria Math" panose="02040503050406030204" pitchFamily="18" charset="0"/>
                      </a:rPr>
                      <m:t> </m:t>
                    </m:r>
                    <m:r>
                      <a:rPr lang="en-US" sz="2200" b="0" i="1" dirty="0" smtClean="0">
                        <a:latin typeface="Cambria Math" panose="02040503050406030204" pitchFamily="18" charset="0"/>
                      </a:rPr>
                      <m:t>𝑠</m:t>
                    </m:r>
                    <m:r>
                      <a:rPr lang="en-US" sz="2200" i="1" dirty="0" smtClean="0">
                        <a:latin typeface="Cambria Math" panose="02040503050406030204" pitchFamily="18" charset="0"/>
                      </a:rPr>
                      <m:t> </m:t>
                    </m:r>
                  </m:oMath>
                </a14:m>
                <a:r>
                  <a:rPr lang="en-US" sz="2200" dirty="0"/>
                  <a:t>etc. </a:t>
                </a:r>
              </a:p>
            </p:txBody>
          </p:sp>
        </mc:Choice>
        <mc:Fallback xmlns="">
          <p:sp>
            <p:nvSpPr>
              <p:cNvPr id="4" name="Rectangle 3">
                <a:extLst>
                  <a:ext uri="{FF2B5EF4-FFF2-40B4-BE49-F238E27FC236}">
                    <a16:creationId xmlns:a16="http://schemas.microsoft.com/office/drawing/2014/main" id="{31E9B880-2A23-3D43-8A9E-B18C575151F6}"/>
                  </a:ext>
                </a:extLst>
              </p:cNvPr>
              <p:cNvSpPr>
                <a:spLocks noRot="1" noChangeAspect="1" noMove="1" noResize="1" noEditPoints="1" noAdjustHandles="1" noChangeArrowheads="1" noChangeShapeType="1" noTextEdit="1"/>
              </p:cNvSpPr>
              <p:nvPr/>
            </p:nvSpPr>
            <p:spPr>
              <a:xfrm>
                <a:off x="411373" y="716932"/>
                <a:ext cx="10890611" cy="1107996"/>
              </a:xfrm>
              <a:prstGeom prst="rect">
                <a:avLst/>
              </a:prstGeom>
              <a:blipFill>
                <a:blip r:embed="rId3"/>
                <a:stretch>
                  <a:fillRect l="-699" t="-3409" r="-1282" b="-1022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id="{EE4AF211-3784-4046-B931-F7FB7C5F6CE8}"/>
                  </a:ext>
                </a:extLst>
              </p:cNvPr>
              <p:cNvSpPr/>
              <p:nvPr/>
            </p:nvSpPr>
            <p:spPr>
              <a:xfrm>
                <a:off x="1060814" y="2083484"/>
                <a:ext cx="3554948" cy="2462213"/>
              </a:xfrm>
              <a:prstGeom prst="rect">
                <a:avLst/>
              </a:prstGeom>
            </p:spPr>
            <p:txBody>
              <a:bodyPr wrap="none">
                <a:spAutoFit/>
              </a:bodyPr>
              <a:lstStyle/>
              <a:p>
                <a:r>
                  <a:rPr lang="en-US" sz="2200" dirty="0">
                    <a:solidFill>
                      <a:srgbClr val="008000"/>
                    </a:solidFill>
                  </a:rPr>
                  <a:t>Example: </a:t>
                </a:r>
                <a:r>
                  <a:rPr lang="en-US" sz="2200" dirty="0"/>
                  <a:t>Convert 80 m to km</a:t>
                </a:r>
              </a:p>
              <a:p>
                <a:endParaRPr lang="en-US" sz="2200" dirty="0"/>
              </a:p>
              <a:p>
                <a:endParaRPr lang="en-US" sz="2200" dirty="0"/>
              </a:p>
              <a:p>
                <a:endParaRPr lang="en-US" sz="2200" dirty="0"/>
              </a:p>
              <a:p>
                <a:endParaRPr lang="en-US" sz="2200" dirty="0"/>
              </a:p>
              <a:p>
                <a:endParaRPr lang="en-US" sz="2200" dirty="0"/>
              </a:p>
              <a:p>
                <a:r>
                  <a:rPr lang="en-US" sz="2200" dirty="0"/>
                  <a:t>Convert </a:t>
                </a:r>
                <a14:m>
                  <m:oMath xmlns:m="http://schemas.openxmlformats.org/officeDocument/2006/math">
                    <m:r>
                      <a:rPr lang="en-US" sz="2200" i="1" dirty="0" smtClean="0">
                        <a:latin typeface="Cambria Math" panose="02040503050406030204" pitchFamily="18" charset="0"/>
                      </a:rPr>
                      <m:t>15</m:t>
                    </m:r>
                    <m:r>
                      <a:rPr lang="en-US" sz="2200" i="1" dirty="0">
                        <a:latin typeface="Cambria Math" panose="02040503050406030204" pitchFamily="18" charset="0"/>
                      </a:rPr>
                      <m:t> </m:t>
                    </m:r>
                    <m:r>
                      <a:rPr lang="en-US" sz="2200" i="1" dirty="0" smtClean="0">
                        <a:latin typeface="Cambria Math" panose="02040503050406030204" pitchFamily="18" charset="0"/>
                      </a:rPr>
                      <m:t>𝑚</m:t>
                    </m:r>
                    <m:r>
                      <a:rPr lang="en-US" sz="2200" i="1" dirty="0" smtClean="0">
                        <a:latin typeface="Cambria Math" panose="02040503050406030204" pitchFamily="18" charset="0"/>
                      </a:rPr>
                      <m:t>/</m:t>
                    </m:r>
                    <m:r>
                      <a:rPr lang="en-US" sz="2200" i="1" dirty="0" smtClean="0">
                        <a:latin typeface="Cambria Math" panose="02040503050406030204" pitchFamily="18" charset="0"/>
                      </a:rPr>
                      <m:t>𝑠</m:t>
                    </m:r>
                    <m:r>
                      <a:rPr lang="en-US" sz="2200" i="1" dirty="0">
                        <a:latin typeface="Cambria Math" panose="02040503050406030204" pitchFamily="18" charset="0"/>
                      </a:rPr>
                      <m:t> </m:t>
                    </m:r>
                    <m:r>
                      <a:rPr lang="en-US" sz="2200" i="1" dirty="0" smtClean="0">
                        <a:latin typeface="Cambria Math" panose="02040503050406030204" pitchFamily="18" charset="0"/>
                      </a:rPr>
                      <m:t>𝑡𝑜</m:t>
                    </m:r>
                    <m:r>
                      <a:rPr lang="en-US" sz="2200" i="1" dirty="0">
                        <a:latin typeface="Cambria Math" panose="02040503050406030204" pitchFamily="18" charset="0"/>
                      </a:rPr>
                      <m:t> </m:t>
                    </m:r>
                    <m:r>
                      <a:rPr lang="en-US" sz="2200" i="1" dirty="0" smtClean="0">
                        <a:latin typeface="Cambria Math" panose="02040503050406030204" pitchFamily="18" charset="0"/>
                      </a:rPr>
                      <m:t>𝑚𝑖</m:t>
                    </m:r>
                    <m:r>
                      <a:rPr lang="en-US" sz="2200" i="1" dirty="0" smtClean="0">
                        <a:latin typeface="Cambria Math" panose="02040503050406030204" pitchFamily="18" charset="0"/>
                      </a:rPr>
                      <m:t>/</m:t>
                    </m:r>
                    <m:r>
                      <a:rPr lang="en-US" sz="2200" i="1" dirty="0" err="1" smtClean="0">
                        <a:latin typeface="Cambria Math" panose="02040503050406030204" pitchFamily="18" charset="0"/>
                      </a:rPr>
                      <m:t>h</m:t>
                    </m:r>
                    <m:r>
                      <a:rPr lang="en-US" sz="2200" i="1" dirty="0" err="1">
                        <a:latin typeface="Cambria Math" panose="02040503050406030204" pitchFamily="18" charset="0"/>
                      </a:rPr>
                      <m:t>𝑟</m:t>
                    </m:r>
                  </m:oMath>
                </a14:m>
                <a:endParaRPr lang="en-US" sz="2200" dirty="0"/>
              </a:p>
            </p:txBody>
          </p:sp>
        </mc:Choice>
        <mc:Fallback xmlns="">
          <p:sp>
            <p:nvSpPr>
              <p:cNvPr id="5" name="Rectangle 4">
                <a:extLst>
                  <a:ext uri="{FF2B5EF4-FFF2-40B4-BE49-F238E27FC236}">
                    <a16:creationId xmlns:a16="http://schemas.microsoft.com/office/drawing/2014/main" id="{EE4AF211-3784-4046-B931-F7FB7C5F6CE8}"/>
                  </a:ext>
                </a:extLst>
              </p:cNvPr>
              <p:cNvSpPr>
                <a:spLocks noRot="1" noChangeAspect="1" noMove="1" noResize="1" noEditPoints="1" noAdjustHandles="1" noChangeArrowheads="1" noChangeShapeType="1" noTextEdit="1"/>
              </p:cNvSpPr>
              <p:nvPr/>
            </p:nvSpPr>
            <p:spPr>
              <a:xfrm>
                <a:off x="1060814" y="2083484"/>
                <a:ext cx="3554948" cy="2462213"/>
              </a:xfrm>
              <a:prstGeom prst="rect">
                <a:avLst/>
              </a:prstGeom>
              <a:blipFill>
                <a:blip r:embed="rId4"/>
                <a:stretch>
                  <a:fillRect l="-2135" t="-2051" r="-1068" b="-3590"/>
                </a:stretch>
              </a:blipFill>
            </p:spPr>
            <p:txBody>
              <a:bodyPr/>
              <a:lstStyle/>
              <a:p>
                <a:r>
                  <a:rPr lang="en-US">
                    <a:noFill/>
                  </a:rPr>
                  <a:t> </a:t>
                </a:r>
              </a:p>
            </p:txBody>
          </p:sp>
        </mc:Fallback>
      </mc:AlternateContent>
      <p:pic>
        <p:nvPicPr>
          <p:cNvPr id="9" name="Picture 8" descr="Text&#10;&#10;Description automatically generated with medium confidence">
            <a:extLst>
              <a:ext uri="{FF2B5EF4-FFF2-40B4-BE49-F238E27FC236}">
                <a16:creationId xmlns:a16="http://schemas.microsoft.com/office/drawing/2014/main" id="{F8BDEDF0-BE0F-6041-9DB3-A5D66FA0919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404290" y="2718053"/>
            <a:ext cx="4171950" cy="914400"/>
          </a:xfrm>
          <a:prstGeom prst="rect">
            <a:avLst/>
          </a:prstGeom>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269212C7-1623-6148-A628-155BCB5B03CD}"/>
                  </a:ext>
                </a:extLst>
              </p:cNvPr>
              <p:cNvSpPr txBox="1"/>
              <p:nvPr/>
            </p:nvSpPr>
            <p:spPr>
              <a:xfrm>
                <a:off x="3219714" y="4618849"/>
                <a:ext cx="4954433" cy="64293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200" b="0" i="1" smtClean="0">
                          <a:latin typeface="Cambria Math" panose="02040503050406030204" pitchFamily="18" charset="0"/>
                        </a:rPr>
                        <m:t>15</m:t>
                      </m:r>
                      <m:f>
                        <m:fPr>
                          <m:ctrlPr>
                            <a:rPr lang="en-US" sz="2200" b="0" i="1" smtClean="0">
                              <a:latin typeface="Cambria Math" panose="02040503050406030204" pitchFamily="18" charset="0"/>
                            </a:rPr>
                          </m:ctrlPr>
                        </m:fPr>
                        <m:num>
                          <m:r>
                            <a:rPr lang="en-US" sz="2200" b="0" i="1" strike="sngStrike" smtClean="0">
                              <a:latin typeface="Cambria Math" panose="02040503050406030204" pitchFamily="18" charset="0"/>
                            </a:rPr>
                            <m:t>𝑚</m:t>
                          </m:r>
                        </m:num>
                        <m:den>
                          <m:r>
                            <a:rPr lang="en-US" sz="2200" b="0" i="1" strike="sngStrike" smtClean="0">
                              <a:latin typeface="Cambria Math" panose="02040503050406030204" pitchFamily="18" charset="0"/>
                            </a:rPr>
                            <m:t>𝑠</m:t>
                          </m:r>
                        </m:den>
                      </m:f>
                      <m:r>
                        <a:rPr lang="en-US" sz="2200" b="0" i="1" smtClean="0">
                          <a:latin typeface="Cambria Math" panose="02040503050406030204" pitchFamily="18" charset="0"/>
                          <a:ea typeface="Cambria Math" panose="02040503050406030204" pitchFamily="18" charset="0"/>
                        </a:rPr>
                        <m:t>×</m:t>
                      </m:r>
                      <m:f>
                        <m:fPr>
                          <m:ctrlPr>
                            <a:rPr lang="en-US" sz="2200" b="0" i="1" smtClean="0">
                              <a:latin typeface="Cambria Math" panose="02040503050406030204" pitchFamily="18" charset="0"/>
                              <a:ea typeface="Cambria Math" panose="02040503050406030204" pitchFamily="18" charset="0"/>
                            </a:rPr>
                          </m:ctrlPr>
                        </m:fPr>
                        <m:num>
                          <m:r>
                            <a:rPr lang="en-US" sz="2200" b="0" i="1" smtClean="0">
                              <a:latin typeface="Cambria Math" panose="02040503050406030204" pitchFamily="18" charset="0"/>
                              <a:ea typeface="Cambria Math" panose="02040503050406030204" pitchFamily="18" charset="0"/>
                            </a:rPr>
                            <m:t>1</m:t>
                          </m:r>
                          <m:r>
                            <a:rPr lang="en-US" sz="2200" b="0" i="1" smtClean="0">
                              <a:latin typeface="Cambria Math" panose="02040503050406030204" pitchFamily="18" charset="0"/>
                              <a:ea typeface="Cambria Math" panose="02040503050406030204" pitchFamily="18" charset="0"/>
                            </a:rPr>
                            <m:t> </m:t>
                          </m:r>
                          <m:r>
                            <a:rPr lang="en-US" sz="2200" b="0" i="1" smtClean="0">
                              <a:latin typeface="Cambria Math" panose="02040503050406030204" pitchFamily="18" charset="0"/>
                              <a:ea typeface="Cambria Math" panose="02040503050406030204" pitchFamily="18" charset="0"/>
                            </a:rPr>
                            <m:t>𝑚𝑖𝑙𝑒</m:t>
                          </m:r>
                        </m:num>
                        <m:den>
                          <m:r>
                            <a:rPr lang="en-US" sz="2200" b="0" i="1" smtClean="0">
                              <a:latin typeface="Cambria Math" panose="02040503050406030204" pitchFamily="18" charset="0"/>
                              <a:ea typeface="Cambria Math" panose="02040503050406030204" pitchFamily="18" charset="0"/>
                            </a:rPr>
                            <m:t>1609</m:t>
                          </m:r>
                          <m:r>
                            <a:rPr lang="en-US" sz="2200" b="0" i="1" smtClean="0">
                              <a:latin typeface="Cambria Math" panose="02040503050406030204" pitchFamily="18" charset="0"/>
                              <a:ea typeface="Cambria Math" panose="02040503050406030204" pitchFamily="18" charset="0"/>
                            </a:rPr>
                            <m:t> </m:t>
                          </m:r>
                          <m:r>
                            <a:rPr lang="en-US" sz="2200" b="0" i="1" strike="sngStrike" smtClean="0">
                              <a:latin typeface="Cambria Math" panose="02040503050406030204" pitchFamily="18" charset="0"/>
                              <a:ea typeface="Cambria Math" panose="02040503050406030204" pitchFamily="18" charset="0"/>
                            </a:rPr>
                            <m:t>𝑚</m:t>
                          </m:r>
                        </m:den>
                      </m:f>
                      <m:r>
                        <a:rPr lang="en-US" sz="2200" b="0" i="1" smtClean="0">
                          <a:latin typeface="Cambria Math" panose="02040503050406030204" pitchFamily="18" charset="0"/>
                          <a:ea typeface="Cambria Math" panose="02040503050406030204" pitchFamily="18" charset="0"/>
                        </a:rPr>
                        <m:t>×</m:t>
                      </m:r>
                      <m:f>
                        <m:fPr>
                          <m:ctrlPr>
                            <a:rPr lang="en-US" sz="2200" b="0" i="1" smtClean="0">
                              <a:latin typeface="Cambria Math" panose="02040503050406030204" pitchFamily="18" charset="0"/>
                              <a:ea typeface="Cambria Math" panose="02040503050406030204" pitchFamily="18" charset="0"/>
                            </a:rPr>
                          </m:ctrlPr>
                        </m:fPr>
                        <m:num>
                          <m:r>
                            <a:rPr lang="en-US" sz="2200" b="0" i="1" smtClean="0">
                              <a:latin typeface="Cambria Math" panose="02040503050406030204" pitchFamily="18" charset="0"/>
                              <a:ea typeface="Cambria Math" panose="02040503050406030204" pitchFamily="18" charset="0"/>
                            </a:rPr>
                            <m:t>3600</m:t>
                          </m:r>
                          <m:r>
                            <a:rPr lang="en-US" sz="2200" b="0" i="1" smtClean="0">
                              <a:latin typeface="Cambria Math" panose="02040503050406030204" pitchFamily="18" charset="0"/>
                              <a:ea typeface="Cambria Math" panose="02040503050406030204" pitchFamily="18" charset="0"/>
                            </a:rPr>
                            <m:t> </m:t>
                          </m:r>
                          <m:r>
                            <a:rPr lang="en-US" sz="2200" b="0" i="1" strike="sngStrike" smtClean="0">
                              <a:latin typeface="Cambria Math" panose="02040503050406030204" pitchFamily="18" charset="0"/>
                              <a:ea typeface="Cambria Math" panose="02040503050406030204" pitchFamily="18" charset="0"/>
                            </a:rPr>
                            <m:t>𝑠</m:t>
                          </m:r>
                        </m:num>
                        <m:den>
                          <m:r>
                            <a:rPr lang="en-US" sz="2200" b="0" i="1" smtClean="0">
                              <a:latin typeface="Cambria Math" panose="02040503050406030204" pitchFamily="18" charset="0"/>
                              <a:ea typeface="Cambria Math" panose="02040503050406030204" pitchFamily="18" charset="0"/>
                            </a:rPr>
                            <m:t>1</m:t>
                          </m:r>
                          <m:r>
                            <a:rPr lang="en-US" sz="2200" b="0" i="1" smtClean="0">
                              <a:latin typeface="Cambria Math" panose="02040503050406030204" pitchFamily="18" charset="0"/>
                              <a:ea typeface="Cambria Math" panose="02040503050406030204" pitchFamily="18" charset="0"/>
                            </a:rPr>
                            <m:t> </m:t>
                          </m:r>
                          <m:r>
                            <a:rPr lang="en-US" sz="2200" b="0" i="1" smtClean="0">
                              <a:latin typeface="Cambria Math" panose="02040503050406030204" pitchFamily="18" charset="0"/>
                              <a:ea typeface="Cambria Math" panose="02040503050406030204" pitchFamily="18" charset="0"/>
                            </a:rPr>
                            <m:t>h</m:t>
                          </m:r>
                          <m:r>
                            <a:rPr lang="en-US" sz="2200" b="0" i="1" smtClean="0">
                              <a:latin typeface="Cambria Math" panose="02040503050406030204" pitchFamily="18" charset="0"/>
                              <a:ea typeface="Cambria Math" panose="02040503050406030204" pitchFamily="18" charset="0"/>
                            </a:rPr>
                            <m:t>𝑟</m:t>
                          </m:r>
                        </m:den>
                      </m:f>
                      <m:r>
                        <a:rPr lang="en-US" sz="2200" b="0" i="1" smtClean="0">
                          <a:latin typeface="Cambria Math" panose="02040503050406030204" pitchFamily="18" charset="0"/>
                          <a:ea typeface="Cambria Math" panose="02040503050406030204" pitchFamily="18" charset="0"/>
                        </a:rPr>
                        <m:t>=</m:t>
                      </m:r>
                      <m:r>
                        <a:rPr lang="en-US" sz="2200" b="0" i="1" smtClean="0">
                          <a:latin typeface="Cambria Math" panose="02040503050406030204" pitchFamily="18" charset="0"/>
                          <a:ea typeface="Cambria Math" panose="02040503050406030204" pitchFamily="18" charset="0"/>
                        </a:rPr>
                        <m:t>33</m:t>
                      </m:r>
                      <m:r>
                        <a:rPr lang="en-US" sz="2200" b="0" i="1" smtClean="0">
                          <a:latin typeface="Cambria Math" panose="02040503050406030204" pitchFamily="18" charset="0"/>
                          <a:ea typeface="Cambria Math" panose="02040503050406030204" pitchFamily="18" charset="0"/>
                        </a:rPr>
                        <m:t>.</m:t>
                      </m:r>
                      <m:r>
                        <a:rPr lang="en-US" sz="2200" b="0" i="1" smtClean="0">
                          <a:latin typeface="Cambria Math" panose="02040503050406030204" pitchFamily="18" charset="0"/>
                          <a:ea typeface="Cambria Math" panose="02040503050406030204" pitchFamily="18" charset="0"/>
                        </a:rPr>
                        <m:t>6</m:t>
                      </m:r>
                      <m:r>
                        <a:rPr lang="en-US" sz="2200" b="0" i="1" smtClean="0">
                          <a:latin typeface="Cambria Math" panose="02040503050406030204" pitchFamily="18" charset="0"/>
                          <a:ea typeface="Cambria Math" panose="02040503050406030204" pitchFamily="18" charset="0"/>
                        </a:rPr>
                        <m:t> </m:t>
                      </m:r>
                      <m:r>
                        <a:rPr lang="en-US" sz="2200" b="0" i="1" smtClean="0">
                          <a:latin typeface="Cambria Math" panose="02040503050406030204" pitchFamily="18" charset="0"/>
                          <a:ea typeface="Cambria Math" panose="02040503050406030204" pitchFamily="18" charset="0"/>
                        </a:rPr>
                        <m:t>𝑚𝑖𝑙𝑒</m:t>
                      </m:r>
                      <m:r>
                        <a:rPr lang="en-US" sz="2200" b="0" i="1" smtClean="0">
                          <a:latin typeface="Cambria Math" panose="02040503050406030204" pitchFamily="18" charset="0"/>
                          <a:ea typeface="Cambria Math" panose="02040503050406030204" pitchFamily="18" charset="0"/>
                        </a:rPr>
                        <m:t>/</m:t>
                      </m:r>
                      <m:r>
                        <a:rPr lang="en-US" sz="2200" b="0" i="1" smtClean="0">
                          <a:latin typeface="Cambria Math" panose="02040503050406030204" pitchFamily="18" charset="0"/>
                          <a:ea typeface="Cambria Math" panose="02040503050406030204" pitchFamily="18" charset="0"/>
                        </a:rPr>
                        <m:t>h</m:t>
                      </m:r>
                      <m:r>
                        <a:rPr lang="en-US" sz="2200" b="0" i="1" smtClean="0">
                          <a:latin typeface="Cambria Math" panose="02040503050406030204" pitchFamily="18" charset="0"/>
                          <a:ea typeface="Cambria Math" panose="02040503050406030204" pitchFamily="18" charset="0"/>
                        </a:rPr>
                        <m:t>𝑟</m:t>
                      </m:r>
                    </m:oMath>
                  </m:oMathPara>
                </a14:m>
                <a:endParaRPr lang="en-US" sz="2200" dirty="0"/>
              </a:p>
            </p:txBody>
          </p:sp>
        </mc:Choice>
        <mc:Fallback xmlns="">
          <p:sp>
            <p:nvSpPr>
              <p:cNvPr id="10" name="TextBox 9">
                <a:extLst>
                  <a:ext uri="{FF2B5EF4-FFF2-40B4-BE49-F238E27FC236}">
                    <a16:creationId xmlns:a16="http://schemas.microsoft.com/office/drawing/2014/main" id="{269212C7-1623-6148-A628-155BCB5B03CD}"/>
                  </a:ext>
                </a:extLst>
              </p:cNvPr>
              <p:cNvSpPr txBox="1">
                <a:spLocks noRot="1" noChangeAspect="1" noMove="1" noResize="1" noEditPoints="1" noAdjustHandles="1" noChangeArrowheads="1" noChangeShapeType="1" noTextEdit="1"/>
              </p:cNvSpPr>
              <p:nvPr/>
            </p:nvSpPr>
            <p:spPr>
              <a:xfrm>
                <a:off x="3219714" y="4618849"/>
                <a:ext cx="4954433" cy="642933"/>
              </a:xfrm>
              <a:prstGeom prst="rect">
                <a:avLst/>
              </a:prstGeom>
              <a:blipFill>
                <a:blip r:embed="rId6"/>
                <a:stretch>
                  <a:fillRect l="-767" t="-7692" r="-767" b="-28846"/>
                </a:stretch>
              </a:blipFill>
            </p:spPr>
            <p:txBody>
              <a:bodyPr/>
              <a:lstStyle/>
              <a:p>
                <a:r>
                  <a:rPr lang="en-US">
                    <a:noFill/>
                  </a:rPr>
                  <a:t> </a:t>
                </a:r>
              </a:p>
            </p:txBody>
          </p:sp>
        </mc:Fallback>
      </mc:AlternateContent>
      <p:sp>
        <p:nvSpPr>
          <p:cNvPr id="11" name="Rectangle 10">
            <a:extLst>
              <a:ext uri="{FF2B5EF4-FFF2-40B4-BE49-F238E27FC236}">
                <a16:creationId xmlns:a16="http://schemas.microsoft.com/office/drawing/2014/main" id="{6C2CD8FF-2738-C14F-8368-652AA8C71B7C}"/>
              </a:ext>
            </a:extLst>
          </p:cNvPr>
          <p:cNvSpPr/>
          <p:nvPr/>
        </p:nvSpPr>
        <p:spPr>
          <a:xfrm>
            <a:off x="1060814" y="5817291"/>
            <a:ext cx="7639615" cy="430887"/>
          </a:xfrm>
          <a:prstGeom prst="rect">
            <a:avLst/>
          </a:prstGeom>
        </p:spPr>
        <p:txBody>
          <a:bodyPr wrap="square">
            <a:spAutoFit/>
          </a:bodyPr>
          <a:lstStyle/>
          <a:p>
            <a:r>
              <a:rPr lang="en-US" sz="2200" dirty="0">
                <a:solidFill>
                  <a:srgbClr val="0000CC"/>
                </a:solidFill>
              </a:rPr>
              <a:t>Assignment 2: </a:t>
            </a:r>
            <a:r>
              <a:rPr lang="en-US" sz="2200" dirty="0"/>
              <a:t>Convert 65 mi/h to meters/seconds (m/s)</a:t>
            </a:r>
          </a:p>
        </p:txBody>
      </p:sp>
    </p:spTree>
    <p:extLst>
      <p:ext uri="{BB962C8B-B14F-4D97-AF65-F5344CB8AC3E}">
        <p14:creationId xmlns:p14="http://schemas.microsoft.com/office/powerpoint/2010/main" val="416399588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1"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L:\Clients\Connexions\01_CNX_ Admin\00_OSC_Project_Resources\14_OSC_Production\PowerPoints\OSX-Stacked-TM-CMYK-300dp1-2016.jpg">
            <a:extLst>
              <a:ext uri="{FF2B5EF4-FFF2-40B4-BE49-F238E27FC236}">
                <a16:creationId xmlns:a16="http://schemas.microsoft.com/office/drawing/2014/main" id="{C34C680B-ED90-5348-80E8-759D74A0E791}"/>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A6EE371C-6EE9-D244-AE03-05F2E710115F}"/>
              </a:ext>
            </a:extLst>
          </p:cNvPr>
          <p:cNvSpPr/>
          <p:nvPr/>
        </p:nvSpPr>
        <p:spPr>
          <a:xfrm>
            <a:off x="3897726" y="89044"/>
            <a:ext cx="3591876" cy="523220"/>
          </a:xfrm>
          <a:prstGeom prst="rect">
            <a:avLst/>
          </a:prstGeom>
        </p:spPr>
        <p:txBody>
          <a:bodyPr wrap="square">
            <a:spAutoFit/>
          </a:bodyPr>
          <a:lstStyle/>
          <a:p>
            <a:r>
              <a:rPr lang="en-US" sz="2800" dirty="0">
                <a:solidFill>
                  <a:srgbClr val="C00000"/>
                </a:solidFill>
                <a:latin typeface="NewBaskervilleStd-Roman"/>
              </a:rPr>
              <a:t>Dimensional Analysis </a:t>
            </a:r>
          </a:p>
        </p:txBody>
      </p:sp>
      <p:sp>
        <p:nvSpPr>
          <p:cNvPr id="4" name="Rectangle 3">
            <a:extLst>
              <a:ext uri="{FF2B5EF4-FFF2-40B4-BE49-F238E27FC236}">
                <a16:creationId xmlns:a16="http://schemas.microsoft.com/office/drawing/2014/main" id="{6DF3E857-8612-B346-9BBF-B734EDA7A9CE}"/>
              </a:ext>
            </a:extLst>
          </p:cNvPr>
          <p:cNvSpPr/>
          <p:nvPr/>
        </p:nvSpPr>
        <p:spPr>
          <a:xfrm>
            <a:off x="467286" y="612264"/>
            <a:ext cx="10452756" cy="769441"/>
          </a:xfrm>
          <a:prstGeom prst="rect">
            <a:avLst/>
          </a:prstGeom>
        </p:spPr>
        <p:txBody>
          <a:bodyPr wrap="square">
            <a:spAutoFit/>
          </a:bodyPr>
          <a:lstStyle/>
          <a:p>
            <a:r>
              <a:rPr lang="en-US" sz="2200" dirty="0">
                <a:latin typeface="LiberationSerif"/>
              </a:rPr>
              <a:t>The </a:t>
            </a:r>
            <a:r>
              <a:rPr lang="en-US" sz="2200" b="1" dirty="0">
                <a:solidFill>
                  <a:srgbClr val="C00000"/>
                </a:solidFill>
                <a:latin typeface="LiberationSerif"/>
              </a:rPr>
              <a:t>dimension</a:t>
            </a:r>
            <a:r>
              <a:rPr lang="en-US" sz="2200" b="1" dirty="0">
                <a:latin typeface="LiberationSerif"/>
              </a:rPr>
              <a:t> </a:t>
            </a:r>
            <a:r>
              <a:rPr lang="en-US" sz="2200" dirty="0">
                <a:latin typeface="LiberationSerif"/>
              </a:rPr>
              <a:t>of any physical quantity expresses its dependence on the base quantities as a product of symbols (or powers of symbols) representing the base quantities. </a:t>
            </a:r>
            <a:endParaRPr lang="en-US" sz="2200" dirty="0"/>
          </a:p>
        </p:txBody>
      </p:sp>
      <p:pic>
        <p:nvPicPr>
          <p:cNvPr id="6" name="Picture 5" descr="Table&#10;&#10;Description automatically generated">
            <a:extLst>
              <a:ext uri="{FF2B5EF4-FFF2-40B4-BE49-F238E27FC236}">
                <a16:creationId xmlns:a16="http://schemas.microsoft.com/office/drawing/2014/main" id="{6B7CFFBA-96AE-394F-882A-BB893B2B2DF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94864" y="1647190"/>
            <a:ext cx="6197600" cy="1612900"/>
          </a:xfrm>
          <a:prstGeom prst="rect">
            <a:avLst/>
          </a:prstGeom>
        </p:spPr>
      </p:pic>
      <p:sp>
        <p:nvSpPr>
          <p:cNvPr id="7" name="Rectangle 6">
            <a:extLst>
              <a:ext uri="{FF2B5EF4-FFF2-40B4-BE49-F238E27FC236}">
                <a16:creationId xmlns:a16="http://schemas.microsoft.com/office/drawing/2014/main" id="{42C28297-01E9-1447-AFF4-E9906B1A12ED}"/>
              </a:ext>
            </a:extLst>
          </p:cNvPr>
          <p:cNvSpPr/>
          <p:nvPr/>
        </p:nvSpPr>
        <p:spPr>
          <a:xfrm>
            <a:off x="638223" y="3525575"/>
            <a:ext cx="10915554" cy="430887"/>
          </a:xfrm>
          <a:prstGeom prst="rect">
            <a:avLst/>
          </a:prstGeom>
        </p:spPr>
        <p:txBody>
          <a:bodyPr wrap="square">
            <a:spAutoFit/>
          </a:bodyPr>
          <a:lstStyle/>
          <a:p>
            <a:r>
              <a:rPr lang="en-US" sz="2200" dirty="0">
                <a:solidFill>
                  <a:srgbClr val="C00000"/>
                </a:solidFill>
              </a:rPr>
              <a:t>Use brackets [ ] to denote the dimensions of a physical quantity.</a:t>
            </a:r>
          </a:p>
        </p:txBody>
      </p:sp>
      <p:sp>
        <p:nvSpPr>
          <p:cNvPr id="8" name="Rectangle 7">
            <a:extLst>
              <a:ext uri="{FF2B5EF4-FFF2-40B4-BE49-F238E27FC236}">
                <a16:creationId xmlns:a16="http://schemas.microsoft.com/office/drawing/2014/main" id="{5C890A1A-B5A8-B447-878B-010EA90FFF02}"/>
              </a:ext>
            </a:extLst>
          </p:cNvPr>
          <p:cNvSpPr/>
          <p:nvPr/>
        </p:nvSpPr>
        <p:spPr>
          <a:xfrm>
            <a:off x="3222339" y="4037281"/>
            <a:ext cx="1798890" cy="369332"/>
          </a:xfrm>
          <a:prstGeom prst="rect">
            <a:avLst/>
          </a:prstGeom>
        </p:spPr>
        <p:txBody>
          <a:bodyPr wrap="none">
            <a:spAutoFit/>
          </a:bodyPr>
          <a:lstStyle/>
          <a:p>
            <a:r>
              <a:rPr lang="en-US" dirty="0"/>
              <a:t>Speed, [</a:t>
            </a:r>
            <a:r>
              <a:rPr lang="en-US" i="1" dirty="0"/>
              <a:t>v</a:t>
            </a:r>
            <a:r>
              <a:rPr lang="en-US" dirty="0"/>
              <a:t>] = L / T </a:t>
            </a:r>
          </a:p>
        </p:txBody>
      </p:sp>
      <p:sp>
        <p:nvSpPr>
          <p:cNvPr id="9" name="Rectangle 8">
            <a:extLst>
              <a:ext uri="{FF2B5EF4-FFF2-40B4-BE49-F238E27FC236}">
                <a16:creationId xmlns:a16="http://schemas.microsoft.com/office/drawing/2014/main" id="{D082F424-B7B4-6A4F-9DAB-5A3E9026C188}"/>
              </a:ext>
            </a:extLst>
          </p:cNvPr>
          <p:cNvSpPr/>
          <p:nvPr/>
        </p:nvSpPr>
        <p:spPr>
          <a:xfrm>
            <a:off x="5577241" y="4037281"/>
            <a:ext cx="1622560" cy="369332"/>
          </a:xfrm>
          <a:prstGeom prst="rect">
            <a:avLst/>
          </a:prstGeom>
        </p:spPr>
        <p:txBody>
          <a:bodyPr wrap="none">
            <a:spAutoFit/>
          </a:bodyPr>
          <a:lstStyle/>
          <a:p>
            <a:r>
              <a:rPr lang="en-US" i="1" dirty="0">
                <a:latin typeface="NewBaskervilleStd-Italic"/>
              </a:rPr>
              <a:t>Area, </a:t>
            </a:r>
            <a:r>
              <a:rPr lang="en-US" dirty="0">
                <a:latin typeface="NewBaskervilleStd-Roman"/>
              </a:rPr>
              <a:t> [</a:t>
            </a:r>
            <a:r>
              <a:rPr lang="en-US" i="1" dirty="0">
                <a:latin typeface="NewBaskervilleStd-Italic"/>
              </a:rPr>
              <a:t>A</a:t>
            </a:r>
            <a:r>
              <a:rPr lang="en-US" dirty="0">
                <a:latin typeface="NewBaskervilleStd-Roman"/>
              </a:rPr>
              <a:t>] </a:t>
            </a:r>
            <a:r>
              <a:rPr lang="en-US" dirty="0">
                <a:latin typeface="WWDOC01"/>
              </a:rPr>
              <a:t>= </a:t>
            </a:r>
            <a:r>
              <a:rPr lang="en-US" dirty="0">
                <a:latin typeface="NewBaskervilleStd-Roman"/>
              </a:rPr>
              <a:t>L</a:t>
            </a:r>
            <a:r>
              <a:rPr lang="en-US" baseline="30000" dirty="0">
                <a:latin typeface="NewBaskervilleStd-Roman"/>
              </a:rPr>
              <a:t>2</a:t>
            </a:r>
            <a:endParaRPr lang="en-US" baseline="30000" dirty="0"/>
          </a:p>
        </p:txBody>
      </p:sp>
      <p:sp>
        <p:nvSpPr>
          <p:cNvPr id="18" name="Rectangle 17">
            <a:extLst>
              <a:ext uri="{FF2B5EF4-FFF2-40B4-BE49-F238E27FC236}">
                <a16:creationId xmlns:a16="http://schemas.microsoft.com/office/drawing/2014/main" id="{D1884780-654C-F948-9010-A1E65668ED5B}"/>
              </a:ext>
            </a:extLst>
          </p:cNvPr>
          <p:cNvSpPr/>
          <p:nvPr/>
        </p:nvSpPr>
        <p:spPr>
          <a:xfrm>
            <a:off x="638223" y="4487432"/>
            <a:ext cx="4563557" cy="430887"/>
          </a:xfrm>
          <a:prstGeom prst="rect">
            <a:avLst/>
          </a:prstGeom>
        </p:spPr>
        <p:txBody>
          <a:bodyPr wrap="none">
            <a:spAutoFit/>
          </a:bodyPr>
          <a:lstStyle/>
          <a:p>
            <a:r>
              <a:rPr lang="en-US" sz="2200" dirty="0">
                <a:solidFill>
                  <a:srgbClr val="C00000"/>
                </a:solidFill>
              </a:rPr>
              <a:t>How does dimensional analysis help ? </a:t>
            </a:r>
          </a:p>
        </p:txBody>
      </p:sp>
      <p:sp>
        <p:nvSpPr>
          <p:cNvPr id="19" name="Rectangle 18">
            <a:extLst>
              <a:ext uri="{FF2B5EF4-FFF2-40B4-BE49-F238E27FC236}">
                <a16:creationId xmlns:a16="http://schemas.microsoft.com/office/drawing/2014/main" id="{0F1DECCC-5729-AF44-8219-FE3FAE57B183}"/>
              </a:ext>
            </a:extLst>
          </p:cNvPr>
          <p:cNvSpPr/>
          <p:nvPr/>
        </p:nvSpPr>
        <p:spPr>
          <a:xfrm>
            <a:off x="1162027" y="4917770"/>
            <a:ext cx="5254259" cy="400111"/>
          </a:xfrm>
          <a:prstGeom prst="rect">
            <a:avLst/>
          </a:prstGeom>
        </p:spPr>
        <p:txBody>
          <a:bodyPr wrap="none">
            <a:spAutoFit/>
          </a:bodyPr>
          <a:lstStyle/>
          <a:p>
            <a:pPr marL="285750" indent="-285750">
              <a:buFont typeface="Wingdings" panose="05000000000000000000" pitchFamily="2" charset="2"/>
              <a:buChar char="Ø"/>
            </a:pPr>
            <a:r>
              <a:rPr lang="en-US" sz="2000" dirty="0"/>
              <a:t>To verify the dimension of a specific equation.</a:t>
            </a:r>
          </a:p>
        </p:txBody>
      </p:sp>
      <p:sp>
        <p:nvSpPr>
          <p:cNvPr id="20" name="Rectangle 19">
            <a:extLst>
              <a:ext uri="{FF2B5EF4-FFF2-40B4-BE49-F238E27FC236}">
                <a16:creationId xmlns:a16="http://schemas.microsoft.com/office/drawing/2014/main" id="{25295E9A-7D63-3641-B020-DFCE1FBA284C}"/>
              </a:ext>
            </a:extLst>
          </p:cNvPr>
          <p:cNvSpPr/>
          <p:nvPr/>
        </p:nvSpPr>
        <p:spPr>
          <a:xfrm>
            <a:off x="1722858" y="5317881"/>
            <a:ext cx="6596742" cy="646331"/>
          </a:xfrm>
          <a:prstGeom prst="rect">
            <a:avLst/>
          </a:prstGeom>
        </p:spPr>
        <p:txBody>
          <a:bodyPr wrap="square">
            <a:spAutoFit/>
          </a:bodyPr>
          <a:lstStyle/>
          <a:p>
            <a:pPr marL="285750" indent="-285750">
              <a:buFont typeface="Arial" panose="020B0604020202020204" pitchFamily="34" charset="0"/>
              <a:buChar char="•"/>
            </a:pPr>
            <a:r>
              <a:rPr lang="en-US" dirty="0"/>
              <a:t>Both sides of an equation must have the same dimensions.</a:t>
            </a:r>
          </a:p>
          <a:p>
            <a:pPr marL="285750" indent="-285750">
              <a:buFont typeface="Arial" panose="020B0604020202020204" pitchFamily="34" charset="0"/>
              <a:buChar char="•"/>
            </a:pPr>
            <a:endParaRPr lang="en-US" dirty="0"/>
          </a:p>
        </p:txBody>
      </p:sp>
      <p:sp>
        <p:nvSpPr>
          <p:cNvPr id="21" name="Rectangle 20">
            <a:extLst>
              <a:ext uri="{FF2B5EF4-FFF2-40B4-BE49-F238E27FC236}">
                <a16:creationId xmlns:a16="http://schemas.microsoft.com/office/drawing/2014/main" id="{C142D0FC-B268-6E41-8C4F-902A264BCFCD}"/>
              </a:ext>
            </a:extLst>
          </p:cNvPr>
          <p:cNvSpPr/>
          <p:nvPr/>
        </p:nvSpPr>
        <p:spPr>
          <a:xfrm>
            <a:off x="1712131" y="5663467"/>
            <a:ext cx="6979298" cy="1031281"/>
          </a:xfrm>
          <a:prstGeom prst="rect">
            <a:avLst/>
          </a:prstGeom>
        </p:spPr>
        <p:txBody>
          <a:bodyPr wrap="square">
            <a:spAutoFit/>
          </a:bodyPr>
          <a:lstStyle/>
          <a:p>
            <a:pPr marL="285750" indent="-285750">
              <a:buFont typeface="Arial" panose="020B0604020202020204" pitchFamily="34" charset="0"/>
              <a:buChar char="•"/>
            </a:pPr>
            <a:r>
              <a:rPr lang="en-US" dirty="0"/>
              <a:t>Quantities can be added or subtracted only if they have the same dimensions</a:t>
            </a:r>
          </a:p>
        </p:txBody>
      </p:sp>
      <p:sp>
        <p:nvSpPr>
          <p:cNvPr id="22" name="Rectangle 21">
            <a:extLst>
              <a:ext uri="{FF2B5EF4-FFF2-40B4-BE49-F238E27FC236}">
                <a16:creationId xmlns:a16="http://schemas.microsoft.com/office/drawing/2014/main" id="{20FF210A-2368-294C-A649-BDD053F33677}"/>
              </a:ext>
            </a:extLst>
          </p:cNvPr>
          <p:cNvSpPr/>
          <p:nvPr/>
        </p:nvSpPr>
        <p:spPr>
          <a:xfrm>
            <a:off x="8024442" y="6265339"/>
            <a:ext cx="4572000" cy="369332"/>
          </a:xfrm>
          <a:prstGeom prst="rect">
            <a:avLst/>
          </a:prstGeom>
        </p:spPr>
        <p:txBody>
          <a:bodyPr>
            <a:spAutoFit/>
          </a:bodyPr>
          <a:lstStyle/>
          <a:p>
            <a:r>
              <a:rPr lang="da-DK" dirty="0"/>
              <a:t>Dimension</a:t>
            </a:r>
            <a:r>
              <a:rPr lang="da-DK" dirty="0">
                <a:sym typeface="Wingdings" panose="05000000000000000000" pitchFamily="2" charset="2"/>
              </a:rPr>
              <a:t>     </a:t>
            </a:r>
            <a:r>
              <a:rPr lang="da-DK" dirty="0"/>
              <a:t>L  = (L/T</a:t>
            </a:r>
            <a:r>
              <a:rPr lang="da-DK" baseline="30000" dirty="0"/>
              <a:t>2</a:t>
            </a:r>
            <a:r>
              <a:rPr lang="da-DK" dirty="0"/>
              <a:t>)* T</a:t>
            </a:r>
            <a:r>
              <a:rPr lang="da-DK" baseline="30000" dirty="0"/>
              <a:t>2</a:t>
            </a:r>
            <a:r>
              <a:rPr lang="da-DK" dirty="0"/>
              <a:t> = L</a:t>
            </a:r>
            <a:endParaRPr lang="en-US" baseline="30000" dirty="0"/>
          </a:p>
        </p:txBody>
      </p:sp>
      <p:sp>
        <p:nvSpPr>
          <p:cNvPr id="23" name="Rectangle 22">
            <a:extLst>
              <a:ext uri="{FF2B5EF4-FFF2-40B4-BE49-F238E27FC236}">
                <a16:creationId xmlns:a16="http://schemas.microsoft.com/office/drawing/2014/main" id="{9A3D3D1F-8303-194B-AB89-FD5899259CE7}"/>
              </a:ext>
            </a:extLst>
          </p:cNvPr>
          <p:cNvSpPr/>
          <p:nvPr/>
        </p:nvSpPr>
        <p:spPr>
          <a:xfrm>
            <a:off x="1712131" y="6279189"/>
            <a:ext cx="5648149" cy="341632"/>
          </a:xfrm>
          <a:prstGeom prst="rect">
            <a:avLst/>
          </a:prstGeom>
        </p:spPr>
        <p:txBody>
          <a:bodyPr wrap="none">
            <a:spAutoFit/>
          </a:bodyPr>
          <a:lstStyle/>
          <a:p>
            <a:pPr marL="285750" indent="-285750">
              <a:lnSpc>
                <a:spcPct val="90000"/>
              </a:lnSpc>
              <a:buFont typeface="Arial" panose="020B0604020202020204" pitchFamily="34" charset="0"/>
              <a:buChar char="•"/>
            </a:pPr>
            <a:r>
              <a:rPr lang="en-US" altLang="en-US" dirty="0"/>
              <a:t>Both sides of equation must have the same dimensions</a:t>
            </a:r>
          </a:p>
        </p:txBody>
      </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FB869404-EEC6-5C4A-85A1-8E88580AF6C3}"/>
                  </a:ext>
                </a:extLst>
              </p:cNvPr>
              <p:cNvSpPr txBox="1"/>
              <p:nvPr/>
            </p:nvSpPr>
            <p:spPr>
              <a:xfrm>
                <a:off x="9573843" y="5571434"/>
                <a:ext cx="1213281" cy="63382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200" b="0" i="1" smtClean="0">
                          <a:latin typeface="Cambria Math" panose="02040503050406030204" pitchFamily="18" charset="0"/>
                        </a:rPr>
                        <m:t>𝑥</m:t>
                      </m:r>
                      <m:r>
                        <a:rPr lang="en-US" sz="2200" b="0" i="1" smtClean="0">
                          <a:latin typeface="Cambria Math" panose="02040503050406030204" pitchFamily="18" charset="0"/>
                        </a:rPr>
                        <m:t>=</m:t>
                      </m:r>
                      <m:f>
                        <m:fPr>
                          <m:ctrlPr>
                            <a:rPr lang="en-US" sz="2200" b="0" i="1" smtClean="0">
                              <a:latin typeface="Cambria Math" panose="02040503050406030204" pitchFamily="18" charset="0"/>
                            </a:rPr>
                          </m:ctrlPr>
                        </m:fPr>
                        <m:num>
                          <m:r>
                            <a:rPr lang="en-US" sz="2200" b="0" i="1" smtClean="0">
                              <a:latin typeface="Cambria Math" panose="02040503050406030204" pitchFamily="18" charset="0"/>
                            </a:rPr>
                            <m:t>1</m:t>
                          </m:r>
                        </m:num>
                        <m:den>
                          <m:r>
                            <a:rPr lang="en-US" sz="2200" b="0" i="1" smtClean="0">
                              <a:latin typeface="Cambria Math" panose="02040503050406030204" pitchFamily="18" charset="0"/>
                            </a:rPr>
                            <m:t>2</m:t>
                          </m:r>
                        </m:den>
                      </m:f>
                      <m:r>
                        <a:rPr lang="en-US" sz="2200" b="0" i="1" smtClean="0">
                          <a:latin typeface="Cambria Math" panose="02040503050406030204" pitchFamily="18" charset="0"/>
                        </a:rPr>
                        <m:t>𝑎</m:t>
                      </m:r>
                      <m:sSup>
                        <m:sSupPr>
                          <m:ctrlPr>
                            <a:rPr lang="en-US" sz="2200" b="0" i="1" smtClean="0">
                              <a:latin typeface="Cambria Math" panose="02040503050406030204" pitchFamily="18" charset="0"/>
                            </a:rPr>
                          </m:ctrlPr>
                        </m:sSupPr>
                        <m:e>
                          <m:r>
                            <a:rPr lang="en-US" sz="2200" b="0" i="1" smtClean="0">
                              <a:latin typeface="Cambria Math" panose="02040503050406030204" pitchFamily="18" charset="0"/>
                            </a:rPr>
                            <m:t>𝑡</m:t>
                          </m:r>
                        </m:e>
                        <m:sup>
                          <m:r>
                            <a:rPr lang="en-US" sz="2200" b="0" i="1" smtClean="0">
                              <a:latin typeface="Cambria Math" panose="02040503050406030204" pitchFamily="18" charset="0"/>
                            </a:rPr>
                            <m:t>2</m:t>
                          </m:r>
                        </m:sup>
                      </m:sSup>
                    </m:oMath>
                  </m:oMathPara>
                </a14:m>
                <a:endParaRPr lang="en-US" sz="2200" dirty="0"/>
              </a:p>
            </p:txBody>
          </p:sp>
        </mc:Choice>
        <mc:Fallback xmlns="">
          <p:sp>
            <p:nvSpPr>
              <p:cNvPr id="24" name="TextBox 23">
                <a:extLst>
                  <a:ext uri="{FF2B5EF4-FFF2-40B4-BE49-F238E27FC236}">
                    <a16:creationId xmlns:a16="http://schemas.microsoft.com/office/drawing/2014/main" id="{FB869404-EEC6-5C4A-85A1-8E88580AF6C3}"/>
                  </a:ext>
                </a:extLst>
              </p:cNvPr>
              <p:cNvSpPr txBox="1">
                <a:spLocks noRot="1" noChangeAspect="1" noMove="1" noResize="1" noEditPoints="1" noAdjustHandles="1" noChangeArrowheads="1" noChangeShapeType="1" noTextEdit="1"/>
              </p:cNvSpPr>
              <p:nvPr/>
            </p:nvSpPr>
            <p:spPr>
              <a:xfrm>
                <a:off x="9573843" y="5571434"/>
                <a:ext cx="1213281" cy="633828"/>
              </a:xfrm>
              <a:prstGeom prst="rect">
                <a:avLst/>
              </a:prstGeom>
              <a:blipFill>
                <a:blip r:embed="rId4"/>
                <a:stretch>
                  <a:fillRect l="-3125" r="-1042" b="-15686"/>
                </a:stretch>
              </a:blipFill>
            </p:spPr>
            <p:txBody>
              <a:bodyPr/>
              <a:lstStyle/>
              <a:p>
                <a:r>
                  <a:rPr lang="en-US">
                    <a:noFill/>
                  </a:rPr>
                  <a:t> </a:t>
                </a:r>
              </a:p>
            </p:txBody>
          </p:sp>
        </mc:Fallback>
      </mc:AlternateContent>
    </p:spTree>
    <p:extLst>
      <p:ext uri="{BB962C8B-B14F-4D97-AF65-F5344CB8AC3E}">
        <p14:creationId xmlns:p14="http://schemas.microsoft.com/office/powerpoint/2010/main" val="1332830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L:\Clients\Connexions\01_CNX_ Admin\00_OSC_Project_Resources\14_OSC_Production\PowerPoints\OSX-Stacked-TM-CMYK-300dp1-2016.jpg">
            <a:extLst>
              <a:ext uri="{FF2B5EF4-FFF2-40B4-BE49-F238E27FC236}">
                <a16:creationId xmlns:a16="http://schemas.microsoft.com/office/drawing/2014/main" id="{C34C680B-ED90-5348-80E8-759D74A0E791}"/>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440CEE9B-5B05-F047-A393-84DADBB2548E}"/>
              </a:ext>
            </a:extLst>
          </p:cNvPr>
          <p:cNvSpPr/>
          <p:nvPr/>
        </p:nvSpPr>
        <p:spPr>
          <a:xfrm>
            <a:off x="3897726" y="89044"/>
            <a:ext cx="3591876" cy="523220"/>
          </a:xfrm>
          <a:prstGeom prst="rect">
            <a:avLst/>
          </a:prstGeom>
        </p:spPr>
        <p:txBody>
          <a:bodyPr wrap="square">
            <a:spAutoFit/>
          </a:bodyPr>
          <a:lstStyle/>
          <a:p>
            <a:r>
              <a:rPr lang="en-US" sz="2800" dirty="0">
                <a:solidFill>
                  <a:srgbClr val="C00000"/>
                </a:solidFill>
                <a:latin typeface="NewBaskervilleStd-Roman"/>
              </a:rPr>
              <a:t>Dimensional Analysis </a:t>
            </a:r>
          </a:p>
        </p:txBody>
      </p:sp>
      <p:pic>
        <p:nvPicPr>
          <p:cNvPr id="5" name="Picture 4" descr="Text&#10;&#10;Description automatically generated">
            <a:extLst>
              <a:ext uri="{FF2B5EF4-FFF2-40B4-BE49-F238E27FC236}">
                <a16:creationId xmlns:a16="http://schemas.microsoft.com/office/drawing/2014/main" id="{DFB649F1-AF9C-C24E-950B-3A2C52D7427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8332" y="1162049"/>
            <a:ext cx="9829800" cy="1574800"/>
          </a:xfrm>
          <a:prstGeom prst="rect">
            <a:avLst/>
          </a:prstGeom>
        </p:spPr>
      </p:pic>
      <p:sp>
        <p:nvSpPr>
          <p:cNvPr id="6" name="Rectangle 5">
            <a:extLst>
              <a:ext uri="{FF2B5EF4-FFF2-40B4-BE49-F238E27FC236}">
                <a16:creationId xmlns:a16="http://schemas.microsoft.com/office/drawing/2014/main" id="{3719F1E1-2DDE-FC46-86A9-5691C2D8DD04}"/>
              </a:ext>
            </a:extLst>
          </p:cNvPr>
          <p:cNvSpPr/>
          <p:nvPr/>
        </p:nvSpPr>
        <p:spPr>
          <a:xfrm>
            <a:off x="963278" y="802276"/>
            <a:ext cx="10220390" cy="5755422"/>
          </a:xfrm>
          <a:prstGeom prst="rect">
            <a:avLst/>
          </a:prstGeom>
        </p:spPr>
        <p:txBody>
          <a:bodyPr wrap="square">
            <a:spAutoFit/>
          </a:bodyPr>
          <a:lstStyle/>
          <a:p>
            <a:r>
              <a:rPr lang="en-US" sz="2200" dirty="0">
                <a:solidFill>
                  <a:srgbClr val="008000"/>
                </a:solidFill>
              </a:rPr>
              <a:t>Example</a:t>
            </a:r>
          </a:p>
          <a:p>
            <a:endParaRPr lang="en-US" sz="2200" dirty="0">
              <a:solidFill>
                <a:srgbClr val="008000"/>
              </a:solidFill>
            </a:endParaRPr>
          </a:p>
          <a:p>
            <a:endParaRPr lang="en-US" sz="2200" dirty="0">
              <a:solidFill>
                <a:srgbClr val="008000"/>
              </a:solidFill>
            </a:endParaRPr>
          </a:p>
          <a:p>
            <a:endParaRPr lang="en-US" sz="2200" dirty="0"/>
          </a:p>
          <a:p>
            <a:endParaRPr lang="en-US" sz="2200" dirty="0"/>
          </a:p>
          <a:p>
            <a:endParaRPr lang="en-US" sz="2200" dirty="0"/>
          </a:p>
          <a:p>
            <a:r>
              <a:rPr lang="en-US" sz="2200" dirty="0"/>
              <a:t>a)							</a:t>
            </a:r>
          </a:p>
          <a:p>
            <a:endParaRPr lang="en-US" sz="2200" dirty="0"/>
          </a:p>
          <a:p>
            <a:r>
              <a:rPr lang="en-US" sz="2200" dirty="0"/>
              <a:t>										</a:t>
            </a:r>
          </a:p>
          <a:p>
            <a:r>
              <a:rPr lang="en-US" sz="2200" dirty="0"/>
              <a:t>										c)</a:t>
            </a:r>
          </a:p>
          <a:p>
            <a:r>
              <a:rPr lang="en-US" dirty="0">
                <a:solidFill>
                  <a:srgbClr val="C00000"/>
                </a:solidFill>
              </a:rPr>
              <a:t>this equation is dimensionally consistent. </a:t>
            </a:r>
            <a:endParaRPr lang="en-US" sz="2200" dirty="0">
              <a:solidFill>
                <a:srgbClr val="C00000"/>
              </a:solidFill>
            </a:endParaRPr>
          </a:p>
          <a:p>
            <a:r>
              <a:rPr lang="en-US" sz="2200" dirty="0"/>
              <a:t>b)										</a:t>
            </a:r>
          </a:p>
          <a:p>
            <a:endParaRPr lang="en-US" sz="2200" dirty="0"/>
          </a:p>
          <a:p>
            <a:endParaRPr lang="en-US" sz="2200" dirty="0"/>
          </a:p>
          <a:p>
            <a:r>
              <a:rPr lang="en-US" sz="2200" dirty="0"/>
              <a:t>											</a:t>
            </a:r>
            <a:r>
              <a:rPr lang="en-US" dirty="0">
                <a:solidFill>
                  <a:srgbClr val="C00000"/>
                </a:solidFill>
              </a:rPr>
              <a:t>dimensionally NOT consistent</a:t>
            </a:r>
            <a:endParaRPr lang="en-US" dirty="0"/>
          </a:p>
          <a:p>
            <a:endParaRPr lang="en-US" sz="2200" dirty="0"/>
          </a:p>
          <a:p>
            <a:r>
              <a:rPr lang="en-US" dirty="0">
                <a:solidFill>
                  <a:srgbClr val="C00000"/>
                </a:solidFill>
              </a:rPr>
              <a:t>dimensionally NOT consistent</a:t>
            </a:r>
            <a:endParaRPr lang="en-US" dirty="0"/>
          </a:p>
        </p:txBody>
      </p:sp>
      <p:pic>
        <p:nvPicPr>
          <p:cNvPr id="8" name="Picture 7" descr="Text&#10;&#10;Description automatically generated with medium confidence">
            <a:extLst>
              <a:ext uri="{FF2B5EF4-FFF2-40B4-BE49-F238E27FC236}">
                <a16:creationId xmlns:a16="http://schemas.microsoft.com/office/drawing/2014/main" id="{FAB1A82C-894F-B342-AA03-5D3C10E68CD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63278" y="3188208"/>
            <a:ext cx="4216400" cy="1016000"/>
          </a:xfrm>
          <a:prstGeom prst="rect">
            <a:avLst/>
          </a:prstGeom>
        </p:spPr>
      </p:pic>
      <p:pic>
        <p:nvPicPr>
          <p:cNvPr id="10" name="Picture 9" descr="Text&#10;&#10;Description automatically generated">
            <a:extLst>
              <a:ext uri="{FF2B5EF4-FFF2-40B4-BE49-F238E27FC236}">
                <a16:creationId xmlns:a16="http://schemas.microsoft.com/office/drawing/2014/main" id="{DF165C17-1A49-9C49-8C45-97A587F5A21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08332" y="4952741"/>
            <a:ext cx="3454400" cy="1041400"/>
          </a:xfrm>
          <a:prstGeom prst="rect">
            <a:avLst/>
          </a:prstGeom>
        </p:spPr>
      </p:pic>
      <p:pic>
        <p:nvPicPr>
          <p:cNvPr id="12" name="Picture 11" descr="Text&#10;&#10;Description automatically generated">
            <a:extLst>
              <a:ext uri="{FF2B5EF4-FFF2-40B4-BE49-F238E27FC236}">
                <a16:creationId xmlns:a16="http://schemas.microsoft.com/office/drawing/2014/main" id="{C1E33BFC-3617-0441-B960-602051763DA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938996" y="3676396"/>
            <a:ext cx="3810000" cy="698500"/>
          </a:xfrm>
          <a:prstGeom prst="rect">
            <a:avLst/>
          </a:prstGeom>
        </p:spPr>
      </p:pic>
      <p:pic>
        <p:nvPicPr>
          <p:cNvPr id="14" name="Picture 13" descr="Diagram, text&#10;&#10;Description automatically generated">
            <a:extLst>
              <a:ext uri="{FF2B5EF4-FFF2-40B4-BE49-F238E27FC236}">
                <a16:creationId xmlns:a16="http://schemas.microsoft.com/office/drawing/2014/main" id="{F2527B12-D562-A440-BAB9-6EE7C0439080}"/>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938996" y="4294374"/>
            <a:ext cx="1574800" cy="1028700"/>
          </a:xfrm>
          <a:prstGeom prst="rect">
            <a:avLst/>
          </a:prstGeom>
        </p:spPr>
      </p:pic>
    </p:spTree>
    <p:extLst>
      <p:ext uri="{BB962C8B-B14F-4D97-AF65-F5344CB8AC3E}">
        <p14:creationId xmlns:p14="http://schemas.microsoft.com/office/powerpoint/2010/main" val="310663220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L:\Clients\Connexions\01_CNX_ Admin\00_OSC_Project_Resources\14_OSC_Production\PowerPoints\OSX-Stacked-TM-CMYK-300dp1-2016.jpg">
            <a:extLst>
              <a:ext uri="{FF2B5EF4-FFF2-40B4-BE49-F238E27FC236}">
                <a16:creationId xmlns:a16="http://schemas.microsoft.com/office/drawing/2014/main" id="{C34C680B-ED90-5348-80E8-759D74A0E791}"/>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7DA023FC-66FA-074A-866A-80B44DE3E111}"/>
              </a:ext>
            </a:extLst>
          </p:cNvPr>
          <p:cNvSpPr/>
          <p:nvPr/>
        </p:nvSpPr>
        <p:spPr>
          <a:xfrm>
            <a:off x="3897726" y="89044"/>
            <a:ext cx="3591876" cy="523220"/>
          </a:xfrm>
          <a:prstGeom prst="rect">
            <a:avLst/>
          </a:prstGeom>
        </p:spPr>
        <p:txBody>
          <a:bodyPr wrap="square">
            <a:spAutoFit/>
          </a:bodyPr>
          <a:lstStyle/>
          <a:p>
            <a:r>
              <a:rPr lang="en-US" sz="2800" dirty="0">
                <a:solidFill>
                  <a:srgbClr val="C00000"/>
                </a:solidFill>
                <a:latin typeface="NewBaskervilleStd-Roman"/>
              </a:rPr>
              <a:t>Dimensional Analysis </a:t>
            </a:r>
          </a:p>
        </p:txBody>
      </p:sp>
      <p:pic>
        <p:nvPicPr>
          <p:cNvPr id="4" name="Picture 3" descr="Table&#10;&#10;Description automatically generated">
            <a:extLst>
              <a:ext uri="{FF2B5EF4-FFF2-40B4-BE49-F238E27FC236}">
                <a16:creationId xmlns:a16="http://schemas.microsoft.com/office/drawing/2014/main" id="{B962CD02-60A1-0D49-8930-9C66E6F056C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94864" y="1647190"/>
            <a:ext cx="6197600" cy="1612900"/>
          </a:xfrm>
          <a:prstGeom prst="rect">
            <a:avLst/>
          </a:prstGeom>
        </p:spPr>
      </p:pic>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id="{0A2CB0F6-94A7-DE4B-A6D9-EFD36F23D021}"/>
                  </a:ext>
                </a:extLst>
              </p:cNvPr>
              <p:cNvSpPr/>
              <p:nvPr/>
            </p:nvSpPr>
            <p:spPr>
              <a:xfrm>
                <a:off x="2594864" y="3761610"/>
                <a:ext cx="6004977" cy="2443811"/>
              </a:xfrm>
              <a:prstGeom prst="rect">
                <a:avLst/>
              </a:prstGeom>
            </p:spPr>
            <p:txBody>
              <a:bodyPr wrap="none">
                <a:spAutoFit/>
              </a:bodyPr>
              <a:lstStyle/>
              <a:p>
                <a:r>
                  <a:rPr lang="en-US" sz="2200" dirty="0">
                    <a:solidFill>
                      <a:srgbClr val="0000CC"/>
                    </a:solidFill>
                  </a:rPr>
                  <a:t>Assignment 3:</a:t>
                </a:r>
              </a:p>
              <a:p>
                <a:r>
                  <a:rPr lang="en-US" sz="2200" dirty="0">
                    <a:solidFill>
                      <a:srgbClr val="C00000"/>
                    </a:solidFill>
                  </a:rPr>
                  <a:t>Are the following equations dimensionally correct?</a:t>
                </a:r>
              </a:p>
              <a:p>
                <a:endParaRPr lang="en-US" sz="2200" dirty="0">
                  <a:solidFill>
                    <a:srgbClr val="C00000"/>
                  </a:solidFill>
                </a:endParaRPr>
              </a:p>
              <a:p>
                <a:r>
                  <a:rPr lang="en-US" sz="2200" dirty="0">
                    <a:solidFill>
                      <a:srgbClr val="C00000"/>
                    </a:solidFill>
                  </a:rPr>
                  <a:t>	a) </a:t>
                </a:r>
                <a14:m>
                  <m:oMath xmlns:m="http://schemas.openxmlformats.org/officeDocument/2006/math">
                    <m:r>
                      <a:rPr lang="en-US" sz="2600" i="1" smtClean="0">
                        <a:solidFill>
                          <a:schemeClr val="tx1"/>
                        </a:solidFill>
                        <a:latin typeface="Cambria Math" panose="02040503050406030204" pitchFamily="18" charset="0"/>
                      </a:rPr>
                      <m:t>𝑎</m:t>
                    </m:r>
                    <m:r>
                      <a:rPr lang="en-US" sz="2600" i="1" smtClean="0">
                        <a:solidFill>
                          <a:schemeClr val="tx1"/>
                        </a:solidFill>
                        <a:latin typeface="Cambria Math" panose="02040503050406030204" pitchFamily="18" charset="0"/>
                      </a:rPr>
                      <m:t>=</m:t>
                    </m:r>
                    <m:f>
                      <m:fPr>
                        <m:ctrlPr>
                          <a:rPr lang="en-US" sz="2600" i="1">
                            <a:solidFill>
                              <a:schemeClr val="tx1"/>
                            </a:solidFill>
                            <a:latin typeface="Cambria Math" panose="02040503050406030204" pitchFamily="18" charset="0"/>
                          </a:rPr>
                        </m:ctrlPr>
                      </m:fPr>
                      <m:num>
                        <m:sSup>
                          <m:sSupPr>
                            <m:ctrlPr>
                              <a:rPr lang="en-US" sz="2600" i="1">
                                <a:solidFill>
                                  <a:schemeClr val="tx1"/>
                                </a:solidFill>
                                <a:latin typeface="Cambria Math" panose="02040503050406030204" pitchFamily="18" charset="0"/>
                              </a:rPr>
                            </m:ctrlPr>
                          </m:sSupPr>
                          <m:e>
                            <m:r>
                              <a:rPr lang="en-US" sz="2600" i="1">
                                <a:solidFill>
                                  <a:schemeClr val="tx1"/>
                                </a:solidFill>
                                <a:latin typeface="Cambria Math" panose="02040503050406030204" pitchFamily="18" charset="0"/>
                              </a:rPr>
                              <m:t>𝑣</m:t>
                            </m:r>
                          </m:e>
                          <m:sup>
                            <m:r>
                              <a:rPr lang="en-US" sz="2600" i="1">
                                <a:solidFill>
                                  <a:schemeClr val="tx1"/>
                                </a:solidFill>
                                <a:latin typeface="Cambria Math" panose="02040503050406030204" pitchFamily="18" charset="0"/>
                              </a:rPr>
                              <m:t>2</m:t>
                            </m:r>
                          </m:sup>
                        </m:sSup>
                        <m:r>
                          <a:rPr lang="en-US" sz="2600" b="0" i="1" smtClean="0">
                            <a:solidFill>
                              <a:schemeClr val="tx1"/>
                            </a:solidFill>
                            <a:latin typeface="Cambria Math" panose="02040503050406030204" pitchFamily="18" charset="0"/>
                          </a:rPr>
                          <m:t>𝑡</m:t>
                        </m:r>
                      </m:num>
                      <m:den>
                        <m:r>
                          <a:rPr lang="en-US" sz="2600" i="1">
                            <a:solidFill>
                              <a:schemeClr val="tx1"/>
                            </a:solidFill>
                            <a:latin typeface="Cambria Math" panose="02040503050406030204" pitchFamily="18" charset="0"/>
                          </a:rPr>
                          <m:t>𝑥</m:t>
                        </m:r>
                      </m:den>
                    </m:f>
                    <m:r>
                      <a:rPr lang="en-US" sz="2600" i="1">
                        <a:solidFill>
                          <a:schemeClr val="tx1"/>
                        </a:solidFill>
                        <a:latin typeface="Cambria Math" panose="02040503050406030204" pitchFamily="18" charset="0"/>
                      </a:rPr>
                      <m:t> </m:t>
                    </m:r>
                  </m:oMath>
                </a14:m>
                <a:r>
                  <a:rPr lang="en-US" sz="2600" dirty="0">
                    <a:solidFill>
                      <a:schemeClr val="tx1"/>
                    </a:solidFill>
                  </a:rPr>
                  <a:t> 	</a:t>
                </a:r>
                <a:r>
                  <a:rPr lang="en-US" sz="2200" dirty="0">
                    <a:solidFill>
                      <a:srgbClr val="C00000"/>
                    </a:solidFill>
                  </a:rPr>
                  <a:t>		b</a:t>
                </a:r>
                <a14:m>
                  <m:oMath xmlns:m="http://schemas.openxmlformats.org/officeDocument/2006/math">
                    <m:r>
                      <a:rPr lang="en-US" sz="2600" b="0" i="0" smtClean="0">
                        <a:solidFill>
                          <a:srgbClr val="C00000"/>
                        </a:solidFill>
                        <a:latin typeface="Cambria Math" panose="02040503050406030204" pitchFamily="18" charset="0"/>
                      </a:rPr>
                      <m:t>) </m:t>
                    </m:r>
                    <m:r>
                      <a:rPr lang="en-US" sz="2600" b="0" i="1" smtClean="0">
                        <a:solidFill>
                          <a:schemeClr val="tx1"/>
                        </a:solidFill>
                        <a:latin typeface="Cambria Math" panose="02040503050406030204" pitchFamily="18" charset="0"/>
                      </a:rPr>
                      <m:t>𝑣</m:t>
                    </m:r>
                    <m:r>
                      <a:rPr lang="en-US" sz="2600" i="1">
                        <a:solidFill>
                          <a:schemeClr val="tx1"/>
                        </a:solidFill>
                        <a:latin typeface="Cambria Math" panose="02040503050406030204" pitchFamily="18" charset="0"/>
                      </a:rPr>
                      <m:t>=</m:t>
                    </m:r>
                    <m:f>
                      <m:fPr>
                        <m:ctrlPr>
                          <a:rPr lang="en-US" sz="2600" i="1">
                            <a:solidFill>
                              <a:schemeClr val="tx1"/>
                            </a:solidFill>
                            <a:latin typeface="Cambria Math" panose="02040503050406030204" pitchFamily="18" charset="0"/>
                          </a:rPr>
                        </m:ctrlPr>
                      </m:fPr>
                      <m:num>
                        <m:sSup>
                          <m:sSupPr>
                            <m:ctrlPr>
                              <a:rPr lang="en-US" sz="2600" i="1">
                                <a:solidFill>
                                  <a:schemeClr val="tx1"/>
                                </a:solidFill>
                                <a:latin typeface="Cambria Math" panose="02040503050406030204" pitchFamily="18" charset="0"/>
                              </a:rPr>
                            </m:ctrlPr>
                          </m:sSupPr>
                          <m:e>
                            <m:r>
                              <a:rPr lang="en-US" sz="2600" b="0" i="1" smtClean="0">
                                <a:solidFill>
                                  <a:schemeClr val="tx1"/>
                                </a:solidFill>
                                <a:latin typeface="Cambria Math" panose="02040503050406030204" pitchFamily="18" charset="0"/>
                              </a:rPr>
                              <m:t>𝑎</m:t>
                            </m:r>
                          </m:e>
                          <m:sup>
                            <m:r>
                              <a:rPr lang="en-US" sz="2600" b="0" i="1" smtClean="0">
                                <a:solidFill>
                                  <a:schemeClr val="tx1"/>
                                </a:solidFill>
                                <a:latin typeface="Cambria Math" panose="02040503050406030204" pitchFamily="18" charset="0"/>
                              </a:rPr>
                              <m:t>2</m:t>
                            </m:r>
                          </m:sup>
                        </m:sSup>
                        <m:sSup>
                          <m:sSupPr>
                            <m:ctrlPr>
                              <a:rPr lang="en-US" sz="2600" i="1">
                                <a:latin typeface="Cambria Math" panose="02040503050406030204" pitchFamily="18" charset="0"/>
                              </a:rPr>
                            </m:ctrlPr>
                          </m:sSupPr>
                          <m:e>
                            <m:r>
                              <a:rPr lang="en-US" sz="2600" i="1">
                                <a:latin typeface="Cambria Math" panose="02040503050406030204" pitchFamily="18" charset="0"/>
                              </a:rPr>
                              <m:t>𝑡</m:t>
                            </m:r>
                          </m:e>
                          <m:sup>
                            <m:r>
                              <a:rPr lang="en-US" sz="2600" b="0" i="1" smtClean="0">
                                <a:latin typeface="Cambria Math" panose="02040503050406030204" pitchFamily="18" charset="0"/>
                              </a:rPr>
                              <m:t>3</m:t>
                            </m:r>
                          </m:sup>
                        </m:sSup>
                      </m:num>
                      <m:den>
                        <m:r>
                          <a:rPr lang="en-US" sz="2600" b="0" i="1" smtClean="0">
                            <a:solidFill>
                              <a:schemeClr val="tx1"/>
                            </a:solidFill>
                            <a:latin typeface="Cambria Math" panose="02040503050406030204" pitchFamily="18" charset="0"/>
                          </a:rPr>
                          <m:t>𝑥</m:t>
                        </m:r>
                      </m:den>
                    </m:f>
                    <m:r>
                      <a:rPr lang="en-US" sz="2600" i="1">
                        <a:solidFill>
                          <a:schemeClr val="tx1"/>
                        </a:solidFill>
                        <a:latin typeface="Cambria Math" panose="02040503050406030204" pitchFamily="18" charset="0"/>
                      </a:rPr>
                      <m:t> </m:t>
                    </m:r>
                  </m:oMath>
                </a14:m>
                <a:endParaRPr lang="en-US" sz="2600" dirty="0">
                  <a:solidFill>
                    <a:srgbClr val="C00000"/>
                  </a:solidFill>
                </a:endParaRPr>
              </a:p>
              <a:p>
                <a:endParaRPr lang="en-US" sz="2200" dirty="0">
                  <a:solidFill>
                    <a:srgbClr val="C00000"/>
                  </a:solidFill>
                </a:endParaRPr>
              </a:p>
              <a:p>
                <a:r>
                  <a:rPr lang="en-US" sz="2200" dirty="0">
                    <a:solidFill>
                      <a:srgbClr val="C00000"/>
                    </a:solidFill>
                  </a:rPr>
                  <a:t>Show your calculations.</a:t>
                </a:r>
              </a:p>
            </p:txBody>
          </p:sp>
        </mc:Choice>
        <mc:Fallback xmlns="">
          <p:sp>
            <p:nvSpPr>
              <p:cNvPr id="5" name="Rectangle 4">
                <a:extLst>
                  <a:ext uri="{FF2B5EF4-FFF2-40B4-BE49-F238E27FC236}">
                    <a16:creationId xmlns:a16="http://schemas.microsoft.com/office/drawing/2014/main" id="{0A2CB0F6-94A7-DE4B-A6D9-EFD36F23D021}"/>
                  </a:ext>
                </a:extLst>
              </p:cNvPr>
              <p:cNvSpPr>
                <a:spLocks noRot="1" noChangeAspect="1" noMove="1" noResize="1" noEditPoints="1" noAdjustHandles="1" noChangeArrowheads="1" noChangeShapeType="1" noTextEdit="1"/>
              </p:cNvSpPr>
              <p:nvPr/>
            </p:nvSpPr>
            <p:spPr>
              <a:xfrm>
                <a:off x="2594864" y="3761610"/>
                <a:ext cx="6004977" cy="2443811"/>
              </a:xfrm>
              <a:prstGeom prst="rect">
                <a:avLst/>
              </a:prstGeom>
              <a:blipFill>
                <a:blip r:embed="rId4"/>
                <a:stretch>
                  <a:fillRect l="-1266" t="-1554" r="-211" b="-2591"/>
                </a:stretch>
              </a:blipFill>
            </p:spPr>
            <p:txBody>
              <a:bodyPr/>
              <a:lstStyle/>
              <a:p>
                <a:r>
                  <a:rPr lang="en-US">
                    <a:noFill/>
                  </a:rPr>
                  <a:t> </a:t>
                </a:r>
              </a:p>
            </p:txBody>
          </p:sp>
        </mc:Fallback>
      </mc:AlternateContent>
    </p:spTree>
    <p:extLst>
      <p:ext uri="{BB962C8B-B14F-4D97-AF65-F5344CB8AC3E}">
        <p14:creationId xmlns:p14="http://schemas.microsoft.com/office/powerpoint/2010/main" val="377921480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L:\Clients\Connexions\01_CNX_ Admin\00_OSC_Project_Resources\14_OSC_Production\PowerPoints\OSX-Stacked-TM-CMYK-300dp1-2016.jpg">
            <a:extLst>
              <a:ext uri="{FF2B5EF4-FFF2-40B4-BE49-F238E27FC236}">
                <a16:creationId xmlns:a16="http://schemas.microsoft.com/office/drawing/2014/main" id="{C34C680B-ED90-5348-80E8-759D74A0E791}"/>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23D83C30-C735-A84E-8354-03F8EAD7CDB8}"/>
              </a:ext>
            </a:extLst>
          </p:cNvPr>
          <p:cNvSpPr/>
          <p:nvPr/>
        </p:nvSpPr>
        <p:spPr>
          <a:xfrm>
            <a:off x="3897726" y="89044"/>
            <a:ext cx="3591876" cy="523220"/>
          </a:xfrm>
          <a:prstGeom prst="rect">
            <a:avLst/>
          </a:prstGeom>
        </p:spPr>
        <p:txBody>
          <a:bodyPr wrap="square">
            <a:spAutoFit/>
          </a:bodyPr>
          <a:lstStyle/>
          <a:p>
            <a:r>
              <a:rPr lang="en-US" sz="2800" dirty="0">
                <a:solidFill>
                  <a:srgbClr val="C00000"/>
                </a:solidFill>
                <a:latin typeface="NewBaskervilleStd-Roman"/>
              </a:rPr>
              <a:t>Significant Figures </a:t>
            </a:r>
          </a:p>
        </p:txBody>
      </p:sp>
      <p:pic>
        <p:nvPicPr>
          <p:cNvPr id="4" name="Picture Placeholder 1" descr="Figure a shows an old rusted double-pan balance with a standard mass on one pan. Figure b shows a modern digital analytical balance.">
            <a:extLst>
              <a:ext uri="{FF2B5EF4-FFF2-40B4-BE49-F238E27FC236}">
                <a16:creationId xmlns:a16="http://schemas.microsoft.com/office/drawing/2014/main" id="{E8703047-DB88-6B45-85F9-7CF37B29EFAC}"/>
              </a:ext>
            </a:extLst>
          </p:cNvPr>
          <p:cNvPicPr>
            <a:picLocks noChangeAspect="1"/>
          </p:cNvPicPr>
          <p:nvPr/>
        </p:nvPicPr>
        <p:blipFill>
          <a:blip r:embed="rId3" cstate="email">
            <a:extLst>
              <a:ext uri="{28A0092B-C50C-407E-A947-70E740481C1C}">
                <a14:useLocalDpi xmlns:a14="http://schemas.microsoft.com/office/drawing/2010/main" val="0"/>
              </a:ext>
            </a:extLst>
          </a:blip>
          <a:srcRect t="-9612" b="-9612"/>
          <a:stretch>
            <a:fillRect/>
          </a:stretch>
        </p:blipFill>
        <p:spPr>
          <a:xfrm>
            <a:off x="1219162" y="680356"/>
            <a:ext cx="8062913" cy="3500071"/>
          </a:xfrm>
          <a:prstGeom prst="rect">
            <a:avLst/>
          </a:prstGeom>
        </p:spPr>
      </p:pic>
      <p:sp>
        <p:nvSpPr>
          <p:cNvPr id="5" name="Text Placeholder 6">
            <a:extLst>
              <a:ext uri="{FF2B5EF4-FFF2-40B4-BE49-F238E27FC236}">
                <a16:creationId xmlns:a16="http://schemas.microsoft.com/office/drawing/2014/main" id="{2CE1459F-40BF-544B-BB4C-4C0BE661CA6F}"/>
              </a:ext>
            </a:extLst>
          </p:cNvPr>
          <p:cNvSpPr txBox="1">
            <a:spLocks/>
          </p:cNvSpPr>
          <p:nvPr/>
        </p:nvSpPr>
        <p:spPr>
          <a:xfrm>
            <a:off x="795528" y="3956900"/>
            <a:ext cx="9796272" cy="2684040"/>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Arial" panose="020B0604020202020204" pitchFamily="34" charset="0"/>
              <a:buAutoNum type="alphaLcParenBoth"/>
            </a:pPr>
            <a:r>
              <a:rPr lang="en-US" sz="1800" dirty="0">
                <a:solidFill>
                  <a:srgbClr val="3B124D"/>
                </a:solidFill>
              </a:rPr>
              <a:t>A double-pan mechanical balance is used to compare different masses. Usually, an object with unknown mass is placed in one pan and objects of known mass are placed in the other pan. When the bar that connects the two pans is horizontal, then the masses in both pans are equal. The “known masses” are typically metal cylinders of standard mass such as 1 g, 10 g, and 100 g.</a:t>
            </a:r>
          </a:p>
          <a:p>
            <a:pPr>
              <a:buFont typeface="Arial" panose="020B0604020202020204" pitchFamily="34" charset="0"/>
              <a:buAutoNum type="alphaLcParenBoth"/>
            </a:pPr>
            <a:r>
              <a:rPr lang="en-US" sz="1800" dirty="0">
                <a:solidFill>
                  <a:srgbClr val="7030A0"/>
                </a:solidFill>
              </a:rPr>
              <a:t>Many mechanical balances, such as double-pan balances, have been replaced by digital scales, which can typically measure the mass of an object more precisely. A mechanical balance may read only the mass of an object to the nearest tenth of a gram, but many digital scales can measure the mass of an object up to the nearest thousandth of a gram. </a:t>
            </a:r>
          </a:p>
          <a:p>
            <a:pPr marL="0" indent="0">
              <a:buNone/>
            </a:pPr>
            <a:r>
              <a:rPr lang="en-US" sz="1200" dirty="0"/>
              <a:t>(credit a: modification of work by Serge Melki; credit b: modification of work by Karel </a:t>
            </a:r>
            <a:r>
              <a:rPr lang="en-US" sz="1200" dirty="0" err="1"/>
              <a:t>Jakubec</a:t>
            </a:r>
            <a:r>
              <a:rPr lang="en-US" sz="1200" dirty="0"/>
              <a:t>)</a:t>
            </a:r>
          </a:p>
        </p:txBody>
      </p:sp>
    </p:spTree>
    <p:extLst>
      <p:ext uri="{BB962C8B-B14F-4D97-AF65-F5344CB8AC3E}">
        <p14:creationId xmlns:p14="http://schemas.microsoft.com/office/powerpoint/2010/main" val="70785247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L:\Clients\Connexions\01_CNX_ Admin\00_OSC_Project_Resources\14_OSC_Production\PowerPoints\OSX-Stacked-TM-CMYK-300dp1-2016.jpg">
            <a:extLst>
              <a:ext uri="{FF2B5EF4-FFF2-40B4-BE49-F238E27FC236}">
                <a16:creationId xmlns:a16="http://schemas.microsoft.com/office/drawing/2014/main" id="{C34C680B-ED90-5348-80E8-759D74A0E791}"/>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 xmlns:a14="http://schemas.microsoft.com/office/drawing/2010/main">
                <a:solidFill>
                  <a:srgbClr val="FFFFFF"/>
                </a:solidFill>
              </a14:hiddenFill>
            </a:ext>
          </a:extLst>
        </p:spPr>
      </p:pic>
      <p:pic>
        <p:nvPicPr>
          <p:cNvPr id="3" name="Picture Placeholder 1" descr="Two target patterns, each consisting of three white concentric rings on a red background. Figure a, labeled “High accuracy, low precision,” shows four black points, spread out along the circumference of the innermost circle. Figure b, labeled “Low accuracy, high precision,” shows four black points all clustered very near each other between the middle and outer circles.">
            <a:extLst>
              <a:ext uri="{FF2B5EF4-FFF2-40B4-BE49-F238E27FC236}">
                <a16:creationId xmlns:a16="http://schemas.microsoft.com/office/drawing/2014/main" id="{B6A5D2F6-DAA4-B948-AB4C-FC1A7981D9C5}"/>
              </a:ext>
            </a:extLst>
          </p:cNvPr>
          <p:cNvPicPr>
            <a:picLocks noChangeAspect="1"/>
          </p:cNvPicPr>
          <p:nvPr/>
        </p:nvPicPr>
        <p:blipFill>
          <a:blip r:embed="rId3">
            <a:extLst>
              <a:ext uri="{28A0092B-C50C-407E-A947-70E740481C1C}">
                <a14:useLocalDpi xmlns:a14="http://schemas.microsoft.com/office/drawing/2010/main" val="0"/>
              </a:ext>
            </a:extLst>
          </a:blip>
          <a:srcRect l="-4614" r="-4614"/>
          <a:stretch>
            <a:fillRect/>
          </a:stretch>
        </p:blipFill>
        <p:spPr>
          <a:xfrm>
            <a:off x="2007375" y="1043151"/>
            <a:ext cx="7372577" cy="3200400"/>
          </a:xfrm>
          <a:prstGeom prst="rect">
            <a:avLst/>
          </a:prstGeom>
        </p:spPr>
      </p:pic>
      <p:sp>
        <p:nvSpPr>
          <p:cNvPr id="4" name="Text Placeholder 6">
            <a:extLst>
              <a:ext uri="{FF2B5EF4-FFF2-40B4-BE49-F238E27FC236}">
                <a16:creationId xmlns:a16="http://schemas.microsoft.com/office/drawing/2014/main" id="{557F4E49-2C5B-5440-A0AD-70970704D66C}"/>
              </a:ext>
            </a:extLst>
          </p:cNvPr>
          <p:cNvSpPr txBox="1">
            <a:spLocks/>
          </p:cNvSpPr>
          <p:nvPr/>
        </p:nvSpPr>
        <p:spPr>
          <a:xfrm>
            <a:off x="542544" y="4388006"/>
            <a:ext cx="11106912" cy="2380949"/>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dirty="0">
                <a:solidFill>
                  <a:srgbClr val="000066"/>
                </a:solidFill>
              </a:rPr>
              <a:t>A GPS attempts to locate a restaurant at the center of the bull’s-eye. The black dots represent each attempt to pinpoint the location of the restaurant.</a:t>
            </a:r>
          </a:p>
          <a:p>
            <a:pPr marL="342900" indent="-342900">
              <a:buFont typeface="Arial" panose="020B0604020202020204" pitchFamily="34" charset="0"/>
              <a:buAutoNum type="alphaLcParenBoth"/>
            </a:pPr>
            <a:r>
              <a:rPr lang="en-US" sz="2000" dirty="0">
                <a:solidFill>
                  <a:srgbClr val="C00000"/>
                </a:solidFill>
              </a:rPr>
              <a:t>The dots are spread out quite far apart from one another, indicating low precision, but they are each rather close to the actual location of the restaurant, indicating high accuracy.</a:t>
            </a:r>
          </a:p>
          <a:p>
            <a:pPr marL="342900" indent="-342900">
              <a:buFont typeface="Arial" panose="020B0604020202020204" pitchFamily="34" charset="0"/>
              <a:buAutoNum type="alphaLcParenBoth"/>
            </a:pPr>
            <a:r>
              <a:rPr lang="en-US" sz="2000" dirty="0">
                <a:solidFill>
                  <a:srgbClr val="3B124D"/>
                </a:solidFill>
              </a:rPr>
              <a:t>The dots are concentrated rather closely to one another, indicating high precision, but they are rather far away from the actual location of the restaurant, indicating low accuracy. </a:t>
            </a:r>
          </a:p>
          <a:p>
            <a:pPr marL="0" indent="0">
              <a:buNone/>
            </a:pPr>
            <a:r>
              <a:rPr lang="en-US" sz="1200" dirty="0"/>
              <a:t>(credit a and credit b: modification of works by Dark Evil)</a:t>
            </a:r>
          </a:p>
        </p:txBody>
      </p:sp>
      <p:sp>
        <p:nvSpPr>
          <p:cNvPr id="5" name="Rectangle 4">
            <a:extLst>
              <a:ext uri="{FF2B5EF4-FFF2-40B4-BE49-F238E27FC236}">
                <a16:creationId xmlns:a16="http://schemas.microsoft.com/office/drawing/2014/main" id="{F058335E-E389-0E44-8452-AE4AFDF29A7E}"/>
              </a:ext>
            </a:extLst>
          </p:cNvPr>
          <p:cNvSpPr/>
          <p:nvPr/>
        </p:nvSpPr>
        <p:spPr>
          <a:xfrm>
            <a:off x="3897726" y="89044"/>
            <a:ext cx="3591876" cy="954107"/>
          </a:xfrm>
          <a:prstGeom prst="rect">
            <a:avLst/>
          </a:prstGeom>
        </p:spPr>
        <p:txBody>
          <a:bodyPr wrap="square">
            <a:spAutoFit/>
          </a:bodyPr>
          <a:lstStyle/>
          <a:p>
            <a:r>
              <a:rPr lang="en-US" sz="2800" dirty="0">
                <a:solidFill>
                  <a:srgbClr val="C00000"/>
                </a:solidFill>
                <a:latin typeface="NewBaskervilleStd-Roman"/>
              </a:rPr>
              <a:t>Significant Figures</a:t>
            </a:r>
          </a:p>
          <a:p>
            <a:r>
              <a:rPr lang="en-US" sz="2800" dirty="0">
                <a:solidFill>
                  <a:srgbClr val="C00000"/>
                </a:solidFill>
                <a:latin typeface="NewBaskervilleStd-Roman"/>
              </a:rPr>
              <a:t>Accuracy and Precision </a:t>
            </a:r>
          </a:p>
        </p:txBody>
      </p:sp>
    </p:spTree>
    <p:extLst>
      <p:ext uri="{BB962C8B-B14F-4D97-AF65-F5344CB8AC3E}">
        <p14:creationId xmlns:p14="http://schemas.microsoft.com/office/powerpoint/2010/main" val="291959068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L:\Clients\Connexions\01_CNX_ Admin\00_OSC_Project_Resources\14_OSC_Production\PowerPoints\OSX-Stacked-TM-CMYK-300dp1-2016.jpg">
            <a:extLst>
              <a:ext uri="{FF2B5EF4-FFF2-40B4-BE49-F238E27FC236}">
                <a16:creationId xmlns:a16="http://schemas.microsoft.com/office/drawing/2014/main" id="{C34C680B-ED90-5348-80E8-759D74A0E791}"/>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76C428EC-4A2D-D545-AC9B-51A50D235D98}"/>
              </a:ext>
            </a:extLst>
          </p:cNvPr>
          <p:cNvSpPr/>
          <p:nvPr/>
        </p:nvSpPr>
        <p:spPr>
          <a:xfrm>
            <a:off x="3897726" y="89044"/>
            <a:ext cx="3591876" cy="523220"/>
          </a:xfrm>
          <a:prstGeom prst="rect">
            <a:avLst/>
          </a:prstGeom>
        </p:spPr>
        <p:txBody>
          <a:bodyPr wrap="square">
            <a:spAutoFit/>
          </a:bodyPr>
          <a:lstStyle/>
          <a:p>
            <a:r>
              <a:rPr lang="en-US" sz="2800" dirty="0">
                <a:solidFill>
                  <a:srgbClr val="C00000"/>
                </a:solidFill>
                <a:latin typeface="NewBaskervilleStd-Roman"/>
              </a:rPr>
              <a:t>Significant Figures </a:t>
            </a:r>
          </a:p>
        </p:txBody>
      </p:sp>
      <p:sp>
        <p:nvSpPr>
          <p:cNvPr id="4" name="Rectangle 3">
            <a:extLst>
              <a:ext uri="{FF2B5EF4-FFF2-40B4-BE49-F238E27FC236}">
                <a16:creationId xmlns:a16="http://schemas.microsoft.com/office/drawing/2014/main" id="{56A6F707-36A8-8144-A41A-B37CF2752BBB}"/>
              </a:ext>
            </a:extLst>
          </p:cNvPr>
          <p:cNvSpPr/>
          <p:nvPr/>
        </p:nvSpPr>
        <p:spPr>
          <a:xfrm>
            <a:off x="606489" y="1119874"/>
            <a:ext cx="11037824" cy="400110"/>
          </a:xfrm>
          <a:prstGeom prst="rect">
            <a:avLst/>
          </a:prstGeom>
        </p:spPr>
        <p:txBody>
          <a:bodyPr wrap="square">
            <a:spAutoFit/>
          </a:bodyPr>
          <a:lstStyle/>
          <a:p>
            <a:pPr marL="285750" indent="-285750">
              <a:buFont typeface="Wingdings" panose="05000000000000000000" pitchFamily="2" charset="2"/>
              <a:buChar char="Ø"/>
            </a:pPr>
            <a:r>
              <a:rPr lang="en-US" sz="2000" dirty="0"/>
              <a:t>The measured values are known only to within the limits of the experimental </a:t>
            </a:r>
            <a:r>
              <a:rPr lang="en-US" sz="2000" i="1" dirty="0"/>
              <a:t>uncertainty (error)</a:t>
            </a:r>
          </a:p>
        </p:txBody>
      </p:sp>
      <p:sp>
        <p:nvSpPr>
          <p:cNvPr id="5" name="Rectangle 4">
            <a:extLst>
              <a:ext uri="{FF2B5EF4-FFF2-40B4-BE49-F238E27FC236}">
                <a16:creationId xmlns:a16="http://schemas.microsoft.com/office/drawing/2014/main" id="{8F14B375-E47C-4549-B484-2816DEEB7563}"/>
              </a:ext>
            </a:extLst>
          </p:cNvPr>
          <p:cNvSpPr/>
          <p:nvPr/>
        </p:nvSpPr>
        <p:spPr>
          <a:xfrm>
            <a:off x="606489" y="1817165"/>
            <a:ext cx="7498620" cy="1323439"/>
          </a:xfrm>
          <a:prstGeom prst="rect">
            <a:avLst/>
          </a:prstGeom>
        </p:spPr>
        <p:txBody>
          <a:bodyPr wrap="square">
            <a:spAutoFit/>
          </a:bodyPr>
          <a:lstStyle/>
          <a:p>
            <a:pPr marL="285750" indent="-285750">
              <a:buFont typeface="Wingdings" panose="05000000000000000000" pitchFamily="2" charset="2"/>
              <a:buChar char="Ø"/>
            </a:pPr>
            <a:r>
              <a:rPr lang="en-US" sz="2000" dirty="0"/>
              <a:t>Uncertainty can depend on various factors,</a:t>
            </a:r>
          </a:p>
          <a:p>
            <a:pPr marL="742950" lvl="1" indent="-285750">
              <a:buFont typeface="Arial" panose="020B0604020202020204" pitchFamily="34" charset="0"/>
              <a:buChar char="•"/>
            </a:pPr>
            <a:r>
              <a:rPr lang="en-US" sz="2000" dirty="0"/>
              <a:t>Quality of the apparatus</a:t>
            </a:r>
          </a:p>
          <a:p>
            <a:pPr marL="742950" lvl="1" indent="-285750">
              <a:buFont typeface="Arial" panose="020B0604020202020204" pitchFamily="34" charset="0"/>
              <a:buChar char="•"/>
            </a:pPr>
            <a:r>
              <a:rPr lang="en-US" sz="2000" dirty="0"/>
              <a:t>The skill of the experimenter </a:t>
            </a:r>
          </a:p>
          <a:p>
            <a:pPr marL="742950" lvl="1" indent="-285750">
              <a:buFont typeface="Arial" panose="020B0604020202020204" pitchFamily="34" charset="0"/>
              <a:buChar char="•"/>
            </a:pPr>
            <a:r>
              <a:rPr lang="en-US" sz="2000" dirty="0"/>
              <a:t>The number of measurements performed</a:t>
            </a:r>
          </a:p>
        </p:txBody>
      </p:sp>
      <p:sp>
        <p:nvSpPr>
          <p:cNvPr id="6" name="Rectangle 5">
            <a:extLst>
              <a:ext uri="{FF2B5EF4-FFF2-40B4-BE49-F238E27FC236}">
                <a16:creationId xmlns:a16="http://schemas.microsoft.com/office/drawing/2014/main" id="{AC816333-9130-974E-97BB-F551574ACAC9}"/>
              </a:ext>
            </a:extLst>
          </p:cNvPr>
          <p:cNvSpPr/>
          <p:nvPr/>
        </p:nvSpPr>
        <p:spPr>
          <a:xfrm>
            <a:off x="606489" y="3299344"/>
            <a:ext cx="10468060" cy="707886"/>
          </a:xfrm>
          <a:prstGeom prst="rect">
            <a:avLst/>
          </a:prstGeom>
        </p:spPr>
        <p:txBody>
          <a:bodyPr wrap="square">
            <a:spAutoFit/>
          </a:bodyPr>
          <a:lstStyle/>
          <a:p>
            <a:pPr marL="285750" indent="-285750">
              <a:buFont typeface="Wingdings" panose="05000000000000000000" pitchFamily="2" charset="2"/>
              <a:buChar char="Ø"/>
            </a:pPr>
            <a:r>
              <a:rPr lang="en-US" sz="2000" dirty="0"/>
              <a:t>The number of </a:t>
            </a:r>
            <a:r>
              <a:rPr lang="en-US" sz="2000" b="1" dirty="0">
                <a:solidFill>
                  <a:srgbClr val="C00000"/>
                </a:solidFill>
              </a:rPr>
              <a:t>significant figures </a:t>
            </a:r>
            <a:r>
              <a:rPr lang="en-US" sz="2000" dirty="0"/>
              <a:t>in a measurement can be used to express something about the </a:t>
            </a:r>
            <a:r>
              <a:rPr lang="en-US" sz="2000" dirty="0">
                <a:solidFill>
                  <a:srgbClr val="C00000"/>
                </a:solidFill>
              </a:rPr>
              <a:t>uncertainty</a:t>
            </a:r>
            <a:r>
              <a:rPr lang="en-US" sz="2000" dirty="0">
                <a:solidFill>
                  <a:schemeClr val="accent1">
                    <a:lumMod val="75000"/>
                  </a:schemeClr>
                </a:solidFill>
              </a:rPr>
              <a:t> </a:t>
            </a:r>
            <a:r>
              <a:rPr lang="en-US" sz="2000" dirty="0"/>
              <a:t>and is related to the </a:t>
            </a:r>
            <a:r>
              <a:rPr lang="en-US" sz="2000" u="sng" dirty="0">
                <a:solidFill>
                  <a:srgbClr val="C00000"/>
                </a:solidFill>
              </a:rPr>
              <a:t>number of numerical   digits</a:t>
            </a:r>
            <a:r>
              <a:rPr lang="en-US" sz="2000" dirty="0">
                <a:solidFill>
                  <a:srgbClr val="C00000"/>
                </a:solidFill>
              </a:rPr>
              <a:t> </a:t>
            </a:r>
            <a:r>
              <a:rPr lang="en-US" sz="2000" dirty="0"/>
              <a:t>used to express the measurement.</a:t>
            </a:r>
          </a:p>
        </p:txBody>
      </p:sp>
      <p:pic>
        <p:nvPicPr>
          <p:cNvPr id="7" name="Picture 6">
            <a:extLst>
              <a:ext uri="{FF2B5EF4-FFF2-40B4-BE49-F238E27FC236}">
                <a16:creationId xmlns:a16="http://schemas.microsoft.com/office/drawing/2014/main" id="{7AB003F4-350D-C245-8698-9F8FA9C71FA3}"/>
              </a:ext>
            </a:extLst>
          </p:cNvPr>
          <p:cNvPicPr>
            <a:picLocks noChangeAspect="1"/>
          </p:cNvPicPr>
          <p:nvPr/>
        </p:nvPicPr>
        <p:blipFill rotWithShape="1">
          <a:blip r:embed="rId3"/>
          <a:srcRect l="2964" r="37656"/>
          <a:stretch/>
        </p:blipFill>
        <p:spPr>
          <a:xfrm>
            <a:off x="4533798" y="4582875"/>
            <a:ext cx="3571311" cy="1089735"/>
          </a:xfrm>
          <a:prstGeom prst="rect">
            <a:avLst/>
          </a:prstGeom>
        </p:spPr>
      </p:pic>
      <p:sp>
        <p:nvSpPr>
          <p:cNvPr id="8" name="Rectangle 7">
            <a:extLst>
              <a:ext uri="{FF2B5EF4-FFF2-40B4-BE49-F238E27FC236}">
                <a16:creationId xmlns:a16="http://schemas.microsoft.com/office/drawing/2014/main" id="{6860A0DE-553C-B442-9A66-A73264374616}"/>
              </a:ext>
            </a:extLst>
          </p:cNvPr>
          <p:cNvSpPr/>
          <p:nvPr/>
        </p:nvSpPr>
        <p:spPr>
          <a:xfrm>
            <a:off x="706811" y="4749280"/>
            <a:ext cx="4365252" cy="1631216"/>
          </a:xfrm>
          <a:prstGeom prst="rect">
            <a:avLst/>
          </a:prstGeom>
        </p:spPr>
        <p:txBody>
          <a:bodyPr wrap="square">
            <a:spAutoFit/>
          </a:bodyPr>
          <a:lstStyle/>
          <a:p>
            <a:pPr marL="285750" indent="-285750">
              <a:buFont typeface="Wingdings" panose="05000000000000000000" pitchFamily="2" charset="2"/>
              <a:buChar char="Ø"/>
            </a:pPr>
            <a:r>
              <a:rPr lang="en-US" sz="2000" dirty="0"/>
              <a:t>1mm = 0.1 cm</a:t>
            </a:r>
          </a:p>
          <a:p>
            <a:r>
              <a:rPr lang="en-US" sz="2000" i="1" dirty="0"/>
              <a:t>      </a:t>
            </a:r>
            <a:r>
              <a:rPr lang="en-US" sz="2000" dirty="0"/>
              <a:t>uncertainty = </a:t>
            </a:r>
            <a:r>
              <a:rPr lang="en-US" sz="2000" dirty="0">
                <a:latin typeface="Times New Roman" panose="02020603050405020304" pitchFamily="18" charset="0"/>
                <a:cs typeface="Times New Roman" panose="02020603050405020304" pitchFamily="18" charset="0"/>
              </a:rPr>
              <a:t>±</a:t>
            </a:r>
            <a:r>
              <a:rPr lang="en-US" sz="2000" dirty="0"/>
              <a:t> 0.1 cm</a:t>
            </a:r>
          </a:p>
          <a:p>
            <a:r>
              <a:rPr lang="en-US" sz="2000" dirty="0"/>
              <a:t>      Measurement = 6.0 cm</a:t>
            </a:r>
          </a:p>
          <a:p>
            <a:endParaRPr lang="en-US" sz="2000" dirty="0"/>
          </a:p>
          <a:p>
            <a:r>
              <a:rPr lang="en-US" sz="2000" i="1" dirty="0"/>
              <a:t>      </a:t>
            </a:r>
            <a:r>
              <a:rPr lang="en-US" sz="2000" dirty="0"/>
              <a:t>Record the value as  (6.0 </a:t>
            </a:r>
            <a:r>
              <a:rPr lang="en-US" sz="2000" dirty="0">
                <a:latin typeface="Times New Roman" panose="02020603050405020304" pitchFamily="18" charset="0"/>
                <a:cs typeface="Times New Roman" panose="02020603050405020304" pitchFamily="18" charset="0"/>
              </a:rPr>
              <a:t>±</a:t>
            </a:r>
            <a:r>
              <a:rPr lang="en-US" sz="2000" dirty="0"/>
              <a:t> 0.1) cm</a:t>
            </a:r>
          </a:p>
        </p:txBody>
      </p:sp>
      <p:sp>
        <p:nvSpPr>
          <p:cNvPr id="9" name="Rectangle 8">
            <a:extLst>
              <a:ext uri="{FF2B5EF4-FFF2-40B4-BE49-F238E27FC236}">
                <a16:creationId xmlns:a16="http://schemas.microsoft.com/office/drawing/2014/main" id="{622E79DD-D60C-FC4B-BACF-F5B1C7D0277C}"/>
              </a:ext>
            </a:extLst>
          </p:cNvPr>
          <p:cNvSpPr/>
          <p:nvPr/>
        </p:nvSpPr>
        <p:spPr>
          <a:xfrm>
            <a:off x="4166823" y="6356263"/>
            <a:ext cx="2267352" cy="369332"/>
          </a:xfrm>
          <a:prstGeom prst="rect">
            <a:avLst/>
          </a:prstGeom>
        </p:spPr>
        <p:txBody>
          <a:bodyPr wrap="none">
            <a:spAutoFit/>
          </a:bodyPr>
          <a:lstStyle/>
          <a:p>
            <a:r>
              <a:rPr lang="en-US" dirty="0"/>
              <a:t>Two significant figures</a:t>
            </a:r>
          </a:p>
        </p:txBody>
      </p:sp>
      <p:cxnSp>
        <p:nvCxnSpPr>
          <p:cNvPr id="10" name="Straight Arrow Connector 9">
            <a:extLst>
              <a:ext uri="{FF2B5EF4-FFF2-40B4-BE49-F238E27FC236}">
                <a16:creationId xmlns:a16="http://schemas.microsoft.com/office/drawing/2014/main" id="{BF9A759A-8D80-B54B-BAA1-A1C035548149}"/>
              </a:ext>
            </a:extLst>
          </p:cNvPr>
          <p:cNvCxnSpPr/>
          <p:nvPr/>
        </p:nvCxnSpPr>
        <p:spPr>
          <a:xfrm flipH="1" flipV="1">
            <a:off x="3620939" y="6333693"/>
            <a:ext cx="553574" cy="184666"/>
          </a:xfrm>
          <a:prstGeom prst="straightConnector1">
            <a:avLst/>
          </a:prstGeom>
          <a:ln w="254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9725331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L:\Clients\Connexions\01_CNX_ Admin\00_OSC_Project_Resources\14_OSC_Production\PowerPoints\OSX-Stacked-TM-CMYK-300dp1-2016.jpg">
            <a:extLst>
              <a:ext uri="{FF2B5EF4-FFF2-40B4-BE49-F238E27FC236}">
                <a16:creationId xmlns:a16="http://schemas.microsoft.com/office/drawing/2014/main" id="{C34C680B-ED90-5348-80E8-759D74A0E791}"/>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49C298FA-4EDA-2743-B9B6-AB9788486819}"/>
              </a:ext>
            </a:extLst>
          </p:cNvPr>
          <p:cNvSpPr/>
          <p:nvPr/>
        </p:nvSpPr>
        <p:spPr>
          <a:xfrm>
            <a:off x="3897726" y="89044"/>
            <a:ext cx="3591876" cy="523220"/>
          </a:xfrm>
          <a:prstGeom prst="rect">
            <a:avLst/>
          </a:prstGeom>
        </p:spPr>
        <p:txBody>
          <a:bodyPr wrap="square">
            <a:spAutoFit/>
          </a:bodyPr>
          <a:lstStyle/>
          <a:p>
            <a:r>
              <a:rPr lang="en-US" sz="2800" dirty="0">
                <a:solidFill>
                  <a:srgbClr val="C00000"/>
                </a:solidFill>
                <a:latin typeface="NewBaskervilleStd-Roman"/>
              </a:rPr>
              <a:t>Significant Figures </a:t>
            </a:r>
          </a:p>
        </p:txBody>
      </p:sp>
      <p:sp>
        <p:nvSpPr>
          <p:cNvPr id="4" name="Rectangle 3">
            <a:extLst>
              <a:ext uri="{FF2B5EF4-FFF2-40B4-BE49-F238E27FC236}">
                <a16:creationId xmlns:a16="http://schemas.microsoft.com/office/drawing/2014/main" id="{8D0A024B-F5B3-2B49-8A92-39904EE9B7B6}"/>
              </a:ext>
            </a:extLst>
          </p:cNvPr>
          <p:cNvSpPr/>
          <p:nvPr/>
        </p:nvSpPr>
        <p:spPr>
          <a:xfrm>
            <a:off x="819330" y="998577"/>
            <a:ext cx="8165757" cy="1477328"/>
          </a:xfrm>
          <a:prstGeom prst="rect">
            <a:avLst/>
          </a:prstGeom>
        </p:spPr>
        <p:txBody>
          <a:bodyPr wrap="square">
            <a:spAutoFit/>
          </a:bodyPr>
          <a:lstStyle/>
          <a:p>
            <a:pPr marL="285750" indent="-285750">
              <a:buFont typeface="Wingdings" panose="05000000000000000000" pitchFamily="2" charset="2"/>
              <a:buChar char="Ø"/>
            </a:pPr>
            <a:r>
              <a:rPr lang="en-US" dirty="0">
                <a:latin typeface="NewBaskervilleStd-Roman"/>
              </a:rPr>
              <a:t>The zeroes used to position the decimal point in a number </a:t>
            </a:r>
            <a:r>
              <a:rPr lang="en-US" dirty="0">
                <a:solidFill>
                  <a:srgbClr val="C00000"/>
                </a:solidFill>
                <a:latin typeface="NewBaskervilleStd-Roman"/>
              </a:rPr>
              <a:t>is </a:t>
            </a:r>
            <a:r>
              <a:rPr lang="en-US" u="sng" dirty="0">
                <a:solidFill>
                  <a:srgbClr val="C00000"/>
                </a:solidFill>
                <a:latin typeface="NewBaskervilleStd-Roman"/>
              </a:rPr>
              <a:t>not significant</a:t>
            </a:r>
            <a:r>
              <a:rPr lang="en-US" dirty="0">
                <a:solidFill>
                  <a:srgbClr val="C00000"/>
                </a:solidFill>
                <a:latin typeface="NewBaskervilleStd-Roman"/>
              </a:rPr>
              <a:t>.</a:t>
            </a:r>
          </a:p>
          <a:p>
            <a:r>
              <a:rPr lang="en-US" dirty="0">
                <a:latin typeface="NewBaskervilleStd-Roman"/>
              </a:rPr>
              <a:t>          	</a:t>
            </a:r>
          </a:p>
          <a:p>
            <a:r>
              <a:rPr lang="en-US" dirty="0">
                <a:latin typeface="NewBaskervilleStd-Roman"/>
              </a:rPr>
              <a:t>	0.1 mm = 0.0001 m</a:t>
            </a:r>
          </a:p>
          <a:p>
            <a:r>
              <a:rPr lang="en-US" dirty="0"/>
              <a:t>	</a:t>
            </a:r>
          </a:p>
          <a:p>
            <a:r>
              <a:rPr lang="en-US" dirty="0"/>
              <a:t>	</a:t>
            </a:r>
          </a:p>
        </p:txBody>
      </p:sp>
      <p:sp>
        <p:nvSpPr>
          <p:cNvPr id="5" name="Rectangle 4">
            <a:extLst>
              <a:ext uri="{FF2B5EF4-FFF2-40B4-BE49-F238E27FC236}">
                <a16:creationId xmlns:a16="http://schemas.microsoft.com/office/drawing/2014/main" id="{80088C43-225A-F04A-A350-36C3E46A64CD}"/>
              </a:ext>
            </a:extLst>
          </p:cNvPr>
          <p:cNvSpPr/>
          <p:nvPr/>
        </p:nvSpPr>
        <p:spPr>
          <a:xfrm>
            <a:off x="4703935" y="1507296"/>
            <a:ext cx="3749308" cy="646331"/>
          </a:xfrm>
          <a:prstGeom prst="rect">
            <a:avLst/>
          </a:prstGeom>
        </p:spPr>
        <p:txBody>
          <a:bodyPr wrap="square">
            <a:spAutoFit/>
          </a:bodyPr>
          <a:lstStyle/>
          <a:p>
            <a:r>
              <a:rPr lang="en-US" dirty="0"/>
              <a:t>0.03 mm has one significant figures</a:t>
            </a:r>
          </a:p>
          <a:p>
            <a:r>
              <a:rPr lang="en-US" dirty="0"/>
              <a:t>0.0075 mm has two significant figures</a:t>
            </a:r>
          </a:p>
        </p:txBody>
      </p:sp>
      <p:sp>
        <p:nvSpPr>
          <p:cNvPr id="6" name="Rectangle 5">
            <a:extLst>
              <a:ext uri="{FF2B5EF4-FFF2-40B4-BE49-F238E27FC236}">
                <a16:creationId xmlns:a16="http://schemas.microsoft.com/office/drawing/2014/main" id="{B5E4924B-F813-BF40-BC6B-7952A0977C6E}"/>
              </a:ext>
            </a:extLst>
          </p:cNvPr>
          <p:cNvSpPr/>
          <p:nvPr/>
        </p:nvSpPr>
        <p:spPr>
          <a:xfrm>
            <a:off x="819329" y="2452378"/>
            <a:ext cx="7951153" cy="646331"/>
          </a:xfrm>
          <a:prstGeom prst="rect">
            <a:avLst/>
          </a:prstGeom>
        </p:spPr>
        <p:txBody>
          <a:bodyPr wrap="square">
            <a:spAutoFit/>
          </a:bodyPr>
          <a:lstStyle/>
          <a:p>
            <a:pPr marL="285750" indent="-285750">
              <a:buFont typeface="Wingdings" panose="05000000000000000000" pitchFamily="2" charset="2"/>
              <a:buChar char="Ø"/>
            </a:pPr>
            <a:r>
              <a:rPr lang="en-US" dirty="0">
                <a:latin typeface="NewBaskervilleStd-Roman"/>
              </a:rPr>
              <a:t>The zeros come after other digits is ________________</a:t>
            </a:r>
          </a:p>
          <a:p>
            <a:r>
              <a:rPr lang="en-US" dirty="0">
                <a:latin typeface="NewBaskervilleStd-Roman"/>
              </a:rPr>
              <a:t>     e.g. 15000 g</a:t>
            </a:r>
            <a:endParaRPr lang="en-US" dirty="0"/>
          </a:p>
        </p:txBody>
      </p:sp>
      <p:grpSp>
        <p:nvGrpSpPr>
          <p:cNvPr id="7" name="Group 6">
            <a:extLst>
              <a:ext uri="{FF2B5EF4-FFF2-40B4-BE49-F238E27FC236}">
                <a16:creationId xmlns:a16="http://schemas.microsoft.com/office/drawing/2014/main" id="{40C6FAB6-9773-4340-B188-337579C538A5}"/>
              </a:ext>
            </a:extLst>
          </p:cNvPr>
          <p:cNvGrpSpPr/>
          <p:nvPr/>
        </p:nvGrpSpPr>
        <p:grpSpPr>
          <a:xfrm>
            <a:off x="2087432" y="2391330"/>
            <a:ext cx="9285238" cy="1677763"/>
            <a:chOff x="1873120" y="2391330"/>
            <a:chExt cx="6589746" cy="1677763"/>
          </a:xfrm>
        </p:grpSpPr>
        <p:sp>
          <p:nvSpPr>
            <p:cNvPr id="8" name="Rectangle 7">
              <a:extLst>
                <a:ext uri="{FF2B5EF4-FFF2-40B4-BE49-F238E27FC236}">
                  <a16:creationId xmlns:a16="http://schemas.microsoft.com/office/drawing/2014/main" id="{D282C8DA-5154-4545-AD81-89C3206DCCC9}"/>
                </a:ext>
              </a:extLst>
            </p:cNvPr>
            <p:cNvSpPr/>
            <p:nvPr/>
          </p:nvSpPr>
          <p:spPr>
            <a:xfrm>
              <a:off x="3656570" y="2391330"/>
              <a:ext cx="2829557" cy="369332"/>
            </a:xfrm>
            <a:prstGeom prst="rect">
              <a:avLst/>
            </a:prstGeom>
          </p:spPr>
          <p:txBody>
            <a:bodyPr wrap="none">
              <a:spAutoFit/>
            </a:bodyPr>
            <a:lstStyle/>
            <a:p>
              <a:r>
                <a:rPr lang="en-US" dirty="0">
                  <a:solidFill>
                    <a:srgbClr val="C00000"/>
                  </a:solidFill>
                </a:rPr>
                <a:t>significant or not significant.</a:t>
              </a:r>
            </a:p>
          </p:txBody>
        </p:sp>
        <p:sp>
          <p:nvSpPr>
            <p:cNvPr id="9" name="Rectangle 8">
              <a:extLst>
                <a:ext uri="{FF2B5EF4-FFF2-40B4-BE49-F238E27FC236}">
                  <a16:creationId xmlns:a16="http://schemas.microsoft.com/office/drawing/2014/main" id="{B98A5F87-62B0-8C4C-9F66-602FC356F346}"/>
                </a:ext>
              </a:extLst>
            </p:cNvPr>
            <p:cNvSpPr/>
            <p:nvPr/>
          </p:nvSpPr>
          <p:spPr>
            <a:xfrm>
              <a:off x="2427558" y="3145763"/>
              <a:ext cx="6035308" cy="923330"/>
            </a:xfrm>
            <a:prstGeom prst="rect">
              <a:avLst/>
            </a:prstGeom>
          </p:spPr>
          <p:txBody>
            <a:bodyPr wrap="square">
              <a:spAutoFit/>
            </a:bodyPr>
            <a:lstStyle/>
            <a:p>
              <a:r>
                <a:rPr lang="en-US" dirty="0"/>
                <a:t>we do not know whether the last three zeros are being used to locate the decimal point or whether they represent significant figures in the measurement</a:t>
              </a:r>
            </a:p>
          </p:txBody>
        </p:sp>
        <p:cxnSp>
          <p:nvCxnSpPr>
            <p:cNvPr id="10" name="Straight Arrow Connector 9">
              <a:extLst>
                <a:ext uri="{FF2B5EF4-FFF2-40B4-BE49-F238E27FC236}">
                  <a16:creationId xmlns:a16="http://schemas.microsoft.com/office/drawing/2014/main" id="{4098449C-BA0B-D94A-986F-A6DB8D377684}"/>
                </a:ext>
              </a:extLst>
            </p:cNvPr>
            <p:cNvCxnSpPr/>
            <p:nvPr/>
          </p:nvCxnSpPr>
          <p:spPr>
            <a:xfrm flipH="1" flipV="1">
              <a:off x="1873120" y="3018453"/>
              <a:ext cx="440138" cy="410547"/>
            </a:xfrm>
            <a:prstGeom prst="straightConnector1">
              <a:avLst/>
            </a:prstGeom>
            <a:ln w="25400">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sp>
        <p:nvSpPr>
          <p:cNvPr id="11" name="Rectangle 10">
            <a:extLst>
              <a:ext uri="{FF2B5EF4-FFF2-40B4-BE49-F238E27FC236}">
                <a16:creationId xmlns:a16="http://schemas.microsoft.com/office/drawing/2014/main" id="{2D7F56E4-985C-5949-BE3D-77F13780F448}"/>
              </a:ext>
            </a:extLst>
          </p:cNvPr>
          <p:cNvSpPr/>
          <p:nvPr/>
        </p:nvSpPr>
        <p:spPr>
          <a:xfrm>
            <a:off x="823996" y="4263748"/>
            <a:ext cx="10434554" cy="369332"/>
          </a:xfrm>
          <a:prstGeom prst="rect">
            <a:avLst/>
          </a:prstGeom>
        </p:spPr>
        <p:txBody>
          <a:bodyPr wrap="square">
            <a:spAutoFit/>
          </a:bodyPr>
          <a:lstStyle/>
          <a:p>
            <a:pPr marL="285750" indent="-285750">
              <a:buFont typeface="Wingdings" panose="05000000000000000000" pitchFamily="2" charset="2"/>
              <a:buChar char="Ø"/>
            </a:pPr>
            <a:r>
              <a:rPr lang="en-US" dirty="0"/>
              <a:t>To remove this ambiguity, use </a:t>
            </a:r>
            <a:r>
              <a:rPr lang="en-US" u="sng" dirty="0">
                <a:solidFill>
                  <a:srgbClr val="C00000"/>
                </a:solidFill>
              </a:rPr>
              <a:t>scientific notation </a:t>
            </a:r>
            <a:r>
              <a:rPr lang="en-US" dirty="0"/>
              <a:t>to indicate the number of significant figures.</a:t>
            </a:r>
          </a:p>
        </p:txBody>
      </p:sp>
      <p:grpSp>
        <p:nvGrpSpPr>
          <p:cNvPr id="12" name="Group 11">
            <a:extLst>
              <a:ext uri="{FF2B5EF4-FFF2-40B4-BE49-F238E27FC236}">
                <a16:creationId xmlns:a16="http://schemas.microsoft.com/office/drawing/2014/main" id="{8A5852CA-3578-D140-8FFF-00E0DDA07B5F}"/>
              </a:ext>
            </a:extLst>
          </p:cNvPr>
          <p:cNvGrpSpPr/>
          <p:nvPr/>
        </p:nvGrpSpPr>
        <p:grpSpPr>
          <a:xfrm>
            <a:off x="1237683" y="5104734"/>
            <a:ext cx="4480714" cy="1266564"/>
            <a:chOff x="1023371" y="5104734"/>
            <a:chExt cx="4480714" cy="1266564"/>
          </a:xfrm>
        </p:grpSpPr>
        <p:sp>
          <p:nvSpPr>
            <p:cNvPr id="13" name="Rectangle 12">
              <a:extLst>
                <a:ext uri="{FF2B5EF4-FFF2-40B4-BE49-F238E27FC236}">
                  <a16:creationId xmlns:a16="http://schemas.microsoft.com/office/drawing/2014/main" id="{6C7A31BA-5F49-3048-AF1F-D28C6E3552D0}"/>
                </a:ext>
              </a:extLst>
            </p:cNvPr>
            <p:cNvSpPr/>
            <p:nvPr/>
          </p:nvSpPr>
          <p:spPr>
            <a:xfrm>
              <a:off x="1023371" y="5104734"/>
              <a:ext cx="3697294" cy="369332"/>
            </a:xfrm>
            <a:prstGeom prst="rect">
              <a:avLst/>
            </a:prstGeom>
          </p:spPr>
          <p:txBody>
            <a:bodyPr wrap="none">
              <a:spAutoFit/>
            </a:bodyPr>
            <a:lstStyle/>
            <a:p>
              <a:r>
                <a:rPr lang="en-US" dirty="0">
                  <a:latin typeface="NewBaskervilleStd-Roman"/>
                </a:rPr>
                <a:t>1.5 X10</a:t>
              </a:r>
              <a:r>
                <a:rPr lang="en-US" baseline="30000" dirty="0">
                  <a:latin typeface="NewBaskervilleStd-Roman"/>
                </a:rPr>
                <a:t>4 </a:t>
              </a:r>
              <a:r>
                <a:rPr lang="en-US" dirty="0">
                  <a:latin typeface="NewBaskervilleStd-Roman"/>
                </a:rPr>
                <a:t>g has </a:t>
              </a:r>
              <a:r>
                <a:rPr lang="en-US" u="sng" dirty="0">
                  <a:solidFill>
                    <a:srgbClr val="0000CC"/>
                  </a:solidFill>
                  <a:latin typeface="NewBaskervilleStd-Roman"/>
                </a:rPr>
                <a:t>two</a:t>
              </a:r>
              <a:r>
                <a:rPr lang="en-US" dirty="0">
                  <a:latin typeface="NewBaskervilleStd-Roman"/>
                </a:rPr>
                <a:t> significant figures  </a:t>
              </a:r>
              <a:endParaRPr lang="en-US" dirty="0"/>
            </a:p>
          </p:txBody>
        </p:sp>
        <p:sp>
          <p:nvSpPr>
            <p:cNvPr id="14" name="Rectangle 13">
              <a:extLst>
                <a:ext uri="{FF2B5EF4-FFF2-40B4-BE49-F238E27FC236}">
                  <a16:creationId xmlns:a16="http://schemas.microsoft.com/office/drawing/2014/main" id="{EE5DC629-7DC7-B74D-9221-5B1C230A4C77}"/>
                </a:ext>
              </a:extLst>
            </p:cNvPr>
            <p:cNvSpPr/>
            <p:nvPr/>
          </p:nvSpPr>
          <p:spPr>
            <a:xfrm>
              <a:off x="1023371" y="5574157"/>
              <a:ext cx="4416594" cy="369332"/>
            </a:xfrm>
            <a:prstGeom prst="rect">
              <a:avLst/>
            </a:prstGeom>
          </p:spPr>
          <p:txBody>
            <a:bodyPr wrap="none">
              <a:spAutoFit/>
            </a:bodyPr>
            <a:lstStyle/>
            <a:p>
              <a:r>
                <a:rPr lang="en-US" dirty="0">
                  <a:latin typeface="NewBaskervilleStd-Roman"/>
                </a:rPr>
                <a:t>1.50 X10</a:t>
              </a:r>
              <a:r>
                <a:rPr lang="en-US" baseline="30000" dirty="0">
                  <a:latin typeface="NewBaskervilleStd-Roman"/>
                </a:rPr>
                <a:t>4 </a:t>
              </a:r>
              <a:r>
                <a:rPr lang="en-US" dirty="0">
                  <a:latin typeface="NewBaskervilleStd-Roman"/>
                </a:rPr>
                <a:t>g has ____  significant figures  </a:t>
              </a:r>
              <a:endParaRPr lang="en-US" dirty="0"/>
            </a:p>
          </p:txBody>
        </p:sp>
        <p:sp>
          <p:nvSpPr>
            <p:cNvPr id="15" name="Rectangle 14">
              <a:extLst>
                <a:ext uri="{FF2B5EF4-FFF2-40B4-BE49-F238E27FC236}">
                  <a16:creationId xmlns:a16="http://schemas.microsoft.com/office/drawing/2014/main" id="{63220134-B0D2-0E4D-A210-B45D674600FB}"/>
                </a:ext>
              </a:extLst>
            </p:cNvPr>
            <p:cNvSpPr/>
            <p:nvPr/>
          </p:nvSpPr>
          <p:spPr>
            <a:xfrm>
              <a:off x="1023371" y="6001966"/>
              <a:ext cx="4480714" cy="369332"/>
            </a:xfrm>
            <a:prstGeom prst="rect">
              <a:avLst/>
            </a:prstGeom>
          </p:spPr>
          <p:txBody>
            <a:bodyPr wrap="none">
              <a:spAutoFit/>
            </a:bodyPr>
            <a:lstStyle/>
            <a:p>
              <a:r>
                <a:rPr lang="en-US" dirty="0">
                  <a:latin typeface="NewBaskervilleStd-Roman"/>
                </a:rPr>
                <a:t>1.500 X10</a:t>
              </a:r>
              <a:r>
                <a:rPr lang="en-US" baseline="30000" dirty="0">
                  <a:latin typeface="NewBaskervilleStd-Roman"/>
                </a:rPr>
                <a:t>4 </a:t>
              </a:r>
              <a:r>
                <a:rPr lang="en-US" dirty="0">
                  <a:latin typeface="NewBaskervilleStd-Roman"/>
                </a:rPr>
                <a:t>g has ____ significant figures  </a:t>
              </a:r>
              <a:endParaRPr lang="en-US" dirty="0"/>
            </a:p>
          </p:txBody>
        </p:sp>
      </p:grpSp>
      <p:grpSp>
        <p:nvGrpSpPr>
          <p:cNvPr id="16" name="Group 15">
            <a:extLst>
              <a:ext uri="{FF2B5EF4-FFF2-40B4-BE49-F238E27FC236}">
                <a16:creationId xmlns:a16="http://schemas.microsoft.com/office/drawing/2014/main" id="{5B2616B1-A6AC-5746-9339-CC1FC71F6663}"/>
              </a:ext>
            </a:extLst>
          </p:cNvPr>
          <p:cNvGrpSpPr/>
          <p:nvPr/>
        </p:nvGrpSpPr>
        <p:grpSpPr>
          <a:xfrm>
            <a:off x="2687326" y="5539387"/>
            <a:ext cx="702382" cy="836340"/>
            <a:chOff x="2712839" y="5515240"/>
            <a:chExt cx="702382" cy="836340"/>
          </a:xfrm>
        </p:grpSpPr>
        <p:sp>
          <p:nvSpPr>
            <p:cNvPr id="17" name="Rectangle 16">
              <a:extLst>
                <a:ext uri="{FF2B5EF4-FFF2-40B4-BE49-F238E27FC236}">
                  <a16:creationId xmlns:a16="http://schemas.microsoft.com/office/drawing/2014/main" id="{BF4F0080-D510-0949-AFF0-0A2E2E24911D}"/>
                </a:ext>
              </a:extLst>
            </p:cNvPr>
            <p:cNvSpPr/>
            <p:nvPr/>
          </p:nvSpPr>
          <p:spPr>
            <a:xfrm>
              <a:off x="2712839" y="5515240"/>
              <a:ext cx="691408" cy="369332"/>
            </a:xfrm>
            <a:prstGeom prst="rect">
              <a:avLst/>
            </a:prstGeom>
          </p:spPr>
          <p:txBody>
            <a:bodyPr wrap="none">
              <a:spAutoFit/>
            </a:bodyPr>
            <a:lstStyle/>
            <a:p>
              <a:r>
                <a:rPr lang="en-US" dirty="0">
                  <a:solidFill>
                    <a:srgbClr val="0000CC"/>
                  </a:solidFill>
                </a:rPr>
                <a:t>three</a:t>
              </a:r>
            </a:p>
          </p:txBody>
        </p:sp>
        <p:sp>
          <p:nvSpPr>
            <p:cNvPr id="18" name="Rectangle 17">
              <a:extLst>
                <a:ext uri="{FF2B5EF4-FFF2-40B4-BE49-F238E27FC236}">
                  <a16:creationId xmlns:a16="http://schemas.microsoft.com/office/drawing/2014/main" id="{51A7E733-1D88-2E4D-B72A-85349BAC2FBC}"/>
                </a:ext>
              </a:extLst>
            </p:cNvPr>
            <p:cNvSpPr/>
            <p:nvPr/>
          </p:nvSpPr>
          <p:spPr>
            <a:xfrm>
              <a:off x="2841089" y="5982248"/>
              <a:ext cx="574132" cy="369332"/>
            </a:xfrm>
            <a:prstGeom prst="rect">
              <a:avLst/>
            </a:prstGeom>
          </p:spPr>
          <p:txBody>
            <a:bodyPr wrap="none">
              <a:spAutoFit/>
            </a:bodyPr>
            <a:lstStyle/>
            <a:p>
              <a:r>
                <a:rPr lang="en-US" dirty="0">
                  <a:solidFill>
                    <a:srgbClr val="0000CC"/>
                  </a:solidFill>
                </a:rPr>
                <a:t>four</a:t>
              </a:r>
            </a:p>
          </p:txBody>
        </p:sp>
      </p:grpSp>
    </p:spTree>
    <p:extLst>
      <p:ext uri="{BB962C8B-B14F-4D97-AF65-F5344CB8AC3E}">
        <p14:creationId xmlns:p14="http://schemas.microsoft.com/office/powerpoint/2010/main" val="246864215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1"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L:\Clients\Connexions\01_CNX_ Admin\00_OSC_Project_Resources\14_OSC_Production\PowerPoints\OSX-Stacked-TM-CMYK-300dp1-2016.jpg">
            <a:extLst>
              <a:ext uri="{FF2B5EF4-FFF2-40B4-BE49-F238E27FC236}">
                <a16:creationId xmlns:a16="http://schemas.microsoft.com/office/drawing/2014/main" id="{C34C680B-ED90-5348-80E8-759D74A0E791}"/>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9A0BB34D-6C26-0F47-BFFB-036F531DD4C7}"/>
              </a:ext>
            </a:extLst>
          </p:cNvPr>
          <p:cNvSpPr/>
          <p:nvPr/>
        </p:nvSpPr>
        <p:spPr>
          <a:xfrm>
            <a:off x="3897726" y="89044"/>
            <a:ext cx="3591876" cy="523220"/>
          </a:xfrm>
          <a:prstGeom prst="rect">
            <a:avLst/>
          </a:prstGeom>
        </p:spPr>
        <p:txBody>
          <a:bodyPr wrap="square">
            <a:spAutoFit/>
          </a:bodyPr>
          <a:lstStyle/>
          <a:p>
            <a:r>
              <a:rPr lang="en-US" sz="2800" dirty="0">
                <a:solidFill>
                  <a:srgbClr val="C00000"/>
                </a:solidFill>
                <a:latin typeface="NewBaskervilleStd-Roman"/>
              </a:rPr>
              <a:t>Significant Figures </a:t>
            </a:r>
          </a:p>
        </p:txBody>
      </p:sp>
      <p:sp>
        <p:nvSpPr>
          <p:cNvPr id="4" name="Rectangle 3">
            <a:extLst>
              <a:ext uri="{FF2B5EF4-FFF2-40B4-BE49-F238E27FC236}">
                <a16:creationId xmlns:a16="http://schemas.microsoft.com/office/drawing/2014/main" id="{0CDDD28E-7DD8-AE40-9B58-F10D5D55BF63}"/>
              </a:ext>
            </a:extLst>
          </p:cNvPr>
          <p:cNvSpPr/>
          <p:nvPr/>
        </p:nvSpPr>
        <p:spPr>
          <a:xfrm>
            <a:off x="801559" y="802276"/>
            <a:ext cx="5990252" cy="400110"/>
          </a:xfrm>
          <a:prstGeom prst="rect">
            <a:avLst/>
          </a:prstGeom>
        </p:spPr>
        <p:txBody>
          <a:bodyPr wrap="square">
            <a:spAutoFit/>
          </a:bodyPr>
          <a:lstStyle/>
          <a:p>
            <a:pPr marL="342900" indent="-342900">
              <a:buFont typeface="Wingdings" panose="05000000000000000000" pitchFamily="2" charset="2"/>
              <a:buChar char="Ø"/>
            </a:pPr>
            <a:r>
              <a:rPr lang="en-US" sz="2000" dirty="0"/>
              <a:t>Significant figures for multiplication and division </a:t>
            </a:r>
          </a:p>
        </p:txBody>
      </p:sp>
      <p:sp>
        <p:nvSpPr>
          <p:cNvPr id="5" name="Rectangle 4">
            <a:extLst>
              <a:ext uri="{FF2B5EF4-FFF2-40B4-BE49-F238E27FC236}">
                <a16:creationId xmlns:a16="http://schemas.microsoft.com/office/drawing/2014/main" id="{43A1B0EE-403C-3240-9410-F9239F609632}"/>
              </a:ext>
            </a:extLst>
          </p:cNvPr>
          <p:cNvSpPr/>
          <p:nvPr/>
        </p:nvSpPr>
        <p:spPr>
          <a:xfrm>
            <a:off x="801558" y="1430346"/>
            <a:ext cx="10685591" cy="646331"/>
          </a:xfrm>
          <a:prstGeom prst="rect">
            <a:avLst/>
          </a:prstGeom>
        </p:spPr>
        <p:txBody>
          <a:bodyPr wrap="square">
            <a:spAutoFit/>
          </a:bodyPr>
          <a:lstStyle/>
          <a:p>
            <a:pPr marL="742950" lvl="1" indent="-285750">
              <a:buFont typeface="Arial" panose="020B0604020202020204" pitchFamily="34" charset="0"/>
              <a:buChar char="•"/>
            </a:pPr>
            <a:r>
              <a:rPr lang="en-US" dirty="0"/>
              <a:t>The number of </a:t>
            </a:r>
            <a:r>
              <a:rPr lang="en-US" u="sng" dirty="0">
                <a:solidFill>
                  <a:srgbClr val="C00000"/>
                </a:solidFill>
              </a:rPr>
              <a:t>significant figures </a:t>
            </a:r>
            <a:r>
              <a:rPr lang="en-US" dirty="0"/>
              <a:t>in the final answer is the same as the number of significant figures in the quantity having the </a:t>
            </a:r>
            <a:r>
              <a:rPr lang="en-US" u="sng" dirty="0">
                <a:solidFill>
                  <a:srgbClr val="C00000"/>
                </a:solidFill>
              </a:rPr>
              <a:t>smallest number of significant figures.</a:t>
            </a:r>
          </a:p>
        </p:txBody>
      </p:sp>
      <p:grpSp>
        <p:nvGrpSpPr>
          <p:cNvPr id="6" name="Group 5">
            <a:extLst>
              <a:ext uri="{FF2B5EF4-FFF2-40B4-BE49-F238E27FC236}">
                <a16:creationId xmlns:a16="http://schemas.microsoft.com/office/drawing/2014/main" id="{F4F24486-BB1A-7A4C-BB8C-F897857E9682}"/>
              </a:ext>
            </a:extLst>
          </p:cNvPr>
          <p:cNvGrpSpPr/>
          <p:nvPr/>
        </p:nvGrpSpPr>
        <p:grpSpPr>
          <a:xfrm>
            <a:off x="1466668" y="2313851"/>
            <a:ext cx="7146544" cy="1006485"/>
            <a:chOff x="1280930" y="2023500"/>
            <a:chExt cx="7146544" cy="1006485"/>
          </a:xfrm>
        </p:grpSpPr>
        <p:sp>
          <p:nvSpPr>
            <p:cNvPr id="7" name="Rectangle 6">
              <a:extLst>
                <a:ext uri="{FF2B5EF4-FFF2-40B4-BE49-F238E27FC236}">
                  <a16:creationId xmlns:a16="http://schemas.microsoft.com/office/drawing/2014/main" id="{FAC32CEF-568F-C144-9E8C-632F83DB7068}"/>
                </a:ext>
              </a:extLst>
            </p:cNvPr>
            <p:cNvSpPr/>
            <p:nvPr/>
          </p:nvSpPr>
          <p:spPr>
            <a:xfrm>
              <a:off x="1280930" y="2330422"/>
              <a:ext cx="1455848" cy="461665"/>
            </a:xfrm>
            <a:prstGeom prst="rect">
              <a:avLst/>
            </a:prstGeom>
          </p:spPr>
          <p:txBody>
            <a:bodyPr wrap="none">
              <a:spAutoFit/>
            </a:bodyPr>
            <a:lstStyle/>
            <a:p>
              <a:r>
                <a:rPr lang="en-US" sz="2400" dirty="0"/>
                <a:t>1.2 x 5.23 </a:t>
              </a:r>
            </a:p>
          </p:txBody>
        </p:sp>
        <p:sp>
          <p:nvSpPr>
            <p:cNvPr id="8" name="Right Arrow 7">
              <a:extLst>
                <a:ext uri="{FF2B5EF4-FFF2-40B4-BE49-F238E27FC236}">
                  <a16:creationId xmlns:a16="http://schemas.microsoft.com/office/drawing/2014/main" id="{3A1859DB-9C06-4743-A851-C023BED994F7}"/>
                </a:ext>
              </a:extLst>
            </p:cNvPr>
            <p:cNvSpPr/>
            <p:nvPr/>
          </p:nvSpPr>
          <p:spPr>
            <a:xfrm rot="1151761">
              <a:off x="2619056" y="2641045"/>
              <a:ext cx="608257" cy="141944"/>
            </a:xfrm>
            <a:prstGeom prst="rightArrow">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ight Arrow 8">
              <a:extLst>
                <a:ext uri="{FF2B5EF4-FFF2-40B4-BE49-F238E27FC236}">
                  <a16:creationId xmlns:a16="http://schemas.microsoft.com/office/drawing/2014/main" id="{06DDCE72-0AEB-F24C-98A3-A31A25BDA07E}"/>
                </a:ext>
              </a:extLst>
            </p:cNvPr>
            <p:cNvSpPr/>
            <p:nvPr/>
          </p:nvSpPr>
          <p:spPr>
            <a:xfrm rot="20055202">
              <a:off x="2616836" y="2328604"/>
              <a:ext cx="608257" cy="158379"/>
            </a:xfrm>
            <a:prstGeom prst="rightArrow">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D442800-F661-FA4E-822B-270FF5A0D5D8}"/>
                </a:ext>
              </a:extLst>
            </p:cNvPr>
            <p:cNvSpPr/>
            <p:nvPr/>
          </p:nvSpPr>
          <p:spPr>
            <a:xfrm>
              <a:off x="3229300" y="2023500"/>
              <a:ext cx="883575" cy="461665"/>
            </a:xfrm>
            <a:prstGeom prst="rect">
              <a:avLst/>
            </a:prstGeom>
          </p:spPr>
          <p:txBody>
            <a:bodyPr wrap="none">
              <a:spAutoFit/>
            </a:bodyPr>
            <a:lstStyle/>
            <a:p>
              <a:r>
                <a:rPr lang="en-US" sz="2400" dirty="0"/>
                <a:t>6.276</a:t>
              </a:r>
            </a:p>
          </p:txBody>
        </p:sp>
        <p:sp>
          <p:nvSpPr>
            <p:cNvPr id="11" name="Rectangle 10">
              <a:extLst>
                <a:ext uri="{FF2B5EF4-FFF2-40B4-BE49-F238E27FC236}">
                  <a16:creationId xmlns:a16="http://schemas.microsoft.com/office/drawing/2014/main" id="{15DB98E6-3185-8B47-AECE-3A06994BC98E}"/>
                </a:ext>
              </a:extLst>
            </p:cNvPr>
            <p:cNvSpPr/>
            <p:nvPr/>
          </p:nvSpPr>
          <p:spPr>
            <a:xfrm>
              <a:off x="3229300" y="2568320"/>
              <a:ext cx="572593" cy="461665"/>
            </a:xfrm>
            <a:prstGeom prst="rect">
              <a:avLst/>
            </a:prstGeom>
          </p:spPr>
          <p:txBody>
            <a:bodyPr wrap="none">
              <a:spAutoFit/>
            </a:bodyPr>
            <a:lstStyle/>
            <a:p>
              <a:r>
                <a:rPr lang="en-US" sz="2400" dirty="0"/>
                <a:t>6.3</a:t>
              </a:r>
            </a:p>
          </p:txBody>
        </p:sp>
        <p:sp>
          <p:nvSpPr>
            <p:cNvPr id="12" name="Rectangle 11">
              <a:extLst>
                <a:ext uri="{FF2B5EF4-FFF2-40B4-BE49-F238E27FC236}">
                  <a16:creationId xmlns:a16="http://schemas.microsoft.com/office/drawing/2014/main" id="{B7C4F322-3364-FE4C-9515-2B59A14EE064}"/>
                </a:ext>
              </a:extLst>
            </p:cNvPr>
            <p:cNvSpPr/>
            <p:nvPr/>
          </p:nvSpPr>
          <p:spPr>
            <a:xfrm>
              <a:off x="4375211" y="2052752"/>
              <a:ext cx="4052263" cy="369332"/>
            </a:xfrm>
            <a:prstGeom prst="rect">
              <a:avLst/>
            </a:prstGeom>
          </p:spPr>
          <p:txBody>
            <a:bodyPr wrap="none">
              <a:spAutoFit/>
            </a:bodyPr>
            <a:lstStyle/>
            <a:p>
              <a:r>
                <a:rPr lang="en-US" dirty="0"/>
                <a:t>Correct answer but not significant figures</a:t>
              </a:r>
            </a:p>
          </p:txBody>
        </p:sp>
        <p:sp>
          <p:nvSpPr>
            <p:cNvPr id="13" name="Rectangle 12">
              <a:extLst>
                <a:ext uri="{FF2B5EF4-FFF2-40B4-BE49-F238E27FC236}">
                  <a16:creationId xmlns:a16="http://schemas.microsoft.com/office/drawing/2014/main" id="{2F5361DC-F4D0-B344-A398-45F1458157A2}"/>
                </a:ext>
              </a:extLst>
            </p:cNvPr>
            <p:cNvSpPr/>
            <p:nvPr/>
          </p:nvSpPr>
          <p:spPr>
            <a:xfrm>
              <a:off x="4375211" y="2653724"/>
              <a:ext cx="2572692" cy="369332"/>
            </a:xfrm>
            <a:prstGeom prst="rect">
              <a:avLst/>
            </a:prstGeom>
          </p:spPr>
          <p:txBody>
            <a:bodyPr wrap="none">
              <a:spAutoFit/>
            </a:bodyPr>
            <a:lstStyle/>
            <a:p>
              <a:r>
                <a:rPr lang="en-US" dirty="0"/>
                <a:t>Correct significant figures</a:t>
              </a:r>
            </a:p>
          </p:txBody>
        </p:sp>
      </p:grpSp>
      <p:sp>
        <p:nvSpPr>
          <p:cNvPr id="14" name="Rectangle 13">
            <a:extLst>
              <a:ext uri="{FF2B5EF4-FFF2-40B4-BE49-F238E27FC236}">
                <a16:creationId xmlns:a16="http://schemas.microsoft.com/office/drawing/2014/main" id="{23F76BEC-6098-B14B-8B64-D68BD818D10B}"/>
              </a:ext>
            </a:extLst>
          </p:cNvPr>
          <p:cNvSpPr/>
          <p:nvPr/>
        </p:nvSpPr>
        <p:spPr>
          <a:xfrm>
            <a:off x="801559" y="3828504"/>
            <a:ext cx="5990252" cy="400110"/>
          </a:xfrm>
          <a:prstGeom prst="rect">
            <a:avLst/>
          </a:prstGeom>
        </p:spPr>
        <p:txBody>
          <a:bodyPr wrap="square">
            <a:spAutoFit/>
          </a:bodyPr>
          <a:lstStyle/>
          <a:p>
            <a:pPr marL="342900" indent="-342900">
              <a:buFont typeface="Wingdings" panose="05000000000000000000" pitchFamily="2" charset="2"/>
              <a:buChar char="Ø"/>
            </a:pPr>
            <a:r>
              <a:rPr lang="en-US" sz="2000" dirty="0"/>
              <a:t>Significant figures for addition and subtraction</a:t>
            </a:r>
          </a:p>
        </p:txBody>
      </p:sp>
      <p:sp>
        <p:nvSpPr>
          <p:cNvPr id="15" name="Rectangle 14">
            <a:extLst>
              <a:ext uri="{FF2B5EF4-FFF2-40B4-BE49-F238E27FC236}">
                <a16:creationId xmlns:a16="http://schemas.microsoft.com/office/drawing/2014/main" id="{1DF26CD6-5A77-CD4B-AFE8-3B1EC5750F5C}"/>
              </a:ext>
            </a:extLst>
          </p:cNvPr>
          <p:cNvSpPr/>
          <p:nvPr/>
        </p:nvSpPr>
        <p:spPr>
          <a:xfrm>
            <a:off x="820701" y="4366395"/>
            <a:ext cx="10666448" cy="646331"/>
          </a:xfrm>
          <a:prstGeom prst="rect">
            <a:avLst/>
          </a:prstGeom>
        </p:spPr>
        <p:txBody>
          <a:bodyPr wrap="square">
            <a:spAutoFit/>
          </a:bodyPr>
          <a:lstStyle/>
          <a:p>
            <a:pPr marL="742950" lvl="1" indent="-285750">
              <a:buFont typeface="Arial" panose="020B0604020202020204" pitchFamily="34" charset="0"/>
              <a:buChar char="•"/>
            </a:pPr>
            <a:r>
              <a:rPr lang="en-US" dirty="0"/>
              <a:t>The number of </a:t>
            </a:r>
            <a:r>
              <a:rPr lang="en-US" u="sng" dirty="0">
                <a:solidFill>
                  <a:srgbClr val="C00000"/>
                </a:solidFill>
              </a:rPr>
              <a:t>decimal places </a:t>
            </a:r>
            <a:r>
              <a:rPr lang="en-US" dirty="0"/>
              <a:t>in the result should equal the </a:t>
            </a:r>
            <a:r>
              <a:rPr lang="en-US" u="sng" dirty="0">
                <a:solidFill>
                  <a:srgbClr val="C00000"/>
                </a:solidFill>
              </a:rPr>
              <a:t>smallest number of decimal</a:t>
            </a:r>
            <a:r>
              <a:rPr lang="en-US" dirty="0">
                <a:solidFill>
                  <a:srgbClr val="C00000"/>
                </a:solidFill>
              </a:rPr>
              <a:t> </a:t>
            </a:r>
            <a:r>
              <a:rPr lang="en-US" dirty="0"/>
              <a:t>places of any term in the sum or difference.</a:t>
            </a:r>
          </a:p>
        </p:txBody>
      </p:sp>
      <p:grpSp>
        <p:nvGrpSpPr>
          <p:cNvPr id="16" name="Group 15">
            <a:extLst>
              <a:ext uri="{FF2B5EF4-FFF2-40B4-BE49-F238E27FC236}">
                <a16:creationId xmlns:a16="http://schemas.microsoft.com/office/drawing/2014/main" id="{C459106D-4E56-1042-9019-8D134FE5D18B}"/>
              </a:ext>
            </a:extLst>
          </p:cNvPr>
          <p:cNvGrpSpPr/>
          <p:nvPr/>
        </p:nvGrpSpPr>
        <p:grpSpPr>
          <a:xfrm>
            <a:off x="1333403" y="5218090"/>
            <a:ext cx="7569058" cy="1023243"/>
            <a:chOff x="1280930" y="2027279"/>
            <a:chExt cx="7146544" cy="1023243"/>
          </a:xfrm>
        </p:grpSpPr>
        <p:sp>
          <p:nvSpPr>
            <p:cNvPr id="17" name="Rectangle 16">
              <a:extLst>
                <a:ext uri="{FF2B5EF4-FFF2-40B4-BE49-F238E27FC236}">
                  <a16:creationId xmlns:a16="http://schemas.microsoft.com/office/drawing/2014/main" id="{F1D0600E-3E0C-1847-A0B1-32B5B220B36D}"/>
                </a:ext>
              </a:extLst>
            </p:cNvPr>
            <p:cNvSpPr/>
            <p:nvPr/>
          </p:nvSpPr>
          <p:spPr>
            <a:xfrm>
              <a:off x="1280930" y="2330422"/>
              <a:ext cx="1687879" cy="461665"/>
            </a:xfrm>
            <a:prstGeom prst="rect">
              <a:avLst/>
            </a:prstGeom>
          </p:spPr>
          <p:txBody>
            <a:bodyPr wrap="none">
              <a:spAutoFit/>
            </a:bodyPr>
            <a:lstStyle/>
            <a:p>
              <a:r>
                <a:rPr lang="en-US" sz="2400" dirty="0"/>
                <a:t>23.2 + 5.174 </a:t>
              </a:r>
            </a:p>
          </p:txBody>
        </p:sp>
        <p:sp>
          <p:nvSpPr>
            <p:cNvPr id="18" name="Right Arrow 17">
              <a:extLst>
                <a:ext uri="{FF2B5EF4-FFF2-40B4-BE49-F238E27FC236}">
                  <a16:creationId xmlns:a16="http://schemas.microsoft.com/office/drawing/2014/main" id="{C4AFFC35-311C-3A46-93B1-AC1DC94DDECC}"/>
                </a:ext>
              </a:extLst>
            </p:cNvPr>
            <p:cNvSpPr/>
            <p:nvPr/>
          </p:nvSpPr>
          <p:spPr>
            <a:xfrm rot="1151761">
              <a:off x="2850309" y="2664260"/>
              <a:ext cx="608257" cy="141944"/>
            </a:xfrm>
            <a:prstGeom prst="rightArrow">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ight Arrow 18">
              <a:extLst>
                <a:ext uri="{FF2B5EF4-FFF2-40B4-BE49-F238E27FC236}">
                  <a16:creationId xmlns:a16="http://schemas.microsoft.com/office/drawing/2014/main" id="{C7E7A90A-8E59-874A-A3B5-32F4A1F38E80}"/>
                </a:ext>
              </a:extLst>
            </p:cNvPr>
            <p:cNvSpPr/>
            <p:nvPr/>
          </p:nvSpPr>
          <p:spPr>
            <a:xfrm rot="20055202">
              <a:off x="2828697" y="2326187"/>
              <a:ext cx="608257" cy="158379"/>
            </a:xfrm>
            <a:prstGeom prst="rightArrow">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29406A0A-7589-E54D-B0EE-25718CFEF84F}"/>
                </a:ext>
              </a:extLst>
            </p:cNvPr>
            <p:cNvSpPr/>
            <p:nvPr/>
          </p:nvSpPr>
          <p:spPr>
            <a:xfrm>
              <a:off x="3466576" y="2027279"/>
              <a:ext cx="981065" cy="461665"/>
            </a:xfrm>
            <a:prstGeom prst="rect">
              <a:avLst/>
            </a:prstGeom>
          </p:spPr>
          <p:txBody>
            <a:bodyPr wrap="none">
              <a:spAutoFit/>
            </a:bodyPr>
            <a:lstStyle/>
            <a:p>
              <a:r>
                <a:rPr lang="en-US" sz="2400" dirty="0"/>
                <a:t>28.374</a:t>
              </a:r>
            </a:p>
          </p:txBody>
        </p:sp>
        <p:sp>
          <p:nvSpPr>
            <p:cNvPr id="21" name="Rectangle 20">
              <a:extLst>
                <a:ext uri="{FF2B5EF4-FFF2-40B4-BE49-F238E27FC236}">
                  <a16:creationId xmlns:a16="http://schemas.microsoft.com/office/drawing/2014/main" id="{0F2E5B24-C324-5F41-B93B-E176AE9480DB}"/>
                </a:ext>
              </a:extLst>
            </p:cNvPr>
            <p:cNvSpPr/>
            <p:nvPr/>
          </p:nvSpPr>
          <p:spPr>
            <a:xfrm>
              <a:off x="3482465" y="2588857"/>
              <a:ext cx="687441" cy="461665"/>
            </a:xfrm>
            <a:prstGeom prst="rect">
              <a:avLst/>
            </a:prstGeom>
          </p:spPr>
          <p:txBody>
            <a:bodyPr wrap="none">
              <a:spAutoFit/>
            </a:bodyPr>
            <a:lstStyle/>
            <a:p>
              <a:r>
                <a:rPr lang="en-US" sz="2400" dirty="0"/>
                <a:t>28.4</a:t>
              </a:r>
            </a:p>
          </p:txBody>
        </p:sp>
        <p:sp>
          <p:nvSpPr>
            <p:cNvPr id="22" name="Rectangle 21">
              <a:extLst>
                <a:ext uri="{FF2B5EF4-FFF2-40B4-BE49-F238E27FC236}">
                  <a16:creationId xmlns:a16="http://schemas.microsoft.com/office/drawing/2014/main" id="{DC5766A9-3108-6846-BD13-A50E0EFDAB55}"/>
                </a:ext>
              </a:extLst>
            </p:cNvPr>
            <p:cNvSpPr/>
            <p:nvPr/>
          </p:nvSpPr>
          <p:spPr>
            <a:xfrm>
              <a:off x="4375211" y="2052752"/>
              <a:ext cx="4052263" cy="369332"/>
            </a:xfrm>
            <a:prstGeom prst="rect">
              <a:avLst/>
            </a:prstGeom>
          </p:spPr>
          <p:txBody>
            <a:bodyPr wrap="none">
              <a:spAutoFit/>
            </a:bodyPr>
            <a:lstStyle/>
            <a:p>
              <a:r>
                <a:rPr lang="en-US" dirty="0"/>
                <a:t>Correct answer but not significant figures</a:t>
              </a:r>
            </a:p>
          </p:txBody>
        </p:sp>
        <p:sp>
          <p:nvSpPr>
            <p:cNvPr id="23" name="Rectangle 22">
              <a:extLst>
                <a:ext uri="{FF2B5EF4-FFF2-40B4-BE49-F238E27FC236}">
                  <a16:creationId xmlns:a16="http://schemas.microsoft.com/office/drawing/2014/main" id="{903C3EFF-277D-7445-A738-2AD4854D087E}"/>
                </a:ext>
              </a:extLst>
            </p:cNvPr>
            <p:cNvSpPr/>
            <p:nvPr/>
          </p:nvSpPr>
          <p:spPr>
            <a:xfrm>
              <a:off x="4375211" y="2653724"/>
              <a:ext cx="2572692" cy="369332"/>
            </a:xfrm>
            <a:prstGeom prst="rect">
              <a:avLst/>
            </a:prstGeom>
          </p:spPr>
          <p:txBody>
            <a:bodyPr wrap="none">
              <a:spAutoFit/>
            </a:bodyPr>
            <a:lstStyle/>
            <a:p>
              <a:r>
                <a:rPr lang="en-US" dirty="0"/>
                <a:t>Correct significant figures</a:t>
              </a:r>
            </a:p>
          </p:txBody>
        </p:sp>
      </p:grpSp>
    </p:spTree>
    <p:extLst>
      <p:ext uri="{BB962C8B-B14F-4D97-AF65-F5344CB8AC3E}">
        <p14:creationId xmlns:p14="http://schemas.microsoft.com/office/powerpoint/2010/main" val="48929209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L:\Clients\Connexions\01_CNX_ Admin\00_OSC_Project_Resources\14_OSC_Production\PowerPoints\OSX-Stacked-TM-CMYK-300dp1-2016.jpg">
            <a:extLst>
              <a:ext uri="{FF2B5EF4-FFF2-40B4-BE49-F238E27FC236}">
                <a16:creationId xmlns:a16="http://schemas.microsoft.com/office/drawing/2014/main" id="{C34C680B-ED90-5348-80E8-759D74A0E791}"/>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8EA366C4-8201-2B44-8CB4-8BCAF47C935F}"/>
              </a:ext>
            </a:extLst>
          </p:cNvPr>
          <p:cNvSpPr/>
          <p:nvPr/>
        </p:nvSpPr>
        <p:spPr>
          <a:xfrm>
            <a:off x="3897726" y="89044"/>
            <a:ext cx="3591876" cy="523220"/>
          </a:xfrm>
          <a:prstGeom prst="rect">
            <a:avLst/>
          </a:prstGeom>
        </p:spPr>
        <p:txBody>
          <a:bodyPr wrap="square">
            <a:spAutoFit/>
          </a:bodyPr>
          <a:lstStyle/>
          <a:p>
            <a:r>
              <a:rPr lang="en-US" sz="2800" dirty="0">
                <a:solidFill>
                  <a:srgbClr val="C00000"/>
                </a:solidFill>
                <a:latin typeface="NewBaskervilleStd-Roman"/>
              </a:rPr>
              <a:t>Significant Figures </a:t>
            </a:r>
          </a:p>
        </p:txBody>
      </p:sp>
      <p:sp>
        <p:nvSpPr>
          <p:cNvPr id="4" name="Rectangle 3">
            <a:extLst>
              <a:ext uri="{FF2B5EF4-FFF2-40B4-BE49-F238E27FC236}">
                <a16:creationId xmlns:a16="http://schemas.microsoft.com/office/drawing/2014/main" id="{4004B6A6-DAF2-9240-AF45-6A423D6E0609}"/>
              </a:ext>
            </a:extLst>
          </p:cNvPr>
          <p:cNvSpPr/>
          <p:nvPr/>
        </p:nvSpPr>
        <p:spPr>
          <a:xfrm>
            <a:off x="1307666" y="802276"/>
            <a:ext cx="7926723" cy="369332"/>
          </a:xfrm>
          <a:prstGeom prst="rect">
            <a:avLst/>
          </a:prstGeom>
        </p:spPr>
        <p:txBody>
          <a:bodyPr wrap="square">
            <a:spAutoFit/>
          </a:bodyPr>
          <a:lstStyle/>
          <a:p>
            <a:pPr marL="285750" indent="-285750">
              <a:buFont typeface="Wingdings" panose="05000000000000000000" pitchFamily="2" charset="2"/>
              <a:buChar char="Ø"/>
            </a:pPr>
            <a:r>
              <a:rPr lang="en-US" dirty="0"/>
              <a:t>The last digit retained is increased by 1 if the last digit dropped is greater than 5.</a:t>
            </a:r>
          </a:p>
        </p:txBody>
      </p:sp>
      <p:grpSp>
        <p:nvGrpSpPr>
          <p:cNvPr id="5" name="Group 4">
            <a:extLst>
              <a:ext uri="{FF2B5EF4-FFF2-40B4-BE49-F238E27FC236}">
                <a16:creationId xmlns:a16="http://schemas.microsoft.com/office/drawing/2014/main" id="{04CDB169-1570-844D-9F30-EA8D9E808AE5}"/>
              </a:ext>
            </a:extLst>
          </p:cNvPr>
          <p:cNvGrpSpPr/>
          <p:nvPr/>
        </p:nvGrpSpPr>
        <p:grpSpPr>
          <a:xfrm>
            <a:off x="2494499" y="1418095"/>
            <a:ext cx="4719246" cy="600166"/>
            <a:chOff x="911211" y="1482307"/>
            <a:chExt cx="4719246" cy="600166"/>
          </a:xfrm>
        </p:grpSpPr>
        <p:sp>
          <p:nvSpPr>
            <p:cNvPr id="6" name="Rectangle 5">
              <a:extLst>
                <a:ext uri="{FF2B5EF4-FFF2-40B4-BE49-F238E27FC236}">
                  <a16:creationId xmlns:a16="http://schemas.microsoft.com/office/drawing/2014/main" id="{05446733-EDDB-784D-AB9F-D019A64BD757}"/>
                </a:ext>
              </a:extLst>
            </p:cNvPr>
            <p:cNvSpPr/>
            <p:nvPr/>
          </p:nvSpPr>
          <p:spPr>
            <a:xfrm>
              <a:off x="911211" y="1620808"/>
              <a:ext cx="1039067" cy="461665"/>
            </a:xfrm>
            <a:prstGeom prst="rect">
              <a:avLst/>
            </a:prstGeom>
          </p:spPr>
          <p:txBody>
            <a:bodyPr wrap="none">
              <a:spAutoFit/>
            </a:bodyPr>
            <a:lstStyle/>
            <a:p>
              <a:r>
                <a:rPr lang="en-US" sz="2400" dirty="0"/>
                <a:t>28.374</a:t>
              </a:r>
            </a:p>
          </p:txBody>
        </p:sp>
        <p:cxnSp>
          <p:nvCxnSpPr>
            <p:cNvPr id="7" name="Straight Arrow Connector 6">
              <a:extLst>
                <a:ext uri="{FF2B5EF4-FFF2-40B4-BE49-F238E27FC236}">
                  <a16:creationId xmlns:a16="http://schemas.microsoft.com/office/drawing/2014/main" id="{D44AEC7A-4AD1-3541-A893-12F72C0783E8}"/>
                </a:ext>
              </a:extLst>
            </p:cNvPr>
            <p:cNvCxnSpPr/>
            <p:nvPr/>
          </p:nvCxnSpPr>
          <p:spPr>
            <a:xfrm>
              <a:off x="2043404" y="1851640"/>
              <a:ext cx="2705878" cy="0"/>
            </a:xfrm>
            <a:prstGeom prst="straightConnector1">
              <a:avLst/>
            </a:prstGeom>
            <a:ln w="254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8BA8C620-7C21-474D-B07B-B2FD7F6A0D66}"/>
                </a:ext>
              </a:extLst>
            </p:cNvPr>
            <p:cNvSpPr/>
            <p:nvPr/>
          </p:nvSpPr>
          <p:spPr>
            <a:xfrm>
              <a:off x="4902373" y="1608759"/>
              <a:ext cx="728084" cy="461665"/>
            </a:xfrm>
            <a:prstGeom prst="rect">
              <a:avLst/>
            </a:prstGeom>
          </p:spPr>
          <p:txBody>
            <a:bodyPr wrap="none">
              <a:spAutoFit/>
            </a:bodyPr>
            <a:lstStyle/>
            <a:p>
              <a:r>
                <a:rPr lang="en-US" sz="2400" dirty="0"/>
                <a:t>28.4</a:t>
              </a:r>
            </a:p>
          </p:txBody>
        </p:sp>
        <p:sp>
          <p:nvSpPr>
            <p:cNvPr id="9" name="Rectangle 8">
              <a:extLst>
                <a:ext uri="{FF2B5EF4-FFF2-40B4-BE49-F238E27FC236}">
                  <a16:creationId xmlns:a16="http://schemas.microsoft.com/office/drawing/2014/main" id="{1BA97272-0C44-B84C-8BA9-A44FCACE0398}"/>
                </a:ext>
              </a:extLst>
            </p:cNvPr>
            <p:cNvSpPr/>
            <p:nvPr/>
          </p:nvSpPr>
          <p:spPr>
            <a:xfrm>
              <a:off x="2196495" y="1482307"/>
              <a:ext cx="2247025" cy="369332"/>
            </a:xfrm>
            <a:prstGeom prst="rect">
              <a:avLst/>
            </a:prstGeom>
          </p:spPr>
          <p:txBody>
            <a:bodyPr wrap="none">
              <a:spAutoFit/>
            </a:bodyPr>
            <a:lstStyle/>
            <a:p>
              <a:r>
                <a:rPr lang="en-US" dirty="0"/>
                <a:t>Round to first decimal</a:t>
              </a:r>
            </a:p>
          </p:txBody>
        </p:sp>
      </p:grpSp>
      <p:sp>
        <p:nvSpPr>
          <p:cNvPr id="10" name="Rectangle 9">
            <a:extLst>
              <a:ext uri="{FF2B5EF4-FFF2-40B4-BE49-F238E27FC236}">
                <a16:creationId xmlns:a16="http://schemas.microsoft.com/office/drawing/2014/main" id="{0C635C13-6F63-8F44-B973-C0FCF877BB0D}"/>
              </a:ext>
            </a:extLst>
          </p:cNvPr>
          <p:cNvSpPr/>
          <p:nvPr/>
        </p:nvSpPr>
        <p:spPr>
          <a:xfrm>
            <a:off x="1307665" y="2220486"/>
            <a:ext cx="7926723" cy="369332"/>
          </a:xfrm>
          <a:prstGeom prst="rect">
            <a:avLst/>
          </a:prstGeom>
        </p:spPr>
        <p:txBody>
          <a:bodyPr wrap="square">
            <a:spAutoFit/>
          </a:bodyPr>
          <a:lstStyle/>
          <a:p>
            <a:pPr marL="285750" indent="-285750">
              <a:buFont typeface="Wingdings" panose="05000000000000000000" pitchFamily="2" charset="2"/>
              <a:buChar char="Ø"/>
            </a:pPr>
            <a:r>
              <a:rPr lang="en-US" dirty="0"/>
              <a:t>The last digit dropped is less than 5, the last digit retained remains as it is.</a:t>
            </a:r>
          </a:p>
        </p:txBody>
      </p:sp>
      <p:grpSp>
        <p:nvGrpSpPr>
          <p:cNvPr id="11" name="Group 10">
            <a:extLst>
              <a:ext uri="{FF2B5EF4-FFF2-40B4-BE49-F238E27FC236}">
                <a16:creationId xmlns:a16="http://schemas.microsoft.com/office/drawing/2014/main" id="{5C008E14-F1EF-8144-9908-427A702D008F}"/>
              </a:ext>
            </a:extLst>
          </p:cNvPr>
          <p:cNvGrpSpPr/>
          <p:nvPr/>
        </p:nvGrpSpPr>
        <p:grpSpPr>
          <a:xfrm>
            <a:off x="2494499" y="2820813"/>
            <a:ext cx="4719246" cy="600166"/>
            <a:chOff x="911211" y="1482307"/>
            <a:chExt cx="4719246" cy="600166"/>
          </a:xfrm>
        </p:grpSpPr>
        <p:sp>
          <p:nvSpPr>
            <p:cNvPr id="12" name="Rectangle 11">
              <a:extLst>
                <a:ext uri="{FF2B5EF4-FFF2-40B4-BE49-F238E27FC236}">
                  <a16:creationId xmlns:a16="http://schemas.microsoft.com/office/drawing/2014/main" id="{F79A4817-54A2-D142-9CE4-7E834ADDDC1C}"/>
                </a:ext>
              </a:extLst>
            </p:cNvPr>
            <p:cNvSpPr/>
            <p:nvPr/>
          </p:nvSpPr>
          <p:spPr>
            <a:xfrm>
              <a:off x="911211" y="1620808"/>
              <a:ext cx="1039067" cy="461665"/>
            </a:xfrm>
            <a:prstGeom prst="rect">
              <a:avLst/>
            </a:prstGeom>
          </p:spPr>
          <p:txBody>
            <a:bodyPr wrap="none">
              <a:spAutoFit/>
            </a:bodyPr>
            <a:lstStyle/>
            <a:p>
              <a:r>
                <a:rPr lang="en-US" sz="2400" dirty="0"/>
                <a:t>28.314</a:t>
              </a:r>
            </a:p>
          </p:txBody>
        </p:sp>
        <p:cxnSp>
          <p:nvCxnSpPr>
            <p:cNvPr id="13" name="Straight Arrow Connector 12">
              <a:extLst>
                <a:ext uri="{FF2B5EF4-FFF2-40B4-BE49-F238E27FC236}">
                  <a16:creationId xmlns:a16="http://schemas.microsoft.com/office/drawing/2014/main" id="{59F6CBAE-FABC-F44A-A023-234086800BF0}"/>
                </a:ext>
              </a:extLst>
            </p:cNvPr>
            <p:cNvCxnSpPr/>
            <p:nvPr/>
          </p:nvCxnSpPr>
          <p:spPr>
            <a:xfrm>
              <a:off x="2043404" y="1851640"/>
              <a:ext cx="2705878" cy="0"/>
            </a:xfrm>
            <a:prstGeom prst="straightConnector1">
              <a:avLst/>
            </a:prstGeom>
            <a:ln w="254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8C8B1078-4BDF-D24F-8498-6D25EE782195}"/>
                </a:ext>
              </a:extLst>
            </p:cNvPr>
            <p:cNvSpPr/>
            <p:nvPr/>
          </p:nvSpPr>
          <p:spPr>
            <a:xfrm>
              <a:off x="4902373" y="1608759"/>
              <a:ext cx="728084" cy="461665"/>
            </a:xfrm>
            <a:prstGeom prst="rect">
              <a:avLst/>
            </a:prstGeom>
          </p:spPr>
          <p:txBody>
            <a:bodyPr wrap="none">
              <a:spAutoFit/>
            </a:bodyPr>
            <a:lstStyle/>
            <a:p>
              <a:r>
                <a:rPr lang="en-US" sz="2400" dirty="0"/>
                <a:t>28.3</a:t>
              </a:r>
            </a:p>
          </p:txBody>
        </p:sp>
        <p:sp>
          <p:nvSpPr>
            <p:cNvPr id="15" name="Rectangle 14">
              <a:extLst>
                <a:ext uri="{FF2B5EF4-FFF2-40B4-BE49-F238E27FC236}">
                  <a16:creationId xmlns:a16="http://schemas.microsoft.com/office/drawing/2014/main" id="{62036770-6483-5E45-AF9B-2E292441E422}"/>
                </a:ext>
              </a:extLst>
            </p:cNvPr>
            <p:cNvSpPr/>
            <p:nvPr/>
          </p:nvSpPr>
          <p:spPr>
            <a:xfrm>
              <a:off x="2196495" y="1482307"/>
              <a:ext cx="2247025" cy="369332"/>
            </a:xfrm>
            <a:prstGeom prst="rect">
              <a:avLst/>
            </a:prstGeom>
          </p:spPr>
          <p:txBody>
            <a:bodyPr wrap="none">
              <a:spAutoFit/>
            </a:bodyPr>
            <a:lstStyle/>
            <a:p>
              <a:r>
                <a:rPr lang="en-US" dirty="0"/>
                <a:t>Round to first decimal</a:t>
              </a:r>
            </a:p>
          </p:txBody>
        </p:sp>
      </p:grpSp>
      <p:sp>
        <p:nvSpPr>
          <p:cNvPr id="16" name="Rectangle 15">
            <a:extLst>
              <a:ext uri="{FF2B5EF4-FFF2-40B4-BE49-F238E27FC236}">
                <a16:creationId xmlns:a16="http://schemas.microsoft.com/office/drawing/2014/main" id="{A50F00F3-1CEB-D247-81D8-BF80A2A39E31}"/>
              </a:ext>
            </a:extLst>
          </p:cNvPr>
          <p:cNvSpPr/>
          <p:nvPr/>
        </p:nvSpPr>
        <p:spPr>
          <a:xfrm>
            <a:off x="1307665" y="3623936"/>
            <a:ext cx="7926723" cy="646331"/>
          </a:xfrm>
          <a:prstGeom prst="rect">
            <a:avLst/>
          </a:prstGeom>
        </p:spPr>
        <p:txBody>
          <a:bodyPr wrap="square">
            <a:spAutoFit/>
          </a:bodyPr>
          <a:lstStyle/>
          <a:p>
            <a:pPr marL="285750" indent="-285750">
              <a:buFont typeface="Wingdings" panose="05000000000000000000" pitchFamily="2" charset="2"/>
              <a:buChar char="Ø"/>
            </a:pPr>
            <a:r>
              <a:rPr lang="en-US" dirty="0"/>
              <a:t>If the last digit dropped is equal to 5, the remaining digit should be rounded to the nearest even number</a:t>
            </a:r>
          </a:p>
        </p:txBody>
      </p:sp>
      <p:grpSp>
        <p:nvGrpSpPr>
          <p:cNvPr id="17" name="Group 16">
            <a:extLst>
              <a:ext uri="{FF2B5EF4-FFF2-40B4-BE49-F238E27FC236}">
                <a16:creationId xmlns:a16="http://schemas.microsoft.com/office/drawing/2014/main" id="{53164BE1-19EA-E545-911A-82C21A20BDC1}"/>
              </a:ext>
            </a:extLst>
          </p:cNvPr>
          <p:cNvGrpSpPr/>
          <p:nvPr/>
        </p:nvGrpSpPr>
        <p:grpSpPr>
          <a:xfrm>
            <a:off x="2494499" y="4310279"/>
            <a:ext cx="6938059" cy="600166"/>
            <a:chOff x="911211" y="1482307"/>
            <a:chExt cx="6938059" cy="600166"/>
          </a:xfrm>
        </p:grpSpPr>
        <p:sp>
          <p:nvSpPr>
            <p:cNvPr id="18" name="Rectangle 17">
              <a:extLst>
                <a:ext uri="{FF2B5EF4-FFF2-40B4-BE49-F238E27FC236}">
                  <a16:creationId xmlns:a16="http://schemas.microsoft.com/office/drawing/2014/main" id="{A5773FB3-F3A7-9248-B6EE-2CD333FE6C59}"/>
                </a:ext>
              </a:extLst>
            </p:cNvPr>
            <p:cNvSpPr/>
            <p:nvPr/>
          </p:nvSpPr>
          <p:spPr>
            <a:xfrm>
              <a:off x="911211" y="1620808"/>
              <a:ext cx="1039067" cy="461665"/>
            </a:xfrm>
            <a:prstGeom prst="rect">
              <a:avLst/>
            </a:prstGeom>
          </p:spPr>
          <p:txBody>
            <a:bodyPr wrap="none">
              <a:spAutoFit/>
            </a:bodyPr>
            <a:lstStyle/>
            <a:p>
              <a:r>
                <a:rPr lang="en-US" sz="2400" dirty="0"/>
                <a:t>28.354</a:t>
              </a:r>
            </a:p>
          </p:txBody>
        </p:sp>
        <p:cxnSp>
          <p:nvCxnSpPr>
            <p:cNvPr id="19" name="Straight Arrow Connector 18">
              <a:extLst>
                <a:ext uri="{FF2B5EF4-FFF2-40B4-BE49-F238E27FC236}">
                  <a16:creationId xmlns:a16="http://schemas.microsoft.com/office/drawing/2014/main" id="{A4D4CEAA-79BF-BF49-A150-85711A515445}"/>
                </a:ext>
              </a:extLst>
            </p:cNvPr>
            <p:cNvCxnSpPr/>
            <p:nvPr/>
          </p:nvCxnSpPr>
          <p:spPr>
            <a:xfrm>
              <a:off x="2043404" y="1851640"/>
              <a:ext cx="2705878" cy="0"/>
            </a:xfrm>
            <a:prstGeom prst="straightConnector1">
              <a:avLst/>
            </a:prstGeom>
            <a:ln w="254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194B9584-6910-934D-A02A-7C2AAF17C4FF}"/>
                </a:ext>
              </a:extLst>
            </p:cNvPr>
            <p:cNvSpPr/>
            <p:nvPr/>
          </p:nvSpPr>
          <p:spPr>
            <a:xfrm>
              <a:off x="4902373" y="1608759"/>
              <a:ext cx="2946897" cy="461665"/>
            </a:xfrm>
            <a:prstGeom prst="rect">
              <a:avLst/>
            </a:prstGeom>
          </p:spPr>
          <p:txBody>
            <a:bodyPr wrap="none">
              <a:spAutoFit/>
            </a:bodyPr>
            <a:lstStyle/>
            <a:p>
              <a:r>
                <a:rPr lang="en-US" sz="2400" dirty="0"/>
                <a:t>28.4 </a:t>
              </a:r>
              <a:r>
                <a:rPr lang="en-US" sz="1200" dirty="0">
                  <a:solidFill>
                    <a:srgbClr val="0000CC"/>
                  </a:solidFill>
                </a:rPr>
                <a:t> as .35 is closer to 0.4 than to 0.2)</a:t>
              </a:r>
            </a:p>
          </p:txBody>
        </p:sp>
        <p:sp>
          <p:nvSpPr>
            <p:cNvPr id="21" name="Rectangle 20">
              <a:extLst>
                <a:ext uri="{FF2B5EF4-FFF2-40B4-BE49-F238E27FC236}">
                  <a16:creationId xmlns:a16="http://schemas.microsoft.com/office/drawing/2014/main" id="{AA6FC606-4688-D640-B441-33BD5D51DAAD}"/>
                </a:ext>
              </a:extLst>
            </p:cNvPr>
            <p:cNvSpPr/>
            <p:nvPr/>
          </p:nvSpPr>
          <p:spPr>
            <a:xfrm>
              <a:off x="2196495" y="1482307"/>
              <a:ext cx="2247025" cy="369332"/>
            </a:xfrm>
            <a:prstGeom prst="rect">
              <a:avLst/>
            </a:prstGeom>
          </p:spPr>
          <p:txBody>
            <a:bodyPr wrap="none">
              <a:spAutoFit/>
            </a:bodyPr>
            <a:lstStyle/>
            <a:p>
              <a:r>
                <a:rPr lang="en-US" dirty="0"/>
                <a:t>Round to first decimal</a:t>
              </a:r>
            </a:p>
          </p:txBody>
        </p:sp>
      </p:grpSp>
      <p:grpSp>
        <p:nvGrpSpPr>
          <p:cNvPr id="22" name="Group 21">
            <a:extLst>
              <a:ext uri="{FF2B5EF4-FFF2-40B4-BE49-F238E27FC236}">
                <a16:creationId xmlns:a16="http://schemas.microsoft.com/office/drawing/2014/main" id="{F49F4CCF-815A-0C41-8874-DF85CD641440}"/>
              </a:ext>
            </a:extLst>
          </p:cNvPr>
          <p:cNvGrpSpPr/>
          <p:nvPr/>
        </p:nvGrpSpPr>
        <p:grpSpPr>
          <a:xfrm>
            <a:off x="2491611" y="5068667"/>
            <a:ext cx="6856305" cy="600166"/>
            <a:chOff x="911211" y="1482307"/>
            <a:chExt cx="6856305" cy="600166"/>
          </a:xfrm>
        </p:grpSpPr>
        <p:sp>
          <p:nvSpPr>
            <p:cNvPr id="23" name="Rectangle 22">
              <a:extLst>
                <a:ext uri="{FF2B5EF4-FFF2-40B4-BE49-F238E27FC236}">
                  <a16:creationId xmlns:a16="http://schemas.microsoft.com/office/drawing/2014/main" id="{990EC924-8601-3946-A1E4-2BB524855477}"/>
                </a:ext>
              </a:extLst>
            </p:cNvPr>
            <p:cNvSpPr/>
            <p:nvPr/>
          </p:nvSpPr>
          <p:spPr>
            <a:xfrm>
              <a:off x="911211" y="1620808"/>
              <a:ext cx="1039067" cy="461665"/>
            </a:xfrm>
            <a:prstGeom prst="rect">
              <a:avLst/>
            </a:prstGeom>
          </p:spPr>
          <p:txBody>
            <a:bodyPr wrap="none">
              <a:spAutoFit/>
            </a:bodyPr>
            <a:lstStyle/>
            <a:p>
              <a:r>
                <a:rPr lang="en-US" sz="2400" dirty="0"/>
                <a:t>28.654</a:t>
              </a:r>
            </a:p>
          </p:txBody>
        </p:sp>
        <p:cxnSp>
          <p:nvCxnSpPr>
            <p:cNvPr id="24" name="Straight Arrow Connector 23">
              <a:extLst>
                <a:ext uri="{FF2B5EF4-FFF2-40B4-BE49-F238E27FC236}">
                  <a16:creationId xmlns:a16="http://schemas.microsoft.com/office/drawing/2014/main" id="{FF47EED2-70AF-F24D-B11D-40023381D0B3}"/>
                </a:ext>
              </a:extLst>
            </p:cNvPr>
            <p:cNvCxnSpPr/>
            <p:nvPr/>
          </p:nvCxnSpPr>
          <p:spPr>
            <a:xfrm>
              <a:off x="2043404" y="1851640"/>
              <a:ext cx="2705878" cy="0"/>
            </a:xfrm>
            <a:prstGeom prst="straightConnector1">
              <a:avLst/>
            </a:prstGeom>
            <a:ln w="254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5" name="Rectangle 24">
              <a:extLst>
                <a:ext uri="{FF2B5EF4-FFF2-40B4-BE49-F238E27FC236}">
                  <a16:creationId xmlns:a16="http://schemas.microsoft.com/office/drawing/2014/main" id="{7971FA91-5AB7-7A41-B81F-BBA8CD2E9196}"/>
                </a:ext>
              </a:extLst>
            </p:cNvPr>
            <p:cNvSpPr/>
            <p:nvPr/>
          </p:nvSpPr>
          <p:spPr>
            <a:xfrm>
              <a:off x="4902373" y="1608759"/>
              <a:ext cx="2865143" cy="461665"/>
            </a:xfrm>
            <a:prstGeom prst="rect">
              <a:avLst/>
            </a:prstGeom>
          </p:spPr>
          <p:txBody>
            <a:bodyPr wrap="none">
              <a:spAutoFit/>
            </a:bodyPr>
            <a:lstStyle/>
            <a:p>
              <a:r>
                <a:rPr lang="en-US" sz="2400" dirty="0"/>
                <a:t>28.6</a:t>
              </a:r>
              <a:r>
                <a:rPr lang="en-US" sz="2400" dirty="0">
                  <a:solidFill>
                    <a:srgbClr val="0000CC"/>
                  </a:solidFill>
                </a:rPr>
                <a:t> </a:t>
              </a:r>
              <a:r>
                <a:rPr lang="en-US" sz="1200" dirty="0">
                  <a:solidFill>
                    <a:srgbClr val="0000CC"/>
                  </a:solidFill>
                </a:rPr>
                <a:t>as .65 is closer to 0.6 than to 0.8)</a:t>
              </a:r>
              <a:endParaRPr lang="en-US" sz="1200" dirty="0"/>
            </a:p>
          </p:txBody>
        </p:sp>
        <p:sp>
          <p:nvSpPr>
            <p:cNvPr id="26" name="Rectangle 25">
              <a:extLst>
                <a:ext uri="{FF2B5EF4-FFF2-40B4-BE49-F238E27FC236}">
                  <a16:creationId xmlns:a16="http://schemas.microsoft.com/office/drawing/2014/main" id="{759E0CE5-38CF-454A-9156-C56075A0BAD1}"/>
                </a:ext>
              </a:extLst>
            </p:cNvPr>
            <p:cNvSpPr/>
            <p:nvPr/>
          </p:nvSpPr>
          <p:spPr>
            <a:xfrm>
              <a:off x="2196495" y="1482307"/>
              <a:ext cx="2247025" cy="369332"/>
            </a:xfrm>
            <a:prstGeom prst="rect">
              <a:avLst/>
            </a:prstGeom>
          </p:spPr>
          <p:txBody>
            <a:bodyPr wrap="none">
              <a:spAutoFit/>
            </a:bodyPr>
            <a:lstStyle/>
            <a:p>
              <a:r>
                <a:rPr lang="en-US" dirty="0"/>
                <a:t>Round to first decimal</a:t>
              </a:r>
            </a:p>
          </p:txBody>
        </p:sp>
      </p:grpSp>
      <p:sp>
        <p:nvSpPr>
          <p:cNvPr id="27" name="Rectangle 26">
            <a:extLst>
              <a:ext uri="{FF2B5EF4-FFF2-40B4-BE49-F238E27FC236}">
                <a16:creationId xmlns:a16="http://schemas.microsoft.com/office/drawing/2014/main" id="{6CC000AE-E835-EA48-9DFC-A07886532FC6}"/>
              </a:ext>
            </a:extLst>
          </p:cNvPr>
          <p:cNvSpPr/>
          <p:nvPr/>
        </p:nvSpPr>
        <p:spPr>
          <a:xfrm>
            <a:off x="1013381" y="5585734"/>
            <a:ext cx="7926723" cy="446276"/>
          </a:xfrm>
          <a:prstGeom prst="rect">
            <a:avLst/>
          </a:prstGeom>
        </p:spPr>
        <p:txBody>
          <a:bodyPr wrap="square">
            <a:spAutoFit/>
          </a:bodyPr>
          <a:lstStyle/>
          <a:p>
            <a:pPr marL="285750" indent="-285750">
              <a:buFont typeface="Wingdings" panose="05000000000000000000" pitchFamily="2" charset="2"/>
              <a:buChar char="Ø"/>
            </a:pPr>
            <a:r>
              <a:rPr lang="en-US" sz="2300" dirty="0">
                <a:solidFill>
                  <a:srgbClr val="008000"/>
                </a:solidFill>
              </a:rPr>
              <a:t>Example: </a:t>
            </a:r>
            <a:r>
              <a:rPr lang="en-US" sz="2300" dirty="0">
                <a:solidFill>
                  <a:srgbClr val="C00000"/>
                </a:solidFill>
              </a:rPr>
              <a:t>2.5+7.5+12.0+9.3+4.5+6.6=42.4</a:t>
            </a:r>
          </a:p>
        </p:txBody>
      </p:sp>
      <p:sp>
        <p:nvSpPr>
          <p:cNvPr id="28" name="Rectangle 27">
            <a:extLst>
              <a:ext uri="{FF2B5EF4-FFF2-40B4-BE49-F238E27FC236}">
                <a16:creationId xmlns:a16="http://schemas.microsoft.com/office/drawing/2014/main" id="{59EFA097-24B6-1343-A820-F628D3E60C82}"/>
              </a:ext>
            </a:extLst>
          </p:cNvPr>
          <p:cNvSpPr/>
          <p:nvPr/>
        </p:nvSpPr>
        <p:spPr>
          <a:xfrm>
            <a:off x="4233016" y="6139713"/>
            <a:ext cx="5662481" cy="446276"/>
          </a:xfrm>
          <a:prstGeom prst="rect">
            <a:avLst/>
          </a:prstGeom>
        </p:spPr>
        <p:txBody>
          <a:bodyPr wrap="square">
            <a:spAutoFit/>
          </a:bodyPr>
          <a:lstStyle/>
          <a:p>
            <a:r>
              <a:rPr lang="en-US" sz="2300" dirty="0">
                <a:solidFill>
                  <a:srgbClr val="0000CC"/>
                </a:solidFill>
              </a:rPr>
              <a:t>Assignment 4: </a:t>
            </a:r>
            <a:r>
              <a:rPr lang="en-US" sz="2300" dirty="0">
                <a:solidFill>
                  <a:srgbClr val="C00000"/>
                </a:solidFill>
              </a:rPr>
              <a:t>5.6+6.5+12.7+9.2+9.5+6.1=?</a:t>
            </a:r>
            <a:endParaRPr lang="en-US" sz="2300" dirty="0">
              <a:solidFill>
                <a:srgbClr val="0000CC"/>
              </a:solidFill>
            </a:endParaRPr>
          </a:p>
        </p:txBody>
      </p:sp>
    </p:spTree>
    <p:extLst>
      <p:ext uri="{BB962C8B-B14F-4D97-AF65-F5344CB8AC3E}">
        <p14:creationId xmlns:p14="http://schemas.microsoft.com/office/powerpoint/2010/main" val="125758181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8"/>
                                        </p:tgtEl>
                                        <p:attrNameLst>
                                          <p:attrName>style.visibility</p:attrName>
                                        </p:attrNameLst>
                                      </p:cBhvr>
                                      <p:to>
                                        <p:strVal val="visible"/>
                                      </p:to>
                                    </p:set>
                                    <p:animEffect transition="in" filter="wipe(left)">
                                      <p:cBhvr>
                                        <p:cTn id="27"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6" grpId="0"/>
      <p:bldP spid="27" grpId="0"/>
      <p:bldP spid="28"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L:\Clients\Connexions\01_CNX_ Admin\00_OSC_Project_Resources\14_OSC_Production\PowerPoints\OSX-Stacked-TM-CMYK-300dp1-2016.jpg">
            <a:extLst>
              <a:ext uri="{FF2B5EF4-FFF2-40B4-BE49-F238E27FC236}">
                <a16:creationId xmlns:a16="http://schemas.microsoft.com/office/drawing/2014/main" id="{C34C680B-ED90-5348-80E8-759D74A0E791}"/>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 xmlns:a14="http://schemas.microsoft.com/office/drawing/2010/main">
                <a:solidFill>
                  <a:srgbClr val="FFFFFF"/>
                </a:solidFill>
              </a14:hiddenFill>
            </a:ext>
          </a:extLst>
        </p:spPr>
      </p:pic>
      <p:pic>
        <p:nvPicPr>
          <p:cNvPr id="3" name="Picture Placeholder 1" descr="A photograph of a student’s hand, working on a problem with an open textbook, a calculator, and an eraser.">
            <a:extLst>
              <a:ext uri="{FF2B5EF4-FFF2-40B4-BE49-F238E27FC236}">
                <a16:creationId xmlns:a16="http://schemas.microsoft.com/office/drawing/2014/main" id="{67E3E802-7E85-6F46-8B6C-EC03CC7342AD}"/>
              </a:ext>
            </a:extLst>
          </p:cNvPr>
          <p:cNvPicPr>
            <a:picLocks noChangeAspect="1"/>
          </p:cNvPicPr>
          <p:nvPr/>
        </p:nvPicPr>
        <p:blipFill>
          <a:blip r:embed="rId3" cstate="email">
            <a:extLst>
              <a:ext uri="{28A0092B-C50C-407E-A947-70E740481C1C}">
                <a14:useLocalDpi xmlns:a14="http://schemas.microsoft.com/office/drawing/2010/main" val="0"/>
              </a:ext>
            </a:extLst>
          </a:blip>
          <a:srcRect l="-26893" r="-26893"/>
          <a:stretch>
            <a:fillRect/>
          </a:stretch>
        </p:blipFill>
        <p:spPr>
          <a:xfrm>
            <a:off x="-514350" y="802276"/>
            <a:ext cx="6319353" cy="2743200"/>
          </a:xfrm>
          <a:prstGeom prst="rect">
            <a:avLst/>
          </a:prstGeom>
        </p:spPr>
      </p:pic>
      <p:sp>
        <p:nvSpPr>
          <p:cNvPr id="4" name="Text Placeholder 6">
            <a:extLst>
              <a:ext uri="{FF2B5EF4-FFF2-40B4-BE49-F238E27FC236}">
                <a16:creationId xmlns:a16="http://schemas.microsoft.com/office/drawing/2014/main" id="{763F0313-897E-CA4D-A5B6-C5076983DF22}"/>
              </a:ext>
            </a:extLst>
          </p:cNvPr>
          <p:cNvSpPr txBox="1">
            <a:spLocks/>
          </p:cNvSpPr>
          <p:nvPr/>
        </p:nvSpPr>
        <p:spPr>
          <a:xfrm>
            <a:off x="142874" y="3735488"/>
            <a:ext cx="5357813" cy="1166382"/>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dirty="0">
                <a:solidFill>
                  <a:srgbClr val="000066"/>
                </a:solidFill>
              </a:rPr>
              <a:t>Problem-solving skills are essential to your success in physics. </a:t>
            </a:r>
          </a:p>
          <a:p>
            <a:pPr marL="0" indent="0">
              <a:buNone/>
            </a:pPr>
            <a:r>
              <a:rPr lang="en-US" sz="1200" dirty="0"/>
              <a:t>(credit: “scui3asteveo”/Flickr)</a:t>
            </a:r>
          </a:p>
        </p:txBody>
      </p:sp>
      <p:sp>
        <p:nvSpPr>
          <p:cNvPr id="5" name="Rectangle 4">
            <a:extLst>
              <a:ext uri="{FF2B5EF4-FFF2-40B4-BE49-F238E27FC236}">
                <a16:creationId xmlns:a16="http://schemas.microsoft.com/office/drawing/2014/main" id="{B808F997-5506-4C41-BE84-068D91DAEF7B}"/>
              </a:ext>
            </a:extLst>
          </p:cNvPr>
          <p:cNvSpPr/>
          <p:nvPr/>
        </p:nvSpPr>
        <p:spPr>
          <a:xfrm>
            <a:off x="3897726" y="89044"/>
            <a:ext cx="3591876" cy="523220"/>
          </a:xfrm>
          <a:prstGeom prst="rect">
            <a:avLst/>
          </a:prstGeom>
        </p:spPr>
        <p:txBody>
          <a:bodyPr wrap="square">
            <a:spAutoFit/>
          </a:bodyPr>
          <a:lstStyle/>
          <a:p>
            <a:r>
              <a:rPr lang="en-US" sz="2800" dirty="0">
                <a:solidFill>
                  <a:srgbClr val="C00000"/>
                </a:solidFill>
                <a:latin typeface="NewBaskervilleStd-Roman"/>
              </a:rPr>
              <a:t>Problem solving</a:t>
            </a:r>
          </a:p>
        </p:txBody>
      </p:sp>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51D9CD39-A9B2-C54E-8408-5C6D198EA96A}"/>
                  </a:ext>
                </a:extLst>
              </p:cNvPr>
              <p:cNvSpPr/>
              <p:nvPr/>
            </p:nvSpPr>
            <p:spPr>
              <a:xfrm>
                <a:off x="4333198" y="4166557"/>
                <a:ext cx="7472088" cy="2578976"/>
              </a:xfrm>
              <a:prstGeom prst="rect">
                <a:avLst/>
              </a:prstGeom>
            </p:spPr>
            <p:txBody>
              <a:bodyPr wrap="square">
                <a:spAutoFit/>
              </a:bodyPr>
              <a:lstStyle/>
              <a:p>
                <a:pPr>
                  <a:lnSpc>
                    <a:spcPct val="150000"/>
                  </a:lnSpc>
                </a:pPr>
                <a:r>
                  <a:rPr lang="en-US" sz="2200" dirty="0">
                    <a:solidFill>
                      <a:srgbClr val="008000"/>
                    </a:solidFill>
                  </a:rPr>
                  <a:t>Example</a:t>
                </a:r>
              </a:p>
              <a:p>
                <a:pPr>
                  <a:lnSpc>
                    <a:spcPct val="150000"/>
                  </a:lnSpc>
                </a:pPr>
                <a:r>
                  <a:rPr lang="en-US" sz="2200" dirty="0"/>
                  <a:t>A field has </a:t>
                </a:r>
                <a14:m>
                  <m:oMath xmlns:m="http://schemas.openxmlformats.org/officeDocument/2006/math">
                    <m:r>
                      <a:rPr lang="en-US" sz="2200" i="1" dirty="0" smtClean="0">
                        <a:latin typeface="Cambria Math" panose="02040503050406030204" pitchFamily="18" charset="0"/>
                      </a:rPr>
                      <m:t>125</m:t>
                    </m:r>
                    <m:r>
                      <a:rPr lang="en-US" sz="2200" i="1" dirty="0" smtClean="0">
                        <a:latin typeface="Cambria Math" panose="02040503050406030204" pitchFamily="18" charset="0"/>
                        <a:ea typeface="Cambria Math" panose="02040503050406030204" pitchFamily="18" charset="0"/>
                      </a:rPr>
                      <m:t>±</m:t>
                    </m:r>
                    <m:r>
                      <a:rPr lang="en-US" sz="2200" b="0" i="1" dirty="0" smtClean="0">
                        <a:latin typeface="Cambria Math" panose="02040503050406030204" pitchFamily="18" charset="0"/>
                        <a:ea typeface="Cambria Math" panose="02040503050406030204" pitchFamily="18" charset="0"/>
                      </a:rPr>
                      <m:t>1.8</m:t>
                    </m:r>
                  </m:oMath>
                </a14:m>
                <a:r>
                  <a:rPr lang="en-US" sz="2200" dirty="0"/>
                  <a:t> ft length and </a:t>
                </a:r>
                <a14:m>
                  <m:oMath xmlns:m="http://schemas.openxmlformats.org/officeDocument/2006/math">
                    <m:r>
                      <a:rPr lang="en-US" sz="2200" i="1" dirty="0" smtClean="0">
                        <a:latin typeface="Cambria Math" panose="02040503050406030204" pitchFamily="18" charset="0"/>
                      </a:rPr>
                      <m:t>6</m:t>
                    </m:r>
                    <m:r>
                      <a:rPr lang="en-US" sz="2200" i="1" dirty="0">
                        <a:latin typeface="Cambria Math" panose="02040503050406030204" pitchFamily="18" charset="0"/>
                      </a:rPr>
                      <m:t>5</m:t>
                    </m:r>
                    <m:r>
                      <a:rPr lang="en-US" sz="2200" i="1" dirty="0">
                        <a:latin typeface="Cambria Math" panose="02040503050406030204" pitchFamily="18" charset="0"/>
                        <a:ea typeface="Cambria Math" panose="02040503050406030204" pitchFamily="18" charset="0"/>
                      </a:rPr>
                      <m:t>±1.2</m:t>
                    </m:r>
                  </m:oMath>
                </a14:m>
                <a:r>
                  <a:rPr lang="en-US" sz="2200" dirty="0"/>
                  <a:t> ft width. </a:t>
                </a:r>
              </a:p>
              <a:p>
                <a:pPr>
                  <a:lnSpc>
                    <a:spcPct val="150000"/>
                  </a:lnSpc>
                </a:pPr>
                <a:r>
                  <a:rPr lang="en-US" sz="2200" dirty="0"/>
                  <a:t>a) Calculate the area in square feet, including the uncertainty. </a:t>
                </a:r>
              </a:p>
              <a:p>
                <a:pPr>
                  <a:lnSpc>
                    <a:spcPct val="150000"/>
                  </a:lnSpc>
                </a:pPr>
                <a:r>
                  <a:rPr lang="en-US" sz="2200" dirty="0"/>
                  <a:t>b) Convert the area to square meters, including the uncertainty.</a:t>
                </a:r>
              </a:p>
              <a:p>
                <a:pPr>
                  <a:lnSpc>
                    <a:spcPct val="150000"/>
                  </a:lnSpc>
                </a:pPr>
                <a:r>
                  <a:rPr lang="en-US" sz="2200" dirty="0"/>
                  <a:t>								</a:t>
                </a:r>
                <a:r>
                  <a:rPr lang="en-US" sz="2200" dirty="0">
                    <a:solidFill>
                      <a:srgbClr val="FF0000"/>
                    </a:solidFill>
                  </a:rPr>
                  <a:t>1 ft = 0.3048 m</a:t>
                </a:r>
                <a:r>
                  <a:rPr lang="en-US" sz="2200" dirty="0"/>
                  <a:t> </a:t>
                </a:r>
              </a:p>
            </p:txBody>
          </p:sp>
        </mc:Choice>
        <mc:Fallback xmlns="">
          <p:sp>
            <p:nvSpPr>
              <p:cNvPr id="8" name="Rectangle 7">
                <a:extLst>
                  <a:ext uri="{FF2B5EF4-FFF2-40B4-BE49-F238E27FC236}">
                    <a16:creationId xmlns:a16="http://schemas.microsoft.com/office/drawing/2014/main" id="{51D9CD39-A9B2-C54E-8408-5C6D198EA96A}"/>
                  </a:ext>
                </a:extLst>
              </p:cNvPr>
              <p:cNvSpPr>
                <a:spLocks noRot="1" noChangeAspect="1" noMove="1" noResize="1" noEditPoints="1" noAdjustHandles="1" noChangeArrowheads="1" noChangeShapeType="1" noTextEdit="1"/>
              </p:cNvSpPr>
              <p:nvPr/>
            </p:nvSpPr>
            <p:spPr>
              <a:xfrm>
                <a:off x="4333198" y="4166557"/>
                <a:ext cx="7472088" cy="2578976"/>
              </a:xfrm>
              <a:prstGeom prst="rect">
                <a:avLst/>
              </a:prstGeom>
              <a:blipFill>
                <a:blip r:embed="rId4"/>
                <a:stretch>
                  <a:fillRect l="-1019" b="-3902"/>
                </a:stretch>
              </a:blipFill>
            </p:spPr>
            <p:txBody>
              <a:bodyPr/>
              <a:lstStyle/>
              <a:p>
                <a:r>
                  <a:rPr lang="en-US">
                    <a:noFill/>
                  </a:rPr>
                  <a:t> </a:t>
                </a:r>
              </a:p>
            </p:txBody>
          </p:sp>
        </mc:Fallback>
      </mc:AlternateContent>
    </p:spTree>
    <p:extLst>
      <p:ext uri="{BB962C8B-B14F-4D97-AF65-F5344CB8AC3E}">
        <p14:creationId xmlns:p14="http://schemas.microsoft.com/office/powerpoint/2010/main" val="237607375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L:\Clients\Connexions\01_CNX_ Admin\00_OSC_Project_Resources\14_OSC_Production\PowerPoints\OSX-Stacked-TM-CMYK-300dp1-2016.jpg">
            <a:extLst>
              <a:ext uri="{FF2B5EF4-FFF2-40B4-BE49-F238E27FC236}">
                <a16:creationId xmlns:a16="http://schemas.microsoft.com/office/drawing/2014/main" id="{C34C680B-ED90-5348-80E8-759D74A0E791}"/>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 xmlns:a14="http://schemas.microsoft.com/office/drawing/2010/main">
                <a:solidFill>
                  <a:srgbClr val="FFFFFF"/>
                </a:solidFill>
              </a14:hiddenFill>
            </a:ext>
          </a:extLst>
        </p:spPr>
      </p:pic>
      <p:pic>
        <p:nvPicPr>
          <p:cNvPr id="3" name="Picture Placeholder 1" descr="A photograph of a student’s hand, working on a problem with an open textbook, a calculator, and an eraser.">
            <a:extLst>
              <a:ext uri="{FF2B5EF4-FFF2-40B4-BE49-F238E27FC236}">
                <a16:creationId xmlns:a16="http://schemas.microsoft.com/office/drawing/2014/main" id="{67E3E802-7E85-6F46-8B6C-EC03CC7342AD}"/>
              </a:ext>
            </a:extLst>
          </p:cNvPr>
          <p:cNvPicPr>
            <a:picLocks noChangeAspect="1"/>
          </p:cNvPicPr>
          <p:nvPr/>
        </p:nvPicPr>
        <p:blipFill>
          <a:blip r:embed="rId3" cstate="email">
            <a:extLst>
              <a:ext uri="{28A0092B-C50C-407E-A947-70E740481C1C}">
                <a14:useLocalDpi xmlns:a14="http://schemas.microsoft.com/office/drawing/2010/main" val="0"/>
              </a:ext>
            </a:extLst>
          </a:blip>
          <a:srcRect l="-26893" r="-26893"/>
          <a:stretch>
            <a:fillRect/>
          </a:stretch>
        </p:blipFill>
        <p:spPr>
          <a:xfrm>
            <a:off x="-514350" y="802276"/>
            <a:ext cx="6319353" cy="2743200"/>
          </a:xfrm>
          <a:prstGeom prst="rect">
            <a:avLst/>
          </a:prstGeom>
        </p:spPr>
      </p:pic>
      <p:sp>
        <p:nvSpPr>
          <p:cNvPr id="4" name="Text Placeholder 6">
            <a:extLst>
              <a:ext uri="{FF2B5EF4-FFF2-40B4-BE49-F238E27FC236}">
                <a16:creationId xmlns:a16="http://schemas.microsoft.com/office/drawing/2014/main" id="{763F0313-897E-CA4D-A5B6-C5076983DF22}"/>
              </a:ext>
            </a:extLst>
          </p:cNvPr>
          <p:cNvSpPr txBox="1">
            <a:spLocks/>
          </p:cNvSpPr>
          <p:nvPr/>
        </p:nvSpPr>
        <p:spPr>
          <a:xfrm>
            <a:off x="142874" y="3735488"/>
            <a:ext cx="5357813" cy="1166382"/>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dirty="0">
                <a:solidFill>
                  <a:srgbClr val="000066"/>
                </a:solidFill>
              </a:rPr>
              <a:t>Problem-solving skills are essential to your success in physics. </a:t>
            </a:r>
          </a:p>
          <a:p>
            <a:pPr marL="0" indent="0">
              <a:buNone/>
            </a:pPr>
            <a:r>
              <a:rPr lang="en-US" sz="1200" dirty="0"/>
              <a:t>(credit: “scui3asteveo”/Flickr)</a:t>
            </a:r>
          </a:p>
        </p:txBody>
      </p:sp>
      <p:sp>
        <p:nvSpPr>
          <p:cNvPr id="5" name="Rectangle 4">
            <a:extLst>
              <a:ext uri="{FF2B5EF4-FFF2-40B4-BE49-F238E27FC236}">
                <a16:creationId xmlns:a16="http://schemas.microsoft.com/office/drawing/2014/main" id="{B808F997-5506-4C41-BE84-068D91DAEF7B}"/>
              </a:ext>
            </a:extLst>
          </p:cNvPr>
          <p:cNvSpPr/>
          <p:nvPr/>
        </p:nvSpPr>
        <p:spPr>
          <a:xfrm>
            <a:off x="3897726" y="89044"/>
            <a:ext cx="3591876" cy="523220"/>
          </a:xfrm>
          <a:prstGeom prst="rect">
            <a:avLst/>
          </a:prstGeom>
        </p:spPr>
        <p:txBody>
          <a:bodyPr wrap="square">
            <a:spAutoFit/>
          </a:bodyPr>
          <a:lstStyle/>
          <a:p>
            <a:r>
              <a:rPr lang="en-US" sz="2800" dirty="0">
                <a:solidFill>
                  <a:srgbClr val="C00000"/>
                </a:solidFill>
                <a:latin typeface="NewBaskervilleStd-Roman"/>
              </a:rPr>
              <a:t>Problem solving</a:t>
            </a:r>
          </a:p>
        </p:txBody>
      </p:sp>
      <p:pic>
        <p:nvPicPr>
          <p:cNvPr id="7" name="Picture 6" descr="Text&#10;&#10;Description automatically generated">
            <a:extLst>
              <a:ext uri="{FF2B5EF4-FFF2-40B4-BE49-F238E27FC236}">
                <a16:creationId xmlns:a16="http://schemas.microsoft.com/office/drawing/2014/main" id="{58D1E699-73AB-C847-BEB8-A0F70E42247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05717" y="5091882"/>
            <a:ext cx="7075448" cy="1371600"/>
          </a:xfrm>
          <a:prstGeom prst="rect">
            <a:avLst/>
          </a:prstGeom>
        </p:spPr>
      </p:pic>
      <p:sp>
        <p:nvSpPr>
          <p:cNvPr id="8" name="Rectangle 7">
            <a:extLst>
              <a:ext uri="{FF2B5EF4-FFF2-40B4-BE49-F238E27FC236}">
                <a16:creationId xmlns:a16="http://schemas.microsoft.com/office/drawing/2014/main" id="{51D9CD39-A9B2-C54E-8408-5C6D198EA96A}"/>
              </a:ext>
            </a:extLst>
          </p:cNvPr>
          <p:cNvSpPr/>
          <p:nvPr/>
        </p:nvSpPr>
        <p:spPr>
          <a:xfrm>
            <a:off x="4577038" y="4686426"/>
            <a:ext cx="1152623" cy="430887"/>
          </a:xfrm>
          <a:prstGeom prst="rect">
            <a:avLst/>
          </a:prstGeom>
        </p:spPr>
        <p:txBody>
          <a:bodyPr wrap="none">
            <a:spAutoFit/>
          </a:bodyPr>
          <a:lstStyle/>
          <a:p>
            <a:r>
              <a:rPr lang="en-US" sz="2200" dirty="0">
                <a:solidFill>
                  <a:srgbClr val="008000"/>
                </a:solidFill>
              </a:rPr>
              <a:t>Example</a:t>
            </a:r>
            <a:endParaRPr lang="en-US" sz="2200" dirty="0"/>
          </a:p>
        </p:txBody>
      </p:sp>
    </p:spTree>
    <p:extLst>
      <p:ext uri="{BB962C8B-B14F-4D97-AF65-F5344CB8AC3E}">
        <p14:creationId xmlns:p14="http://schemas.microsoft.com/office/powerpoint/2010/main" val="326409461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L:\Clients\Connexions\01_CNX_ Admin\00_OSC_Project_Resources\14_OSC_Production\PowerPoints\OSX-Stacked-TM-CMYK-300dp1-2016.jpg">
            <a:extLst>
              <a:ext uri="{FF2B5EF4-FFF2-40B4-BE49-F238E27FC236}">
                <a16:creationId xmlns:a16="http://schemas.microsoft.com/office/drawing/2014/main" id="{C34C680B-ED90-5348-80E8-759D74A0E791}"/>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 xmlns:a14="http://schemas.microsoft.com/office/drawing/2010/main">
                <a:solidFill>
                  <a:srgbClr val="FFFFFF"/>
                </a:solidFill>
              </a14:hiddenFill>
            </a:ext>
          </a:extLst>
        </p:spPr>
      </p:pic>
      <p:pic>
        <p:nvPicPr>
          <p:cNvPr id="3" name="Picture Placeholder 1" descr="A photograph of a student’s hand, working on a problem with an open textbook, a calculator, and an eraser.">
            <a:extLst>
              <a:ext uri="{FF2B5EF4-FFF2-40B4-BE49-F238E27FC236}">
                <a16:creationId xmlns:a16="http://schemas.microsoft.com/office/drawing/2014/main" id="{67E3E802-7E85-6F46-8B6C-EC03CC7342AD}"/>
              </a:ext>
            </a:extLst>
          </p:cNvPr>
          <p:cNvPicPr>
            <a:picLocks noChangeAspect="1"/>
          </p:cNvPicPr>
          <p:nvPr/>
        </p:nvPicPr>
        <p:blipFill>
          <a:blip r:embed="rId3" cstate="email">
            <a:extLst>
              <a:ext uri="{28A0092B-C50C-407E-A947-70E740481C1C}">
                <a14:useLocalDpi xmlns:a14="http://schemas.microsoft.com/office/drawing/2010/main" val="0"/>
              </a:ext>
            </a:extLst>
          </a:blip>
          <a:srcRect l="-26893" r="-26893"/>
          <a:stretch>
            <a:fillRect/>
          </a:stretch>
        </p:blipFill>
        <p:spPr>
          <a:xfrm>
            <a:off x="-514350" y="802276"/>
            <a:ext cx="6319353" cy="2743200"/>
          </a:xfrm>
          <a:prstGeom prst="rect">
            <a:avLst/>
          </a:prstGeom>
        </p:spPr>
      </p:pic>
      <p:sp>
        <p:nvSpPr>
          <p:cNvPr id="4" name="Text Placeholder 6">
            <a:extLst>
              <a:ext uri="{FF2B5EF4-FFF2-40B4-BE49-F238E27FC236}">
                <a16:creationId xmlns:a16="http://schemas.microsoft.com/office/drawing/2014/main" id="{763F0313-897E-CA4D-A5B6-C5076983DF22}"/>
              </a:ext>
            </a:extLst>
          </p:cNvPr>
          <p:cNvSpPr txBox="1">
            <a:spLocks/>
          </p:cNvSpPr>
          <p:nvPr/>
        </p:nvSpPr>
        <p:spPr>
          <a:xfrm>
            <a:off x="142874" y="3735488"/>
            <a:ext cx="5357813" cy="1166382"/>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dirty="0">
                <a:solidFill>
                  <a:srgbClr val="000066"/>
                </a:solidFill>
              </a:rPr>
              <a:t>Problem-solving skills are essential to your success in physics. </a:t>
            </a:r>
          </a:p>
          <a:p>
            <a:pPr marL="0" indent="0">
              <a:buNone/>
            </a:pPr>
            <a:r>
              <a:rPr lang="en-US" sz="1200" dirty="0"/>
              <a:t>(credit: “scui3asteveo”/Flickr)</a:t>
            </a:r>
          </a:p>
        </p:txBody>
      </p:sp>
      <p:sp>
        <p:nvSpPr>
          <p:cNvPr id="5" name="Rectangle 4">
            <a:extLst>
              <a:ext uri="{FF2B5EF4-FFF2-40B4-BE49-F238E27FC236}">
                <a16:creationId xmlns:a16="http://schemas.microsoft.com/office/drawing/2014/main" id="{B808F997-5506-4C41-BE84-068D91DAEF7B}"/>
              </a:ext>
            </a:extLst>
          </p:cNvPr>
          <p:cNvSpPr/>
          <p:nvPr/>
        </p:nvSpPr>
        <p:spPr>
          <a:xfrm>
            <a:off x="3897726" y="89044"/>
            <a:ext cx="3591876" cy="523220"/>
          </a:xfrm>
          <a:prstGeom prst="rect">
            <a:avLst/>
          </a:prstGeom>
        </p:spPr>
        <p:txBody>
          <a:bodyPr wrap="square">
            <a:spAutoFit/>
          </a:bodyPr>
          <a:lstStyle/>
          <a:p>
            <a:r>
              <a:rPr lang="en-US" sz="2800" dirty="0">
                <a:solidFill>
                  <a:srgbClr val="C00000"/>
                </a:solidFill>
                <a:latin typeface="NewBaskervilleStd-Roman"/>
              </a:rPr>
              <a:t>Problem solving</a:t>
            </a:r>
          </a:p>
        </p:txBody>
      </p:sp>
      <p:sp>
        <p:nvSpPr>
          <p:cNvPr id="8" name="Rectangle 7">
            <a:extLst>
              <a:ext uri="{FF2B5EF4-FFF2-40B4-BE49-F238E27FC236}">
                <a16:creationId xmlns:a16="http://schemas.microsoft.com/office/drawing/2014/main" id="{51D9CD39-A9B2-C54E-8408-5C6D198EA96A}"/>
              </a:ext>
            </a:extLst>
          </p:cNvPr>
          <p:cNvSpPr/>
          <p:nvPr/>
        </p:nvSpPr>
        <p:spPr>
          <a:xfrm>
            <a:off x="4103933" y="4701815"/>
            <a:ext cx="1589731" cy="400110"/>
          </a:xfrm>
          <a:prstGeom prst="rect">
            <a:avLst/>
          </a:prstGeom>
        </p:spPr>
        <p:txBody>
          <a:bodyPr wrap="none">
            <a:spAutoFit/>
          </a:bodyPr>
          <a:lstStyle/>
          <a:p>
            <a:r>
              <a:rPr lang="en-US" sz="2000" dirty="0">
                <a:solidFill>
                  <a:srgbClr val="0000CC"/>
                </a:solidFill>
              </a:rPr>
              <a:t>Assignment 5</a:t>
            </a:r>
            <a:endParaRPr lang="en-US" sz="2200" dirty="0"/>
          </a:p>
        </p:txBody>
      </p:sp>
      <p:pic>
        <p:nvPicPr>
          <p:cNvPr id="9" name="Picture 8" descr="Text&#10;&#10;Description automatically generated with medium confidence">
            <a:extLst>
              <a:ext uri="{FF2B5EF4-FFF2-40B4-BE49-F238E27FC236}">
                <a16:creationId xmlns:a16="http://schemas.microsoft.com/office/drawing/2014/main" id="{BF11D454-2FC2-E144-A031-5080C0CD49B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17974" y="5167008"/>
            <a:ext cx="7905750" cy="1371600"/>
          </a:xfrm>
          <a:prstGeom prst="rect">
            <a:avLst/>
          </a:prstGeom>
        </p:spPr>
      </p:pic>
    </p:spTree>
    <p:extLst>
      <p:ext uri="{BB962C8B-B14F-4D97-AF65-F5344CB8AC3E}">
        <p14:creationId xmlns:p14="http://schemas.microsoft.com/office/powerpoint/2010/main" val="120888011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L:\Clients\Connexions\01_CNX_ Admin\00_OSC_Project_Resources\14_OSC_Production\PowerPoints\OSX-Stacked-TM-CMYK-300dp1-2016.jpg">
            <a:extLst>
              <a:ext uri="{FF2B5EF4-FFF2-40B4-BE49-F238E27FC236}">
                <a16:creationId xmlns:a16="http://schemas.microsoft.com/office/drawing/2014/main" id="{C34C680B-ED90-5348-80E8-759D74A0E791}"/>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 xmlns:a14="http://schemas.microsoft.com/office/drawing/2010/main">
                <a:solidFill>
                  <a:srgbClr val="FFFFFF"/>
                </a:solidFill>
              </a14:hiddenFill>
            </a:ext>
          </a:extLst>
        </p:spPr>
      </p:pic>
      <p:pic>
        <p:nvPicPr>
          <p:cNvPr id="3" name="Picture Placeholder 1" descr="A photograph of a student’s hand, working on a problem with an open textbook, a calculator, and an eraser.">
            <a:extLst>
              <a:ext uri="{FF2B5EF4-FFF2-40B4-BE49-F238E27FC236}">
                <a16:creationId xmlns:a16="http://schemas.microsoft.com/office/drawing/2014/main" id="{67E3E802-7E85-6F46-8B6C-EC03CC7342AD}"/>
              </a:ext>
            </a:extLst>
          </p:cNvPr>
          <p:cNvPicPr>
            <a:picLocks noChangeAspect="1"/>
          </p:cNvPicPr>
          <p:nvPr/>
        </p:nvPicPr>
        <p:blipFill>
          <a:blip r:embed="rId3" cstate="email">
            <a:extLst>
              <a:ext uri="{28A0092B-C50C-407E-A947-70E740481C1C}">
                <a14:useLocalDpi xmlns:a14="http://schemas.microsoft.com/office/drawing/2010/main" val="0"/>
              </a:ext>
            </a:extLst>
          </a:blip>
          <a:srcRect l="-26893" r="-26893"/>
          <a:stretch>
            <a:fillRect/>
          </a:stretch>
        </p:blipFill>
        <p:spPr>
          <a:xfrm>
            <a:off x="-514350" y="802276"/>
            <a:ext cx="6319353" cy="2743200"/>
          </a:xfrm>
          <a:prstGeom prst="rect">
            <a:avLst/>
          </a:prstGeom>
        </p:spPr>
      </p:pic>
      <p:sp>
        <p:nvSpPr>
          <p:cNvPr id="4" name="Text Placeholder 6">
            <a:extLst>
              <a:ext uri="{FF2B5EF4-FFF2-40B4-BE49-F238E27FC236}">
                <a16:creationId xmlns:a16="http://schemas.microsoft.com/office/drawing/2014/main" id="{763F0313-897E-CA4D-A5B6-C5076983DF22}"/>
              </a:ext>
            </a:extLst>
          </p:cNvPr>
          <p:cNvSpPr txBox="1">
            <a:spLocks/>
          </p:cNvSpPr>
          <p:nvPr/>
        </p:nvSpPr>
        <p:spPr>
          <a:xfrm>
            <a:off x="142874" y="3735488"/>
            <a:ext cx="5357813" cy="1166382"/>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dirty="0">
                <a:solidFill>
                  <a:srgbClr val="000066"/>
                </a:solidFill>
              </a:rPr>
              <a:t>Problem-solving skills are essential to your success in physics. </a:t>
            </a:r>
          </a:p>
          <a:p>
            <a:pPr marL="0" indent="0">
              <a:buNone/>
            </a:pPr>
            <a:r>
              <a:rPr lang="en-US" sz="1200" dirty="0"/>
              <a:t>(credit: “scui3asteveo”/Flickr)</a:t>
            </a:r>
          </a:p>
        </p:txBody>
      </p:sp>
      <p:sp>
        <p:nvSpPr>
          <p:cNvPr id="5" name="Rectangle 4">
            <a:extLst>
              <a:ext uri="{FF2B5EF4-FFF2-40B4-BE49-F238E27FC236}">
                <a16:creationId xmlns:a16="http://schemas.microsoft.com/office/drawing/2014/main" id="{B808F997-5506-4C41-BE84-068D91DAEF7B}"/>
              </a:ext>
            </a:extLst>
          </p:cNvPr>
          <p:cNvSpPr/>
          <p:nvPr/>
        </p:nvSpPr>
        <p:spPr>
          <a:xfrm>
            <a:off x="3897726" y="89044"/>
            <a:ext cx="3591876" cy="523220"/>
          </a:xfrm>
          <a:prstGeom prst="rect">
            <a:avLst/>
          </a:prstGeom>
        </p:spPr>
        <p:txBody>
          <a:bodyPr wrap="square">
            <a:spAutoFit/>
          </a:bodyPr>
          <a:lstStyle/>
          <a:p>
            <a:r>
              <a:rPr lang="en-US" sz="2800" dirty="0">
                <a:solidFill>
                  <a:srgbClr val="C00000"/>
                </a:solidFill>
                <a:latin typeface="NewBaskervilleStd-Roman"/>
              </a:rPr>
              <a:t>Problem solving</a:t>
            </a:r>
          </a:p>
        </p:txBody>
      </p:sp>
      <p:sp>
        <p:nvSpPr>
          <p:cNvPr id="8" name="Rectangle 7">
            <a:extLst>
              <a:ext uri="{FF2B5EF4-FFF2-40B4-BE49-F238E27FC236}">
                <a16:creationId xmlns:a16="http://schemas.microsoft.com/office/drawing/2014/main" id="{51D9CD39-A9B2-C54E-8408-5C6D198EA96A}"/>
              </a:ext>
            </a:extLst>
          </p:cNvPr>
          <p:cNvSpPr/>
          <p:nvPr/>
        </p:nvSpPr>
        <p:spPr>
          <a:xfrm>
            <a:off x="4577038" y="4686426"/>
            <a:ext cx="1152623" cy="430887"/>
          </a:xfrm>
          <a:prstGeom prst="rect">
            <a:avLst/>
          </a:prstGeom>
        </p:spPr>
        <p:txBody>
          <a:bodyPr wrap="none">
            <a:spAutoFit/>
          </a:bodyPr>
          <a:lstStyle/>
          <a:p>
            <a:r>
              <a:rPr lang="en-US" sz="2200" dirty="0">
                <a:solidFill>
                  <a:srgbClr val="008000"/>
                </a:solidFill>
              </a:rPr>
              <a:t>Example</a:t>
            </a:r>
            <a:endParaRPr lang="en-US" sz="2200" dirty="0"/>
          </a:p>
        </p:txBody>
      </p:sp>
      <p:pic>
        <p:nvPicPr>
          <p:cNvPr id="9" name="Picture 8">
            <a:extLst>
              <a:ext uri="{FF2B5EF4-FFF2-40B4-BE49-F238E27FC236}">
                <a16:creationId xmlns:a16="http://schemas.microsoft.com/office/drawing/2014/main" id="{93070210-3D19-0342-A8EF-CEE7E15D793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50190" y="5068545"/>
            <a:ext cx="6778359" cy="548640"/>
          </a:xfrm>
          <a:prstGeom prst="rect">
            <a:avLst/>
          </a:prstGeom>
        </p:spPr>
      </p:pic>
    </p:spTree>
    <p:extLst>
      <p:ext uri="{BB962C8B-B14F-4D97-AF65-F5344CB8AC3E}">
        <p14:creationId xmlns:p14="http://schemas.microsoft.com/office/powerpoint/2010/main" val="55957535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L:\Clients\Connexions\01_CNX_ Admin\00_OSC_Project_Resources\14_OSC_Production\PowerPoints\OSX-Stacked-TM-CMYK-300dp1-2016.jpg">
            <a:extLst>
              <a:ext uri="{FF2B5EF4-FFF2-40B4-BE49-F238E27FC236}">
                <a16:creationId xmlns:a16="http://schemas.microsoft.com/office/drawing/2014/main" id="{C34C680B-ED90-5348-80E8-759D74A0E791}"/>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 xmlns:a14="http://schemas.microsoft.com/office/drawing/2010/main">
                <a:solidFill>
                  <a:srgbClr val="FFFFFF"/>
                </a:solidFill>
              </a14:hiddenFill>
            </a:ext>
          </a:extLst>
        </p:spPr>
      </p:pic>
      <p:pic>
        <p:nvPicPr>
          <p:cNvPr id="3" name="Picture Placeholder 1" descr="A photograph of a student’s hand, working on a problem with an open textbook, a calculator, and an eraser.">
            <a:extLst>
              <a:ext uri="{FF2B5EF4-FFF2-40B4-BE49-F238E27FC236}">
                <a16:creationId xmlns:a16="http://schemas.microsoft.com/office/drawing/2014/main" id="{67E3E802-7E85-6F46-8B6C-EC03CC7342AD}"/>
              </a:ext>
            </a:extLst>
          </p:cNvPr>
          <p:cNvPicPr>
            <a:picLocks noChangeAspect="1"/>
          </p:cNvPicPr>
          <p:nvPr/>
        </p:nvPicPr>
        <p:blipFill>
          <a:blip r:embed="rId3" cstate="email">
            <a:extLst>
              <a:ext uri="{28A0092B-C50C-407E-A947-70E740481C1C}">
                <a14:useLocalDpi xmlns:a14="http://schemas.microsoft.com/office/drawing/2010/main" val="0"/>
              </a:ext>
            </a:extLst>
          </a:blip>
          <a:srcRect l="-26893" r="-26893"/>
          <a:stretch>
            <a:fillRect/>
          </a:stretch>
        </p:blipFill>
        <p:spPr>
          <a:xfrm>
            <a:off x="-514350" y="802276"/>
            <a:ext cx="6319353" cy="2743200"/>
          </a:xfrm>
          <a:prstGeom prst="rect">
            <a:avLst/>
          </a:prstGeom>
        </p:spPr>
      </p:pic>
      <p:sp>
        <p:nvSpPr>
          <p:cNvPr id="4" name="Text Placeholder 6">
            <a:extLst>
              <a:ext uri="{FF2B5EF4-FFF2-40B4-BE49-F238E27FC236}">
                <a16:creationId xmlns:a16="http://schemas.microsoft.com/office/drawing/2014/main" id="{763F0313-897E-CA4D-A5B6-C5076983DF22}"/>
              </a:ext>
            </a:extLst>
          </p:cNvPr>
          <p:cNvSpPr txBox="1">
            <a:spLocks/>
          </p:cNvSpPr>
          <p:nvPr/>
        </p:nvSpPr>
        <p:spPr>
          <a:xfrm>
            <a:off x="142874" y="3735488"/>
            <a:ext cx="5357813" cy="1166382"/>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dirty="0">
                <a:solidFill>
                  <a:srgbClr val="000066"/>
                </a:solidFill>
              </a:rPr>
              <a:t>Problem-solving skills are essential to your success in physics. </a:t>
            </a:r>
          </a:p>
          <a:p>
            <a:pPr marL="0" indent="0">
              <a:buNone/>
            </a:pPr>
            <a:r>
              <a:rPr lang="en-US" sz="1200" dirty="0"/>
              <a:t>(credit: “scui3asteveo”/Flickr)</a:t>
            </a:r>
          </a:p>
        </p:txBody>
      </p:sp>
      <p:sp>
        <p:nvSpPr>
          <p:cNvPr id="5" name="Rectangle 4">
            <a:extLst>
              <a:ext uri="{FF2B5EF4-FFF2-40B4-BE49-F238E27FC236}">
                <a16:creationId xmlns:a16="http://schemas.microsoft.com/office/drawing/2014/main" id="{B808F997-5506-4C41-BE84-068D91DAEF7B}"/>
              </a:ext>
            </a:extLst>
          </p:cNvPr>
          <p:cNvSpPr/>
          <p:nvPr/>
        </p:nvSpPr>
        <p:spPr>
          <a:xfrm>
            <a:off x="3897726" y="89044"/>
            <a:ext cx="3591876" cy="523220"/>
          </a:xfrm>
          <a:prstGeom prst="rect">
            <a:avLst/>
          </a:prstGeom>
        </p:spPr>
        <p:txBody>
          <a:bodyPr wrap="square">
            <a:spAutoFit/>
          </a:bodyPr>
          <a:lstStyle/>
          <a:p>
            <a:r>
              <a:rPr lang="en-US" sz="2800" dirty="0">
                <a:solidFill>
                  <a:srgbClr val="C00000"/>
                </a:solidFill>
                <a:latin typeface="NewBaskervilleStd-Roman"/>
              </a:rPr>
              <a:t>Problem solving</a:t>
            </a:r>
          </a:p>
        </p:txBody>
      </p:sp>
      <p:sp>
        <p:nvSpPr>
          <p:cNvPr id="8" name="Rectangle 7">
            <a:extLst>
              <a:ext uri="{FF2B5EF4-FFF2-40B4-BE49-F238E27FC236}">
                <a16:creationId xmlns:a16="http://schemas.microsoft.com/office/drawing/2014/main" id="{51D9CD39-A9B2-C54E-8408-5C6D198EA96A}"/>
              </a:ext>
            </a:extLst>
          </p:cNvPr>
          <p:cNvSpPr/>
          <p:nvPr/>
        </p:nvSpPr>
        <p:spPr>
          <a:xfrm>
            <a:off x="4396541" y="5091882"/>
            <a:ext cx="6520631" cy="707886"/>
          </a:xfrm>
          <a:prstGeom prst="rect">
            <a:avLst/>
          </a:prstGeom>
        </p:spPr>
        <p:txBody>
          <a:bodyPr wrap="none">
            <a:spAutoFit/>
          </a:bodyPr>
          <a:lstStyle/>
          <a:p>
            <a:r>
              <a:rPr lang="en-US" sz="2000" dirty="0">
                <a:solidFill>
                  <a:srgbClr val="0000CC"/>
                </a:solidFill>
              </a:rPr>
              <a:t>Assignment 6</a:t>
            </a:r>
          </a:p>
          <a:p>
            <a:r>
              <a:rPr lang="en-US" sz="2000" dirty="0"/>
              <a:t>Calculate the radius of a circle that has area of 32.650 cm</a:t>
            </a:r>
            <a:r>
              <a:rPr lang="en-US" sz="2000" baseline="30000" dirty="0"/>
              <a:t>2</a:t>
            </a:r>
            <a:r>
              <a:rPr lang="en-US" sz="2000" dirty="0"/>
              <a:t>.    </a:t>
            </a:r>
            <a:endParaRPr lang="en-US" sz="2200" dirty="0"/>
          </a:p>
        </p:txBody>
      </p:sp>
    </p:spTree>
    <p:extLst>
      <p:ext uri="{BB962C8B-B14F-4D97-AF65-F5344CB8AC3E}">
        <p14:creationId xmlns:p14="http://schemas.microsoft.com/office/powerpoint/2010/main" val="181035952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89BB3579-A34D-462C-BD05-B0BFCC66F7F5}"/>
              </a:ext>
            </a:extLst>
          </p:cNvPr>
          <p:cNvSpPr>
            <a:spLocks noGrp="1"/>
          </p:cNvSpPr>
          <p:nvPr>
            <p:ph type="title"/>
          </p:nvPr>
        </p:nvSpPr>
        <p:spPr/>
        <p:txBody>
          <a:bodyPr>
            <a:normAutofit/>
          </a:bodyPr>
          <a:lstStyle/>
          <a:p>
            <a:r>
              <a:rPr lang="en-US" dirty="0"/>
              <a:t>Attribution</a:t>
            </a:r>
          </a:p>
        </p:txBody>
      </p:sp>
      <p:sp>
        <p:nvSpPr>
          <p:cNvPr id="13" name="Text Placeholder 12">
            <a:extLst>
              <a:ext uri="{FF2B5EF4-FFF2-40B4-BE49-F238E27FC236}">
                <a16:creationId xmlns:a16="http://schemas.microsoft.com/office/drawing/2014/main" id="{1D300BD5-7725-41CA-8827-BBF2FEBB4465}"/>
              </a:ext>
            </a:extLst>
          </p:cNvPr>
          <p:cNvSpPr>
            <a:spLocks noGrp="1"/>
          </p:cNvSpPr>
          <p:nvPr>
            <p:ph type="body" idx="1"/>
          </p:nvPr>
        </p:nvSpPr>
        <p:spPr/>
        <p:txBody>
          <a:bodyPr/>
          <a:lstStyle/>
          <a:p>
            <a:r>
              <a:rPr lang="en-US" dirty="0"/>
              <a:t>These slides are a derivative of the “</a:t>
            </a:r>
            <a:r>
              <a:rPr lang="en-US" dirty="0">
                <a:hlinkClick r:id="rId2"/>
              </a:rPr>
              <a:t>University Physics Vol. 1</a:t>
            </a:r>
            <a:r>
              <a:rPr lang="en-US" dirty="0"/>
              <a:t>” slides by </a:t>
            </a:r>
            <a:r>
              <a:rPr lang="en-US" dirty="0">
                <a:hlinkClick r:id="rId3"/>
              </a:rPr>
              <a:t>OpenStax</a:t>
            </a:r>
            <a:r>
              <a:rPr lang="en-US" dirty="0"/>
              <a:t>, used under a </a:t>
            </a:r>
            <a:r>
              <a:rPr lang="en-US" dirty="0">
                <a:hlinkClick r:id="rId4"/>
              </a:rPr>
              <a:t>Creative Commons Attribution 4.0 </a:t>
            </a:r>
            <a:r>
              <a:rPr lang="en-US" dirty="0"/>
              <a:t>license by Mkhitar Hobosyan.</a:t>
            </a:r>
          </a:p>
        </p:txBody>
      </p:sp>
    </p:spTree>
    <p:extLst>
      <p:ext uri="{BB962C8B-B14F-4D97-AF65-F5344CB8AC3E}">
        <p14:creationId xmlns:p14="http://schemas.microsoft.com/office/powerpoint/2010/main" val="232264548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29AF8C"/>
      </a:accent1>
      <a:accent2>
        <a:srgbClr val="97BE49"/>
      </a:accent2>
      <a:accent3>
        <a:srgbClr val="3D9CCC"/>
      </a:accent3>
      <a:accent4>
        <a:srgbClr val="7C60C6"/>
      </a:accent4>
      <a:accent5>
        <a:srgbClr val="C9492C"/>
      </a:accent5>
      <a:accent6>
        <a:srgbClr val="D58C2E"/>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3E4F19A7-A959-40BB-972C-4880BAF8EB0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1598</TotalTime>
  <Words>2303</Words>
  <Application>Microsoft Office PowerPoint</Application>
  <PresentationFormat>Widescreen</PresentationFormat>
  <Paragraphs>233</Paragraphs>
  <Slides>24</Slides>
  <Notes>0</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24</vt:i4>
      </vt:variant>
    </vt:vector>
  </HeadingPairs>
  <TitlesOfParts>
    <vt:vector size="37" baseType="lpstr">
      <vt:lpstr>Arial</vt:lpstr>
      <vt:lpstr>Calibri</vt:lpstr>
      <vt:lpstr>Calibri Light</vt:lpstr>
      <vt:lpstr>Cambria Math</vt:lpstr>
      <vt:lpstr>freight-sans-pro</vt:lpstr>
      <vt:lpstr>LiberationSerif</vt:lpstr>
      <vt:lpstr>NewBaskervilleStd-Bold</vt:lpstr>
      <vt:lpstr>NewBaskervilleStd-Italic</vt:lpstr>
      <vt:lpstr>NewBaskervilleStd-Roman</vt:lpstr>
      <vt:lpstr>Times New Roman</vt:lpstr>
      <vt:lpstr>Wingdings</vt:lpstr>
      <vt:lpstr>WWDOC01</vt:lpstr>
      <vt:lpstr>Office Theme</vt:lpstr>
      <vt:lpstr>PowerPoint Presentation</vt:lpstr>
      <vt:lpstr>Physics*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Attribution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dc:title>
  <dc:creator>Mkhitar Hobosyan</dc:creator>
  <cp:lastModifiedBy>Justin White</cp:lastModifiedBy>
  <cp:revision>98</cp:revision>
  <dcterms:created xsi:type="dcterms:W3CDTF">2020-07-24T02:56:39Z</dcterms:created>
  <dcterms:modified xsi:type="dcterms:W3CDTF">2021-12-15T17:52:26Z</dcterms:modified>
</cp:coreProperties>
</file>