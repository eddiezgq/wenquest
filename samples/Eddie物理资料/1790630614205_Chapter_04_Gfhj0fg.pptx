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33"/>
  </p:notesMasterIdLst>
  <p:sldIdLst>
    <p:sldId id="298" r:id="rId2"/>
    <p:sldId id="454" r:id="rId3"/>
    <p:sldId id="337" r:id="rId4"/>
    <p:sldId id="462" r:id="rId5"/>
    <p:sldId id="463" r:id="rId6"/>
    <p:sldId id="468" r:id="rId7"/>
    <p:sldId id="481" r:id="rId8"/>
    <p:sldId id="464" r:id="rId9"/>
    <p:sldId id="475" r:id="rId10"/>
    <p:sldId id="469" r:id="rId11"/>
    <p:sldId id="470" r:id="rId12"/>
    <p:sldId id="476" r:id="rId13"/>
    <p:sldId id="477" r:id="rId14"/>
    <p:sldId id="471" r:id="rId15"/>
    <p:sldId id="478" r:id="rId16"/>
    <p:sldId id="472" r:id="rId17"/>
    <p:sldId id="473" r:id="rId18"/>
    <p:sldId id="482" r:id="rId19"/>
    <p:sldId id="483" r:id="rId20"/>
    <p:sldId id="474" r:id="rId21"/>
    <p:sldId id="479" r:id="rId22"/>
    <p:sldId id="465" r:id="rId23"/>
    <p:sldId id="484" r:id="rId24"/>
    <p:sldId id="466" r:id="rId25"/>
    <p:sldId id="467" r:id="rId26"/>
    <p:sldId id="480" r:id="rId27"/>
    <p:sldId id="455" r:id="rId28"/>
    <p:sldId id="456" r:id="rId29"/>
    <p:sldId id="457" r:id="rId30"/>
    <p:sldId id="458" r:id="rId31"/>
    <p:sldId id="366" r:id="rId3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8000"/>
    <a:srgbClr val="000066"/>
    <a:srgbClr val="003399"/>
    <a:srgbClr val="0000CC"/>
    <a:srgbClr val="3B124D"/>
    <a:srgbClr val="3611D3"/>
    <a:srgbClr val="A50021"/>
    <a:srgbClr val="FF6600"/>
    <a:srgbClr val="CCECFF"/>
    <a:srgbClr val="DDDDDD"/>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30105" autoAdjust="0"/>
    <p:restoredTop sz="94203" autoAdjust="0"/>
  </p:normalViewPr>
  <p:slideViewPr>
    <p:cSldViewPr snapToGrid="0">
      <p:cViewPr varScale="1">
        <p:scale>
          <a:sx n="81" d="100"/>
          <a:sy n="81" d="100"/>
        </p:scale>
        <p:origin x="58" y="53"/>
      </p:cViewPr>
      <p:guideLst/>
    </p:cSldViewPr>
  </p:slideViewPr>
  <p:outlineViewPr>
    <p:cViewPr>
      <p:scale>
        <a:sx n="33" d="100"/>
        <a:sy n="33" d="100"/>
      </p:scale>
      <p:origin x="0" y="0"/>
    </p:cViewPr>
  </p:outlineViewPr>
  <p:notesTextViewPr>
    <p:cViewPr>
      <p:scale>
        <a:sx n="1" d="1"/>
        <a:sy n="1" d="1"/>
      </p:scale>
      <p:origin x="0" y="0"/>
    </p:cViewPr>
  </p:notesTextViewPr>
  <p:sorterViewPr>
    <p:cViewPr>
      <p:scale>
        <a:sx n="100" d="100"/>
        <a:sy n="100" d="100"/>
      </p:scale>
      <p:origin x="0" y="0"/>
    </p:cViewPr>
  </p:sorterViewPr>
  <p:notesViewPr>
    <p:cSldViewPr snapToGrid="0">
      <p:cViewPr varScale="1">
        <p:scale>
          <a:sx n="55" d="100"/>
          <a:sy n="55" d="100"/>
        </p:scale>
        <p:origin x="2880" y="78"/>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C8A8A30-7305-4ECD-9707-8185AE31915A}" type="datetimeFigureOut">
              <a:rPr lang="en-US" smtClean="0"/>
              <a:t>12/15/2021</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9A271F1-787B-4F17-8E58-0893057F05A7}" type="slidenum">
              <a:rPr lang="en-US" smtClean="0"/>
              <a:t>‹#›</a:t>
            </a:fld>
            <a:endParaRPr lang="en-US"/>
          </a:p>
        </p:txBody>
      </p:sp>
    </p:spTree>
    <p:extLst>
      <p:ext uri="{BB962C8B-B14F-4D97-AF65-F5344CB8AC3E}">
        <p14:creationId xmlns:p14="http://schemas.microsoft.com/office/powerpoint/2010/main" val="129516726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816CE86D-487B-4DC5-AD96-B605C5D30EBA}" type="datetimeFigureOut">
              <a:rPr lang="en-US" smtClean="0"/>
              <a:t>12/15/2021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2A1DDD8-2086-495A-9395-F2E7DBF98025}" type="slidenum">
              <a:rPr lang="en-US" smtClean="0"/>
              <a:t>‹#›</a:t>
            </a:fld>
            <a:endParaRPr lang="en-US"/>
          </a:p>
        </p:txBody>
      </p:sp>
    </p:spTree>
    <p:extLst>
      <p:ext uri="{BB962C8B-B14F-4D97-AF65-F5344CB8AC3E}">
        <p14:creationId xmlns:p14="http://schemas.microsoft.com/office/powerpoint/2010/main" val="3792334314"/>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16CE86D-487B-4DC5-AD96-B605C5D30EBA}" type="datetimeFigureOut">
              <a:rPr lang="en-US" smtClean="0"/>
              <a:t>12/15/2021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2A1DDD8-2086-495A-9395-F2E7DBF98025}" type="slidenum">
              <a:rPr lang="en-US" smtClean="0"/>
              <a:t>‹#›</a:t>
            </a:fld>
            <a:endParaRPr lang="en-US"/>
          </a:p>
        </p:txBody>
      </p:sp>
    </p:spTree>
    <p:extLst>
      <p:ext uri="{BB962C8B-B14F-4D97-AF65-F5344CB8AC3E}">
        <p14:creationId xmlns:p14="http://schemas.microsoft.com/office/powerpoint/2010/main" val="3677311644"/>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16CE86D-487B-4DC5-AD96-B605C5D30EBA}" type="datetimeFigureOut">
              <a:rPr lang="en-US" smtClean="0"/>
              <a:t>12/15/2021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2A1DDD8-2086-495A-9395-F2E7DBF98025}" type="slidenum">
              <a:rPr lang="en-US" smtClean="0"/>
              <a:t>‹#›</a:t>
            </a:fld>
            <a:endParaRPr lang="en-US"/>
          </a:p>
        </p:txBody>
      </p:sp>
    </p:spTree>
    <p:extLst>
      <p:ext uri="{BB962C8B-B14F-4D97-AF65-F5344CB8AC3E}">
        <p14:creationId xmlns:p14="http://schemas.microsoft.com/office/powerpoint/2010/main" val="2025611790"/>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816CE86D-487B-4DC5-AD96-B605C5D30EBA}" type="datetimeFigureOut">
              <a:rPr lang="en-US" smtClean="0"/>
              <a:t>12/15/2021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2A1DDD8-2086-495A-9395-F2E7DBF98025}" type="slidenum">
              <a:rPr lang="en-US" smtClean="0"/>
              <a:t>‹#›</a:t>
            </a:fld>
            <a:endParaRPr lang="en-US"/>
          </a:p>
        </p:txBody>
      </p:sp>
    </p:spTree>
    <p:extLst>
      <p:ext uri="{BB962C8B-B14F-4D97-AF65-F5344CB8AC3E}">
        <p14:creationId xmlns:p14="http://schemas.microsoft.com/office/powerpoint/2010/main" val="948657178"/>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816CE86D-487B-4DC5-AD96-B605C5D30EBA}" type="datetimeFigureOut">
              <a:rPr lang="en-US" smtClean="0"/>
              <a:t>12/15/2021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2A1DDD8-2086-495A-9395-F2E7DBF98025}" type="slidenum">
              <a:rPr lang="en-US" smtClean="0"/>
              <a:t>‹#›</a:t>
            </a:fld>
            <a:endParaRPr lang="en-US"/>
          </a:p>
        </p:txBody>
      </p:sp>
    </p:spTree>
    <p:extLst>
      <p:ext uri="{BB962C8B-B14F-4D97-AF65-F5344CB8AC3E}">
        <p14:creationId xmlns:p14="http://schemas.microsoft.com/office/powerpoint/2010/main" val="235685421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816CE86D-487B-4DC5-AD96-B605C5D30EBA}" type="datetimeFigureOut">
              <a:rPr lang="en-US" smtClean="0"/>
              <a:t>12/15/2021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2A1DDD8-2086-495A-9395-F2E7DBF98025}" type="slidenum">
              <a:rPr lang="en-US" smtClean="0"/>
              <a:t>‹#›</a:t>
            </a:fld>
            <a:endParaRPr lang="en-US"/>
          </a:p>
        </p:txBody>
      </p:sp>
    </p:spTree>
    <p:extLst>
      <p:ext uri="{BB962C8B-B14F-4D97-AF65-F5344CB8AC3E}">
        <p14:creationId xmlns:p14="http://schemas.microsoft.com/office/powerpoint/2010/main" val="171103503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16CE86D-487B-4DC5-AD96-B605C5D30EBA}" type="datetimeFigureOut">
              <a:rPr lang="en-US" smtClean="0"/>
              <a:t>12/15/2021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2A1DDD8-2086-495A-9395-F2E7DBF98025}" type="slidenum">
              <a:rPr lang="en-US" smtClean="0"/>
              <a:t>‹#›</a:t>
            </a:fld>
            <a:endParaRPr lang="en-US"/>
          </a:p>
        </p:txBody>
      </p:sp>
    </p:spTree>
    <p:extLst>
      <p:ext uri="{BB962C8B-B14F-4D97-AF65-F5344CB8AC3E}">
        <p14:creationId xmlns:p14="http://schemas.microsoft.com/office/powerpoint/2010/main" val="3264965183"/>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16CE86D-487B-4DC5-AD96-B605C5D30EBA}" type="datetimeFigureOut">
              <a:rPr lang="en-US" smtClean="0"/>
              <a:t>12/15/2021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2A1DDD8-2086-495A-9395-F2E7DBF98025}" type="slidenum">
              <a:rPr lang="en-US" smtClean="0"/>
              <a:t>‹#›</a:t>
            </a:fld>
            <a:endParaRPr lang="en-US"/>
          </a:p>
        </p:txBody>
      </p:sp>
    </p:spTree>
    <p:extLst>
      <p:ext uri="{BB962C8B-B14F-4D97-AF65-F5344CB8AC3E}">
        <p14:creationId xmlns:p14="http://schemas.microsoft.com/office/powerpoint/2010/main" val="358907434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16CE86D-487B-4DC5-AD96-B605C5D30EBA}" type="datetimeFigureOut">
              <a:rPr lang="en-US" smtClean="0"/>
              <a:t>12/15/2021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2A1DDD8-2086-495A-9395-F2E7DBF98025}" type="slidenum">
              <a:rPr lang="en-US" smtClean="0"/>
              <a:t>‹#›</a:t>
            </a:fld>
            <a:endParaRPr lang="en-US"/>
          </a:p>
        </p:txBody>
      </p:sp>
    </p:spTree>
    <p:extLst>
      <p:ext uri="{BB962C8B-B14F-4D97-AF65-F5344CB8AC3E}">
        <p14:creationId xmlns:p14="http://schemas.microsoft.com/office/powerpoint/2010/main" val="491786332"/>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16CE86D-487B-4DC5-AD96-B605C5D30EBA}" type="datetimeFigureOut">
              <a:rPr lang="en-US" smtClean="0"/>
              <a:t>12/15/2021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2A1DDD8-2086-495A-9395-F2E7DBF98025}" type="slidenum">
              <a:rPr lang="en-US" smtClean="0"/>
              <a:t>‹#›</a:t>
            </a:fld>
            <a:endParaRPr lang="en-US"/>
          </a:p>
        </p:txBody>
      </p:sp>
    </p:spTree>
    <p:extLst>
      <p:ext uri="{BB962C8B-B14F-4D97-AF65-F5344CB8AC3E}">
        <p14:creationId xmlns:p14="http://schemas.microsoft.com/office/powerpoint/2010/main" val="3241952268"/>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16CE86D-487B-4DC5-AD96-B605C5D30EBA}" type="datetimeFigureOut">
              <a:rPr lang="en-US" smtClean="0"/>
              <a:t>12/15/2021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2A1DDD8-2086-495A-9395-F2E7DBF98025}" type="slidenum">
              <a:rPr lang="en-US" smtClean="0"/>
              <a:t>‹#›</a:t>
            </a:fld>
            <a:endParaRPr lang="en-US"/>
          </a:p>
        </p:txBody>
      </p:sp>
    </p:spTree>
    <p:extLst>
      <p:ext uri="{BB962C8B-B14F-4D97-AF65-F5344CB8AC3E}">
        <p14:creationId xmlns:p14="http://schemas.microsoft.com/office/powerpoint/2010/main" val="1424427288"/>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16CE86D-487B-4DC5-AD96-B605C5D30EBA}" type="datetimeFigureOut">
              <a:rPr lang="en-US" smtClean="0"/>
              <a:t>12/15/2021</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2A1DDD8-2086-495A-9395-F2E7DBF98025}" type="slidenum">
              <a:rPr lang="en-US" smtClean="0"/>
              <a:t>‹#›</a:t>
            </a:fld>
            <a:endParaRPr lang="en-US"/>
          </a:p>
        </p:txBody>
      </p:sp>
    </p:spTree>
    <p:extLst>
      <p:ext uri="{BB962C8B-B14F-4D97-AF65-F5344CB8AC3E}">
        <p14:creationId xmlns:p14="http://schemas.microsoft.com/office/powerpoint/2010/main" val="1868795828"/>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hyperlink" Target="https://openstax.org/details/books/university-physics-volume-1" TargetMode="External"/></Relationships>
</file>

<file path=ppt/slides/_rels/slide2.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4.png"/><Relationship Id="rId7" Type="http://schemas.openxmlformats.org/officeDocument/2006/relationships/image" Target="../media/image8.png"/><Relationship Id="rId2" Type="http://schemas.openxmlformats.org/officeDocument/2006/relationships/image" Target="../media/image3.jpeg"/><Relationship Id="rId1" Type="http://schemas.openxmlformats.org/officeDocument/2006/relationships/slideLayout" Target="../slideLayouts/slideLayout2.xml"/><Relationship Id="rId6" Type="http://schemas.openxmlformats.org/officeDocument/2006/relationships/image" Target="../media/image7.jpg"/><Relationship Id="rId5" Type="http://schemas.openxmlformats.org/officeDocument/2006/relationships/image" Target="../media/image6.jpg"/><Relationship Id="rId4" Type="http://schemas.openxmlformats.org/officeDocument/2006/relationships/image" Target="../media/image5.png"/></Relationships>
</file>

<file path=ppt/slides/_rels/slide3.xml.rels><?xml version="1.0" encoding="UTF-8" standalone="yes"?>
<Relationships xmlns="http://schemas.openxmlformats.org/package/2006/relationships"><Relationship Id="rId8" Type="http://schemas.openxmlformats.org/officeDocument/2006/relationships/image" Target="../media/image15.png"/><Relationship Id="rId3" Type="http://schemas.openxmlformats.org/officeDocument/2006/relationships/image" Target="../media/image10.png"/><Relationship Id="rId7" Type="http://schemas.openxmlformats.org/officeDocument/2006/relationships/image" Target="../media/image14.png"/><Relationship Id="rId2" Type="http://schemas.openxmlformats.org/officeDocument/2006/relationships/image" Target="../media/image3.jpeg"/><Relationship Id="rId1" Type="http://schemas.openxmlformats.org/officeDocument/2006/relationships/slideLayout" Target="../slideLayouts/slideLayout2.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11.png"/><Relationship Id="rId9" Type="http://schemas.openxmlformats.org/officeDocument/2006/relationships/image" Target="../media/image16.png"/></Relationships>
</file>

<file path=ppt/slides/_rels/slide4.xml.rels><?xml version="1.0" encoding="UTF-8" standalone="yes"?>
<Relationships xmlns="http://schemas.openxmlformats.org/package/2006/relationships"><Relationship Id="rId8" Type="http://schemas.openxmlformats.org/officeDocument/2006/relationships/image" Target="../media/image21.png"/><Relationship Id="rId3" Type="http://schemas.openxmlformats.org/officeDocument/2006/relationships/image" Target="../media/image17.png"/><Relationship Id="rId7" Type="http://schemas.openxmlformats.org/officeDocument/2006/relationships/image" Target="../media/image20.png"/><Relationship Id="rId2" Type="http://schemas.openxmlformats.org/officeDocument/2006/relationships/image" Target="../media/image3.jpeg"/><Relationship Id="rId1" Type="http://schemas.openxmlformats.org/officeDocument/2006/relationships/slideLayout" Target="../slideLayouts/slideLayout2.xml"/><Relationship Id="rId6" Type="http://schemas.openxmlformats.org/officeDocument/2006/relationships/image" Target="../media/image19.png"/><Relationship Id="rId5" Type="http://schemas.openxmlformats.org/officeDocument/2006/relationships/image" Target="../media/image9.png"/><Relationship Id="rId4" Type="http://schemas.openxmlformats.org/officeDocument/2006/relationships/image" Target="../media/image18.jpeg"/></Relationships>
</file>

<file path=ppt/slides/_rels/slide5.xml.rels><?xml version="1.0" encoding="UTF-8" standalone="yes"?>
<Relationships xmlns="http://schemas.openxmlformats.org/package/2006/relationships"><Relationship Id="rId8" Type="http://schemas.openxmlformats.org/officeDocument/2006/relationships/image" Target="../media/image27.png"/><Relationship Id="rId3" Type="http://schemas.openxmlformats.org/officeDocument/2006/relationships/image" Target="../media/image22.jpg"/><Relationship Id="rId7" Type="http://schemas.openxmlformats.org/officeDocument/2006/relationships/image" Target="../media/image26.png"/><Relationship Id="rId2" Type="http://schemas.openxmlformats.org/officeDocument/2006/relationships/image" Target="../media/image3.jpeg"/><Relationship Id="rId1" Type="http://schemas.openxmlformats.org/officeDocument/2006/relationships/slideLayout" Target="../slideLayouts/slideLayout2.xml"/><Relationship Id="rId6" Type="http://schemas.openxmlformats.org/officeDocument/2006/relationships/image" Target="../media/image25.png"/><Relationship Id="rId5" Type="http://schemas.openxmlformats.org/officeDocument/2006/relationships/image" Target="../media/image24.png"/><Relationship Id="rId4" Type="http://schemas.openxmlformats.org/officeDocument/2006/relationships/image" Target="../media/image23.png"/></Relationships>
</file>

<file path=ppt/slides/_rels/slide6.xml.rels><?xml version="1.0" encoding="UTF-8" standalone="yes"?>
<Relationships xmlns="http://schemas.openxmlformats.org/package/2006/relationships"><Relationship Id="rId8" Type="http://schemas.openxmlformats.org/officeDocument/2006/relationships/image" Target="../media/image29.png"/><Relationship Id="rId3" Type="http://schemas.openxmlformats.org/officeDocument/2006/relationships/image" Target="../media/image24.png"/><Relationship Id="rId7" Type="http://schemas.openxmlformats.org/officeDocument/2006/relationships/image" Target="../media/image28.png"/><Relationship Id="rId2" Type="http://schemas.openxmlformats.org/officeDocument/2006/relationships/image" Target="../media/image3.jpeg"/><Relationship Id="rId1" Type="http://schemas.openxmlformats.org/officeDocument/2006/relationships/slideLayout" Target="../slideLayouts/slideLayout2.xml"/><Relationship Id="rId6" Type="http://schemas.openxmlformats.org/officeDocument/2006/relationships/image" Target="../media/image27.png"/><Relationship Id="rId5" Type="http://schemas.openxmlformats.org/officeDocument/2006/relationships/image" Target="../media/image26.png"/><Relationship Id="rId4" Type="http://schemas.openxmlformats.org/officeDocument/2006/relationships/image" Target="../media/image25.png"/></Relationships>
</file>

<file path=ppt/slides/_rels/slide7.xml.rels><?xml version="1.0" encoding="UTF-8" standalone="yes"?>
<Relationships xmlns="http://schemas.openxmlformats.org/package/2006/relationships"><Relationship Id="rId8" Type="http://schemas.openxmlformats.org/officeDocument/2006/relationships/image" Target="../media/image30.png"/><Relationship Id="rId3" Type="http://schemas.openxmlformats.org/officeDocument/2006/relationships/image" Target="../media/image23.png"/><Relationship Id="rId7" Type="http://schemas.openxmlformats.org/officeDocument/2006/relationships/image" Target="../media/image27.png"/><Relationship Id="rId2" Type="http://schemas.openxmlformats.org/officeDocument/2006/relationships/image" Target="../media/image3.jpeg"/><Relationship Id="rId1" Type="http://schemas.openxmlformats.org/officeDocument/2006/relationships/slideLayout" Target="../slideLayouts/slideLayout2.xml"/><Relationship Id="rId6" Type="http://schemas.openxmlformats.org/officeDocument/2006/relationships/image" Target="../media/image26.png"/><Relationship Id="rId5" Type="http://schemas.openxmlformats.org/officeDocument/2006/relationships/image" Target="../media/image25.png"/><Relationship Id="rId4" Type="http://schemas.openxmlformats.org/officeDocument/2006/relationships/image" Target="../media/image24.png"/><Relationship Id="rId9" Type="http://schemas.openxmlformats.org/officeDocument/2006/relationships/image" Target="../media/image18.jpeg"/></Relationships>
</file>

<file path=ppt/slides/_rels/slide8.xml.rels><?xml version="1.0" encoding="UTF-8" standalone="yes"?>
<Relationships xmlns="http://schemas.openxmlformats.org/package/2006/relationships"><Relationship Id="rId3" Type="http://schemas.openxmlformats.org/officeDocument/2006/relationships/image" Target="../media/image31.png"/><Relationship Id="rId7" Type="http://schemas.openxmlformats.org/officeDocument/2006/relationships/image" Target="../media/image35.png"/><Relationship Id="rId2" Type="http://schemas.openxmlformats.org/officeDocument/2006/relationships/image" Target="../media/image3.jpeg"/><Relationship Id="rId1" Type="http://schemas.openxmlformats.org/officeDocument/2006/relationships/slideLayout" Target="../slideLayouts/slideLayout2.xml"/><Relationship Id="rId6" Type="http://schemas.openxmlformats.org/officeDocument/2006/relationships/image" Target="../media/image34.png"/><Relationship Id="rId5" Type="http://schemas.openxmlformats.org/officeDocument/2006/relationships/image" Target="../media/image33.png"/><Relationship Id="rId4" Type="http://schemas.openxmlformats.org/officeDocument/2006/relationships/image" Target="../media/image32.png"/></Relationships>
</file>

<file path=ppt/slides/_rels/slide9.xml.rels><?xml version="1.0" encoding="UTF-8" standalone="yes"?>
<Relationships xmlns="http://schemas.openxmlformats.org/package/2006/relationships"><Relationship Id="rId8" Type="http://schemas.openxmlformats.org/officeDocument/2006/relationships/image" Target="../media/image38.png"/><Relationship Id="rId3" Type="http://schemas.openxmlformats.org/officeDocument/2006/relationships/image" Target="../media/image31.png"/><Relationship Id="rId7" Type="http://schemas.openxmlformats.org/officeDocument/2006/relationships/image" Target="../media/image37.png"/><Relationship Id="rId2" Type="http://schemas.openxmlformats.org/officeDocument/2006/relationships/image" Target="../media/image3.jpeg"/><Relationship Id="rId1" Type="http://schemas.openxmlformats.org/officeDocument/2006/relationships/slideLayout" Target="../slideLayouts/slideLayout2.xml"/><Relationship Id="rId6" Type="http://schemas.openxmlformats.org/officeDocument/2006/relationships/image" Target="../media/image36.png"/><Relationship Id="rId5" Type="http://schemas.openxmlformats.org/officeDocument/2006/relationships/image" Target="../media/image33.png"/><Relationship Id="rId4" Type="http://schemas.openxmlformats.org/officeDocument/2006/relationships/image" Target="../media/image32.png"/></Relationships>
</file>

<file path=ppt/slides/_rels/slide10.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3.jpeg"/><Relationship Id="rId1" Type="http://schemas.openxmlformats.org/officeDocument/2006/relationships/slideLayout" Target="../slideLayouts/slideLayout2.xml"/><Relationship Id="rId5" Type="http://schemas.openxmlformats.org/officeDocument/2006/relationships/image" Target="../media/image41.png"/><Relationship Id="rId4" Type="http://schemas.openxmlformats.org/officeDocument/2006/relationships/image" Target="../media/image40.png"/></Relationships>
</file>

<file path=ppt/slides/_rels/slide11.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image" Target="../media/image3.jpeg"/><Relationship Id="rId1" Type="http://schemas.openxmlformats.org/officeDocument/2006/relationships/slideLayout" Target="../slideLayouts/slideLayout2.xml"/><Relationship Id="rId4" Type="http://schemas.openxmlformats.org/officeDocument/2006/relationships/image" Target="../media/image40.png"/></Relationships>
</file>

<file path=ppt/slides/_rels/slide12.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image" Target="../media/image3.jpeg"/><Relationship Id="rId1" Type="http://schemas.openxmlformats.org/officeDocument/2006/relationships/slideLayout" Target="../slideLayouts/slideLayout2.xml"/><Relationship Id="rId6" Type="http://schemas.openxmlformats.org/officeDocument/2006/relationships/image" Target="../media/image45.png"/><Relationship Id="rId5" Type="http://schemas.openxmlformats.org/officeDocument/2006/relationships/image" Target="../media/image44.png"/><Relationship Id="rId4" Type="http://schemas.openxmlformats.org/officeDocument/2006/relationships/image" Target="../media/image43.png"/></Relationships>
</file>

<file path=ppt/slides/_rels/slide13.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image" Target="../media/image3.jpeg"/><Relationship Id="rId1" Type="http://schemas.openxmlformats.org/officeDocument/2006/relationships/slideLayout" Target="../slideLayouts/slideLayout2.xml"/><Relationship Id="rId6" Type="http://schemas.openxmlformats.org/officeDocument/2006/relationships/image" Target="../media/image46.png"/><Relationship Id="rId5" Type="http://schemas.openxmlformats.org/officeDocument/2006/relationships/image" Target="../media/image45.png"/><Relationship Id="rId4" Type="http://schemas.openxmlformats.org/officeDocument/2006/relationships/image" Target="../media/image44.png"/></Relationships>
</file>

<file path=ppt/slides/_rels/slide14.xml.rels><?xml version="1.0" encoding="UTF-8" standalone="yes"?>
<Relationships xmlns="http://schemas.openxmlformats.org/package/2006/relationships"><Relationship Id="rId8" Type="http://schemas.openxmlformats.org/officeDocument/2006/relationships/image" Target="../media/image52.png"/><Relationship Id="rId3" Type="http://schemas.openxmlformats.org/officeDocument/2006/relationships/image" Target="../media/image47.png"/><Relationship Id="rId7" Type="http://schemas.openxmlformats.org/officeDocument/2006/relationships/image" Target="../media/image51.png"/><Relationship Id="rId2" Type="http://schemas.openxmlformats.org/officeDocument/2006/relationships/image" Target="../media/image3.jpeg"/><Relationship Id="rId1" Type="http://schemas.openxmlformats.org/officeDocument/2006/relationships/slideLayout" Target="../slideLayouts/slideLayout2.xml"/><Relationship Id="rId6" Type="http://schemas.openxmlformats.org/officeDocument/2006/relationships/image" Target="../media/image50.png"/><Relationship Id="rId5" Type="http://schemas.openxmlformats.org/officeDocument/2006/relationships/image" Target="../media/image49.png"/><Relationship Id="rId4" Type="http://schemas.openxmlformats.org/officeDocument/2006/relationships/image" Target="../media/image48.png"/></Relationships>
</file>

<file path=ppt/slides/_rels/slide15.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image" Target="../media/image3.jpeg"/><Relationship Id="rId1" Type="http://schemas.openxmlformats.org/officeDocument/2006/relationships/slideLayout" Target="../slideLayouts/slideLayout2.xml"/><Relationship Id="rId6" Type="http://schemas.openxmlformats.org/officeDocument/2006/relationships/image" Target="../media/image55.png"/><Relationship Id="rId5" Type="http://schemas.openxmlformats.org/officeDocument/2006/relationships/image" Target="../media/image54.png"/><Relationship Id="rId4" Type="http://schemas.openxmlformats.org/officeDocument/2006/relationships/image" Target="../media/image53.png"/></Relationships>
</file>

<file path=ppt/slides/_rels/slide16.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image" Target="../media/image3.jpeg"/><Relationship Id="rId1" Type="http://schemas.openxmlformats.org/officeDocument/2006/relationships/slideLayout" Target="../slideLayouts/slideLayout2.xml"/><Relationship Id="rId4" Type="http://schemas.openxmlformats.org/officeDocument/2006/relationships/image" Target="../media/image18.jpeg"/></Relationships>
</file>

<file path=ppt/slides/_rels/slide17.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image" Target="../media/image3.jpeg"/><Relationship Id="rId1" Type="http://schemas.openxmlformats.org/officeDocument/2006/relationships/slideLayout" Target="../slideLayouts/slideLayout2.xml"/><Relationship Id="rId6" Type="http://schemas.openxmlformats.org/officeDocument/2006/relationships/image" Target="../media/image45.png"/><Relationship Id="rId5" Type="http://schemas.openxmlformats.org/officeDocument/2006/relationships/image" Target="../media/image57.png"/><Relationship Id="rId4" Type="http://schemas.openxmlformats.org/officeDocument/2006/relationships/image" Target="../media/image18.jpeg"/></Relationships>
</file>

<file path=ppt/slides/_rels/slide20.xml.rels><?xml version="1.0" encoding="UTF-8" standalone="yes"?>
<Relationships xmlns="http://schemas.openxmlformats.org/package/2006/relationships"><Relationship Id="rId8" Type="http://schemas.openxmlformats.org/officeDocument/2006/relationships/image" Target="../media/image63.png"/><Relationship Id="rId3" Type="http://schemas.openxmlformats.org/officeDocument/2006/relationships/image" Target="../media/image58.png"/><Relationship Id="rId7" Type="http://schemas.openxmlformats.org/officeDocument/2006/relationships/image" Target="../media/image62.png"/><Relationship Id="rId2" Type="http://schemas.openxmlformats.org/officeDocument/2006/relationships/image" Target="../media/image3.jpeg"/><Relationship Id="rId1" Type="http://schemas.openxmlformats.org/officeDocument/2006/relationships/slideLayout" Target="../slideLayouts/slideLayout2.xml"/><Relationship Id="rId6" Type="http://schemas.openxmlformats.org/officeDocument/2006/relationships/image" Target="../media/image61.png"/><Relationship Id="rId5" Type="http://schemas.openxmlformats.org/officeDocument/2006/relationships/image" Target="../media/image60.png"/><Relationship Id="rId4" Type="http://schemas.openxmlformats.org/officeDocument/2006/relationships/image" Target="../media/image59.png"/></Relationships>
</file>

<file path=ppt/slides/_rels/slide21.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image" Target="../media/image3.jpeg"/><Relationship Id="rId1" Type="http://schemas.openxmlformats.org/officeDocument/2006/relationships/slideLayout" Target="../slideLayouts/slideLayout2.xml"/><Relationship Id="rId6" Type="http://schemas.openxmlformats.org/officeDocument/2006/relationships/image" Target="../media/image64.png"/><Relationship Id="rId5" Type="http://schemas.openxmlformats.org/officeDocument/2006/relationships/image" Target="../media/image62.png"/><Relationship Id="rId4" Type="http://schemas.openxmlformats.org/officeDocument/2006/relationships/image" Target="../media/image61.png"/></Relationships>
</file>

<file path=ppt/slides/_rels/slide22.xml.rels><?xml version="1.0" encoding="UTF-8" standalone="yes"?>
<Relationships xmlns="http://schemas.openxmlformats.org/package/2006/relationships"><Relationship Id="rId8" Type="http://schemas.openxmlformats.org/officeDocument/2006/relationships/image" Target="../media/image69.png"/><Relationship Id="rId3" Type="http://schemas.openxmlformats.org/officeDocument/2006/relationships/hyperlink" Target="https://www.walter-fendt.de/html5/phen/circularmotion_en.htm" TargetMode="External"/><Relationship Id="rId7" Type="http://schemas.openxmlformats.org/officeDocument/2006/relationships/image" Target="../media/image68.png"/><Relationship Id="rId2" Type="http://schemas.openxmlformats.org/officeDocument/2006/relationships/image" Target="../media/image3.jpeg"/><Relationship Id="rId1" Type="http://schemas.openxmlformats.org/officeDocument/2006/relationships/slideLayout" Target="../slideLayouts/slideLayout2.xml"/><Relationship Id="rId6" Type="http://schemas.openxmlformats.org/officeDocument/2006/relationships/image" Target="../media/image67.png"/><Relationship Id="rId11" Type="http://schemas.openxmlformats.org/officeDocument/2006/relationships/image" Target="../media/image72.png"/><Relationship Id="rId5" Type="http://schemas.openxmlformats.org/officeDocument/2006/relationships/image" Target="../media/image66.png"/><Relationship Id="rId10" Type="http://schemas.openxmlformats.org/officeDocument/2006/relationships/image" Target="../media/image71.png"/><Relationship Id="rId4" Type="http://schemas.openxmlformats.org/officeDocument/2006/relationships/image" Target="../media/image65.png"/><Relationship Id="rId9" Type="http://schemas.openxmlformats.org/officeDocument/2006/relationships/image" Target="../media/image70.png"/></Relationships>
</file>

<file path=ppt/slides/_rels/slide23.xml.rels><?xml version="1.0" encoding="UTF-8" standalone="yes"?>
<Relationships xmlns="http://schemas.openxmlformats.org/package/2006/relationships"><Relationship Id="rId8" Type="http://schemas.openxmlformats.org/officeDocument/2006/relationships/image" Target="../media/image71.png"/><Relationship Id="rId3" Type="http://schemas.openxmlformats.org/officeDocument/2006/relationships/image" Target="../media/image65.png"/><Relationship Id="rId7" Type="http://schemas.openxmlformats.org/officeDocument/2006/relationships/image" Target="../media/image70.png"/><Relationship Id="rId2" Type="http://schemas.openxmlformats.org/officeDocument/2006/relationships/image" Target="../media/image3.jpeg"/><Relationship Id="rId1" Type="http://schemas.openxmlformats.org/officeDocument/2006/relationships/slideLayout" Target="../slideLayouts/slideLayout2.xml"/><Relationship Id="rId6" Type="http://schemas.openxmlformats.org/officeDocument/2006/relationships/image" Target="../media/image69.png"/><Relationship Id="rId5" Type="http://schemas.openxmlformats.org/officeDocument/2006/relationships/image" Target="../media/image68.png"/><Relationship Id="rId10" Type="http://schemas.openxmlformats.org/officeDocument/2006/relationships/image" Target="../media/image61.png"/><Relationship Id="rId4" Type="http://schemas.openxmlformats.org/officeDocument/2006/relationships/image" Target="../media/image67.png"/><Relationship Id="rId9" Type="http://schemas.openxmlformats.org/officeDocument/2006/relationships/image" Target="../media/image72.png"/></Relationships>
</file>

<file path=ppt/slides/_rels/slide24.xml.rels><?xml version="1.0" encoding="UTF-8" standalone="yes"?>
<Relationships xmlns="http://schemas.openxmlformats.org/package/2006/relationships"><Relationship Id="rId3" Type="http://schemas.openxmlformats.org/officeDocument/2006/relationships/image" Target="../media/image73.png"/><Relationship Id="rId2" Type="http://schemas.openxmlformats.org/officeDocument/2006/relationships/image" Target="../media/image3.jpeg"/><Relationship Id="rId1" Type="http://schemas.openxmlformats.org/officeDocument/2006/relationships/slideLayout" Target="../slideLayouts/slideLayout2.xml"/><Relationship Id="rId6" Type="http://schemas.openxmlformats.org/officeDocument/2006/relationships/image" Target="../media/image76.png"/><Relationship Id="rId5" Type="http://schemas.openxmlformats.org/officeDocument/2006/relationships/image" Target="../media/image75.png"/><Relationship Id="rId4" Type="http://schemas.openxmlformats.org/officeDocument/2006/relationships/image" Target="../media/image74.png"/></Relationships>
</file>

<file path=ppt/slides/_rels/slide25.xml.rels><?xml version="1.0" encoding="UTF-8" standalone="yes"?>
<Relationships xmlns="http://schemas.openxmlformats.org/package/2006/relationships"><Relationship Id="rId3" Type="http://schemas.openxmlformats.org/officeDocument/2006/relationships/image" Target="../media/image77.png"/><Relationship Id="rId2" Type="http://schemas.openxmlformats.org/officeDocument/2006/relationships/image" Target="../media/image3.jpeg"/><Relationship Id="rId1" Type="http://schemas.openxmlformats.org/officeDocument/2006/relationships/slideLayout" Target="../slideLayouts/slideLayout2.xml"/><Relationship Id="rId5" Type="http://schemas.openxmlformats.org/officeDocument/2006/relationships/image" Target="../media/image79.png"/><Relationship Id="rId4" Type="http://schemas.openxmlformats.org/officeDocument/2006/relationships/image" Target="../media/image78.png"/></Relationships>
</file>

<file path=ppt/slides/_rels/slide26.xml.rels><?xml version="1.0" encoding="UTF-8" standalone="yes"?>
<Relationships xmlns="http://schemas.openxmlformats.org/package/2006/relationships"><Relationship Id="rId3" Type="http://schemas.openxmlformats.org/officeDocument/2006/relationships/image" Target="../media/image78.png"/><Relationship Id="rId2" Type="http://schemas.openxmlformats.org/officeDocument/2006/relationships/image" Target="../media/image3.jpeg"/><Relationship Id="rId1" Type="http://schemas.openxmlformats.org/officeDocument/2006/relationships/slideLayout" Target="../slideLayouts/slideLayout2.xml"/><Relationship Id="rId6" Type="http://schemas.openxmlformats.org/officeDocument/2006/relationships/image" Target="../media/image61.png"/><Relationship Id="rId5" Type="http://schemas.openxmlformats.org/officeDocument/2006/relationships/image" Target="../media/image80.jpeg"/><Relationship Id="rId4" Type="http://schemas.openxmlformats.org/officeDocument/2006/relationships/image" Target="../media/image79.png"/></Relationships>
</file>

<file path=ppt/slides/_rels/slide27.xml.rels><?xml version="1.0" encoding="UTF-8" standalone="yes"?>
<Relationships xmlns="http://schemas.openxmlformats.org/package/2006/relationships"><Relationship Id="rId3" Type="http://schemas.openxmlformats.org/officeDocument/2006/relationships/image" Target="../media/image81.jpeg"/><Relationship Id="rId2" Type="http://schemas.openxmlformats.org/officeDocument/2006/relationships/image" Target="../media/image3.jpeg"/><Relationship Id="rId1" Type="http://schemas.openxmlformats.org/officeDocument/2006/relationships/slideLayout" Target="../slideLayouts/slideLayout2.xml"/><Relationship Id="rId6" Type="http://schemas.openxmlformats.org/officeDocument/2006/relationships/image" Target="../media/image84.jpeg"/><Relationship Id="rId5" Type="http://schemas.openxmlformats.org/officeDocument/2006/relationships/image" Target="../media/image83.png"/><Relationship Id="rId4" Type="http://schemas.openxmlformats.org/officeDocument/2006/relationships/image" Target="../media/image82.jpeg"/></Relationships>
</file>

<file path=ppt/slides/_rels/slide28.xml.rels><?xml version="1.0" encoding="UTF-8" standalone="yes"?>
<Relationships xmlns="http://schemas.openxmlformats.org/package/2006/relationships"><Relationship Id="rId3" Type="http://schemas.openxmlformats.org/officeDocument/2006/relationships/image" Target="../media/image85.png"/><Relationship Id="rId7" Type="http://schemas.openxmlformats.org/officeDocument/2006/relationships/image" Target="../media/image88.png"/><Relationship Id="rId2" Type="http://schemas.openxmlformats.org/officeDocument/2006/relationships/image" Target="../media/image3.jpeg"/><Relationship Id="rId1" Type="http://schemas.openxmlformats.org/officeDocument/2006/relationships/slideLayout" Target="../slideLayouts/slideLayout2.xml"/><Relationship Id="rId6" Type="http://schemas.openxmlformats.org/officeDocument/2006/relationships/image" Target="../media/image87.png"/><Relationship Id="rId5" Type="http://schemas.openxmlformats.org/officeDocument/2006/relationships/image" Target="../media/image86.png"/><Relationship Id="rId4" Type="http://schemas.openxmlformats.org/officeDocument/2006/relationships/image" Target="../media/image82.png"/></Relationships>
</file>

<file path=ppt/slides/_rels/slide29.xml.rels><?xml version="1.0" encoding="UTF-8" standalone="yes"?>
<Relationships xmlns="http://schemas.openxmlformats.org/package/2006/relationships"><Relationship Id="rId8" Type="http://schemas.openxmlformats.org/officeDocument/2006/relationships/image" Target="../media/image94.png"/><Relationship Id="rId3" Type="http://schemas.openxmlformats.org/officeDocument/2006/relationships/image" Target="../media/image89.png"/><Relationship Id="rId7" Type="http://schemas.openxmlformats.org/officeDocument/2006/relationships/image" Target="../media/image93.png"/><Relationship Id="rId2" Type="http://schemas.openxmlformats.org/officeDocument/2006/relationships/image" Target="../media/image3.jpeg"/><Relationship Id="rId1" Type="http://schemas.openxmlformats.org/officeDocument/2006/relationships/slideLayout" Target="../slideLayouts/slideLayout2.xml"/><Relationship Id="rId6" Type="http://schemas.openxmlformats.org/officeDocument/2006/relationships/image" Target="../media/image92.png"/><Relationship Id="rId5" Type="http://schemas.openxmlformats.org/officeDocument/2006/relationships/image" Target="../media/image91.png"/><Relationship Id="rId10" Type="http://schemas.openxmlformats.org/officeDocument/2006/relationships/hyperlink" Target="https://www.youtube.com/watch?v=xBS01yzd0yI&amp;ab_channel=GPBEducation" TargetMode="External"/><Relationship Id="rId4" Type="http://schemas.openxmlformats.org/officeDocument/2006/relationships/image" Target="../media/image90.png"/><Relationship Id="rId9" Type="http://schemas.openxmlformats.org/officeDocument/2006/relationships/image" Target="../media/image95.png"/></Relationships>
</file>

<file path=ppt/slides/_rels/slide30.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hyperlink" Target="https://openstax.org/" TargetMode="External"/><Relationship Id="rId2" Type="http://schemas.openxmlformats.org/officeDocument/2006/relationships/hyperlink" Target="https://openstax.org/details/books/university-physics-volume-1" TargetMode="External"/><Relationship Id="rId1" Type="http://schemas.openxmlformats.org/officeDocument/2006/relationships/slideLayout" Target="../slideLayouts/slideLayout3.xml"/><Relationship Id="rId4" Type="http://schemas.openxmlformats.org/officeDocument/2006/relationships/hyperlink" Target="https://creativecommons.org/licenses/by/4.0/" TargetMode="Externa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l="20000" r="-3000"/>
          </a:stretch>
        </a:blipFill>
        <a:effectLst/>
      </p:bgPr>
    </p:bg>
    <p:spTree>
      <p:nvGrpSpPr>
        <p:cNvPr id="1" name=""/>
        <p:cNvGrpSpPr/>
        <p:nvPr/>
      </p:nvGrpSpPr>
      <p:grpSpPr>
        <a:xfrm>
          <a:off x="0" y="0"/>
          <a:ext cx="0" cy="0"/>
          <a:chOff x="0" y="0"/>
          <a:chExt cx="0" cy="0"/>
        </a:xfrm>
      </p:grpSpPr>
      <p:sp>
        <p:nvSpPr>
          <p:cNvPr id="70" name="Freeform: Shape 69">
            <a:extLst>
              <a:ext uri="{FF2B5EF4-FFF2-40B4-BE49-F238E27FC236}">
                <a16:creationId xmlns:a16="http://schemas.microsoft.com/office/drawing/2014/main" id="{0C526D66-3621-4347-B1EF-342CBF4DB9C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483466"/>
            <a:ext cx="5393770" cy="6374535"/>
          </a:xfrm>
          <a:custGeom>
            <a:avLst/>
            <a:gdLst>
              <a:gd name="connsiteX0" fmla="*/ 2047752 w 5393770"/>
              <a:gd name="connsiteY0" fmla="*/ 0 h 6374535"/>
              <a:gd name="connsiteX1" fmla="*/ 5393770 w 5393770"/>
              <a:gd name="connsiteY1" fmla="*/ 3346018 h 6374535"/>
              <a:gd name="connsiteX2" fmla="*/ 3642663 w 5393770"/>
              <a:gd name="connsiteY2" fmla="*/ 6288190 h 6374535"/>
              <a:gd name="connsiteX3" fmla="*/ 3463422 w 5393770"/>
              <a:gd name="connsiteY3" fmla="*/ 6374535 h 6374535"/>
              <a:gd name="connsiteX4" fmla="*/ 624279 w 5393770"/>
              <a:gd name="connsiteY4" fmla="*/ 6374535 h 6374535"/>
              <a:gd name="connsiteX5" fmla="*/ 382249 w 5393770"/>
              <a:gd name="connsiteY5" fmla="*/ 6248727 h 6374535"/>
              <a:gd name="connsiteX6" fmla="*/ 143729 w 5393770"/>
              <a:gd name="connsiteY6" fmla="*/ 6097845 h 6374535"/>
              <a:gd name="connsiteX7" fmla="*/ 0 w 5393770"/>
              <a:gd name="connsiteY7" fmla="*/ 5989017 h 6374535"/>
              <a:gd name="connsiteX8" fmla="*/ 0 w 5393770"/>
              <a:gd name="connsiteY8" fmla="*/ 703020 h 6374535"/>
              <a:gd name="connsiteX9" fmla="*/ 143728 w 5393770"/>
              <a:gd name="connsiteY9" fmla="*/ 594191 h 6374535"/>
              <a:gd name="connsiteX10" fmla="*/ 2047752 w 5393770"/>
              <a:gd name="connsiteY10" fmla="*/ 0 h 63745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393770" h="6374535">
                <a:moveTo>
                  <a:pt x="2047752" y="0"/>
                </a:moveTo>
                <a:cubicBezTo>
                  <a:pt x="3895707" y="0"/>
                  <a:pt x="5393770" y="1498063"/>
                  <a:pt x="5393770" y="3346018"/>
                </a:cubicBezTo>
                <a:cubicBezTo>
                  <a:pt x="5393770" y="4616487"/>
                  <a:pt x="4685701" y="5721578"/>
                  <a:pt x="3642663" y="6288190"/>
                </a:cubicBezTo>
                <a:lnTo>
                  <a:pt x="3463422" y="6374535"/>
                </a:lnTo>
                <a:lnTo>
                  <a:pt x="624279" y="6374535"/>
                </a:lnTo>
                <a:lnTo>
                  <a:pt x="382249" y="6248727"/>
                </a:lnTo>
                <a:cubicBezTo>
                  <a:pt x="300507" y="6201724"/>
                  <a:pt x="220937" y="6151368"/>
                  <a:pt x="143729" y="6097845"/>
                </a:cubicBezTo>
                <a:lnTo>
                  <a:pt x="0" y="5989017"/>
                </a:lnTo>
                <a:lnTo>
                  <a:pt x="0" y="703020"/>
                </a:lnTo>
                <a:lnTo>
                  <a:pt x="143728" y="594191"/>
                </a:lnTo>
                <a:cubicBezTo>
                  <a:pt x="684187" y="219535"/>
                  <a:pt x="1340332" y="0"/>
                  <a:pt x="2047752" y="0"/>
                </a:cubicBezTo>
                <a:close/>
              </a:path>
            </a:pathLst>
          </a:custGeom>
          <a:solidFill>
            <a:srgbClr val="FFFFFF">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72" name="Freeform: Shape 71">
            <a:extLst>
              <a:ext uri="{FF2B5EF4-FFF2-40B4-BE49-F238E27FC236}">
                <a16:creationId xmlns:a16="http://schemas.microsoft.com/office/drawing/2014/main" id="{0193166D-DDF1-4F9A-A786-A7AEF5375C0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647373"/>
            <a:ext cx="5229863" cy="6210629"/>
          </a:xfrm>
          <a:custGeom>
            <a:avLst/>
            <a:gdLst>
              <a:gd name="connsiteX0" fmla="*/ 2047751 w 5229863"/>
              <a:gd name="connsiteY0" fmla="*/ 0 h 6210629"/>
              <a:gd name="connsiteX1" fmla="*/ 5229863 w 5229863"/>
              <a:gd name="connsiteY1" fmla="*/ 3182112 h 6210629"/>
              <a:gd name="connsiteX2" fmla="*/ 3286373 w 5229863"/>
              <a:gd name="connsiteY2" fmla="*/ 6114158 h 6210629"/>
              <a:gd name="connsiteX3" fmla="*/ 3022794 w 5229863"/>
              <a:gd name="connsiteY3" fmla="*/ 6210629 h 6210629"/>
              <a:gd name="connsiteX4" fmla="*/ 1077939 w 5229863"/>
              <a:gd name="connsiteY4" fmla="*/ 6210629 h 6210629"/>
              <a:gd name="connsiteX5" fmla="*/ 953634 w 5229863"/>
              <a:gd name="connsiteY5" fmla="*/ 6171135 h 6210629"/>
              <a:gd name="connsiteX6" fmla="*/ 23632 w 5229863"/>
              <a:gd name="connsiteY6" fmla="*/ 5637585 h 6210629"/>
              <a:gd name="connsiteX7" fmla="*/ 0 w 5229863"/>
              <a:gd name="connsiteY7" fmla="*/ 5616107 h 6210629"/>
              <a:gd name="connsiteX8" fmla="*/ 0 w 5229863"/>
              <a:gd name="connsiteY8" fmla="*/ 748118 h 6210629"/>
              <a:gd name="connsiteX9" fmla="*/ 23632 w 5229863"/>
              <a:gd name="connsiteY9" fmla="*/ 726640 h 6210629"/>
              <a:gd name="connsiteX10" fmla="*/ 2047751 w 5229863"/>
              <a:gd name="connsiteY10" fmla="*/ 0 h 62106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229863" h="6210629">
                <a:moveTo>
                  <a:pt x="2047751" y="0"/>
                </a:moveTo>
                <a:cubicBezTo>
                  <a:pt x="3805183" y="0"/>
                  <a:pt x="5229863" y="1424680"/>
                  <a:pt x="5229863" y="3182112"/>
                </a:cubicBezTo>
                <a:cubicBezTo>
                  <a:pt x="5229863" y="4500186"/>
                  <a:pt x="4428481" y="5631087"/>
                  <a:pt x="3286373" y="6114158"/>
                </a:cubicBezTo>
                <a:lnTo>
                  <a:pt x="3022794" y="6210629"/>
                </a:lnTo>
                <a:lnTo>
                  <a:pt x="1077939" y="6210629"/>
                </a:lnTo>
                <a:lnTo>
                  <a:pt x="953634" y="6171135"/>
                </a:lnTo>
                <a:cubicBezTo>
                  <a:pt x="612471" y="6046219"/>
                  <a:pt x="298661" y="5864559"/>
                  <a:pt x="23632" y="5637585"/>
                </a:cubicBezTo>
                <a:lnTo>
                  <a:pt x="0" y="5616107"/>
                </a:lnTo>
                <a:lnTo>
                  <a:pt x="0" y="748118"/>
                </a:lnTo>
                <a:lnTo>
                  <a:pt x="23632" y="726640"/>
                </a:lnTo>
                <a:cubicBezTo>
                  <a:pt x="573689" y="272693"/>
                  <a:pt x="1278875" y="0"/>
                  <a:pt x="2047751" y="0"/>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74" name="Freeform: Shape 73">
            <a:extLst>
              <a:ext uri="{FF2B5EF4-FFF2-40B4-BE49-F238E27FC236}">
                <a16:creationId xmlns:a16="http://schemas.microsoft.com/office/drawing/2014/main" id="{8A177BCC-4208-4795-8572-4D623BA1E2A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233763" y="1"/>
            <a:ext cx="4480560" cy="2513993"/>
          </a:xfrm>
          <a:custGeom>
            <a:avLst/>
            <a:gdLst>
              <a:gd name="connsiteX0" fmla="*/ 18382 w 4480560"/>
              <a:gd name="connsiteY0" fmla="*/ 0 h 2513993"/>
              <a:gd name="connsiteX1" fmla="*/ 4462178 w 4480560"/>
              <a:gd name="connsiteY1" fmla="*/ 0 h 2513993"/>
              <a:gd name="connsiteX2" fmla="*/ 4468994 w 4480560"/>
              <a:gd name="connsiteY2" fmla="*/ 44657 h 2513993"/>
              <a:gd name="connsiteX3" fmla="*/ 4480560 w 4480560"/>
              <a:gd name="connsiteY3" fmla="*/ 273713 h 2513993"/>
              <a:gd name="connsiteX4" fmla="*/ 2240280 w 4480560"/>
              <a:gd name="connsiteY4" fmla="*/ 2513993 h 2513993"/>
              <a:gd name="connsiteX5" fmla="*/ 0 w 4480560"/>
              <a:gd name="connsiteY5" fmla="*/ 273713 h 2513993"/>
              <a:gd name="connsiteX6" fmla="*/ 11567 w 4480560"/>
              <a:gd name="connsiteY6" fmla="*/ 44657 h 25139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80560" h="2513993">
                <a:moveTo>
                  <a:pt x="18382" y="0"/>
                </a:moveTo>
                <a:lnTo>
                  <a:pt x="4462178" y="0"/>
                </a:lnTo>
                <a:lnTo>
                  <a:pt x="4468994" y="44657"/>
                </a:lnTo>
                <a:cubicBezTo>
                  <a:pt x="4476642" y="119969"/>
                  <a:pt x="4480560" y="196384"/>
                  <a:pt x="4480560" y="273713"/>
                </a:cubicBezTo>
                <a:cubicBezTo>
                  <a:pt x="4480560" y="1510985"/>
                  <a:pt x="3477552" y="2513993"/>
                  <a:pt x="2240280" y="2513993"/>
                </a:cubicBezTo>
                <a:cubicBezTo>
                  <a:pt x="1003008" y="2513993"/>
                  <a:pt x="0" y="1510985"/>
                  <a:pt x="0" y="273713"/>
                </a:cubicBezTo>
                <a:cubicBezTo>
                  <a:pt x="0" y="196384"/>
                  <a:pt x="3918" y="119969"/>
                  <a:pt x="11567" y="44657"/>
                </a:cubicBezTo>
                <a:close/>
              </a:path>
            </a:pathLst>
          </a:custGeom>
          <a:solidFill>
            <a:srgbClr val="FFFFFF">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76" name="Freeform: Shape 75">
            <a:extLst>
              <a:ext uri="{FF2B5EF4-FFF2-40B4-BE49-F238E27FC236}">
                <a16:creationId xmlns:a16="http://schemas.microsoft.com/office/drawing/2014/main" id="{E4EE7214-AC05-465E-A501-65AA04EF5E1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398355" y="2"/>
            <a:ext cx="4151376" cy="2349401"/>
          </a:xfrm>
          <a:custGeom>
            <a:avLst/>
            <a:gdLst>
              <a:gd name="connsiteX0" fmla="*/ 20101 w 4151376"/>
              <a:gd name="connsiteY0" fmla="*/ 0 h 2349401"/>
              <a:gd name="connsiteX1" fmla="*/ 4131276 w 4151376"/>
              <a:gd name="connsiteY1" fmla="*/ 0 h 2349401"/>
              <a:gd name="connsiteX2" fmla="*/ 4140659 w 4151376"/>
              <a:gd name="connsiteY2" fmla="*/ 61486 h 2349401"/>
              <a:gd name="connsiteX3" fmla="*/ 4151376 w 4151376"/>
              <a:gd name="connsiteY3" fmla="*/ 273713 h 2349401"/>
              <a:gd name="connsiteX4" fmla="*/ 2075688 w 4151376"/>
              <a:gd name="connsiteY4" fmla="*/ 2349401 h 2349401"/>
              <a:gd name="connsiteX5" fmla="*/ 0 w 4151376"/>
              <a:gd name="connsiteY5" fmla="*/ 273713 h 2349401"/>
              <a:gd name="connsiteX6" fmla="*/ 10717 w 4151376"/>
              <a:gd name="connsiteY6" fmla="*/ 61486 h 23494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51376" h="2349401">
                <a:moveTo>
                  <a:pt x="20101" y="0"/>
                </a:moveTo>
                <a:lnTo>
                  <a:pt x="4131276" y="0"/>
                </a:lnTo>
                <a:lnTo>
                  <a:pt x="4140659" y="61486"/>
                </a:lnTo>
                <a:cubicBezTo>
                  <a:pt x="4147746" y="131265"/>
                  <a:pt x="4151376" y="202065"/>
                  <a:pt x="4151376" y="273713"/>
                </a:cubicBezTo>
                <a:cubicBezTo>
                  <a:pt x="4151376" y="1420084"/>
                  <a:pt x="3222059" y="2349401"/>
                  <a:pt x="2075688" y="2349401"/>
                </a:cubicBezTo>
                <a:cubicBezTo>
                  <a:pt x="929317" y="2349401"/>
                  <a:pt x="0" y="1420084"/>
                  <a:pt x="0" y="273713"/>
                </a:cubicBezTo>
                <a:cubicBezTo>
                  <a:pt x="0" y="202065"/>
                  <a:pt x="3630" y="131265"/>
                  <a:pt x="10717" y="61486"/>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7" name="Rectangle 2">
            <a:extLst>
              <a:ext uri="{FF2B5EF4-FFF2-40B4-BE49-F238E27FC236}">
                <a16:creationId xmlns:a16="http://schemas.microsoft.com/office/drawing/2014/main" id="{5E62A1D4-056C-4BD6-8BAE-F355EA770FD7}"/>
              </a:ext>
            </a:extLst>
          </p:cNvPr>
          <p:cNvSpPr txBox="1">
            <a:spLocks/>
          </p:cNvSpPr>
          <p:nvPr/>
        </p:nvSpPr>
        <p:spPr>
          <a:xfrm>
            <a:off x="8284867" y="4582740"/>
            <a:ext cx="3801498" cy="1587648"/>
          </a:xfrm>
          <a:prstGeom prst="rect">
            <a:avLst/>
          </a:prstGeom>
        </p:spPr>
        <p:txBody>
          <a:bodyPr vert="horz" lIns="91440" tIns="45720" rIns="91440" bIns="45720" rtlCol="0" anchor="b">
            <a:normAutofit fontScale="975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spcAft>
                <a:spcPts val="600"/>
              </a:spcAft>
            </a:pPr>
            <a:r>
              <a:rPr lang="en-US" altLang="en-US" sz="3200" dirty="0">
                <a:solidFill>
                  <a:srgbClr val="000066"/>
                </a:solidFill>
              </a:rPr>
              <a:t>Chapter 4 </a:t>
            </a:r>
          </a:p>
          <a:p>
            <a:pPr>
              <a:spcAft>
                <a:spcPts val="600"/>
              </a:spcAft>
            </a:pPr>
            <a:r>
              <a:rPr lang="en-US" altLang="en-US" sz="3200" dirty="0">
                <a:solidFill>
                  <a:srgbClr val="000066"/>
                </a:solidFill>
              </a:rPr>
              <a:t>Motion in Two and Three Dimensions</a:t>
            </a:r>
          </a:p>
        </p:txBody>
      </p:sp>
      <p:sp>
        <p:nvSpPr>
          <p:cNvPr id="4" name="Rectangle 2">
            <a:extLst>
              <a:ext uri="{FF2B5EF4-FFF2-40B4-BE49-F238E27FC236}">
                <a16:creationId xmlns:a16="http://schemas.microsoft.com/office/drawing/2014/main" id="{0546D111-6592-4E70-8C6B-D34F7E8A89B8}"/>
              </a:ext>
            </a:extLst>
          </p:cNvPr>
          <p:cNvSpPr txBox="1">
            <a:spLocks/>
          </p:cNvSpPr>
          <p:nvPr/>
        </p:nvSpPr>
        <p:spPr>
          <a:xfrm>
            <a:off x="4578397" y="102044"/>
            <a:ext cx="5756227" cy="1587648"/>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spcAft>
                <a:spcPts val="600"/>
              </a:spcAft>
            </a:pPr>
            <a:r>
              <a:rPr lang="en-US" altLang="en-US" sz="3200" dirty="0">
                <a:solidFill>
                  <a:srgbClr val="0000CC"/>
                </a:solidFill>
              </a:rPr>
              <a:t>PHYS 2425  </a:t>
            </a:r>
          </a:p>
          <a:p>
            <a:pPr>
              <a:spcAft>
                <a:spcPts val="600"/>
              </a:spcAft>
            </a:pPr>
            <a:r>
              <a:rPr lang="en-US" altLang="en-US" sz="3200" dirty="0">
                <a:solidFill>
                  <a:srgbClr val="0000CC"/>
                </a:solidFill>
              </a:rPr>
              <a:t>Physics for Scientists </a:t>
            </a:r>
          </a:p>
          <a:p>
            <a:pPr>
              <a:spcAft>
                <a:spcPts val="600"/>
              </a:spcAft>
            </a:pPr>
            <a:r>
              <a:rPr lang="en-US" altLang="en-US" sz="3200" dirty="0">
                <a:solidFill>
                  <a:srgbClr val="0000CC"/>
                </a:solidFill>
              </a:rPr>
              <a:t>and Engineers I</a:t>
            </a:r>
          </a:p>
        </p:txBody>
      </p:sp>
      <p:pic>
        <p:nvPicPr>
          <p:cNvPr id="5" name="Picture 4" descr="A picture containing text&#10;&#10;Description automatically generated">
            <a:extLst>
              <a:ext uri="{FF2B5EF4-FFF2-40B4-BE49-F238E27FC236}">
                <a16:creationId xmlns:a16="http://schemas.microsoft.com/office/drawing/2014/main" id="{00364511-71A3-4D48-AC90-C9D92CFAE66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635" y="1320950"/>
            <a:ext cx="3888245" cy="5029200"/>
          </a:xfrm>
          <a:prstGeom prst="rect">
            <a:avLst/>
          </a:prstGeom>
        </p:spPr>
      </p:pic>
      <p:sp>
        <p:nvSpPr>
          <p:cNvPr id="9" name="Rectangle 8">
            <a:extLst>
              <a:ext uri="{FF2B5EF4-FFF2-40B4-BE49-F238E27FC236}">
                <a16:creationId xmlns:a16="http://schemas.microsoft.com/office/drawing/2014/main" id="{524225FA-6C77-8B48-B8FF-D02A53285D2F}"/>
              </a:ext>
            </a:extLst>
          </p:cNvPr>
          <p:cNvSpPr/>
          <p:nvPr/>
        </p:nvSpPr>
        <p:spPr>
          <a:xfrm>
            <a:off x="895268" y="6317187"/>
            <a:ext cx="2018620" cy="553998"/>
          </a:xfrm>
          <a:prstGeom prst="rect">
            <a:avLst/>
          </a:prstGeom>
        </p:spPr>
        <p:txBody>
          <a:bodyPr wrap="square">
            <a:spAutoFit/>
          </a:bodyPr>
          <a:lstStyle/>
          <a:p>
            <a:r>
              <a:rPr lang="en-US" sz="1000" dirty="0">
                <a:solidFill>
                  <a:srgbClr val="A50021"/>
                </a:solidFill>
                <a:latin typeface="Calibri" panose="020F0502020204030204" pitchFamily="34" charset="0"/>
              </a:rPr>
              <a:t>Download the textbook for free at </a:t>
            </a:r>
            <a:r>
              <a:rPr lang="en-US" sz="1000" dirty="0">
                <a:solidFill>
                  <a:srgbClr val="A50021"/>
                </a:solidFill>
                <a:latin typeface="Calibri" panose="020F0502020204030204" pitchFamily="34" charset="0"/>
                <a:hlinkClick r:id="rId4"/>
              </a:rPr>
              <a:t>https://openstax.org/details/books/university-physics-volume-1</a:t>
            </a:r>
            <a:r>
              <a:rPr lang="en-US" sz="1000" dirty="0">
                <a:solidFill>
                  <a:srgbClr val="A50021"/>
                </a:solidFill>
                <a:latin typeface="Calibri" panose="020F0502020204030204" pitchFamily="34" charset="0"/>
              </a:rPr>
              <a:t> </a:t>
            </a:r>
            <a:endParaRPr lang="en-US" sz="1000" dirty="0">
              <a:solidFill>
                <a:srgbClr val="A50021"/>
              </a:solidFill>
              <a:effectLst/>
            </a:endParaRPr>
          </a:p>
        </p:txBody>
      </p:sp>
      <p:sp>
        <p:nvSpPr>
          <p:cNvPr id="10" name="Rectangle 9">
            <a:extLst>
              <a:ext uri="{FF2B5EF4-FFF2-40B4-BE49-F238E27FC236}">
                <a16:creationId xmlns:a16="http://schemas.microsoft.com/office/drawing/2014/main" id="{0F7B427F-99C8-C74D-B61F-8F041FEB891B}"/>
              </a:ext>
            </a:extLst>
          </p:cNvPr>
          <p:cNvSpPr/>
          <p:nvPr/>
        </p:nvSpPr>
        <p:spPr>
          <a:xfrm>
            <a:off x="9549731" y="6594186"/>
            <a:ext cx="3335306" cy="400110"/>
          </a:xfrm>
          <a:prstGeom prst="rect">
            <a:avLst/>
          </a:prstGeom>
        </p:spPr>
        <p:txBody>
          <a:bodyPr wrap="square">
            <a:spAutoFit/>
          </a:bodyPr>
          <a:lstStyle/>
          <a:p>
            <a:r>
              <a:rPr lang="en-US" sz="1000" dirty="0">
                <a:solidFill>
                  <a:srgbClr val="000066"/>
                </a:solidFill>
              </a:rPr>
              <a:t>Image credit: modification of work by Phil Long </a:t>
            </a:r>
          </a:p>
          <a:p>
            <a:endParaRPr lang="en-US" sz="1000" dirty="0">
              <a:solidFill>
                <a:srgbClr val="000066"/>
              </a:solidFill>
            </a:endParaRPr>
          </a:p>
        </p:txBody>
      </p:sp>
    </p:spTree>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2" descr="L:\Clients\Connexions\01_CNX_ Admin\00_OSC_Project_Resources\14_OSC_Production\PowerPoints\OSX-Stacked-TM-CMYK-300dp1-2016.jpg">
            <a:extLst>
              <a:ext uri="{FF2B5EF4-FFF2-40B4-BE49-F238E27FC236}">
                <a16:creationId xmlns:a16="http://schemas.microsoft.com/office/drawing/2014/main" id="{B8FFED19-C635-4D44-83B4-B18507ECDDF8}"/>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11074549" y="89044"/>
            <a:ext cx="1049775" cy="713232"/>
          </a:xfrm>
          <a:prstGeom prst="rect">
            <a:avLst/>
          </a:prstGeom>
          <a:noFill/>
          <a:extLst>
            <a:ext uri="{909E8E84-426E-40dd-AFC4-6F175D3DCCD1}">
              <a14:hiddenFill xmlns:a14="http://schemas.microsoft.com/office/drawing/2010/main" xmlns="">
                <a:solidFill>
                  <a:srgbClr val="FFFFFF"/>
                </a:solidFill>
              </a14:hiddenFill>
            </a:ext>
          </a:extLst>
        </p:spPr>
      </p:pic>
      <p:sp>
        <p:nvSpPr>
          <p:cNvPr id="6" name="Rectangle 5">
            <a:extLst>
              <a:ext uri="{FF2B5EF4-FFF2-40B4-BE49-F238E27FC236}">
                <a16:creationId xmlns:a16="http://schemas.microsoft.com/office/drawing/2014/main" id="{91BCDE13-F902-E842-9904-BFF240283A36}"/>
              </a:ext>
            </a:extLst>
          </p:cNvPr>
          <p:cNvSpPr/>
          <p:nvPr/>
        </p:nvSpPr>
        <p:spPr>
          <a:xfrm>
            <a:off x="2486030" y="89044"/>
            <a:ext cx="7858125" cy="523220"/>
          </a:xfrm>
          <a:prstGeom prst="rect">
            <a:avLst/>
          </a:prstGeom>
        </p:spPr>
        <p:txBody>
          <a:bodyPr wrap="square">
            <a:spAutoFit/>
          </a:bodyPr>
          <a:lstStyle/>
          <a:p>
            <a:r>
              <a:rPr lang="en-US" sz="2800" dirty="0">
                <a:solidFill>
                  <a:srgbClr val="C00000"/>
                </a:solidFill>
                <a:latin typeface="NewBaskervilleStd-Roman"/>
              </a:rPr>
              <a:t>Displacement and Velocity Vectors </a:t>
            </a:r>
          </a:p>
        </p:txBody>
      </p:sp>
      <p:sp>
        <p:nvSpPr>
          <p:cNvPr id="3" name="Rectangle 2">
            <a:extLst>
              <a:ext uri="{FF2B5EF4-FFF2-40B4-BE49-F238E27FC236}">
                <a16:creationId xmlns:a16="http://schemas.microsoft.com/office/drawing/2014/main" id="{8B594F9C-8DF8-914E-B8FD-47C3573FB2EB}"/>
              </a:ext>
            </a:extLst>
          </p:cNvPr>
          <p:cNvSpPr/>
          <p:nvPr/>
        </p:nvSpPr>
        <p:spPr>
          <a:xfrm>
            <a:off x="325463" y="612264"/>
            <a:ext cx="11112285" cy="1446550"/>
          </a:xfrm>
          <a:prstGeom prst="rect">
            <a:avLst/>
          </a:prstGeom>
        </p:spPr>
        <p:txBody>
          <a:bodyPr wrap="square">
            <a:spAutoFit/>
          </a:bodyPr>
          <a:lstStyle/>
          <a:p>
            <a:r>
              <a:rPr lang="en-US" sz="2200" dirty="0">
                <a:solidFill>
                  <a:srgbClr val="000066"/>
                </a:solidFill>
                <a:latin typeface="LiberationSerif"/>
              </a:rPr>
              <a:t>Displacement and velocity in two or three dimensions are straightforward extensions of the one-dimensional definitions. </a:t>
            </a:r>
          </a:p>
          <a:p>
            <a:r>
              <a:rPr lang="en-US" sz="2200" dirty="0">
                <a:solidFill>
                  <a:srgbClr val="000066"/>
                </a:solidFill>
                <a:latin typeface="LiberationSerif"/>
              </a:rPr>
              <a:t>T</a:t>
            </a:r>
            <a:r>
              <a:rPr lang="en-US" sz="2200" dirty="0">
                <a:solidFill>
                  <a:srgbClr val="000066"/>
                </a:solidFill>
              </a:rPr>
              <a:t>hey are vector quantities, so calculations with them should follow the rules of vector algebra.</a:t>
            </a:r>
          </a:p>
          <a:p>
            <a:endParaRPr lang="en-US" sz="2200" dirty="0">
              <a:solidFill>
                <a:srgbClr val="000066"/>
              </a:solidFill>
            </a:endParaRPr>
          </a:p>
        </p:txBody>
      </p:sp>
      <p:sp>
        <p:nvSpPr>
          <p:cNvPr id="4" name="Rectangle 3">
            <a:extLst>
              <a:ext uri="{FF2B5EF4-FFF2-40B4-BE49-F238E27FC236}">
                <a16:creationId xmlns:a16="http://schemas.microsoft.com/office/drawing/2014/main" id="{C4CC687D-CDAB-C348-8CEC-FA35BC2D798C}"/>
              </a:ext>
            </a:extLst>
          </p:cNvPr>
          <p:cNvSpPr/>
          <p:nvPr/>
        </p:nvSpPr>
        <p:spPr>
          <a:xfrm>
            <a:off x="325463" y="1843370"/>
            <a:ext cx="8818537" cy="430887"/>
          </a:xfrm>
          <a:prstGeom prst="rect">
            <a:avLst/>
          </a:prstGeom>
        </p:spPr>
        <p:txBody>
          <a:bodyPr wrap="square">
            <a:spAutoFit/>
          </a:bodyPr>
          <a:lstStyle/>
          <a:p>
            <a:r>
              <a:rPr lang="en-US" sz="2200" dirty="0">
                <a:solidFill>
                  <a:srgbClr val="000066"/>
                </a:solidFill>
                <a:latin typeface="LiberationSerif"/>
              </a:rPr>
              <a:t>The </a:t>
            </a:r>
            <a:r>
              <a:rPr lang="en-US" sz="2200" b="1" dirty="0">
                <a:solidFill>
                  <a:srgbClr val="C00000"/>
                </a:solidFill>
                <a:latin typeface="LiberationSerif"/>
              </a:rPr>
              <a:t>position vector </a:t>
            </a:r>
            <a:r>
              <a:rPr lang="en-US" sz="2200" dirty="0">
                <a:solidFill>
                  <a:srgbClr val="000066"/>
                </a:solidFill>
                <a:latin typeface="LiberationSerif"/>
              </a:rPr>
              <a:t>from the origin of the coordinate system to point </a:t>
            </a:r>
            <a:r>
              <a:rPr lang="en-US" sz="2200" i="1" dirty="0">
                <a:solidFill>
                  <a:srgbClr val="000066"/>
                </a:solidFill>
                <a:latin typeface="LiberationSerif"/>
              </a:rPr>
              <a:t>P </a:t>
            </a:r>
            <a:r>
              <a:rPr lang="en-US" sz="2200" dirty="0">
                <a:solidFill>
                  <a:srgbClr val="000066"/>
                </a:solidFill>
                <a:latin typeface="LiberationSerif"/>
              </a:rPr>
              <a:t>is </a:t>
            </a:r>
            <a:endParaRPr lang="en-US" sz="2200" dirty="0">
              <a:solidFill>
                <a:srgbClr val="000066"/>
              </a:solidFill>
            </a:endParaRPr>
          </a:p>
        </p:txBody>
      </p:sp>
      <p:sp>
        <p:nvSpPr>
          <p:cNvPr id="7" name="Rectangle 6">
            <a:extLst>
              <a:ext uri="{FF2B5EF4-FFF2-40B4-BE49-F238E27FC236}">
                <a16:creationId xmlns:a16="http://schemas.microsoft.com/office/drawing/2014/main" id="{DAFBE329-B7C3-3247-8829-0764300DCD6A}"/>
              </a:ext>
            </a:extLst>
          </p:cNvPr>
          <p:cNvSpPr/>
          <p:nvPr/>
        </p:nvSpPr>
        <p:spPr>
          <a:xfrm>
            <a:off x="325463" y="2920588"/>
            <a:ext cx="8276095" cy="369332"/>
          </a:xfrm>
          <a:prstGeom prst="rect">
            <a:avLst/>
          </a:prstGeom>
        </p:spPr>
        <p:txBody>
          <a:bodyPr wrap="square">
            <a:spAutoFit/>
          </a:bodyPr>
          <a:lstStyle/>
          <a:p>
            <a:r>
              <a:rPr lang="en-US" dirty="0">
                <a:solidFill>
                  <a:srgbClr val="000066"/>
                </a:solidFill>
                <a:latin typeface="LiberationSerif"/>
              </a:rPr>
              <a:t>If the particle is moving, the variables </a:t>
            </a:r>
            <a:r>
              <a:rPr lang="en-US" i="1" dirty="0">
                <a:solidFill>
                  <a:srgbClr val="000066"/>
                </a:solidFill>
                <a:latin typeface="LiberationSerif"/>
              </a:rPr>
              <a:t>x</a:t>
            </a:r>
            <a:r>
              <a:rPr lang="en-US" dirty="0">
                <a:solidFill>
                  <a:srgbClr val="000066"/>
                </a:solidFill>
                <a:latin typeface="LiberationSerif"/>
              </a:rPr>
              <a:t>, </a:t>
            </a:r>
            <a:r>
              <a:rPr lang="en-US" i="1" dirty="0">
                <a:solidFill>
                  <a:srgbClr val="000066"/>
                </a:solidFill>
                <a:latin typeface="LiberationSerif"/>
              </a:rPr>
              <a:t>y</a:t>
            </a:r>
            <a:r>
              <a:rPr lang="en-US" dirty="0">
                <a:solidFill>
                  <a:srgbClr val="000066"/>
                </a:solidFill>
                <a:latin typeface="LiberationSerif"/>
              </a:rPr>
              <a:t>, and </a:t>
            </a:r>
            <a:r>
              <a:rPr lang="en-US" i="1" dirty="0">
                <a:solidFill>
                  <a:srgbClr val="000066"/>
                </a:solidFill>
                <a:latin typeface="LiberationSerif"/>
              </a:rPr>
              <a:t>z </a:t>
            </a:r>
            <a:r>
              <a:rPr lang="en-US" dirty="0">
                <a:solidFill>
                  <a:srgbClr val="000066"/>
                </a:solidFill>
                <a:latin typeface="LiberationSerif"/>
              </a:rPr>
              <a:t>are functions of time (</a:t>
            </a:r>
            <a:r>
              <a:rPr lang="en-US" i="1" dirty="0">
                <a:solidFill>
                  <a:srgbClr val="000066"/>
                </a:solidFill>
                <a:latin typeface="LiberationSerif"/>
              </a:rPr>
              <a:t>t</a:t>
            </a:r>
            <a:r>
              <a:rPr lang="en-US" dirty="0">
                <a:solidFill>
                  <a:srgbClr val="000066"/>
                </a:solidFill>
                <a:latin typeface="LiberationSerif"/>
              </a:rPr>
              <a:t>):</a:t>
            </a:r>
            <a:endParaRPr lang="en-US" dirty="0">
              <a:solidFill>
                <a:srgbClr val="000066"/>
              </a:solidFill>
            </a:endParaRPr>
          </a:p>
        </p:txBody>
      </p:sp>
      <p:pic>
        <p:nvPicPr>
          <p:cNvPr id="12" name="Picture 11" descr="Diagram, schematic&#10;&#10;Description automatically generated">
            <a:extLst>
              <a:ext uri="{FF2B5EF4-FFF2-40B4-BE49-F238E27FC236}">
                <a16:creationId xmlns:a16="http://schemas.microsoft.com/office/drawing/2014/main" id="{42652856-9167-FC46-8F49-5BECD2084FE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680774" y="2274257"/>
            <a:ext cx="3073400" cy="609600"/>
          </a:xfrm>
          <a:prstGeom prst="rect">
            <a:avLst/>
          </a:prstGeom>
        </p:spPr>
      </p:pic>
      <p:pic>
        <p:nvPicPr>
          <p:cNvPr id="15" name="Picture 14" descr="Text&#10;&#10;Description automatically generated with medium confidence">
            <a:extLst>
              <a:ext uri="{FF2B5EF4-FFF2-40B4-BE49-F238E27FC236}">
                <a16:creationId xmlns:a16="http://schemas.microsoft.com/office/drawing/2014/main" id="{D32BD144-E292-3246-982A-AEE5594CF523}"/>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222640" y="2937066"/>
            <a:ext cx="2781300" cy="355600"/>
          </a:xfrm>
          <a:prstGeom prst="rect">
            <a:avLst/>
          </a:prstGeom>
        </p:spPr>
      </p:pic>
      <p:pic>
        <p:nvPicPr>
          <p:cNvPr id="16" name="Picture Placeholder 1" descr="An x y z coordinate system is shown, with positive x out of the page, positive y to the right, and positive z up. A point P, with coordinates x of t, y of t, and z of t is shown. All of P’s coordinates are positive. The vector r of t from the origin to P is also shown as a purple arrow. The coordinates x of t, y of t and z of t are shown as dashed lines. X of t is a segment in the x y plane, parallel to the x axis, y of t is a segment in the x y plane, parallel to the y axis, and z of t is a segment parallel to the z axis.">
            <a:extLst>
              <a:ext uri="{FF2B5EF4-FFF2-40B4-BE49-F238E27FC236}">
                <a16:creationId xmlns:a16="http://schemas.microsoft.com/office/drawing/2014/main" id="{FA96E76A-B066-1B46-91AC-80084E09316C}"/>
              </a:ext>
            </a:extLst>
          </p:cNvPr>
          <p:cNvPicPr>
            <a:picLocks noChangeAspect="1"/>
          </p:cNvPicPr>
          <p:nvPr/>
        </p:nvPicPr>
        <p:blipFill>
          <a:blip r:embed="rId5">
            <a:extLst>
              <a:ext uri="{28A0092B-C50C-407E-A947-70E740481C1C}">
                <a14:useLocalDpi xmlns:a14="http://schemas.microsoft.com/office/drawing/2010/main" val="0"/>
              </a:ext>
            </a:extLst>
          </a:blip>
          <a:srcRect l="-53664" r="-53664"/>
          <a:stretch>
            <a:fillRect/>
          </a:stretch>
        </p:blipFill>
        <p:spPr>
          <a:xfrm>
            <a:off x="-223353" y="3326651"/>
            <a:ext cx="6319353" cy="2743200"/>
          </a:xfrm>
          <a:prstGeom prst="rect">
            <a:avLst/>
          </a:prstGeom>
        </p:spPr>
      </p:pic>
      <p:sp>
        <p:nvSpPr>
          <p:cNvPr id="17" name="Text Placeholder 6">
            <a:extLst>
              <a:ext uri="{FF2B5EF4-FFF2-40B4-BE49-F238E27FC236}">
                <a16:creationId xmlns:a16="http://schemas.microsoft.com/office/drawing/2014/main" id="{17590094-27C6-414B-AF41-EB82423B9A7D}"/>
              </a:ext>
            </a:extLst>
          </p:cNvPr>
          <p:cNvSpPr txBox="1">
            <a:spLocks/>
          </p:cNvSpPr>
          <p:nvPr/>
        </p:nvSpPr>
        <p:spPr>
          <a:xfrm>
            <a:off x="884735" y="6068308"/>
            <a:ext cx="4162588" cy="691312"/>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800" dirty="0">
                <a:solidFill>
                  <a:srgbClr val="000066"/>
                </a:solidFill>
              </a:rPr>
              <a:t>A three-dimensional coordinate system with a particle at position </a:t>
            </a:r>
            <a:r>
              <a:rPr lang="en-US" sz="1800" i="1" dirty="0">
                <a:solidFill>
                  <a:srgbClr val="000066"/>
                </a:solidFill>
              </a:rPr>
              <a:t>P</a:t>
            </a:r>
            <a:r>
              <a:rPr lang="en-US" sz="1800" dirty="0">
                <a:solidFill>
                  <a:srgbClr val="000066"/>
                </a:solidFill>
              </a:rPr>
              <a:t>(</a:t>
            </a:r>
            <a:r>
              <a:rPr lang="en-US" sz="1800" i="1" dirty="0">
                <a:solidFill>
                  <a:srgbClr val="000066"/>
                </a:solidFill>
              </a:rPr>
              <a:t>x</a:t>
            </a:r>
            <a:r>
              <a:rPr lang="en-US" sz="1800" dirty="0">
                <a:solidFill>
                  <a:srgbClr val="000066"/>
                </a:solidFill>
              </a:rPr>
              <a:t>(</a:t>
            </a:r>
            <a:r>
              <a:rPr lang="en-US" sz="1800" i="1" dirty="0">
                <a:solidFill>
                  <a:srgbClr val="000066"/>
                </a:solidFill>
              </a:rPr>
              <a:t>t</a:t>
            </a:r>
            <a:r>
              <a:rPr lang="en-US" sz="1800" dirty="0">
                <a:solidFill>
                  <a:srgbClr val="000066"/>
                </a:solidFill>
              </a:rPr>
              <a:t>), </a:t>
            </a:r>
            <a:r>
              <a:rPr lang="en-US" sz="1800" i="1" dirty="0">
                <a:solidFill>
                  <a:srgbClr val="000066"/>
                </a:solidFill>
              </a:rPr>
              <a:t>y</a:t>
            </a:r>
            <a:r>
              <a:rPr lang="en-US" sz="1800" dirty="0">
                <a:solidFill>
                  <a:srgbClr val="000066"/>
                </a:solidFill>
              </a:rPr>
              <a:t>(</a:t>
            </a:r>
            <a:r>
              <a:rPr lang="en-US" sz="1800" i="1" dirty="0">
                <a:solidFill>
                  <a:srgbClr val="000066"/>
                </a:solidFill>
              </a:rPr>
              <a:t>t</a:t>
            </a:r>
            <a:r>
              <a:rPr lang="en-US" sz="1800" dirty="0">
                <a:solidFill>
                  <a:srgbClr val="000066"/>
                </a:solidFill>
              </a:rPr>
              <a:t>), </a:t>
            </a:r>
            <a:r>
              <a:rPr lang="en-US" sz="1800" i="1" dirty="0">
                <a:solidFill>
                  <a:srgbClr val="000066"/>
                </a:solidFill>
              </a:rPr>
              <a:t>z</a:t>
            </a:r>
            <a:r>
              <a:rPr lang="en-US" sz="1800" dirty="0">
                <a:solidFill>
                  <a:srgbClr val="000066"/>
                </a:solidFill>
              </a:rPr>
              <a:t>(</a:t>
            </a:r>
            <a:r>
              <a:rPr lang="en-US" sz="1800" i="1" dirty="0">
                <a:solidFill>
                  <a:srgbClr val="000066"/>
                </a:solidFill>
              </a:rPr>
              <a:t>t</a:t>
            </a:r>
            <a:r>
              <a:rPr lang="en-US" sz="1800" dirty="0">
                <a:solidFill>
                  <a:srgbClr val="000066"/>
                </a:solidFill>
              </a:rPr>
              <a:t>)).</a:t>
            </a:r>
          </a:p>
        </p:txBody>
      </p:sp>
      <p:pic>
        <p:nvPicPr>
          <p:cNvPr id="18" name="Picture Placeholder 3" descr="An x y z coordinate system is shown, with positive x out of the page, positive y to the right, and positive z up. Two points, P 1 and P 2 are shown. The vector r of t 1 from the origin to P 1 and the vector r of t 2 from the origin to P 2 are shown as purple arrows. The vector delta r is shown as a purple arrow whose tail is at P 1 and head at P 2.">
            <a:extLst>
              <a:ext uri="{FF2B5EF4-FFF2-40B4-BE49-F238E27FC236}">
                <a16:creationId xmlns:a16="http://schemas.microsoft.com/office/drawing/2014/main" id="{AC96C4B6-2D91-774D-B121-F3F580AA246B}"/>
              </a:ext>
            </a:extLst>
          </p:cNvPr>
          <p:cNvPicPr>
            <a:picLocks noChangeAspect="1"/>
          </p:cNvPicPr>
          <p:nvPr/>
        </p:nvPicPr>
        <p:blipFill>
          <a:blip r:embed="rId6">
            <a:extLst>
              <a:ext uri="{28A0092B-C50C-407E-A947-70E740481C1C}">
                <a14:useLocalDpi xmlns:a14="http://schemas.microsoft.com/office/drawing/2010/main" val="0"/>
              </a:ext>
            </a:extLst>
          </a:blip>
          <a:srcRect l="-68044" r="-68044"/>
          <a:stretch>
            <a:fillRect/>
          </a:stretch>
        </p:blipFill>
        <p:spPr>
          <a:xfrm>
            <a:off x="3684587" y="3306743"/>
            <a:ext cx="6319353" cy="2743200"/>
          </a:xfrm>
          <a:prstGeom prst="rect">
            <a:avLst/>
          </a:prstGeom>
        </p:spPr>
      </p:pic>
      <mc:AlternateContent xmlns:mc="http://schemas.openxmlformats.org/markup-compatibility/2006" xmlns:a14="http://schemas.microsoft.com/office/drawing/2010/main">
        <mc:Choice Requires="a14">
          <p:sp>
            <p:nvSpPr>
              <p:cNvPr id="19" name="Text Placeholder 6">
                <a:extLst>
                  <a:ext uri="{FF2B5EF4-FFF2-40B4-BE49-F238E27FC236}">
                    <a16:creationId xmlns:a16="http://schemas.microsoft.com/office/drawing/2014/main" id="{FBFEA4CF-D407-1143-8037-A398DC27C5CD}"/>
                  </a:ext>
                </a:extLst>
              </p:cNvPr>
              <p:cNvSpPr txBox="1">
                <a:spLocks/>
              </p:cNvSpPr>
              <p:nvPr/>
            </p:nvSpPr>
            <p:spPr>
              <a:xfrm>
                <a:off x="5370163" y="6086674"/>
                <a:ext cx="3773837" cy="1166382"/>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800" dirty="0">
                    <a:solidFill>
                      <a:srgbClr val="000066"/>
                    </a:solidFill>
                  </a:rPr>
                  <a:t>The displacement  </a:t>
                </a:r>
                <a14:m>
                  <m:oMath xmlns:m="http://schemas.openxmlformats.org/officeDocument/2006/math">
                    <m:r>
                      <a:rPr lang="en-US" sz="1800" i="1" smtClean="0">
                        <a:solidFill>
                          <a:srgbClr val="000066"/>
                        </a:solidFill>
                        <a:latin typeface="Cambria Math"/>
                        <a:ea typeface="Cambria Math"/>
                      </a:rPr>
                      <m:t>∆</m:t>
                    </m:r>
                    <m:acc>
                      <m:accPr>
                        <m:chr m:val="⃗"/>
                        <m:ctrlPr>
                          <a:rPr lang="en-US" sz="1800" i="1" smtClean="0">
                            <a:solidFill>
                              <a:srgbClr val="000066"/>
                            </a:solidFill>
                            <a:latin typeface="Cambria Math" panose="02040503050406030204" pitchFamily="18" charset="0"/>
                            <a:ea typeface="Cambria Math"/>
                          </a:rPr>
                        </m:ctrlPr>
                      </m:accPr>
                      <m:e>
                        <m:r>
                          <a:rPr lang="en-US" sz="1800" i="1" smtClean="0">
                            <a:solidFill>
                              <a:srgbClr val="000066"/>
                            </a:solidFill>
                            <a:latin typeface="Cambria Math"/>
                            <a:ea typeface="Cambria Math"/>
                          </a:rPr>
                          <m:t>𝑟</m:t>
                        </m:r>
                      </m:e>
                    </m:acc>
                    <m:r>
                      <a:rPr lang="en-US" sz="1800" i="1" smtClean="0">
                        <a:solidFill>
                          <a:srgbClr val="000066"/>
                        </a:solidFill>
                        <a:latin typeface="Cambria Math"/>
                        <a:ea typeface="Cambria Math"/>
                      </a:rPr>
                      <m:t>= </m:t>
                    </m:r>
                    <m:acc>
                      <m:accPr>
                        <m:chr m:val="⃗"/>
                        <m:ctrlPr>
                          <a:rPr lang="en-US" sz="1800" i="1">
                            <a:solidFill>
                              <a:srgbClr val="000066"/>
                            </a:solidFill>
                            <a:latin typeface="Cambria Math" panose="02040503050406030204" pitchFamily="18" charset="0"/>
                            <a:ea typeface="Cambria Math"/>
                          </a:rPr>
                        </m:ctrlPr>
                      </m:accPr>
                      <m:e>
                        <m:r>
                          <a:rPr lang="en-US" sz="1800" i="1">
                            <a:solidFill>
                              <a:srgbClr val="000066"/>
                            </a:solidFill>
                            <a:latin typeface="Cambria Math"/>
                            <a:ea typeface="Cambria Math"/>
                          </a:rPr>
                          <m:t>𝑟</m:t>
                        </m:r>
                      </m:e>
                    </m:acc>
                    <m:r>
                      <a:rPr lang="en-US" sz="1800" i="1" smtClean="0">
                        <a:solidFill>
                          <a:srgbClr val="000066"/>
                        </a:solidFill>
                        <a:latin typeface="Cambria Math"/>
                        <a:ea typeface="Cambria Math"/>
                      </a:rPr>
                      <m:t>(</m:t>
                    </m:r>
                    <m:sSub>
                      <m:sSubPr>
                        <m:ctrlPr>
                          <a:rPr lang="en-US" sz="1800" i="1" smtClean="0">
                            <a:solidFill>
                              <a:srgbClr val="000066"/>
                            </a:solidFill>
                            <a:latin typeface="Cambria Math" panose="02040503050406030204" pitchFamily="18" charset="0"/>
                            <a:ea typeface="Cambria Math"/>
                          </a:rPr>
                        </m:ctrlPr>
                      </m:sSubPr>
                      <m:e>
                        <m:r>
                          <a:rPr lang="en-US" sz="1800" i="1" smtClean="0">
                            <a:solidFill>
                              <a:srgbClr val="000066"/>
                            </a:solidFill>
                            <a:latin typeface="Cambria Math"/>
                            <a:ea typeface="Cambria Math"/>
                          </a:rPr>
                          <m:t>𝑡</m:t>
                        </m:r>
                      </m:e>
                      <m:sub>
                        <m:r>
                          <a:rPr lang="en-US" sz="1800" i="1" smtClean="0">
                            <a:solidFill>
                              <a:srgbClr val="000066"/>
                            </a:solidFill>
                            <a:latin typeface="Cambria Math"/>
                            <a:ea typeface="Cambria Math"/>
                          </a:rPr>
                          <m:t>2</m:t>
                        </m:r>
                      </m:sub>
                    </m:sSub>
                  </m:oMath>
                </a14:m>
                <a:r>
                  <a:rPr lang="en-US" sz="1800" dirty="0">
                    <a:solidFill>
                      <a:srgbClr val="000066"/>
                    </a:solidFill>
                  </a:rPr>
                  <a:t>) </a:t>
                </a:r>
                <a14:m>
                  <m:oMath xmlns:m="http://schemas.openxmlformats.org/officeDocument/2006/math">
                    <m:r>
                      <a:rPr lang="en-US" sz="1800" i="1" smtClean="0">
                        <a:solidFill>
                          <a:srgbClr val="000066"/>
                        </a:solidFill>
                        <a:latin typeface="Cambria Math"/>
                        <a:ea typeface="Cambria Math"/>
                      </a:rPr>
                      <m:t>− </m:t>
                    </m:r>
                    <m:acc>
                      <m:accPr>
                        <m:chr m:val="⃗"/>
                        <m:ctrlPr>
                          <a:rPr lang="en-US" sz="1800" i="1">
                            <a:solidFill>
                              <a:srgbClr val="000066"/>
                            </a:solidFill>
                            <a:latin typeface="Cambria Math" panose="02040503050406030204" pitchFamily="18" charset="0"/>
                            <a:ea typeface="Cambria Math"/>
                          </a:rPr>
                        </m:ctrlPr>
                      </m:accPr>
                      <m:e>
                        <m:r>
                          <a:rPr lang="en-US" sz="1800" i="1">
                            <a:solidFill>
                              <a:srgbClr val="000066"/>
                            </a:solidFill>
                            <a:latin typeface="Cambria Math"/>
                            <a:ea typeface="Cambria Math"/>
                          </a:rPr>
                          <m:t>𝑟</m:t>
                        </m:r>
                      </m:e>
                    </m:acc>
                    <m:r>
                      <a:rPr lang="en-US" sz="1800" i="1">
                        <a:solidFill>
                          <a:srgbClr val="000066"/>
                        </a:solidFill>
                        <a:latin typeface="Cambria Math"/>
                        <a:ea typeface="Cambria Math"/>
                      </a:rPr>
                      <m:t>(</m:t>
                    </m:r>
                    <m:sSub>
                      <m:sSubPr>
                        <m:ctrlPr>
                          <a:rPr lang="en-US" sz="1800" i="1">
                            <a:solidFill>
                              <a:srgbClr val="000066"/>
                            </a:solidFill>
                            <a:latin typeface="Cambria Math" panose="02040503050406030204" pitchFamily="18" charset="0"/>
                            <a:ea typeface="Cambria Math"/>
                          </a:rPr>
                        </m:ctrlPr>
                      </m:sSubPr>
                      <m:e>
                        <m:r>
                          <a:rPr lang="en-US" sz="1800" i="1">
                            <a:solidFill>
                              <a:srgbClr val="000066"/>
                            </a:solidFill>
                            <a:latin typeface="Cambria Math"/>
                            <a:ea typeface="Cambria Math"/>
                          </a:rPr>
                          <m:t>𝑡</m:t>
                        </m:r>
                      </m:e>
                      <m:sub>
                        <m:r>
                          <a:rPr lang="en-US" sz="1800" i="1" smtClean="0">
                            <a:solidFill>
                              <a:srgbClr val="000066"/>
                            </a:solidFill>
                            <a:latin typeface="Cambria Math"/>
                            <a:ea typeface="Cambria Math"/>
                          </a:rPr>
                          <m:t>1</m:t>
                        </m:r>
                      </m:sub>
                    </m:sSub>
                    <m:r>
                      <m:rPr>
                        <m:nor/>
                      </m:rPr>
                      <a:rPr lang="en-US" sz="1800" dirty="0">
                        <a:solidFill>
                          <a:srgbClr val="000066"/>
                        </a:solidFill>
                      </a:rPr>
                      <m:t>)</m:t>
                    </m:r>
                  </m:oMath>
                </a14:m>
                <a:r>
                  <a:rPr lang="en-US" sz="1800" dirty="0">
                    <a:solidFill>
                      <a:srgbClr val="000066"/>
                    </a:solidFill>
                  </a:rPr>
                  <a:t> is the vector from </a:t>
                </a:r>
                <a:r>
                  <a:rPr lang="en-US" sz="1800" i="1" dirty="0">
                    <a:solidFill>
                      <a:srgbClr val="000066"/>
                    </a:solidFill>
                  </a:rPr>
                  <a:t>P</a:t>
                </a:r>
                <a:r>
                  <a:rPr lang="en-US" sz="1800" baseline="-25000" dirty="0">
                    <a:solidFill>
                      <a:srgbClr val="000066"/>
                    </a:solidFill>
                  </a:rPr>
                  <a:t>1</a:t>
                </a:r>
                <a:r>
                  <a:rPr lang="en-US" sz="1800" dirty="0">
                    <a:solidFill>
                      <a:srgbClr val="000066"/>
                    </a:solidFill>
                  </a:rPr>
                  <a:t> to </a:t>
                </a:r>
                <a:r>
                  <a:rPr lang="en-US" sz="1800" i="1" dirty="0">
                    <a:solidFill>
                      <a:srgbClr val="000066"/>
                    </a:solidFill>
                  </a:rPr>
                  <a:t>P</a:t>
                </a:r>
                <a:r>
                  <a:rPr lang="en-US" sz="1800" baseline="-25000" dirty="0">
                    <a:solidFill>
                      <a:srgbClr val="000066"/>
                    </a:solidFill>
                  </a:rPr>
                  <a:t>2</a:t>
                </a:r>
                <a:r>
                  <a:rPr lang="en-US" sz="1800" dirty="0">
                    <a:solidFill>
                      <a:srgbClr val="000066"/>
                    </a:solidFill>
                  </a:rPr>
                  <a:t>.</a:t>
                </a:r>
              </a:p>
            </p:txBody>
          </p:sp>
        </mc:Choice>
        <mc:Fallback xmlns="">
          <p:sp>
            <p:nvSpPr>
              <p:cNvPr id="19" name="Text Placeholder 6">
                <a:extLst>
                  <a:ext uri="{FF2B5EF4-FFF2-40B4-BE49-F238E27FC236}">
                    <a16:creationId xmlns:a16="http://schemas.microsoft.com/office/drawing/2014/main" id="{FBFEA4CF-D407-1143-8037-A398DC27C5CD}"/>
                  </a:ext>
                </a:extLst>
              </p:cNvPr>
              <p:cNvSpPr txBox="1">
                <a:spLocks noRot="1" noChangeAspect="1" noMove="1" noResize="1" noEditPoints="1" noAdjustHandles="1" noChangeArrowheads="1" noChangeShapeType="1" noTextEdit="1"/>
              </p:cNvSpPr>
              <p:nvPr/>
            </p:nvSpPr>
            <p:spPr>
              <a:xfrm>
                <a:off x="5370163" y="6086674"/>
                <a:ext cx="3773837" cy="1166382"/>
              </a:xfrm>
              <a:prstGeom prst="rect">
                <a:avLst/>
              </a:prstGeom>
              <a:blipFill>
                <a:blip r:embed="rId7"/>
                <a:stretch>
                  <a:fillRect l="-1007" t="-6452"/>
                </a:stretch>
              </a:blipFill>
            </p:spPr>
            <p:txBody>
              <a:bodyPr/>
              <a:lstStyle/>
              <a:p>
                <a:r>
                  <a:rPr lang="en-US">
                    <a:noFill/>
                  </a:rPr>
                  <a:t> </a:t>
                </a:r>
              </a:p>
            </p:txBody>
          </p:sp>
        </mc:Fallback>
      </mc:AlternateContent>
      <p:sp>
        <p:nvSpPr>
          <p:cNvPr id="20" name="Rectangle 19">
            <a:extLst>
              <a:ext uri="{FF2B5EF4-FFF2-40B4-BE49-F238E27FC236}">
                <a16:creationId xmlns:a16="http://schemas.microsoft.com/office/drawing/2014/main" id="{2BB70199-CC74-B146-8C0D-6947346EF7B9}"/>
              </a:ext>
            </a:extLst>
          </p:cNvPr>
          <p:cNvSpPr/>
          <p:nvPr/>
        </p:nvSpPr>
        <p:spPr>
          <a:xfrm>
            <a:off x="8516321" y="3568008"/>
            <a:ext cx="2975238" cy="769441"/>
          </a:xfrm>
          <a:prstGeom prst="rect">
            <a:avLst/>
          </a:prstGeom>
        </p:spPr>
        <p:txBody>
          <a:bodyPr wrap="none">
            <a:spAutoFit/>
          </a:bodyPr>
          <a:lstStyle/>
          <a:p>
            <a:r>
              <a:rPr lang="en-US" sz="2200" dirty="0">
                <a:solidFill>
                  <a:srgbClr val="C00000"/>
                </a:solidFill>
                <a:latin typeface="LiberationSerif"/>
              </a:rPr>
              <a:t>For moving particle, the </a:t>
            </a:r>
          </a:p>
          <a:p>
            <a:r>
              <a:rPr lang="en-US" sz="2200" b="1" dirty="0">
                <a:solidFill>
                  <a:srgbClr val="C00000"/>
                </a:solidFill>
                <a:latin typeface="LiberationSerif"/>
              </a:rPr>
              <a:t>displacement vector</a:t>
            </a:r>
            <a:endParaRPr lang="en-US" sz="2200" b="1" dirty="0">
              <a:solidFill>
                <a:srgbClr val="C00000"/>
              </a:solidFill>
            </a:endParaRPr>
          </a:p>
        </p:txBody>
      </p:sp>
      <p:pic>
        <p:nvPicPr>
          <p:cNvPr id="22" name="Picture 21" descr="A picture containing text&#10;&#10;Description automatically generated">
            <a:extLst>
              <a:ext uri="{FF2B5EF4-FFF2-40B4-BE49-F238E27FC236}">
                <a16:creationId xmlns:a16="http://schemas.microsoft.com/office/drawing/2014/main" id="{5D00CD95-A78F-644D-9F94-638270BAE6F3}"/>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8629534" y="4337506"/>
            <a:ext cx="2667000" cy="533400"/>
          </a:xfrm>
          <a:prstGeom prst="rect">
            <a:avLst/>
          </a:prstGeom>
        </p:spPr>
      </p:pic>
      <p:sp>
        <p:nvSpPr>
          <p:cNvPr id="23" name="Rectangle 22">
            <a:extLst>
              <a:ext uri="{FF2B5EF4-FFF2-40B4-BE49-F238E27FC236}">
                <a16:creationId xmlns:a16="http://schemas.microsoft.com/office/drawing/2014/main" id="{9D1E6704-CC0D-8C4A-AE16-A8B9161089C9}"/>
              </a:ext>
            </a:extLst>
          </p:cNvPr>
          <p:cNvSpPr/>
          <p:nvPr/>
        </p:nvSpPr>
        <p:spPr>
          <a:xfrm>
            <a:off x="8363555" y="4977883"/>
            <a:ext cx="3463192" cy="369332"/>
          </a:xfrm>
          <a:prstGeom prst="rect">
            <a:avLst/>
          </a:prstGeom>
        </p:spPr>
        <p:txBody>
          <a:bodyPr wrap="none">
            <a:spAutoFit/>
          </a:bodyPr>
          <a:lstStyle/>
          <a:p>
            <a:r>
              <a:rPr lang="en-US" dirty="0">
                <a:solidFill>
                  <a:srgbClr val="000066"/>
                </a:solidFill>
              </a:rPr>
              <a:t>Follows the rules of vector algebra.</a:t>
            </a:r>
            <a:endParaRPr lang="en-US" dirty="0"/>
          </a:p>
        </p:txBody>
      </p:sp>
    </p:spTree>
    <p:extLst>
      <p:ext uri="{BB962C8B-B14F-4D97-AF65-F5344CB8AC3E}">
        <p14:creationId xmlns:p14="http://schemas.microsoft.com/office/powerpoint/2010/main" val="327452852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2" descr="L:\Clients\Connexions\01_CNX_ Admin\00_OSC_Project_Resources\14_OSC_Production\PowerPoints\OSX-Stacked-TM-CMYK-300dp1-2016.jpg">
            <a:extLst>
              <a:ext uri="{FF2B5EF4-FFF2-40B4-BE49-F238E27FC236}">
                <a16:creationId xmlns:a16="http://schemas.microsoft.com/office/drawing/2014/main" id="{B8FFED19-C635-4D44-83B4-B18507ECDDF8}"/>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11074549" y="89044"/>
            <a:ext cx="1049775" cy="713232"/>
          </a:xfrm>
          <a:prstGeom prst="rect">
            <a:avLst/>
          </a:prstGeom>
          <a:noFill/>
          <a:extLst>
            <a:ext uri="{909E8E84-426E-40dd-AFC4-6F175D3DCCD1}">
              <a14:hiddenFill xmlns:a14="http://schemas.microsoft.com/office/drawing/2010/main" xmlns="">
                <a:solidFill>
                  <a:srgbClr val="FFFFFF"/>
                </a:solidFill>
              </a14:hiddenFill>
            </a:ext>
          </a:extLst>
        </p:spPr>
      </p:pic>
      <p:sp>
        <p:nvSpPr>
          <p:cNvPr id="10" name="Rectangle 9">
            <a:extLst>
              <a:ext uri="{FF2B5EF4-FFF2-40B4-BE49-F238E27FC236}">
                <a16:creationId xmlns:a16="http://schemas.microsoft.com/office/drawing/2014/main" id="{EF14CD54-D60A-1E45-8292-95068A5F3960}"/>
              </a:ext>
            </a:extLst>
          </p:cNvPr>
          <p:cNvSpPr/>
          <p:nvPr/>
        </p:nvSpPr>
        <p:spPr>
          <a:xfrm>
            <a:off x="2486030" y="89044"/>
            <a:ext cx="7858125" cy="523220"/>
          </a:xfrm>
          <a:prstGeom prst="rect">
            <a:avLst/>
          </a:prstGeom>
        </p:spPr>
        <p:txBody>
          <a:bodyPr wrap="square">
            <a:spAutoFit/>
          </a:bodyPr>
          <a:lstStyle/>
          <a:p>
            <a:r>
              <a:rPr lang="en-US" sz="2800" dirty="0">
                <a:solidFill>
                  <a:srgbClr val="C00000"/>
                </a:solidFill>
                <a:latin typeface="NewBaskervilleStd-Roman"/>
              </a:rPr>
              <a:t>Displacement and Velocity Vectors </a:t>
            </a:r>
          </a:p>
        </p:txBody>
      </p:sp>
      <p:sp>
        <p:nvSpPr>
          <p:cNvPr id="14" name="Rectangle 13">
            <a:extLst>
              <a:ext uri="{FF2B5EF4-FFF2-40B4-BE49-F238E27FC236}">
                <a16:creationId xmlns:a16="http://schemas.microsoft.com/office/drawing/2014/main" id="{B62BCFB0-DFDC-CF47-8D84-889B5AA1FA1F}"/>
              </a:ext>
            </a:extLst>
          </p:cNvPr>
          <p:cNvSpPr/>
          <p:nvPr/>
        </p:nvSpPr>
        <p:spPr>
          <a:xfrm>
            <a:off x="684831" y="569805"/>
            <a:ext cx="1152623" cy="430887"/>
          </a:xfrm>
          <a:prstGeom prst="rect">
            <a:avLst/>
          </a:prstGeom>
        </p:spPr>
        <p:txBody>
          <a:bodyPr wrap="none">
            <a:spAutoFit/>
          </a:bodyPr>
          <a:lstStyle/>
          <a:p>
            <a:r>
              <a:rPr lang="en-US" sz="2200" dirty="0">
                <a:solidFill>
                  <a:srgbClr val="008000"/>
                </a:solidFill>
              </a:rPr>
              <a:t>Example</a:t>
            </a:r>
            <a:endParaRPr lang="en-US" sz="2200" dirty="0"/>
          </a:p>
        </p:txBody>
      </p:sp>
      <p:sp>
        <p:nvSpPr>
          <p:cNvPr id="4" name="Rectangle 3">
            <a:extLst>
              <a:ext uri="{FF2B5EF4-FFF2-40B4-BE49-F238E27FC236}">
                <a16:creationId xmlns:a16="http://schemas.microsoft.com/office/drawing/2014/main" id="{708867F7-814B-774D-B3BB-532BB53FA89B}"/>
              </a:ext>
            </a:extLst>
          </p:cNvPr>
          <p:cNvSpPr/>
          <p:nvPr/>
        </p:nvSpPr>
        <p:spPr>
          <a:xfrm>
            <a:off x="666427" y="950242"/>
            <a:ext cx="9430885" cy="1446550"/>
          </a:xfrm>
          <a:prstGeom prst="rect">
            <a:avLst/>
          </a:prstGeom>
        </p:spPr>
        <p:txBody>
          <a:bodyPr wrap="square">
            <a:spAutoFit/>
          </a:bodyPr>
          <a:lstStyle/>
          <a:p>
            <a:r>
              <a:rPr lang="en-US" sz="2200" dirty="0">
                <a:solidFill>
                  <a:srgbClr val="000066"/>
                </a:solidFill>
                <a:latin typeface="LiberationSerif"/>
              </a:rPr>
              <a:t>A satellite is in a circular polar orbit around Earth at an altitude of 400 km, meaning, it passes directly overhead at the North and South Poles. What is the magnitude and direction of the displacement vector from when it is directly over the North Pole to when it is at </a:t>
            </a:r>
            <a:r>
              <a:rPr lang="en-US" sz="2200" dirty="0">
                <a:solidFill>
                  <a:srgbClr val="000066"/>
                </a:solidFill>
                <a:latin typeface="STIXGeneral" pitchFamily="2" charset="2"/>
              </a:rPr>
              <a:t>−45° </a:t>
            </a:r>
            <a:r>
              <a:rPr lang="en-US" sz="2200" dirty="0">
                <a:solidFill>
                  <a:srgbClr val="000066"/>
                </a:solidFill>
                <a:latin typeface="LiberationSerif"/>
              </a:rPr>
              <a:t>latitude? </a:t>
            </a:r>
            <a:endParaRPr lang="en-US" sz="2200" dirty="0">
              <a:solidFill>
                <a:srgbClr val="000066"/>
              </a:solidFill>
            </a:endParaRPr>
          </a:p>
        </p:txBody>
      </p:sp>
      <p:pic>
        <p:nvPicPr>
          <p:cNvPr id="7" name="Picture 6" descr="Chart, radar chart&#10;&#10;Description automatically generated">
            <a:extLst>
              <a:ext uri="{FF2B5EF4-FFF2-40B4-BE49-F238E27FC236}">
                <a16:creationId xmlns:a16="http://schemas.microsoft.com/office/drawing/2014/main" id="{E0A74951-58E5-A141-B530-D5AC7460EBC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756048" y="2044537"/>
            <a:ext cx="5014451" cy="4572000"/>
          </a:xfrm>
          <a:prstGeom prst="rect">
            <a:avLst/>
          </a:prstGeom>
        </p:spPr>
      </p:pic>
      <p:sp>
        <p:nvSpPr>
          <p:cNvPr id="8" name="Rectangle 7">
            <a:extLst>
              <a:ext uri="{FF2B5EF4-FFF2-40B4-BE49-F238E27FC236}">
                <a16:creationId xmlns:a16="http://schemas.microsoft.com/office/drawing/2014/main" id="{88F8E30F-60B8-F145-86CB-5339A79AF8D9}"/>
              </a:ext>
            </a:extLst>
          </p:cNvPr>
          <p:cNvSpPr/>
          <p:nvPr/>
        </p:nvSpPr>
        <p:spPr>
          <a:xfrm>
            <a:off x="666427" y="2510711"/>
            <a:ext cx="6096000" cy="646331"/>
          </a:xfrm>
          <a:prstGeom prst="rect">
            <a:avLst/>
          </a:prstGeom>
        </p:spPr>
        <p:txBody>
          <a:bodyPr>
            <a:spAutoFit/>
          </a:bodyPr>
          <a:lstStyle/>
          <a:p>
            <a:r>
              <a:rPr lang="en-US" dirty="0">
                <a:solidFill>
                  <a:srgbClr val="C00000"/>
                </a:solidFill>
                <a:latin typeface="LiberationSerif"/>
              </a:rPr>
              <a:t>We take the radius of Earth as 6370 km, so the length of each position vector is 6770 km. </a:t>
            </a:r>
            <a:endParaRPr lang="en-US" dirty="0">
              <a:solidFill>
                <a:srgbClr val="C00000"/>
              </a:solidFill>
            </a:endParaRPr>
          </a:p>
        </p:txBody>
      </p:sp>
      <p:sp>
        <p:nvSpPr>
          <p:cNvPr id="9" name="Rectangle 8">
            <a:extLst>
              <a:ext uri="{FF2B5EF4-FFF2-40B4-BE49-F238E27FC236}">
                <a16:creationId xmlns:a16="http://schemas.microsoft.com/office/drawing/2014/main" id="{F9CF7F40-E240-0846-A1E4-85F9EF4589E9}"/>
              </a:ext>
            </a:extLst>
          </p:cNvPr>
          <p:cNvSpPr/>
          <p:nvPr/>
        </p:nvSpPr>
        <p:spPr>
          <a:xfrm>
            <a:off x="666427" y="3118525"/>
            <a:ext cx="4664995" cy="369332"/>
          </a:xfrm>
          <a:prstGeom prst="rect">
            <a:avLst/>
          </a:prstGeom>
        </p:spPr>
        <p:txBody>
          <a:bodyPr wrap="none">
            <a:spAutoFit/>
          </a:bodyPr>
          <a:lstStyle/>
          <a:p>
            <a:r>
              <a:rPr lang="en-US" dirty="0">
                <a:solidFill>
                  <a:srgbClr val="C00000"/>
                </a:solidFill>
                <a:latin typeface="LiberationSerif"/>
              </a:rPr>
              <a:t>In unit vector notation, the position vectors are </a:t>
            </a:r>
            <a:endParaRPr lang="en-US" dirty="0">
              <a:solidFill>
                <a:srgbClr val="C00000"/>
              </a:solidFill>
            </a:endParaRPr>
          </a:p>
        </p:txBody>
      </p:sp>
      <p:pic>
        <p:nvPicPr>
          <p:cNvPr id="20" name="Picture 19" descr="A picture containing diagram&#10;&#10;Description automatically generated">
            <a:extLst>
              <a:ext uri="{FF2B5EF4-FFF2-40B4-BE49-F238E27FC236}">
                <a16:creationId xmlns:a16="http://schemas.microsoft.com/office/drawing/2014/main" id="{F60E2092-E42C-4F4F-B5F4-4B747192E99B}"/>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15963" y="3533815"/>
            <a:ext cx="5410200" cy="965200"/>
          </a:xfrm>
          <a:prstGeom prst="rect">
            <a:avLst/>
          </a:prstGeom>
        </p:spPr>
      </p:pic>
      <p:sp>
        <p:nvSpPr>
          <p:cNvPr id="21" name="Rectangle 20">
            <a:extLst>
              <a:ext uri="{FF2B5EF4-FFF2-40B4-BE49-F238E27FC236}">
                <a16:creationId xmlns:a16="http://schemas.microsoft.com/office/drawing/2014/main" id="{529583A7-167F-1D40-8895-00A3BA5AEE18}"/>
              </a:ext>
            </a:extLst>
          </p:cNvPr>
          <p:cNvSpPr/>
          <p:nvPr/>
        </p:nvSpPr>
        <p:spPr>
          <a:xfrm>
            <a:off x="684831" y="4595342"/>
            <a:ext cx="386644" cy="369332"/>
          </a:xfrm>
          <a:prstGeom prst="rect">
            <a:avLst/>
          </a:prstGeom>
        </p:spPr>
        <p:txBody>
          <a:bodyPr wrap="none">
            <a:spAutoFit/>
          </a:bodyPr>
          <a:lstStyle/>
          <a:p>
            <a:r>
              <a:rPr lang="en-US" dirty="0">
                <a:solidFill>
                  <a:srgbClr val="C00000"/>
                </a:solidFill>
                <a:latin typeface="LiberationSerif"/>
              </a:rPr>
              <a:t>or</a:t>
            </a:r>
            <a:endParaRPr lang="en-US" dirty="0">
              <a:solidFill>
                <a:srgbClr val="C00000"/>
              </a:solidFill>
            </a:endParaRPr>
          </a:p>
        </p:txBody>
      </p:sp>
      <p:pic>
        <p:nvPicPr>
          <p:cNvPr id="23" name="Picture 22" descr="Text&#10;&#10;Description automatically generated with medium confidence">
            <a:extLst>
              <a:ext uri="{FF2B5EF4-FFF2-40B4-BE49-F238E27FC236}">
                <a16:creationId xmlns:a16="http://schemas.microsoft.com/office/drawing/2014/main" id="{5EE62BE7-F339-DD45-90A1-2ABEA0DCCBF8}"/>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092139" y="4506563"/>
            <a:ext cx="2946400" cy="965200"/>
          </a:xfrm>
          <a:prstGeom prst="rect">
            <a:avLst/>
          </a:prstGeom>
        </p:spPr>
      </p:pic>
      <p:pic>
        <p:nvPicPr>
          <p:cNvPr id="25" name="Picture 24">
            <a:extLst>
              <a:ext uri="{FF2B5EF4-FFF2-40B4-BE49-F238E27FC236}">
                <a16:creationId xmlns:a16="http://schemas.microsoft.com/office/drawing/2014/main" id="{E2B419C3-96AE-874C-BF6D-BCF67899B995}"/>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721322" y="5479311"/>
            <a:ext cx="4610100" cy="482600"/>
          </a:xfrm>
          <a:prstGeom prst="rect">
            <a:avLst/>
          </a:prstGeom>
        </p:spPr>
      </p:pic>
      <p:pic>
        <p:nvPicPr>
          <p:cNvPr id="27" name="Picture 26">
            <a:extLst>
              <a:ext uri="{FF2B5EF4-FFF2-40B4-BE49-F238E27FC236}">
                <a16:creationId xmlns:a16="http://schemas.microsoft.com/office/drawing/2014/main" id="{26DDFE17-3ECA-FF47-A1E3-DAF2CDF68D23}"/>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715963" y="6070616"/>
            <a:ext cx="4419600" cy="469900"/>
          </a:xfrm>
          <a:prstGeom prst="rect">
            <a:avLst/>
          </a:prstGeom>
        </p:spPr>
      </p:pic>
      <p:pic>
        <p:nvPicPr>
          <p:cNvPr id="29" name="Picture 28" descr="Text&#10;&#10;Description automatically generated with medium confidence">
            <a:extLst>
              <a:ext uri="{FF2B5EF4-FFF2-40B4-BE49-F238E27FC236}">
                <a16:creationId xmlns:a16="http://schemas.microsoft.com/office/drawing/2014/main" id="{D5632C86-26D2-334C-87CE-A31FBDC7AFA6}"/>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5207520" y="6000766"/>
            <a:ext cx="2997200" cy="609600"/>
          </a:xfrm>
          <a:prstGeom prst="rect">
            <a:avLst/>
          </a:prstGeom>
        </p:spPr>
      </p:pic>
      <p:sp>
        <p:nvSpPr>
          <p:cNvPr id="30" name="Rectangle 29">
            <a:extLst>
              <a:ext uri="{FF2B5EF4-FFF2-40B4-BE49-F238E27FC236}">
                <a16:creationId xmlns:a16="http://schemas.microsoft.com/office/drawing/2014/main" id="{04232706-07C3-064D-8684-AB6BD37B874B}"/>
              </a:ext>
            </a:extLst>
          </p:cNvPr>
          <p:cNvSpPr/>
          <p:nvPr/>
        </p:nvSpPr>
        <p:spPr>
          <a:xfrm>
            <a:off x="3966524" y="6542045"/>
            <a:ext cx="4254883" cy="369332"/>
          </a:xfrm>
          <a:prstGeom prst="rect">
            <a:avLst/>
          </a:prstGeom>
        </p:spPr>
        <p:txBody>
          <a:bodyPr wrap="none">
            <a:spAutoFit/>
          </a:bodyPr>
          <a:lstStyle/>
          <a:p>
            <a:r>
              <a:rPr lang="en-US" dirty="0">
                <a:solidFill>
                  <a:srgbClr val="C00000"/>
                </a:solidFill>
                <a:latin typeface="LiberationSerif"/>
              </a:rPr>
              <a:t>magnitude	   				direction</a:t>
            </a:r>
            <a:endParaRPr lang="en-US" dirty="0">
              <a:solidFill>
                <a:srgbClr val="C00000"/>
              </a:solidFill>
            </a:endParaRPr>
          </a:p>
        </p:txBody>
      </p:sp>
      <p:pic>
        <p:nvPicPr>
          <p:cNvPr id="32" name="Picture 31" descr="Diagram&#10;&#10;Description automatically generated">
            <a:extLst>
              <a:ext uri="{FF2B5EF4-FFF2-40B4-BE49-F238E27FC236}">
                <a16:creationId xmlns:a16="http://schemas.microsoft.com/office/drawing/2014/main" id="{7A6ED823-FA7D-D14F-99CD-2EF697696EB5}"/>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10344155" y="871042"/>
            <a:ext cx="1673187" cy="2286000"/>
          </a:xfrm>
          <a:prstGeom prst="rect">
            <a:avLst/>
          </a:prstGeom>
        </p:spPr>
      </p:pic>
    </p:spTree>
    <p:extLst>
      <p:ext uri="{BB962C8B-B14F-4D97-AF65-F5344CB8AC3E}">
        <p14:creationId xmlns:p14="http://schemas.microsoft.com/office/powerpoint/2010/main" val="3592610668"/>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2" descr="L:\Clients\Connexions\01_CNX_ Admin\00_OSC_Project_Resources\14_OSC_Production\PowerPoints\OSX-Stacked-TM-CMYK-300dp1-2016.jpg">
            <a:extLst>
              <a:ext uri="{FF2B5EF4-FFF2-40B4-BE49-F238E27FC236}">
                <a16:creationId xmlns:a16="http://schemas.microsoft.com/office/drawing/2014/main" id="{B8FFED19-C635-4D44-83B4-B18507ECDDF8}"/>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11074549" y="89044"/>
            <a:ext cx="1049775" cy="713232"/>
          </a:xfrm>
          <a:prstGeom prst="rect">
            <a:avLst/>
          </a:prstGeom>
          <a:noFill/>
          <a:extLst>
            <a:ext uri="{909E8E84-426E-40dd-AFC4-6F175D3DCCD1}">
              <a14:hiddenFill xmlns:a14="http://schemas.microsoft.com/office/drawing/2010/main" xmlns="">
                <a:solidFill>
                  <a:srgbClr val="FFFFFF"/>
                </a:solidFill>
              </a14:hiddenFill>
            </a:ext>
          </a:extLst>
        </p:spPr>
      </p:pic>
      <p:sp>
        <p:nvSpPr>
          <p:cNvPr id="10" name="Rectangle 9">
            <a:extLst>
              <a:ext uri="{FF2B5EF4-FFF2-40B4-BE49-F238E27FC236}">
                <a16:creationId xmlns:a16="http://schemas.microsoft.com/office/drawing/2014/main" id="{EF14CD54-D60A-1E45-8292-95068A5F3960}"/>
              </a:ext>
            </a:extLst>
          </p:cNvPr>
          <p:cNvSpPr/>
          <p:nvPr/>
        </p:nvSpPr>
        <p:spPr>
          <a:xfrm>
            <a:off x="2486030" y="89044"/>
            <a:ext cx="7858125" cy="523220"/>
          </a:xfrm>
          <a:prstGeom prst="rect">
            <a:avLst/>
          </a:prstGeom>
        </p:spPr>
        <p:txBody>
          <a:bodyPr wrap="square">
            <a:spAutoFit/>
          </a:bodyPr>
          <a:lstStyle/>
          <a:p>
            <a:r>
              <a:rPr lang="en-US" sz="2800" dirty="0">
                <a:solidFill>
                  <a:srgbClr val="C00000"/>
                </a:solidFill>
                <a:latin typeface="NewBaskervilleStd-Roman"/>
              </a:rPr>
              <a:t>Displacement and Velocity Vectors </a:t>
            </a:r>
          </a:p>
        </p:txBody>
      </p:sp>
      <p:pic>
        <p:nvPicPr>
          <p:cNvPr id="3" name="Picture 2" descr="Table&#10;&#10;Description automatically generated with low confidence">
            <a:extLst>
              <a:ext uri="{FF2B5EF4-FFF2-40B4-BE49-F238E27FC236}">
                <a16:creationId xmlns:a16="http://schemas.microsoft.com/office/drawing/2014/main" id="{8ECBF617-6C67-6B4B-9022-AD6DE3901E3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445157" y="2314624"/>
            <a:ext cx="6907338" cy="2286000"/>
          </a:xfrm>
          <a:prstGeom prst="rect">
            <a:avLst/>
          </a:prstGeom>
        </p:spPr>
      </p:pic>
      <p:sp>
        <p:nvSpPr>
          <p:cNvPr id="6" name="Rectangle 5">
            <a:extLst>
              <a:ext uri="{FF2B5EF4-FFF2-40B4-BE49-F238E27FC236}">
                <a16:creationId xmlns:a16="http://schemas.microsoft.com/office/drawing/2014/main" id="{B9E2311E-C66F-814C-817F-E7F0C5C84C19}"/>
              </a:ext>
            </a:extLst>
          </p:cNvPr>
          <p:cNvSpPr/>
          <p:nvPr/>
        </p:nvSpPr>
        <p:spPr>
          <a:xfrm>
            <a:off x="3436631" y="2005766"/>
            <a:ext cx="5195886" cy="430887"/>
          </a:xfrm>
          <a:prstGeom prst="rect">
            <a:avLst/>
          </a:prstGeom>
        </p:spPr>
        <p:txBody>
          <a:bodyPr wrap="square">
            <a:spAutoFit/>
          </a:bodyPr>
          <a:lstStyle/>
          <a:p>
            <a:r>
              <a:rPr lang="en-US" sz="2200" dirty="0">
                <a:solidFill>
                  <a:srgbClr val="0000CC"/>
                </a:solidFill>
              </a:rPr>
              <a:t>Assignment 1</a:t>
            </a:r>
          </a:p>
        </p:txBody>
      </p:sp>
      <p:pic>
        <p:nvPicPr>
          <p:cNvPr id="7" name="Picture Placeholder 1" descr="A photograph of a student’s hand, working on a problem with an open textbook, a calculator, and an eraser.">
            <a:extLst>
              <a:ext uri="{FF2B5EF4-FFF2-40B4-BE49-F238E27FC236}">
                <a16:creationId xmlns:a16="http://schemas.microsoft.com/office/drawing/2014/main" id="{1FD1205F-93F6-D840-941C-2EF9555C5592}"/>
              </a:ext>
            </a:extLst>
          </p:cNvPr>
          <p:cNvPicPr>
            <a:picLocks noChangeAspect="1"/>
          </p:cNvPicPr>
          <p:nvPr/>
        </p:nvPicPr>
        <p:blipFill>
          <a:blip r:embed="rId4" cstate="email">
            <a:extLst>
              <a:ext uri="{28A0092B-C50C-407E-A947-70E740481C1C}">
                <a14:useLocalDpi xmlns:a14="http://schemas.microsoft.com/office/drawing/2010/main" val="0"/>
              </a:ext>
            </a:extLst>
          </a:blip>
          <a:srcRect l="-26893" r="-26893"/>
          <a:stretch>
            <a:fillRect/>
          </a:stretch>
        </p:blipFill>
        <p:spPr>
          <a:xfrm>
            <a:off x="-266947" y="861660"/>
            <a:ext cx="4212903" cy="1828800"/>
          </a:xfrm>
          <a:prstGeom prst="rect">
            <a:avLst/>
          </a:prstGeom>
        </p:spPr>
      </p:pic>
      <p:pic>
        <p:nvPicPr>
          <p:cNvPr id="8" name="Picture 7" descr="A picture containing text&#10;&#10;Description automatically generated">
            <a:extLst>
              <a:ext uri="{FF2B5EF4-FFF2-40B4-BE49-F238E27FC236}">
                <a16:creationId xmlns:a16="http://schemas.microsoft.com/office/drawing/2014/main" id="{F50D17A0-6E0F-914E-923C-BA800F4D010C}"/>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3445157" y="4983506"/>
            <a:ext cx="2667000" cy="533400"/>
          </a:xfrm>
          <a:prstGeom prst="rect">
            <a:avLst/>
          </a:prstGeom>
        </p:spPr>
      </p:pic>
      <p:pic>
        <p:nvPicPr>
          <p:cNvPr id="9" name="Picture 8" descr="A picture containing text&#10;&#10;Description automatically generated">
            <a:extLst>
              <a:ext uri="{FF2B5EF4-FFF2-40B4-BE49-F238E27FC236}">
                <a16:creationId xmlns:a16="http://schemas.microsoft.com/office/drawing/2014/main" id="{4F66A7B9-7EDC-994C-A6E2-A0B950ADC2F0}"/>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3445157" y="5908352"/>
            <a:ext cx="3429000" cy="596900"/>
          </a:xfrm>
          <a:prstGeom prst="rect">
            <a:avLst/>
          </a:prstGeom>
        </p:spPr>
      </p:pic>
      <p:pic>
        <p:nvPicPr>
          <p:cNvPr id="11" name="Picture 10" descr="Text&#10;&#10;Description automatically generated">
            <a:extLst>
              <a:ext uri="{FF2B5EF4-FFF2-40B4-BE49-F238E27FC236}">
                <a16:creationId xmlns:a16="http://schemas.microsoft.com/office/drawing/2014/main" id="{90B28897-C346-2140-A0B0-839FA0DB91F7}"/>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7409938" y="5891400"/>
            <a:ext cx="1295400" cy="673100"/>
          </a:xfrm>
          <a:prstGeom prst="rect">
            <a:avLst/>
          </a:prstGeom>
        </p:spPr>
      </p:pic>
      <p:pic>
        <p:nvPicPr>
          <p:cNvPr id="12" name="Picture 11" descr="Text&#10;&#10;Description automatically generated">
            <a:extLst>
              <a:ext uri="{FF2B5EF4-FFF2-40B4-BE49-F238E27FC236}">
                <a16:creationId xmlns:a16="http://schemas.microsoft.com/office/drawing/2014/main" id="{25C244E8-1C8D-B649-B0CC-45144C30BAAF}"/>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9241119" y="5800402"/>
            <a:ext cx="1778000" cy="812800"/>
          </a:xfrm>
          <a:prstGeom prst="rect">
            <a:avLst/>
          </a:prstGeom>
        </p:spPr>
      </p:pic>
    </p:spTree>
    <p:extLst>
      <p:ext uri="{BB962C8B-B14F-4D97-AF65-F5344CB8AC3E}">
        <p14:creationId xmlns:p14="http://schemas.microsoft.com/office/powerpoint/2010/main" val="1160148652"/>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2" descr="L:\Clients\Connexions\01_CNX_ Admin\00_OSC_Project_Resources\14_OSC_Production\PowerPoints\OSX-Stacked-TM-CMYK-300dp1-2016.jpg">
            <a:extLst>
              <a:ext uri="{FF2B5EF4-FFF2-40B4-BE49-F238E27FC236}">
                <a16:creationId xmlns:a16="http://schemas.microsoft.com/office/drawing/2014/main" id="{B8FFED19-C635-4D44-83B4-B18507ECDDF8}"/>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11074549" y="89044"/>
            <a:ext cx="1049775" cy="713232"/>
          </a:xfrm>
          <a:prstGeom prst="rect">
            <a:avLst/>
          </a:prstGeom>
          <a:noFill/>
          <a:extLst>
            <a:ext uri="{909E8E84-426E-40dd-AFC4-6F175D3DCCD1}">
              <a14:hiddenFill xmlns:a14="http://schemas.microsoft.com/office/drawing/2010/main" xmlns="">
                <a:solidFill>
                  <a:srgbClr val="FFFFFF"/>
                </a:solidFill>
              </a14:hiddenFill>
            </a:ext>
          </a:extLst>
        </p:spPr>
      </p:pic>
      <p:sp>
        <p:nvSpPr>
          <p:cNvPr id="10" name="Rectangle 9">
            <a:extLst>
              <a:ext uri="{FF2B5EF4-FFF2-40B4-BE49-F238E27FC236}">
                <a16:creationId xmlns:a16="http://schemas.microsoft.com/office/drawing/2014/main" id="{EF14CD54-D60A-1E45-8292-95068A5F3960}"/>
              </a:ext>
            </a:extLst>
          </p:cNvPr>
          <p:cNvSpPr/>
          <p:nvPr/>
        </p:nvSpPr>
        <p:spPr>
          <a:xfrm>
            <a:off x="2486030" y="89044"/>
            <a:ext cx="7858125" cy="523220"/>
          </a:xfrm>
          <a:prstGeom prst="rect">
            <a:avLst/>
          </a:prstGeom>
        </p:spPr>
        <p:txBody>
          <a:bodyPr wrap="square">
            <a:spAutoFit/>
          </a:bodyPr>
          <a:lstStyle/>
          <a:p>
            <a:r>
              <a:rPr lang="en-US" sz="2800" dirty="0">
                <a:solidFill>
                  <a:srgbClr val="C00000"/>
                </a:solidFill>
                <a:latin typeface="NewBaskervilleStd-Roman"/>
              </a:rPr>
              <a:t>Displacement and Velocity Vectors </a:t>
            </a:r>
          </a:p>
        </p:txBody>
      </p:sp>
      <p:pic>
        <p:nvPicPr>
          <p:cNvPr id="4" name="Picture Placeholder 1" descr="Vectors r of t and r of t plus delta t are shown as red arrows in x y coordinate system. Both vectors start at the origin. Vector delta r points from the head of vector r of t to the head of vector r of t plus delta t.">
            <a:extLst>
              <a:ext uri="{FF2B5EF4-FFF2-40B4-BE49-F238E27FC236}">
                <a16:creationId xmlns:a16="http://schemas.microsoft.com/office/drawing/2014/main" id="{FB6DEDF7-4E55-0D42-85FE-B0C5BB66A2E9}"/>
              </a:ext>
            </a:extLst>
          </p:cNvPr>
          <p:cNvPicPr>
            <a:picLocks noChangeAspect="1"/>
          </p:cNvPicPr>
          <p:nvPr/>
        </p:nvPicPr>
        <p:blipFill>
          <a:blip r:embed="rId3">
            <a:extLst>
              <a:ext uri="{28A0092B-C50C-407E-A947-70E740481C1C}">
                <a14:useLocalDpi xmlns:a14="http://schemas.microsoft.com/office/drawing/2010/main" val="0"/>
              </a:ext>
            </a:extLst>
          </a:blip>
          <a:srcRect l="-28227" r="-28227"/>
          <a:stretch>
            <a:fillRect/>
          </a:stretch>
        </p:blipFill>
        <p:spPr>
          <a:xfrm>
            <a:off x="-673646" y="962589"/>
            <a:ext cx="6319352" cy="2743200"/>
          </a:xfrm>
          <a:prstGeom prst="rect">
            <a:avLst/>
          </a:prstGeom>
        </p:spPr>
      </p:pic>
      <p:sp>
        <p:nvSpPr>
          <p:cNvPr id="6" name="Text Placeholder 6">
            <a:extLst>
              <a:ext uri="{FF2B5EF4-FFF2-40B4-BE49-F238E27FC236}">
                <a16:creationId xmlns:a16="http://schemas.microsoft.com/office/drawing/2014/main" id="{457EC4EE-E2A4-604F-97CA-D3DAF87DBB4F}"/>
              </a:ext>
            </a:extLst>
          </p:cNvPr>
          <p:cNvSpPr txBox="1">
            <a:spLocks/>
          </p:cNvSpPr>
          <p:nvPr/>
        </p:nvSpPr>
        <p:spPr>
          <a:xfrm>
            <a:off x="224725" y="3705789"/>
            <a:ext cx="4982705" cy="1166382"/>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800" dirty="0">
                <a:solidFill>
                  <a:srgbClr val="000066"/>
                </a:solidFill>
              </a:rPr>
              <a:t>A particle moves along a path given by the gray line. In the limit as </a:t>
            </a:r>
            <a:r>
              <a:rPr lang="en-US" sz="1800" dirty="0" err="1">
                <a:solidFill>
                  <a:srgbClr val="000066"/>
                </a:solidFill>
              </a:rPr>
              <a:t>Δ</a:t>
            </a:r>
            <a:r>
              <a:rPr lang="en-US" sz="1800" i="1" dirty="0" err="1">
                <a:solidFill>
                  <a:srgbClr val="000066"/>
                </a:solidFill>
              </a:rPr>
              <a:t>t</a:t>
            </a:r>
            <a:r>
              <a:rPr lang="en-US" sz="1800" dirty="0">
                <a:solidFill>
                  <a:srgbClr val="000066"/>
                </a:solidFill>
              </a:rPr>
              <a:t> approaches zero, the velocity vector becomes tangent to the path of the particle.</a:t>
            </a:r>
          </a:p>
        </p:txBody>
      </p:sp>
      <p:sp>
        <p:nvSpPr>
          <p:cNvPr id="2" name="Rectangle 1">
            <a:extLst>
              <a:ext uri="{FF2B5EF4-FFF2-40B4-BE49-F238E27FC236}">
                <a16:creationId xmlns:a16="http://schemas.microsoft.com/office/drawing/2014/main" id="{BD208085-DD4C-DA40-97FB-88C70AFD615C}"/>
              </a:ext>
            </a:extLst>
          </p:cNvPr>
          <p:cNvSpPr/>
          <p:nvPr/>
        </p:nvSpPr>
        <p:spPr>
          <a:xfrm>
            <a:off x="4010884" y="810734"/>
            <a:ext cx="7588552" cy="769441"/>
          </a:xfrm>
          <a:prstGeom prst="rect">
            <a:avLst/>
          </a:prstGeom>
        </p:spPr>
        <p:txBody>
          <a:bodyPr wrap="none">
            <a:spAutoFit/>
          </a:bodyPr>
          <a:lstStyle/>
          <a:p>
            <a:r>
              <a:rPr lang="en-US" sz="2200" dirty="0">
                <a:solidFill>
                  <a:srgbClr val="000066"/>
                </a:solidFill>
                <a:latin typeface="LiberationSerif"/>
              </a:rPr>
              <a:t>Let’s say particle is moving along the trajectory in the figure. </a:t>
            </a:r>
          </a:p>
          <a:p>
            <a:r>
              <a:rPr lang="en-US" sz="2200" dirty="0">
                <a:solidFill>
                  <a:srgbClr val="000066"/>
                </a:solidFill>
                <a:latin typeface="LiberationSerif"/>
              </a:rPr>
              <a:t>The displacement is shown. The instantaneous </a:t>
            </a:r>
            <a:r>
              <a:rPr lang="en-US" sz="2200" b="1" dirty="0">
                <a:solidFill>
                  <a:srgbClr val="C00000"/>
                </a:solidFill>
                <a:latin typeface="LiberationSerif"/>
              </a:rPr>
              <a:t>velocity vector </a:t>
            </a:r>
            <a:r>
              <a:rPr lang="en-US" sz="2200" dirty="0">
                <a:solidFill>
                  <a:srgbClr val="000066"/>
                </a:solidFill>
                <a:latin typeface="LiberationSerif"/>
              </a:rPr>
              <a:t>is </a:t>
            </a:r>
            <a:endParaRPr lang="en-US" sz="2200" dirty="0">
              <a:solidFill>
                <a:srgbClr val="000066"/>
              </a:solidFill>
            </a:endParaRPr>
          </a:p>
        </p:txBody>
      </p:sp>
      <p:sp>
        <p:nvSpPr>
          <p:cNvPr id="3" name="Rectangle 2">
            <a:extLst>
              <a:ext uri="{FF2B5EF4-FFF2-40B4-BE49-F238E27FC236}">
                <a16:creationId xmlns:a16="http://schemas.microsoft.com/office/drawing/2014/main" id="{4838FB65-6758-5145-BD72-2BFC30BFAAAC}"/>
              </a:ext>
            </a:extLst>
          </p:cNvPr>
          <p:cNvSpPr/>
          <p:nvPr/>
        </p:nvSpPr>
        <p:spPr>
          <a:xfrm>
            <a:off x="4978549" y="2783084"/>
            <a:ext cx="6096000" cy="707886"/>
          </a:xfrm>
          <a:prstGeom prst="rect">
            <a:avLst/>
          </a:prstGeom>
        </p:spPr>
        <p:txBody>
          <a:bodyPr>
            <a:spAutoFit/>
          </a:bodyPr>
          <a:lstStyle/>
          <a:p>
            <a:r>
              <a:rPr lang="en-US" sz="2000" dirty="0">
                <a:latin typeface="LiberationSerif"/>
              </a:rPr>
              <a:t>As </a:t>
            </a:r>
            <a:r>
              <a:rPr lang="el-GR" sz="2000" dirty="0">
                <a:latin typeface="STIXGeneral" pitchFamily="2" charset="2"/>
              </a:rPr>
              <a:t>Δ</a:t>
            </a:r>
            <a:r>
              <a:rPr lang="en-US" sz="2000" i="1" dirty="0">
                <a:latin typeface="STIXGeneral" pitchFamily="2" charset="2"/>
              </a:rPr>
              <a:t>t </a:t>
            </a:r>
            <a:r>
              <a:rPr lang="en-US" sz="2000" dirty="0">
                <a:latin typeface="LiberationSerif"/>
              </a:rPr>
              <a:t>goes to zero, the velocity vector becomes tangent to the path of the particle at time </a:t>
            </a:r>
            <a:r>
              <a:rPr lang="en-US" sz="2000" i="1" dirty="0">
                <a:latin typeface="LiberationSerif"/>
              </a:rPr>
              <a:t>t</a:t>
            </a:r>
            <a:r>
              <a:rPr lang="en-US" sz="2000" dirty="0">
                <a:latin typeface="LiberationSerif"/>
              </a:rPr>
              <a:t>. </a:t>
            </a:r>
            <a:endParaRPr lang="en-US" sz="2000" dirty="0"/>
          </a:p>
        </p:txBody>
      </p:sp>
      <p:pic>
        <p:nvPicPr>
          <p:cNvPr id="8" name="Picture 7" descr="A picture containing text, clock&#10;&#10;Description automatically generated">
            <a:extLst>
              <a:ext uri="{FF2B5EF4-FFF2-40B4-BE49-F238E27FC236}">
                <a16:creationId xmlns:a16="http://schemas.microsoft.com/office/drawing/2014/main" id="{3F953AF1-3063-C042-8115-692EE2EE04B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393707" y="1732030"/>
            <a:ext cx="5265683" cy="914400"/>
          </a:xfrm>
          <a:prstGeom prst="rect">
            <a:avLst/>
          </a:prstGeom>
        </p:spPr>
      </p:pic>
      <p:sp>
        <p:nvSpPr>
          <p:cNvPr id="9" name="Rectangle 8">
            <a:extLst>
              <a:ext uri="{FF2B5EF4-FFF2-40B4-BE49-F238E27FC236}">
                <a16:creationId xmlns:a16="http://schemas.microsoft.com/office/drawing/2014/main" id="{DEE9899E-E649-C046-8435-6E8726B58DE2}"/>
              </a:ext>
            </a:extLst>
          </p:cNvPr>
          <p:cNvSpPr/>
          <p:nvPr/>
        </p:nvSpPr>
        <p:spPr>
          <a:xfrm>
            <a:off x="5683802" y="3662469"/>
            <a:ext cx="731290" cy="369332"/>
          </a:xfrm>
          <a:prstGeom prst="rect">
            <a:avLst/>
          </a:prstGeom>
        </p:spPr>
        <p:txBody>
          <a:bodyPr wrap="none">
            <a:spAutoFit/>
          </a:bodyPr>
          <a:lstStyle/>
          <a:p>
            <a:r>
              <a:rPr lang="en-US" dirty="0">
                <a:solidFill>
                  <a:srgbClr val="C00000"/>
                </a:solidFill>
                <a:latin typeface="LiberationSerif"/>
              </a:rPr>
              <a:t>Since </a:t>
            </a:r>
            <a:endParaRPr lang="en-US" dirty="0">
              <a:solidFill>
                <a:srgbClr val="C00000"/>
              </a:solidFill>
            </a:endParaRPr>
          </a:p>
        </p:txBody>
      </p:sp>
      <p:pic>
        <p:nvPicPr>
          <p:cNvPr id="12" name="Picture 11" descr="Diagram, schematic&#10;&#10;Description automatically generated">
            <a:extLst>
              <a:ext uri="{FF2B5EF4-FFF2-40B4-BE49-F238E27FC236}">
                <a16:creationId xmlns:a16="http://schemas.microsoft.com/office/drawing/2014/main" id="{9E791529-C967-8F41-A4E1-ECD6FBD4037B}"/>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275610" y="3459971"/>
            <a:ext cx="3035300" cy="609600"/>
          </a:xfrm>
          <a:prstGeom prst="rect">
            <a:avLst/>
          </a:prstGeom>
        </p:spPr>
      </p:pic>
      <p:sp>
        <p:nvSpPr>
          <p:cNvPr id="13" name="Rectangle 12">
            <a:extLst>
              <a:ext uri="{FF2B5EF4-FFF2-40B4-BE49-F238E27FC236}">
                <a16:creationId xmlns:a16="http://schemas.microsoft.com/office/drawing/2014/main" id="{B672CB54-DF85-8C4B-9ADF-6BCB87402270}"/>
              </a:ext>
            </a:extLst>
          </p:cNvPr>
          <p:cNvSpPr/>
          <p:nvPr/>
        </p:nvSpPr>
        <p:spPr>
          <a:xfrm>
            <a:off x="5645706" y="4318390"/>
            <a:ext cx="1438151" cy="369332"/>
          </a:xfrm>
          <a:prstGeom prst="rect">
            <a:avLst/>
          </a:prstGeom>
        </p:spPr>
        <p:txBody>
          <a:bodyPr wrap="none">
            <a:spAutoFit/>
          </a:bodyPr>
          <a:lstStyle/>
          <a:p>
            <a:r>
              <a:rPr lang="en-US" dirty="0">
                <a:solidFill>
                  <a:srgbClr val="C00000"/>
                </a:solidFill>
                <a:latin typeface="LiberationSerif"/>
              </a:rPr>
              <a:t>we can write </a:t>
            </a:r>
            <a:endParaRPr lang="en-US" dirty="0">
              <a:solidFill>
                <a:srgbClr val="C00000"/>
              </a:solidFill>
            </a:endParaRPr>
          </a:p>
        </p:txBody>
      </p:sp>
      <p:sp>
        <p:nvSpPr>
          <p:cNvPr id="14" name="Rectangle 13">
            <a:extLst>
              <a:ext uri="{FF2B5EF4-FFF2-40B4-BE49-F238E27FC236}">
                <a16:creationId xmlns:a16="http://schemas.microsoft.com/office/drawing/2014/main" id="{4CF27EFD-C587-324F-A333-447B1DB15A1E}"/>
              </a:ext>
            </a:extLst>
          </p:cNvPr>
          <p:cNvSpPr/>
          <p:nvPr/>
        </p:nvSpPr>
        <p:spPr>
          <a:xfrm>
            <a:off x="5679764" y="4930991"/>
            <a:ext cx="832472" cy="369332"/>
          </a:xfrm>
          <a:prstGeom prst="rect">
            <a:avLst/>
          </a:prstGeom>
        </p:spPr>
        <p:txBody>
          <a:bodyPr wrap="none">
            <a:spAutoFit/>
          </a:bodyPr>
          <a:lstStyle/>
          <a:p>
            <a:r>
              <a:rPr lang="en-US" dirty="0">
                <a:solidFill>
                  <a:srgbClr val="C00000"/>
                </a:solidFill>
                <a:latin typeface="LiberationSerif"/>
              </a:rPr>
              <a:t>where </a:t>
            </a:r>
            <a:endParaRPr lang="en-US" dirty="0">
              <a:solidFill>
                <a:srgbClr val="C00000"/>
              </a:solidFill>
            </a:endParaRPr>
          </a:p>
        </p:txBody>
      </p:sp>
      <p:sp>
        <p:nvSpPr>
          <p:cNvPr id="15" name="Rectangle 14">
            <a:extLst>
              <a:ext uri="{FF2B5EF4-FFF2-40B4-BE49-F238E27FC236}">
                <a16:creationId xmlns:a16="http://schemas.microsoft.com/office/drawing/2014/main" id="{84B905A8-6923-EF47-96C2-82F93CE59321}"/>
              </a:ext>
            </a:extLst>
          </p:cNvPr>
          <p:cNvSpPr/>
          <p:nvPr/>
        </p:nvSpPr>
        <p:spPr>
          <a:xfrm>
            <a:off x="1285922" y="5831403"/>
            <a:ext cx="2149371" cy="369332"/>
          </a:xfrm>
          <a:prstGeom prst="rect">
            <a:avLst/>
          </a:prstGeom>
        </p:spPr>
        <p:txBody>
          <a:bodyPr wrap="none">
            <a:spAutoFit/>
          </a:bodyPr>
          <a:lstStyle/>
          <a:p>
            <a:r>
              <a:rPr lang="en-US" dirty="0">
                <a:solidFill>
                  <a:srgbClr val="C00000"/>
                </a:solidFill>
                <a:latin typeface="LiberationSerif"/>
              </a:rPr>
              <a:t>The average velocity </a:t>
            </a:r>
            <a:endParaRPr lang="en-US" dirty="0">
              <a:solidFill>
                <a:srgbClr val="C00000"/>
              </a:solidFill>
            </a:endParaRPr>
          </a:p>
        </p:txBody>
      </p:sp>
      <p:pic>
        <p:nvPicPr>
          <p:cNvPr id="17" name="Picture 16" descr="A picture containing text, clock&#10;&#10;Description automatically generated">
            <a:extLst>
              <a:ext uri="{FF2B5EF4-FFF2-40B4-BE49-F238E27FC236}">
                <a16:creationId xmlns:a16="http://schemas.microsoft.com/office/drawing/2014/main" id="{7D804D82-5AF2-EA43-A87C-7177FCFF5275}"/>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6956448" y="4098164"/>
            <a:ext cx="3327400" cy="685800"/>
          </a:xfrm>
          <a:prstGeom prst="rect">
            <a:avLst/>
          </a:prstGeom>
        </p:spPr>
      </p:pic>
      <p:pic>
        <p:nvPicPr>
          <p:cNvPr id="19" name="Picture 18" descr="Text&#10;&#10;Description automatically generated">
            <a:extLst>
              <a:ext uri="{FF2B5EF4-FFF2-40B4-BE49-F238E27FC236}">
                <a16:creationId xmlns:a16="http://schemas.microsoft.com/office/drawing/2014/main" id="{1807BA33-3D6B-7749-AE14-14DE7862C93B}"/>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6415092" y="4785584"/>
            <a:ext cx="4419600" cy="647700"/>
          </a:xfrm>
          <a:prstGeom prst="rect">
            <a:avLst/>
          </a:prstGeom>
        </p:spPr>
      </p:pic>
      <p:pic>
        <p:nvPicPr>
          <p:cNvPr id="21" name="Picture 20" descr="A picture containing text, clock&#10;&#10;Description automatically generated">
            <a:extLst>
              <a:ext uri="{FF2B5EF4-FFF2-40B4-BE49-F238E27FC236}">
                <a16:creationId xmlns:a16="http://schemas.microsoft.com/office/drawing/2014/main" id="{BA745BEB-003A-0943-A3BD-402DAE5DB2C5}"/>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3344347" y="5516128"/>
            <a:ext cx="2705100" cy="876300"/>
          </a:xfrm>
          <a:prstGeom prst="rect">
            <a:avLst/>
          </a:prstGeom>
        </p:spPr>
      </p:pic>
    </p:spTree>
    <p:extLst>
      <p:ext uri="{BB962C8B-B14F-4D97-AF65-F5344CB8AC3E}">
        <p14:creationId xmlns:p14="http://schemas.microsoft.com/office/powerpoint/2010/main" val="320689795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2" descr="L:\Clients\Connexions\01_CNX_ Admin\00_OSC_Project_Resources\14_OSC_Production\PowerPoints\OSX-Stacked-TM-CMYK-300dp1-2016.jpg">
            <a:extLst>
              <a:ext uri="{FF2B5EF4-FFF2-40B4-BE49-F238E27FC236}">
                <a16:creationId xmlns:a16="http://schemas.microsoft.com/office/drawing/2014/main" id="{B8FFED19-C635-4D44-83B4-B18507ECDDF8}"/>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11074549" y="89044"/>
            <a:ext cx="1049775" cy="713232"/>
          </a:xfrm>
          <a:prstGeom prst="rect">
            <a:avLst/>
          </a:prstGeom>
          <a:noFill/>
          <a:extLst>
            <a:ext uri="{909E8E84-426E-40dd-AFC4-6F175D3DCCD1}">
              <a14:hiddenFill xmlns:a14="http://schemas.microsoft.com/office/drawing/2010/main" xmlns="">
                <a:solidFill>
                  <a:srgbClr val="FFFFFF"/>
                </a:solidFill>
              </a14:hiddenFill>
            </a:ext>
          </a:extLst>
        </p:spPr>
      </p:pic>
      <p:sp>
        <p:nvSpPr>
          <p:cNvPr id="10" name="Rectangle 9">
            <a:extLst>
              <a:ext uri="{FF2B5EF4-FFF2-40B4-BE49-F238E27FC236}">
                <a16:creationId xmlns:a16="http://schemas.microsoft.com/office/drawing/2014/main" id="{EF14CD54-D60A-1E45-8292-95068A5F3960}"/>
              </a:ext>
            </a:extLst>
          </p:cNvPr>
          <p:cNvSpPr/>
          <p:nvPr/>
        </p:nvSpPr>
        <p:spPr>
          <a:xfrm>
            <a:off x="2486030" y="89044"/>
            <a:ext cx="7858125" cy="523220"/>
          </a:xfrm>
          <a:prstGeom prst="rect">
            <a:avLst/>
          </a:prstGeom>
        </p:spPr>
        <p:txBody>
          <a:bodyPr wrap="square">
            <a:spAutoFit/>
          </a:bodyPr>
          <a:lstStyle/>
          <a:p>
            <a:r>
              <a:rPr lang="en-US" sz="2800" dirty="0">
                <a:solidFill>
                  <a:srgbClr val="C00000"/>
                </a:solidFill>
                <a:latin typeface="NewBaskervilleStd-Roman"/>
              </a:rPr>
              <a:t>Displacement and Velocity Vectors </a:t>
            </a:r>
          </a:p>
        </p:txBody>
      </p:sp>
      <p:pic>
        <p:nvPicPr>
          <p:cNvPr id="12" name="Picture 11" descr="Diagram, schematic&#10;&#10;Description automatically generated">
            <a:extLst>
              <a:ext uri="{FF2B5EF4-FFF2-40B4-BE49-F238E27FC236}">
                <a16:creationId xmlns:a16="http://schemas.microsoft.com/office/drawing/2014/main" id="{9E791529-C967-8F41-A4E1-ECD6FBD4037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956448" y="3465521"/>
            <a:ext cx="3035300" cy="609600"/>
          </a:xfrm>
          <a:prstGeom prst="rect">
            <a:avLst/>
          </a:prstGeom>
        </p:spPr>
      </p:pic>
      <p:sp>
        <p:nvSpPr>
          <p:cNvPr id="13" name="Rectangle 12">
            <a:extLst>
              <a:ext uri="{FF2B5EF4-FFF2-40B4-BE49-F238E27FC236}">
                <a16:creationId xmlns:a16="http://schemas.microsoft.com/office/drawing/2014/main" id="{B672CB54-DF85-8C4B-9ADF-6BCB87402270}"/>
              </a:ext>
            </a:extLst>
          </p:cNvPr>
          <p:cNvSpPr/>
          <p:nvPr/>
        </p:nvSpPr>
        <p:spPr>
          <a:xfrm>
            <a:off x="5645706" y="4318390"/>
            <a:ext cx="1438151" cy="369332"/>
          </a:xfrm>
          <a:prstGeom prst="rect">
            <a:avLst/>
          </a:prstGeom>
        </p:spPr>
        <p:txBody>
          <a:bodyPr wrap="none">
            <a:spAutoFit/>
          </a:bodyPr>
          <a:lstStyle/>
          <a:p>
            <a:r>
              <a:rPr lang="en-US" dirty="0">
                <a:solidFill>
                  <a:srgbClr val="C00000"/>
                </a:solidFill>
                <a:latin typeface="LiberationSerif"/>
              </a:rPr>
              <a:t>we can write </a:t>
            </a:r>
            <a:endParaRPr lang="en-US" dirty="0">
              <a:solidFill>
                <a:srgbClr val="C00000"/>
              </a:solidFill>
            </a:endParaRPr>
          </a:p>
        </p:txBody>
      </p:sp>
      <p:sp>
        <p:nvSpPr>
          <p:cNvPr id="14" name="Rectangle 13">
            <a:extLst>
              <a:ext uri="{FF2B5EF4-FFF2-40B4-BE49-F238E27FC236}">
                <a16:creationId xmlns:a16="http://schemas.microsoft.com/office/drawing/2014/main" id="{4CF27EFD-C587-324F-A333-447B1DB15A1E}"/>
              </a:ext>
            </a:extLst>
          </p:cNvPr>
          <p:cNvSpPr/>
          <p:nvPr/>
        </p:nvSpPr>
        <p:spPr>
          <a:xfrm>
            <a:off x="5679764" y="4930991"/>
            <a:ext cx="832472" cy="369332"/>
          </a:xfrm>
          <a:prstGeom prst="rect">
            <a:avLst/>
          </a:prstGeom>
        </p:spPr>
        <p:txBody>
          <a:bodyPr wrap="none">
            <a:spAutoFit/>
          </a:bodyPr>
          <a:lstStyle/>
          <a:p>
            <a:r>
              <a:rPr lang="en-US" dirty="0">
                <a:solidFill>
                  <a:srgbClr val="C00000"/>
                </a:solidFill>
                <a:latin typeface="LiberationSerif"/>
              </a:rPr>
              <a:t>where </a:t>
            </a:r>
            <a:endParaRPr lang="en-US" dirty="0">
              <a:solidFill>
                <a:srgbClr val="C00000"/>
              </a:solidFill>
            </a:endParaRPr>
          </a:p>
        </p:txBody>
      </p:sp>
      <p:sp>
        <p:nvSpPr>
          <p:cNvPr id="15" name="Rectangle 14">
            <a:extLst>
              <a:ext uri="{FF2B5EF4-FFF2-40B4-BE49-F238E27FC236}">
                <a16:creationId xmlns:a16="http://schemas.microsoft.com/office/drawing/2014/main" id="{84B905A8-6923-EF47-96C2-82F93CE59321}"/>
              </a:ext>
            </a:extLst>
          </p:cNvPr>
          <p:cNvSpPr/>
          <p:nvPr/>
        </p:nvSpPr>
        <p:spPr>
          <a:xfrm>
            <a:off x="1285922" y="5831403"/>
            <a:ext cx="2149371" cy="369332"/>
          </a:xfrm>
          <a:prstGeom prst="rect">
            <a:avLst/>
          </a:prstGeom>
        </p:spPr>
        <p:txBody>
          <a:bodyPr wrap="none">
            <a:spAutoFit/>
          </a:bodyPr>
          <a:lstStyle/>
          <a:p>
            <a:r>
              <a:rPr lang="en-US" dirty="0">
                <a:solidFill>
                  <a:srgbClr val="C00000"/>
                </a:solidFill>
                <a:latin typeface="LiberationSerif"/>
              </a:rPr>
              <a:t>The average velocity </a:t>
            </a:r>
            <a:endParaRPr lang="en-US" dirty="0">
              <a:solidFill>
                <a:srgbClr val="C00000"/>
              </a:solidFill>
            </a:endParaRPr>
          </a:p>
        </p:txBody>
      </p:sp>
      <p:pic>
        <p:nvPicPr>
          <p:cNvPr id="17" name="Picture 16" descr="A picture containing text, clock&#10;&#10;Description automatically generated">
            <a:extLst>
              <a:ext uri="{FF2B5EF4-FFF2-40B4-BE49-F238E27FC236}">
                <a16:creationId xmlns:a16="http://schemas.microsoft.com/office/drawing/2014/main" id="{7D804D82-5AF2-EA43-A87C-7177FCFF5275}"/>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956448" y="4098164"/>
            <a:ext cx="3327400" cy="685800"/>
          </a:xfrm>
          <a:prstGeom prst="rect">
            <a:avLst/>
          </a:prstGeom>
        </p:spPr>
      </p:pic>
      <p:pic>
        <p:nvPicPr>
          <p:cNvPr id="19" name="Picture 18" descr="Text&#10;&#10;Description automatically generated">
            <a:extLst>
              <a:ext uri="{FF2B5EF4-FFF2-40B4-BE49-F238E27FC236}">
                <a16:creationId xmlns:a16="http://schemas.microsoft.com/office/drawing/2014/main" id="{1807BA33-3D6B-7749-AE14-14DE7862C93B}"/>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415092" y="4785584"/>
            <a:ext cx="4419600" cy="647700"/>
          </a:xfrm>
          <a:prstGeom prst="rect">
            <a:avLst/>
          </a:prstGeom>
        </p:spPr>
      </p:pic>
      <p:pic>
        <p:nvPicPr>
          <p:cNvPr id="21" name="Picture 20" descr="A picture containing text, clock&#10;&#10;Description automatically generated">
            <a:extLst>
              <a:ext uri="{FF2B5EF4-FFF2-40B4-BE49-F238E27FC236}">
                <a16:creationId xmlns:a16="http://schemas.microsoft.com/office/drawing/2014/main" id="{BA745BEB-003A-0943-A3BD-402DAE5DB2C5}"/>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3344347" y="5516128"/>
            <a:ext cx="2705100" cy="876300"/>
          </a:xfrm>
          <a:prstGeom prst="rect">
            <a:avLst/>
          </a:prstGeom>
        </p:spPr>
      </p:pic>
      <p:sp>
        <p:nvSpPr>
          <p:cNvPr id="18" name="Rectangle 17">
            <a:extLst>
              <a:ext uri="{FF2B5EF4-FFF2-40B4-BE49-F238E27FC236}">
                <a16:creationId xmlns:a16="http://schemas.microsoft.com/office/drawing/2014/main" id="{81B92801-15CA-C04C-AF69-F84C2C1837E0}"/>
              </a:ext>
            </a:extLst>
          </p:cNvPr>
          <p:cNvSpPr/>
          <p:nvPr/>
        </p:nvSpPr>
        <p:spPr>
          <a:xfrm>
            <a:off x="483878" y="758106"/>
            <a:ext cx="5195886" cy="430887"/>
          </a:xfrm>
          <a:prstGeom prst="rect">
            <a:avLst/>
          </a:prstGeom>
        </p:spPr>
        <p:txBody>
          <a:bodyPr wrap="square">
            <a:spAutoFit/>
          </a:bodyPr>
          <a:lstStyle/>
          <a:p>
            <a:r>
              <a:rPr lang="en-US" sz="2200" dirty="0">
                <a:solidFill>
                  <a:srgbClr val="008000"/>
                </a:solidFill>
              </a:rPr>
              <a:t>Example</a:t>
            </a:r>
          </a:p>
        </p:txBody>
      </p:sp>
      <p:pic>
        <p:nvPicPr>
          <p:cNvPr id="6" name="Picture 5">
            <a:extLst>
              <a:ext uri="{FF2B5EF4-FFF2-40B4-BE49-F238E27FC236}">
                <a16:creationId xmlns:a16="http://schemas.microsoft.com/office/drawing/2014/main" id="{86CB0F3A-DB6C-204A-88E4-2D6BD0EF76CA}"/>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483878" y="1188246"/>
            <a:ext cx="10350814" cy="910977"/>
          </a:xfrm>
          <a:prstGeom prst="rect">
            <a:avLst/>
          </a:prstGeom>
        </p:spPr>
      </p:pic>
      <p:pic>
        <p:nvPicPr>
          <p:cNvPr id="23" name="Picture 22" descr="Text&#10;&#10;Description automatically generated">
            <a:extLst>
              <a:ext uri="{FF2B5EF4-FFF2-40B4-BE49-F238E27FC236}">
                <a16:creationId xmlns:a16="http://schemas.microsoft.com/office/drawing/2014/main" id="{F882C421-2747-D945-BD73-41776BC55125}"/>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483878" y="2099223"/>
            <a:ext cx="4918116" cy="2105785"/>
          </a:xfrm>
          <a:prstGeom prst="rect">
            <a:avLst/>
          </a:prstGeom>
        </p:spPr>
      </p:pic>
    </p:spTree>
    <p:extLst>
      <p:ext uri="{BB962C8B-B14F-4D97-AF65-F5344CB8AC3E}">
        <p14:creationId xmlns:p14="http://schemas.microsoft.com/office/powerpoint/2010/main" val="2824396580"/>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2" descr="L:\Clients\Connexions\01_CNX_ Admin\00_OSC_Project_Resources\14_OSC_Production\PowerPoints\OSX-Stacked-TM-CMYK-300dp1-2016.jpg">
            <a:extLst>
              <a:ext uri="{FF2B5EF4-FFF2-40B4-BE49-F238E27FC236}">
                <a16:creationId xmlns:a16="http://schemas.microsoft.com/office/drawing/2014/main" id="{B8FFED19-C635-4D44-83B4-B18507ECDDF8}"/>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11074549" y="89044"/>
            <a:ext cx="1049775" cy="713232"/>
          </a:xfrm>
          <a:prstGeom prst="rect">
            <a:avLst/>
          </a:prstGeom>
          <a:noFill/>
          <a:extLst>
            <a:ext uri="{909E8E84-426E-40dd-AFC4-6F175D3DCCD1}">
              <a14:hiddenFill xmlns:a14="http://schemas.microsoft.com/office/drawing/2010/main" xmlns="">
                <a:solidFill>
                  <a:srgbClr val="FFFFFF"/>
                </a:solidFill>
              </a14:hiddenFill>
            </a:ext>
          </a:extLst>
        </p:spPr>
      </p:pic>
      <p:sp>
        <p:nvSpPr>
          <p:cNvPr id="10" name="Rectangle 9">
            <a:extLst>
              <a:ext uri="{FF2B5EF4-FFF2-40B4-BE49-F238E27FC236}">
                <a16:creationId xmlns:a16="http://schemas.microsoft.com/office/drawing/2014/main" id="{EF14CD54-D60A-1E45-8292-95068A5F3960}"/>
              </a:ext>
            </a:extLst>
          </p:cNvPr>
          <p:cNvSpPr/>
          <p:nvPr/>
        </p:nvSpPr>
        <p:spPr>
          <a:xfrm>
            <a:off x="2486030" y="89044"/>
            <a:ext cx="7858125" cy="523220"/>
          </a:xfrm>
          <a:prstGeom prst="rect">
            <a:avLst/>
          </a:prstGeom>
        </p:spPr>
        <p:txBody>
          <a:bodyPr wrap="square">
            <a:spAutoFit/>
          </a:bodyPr>
          <a:lstStyle/>
          <a:p>
            <a:r>
              <a:rPr lang="en-US" sz="2800" dirty="0">
                <a:solidFill>
                  <a:srgbClr val="C00000"/>
                </a:solidFill>
                <a:latin typeface="NewBaskervilleStd-Roman"/>
              </a:rPr>
              <a:t>Displacement and Velocity Vectors </a:t>
            </a:r>
          </a:p>
        </p:txBody>
      </p:sp>
      <p:sp>
        <p:nvSpPr>
          <p:cNvPr id="2" name="Rectangle 1">
            <a:extLst>
              <a:ext uri="{FF2B5EF4-FFF2-40B4-BE49-F238E27FC236}">
                <a16:creationId xmlns:a16="http://schemas.microsoft.com/office/drawing/2014/main" id="{BD208085-DD4C-DA40-97FB-88C70AFD615C}"/>
              </a:ext>
            </a:extLst>
          </p:cNvPr>
          <p:cNvSpPr/>
          <p:nvPr/>
        </p:nvSpPr>
        <p:spPr>
          <a:xfrm>
            <a:off x="4010884" y="810734"/>
            <a:ext cx="7588552" cy="769441"/>
          </a:xfrm>
          <a:prstGeom prst="rect">
            <a:avLst/>
          </a:prstGeom>
        </p:spPr>
        <p:txBody>
          <a:bodyPr wrap="none">
            <a:spAutoFit/>
          </a:bodyPr>
          <a:lstStyle/>
          <a:p>
            <a:r>
              <a:rPr lang="en-US" sz="2200" dirty="0">
                <a:solidFill>
                  <a:srgbClr val="000066"/>
                </a:solidFill>
                <a:latin typeface="LiberationSerif"/>
              </a:rPr>
              <a:t>Let’s say particle is moving along the trajectory in the figure. </a:t>
            </a:r>
          </a:p>
          <a:p>
            <a:r>
              <a:rPr lang="en-US" sz="2200" dirty="0">
                <a:solidFill>
                  <a:srgbClr val="000066"/>
                </a:solidFill>
                <a:latin typeface="LiberationSerif"/>
              </a:rPr>
              <a:t>The displacement is shown. The instantaneous </a:t>
            </a:r>
            <a:r>
              <a:rPr lang="en-US" sz="2200" b="1" dirty="0">
                <a:solidFill>
                  <a:srgbClr val="C00000"/>
                </a:solidFill>
                <a:latin typeface="LiberationSerif"/>
              </a:rPr>
              <a:t>velocity vector </a:t>
            </a:r>
            <a:r>
              <a:rPr lang="en-US" sz="2200" dirty="0">
                <a:solidFill>
                  <a:srgbClr val="000066"/>
                </a:solidFill>
                <a:latin typeface="LiberationSerif"/>
              </a:rPr>
              <a:t>is </a:t>
            </a:r>
            <a:endParaRPr lang="en-US" sz="2200" dirty="0">
              <a:solidFill>
                <a:srgbClr val="000066"/>
              </a:solidFill>
            </a:endParaRPr>
          </a:p>
        </p:txBody>
      </p:sp>
      <p:sp>
        <p:nvSpPr>
          <p:cNvPr id="3" name="Rectangle 2">
            <a:extLst>
              <a:ext uri="{FF2B5EF4-FFF2-40B4-BE49-F238E27FC236}">
                <a16:creationId xmlns:a16="http://schemas.microsoft.com/office/drawing/2014/main" id="{4838FB65-6758-5145-BD72-2BFC30BFAAAC}"/>
              </a:ext>
            </a:extLst>
          </p:cNvPr>
          <p:cNvSpPr/>
          <p:nvPr/>
        </p:nvSpPr>
        <p:spPr>
          <a:xfrm>
            <a:off x="4978549" y="2783084"/>
            <a:ext cx="6096000" cy="707886"/>
          </a:xfrm>
          <a:prstGeom prst="rect">
            <a:avLst/>
          </a:prstGeom>
        </p:spPr>
        <p:txBody>
          <a:bodyPr>
            <a:spAutoFit/>
          </a:bodyPr>
          <a:lstStyle/>
          <a:p>
            <a:r>
              <a:rPr lang="en-US" sz="2000" dirty="0">
                <a:latin typeface="LiberationSerif"/>
              </a:rPr>
              <a:t>As </a:t>
            </a:r>
            <a:r>
              <a:rPr lang="el-GR" sz="2000" dirty="0">
                <a:latin typeface="STIXGeneral" pitchFamily="2" charset="2"/>
              </a:rPr>
              <a:t>Δ</a:t>
            </a:r>
            <a:r>
              <a:rPr lang="en-US" sz="2000" i="1" dirty="0">
                <a:latin typeface="STIXGeneral" pitchFamily="2" charset="2"/>
              </a:rPr>
              <a:t>t </a:t>
            </a:r>
            <a:r>
              <a:rPr lang="en-US" sz="2000" dirty="0">
                <a:latin typeface="LiberationSerif"/>
              </a:rPr>
              <a:t>goes to zero, the velocity vector becomes tangent to the path of the particle at time </a:t>
            </a:r>
            <a:r>
              <a:rPr lang="en-US" sz="2000" i="1" dirty="0">
                <a:latin typeface="LiberationSerif"/>
              </a:rPr>
              <a:t>t</a:t>
            </a:r>
            <a:r>
              <a:rPr lang="en-US" sz="2000" dirty="0">
                <a:latin typeface="LiberationSerif"/>
              </a:rPr>
              <a:t>. </a:t>
            </a:r>
            <a:endParaRPr lang="en-US" sz="2000" dirty="0"/>
          </a:p>
        </p:txBody>
      </p:sp>
      <p:pic>
        <p:nvPicPr>
          <p:cNvPr id="8" name="Picture 7" descr="A picture containing text, clock&#10;&#10;Description automatically generated">
            <a:extLst>
              <a:ext uri="{FF2B5EF4-FFF2-40B4-BE49-F238E27FC236}">
                <a16:creationId xmlns:a16="http://schemas.microsoft.com/office/drawing/2014/main" id="{3F953AF1-3063-C042-8115-692EE2EE04B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393707" y="1732030"/>
            <a:ext cx="5265683" cy="914400"/>
          </a:xfrm>
          <a:prstGeom prst="rect">
            <a:avLst/>
          </a:prstGeom>
        </p:spPr>
      </p:pic>
      <p:sp>
        <p:nvSpPr>
          <p:cNvPr id="9" name="Rectangle 8">
            <a:extLst>
              <a:ext uri="{FF2B5EF4-FFF2-40B4-BE49-F238E27FC236}">
                <a16:creationId xmlns:a16="http://schemas.microsoft.com/office/drawing/2014/main" id="{DEE9899E-E649-C046-8435-6E8726B58DE2}"/>
              </a:ext>
            </a:extLst>
          </p:cNvPr>
          <p:cNvSpPr/>
          <p:nvPr/>
        </p:nvSpPr>
        <p:spPr>
          <a:xfrm>
            <a:off x="5683802" y="3662469"/>
            <a:ext cx="731290" cy="369332"/>
          </a:xfrm>
          <a:prstGeom prst="rect">
            <a:avLst/>
          </a:prstGeom>
        </p:spPr>
        <p:txBody>
          <a:bodyPr wrap="none">
            <a:spAutoFit/>
          </a:bodyPr>
          <a:lstStyle/>
          <a:p>
            <a:r>
              <a:rPr lang="en-US" dirty="0">
                <a:solidFill>
                  <a:srgbClr val="C00000"/>
                </a:solidFill>
                <a:latin typeface="LiberationSerif"/>
              </a:rPr>
              <a:t>Since </a:t>
            </a:r>
            <a:endParaRPr lang="en-US" dirty="0">
              <a:solidFill>
                <a:srgbClr val="C00000"/>
              </a:solidFill>
            </a:endParaRPr>
          </a:p>
        </p:txBody>
      </p:sp>
      <p:pic>
        <p:nvPicPr>
          <p:cNvPr id="12" name="Picture 11" descr="Diagram, schematic&#10;&#10;Description automatically generated">
            <a:extLst>
              <a:ext uri="{FF2B5EF4-FFF2-40B4-BE49-F238E27FC236}">
                <a16:creationId xmlns:a16="http://schemas.microsoft.com/office/drawing/2014/main" id="{9E791529-C967-8F41-A4E1-ECD6FBD4037B}"/>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275610" y="3459971"/>
            <a:ext cx="3035300" cy="609600"/>
          </a:xfrm>
          <a:prstGeom prst="rect">
            <a:avLst/>
          </a:prstGeom>
        </p:spPr>
      </p:pic>
      <p:sp>
        <p:nvSpPr>
          <p:cNvPr id="13" name="Rectangle 12">
            <a:extLst>
              <a:ext uri="{FF2B5EF4-FFF2-40B4-BE49-F238E27FC236}">
                <a16:creationId xmlns:a16="http://schemas.microsoft.com/office/drawing/2014/main" id="{B672CB54-DF85-8C4B-9ADF-6BCB87402270}"/>
              </a:ext>
            </a:extLst>
          </p:cNvPr>
          <p:cNvSpPr/>
          <p:nvPr/>
        </p:nvSpPr>
        <p:spPr>
          <a:xfrm>
            <a:off x="5645706" y="4318390"/>
            <a:ext cx="1438151" cy="369332"/>
          </a:xfrm>
          <a:prstGeom prst="rect">
            <a:avLst/>
          </a:prstGeom>
        </p:spPr>
        <p:txBody>
          <a:bodyPr wrap="none">
            <a:spAutoFit/>
          </a:bodyPr>
          <a:lstStyle/>
          <a:p>
            <a:r>
              <a:rPr lang="en-US" dirty="0">
                <a:solidFill>
                  <a:srgbClr val="C00000"/>
                </a:solidFill>
                <a:latin typeface="LiberationSerif"/>
              </a:rPr>
              <a:t>we can write </a:t>
            </a:r>
            <a:endParaRPr lang="en-US" dirty="0">
              <a:solidFill>
                <a:srgbClr val="C00000"/>
              </a:solidFill>
            </a:endParaRPr>
          </a:p>
        </p:txBody>
      </p:sp>
      <p:sp>
        <p:nvSpPr>
          <p:cNvPr id="14" name="Rectangle 13">
            <a:extLst>
              <a:ext uri="{FF2B5EF4-FFF2-40B4-BE49-F238E27FC236}">
                <a16:creationId xmlns:a16="http://schemas.microsoft.com/office/drawing/2014/main" id="{4CF27EFD-C587-324F-A333-447B1DB15A1E}"/>
              </a:ext>
            </a:extLst>
          </p:cNvPr>
          <p:cNvSpPr/>
          <p:nvPr/>
        </p:nvSpPr>
        <p:spPr>
          <a:xfrm>
            <a:off x="5679764" y="4930991"/>
            <a:ext cx="832472" cy="369332"/>
          </a:xfrm>
          <a:prstGeom prst="rect">
            <a:avLst/>
          </a:prstGeom>
        </p:spPr>
        <p:txBody>
          <a:bodyPr wrap="none">
            <a:spAutoFit/>
          </a:bodyPr>
          <a:lstStyle/>
          <a:p>
            <a:r>
              <a:rPr lang="en-US" dirty="0">
                <a:solidFill>
                  <a:srgbClr val="C00000"/>
                </a:solidFill>
                <a:latin typeface="LiberationSerif"/>
              </a:rPr>
              <a:t>where </a:t>
            </a:r>
            <a:endParaRPr lang="en-US" dirty="0">
              <a:solidFill>
                <a:srgbClr val="C00000"/>
              </a:solidFill>
            </a:endParaRPr>
          </a:p>
        </p:txBody>
      </p:sp>
      <p:sp>
        <p:nvSpPr>
          <p:cNvPr id="15" name="Rectangle 14">
            <a:extLst>
              <a:ext uri="{FF2B5EF4-FFF2-40B4-BE49-F238E27FC236}">
                <a16:creationId xmlns:a16="http://schemas.microsoft.com/office/drawing/2014/main" id="{84B905A8-6923-EF47-96C2-82F93CE59321}"/>
              </a:ext>
            </a:extLst>
          </p:cNvPr>
          <p:cNvSpPr/>
          <p:nvPr/>
        </p:nvSpPr>
        <p:spPr>
          <a:xfrm>
            <a:off x="1285922" y="5831403"/>
            <a:ext cx="2149371" cy="369332"/>
          </a:xfrm>
          <a:prstGeom prst="rect">
            <a:avLst/>
          </a:prstGeom>
        </p:spPr>
        <p:txBody>
          <a:bodyPr wrap="none">
            <a:spAutoFit/>
          </a:bodyPr>
          <a:lstStyle/>
          <a:p>
            <a:r>
              <a:rPr lang="en-US" dirty="0">
                <a:solidFill>
                  <a:srgbClr val="C00000"/>
                </a:solidFill>
                <a:latin typeface="LiberationSerif"/>
              </a:rPr>
              <a:t>The average velocity </a:t>
            </a:r>
            <a:endParaRPr lang="en-US" dirty="0">
              <a:solidFill>
                <a:srgbClr val="C00000"/>
              </a:solidFill>
            </a:endParaRPr>
          </a:p>
        </p:txBody>
      </p:sp>
      <p:pic>
        <p:nvPicPr>
          <p:cNvPr id="17" name="Picture 16" descr="A picture containing text, clock&#10;&#10;Description automatically generated">
            <a:extLst>
              <a:ext uri="{FF2B5EF4-FFF2-40B4-BE49-F238E27FC236}">
                <a16:creationId xmlns:a16="http://schemas.microsoft.com/office/drawing/2014/main" id="{7D804D82-5AF2-EA43-A87C-7177FCFF5275}"/>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956448" y="4098164"/>
            <a:ext cx="3327400" cy="685800"/>
          </a:xfrm>
          <a:prstGeom prst="rect">
            <a:avLst/>
          </a:prstGeom>
        </p:spPr>
      </p:pic>
      <p:pic>
        <p:nvPicPr>
          <p:cNvPr id="19" name="Picture 18" descr="Text&#10;&#10;Description automatically generated">
            <a:extLst>
              <a:ext uri="{FF2B5EF4-FFF2-40B4-BE49-F238E27FC236}">
                <a16:creationId xmlns:a16="http://schemas.microsoft.com/office/drawing/2014/main" id="{1807BA33-3D6B-7749-AE14-14DE7862C93B}"/>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6415092" y="4785584"/>
            <a:ext cx="4419600" cy="647700"/>
          </a:xfrm>
          <a:prstGeom prst="rect">
            <a:avLst/>
          </a:prstGeom>
        </p:spPr>
      </p:pic>
      <p:pic>
        <p:nvPicPr>
          <p:cNvPr id="21" name="Picture 20" descr="A picture containing text, clock&#10;&#10;Description automatically generated">
            <a:extLst>
              <a:ext uri="{FF2B5EF4-FFF2-40B4-BE49-F238E27FC236}">
                <a16:creationId xmlns:a16="http://schemas.microsoft.com/office/drawing/2014/main" id="{BA745BEB-003A-0943-A3BD-402DAE5DB2C5}"/>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3344347" y="5516128"/>
            <a:ext cx="2705100" cy="876300"/>
          </a:xfrm>
          <a:prstGeom prst="rect">
            <a:avLst/>
          </a:prstGeom>
        </p:spPr>
      </p:pic>
      <p:sp>
        <p:nvSpPr>
          <p:cNvPr id="18" name="Rectangle 17">
            <a:extLst>
              <a:ext uri="{FF2B5EF4-FFF2-40B4-BE49-F238E27FC236}">
                <a16:creationId xmlns:a16="http://schemas.microsoft.com/office/drawing/2014/main" id="{81B92801-15CA-C04C-AF69-F84C2C1837E0}"/>
              </a:ext>
            </a:extLst>
          </p:cNvPr>
          <p:cNvSpPr/>
          <p:nvPr/>
        </p:nvSpPr>
        <p:spPr>
          <a:xfrm>
            <a:off x="520450" y="2808753"/>
            <a:ext cx="5195886" cy="430887"/>
          </a:xfrm>
          <a:prstGeom prst="rect">
            <a:avLst/>
          </a:prstGeom>
        </p:spPr>
        <p:txBody>
          <a:bodyPr wrap="square">
            <a:spAutoFit/>
          </a:bodyPr>
          <a:lstStyle/>
          <a:p>
            <a:r>
              <a:rPr lang="en-US" sz="2200" dirty="0">
                <a:solidFill>
                  <a:srgbClr val="0000CC"/>
                </a:solidFill>
              </a:rPr>
              <a:t>Assignment 2</a:t>
            </a:r>
          </a:p>
        </p:txBody>
      </p:sp>
      <p:sp>
        <p:nvSpPr>
          <p:cNvPr id="7" name="Rectangle 6">
            <a:extLst>
              <a:ext uri="{FF2B5EF4-FFF2-40B4-BE49-F238E27FC236}">
                <a16:creationId xmlns:a16="http://schemas.microsoft.com/office/drawing/2014/main" id="{BE1D7675-18AC-3E41-A24A-CDFE9A2378B6}"/>
              </a:ext>
            </a:extLst>
          </p:cNvPr>
          <p:cNvSpPr/>
          <p:nvPr/>
        </p:nvSpPr>
        <p:spPr>
          <a:xfrm>
            <a:off x="520450" y="3167491"/>
            <a:ext cx="3980577" cy="400110"/>
          </a:xfrm>
          <a:prstGeom prst="rect">
            <a:avLst/>
          </a:prstGeom>
        </p:spPr>
        <p:txBody>
          <a:bodyPr wrap="none">
            <a:spAutoFit/>
          </a:bodyPr>
          <a:lstStyle/>
          <a:p>
            <a:r>
              <a:rPr lang="en-US" sz="2000" dirty="0">
                <a:solidFill>
                  <a:srgbClr val="000066"/>
                </a:solidFill>
                <a:latin typeface="LiberationSerif"/>
              </a:rPr>
              <a:t>The position function of a particle is </a:t>
            </a:r>
            <a:endParaRPr lang="en-US" sz="2000" dirty="0">
              <a:solidFill>
                <a:srgbClr val="000066"/>
              </a:solidFill>
            </a:endParaRPr>
          </a:p>
        </p:txBody>
      </p:sp>
      <p:pic>
        <p:nvPicPr>
          <p:cNvPr id="16" name="Picture 15" descr="Text&#10;&#10;Description automatically generated with medium confidence">
            <a:extLst>
              <a:ext uri="{FF2B5EF4-FFF2-40B4-BE49-F238E27FC236}">
                <a16:creationId xmlns:a16="http://schemas.microsoft.com/office/drawing/2014/main" id="{908B5158-D836-1F41-9814-1DC6118D1D6D}"/>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749948" y="3539976"/>
            <a:ext cx="3052689" cy="640080"/>
          </a:xfrm>
          <a:prstGeom prst="rect">
            <a:avLst/>
          </a:prstGeom>
        </p:spPr>
      </p:pic>
      <p:sp>
        <p:nvSpPr>
          <p:cNvPr id="20" name="Rectangle 19">
            <a:extLst>
              <a:ext uri="{FF2B5EF4-FFF2-40B4-BE49-F238E27FC236}">
                <a16:creationId xmlns:a16="http://schemas.microsoft.com/office/drawing/2014/main" id="{ECFAC1C1-D745-C749-85F5-E474966D5E40}"/>
              </a:ext>
            </a:extLst>
          </p:cNvPr>
          <p:cNvSpPr/>
          <p:nvPr/>
        </p:nvSpPr>
        <p:spPr>
          <a:xfrm>
            <a:off x="531394" y="4194274"/>
            <a:ext cx="3980577" cy="707886"/>
          </a:xfrm>
          <a:prstGeom prst="rect">
            <a:avLst/>
          </a:prstGeom>
        </p:spPr>
        <p:txBody>
          <a:bodyPr wrap="square">
            <a:spAutoFit/>
          </a:bodyPr>
          <a:lstStyle/>
          <a:p>
            <a:r>
              <a:rPr lang="en-US" sz="2000" dirty="0">
                <a:solidFill>
                  <a:srgbClr val="000066"/>
                </a:solidFill>
                <a:latin typeface="LiberationSerif"/>
              </a:rPr>
              <a:t>What is the instantaneous velocity at </a:t>
            </a:r>
            <a:r>
              <a:rPr lang="en-US" sz="2000" i="1" dirty="0">
                <a:solidFill>
                  <a:srgbClr val="000066"/>
                </a:solidFill>
                <a:latin typeface="LiberationSerif"/>
              </a:rPr>
              <a:t>t </a:t>
            </a:r>
            <a:r>
              <a:rPr lang="en-US" sz="2000" dirty="0">
                <a:solidFill>
                  <a:srgbClr val="000066"/>
                </a:solidFill>
                <a:latin typeface="LiberationSerif"/>
              </a:rPr>
              <a:t>= 3 s? </a:t>
            </a:r>
            <a:endParaRPr lang="en-US" sz="2000" dirty="0">
              <a:solidFill>
                <a:srgbClr val="000066"/>
              </a:solidFill>
            </a:endParaRPr>
          </a:p>
        </p:txBody>
      </p:sp>
      <p:pic>
        <p:nvPicPr>
          <p:cNvPr id="22" name="Picture Placeholder 1" descr="A photograph of a student’s hand, working on a problem with an open textbook, a calculator, and an eraser.">
            <a:extLst>
              <a:ext uri="{FF2B5EF4-FFF2-40B4-BE49-F238E27FC236}">
                <a16:creationId xmlns:a16="http://schemas.microsoft.com/office/drawing/2014/main" id="{B9F3389E-74C0-614F-A0E4-59A8AC852E13}"/>
              </a:ext>
            </a:extLst>
          </p:cNvPr>
          <p:cNvPicPr>
            <a:picLocks noChangeAspect="1"/>
          </p:cNvPicPr>
          <p:nvPr/>
        </p:nvPicPr>
        <p:blipFill>
          <a:blip r:embed="rId9" cstate="email">
            <a:extLst>
              <a:ext uri="{28A0092B-C50C-407E-A947-70E740481C1C}">
                <a14:useLocalDpi xmlns:a14="http://schemas.microsoft.com/office/drawing/2010/main" val="0"/>
              </a:ext>
            </a:extLst>
          </a:blip>
          <a:srcRect l="-26893" r="-26893"/>
          <a:stretch>
            <a:fillRect/>
          </a:stretch>
        </p:blipFill>
        <p:spPr>
          <a:xfrm>
            <a:off x="0" y="891834"/>
            <a:ext cx="4212903" cy="1828800"/>
          </a:xfrm>
          <a:prstGeom prst="rect">
            <a:avLst/>
          </a:prstGeom>
        </p:spPr>
      </p:pic>
    </p:spTree>
    <p:extLst>
      <p:ext uri="{BB962C8B-B14F-4D97-AF65-F5344CB8AC3E}">
        <p14:creationId xmlns:p14="http://schemas.microsoft.com/office/powerpoint/2010/main" val="258551080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2" descr="L:\Clients\Connexions\01_CNX_ Admin\00_OSC_Project_Resources\14_OSC_Production\PowerPoints\OSX-Stacked-TM-CMYK-300dp1-2016.jpg">
            <a:extLst>
              <a:ext uri="{FF2B5EF4-FFF2-40B4-BE49-F238E27FC236}">
                <a16:creationId xmlns:a16="http://schemas.microsoft.com/office/drawing/2014/main" id="{B8FFED19-C635-4D44-83B4-B18507ECDDF8}"/>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11074549" y="89044"/>
            <a:ext cx="1049775" cy="713232"/>
          </a:xfrm>
          <a:prstGeom prst="rect">
            <a:avLst/>
          </a:prstGeom>
          <a:noFill/>
          <a:extLst>
            <a:ext uri="{909E8E84-426E-40dd-AFC4-6F175D3DCCD1}">
              <a14:hiddenFill xmlns:a14="http://schemas.microsoft.com/office/drawing/2010/main" xmlns="">
                <a:solidFill>
                  <a:srgbClr val="FFFFFF"/>
                </a:solidFill>
              </a14:hiddenFill>
            </a:ext>
          </a:extLst>
        </p:spPr>
      </p:pic>
      <p:sp>
        <p:nvSpPr>
          <p:cNvPr id="10" name="Rectangle 9">
            <a:extLst>
              <a:ext uri="{FF2B5EF4-FFF2-40B4-BE49-F238E27FC236}">
                <a16:creationId xmlns:a16="http://schemas.microsoft.com/office/drawing/2014/main" id="{EF14CD54-D60A-1E45-8292-95068A5F3960}"/>
              </a:ext>
            </a:extLst>
          </p:cNvPr>
          <p:cNvSpPr/>
          <p:nvPr/>
        </p:nvSpPr>
        <p:spPr>
          <a:xfrm>
            <a:off x="3750590" y="89044"/>
            <a:ext cx="6593565" cy="523220"/>
          </a:xfrm>
          <a:prstGeom prst="rect">
            <a:avLst/>
          </a:prstGeom>
        </p:spPr>
        <p:txBody>
          <a:bodyPr wrap="square">
            <a:spAutoFit/>
          </a:bodyPr>
          <a:lstStyle/>
          <a:p>
            <a:r>
              <a:rPr lang="en-US" sz="2800" dirty="0">
                <a:solidFill>
                  <a:srgbClr val="C00000"/>
                </a:solidFill>
                <a:latin typeface="NewBaskervilleStd-Roman"/>
              </a:rPr>
              <a:t>Acceleration Vector </a:t>
            </a:r>
          </a:p>
        </p:txBody>
      </p:sp>
      <p:sp>
        <p:nvSpPr>
          <p:cNvPr id="2" name="Rectangle 1">
            <a:extLst>
              <a:ext uri="{FF2B5EF4-FFF2-40B4-BE49-F238E27FC236}">
                <a16:creationId xmlns:a16="http://schemas.microsoft.com/office/drawing/2014/main" id="{60A082B2-5B29-E942-A946-EFD6D099F178}"/>
              </a:ext>
            </a:extLst>
          </p:cNvPr>
          <p:cNvSpPr/>
          <p:nvPr/>
        </p:nvSpPr>
        <p:spPr>
          <a:xfrm>
            <a:off x="619932" y="612264"/>
            <a:ext cx="10454617" cy="769441"/>
          </a:xfrm>
          <a:prstGeom prst="rect">
            <a:avLst/>
          </a:prstGeom>
        </p:spPr>
        <p:txBody>
          <a:bodyPr wrap="square">
            <a:spAutoFit/>
          </a:bodyPr>
          <a:lstStyle/>
          <a:p>
            <a:r>
              <a:rPr lang="en-US" sz="2200" dirty="0">
                <a:solidFill>
                  <a:srgbClr val="000066"/>
                </a:solidFill>
                <a:latin typeface="LiberationSerif"/>
              </a:rPr>
              <a:t>The</a:t>
            </a:r>
            <a:r>
              <a:rPr lang="en-US" sz="2200" b="1" dirty="0">
                <a:solidFill>
                  <a:srgbClr val="000066"/>
                </a:solidFill>
                <a:latin typeface="LiberationSerif"/>
              </a:rPr>
              <a:t> </a:t>
            </a:r>
            <a:r>
              <a:rPr lang="en-US" sz="2200" b="1" dirty="0">
                <a:solidFill>
                  <a:srgbClr val="C00000"/>
                </a:solidFill>
                <a:latin typeface="LiberationSerif"/>
              </a:rPr>
              <a:t>acceleration vector </a:t>
            </a:r>
            <a:r>
              <a:rPr lang="en-US" sz="2200" dirty="0">
                <a:solidFill>
                  <a:srgbClr val="000066"/>
                </a:solidFill>
                <a:latin typeface="LiberationSerif"/>
              </a:rPr>
              <a:t>at any point in time along its trajectory is the instantaneous acceleration: </a:t>
            </a:r>
            <a:endParaRPr lang="en-US" sz="2200" dirty="0">
              <a:solidFill>
                <a:srgbClr val="000066"/>
              </a:solidFill>
            </a:endParaRPr>
          </a:p>
        </p:txBody>
      </p:sp>
      <p:sp>
        <p:nvSpPr>
          <p:cNvPr id="3" name="Rectangle 2">
            <a:extLst>
              <a:ext uri="{FF2B5EF4-FFF2-40B4-BE49-F238E27FC236}">
                <a16:creationId xmlns:a16="http://schemas.microsoft.com/office/drawing/2014/main" id="{098DC07D-343B-764C-AB7B-C47C0942A43E}"/>
              </a:ext>
            </a:extLst>
          </p:cNvPr>
          <p:cNvSpPr/>
          <p:nvPr/>
        </p:nvSpPr>
        <p:spPr>
          <a:xfrm>
            <a:off x="619932" y="2035468"/>
            <a:ext cx="4728730" cy="400110"/>
          </a:xfrm>
          <a:prstGeom prst="rect">
            <a:avLst/>
          </a:prstGeom>
        </p:spPr>
        <p:txBody>
          <a:bodyPr wrap="none">
            <a:spAutoFit/>
          </a:bodyPr>
          <a:lstStyle/>
          <a:p>
            <a:r>
              <a:rPr lang="en-US" sz="2000" dirty="0">
                <a:solidFill>
                  <a:srgbClr val="000066"/>
                </a:solidFill>
                <a:latin typeface="LiberationSerif"/>
              </a:rPr>
              <a:t>The acceleration in terms of components is </a:t>
            </a:r>
            <a:endParaRPr lang="en-US" sz="2000" dirty="0">
              <a:solidFill>
                <a:srgbClr val="000066"/>
              </a:solidFill>
            </a:endParaRPr>
          </a:p>
        </p:txBody>
      </p:sp>
      <p:pic>
        <p:nvPicPr>
          <p:cNvPr id="6" name="Picture 5" descr="Diagram&#10;&#10;Description automatically generated">
            <a:extLst>
              <a:ext uri="{FF2B5EF4-FFF2-40B4-BE49-F238E27FC236}">
                <a16:creationId xmlns:a16="http://schemas.microsoft.com/office/drawing/2014/main" id="{F75BF7C6-E36F-2941-90FD-576CAC02342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984297" y="1197476"/>
            <a:ext cx="4663440" cy="777240"/>
          </a:xfrm>
          <a:prstGeom prst="rect">
            <a:avLst/>
          </a:prstGeom>
        </p:spPr>
      </p:pic>
      <p:sp>
        <p:nvSpPr>
          <p:cNvPr id="7" name="Rectangle 6">
            <a:extLst>
              <a:ext uri="{FF2B5EF4-FFF2-40B4-BE49-F238E27FC236}">
                <a16:creationId xmlns:a16="http://schemas.microsoft.com/office/drawing/2014/main" id="{93D008D1-EB48-6C49-B55E-AE5E975CE62B}"/>
              </a:ext>
            </a:extLst>
          </p:cNvPr>
          <p:cNvSpPr/>
          <p:nvPr/>
        </p:nvSpPr>
        <p:spPr>
          <a:xfrm>
            <a:off x="619932" y="3230508"/>
            <a:ext cx="10454617" cy="707886"/>
          </a:xfrm>
          <a:prstGeom prst="rect">
            <a:avLst/>
          </a:prstGeom>
        </p:spPr>
        <p:txBody>
          <a:bodyPr wrap="square">
            <a:spAutoFit/>
          </a:bodyPr>
          <a:lstStyle/>
          <a:p>
            <a:r>
              <a:rPr lang="en-US" sz="2000" dirty="0">
                <a:solidFill>
                  <a:srgbClr val="000066"/>
                </a:solidFill>
                <a:latin typeface="LiberationSerif"/>
              </a:rPr>
              <a:t>Since the velocity is the derivative of the position function, we can write the acceleration in terms of the second derivative of the position function: </a:t>
            </a:r>
            <a:endParaRPr lang="en-US" sz="2000" dirty="0">
              <a:solidFill>
                <a:srgbClr val="000066"/>
              </a:solidFill>
            </a:endParaRPr>
          </a:p>
        </p:txBody>
      </p:sp>
      <p:pic>
        <p:nvPicPr>
          <p:cNvPr id="9" name="Picture 8" descr="A picture containing text, clock&#10;&#10;Description automatically generated">
            <a:extLst>
              <a:ext uri="{FF2B5EF4-FFF2-40B4-BE49-F238E27FC236}">
                <a16:creationId xmlns:a16="http://schemas.microsoft.com/office/drawing/2014/main" id="{497BA599-9191-3646-B1B9-38130D2BD42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984297" y="2452172"/>
            <a:ext cx="4080510" cy="777240"/>
          </a:xfrm>
          <a:prstGeom prst="rect">
            <a:avLst/>
          </a:prstGeom>
        </p:spPr>
      </p:pic>
      <p:pic>
        <p:nvPicPr>
          <p:cNvPr id="12" name="Picture 11" descr="Text&#10;&#10;Description automatically generated with medium confidence">
            <a:extLst>
              <a:ext uri="{FF2B5EF4-FFF2-40B4-BE49-F238E27FC236}">
                <a16:creationId xmlns:a16="http://schemas.microsoft.com/office/drawing/2014/main" id="{21F08A5D-8687-D84D-9578-6AC87A692BED}"/>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984297" y="3958650"/>
            <a:ext cx="4142232" cy="960120"/>
          </a:xfrm>
          <a:prstGeom prst="rect">
            <a:avLst/>
          </a:prstGeom>
        </p:spPr>
      </p:pic>
      <p:sp>
        <p:nvSpPr>
          <p:cNvPr id="13" name="Rectangle 12">
            <a:extLst>
              <a:ext uri="{FF2B5EF4-FFF2-40B4-BE49-F238E27FC236}">
                <a16:creationId xmlns:a16="http://schemas.microsoft.com/office/drawing/2014/main" id="{03BF8FE3-1B2B-DF40-B018-364E142347B7}"/>
              </a:ext>
            </a:extLst>
          </p:cNvPr>
          <p:cNvSpPr/>
          <p:nvPr/>
        </p:nvSpPr>
        <p:spPr>
          <a:xfrm>
            <a:off x="619932" y="4978742"/>
            <a:ext cx="1152623" cy="430887"/>
          </a:xfrm>
          <a:prstGeom prst="rect">
            <a:avLst/>
          </a:prstGeom>
        </p:spPr>
        <p:txBody>
          <a:bodyPr wrap="none">
            <a:spAutoFit/>
          </a:bodyPr>
          <a:lstStyle/>
          <a:p>
            <a:r>
              <a:rPr lang="en-US" sz="2200" dirty="0">
                <a:solidFill>
                  <a:srgbClr val="008000"/>
                </a:solidFill>
              </a:rPr>
              <a:t>Example</a:t>
            </a:r>
            <a:endParaRPr lang="en-US" sz="2200" dirty="0"/>
          </a:p>
        </p:txBody>
      </p:sp>
      <p:sp>
        <p:nvSpPr>
          <p:cNvPr id="14" name="Rectangle 13">
            <a:extLst>
              <a:ext uri="{FF2B5EF4-FFF2-40B4-BE49-F238E27FC236}">
                <a16:creationId xmlns:a16="http://schemas.microsoft.com/office/drawing/2014/main" id="{F357867B-587A-F64E-BBDA-1830A23D0D02}"/>
              </a:ext>
            </a:extLst>
          </p:cNvPr>
          <p:cNvSpPr/>
          <p:nvPr/>
        </p:nvSpPr>
        <p:spPr>
          <a:xfrm>
            <a:off x="619932" y="5409629"/>
            <a:ext cx="2971391" cy="400110"/>
          </a:xfrm>
          <a:prstGeom prst="rect">
            <a:avLst/>
          </a:prstGeom>
        </p:spPr>
        <p:txBody>
          <a:bodyPr wrap="none">
            <a:spAutoFit/>
          </a:bodyPr>
          <a:lstStyle/>
          <a:p>
            <a:r>
              <a:rPr lang="en-US" sz="2000" dirty="0">
                <a:solidFill>
                  <a:srgbClr val="000066"/>
                </a:solidFill>
                <a:latin typeface="LiberationSerif"/>
              </a:rPr>
              <a:t>A particle has a velocity of </a:t>
            </a:r>
            <a:endParaRPr lang="en-US" sz="2000" dirty="0">
              <a:solidFill>
                <a:srgbClr val="000066"/>
              </a:solidFill>
            </a:endParaRPr>
          </a:p>
        </p:txBody>
      </p:sp>
      <p:sp>
        <p:nvSpPr>
          <p:cNvPr id="15" name="Rectangle 14">
            <a:extLst>
              <a:ext uri="{FF2B5EF4-FFF2-40B4-BE49-F238E27FC236}">
                <a16:creationId xmlns:a16="http://schemas.microsoft.com/office/drawing/2014/main" id="{CAE47D75-610A-D74A-ACC9-B26059A70FCF}"/>
              </a:ext>
            </a:extLst>
          </p:cNvPr>
          <p:cNvSpPr/>
          <p:nvPr/>
        </p:nvSpPr>
        <p:spPr>
          <a:xfrm>
            <a:off x="619932" y="5873615"/>
            <a:ext cx="3821495" cy="400110"/>
          </a:xfrm>
          <a:prstGeom prst="rect">
            <a:avLst/>
          </a:prstGeom>
        </p:spPr>
        <p:txBody>
          <a:bodyPr wrap="none">
            <a:spAutoFit/>
          </a:bodyPr>
          <a:lstStyle/>
          <a:p>
            <a:r>
              <a:rPr lang="en-US" sz="2000" dirty="0">
                <a:solidFill>
                  <a:srgbClr val="000066"/>
                </a:solidFill>
                <a:latin typeface="LiberationSerif"/>
              </a:rPr>
              <a:t>What is the acceleration function? </a:t>
            </a:r>
            <a:endParaRPr lang="en-US" sz="2000" dirty="0">
              <a:solidFill>
                <a:srgbClr val="000066"/>
              </a:solidFill>
            </a:endParaRPr>
          </a:p>
        </p:txBody>
      </p:sp>
      <p:pic>
        <p:nvPicPr>
          <p:cNvPr id="17" name="Picture 16" descr="A picture containing text, watch, clock, gauge&#10;&#10;Description automatically generated">
            <a:extLst>
              <a:ext uri="{FF2B5EF4-FFF2-40B4-BE49-F238E27FC236}">
                <a16:creationId xmlns:a16="http://schemas.microsoft.com/office/drawing/2014/main" id="{B09CF3E0-6F13-E84E-9D68-70C1E9E159C9}"/>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3484581" y="5318179"/>
            <a:ext cx="3327400" cy="508000"/>
          </a:xfrm>
          <a:prstGeom prst="rect">
            <a:avLst/>
          </a:prstGeom>
        </p:spPr>
      </p:pic>
      <p:sp>
        <p:nvSpPr>
          <p:cNvPr id="18" name="Rectangle 17">
            <a:extLst>
              <a:ext uri="{FF2B5EF4-FFF2-40B4-BE49-F238E27FC236}">
                <a16:creationId xmlns:a16="http://schemas.microsoft.com/office/drawing/2014/main" id="{9954DAD5-2DF4-544E-8F8F-5D80DD6C7480}"/>
              </a:ext>
            </a:extLst>
          </p:cNvPr>
          <p:cNvSpPr/>
          <p:nvPr/>
        </p:nvSpPr>
        <p:spPr>
          <a:xfrm>
            <a:off x="8101985" y="5190929"/>
            <a:ext cx="3327400" cy="646331"/>
          </a:xfrm>
          <a:prstGeom prst="rect">
            <a:avLst/>
          </a:prstGeom>
        </p:spPr>
        <p:txBody>
          <a:bodyPr wrap="square">
            <a:spAutoFit/>
          </a:bodyPr>
          <a:lstStyle/>
          <a:p>
            <a:r>
              <a:rPr lang="en-US" dirty="0">
                <a:solidFill>
                  <a:srgbClr val="C00000"/>
                </a:solidFill>
                <a:latin typeface="LiberationSerif"/>
              </a:rPr>
              <a:t>The derivative is taken component by component: </a:t>
            </a:r>
            <a:endParaRPr lang="en-US" dirty="0">
              <a:solidFill>
                <a:srgbClr val="C00000"/>
              </a:solidFill>
            </a:endParaRPr>
          </a:p>
        </p:txBody>
      </p:sp>
      <p:pic>
        <p:nvPicPr>
          <p:cNvPr id="20" name="Picture 19" descr="A picture containing text, watch&#10;&#10;Description automatically generated">
            <a:extLst>
              <a:ext uri="{FF2B5EF4-FFF2-40B4-BE49-F238E27FC236}">
                <a16:creationId xmlns:a16="http://schemas.microsoft.com/office/drawing/2014/main" id="{DABB3173-2534-8D49-90C7-8C7A18404B51}"/>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7647737" y="5826179"/>
            <a:ext cx="3606800" cy="609600"/>
          </a:xfrm>
          <a:prstGeom prst="rect">
            <a:avLst/>
          </a:prstGeom>
        </p:spPr>
      </p:pic>
    </p:spTree>
    <p:extLst>
      <p:ext uri="{BB962C8B-B14F-4D97-AF65-F5344CB8AC3E}">
        <p14:creationId xmlns:p14="http://schemas.microsoft.com/office/powerpoint/2010/main" val="2336528099"/>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2" descr="L:\Clients\Connexions\01_CNX_ Admin\00_OSC_Project_Resources\14_OSC_Production\PowerPoints\OSX-Stacked-TM-CMYK-300dp1-2016.jpg">
            <a:extLst>
              <a:ext uri="{FF2B5EF4-FFF2-40B4-BE49-F238E27FC236}">
                <a16:creationId xmlns:a16="http://schemas.microsoft.com/office/drawing/2014/main" id="{B8FFED19-C635-4D44-83B4-B18507ECDDF8}"/>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11074549" y="89044"/>
            <a:ext cx="1049775" cy="713232"/>
          </a:xfrm>
          <a:prstGeom prst="rect">
            <a:avLst/>
          </a:prstGeom>
          <a:noFill/>
          <a:extLst>
            <a:ext uri="{909E8E84-426E-40dd-AFC4-6F175D3DCCD1}">
              <a14:hiddenFill xmlns:a14="http://schemas.microsoft.com/office/drawing/2010/main" xmlns="">
                <a:solidFill>
                  <a:srgbClr val="FFFFFF"/>
                </a:solidFill>
              </a14:hiddenFill>
            </a:ext>
          </a:extLst>
        </p:spPr>
      </p:pic>
      <p:sp>
        <p:nvSpPr>
          <p:cNvPr id="10" name="Rectangle 9">
            <a:extLst>
              <a:ext uri="{FF2B5EF4-FFF2-40B4-BE49-F238E27FC236}">
                <a16:creationId xmlns:a16="http://schemas.microsoft.com/office/drawing/2014/main" id="{EF14CD54-D60A-1E45-8292-95068A5F3960}"/>
              </a:ext>
            </a:extLst>
          </p:cNvPr>
          <p:cNvSpPr/>
          <p:nvPr/>
        </p:nvSpPr>
        <p:spPr>
          <a:xfrm>
            <a:off x="3750590" y="89044"/>
            <a:ext cx="6593565" cy="523220"/>
          </a:xfrm>
          <a:prstGeom prst="rect">
            <a:avLst/>
          </a:prstGeom>
        </p:spPr>
        <p:txBody>
          <a:bodyPr wrap="square">
            <a:spAutoFit/>
          </a:bodyPr>
          <a:lstStyle/>
          <a:p>
            <a:r>
              <a:rPr lang="en-US" sz="2800" dirty="0">
                <a:solidFill>
                  <a:srgbClr val="C00000"/>
                </a:solidFill>
                <a:latin typeface="NewBaskervilleStd-Roman"/>
              </a:rPr>
              <a:t>Acceleration Vector </a:t>
            </a:r>
          </a:p>
        </p:txBody>
      </p:sp>
      <p:sp>
        <p:nvSpPr>
          <p:cNvPr id="2" name="Rectangle 1">
            <a:extLst>
              <a:ext uri="{FF2B5EF4-FFF2-40B4-BE49-F238E27FC236}">
                <a16:creationId xmlns:a16="http://schemas.microsoft.com/office/drawing/2014/main" id="{60A082B2-5B29-E942-A946-EFD6D099F178}"/>
              </a:ext>
            </a:extLst>
          </p:cNvPr>
          <p:cNvSpPr/>
          <p:nvPr/>
        </p:nvSpPr>
        <p:spPr>
          <a:xfrm>
            <a:off x="619932" y="612264"/>
            <a:ext cx="10454617" cy="769441"/>
          </a:xfrm>
          <a:prstGeom prst="rect">
            <a:avLst/>
          </a:prstGeom>
        </p:spPr>
        <p:txBody>
          <a:bodyPr wrap="square">
            <a:spAutoFit/>
          </a:bodyPr>
          <a:lstStyle/>
          <a:p>
            <a:r>
              <a:rPr lang="en-US" sz="2200" dirty="0">
                <a:solidFill>
                  <a:srgbClr val="000066"/>
                </a:solidFill>
                <a:latin typeface="LiberationSerif"/>
              </a:rPr>
              <a:t>The</a:t>
            </a:r>
            <a:r>
              <a:rPr lang="en-US" sz="2200" b="1" dirty="0">
                <a:solidFill>
                  <a:srgbClr val="000066"/>
                </a:solidFill>
                <a:latin typeface="LiberationSerif"/>
              </a:rPr>
              <a:t> </a:t>
            </a:r>
            <a:r>
              <a:rPr lang="en-US" sz="2200" b="1" dirty="0">
                <a:solidFill>
                  <a:srgbClr val="C00000"/>
                </a:solidFill>
                <a:latin typeface="LiberationSerif"/>
              </a:rPr>
              <a:t>acceleration vector </a:t>
            </a:r>
            <a:r>
              <a:rPr lang="en-US" sz="2200" dirty="0">
                <a:solidFill>
                  <a:srgbClr val="000066"/>
                </a:solidFill>
                <a:latin typeface="LiberationSerif"/>
              </a:rPr>
              <a:t>at any point in time along its trajectory is the instantaneous acceleration: </a:t>
            </a:r>
            <a:endParaRPr lang="en-US" sz="2200" dirty="0">
              <a:solidFill>
                <a:srgbClr val="000066"/>
              </a:solidFill>
            </a:endParaRPr>
          </a:p>
        </p:txBody>
      </p:sp>
      <p:sp>
        <p:nvSpPr>
          <p:cNvPr id="3" name="Rectangle 2">
            <a:extLst>
              <a:ext uri="{FF2B5EF4-FFF2-40B4-BE49-F238E27FC236}">
                <a16:creationId xmlns:a16="http://schemas.microsoft.com/office/drawing/2014/main" id="{098DC07D-343B-764C-AB7B-C47C0942A43E}"/>
              </a:ext>
            </a:extLst>
          </p:cNvPr>
          <p:cNvSpPr/>
          <p:nvPr/>
        </p:nvSpPr>
        <p:spPr>
          <a:xfrm>
            <a:off x="619932" y="2035468"/>
            <a:ext cx="4728730" cy="400110"/>
          </a:xfrm>
          <a:prstGeom prst="rect">
            <a:avLst/>
          </a:prstGeom>
        </p:spPr>
        <p:txBody>
          <a:bodyPr wrap="none">
            <a:spAutoFit/>
          </a:bodyPr>
          <a:lstStyle/>
          <a:p>
            <a:r>
              <a:rPr lang="en-US" sz="2000" dirty="0">
                <a:solidFill>
                  <a:srgbClr val="000066"/>
                </a:solidFill>
                <a:latin typeface="LiberationSerif"/>
              </a:rPr>
              <a:t>The acceleration in terms of components is </a:t>
            </a:r>
            <a:endParaRPr lang="en-US" sz="2000" dirty="0">
              <a:solidFill>
                <a:srgbClr val="000066"/>
              </a:solidFill>
            </a:endParaRPr>
          </a:p>
        </p:txBody>
      </p:sp>
      <p:pic>
        <p:nvPicPr>
          <p:cNvPr id="6" name="Picture 5" descr="Diagram&#10;&#10;Description automatically generated">
            <a:extLst>
              <a:ext uri="{FF2B5EF4-FFF2-40B4-BE49-F238E27FC236}">
                <a16:creationId xmlns:a16="http://schemas.microsoft.com/office/drawing/2014/main" id="{F75BF7C6-E36F-2941-90FD-576CAC02342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984297" y="1197476"/>
            <a:ext cx="4663440" cy="777240"/>
          </a:xfrm>
          <a:prstGeom prst="rect">
            <a:avLst/>
          </a:prstGeom>
        </p:spPr>
      </p:pic>
      <p:sp>
        <p:nvSpPr>
          <p:cNvPr id="7" name="Rectangle 6">
            <a:extLst>
              <a:ext uri="{FF2B5EF4-FFF2-40B4-BE49-F238E27FC236}">
                <a16:creationId xmlns:a16="http://schemas.microsoft.com/office/drawing/2014/main" id="{93D008D1-EB48-6C49-B55E-AE5E975CE62B}"/>
              </a:ext>
            </a:extLst>
          </p:cNvPr>
          <p:cNvSpPr/>
          <p:nvPr/>
        </p:nvSpPr>
        <p:spPr>
          <a:xfrm>
            <a:off x="619932" y="3230508"/>
            <a:ext cx="10454617" cy="707886"/>
          </a:xfrm>
          <a:prstGeom prst="rect">
            <a:avLst/>
          </a:prstGeom>
        </p:spPr>
        <p:txBody>
          <a:bodyPr wrap="square">
            <a:spAutoFit/>
          </a:bodyPr>
          <a:lstStyle/>
          <a:p>
            <a:r>
              <a:rPr lang="en-US" sz="2000" dirty="0">
                <a:solidFill>
                  <a:srgbClr val="000066"/>
                </a:solidFill>
                <a:latin typeface="LiberationSerif"/>
              </a:rPr>
              <a:t>Since the velocity is the derivative of the position function, we can write the acceleration in terms of the second derivative of the position function: </a:t>
            </a:r>
            <a:endParaRPr lang="en-US" sz="2000" dirty="0">
              <a:solidFill>
                <a:srgbClr val="000066"/>
              </a:solidFill>
            </a:endParaRPr>
          </a:p>
        </p:txBody>
      </p:sp>
      <p:pic>
        <p:nvPicPr>
          <p:cNvPr id="9" name="Picture 8" descr="A picture containing text, clock&#10;&#10;Description automatically generated">
            <a:extLst>
              <a:ext uri="{FF2B5EF4-FFF2-40B4-BE49-F238E27FC236}">
                <a16:creationId xmlns:a16="http://schemas.microsoft.com/office/drawing/2014/main" id="{497BA599-9191-3646-B1B9-38130D2BD42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984297" y="2452172"/>
            <a:ext cx="4080510" cy="777240"/>
          </a:xfrm>
          <a:prstGeom prst="rect">
            <a:avLst/>
          </a:prstGeom>
        </p:spPr>
      </p:pic>
      <p:pic>
        <p:nvPicPr>
          <p:cNvPr id="12" name="Picture 11" descr="Text&#10;&#10;Description automatically generated with medium confidence">
            <a:extLst>
              <a:ext uri="{FF2B5EF4-FFF2-40B4-BE49-F238E27FC236}">
                <a16:creationId xmlns:a16="http://schemas.microsoft.com/office/drawing/2014/main" id="{21F08A5D-8687-D84D-9578-6AC87A692BED}"/>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984297" y="3958650"/>
            <a:ext cx="4142232" cy="960120"/>
          </a:xfrm>
          <a:prstGeom prst="rect">
            <a:avLst/>
          </a:prstGeom>
        </p:spPr>
      </p:pic>
      <p:sp>
        <p:nvSpPr>
          <p:cNvPr id="13" name="Rectangle 12">
            <a:extLst>
              <a:ext uri="{FF2B5EF4-FFF2-40B4-BE49-F238E27FC236}">
                <a16:creationId xmlns:a16="http://schemas.microsoft.com/office/drawing/2014/main" id="{03BF8FE3-1B2B-DF40-B018-364E142347B7}"/>
              </a:ext>
            </a:extLst>
          </p:cNvPr>
          <p:cNvSpPr/>
          <p:nvPr/>
        </p:nvSpPr>
        <p:spPr>
          <a:xfrm>
            <a:off x="619932" y="4978742"/>
            <a:ext cx="1152623" cy="430887"/>
          </a:xfrm>
          <a:prstGeom prst="rect">
            <a:avLst/>
          </a:prstGeom>
        </p:spPr>
        <p:txBody>
          <a:bodyPr wrap="none">
            <a:spAutoFit/>
          </a:bodyPr>
          <a:lstStyle/>
          <a:p>
            <a:r>
              <a:rPr lang="en-US" sz="2200" dirty="0">
                <a:solidFill>
                  <a:srgbClr val="008000"/>
                </a:solidFill>
              </a:rPr>
              <a:t>Example</a:t>
            </a:r>
            <a:endParaRPr lang="en-US" sz="2200" dirty="0"/>
          </a:p>
        </p:txBody>
      </p:sp>
      <p:sp>
        <p:nvSpPr>
          <p:cNvPr id="14" name="Rectangle 13">
            <a:extLst>
              <a:ext uri="{FF2B5EF4-FFF2-40B4-BE49-F238E27FC236}">
                <a16:creationId xmlns:a16="http://schemas.microsoft.com/office/drawing/2014/main" id="{F357867B-587A-F64E-BBDA-1830A23D0D02}"/>
              </a:ext>
            </a:extLst>
          </p:cNvPr>
          <p:cNvSpPr/>
          <p:nvPr/>
        </p:nvSpPr>
        <p:spPr>
          <a:xfrm>
            <a:off x="619932" y="5409629"/>
            <a:ext cx="3669594" cy="400110"/>
          </a:xfrm>
          <a:prstGeom prst="rect">
            <a:avLst/>
          </a:prstGeom>
        </p:spPr>
        <p:txBody>
          <a:bodyPr wrap="none">
            <a:spAutoFit/>
          </a:bodyPr>
          <a:lstStyle/>
          <a:p>
            <a:r>
              <a:rPr lang="en-US" sz="2000" dirty="0">
                <a:solidFill>
                  <a:srgbClr val="000066"/>
                </a:solidFill>
                <a:latin typeface="LiberationSerif"/>
              </a:rPr>
              <a:t>A particle has a position function </a:t>
            </a:r>
          </a:p>
        </p:txBody>
      </p:sp>
      <p:sp>
        <p:nvSpPr>
          <p:cNvPr id="15" name="Rectangle 14">
            <a:extLst>
              <a:ext uri="{FF2B5EF4-FFF2-40B4-BE49-F238E27FC236}">
                <a16:creationId xmlns:a16="http://schemas.microsoft.com/office/drawing/2014/main" id="{CAE47D75-610A-D74A-ACC9-B26059A70FCF}"/>
              </a:ext>
            </a:extLst>
          </p:cNvPr>
          <p:cNvSpPr/>
          <p:nvPr/>
        </p:nvSpPr>
        <p:spPr>
          <a:xfrm>
            <a:off x="619932" y="5735101"/>
            <a:ext cx="3295710" cy="1015663"/>
          </a:xfrm>
          <a:prstGeom prst="rect">
            <a:avLst/>
          </a:prstGeom>
        </p:spPr>
        <p:txBody>
          <a:bodyPr wrap="none">
            <a:spAutoFit/>
          </a:bodyPr>
          <a:lstStyle/>
          <a:p>
            <a:pPr marL="457200" indent="-457200">
              <a:buAutoNum type="alphaLcParenBoth"/>
            </a:pPr>
            <a:r>
              <a:rPr lang="en-US" sz="2000" dirty="0">
                <a:solidFill>
                  <a:srgbClr val="000066"/>
                </a:solidFill>
                <a:latin typeface="LiberationSerif"/>
              </a:rPr>
              <a:t>What is the velocity? </a:t>
            </a:r>
          </a:p>
          <a:p>
            <a:pPr marL="457200" indent="-457200">
              <a:buAutoNum type="alphaLcParenBoth"/>
            </a:pPr>
            <a:r>
              <a:rPr lang="en-US" sz="2000" dirty="0">
                <a:solidFill>
                  <a:srgbClr val="000066"/>
                </a:solidFill>
                <a:latin typeface="LiberationSerif"/>
              </a:rPr>
              <a:t>What is the acceleration?</a:t>
            </a:r>
            <a:br>
              <a:rPr lang="en-US" sz="2000" dirty="0">
                <a:solidFill>
                  <a:srgbClr val="000066"/>
                </a:solidFill>
                <a:latin typeface="LiberationSerif"/>
              </a:rPr>
            </a:br>
            <a:endParaRPr lang="en-US" sz="2000" dirty="0">
              <a:solidFill>
                <a:srgbClr val="000066"/>
              </a:solidFill>
              <a:latin typeface="LiberationSerif"/>
            </a:endParaRPr>
          </a:p>
        </p:txBody>
      </p:sp>
      <p:sp>
        <p:nvSpPr>
          <p:cNvPr id="18" name="Rectangle 17">
            <a:extLst>
              <a:ext uri="{FF2B5EF4-FFF2-40B4-BE49-F238E27FC236}">
                <a16:creationId xmlns:a16="http://schemas.microsoft.com/office/drawing/2014/main" id="{9954DAD5-2DF4-544E-8F8F-5D80DD6C7480}"/>
              </a:ext>
            </a:extLst>
          </p:cNvPr>
          <p:cNvSpPr/>
          <p:nvPr/>
        </p:nvSpPr>
        <p:spPr>
          <a:xfrm>
            <a:off x="8411951" y="4562843"/>
            <a:ext cx="3327400" cy="369332"/>
          </a:xfrm>
          <a:prstGeom prst="rect">
            <a:avLst/>
          </a:prstGeom>
        </p:spPr>
        <p:txBody>
          <a:bodyPr wrap="square">
            <a:spAutoFit/>
          </a:bodyPr>
          <a:lstStyle/>
          <a:p>
            <a:r>
              <a:rPr lang="en-US" dirty="0">
                <a:solidFill>
                  <a:srgbClr val="C00000"/>
                </a:solidFill>
                <a:latin typeface="LiberationSerif"/>
              </a:rPr>
              <a:t>The velocity function </a:t>
            </a:r>
          </a:p>
        </p:txBody>
      </p:sp>
      <p:pic>
        <p:nvPicPr>
          <p:cNvPr id="8" name="Picture 7" descr="A picture containing text, clock, watch&#10;&#10;Description automatically generated">
            <a:extLst>
              <a:ext uri="{FF2B5EF4-FFF2-40B4-BE49-F238E27FC236}">
                <a16:creationId xmlns:a16="http://schemas.microsoft.com/office/drawing/2014/main" id="{98A17068-0EF8-A444-92BD-844199325B45}"/>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4158140" y="5260094"/>
            <a:ext cx="3648456" cy="548640"/>
          </a:xfrm>
          <a:prstGeom prst="rect">
            <a:avLst/>
          </a:prstGeom>
        </p:spPr>
      </p:pic>
      <p:sp>
        <p:nvSpPr>
          <p:cNvPr id="19" name="Rectangle 18">
            <a:extLst>
              <a:ext uri="{FF2B5EF4-FFF2-40B4-BE49-F238E27FC236}">
                <a16:creationId xmlns:a16="http://schemas.microsoft.com/office/drawing/2014/main" id="{82D9CF30-AB17-7D41-B86C-6FE12D4FE485}"/>
              </a:ext>
            </a:extLst>
          </p:cNvPr>
          <p:cNvSpPr/>
          <p:nvPr/>
        </p:nvSpPr>
        <p:spPr>
          <a:xfrm>
            <a:off x="8411950" y="5593072"/>
            <a:ext cx="3712373" cy="1200329"/>
          </a:xfrm>
          <a:prstGeom prst="rect">
            <a:avLst/>
          </a:prstGeom>
        </p:spPr>
        <p:txBody>
          <a:bodyPr wrap="square">
            <a:spAutoFit/>
          </a:bodyPr>
          <a:lstStyle/>
          <a:p>
            <a:r>
              <a:rPr lang="en-US" dirty="0">
                <a:solidFill>
                  <a:srgbClr val="C00000"/>
                </a:solidFill>
                <a:latin typeface="LiberationSerif"/>
              </a:rPr>
              <a:t>The acceleration vector</a:t>
            </a:r>
          </a:p>
          <a:p>
            <a:endParaRPr lang="en-US" dirty="0">
              <a:solidFill>
                <a:srgbClr val="C00000"/>
              </a:solidFill>
              <a:latin typeface="LiberationSerif"/>
            </a:endParaRPr>
          </a:p>
          <a:p>
            <a:r>
              <a:rPr lang="en-US" dirty="0">
                <a:solidFill>
                  <a:srgbClr val="C00000"/>
                </a:solidFill>
                <a:latin typeface="LiberationSerif"/>
              </a:rPr>
              <a:t> </a:t>
            </a:r>
          </a:p>
          <a:p>
            <a:r>
              <a:rPr lang="en-US" dirty="0">
                <a:solidFill>
                  <a:srgbClr val="C00000"/>
                </a:solidFill>
                <a:latin typeface="LiberationSerif"/>
              </a:rPr>
              <a:t>(constant in the negative x-direction)</a:t>
            </a:r>
          </a:p>
        </p:txBody>
      </p:sp>
      <p:pic>
        <p:nvPicPr>
          <p:cNvPr id="16" name="Picture 15" descr="Diagram&#10;&#10;Description automatically generated">
            <a:extLst>
              <a:ext uri="{FF2B5EF4-FFF2-40B4-BE49-F238E27FC236}">
                <a16:creationId xmlns:a16="http://schemas.microsoft.com/office/drawing/2014/main" id="{40D3005D-D708-754E-A530-1F808B460749}"/>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8367286" y="4940054"/>
            <a:ext cx="3633701" cy="594360"/>
          </a:xfrm>
          <a:prstGeom prst="rect">
            <a:avLst/>
          </a:prstGeom>
        </p:spPr>
      </p:pic>
      <p:pic>
        <p:nvPicPr>
          <p:cNvPr id="22" name="Picture 21" descr="A picture containing text&#10;&#10;Description automatically generated">
            <a:extLst>
              <a:ext uri="{FF2B5EF4-FFF2-40B4-BE49-F238E27FC236}">
                <a16:creationId xmlns:a16="http://schemas.microsoft.com/office/drawing/2014/main" id="{ECD3CDD0-A408-7E47-BCC3-A71D88BB65C4}"/>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8735554" y="5924097"/>
            <a:ext cx="1943100" cy="558800"/>
          </a:xfrm>
          <a:prstGeom prst="rect">
            <a:avLst/>
          </a:prstGeom>
        </p:spPr>
      </p:pic>
      <p:sp>
        <p:nvSpPr>
          <p:cNvPr id="23" name="Rectangle 22">
            <a:extLst>
              <a:ext uri="{FF2B5EF4-FFF2-40B4-BE49-F238E27FC236}">
                <a16:creationId xmlns:a16="http://schemas.microsoft.com/office/drawing/2014/main" id="{B804DB43-DC90-9A43-8E86-DF569E12E839}"/>
              </a:ext>
            </a:extLst>
          </p:cNvPr>
          <p:cNvSpPr/>
          <p:nvPr/>
        </p:nvSpPr>
        <p:spPr>
          <a:xfrm>
            <a:off x="10715293" y="5942651"/>
            <a:ext cx="1091966" cy="523220"/>
          </a:xfrm>
          <a:prstGeom prst="rect">
            <a:avLst/>
          </a:prstGeom>
        </p:spPr>
        <p:txBody>
          <a:bodyPr wrap="none">
            <a:spAutoFit/>
          </a:bodyPr>
          <a:lstStyle/>
          <a:p>
            <a:r>
              <a:rPr lang="en-US" sz="1400" dirty="0">
                <a:solidFill>
                  <a:srgbClr val="C00000"/>
                </a:solidFill>
                <a:latin typeface="LiberationSerif"/>
              </a:rPr>
              <a:t>no time </a:t>
            </a:r>
          </a:p>
          <a:p>
            <a:r>
              <a:rPr lang="en-US" sz="1400" dirty="0">
                <a:solidFill>
                  <a:srgbClr val="C00000"/>
                </a:solidFill>
                <a:latin typeface="LiberationSerif"/>
              </a:rPr>
              <a:t>dependence</a:t>
            </a:r>
            <a:endParaRPr lang="en-US" sz="1400" dirty="0"/>
          </a:p>
        </p:txBody>
      </p:sp>
    </p:spTree>
    <p:extLst>
      <p:ext uri="{BB962C8B-B14F-4D97-AF65-F5344CB8AC3E}">
        <p14:creationId xmlns:p14="http://schemas.microsoft.com/office/powerpoint/2010/main" val="561575662"/>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2" descr="L:\Clients\Connexions\01_CNX_ Admin\00_OSC_Project_Resources\14_OSC_Production\PowerPoints\OSX-Stacked-TM-CMYK-300dp1-2016.jpg">
            <a:extLst>
              <a:ext uri="{FF2B5EF4-FFF2-40B4-BE49-F238E27FC236}">
                <a16:creationId xmlns:a16="http://schemas.microsoft.com/office/drawing/2014/main" id="{B8FFED19-C635-4D44-83B4-B18507ECDDF8}"/>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11074549" y="89044"/>
            <a:ext cx="1049775" cy="713232"/>
          </a:xfrm>
          <a:prstGeom prst="rect">
            <a:avLst/>
          </a:prstGeom>
          <a:noFill/>
          <a:extLst>
            <a:ext uri="{909E8E84-426E-40dd-AFC4-6F175D3DCCD1}">
              <a14:hiddenFill xmlns:a14="http://schemas.microsoft.com/office/drawing/2010/main" xmlns="">
                <a:solidFill>
                  <a:srgbClr val="FFFFFF"/>
                </a:solidFill>
              </a14:hiddenFill>
            </a:ext>
          </a:extLst>
        </p:spPr>
      </p:pic>
      <p:sp>
        <p:nvSpPr>
          <p:cNvPr id="10" name="Rectangle 9">
            <a:extLst>
              <a:ext uri="{FF2B5EF4-FFF2-40B4-BE49-F238E27FC236}">
                <a16:creationId xmlns:a16="http://schemas.microsoft.com/office/drawing/2014/main" id="{EF14CD54-D60A-1E45-8292-95068A5F3960}"/>
              </a:ext>
            </a:extLst>
          </p:cNvPr>
          <p:cNvSpPr/>
          <p:nvPr/>
        </p:nvSpPr>
        <p:spPr>
          <a:xfrm>
            <a:off x="3750590" y="89044"/>
            <a:ext cx="6593565" cy="523220"/>
          </a:xfrm>
          <a:prstGeom prst="rect">
            <a:avLst/>
          </a:prstGeom>
        </p:spPr>
        <p:txBody>
          <a:bodyPr wrap="square">
            <a:spAutoFit/>
          </a:bodyPr>
          <a:lstStyle/>
          <a:p>
            <a:r>
              <a:rPr lang="en-US" sz="2800" dirty="0">
                <a:solidFill>
                  <a:srgbClr val="C00000"/>
                </a:solidFill>
                <a:latin typeface="NewBaskervilleStd-Roman"/>
              </a:rPr>
              <a:t>Constant Acceleration </a:t>
            </a:r>
          </a:p>
        </p:txBody>
      </p:sp>
      <p:sp>
        <p:nvSpPr>
          <p:cNvPr id="2" name="Rectangle 1">
            <a:extLst>
              <a:ext uri="{FF2B5EF4-FFF2-40B4-BE49-F238E27FC236}">
                <a16:creationId xmlns:a16="http://schemas.microsoft.com/office/drawing/2014/main" id="{0127FE9B-9D68-2D41-AF42-D2158923B6FA}"/>
              </a:ext>
            </a:extLst>
          </p:cNvPr>
          <p:cNvSpPr/>
          <p:nvPr/>
        </p:nvSpPr>
        <p:spPr>
          <a:xfrm>
            <a:off x="495946" y="612264"/>
            <a:ext cx="10461355" cy="769441"/>
          </a:xfrm>
          <a:prstGeom prst="rect">
            <a:avLst/>
          </a:prstGeom>
        </p:spPr>
        <p:txBody>
          <a:bodyPr wrap="square">
            <a:spAutoFit/>
          </a:bodyPr>
          <a:lstStyle/>
          <a:p>
            <a:r>
              <a:rPr lang="en-US" sz="2200" dirty="0">
                <a:solidFill>
                  <a:srgbClr val="000066"/>
                </a:solidFill>
                <a:latin typeface="LiberationSerif"/>
              </a:rPr>
              <a:t>Multidimensional motion with constant acceleration can be treated the same way as for one-dimensional motion we saw in previous chapter. </a:t>
            </a:r>
            <a:endParaRPr lang="en-US" sz="2200" dirty="0">
              <a:solidFill>
                <a:srgbClr val="000066"/>
              </a:solidFill>
            </a:endParaRPr>
          </a:p>
        </p:txBody>
      </p:sp>
      <p:sp>
        <p:nvSpPr>
          <p:cNvPr id="3" name="Rectangle 2">
            <a:extLst>
              <a:ext uri="{FF2B5EF4-FFF2-40B4-BE49-F238E27FC236}">
                <a16:creationId xmlns:a16="http://schemas.microsoft.com/office/drawing/2014/main" id="{05042E22-3A4E-1940-8B5E-73D4DF306475}"/>
              </a:ext>
            </a:extLst>
          </p:cNvPr>
          <p:cNvSpPr/>
          <p:nvPr/>
        </p:nvSpPr>
        <p:spPr>
          <a:xfrm>
            <a:off x="5115509" y="1381705"/>
            <a:ext cx="5841792" cy="400110"/>
          </a:xfrm>
          <a:prstGeom prst="rect">
            <a:avLst/>
          </a:prstGeom>
        </p:spPr>
        <p:txBody>
          <a:bodyPr wrap="none">
            <a:spAutoFit/>
          </a:bodyPr>
          <a:lstStyle/>
          <a:p>
            <a:r>
              <a:rPr lang="en-US" sz="2000" dirty="0">
                <a:latin typeface="LiberationSerif"/>
              </a:rPr>
              <a:t>In two dimension the </a:t>
            </a:r>
            <a:r>
              <a:rPr lang="en-US" sz="2000" dirty="0">
                <a:solidFill>
                  <a:srgbClr val="C00000"/>
                </a:solidFill>
                <a:latin typeface="LiberationSerif"/>
              </a:rPr>
              <a:t>(constant) </a:t>
            </a:r>
            <a:r>
              <a:rPr lang="en-US" sz="2000" dirty="0">
                <a:latin typeface="LiberationSerif"/>
              </a:rPr>
              <a:t>acceleration vector is </a:t>
            </a:r>
            <a:endParaRPr lang="en-US" sz="2000" dirty="0"/>
          </a:p>
        </p:txBody>
      </p:sp>
      <p:pic>
        <p:nvPicPr>
          <p:cNvPr id="6" name="Picture 5" descr="Diagram, schematic&#10;&#10;Description automatically generated">
            <a:extLst>
              <a:ext uri="{FF2B5EF4-FFF2-40B4-BE49-F238E27FC236}">
                <a16:creationId xmlns:a16="http://schemas.microsoft.com/office/drawing/2014/main" id="{A68D4A34-34ED-A74E-A3DB-AC2AD7C7EFD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563590" y="1721244"/>
            <a:ext cx="2006600" cy="635000"/>
          </a:xfrm>
          <a:prstGeom prst="rect">
            <a:avLst/>
          </a:prstGeom>
        </p:spPr>
      </p:pic>
      <p:pic>
        <p:nvPicPr>
          <p:cNvPr id="9" name="Picture 8" descr="Chart, box and whisker chart&#10;&#10;Description automatically generated">
            <a:extLst>
              <a:ext uri="{FF2B5EF4-FFF2-40B4-BE49-F238E27FC236}">
                <a16:creationId xmlns:a16="http://schemas.microsoft.com/office/drawing/2014/main" id="{88E8E10C-5ED2-014B-BEC6-02E3F75921CB}"/>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95946" y="1721244"/>
            <a:ext cx="3012966" cy="4572000"/>
          </a:xfrm>
          <a:prstGeom prst="rect">
            <a:avLst/>
          </a:prstGeom>
        </p:spPr>
      </p:pic>
      <p:sp>
        <p:nvSpPr>
          <p:cNvPr id="11" name="Rectangle 10">
            <a:extLst>
              <a:ext uri="{FF2B5EF4-FFF2-40B4-BE49-F238E27FC236}">
                <a16:creationId xmlns:a16="http://schemas.microsoft.com/office/drawing/2014/main" id="{21A26794-AF80-304C-8FC2-3B56BE43B806}"/>
              </a:ext>
            </a:extLst>
          </p:cNvPr>
          <p:cNvSpPr/>
          <p:nvPr/>
        </p:nvSpPr>
        <p:spPr>
          <a:xfrm>
            <a:off x="3508912" y="1801187"/>
            <a:ext cx="2798898" cy="4524315"/>
          </a:xfrm>
          <a:prstGeom prst="rect">
            <a:avLst/>
          </a:prstGeom>
        </p:spPr>
        <p:txBody>
          <a:bodyPr wrap="square">
            <a:spAutoFit/>
          </a:bodyPr>
          <a:lstStyle/>
          <a:p>
            <a:r>
              <a:rPr lang="en-US" dirty="0">
                <a:solidFill>
                  <a:srgbClr val="000066"/>
                </a:solidFill>
              </a:rPr>
              <a:t>A diagram of the motions of two identical balls: one falls from rest and the other has an initial horizontal velocity. </a:t>
            </a:r>
            <a:r>
              <a:rPr lang="en-US" dirty="0">
                <a:solidFill>
                  <a:srgbClr val="000000"/>
                </a:solidFill>
              </a:rPr>
              <a:t>Each subsequent position is an equal time interval. </a:t>
            </a:r>
          </a:p>
          <a:p>
            <a:r>
              <a:rPr lang="en-US" dirty="0">
                <a:solidFill>
                  <a:srgbClr val="000066"/>
                </a:solidFill>
              </a:rPr>
              <a:t>Arrows represent the horizontal and vertical velocities at each position. </a:t>
            </a:r>
          </a:p>
          <a:p>
            <a:r>
              <a:rPr lang="en-US" dirty="0">
                <a:solidFill>
                  <a:srgbClr val="000000"/>
                </a:solidFill>
              </a:rPr>
              <a:t>Despite the difference in horizontal velocities, the vertical velocities and positions are identical for both balls, which shows the </a:t>
            </a:r>
            <a:r>
              <a:rPr lang="en-US" dirty="0">
                <a:solidFill>
                  <a:srgbClr val="C00000"/>
                </a:solidFill>
              </a:rPr>
              <a:t>vertical and horizontal motions are independent.</a:t>
            </a:r>
          </a:p>
        </p:txBody>
      </p:sp>
      <p:sp>
        <p:nvSpPr>
          <p:cNvPr id="12" name="Rectangle 11">
            <a:extLst>
              <a:ext uri="{FF2B5EF4-FFF2-40B4-BE49-F238E27FC236}">
                <a16:creationId xmlns:a16="http://schemas.microsoft.com/office/drawing/2014/main" id="{6613F516-0ECB-AD46-B490-D76C7757E6C4}"/>
              </a:ext>
            </a:extLst>
          </p:cNvPr>
          <p:cNvSpPr/>
          <p:nvPr/>
        </p:nvSpPr>
        <p:spPr>
          <a:xfrm>
            <a:off x="7262463" y="2331575"/>
            <a:ext cx="3193054" cy="400110"/>
          </a:xfrm>
          <a:prstGeom prst="rect">
            <a:avLst/>
          </a:prstGeom>
        </p:spPr>
        <p:txBody>
          <a:bodyPr wrap="none">
            <a:spAutoFit/>
          </a:bodyPr>
          <a:lstStyle/>
          <a:p>
            <a:r>
              <a:rPr lang="en-US" sz="2000" dirty="0">
                <a:solidFill>
                  <a:srgbClr val="C00000"/>
                </a:solidFill>
                <a:latin typeface="LiberationSerif"/>
              </a:rPr>
              <a:t>kinematic equations become</a:t>
            </a:r>
            <a:endParaRPr lang="en-US" sz="2000" dirty="0">
              <a:solidFill>
                <a:srgbClr val="C00000"/>
              </a:solidFill>
            </a:endParaRPr>
          </a:p>
        </p:txBody>
      </p:sp>
      <p:pic>
        <p:nvPicPr>
          <p:cNvPr id="14" name="Picture 13" descr="Text, letter&#10;&#10;Description automatically generated">
            <a:extLst>
              <a:ext uri="{FF2B5EF4-FFF2-40B4-BE49-F238E27FC236}">
                <a16:creationId xmlns:a16="http://schemas.microsoft.com/office/drawing/2014/main" id="{CA4BC276-5323-814D-957E-18608F1A6F86}"/>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563590" y="2744102"/>
            <a:ext cx="2590800" cy="3581400"/>
          </a:xfrm>
          <a:prstGeom prst="rect">
            <a:avLst/>
          </a:prstGeom>
        </p:spPr>
      </p:pic>
      <p:sp>
        <p:nvSpPr>
          <p:cNvPr id="15" name="Rectangle 14">
            <a:extLst>
              <a:ext uri="{FF2B5EF4-FFF2-40B4-BE49-F238E27FC236}">
                <a16:creationId xmlns:a16="http://schemas.microsoft.com/office/drawing/2014/main" id="{D290B31B-9208-2C4E-92DE-7A32497B0751}"/>
              </a:ext>
            </a:extLst>
          </p:cNvPr>
          <p:cNvSpPr/>
          <p:nvPr/>
        </p:nvSpPr>
        <p:spPr>
          <a:xfrm>
            <a:off x="6875371" y="6337919"/>
            <a:ext cx="4443076" cy="323165"/>
          </a:xfrm>
          <a:prstGeom prst="rect">
            <a:avLst/>
          </a:prstGeom>
        </p:spPr>
        <p:txBody>
          <a:bodyPr wrap="none">
            <a:spAutoFit/>
          </a:bodyPr>
          <a:lstStyle/>
          <a:p>
            <a:r>
              <a:rPr lang="en-US" sz="1500" dirty="0">
                <a:solidFill>
                  <a:srgbClr val="000066"/>
                </a:solidFill>
                <a:latin typeface="LiberationSerif"/>
              </a:rPr>
              <a:t>The subscript 0 denotes the initial position or velocity. </a:t>
            </a:r>
            <a:endParaRPr lang="en-US" sz="1500" dirty="0">
              <a:solidFill>
                <a:srgbClr val="000066"/>
              </a:solidFill>
            </a:endParaRPr>
          </a:p>
        </p:txBody>
      </p:sp>
    </p:spTree>
    <p:extLst>
      <p:ext uri="{BB962C8B-B14F-4D97-AF65-F5344CB8AC3E}">
        <p14:creationId xmlns:p14="http://schemas.microsoft.com/office/powerpoint/2010/main" val="88829756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2" descr="L:\Clients\Connexions\01_CNX_ Admin\00_OSC_Project_Resources\14_OSC_Production\PowerPoints\OSX-Stacked-TM-CMYK-300dp1-2016.jpg">
            <a:extLst>
              <a:ext uri="{FF2B5EF4-FFF2-40B4-BE49-F238E27FC236}">
                <a16:creationId xmlns:a16="http://schemas.microsoft.com/office/drawing/2014/main" id="{B8FFED19-C635-4D44-83B4-B18507ECDDF8}"/>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11074549" y="89044"/>
            <a:ext cx="1049775" cy="713232"/>
          </a:xfrm>
          <a:prstGeom prst="rect">
            <a:avLst/>
          </a:prstGeom>
          <a:noFill/>
          <a:extLst>
            <a:ext uri="{909E8E84-426E-40dd-AFC4-6F175D3DCCD1}">
              <a14:hiddenFill xmlns:a14="http://schemas.microsoft.com/office/drawing/2010/main" xmlns="">
                <a:solidFill>
                  <a:srgbClr val="FFFFFF"/>
                </a:solidFill>
              </a14:hiddenFill>
            </a:ext>
          </a:extLst>
        </p:spPr>
      </p:pic>
      <p:sp>
        <p:nvSpPr>
          <p:cNvPr id="10" name="Rectangle 9">
            <a:extLst>
              <a:ext uri="{FF2B5EF4-FFF2-40B4-BE49-F238E27FC236}">
                <a16:creationId xmlns:a16="http://schemas.microsoft.com/office/drawing/2014/main" id="{EF14CD54-D60A-1E45-8292-95068A5F3960}"/>
              </a:ext>
            </a:extLst>
          </p:cNvPr>
          <p:cNvSpPr/>
          <p:nvPr/>
        </p:nvSpPr>
        <p:spPr>
          <a:xfrm>
            <a:off x="3750590" y="89044"/>
            <a:ext cx="6593565" cy="523220"/>
          </a:xfrm>
          <a:prstGeom prst="rect">
            <a:avLst/>
          </a:prstGeom>
        </p:spPr>
        <p:txBody>
          <a:bodyPr wrap="square">
            <a:spAutoFit/>
          </a:bodyPr>
          <a:lstStyle/>
          <a:p>
            <a:r>
              <a:rPr lang="en-US" sz="2800" dirty="0">
                <a:solidFill>
                  <a:srgbClr val="C00000"/>
                </a:solidFill>
                <a:latin typeface="NewBaskervilleStd-Roman"/>
              </a:rPr>
              <a:t>Projectile Motion </a:t>
            </a:r>
          </a:p>
        </p:txBody>
      </p:sp>
      <p:sp>
        <p:nvSpPr>
          <p:cNvPr id="2" name="Rectangle 1">
            <a:extLst>
              <a:ext uri="{FF2B5EF4-FFF2-40B4-BE49-F238E27FC236}">
                <a16:creationId xmlns:a16="http://schemas.microsoft.com/office/drawing/2014/main" id="{5C66298A-0258-014E-B954-03AE3AA28685}"/>
              </a:ext>
            </a:extLst>
          </p:cNvPr>
          <p:cNvSpPr/>
          <p:nvPr/>
        </p:nvSpPr>
        <p:spPr>
          <a:xfrm>
            <a:off x="601696" y="493130"/>
            <a:ext cx="9742459" cy="769441"/>
          </a:xfrm>
          <a:prstGeom prst="rect">
            <a:avLst/>
          </a:prstGeom>
        </p:spPr>
        <p:txBody>
          <a:bodyPr wrap="square">
            <a:spAutoFit/>
          </a:bodyPr>
          <a:lstStyle/>
          <a:p>
            <a:r>
              <a:rPr lang="en-US" sz="2200" b="1" dirty="0">
                <a:solidFill>
                  <a:srgbClr val="C00000"/>
                </a:solidFill>
                <a:latin typeface="LiberationSerif"/>
              </a:rPr>
              <a:t>Projectile motion </a:t>
            </a:r>
            <a:r>
              <a:rPr lang="en-US" sz="2200" dirty="0">
                <a:solidFill>
                  <a:srgbClr val="000066"/>
                </a:solidFill>
                <a:latin typeface="LiberationSerif"/>
              </a:rPr>
              <a:t>is the motion of an object thrown or projected into the air, subject only to acceleration as a result of gravity. </a:t>
            </a:r>
            <a:endParaRPr lang="en-US" sz="2200" dirty="0">
              <a:solidFill>
                <a:srgbClr val="000066"/>
              </a:solidFill>
            </a:endParaRPr>
          </a:p>
        </p:txBody>
      </p:sp>
      <p:pic>
        <p:nvPicPr>
          <p:cNvPr id="7" name="Picture 6" descr="Chart, scatter chart&#10;&#10;Description automatically generated">
            <a:extLst>
              <a:ext uri="{FF2B5EF4-FFF2-40B4-BE49-F238E27FC236}">
                <a16:creationId xmlns:a16="http://schemas.microsoft.com/office/drawing/2014/main" id="{021BEA23-7652-6946-A59A-50A4C950B8A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307814" y="1237358"/>
            <a:ext cx="7666426" cy="5486400"/>
          </a:xfrm>
          <a:prstGeom prst="rect">
            <a:avLst/>
          </a:prstGeom>
        </p:spPr>
      </p:pic>
      <p:pic>
        <p:nvPicPr>
          <p:cNvPr id="9" name="Picture 8" descr="Chart, box and whisker chart&#10;&#10;Description automatically generated">
            <a:extLst>
              <a:ext uri="{FF2B5EF4-FFF2-40B4-BE49-F238E27FC236}">
                <a16:creationId xmlns:a16="http://schemas.microsoft.com/office/drawing/2014/main" id="{EDA84E91-49CE-404A-83AB-4EE7CBA3F2EA}"/>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95946" y="1721244"/>
            <a:ext cx="3012966" cy="4572000"/>
          </a:xfrm>
          <a:prstGeom prst="rect">
            <a:avLst/>
          </a:prstGeom>
        </p:spPr>
      </p:pic>
      <p:sp>
        <p:nvSpPr>
          <p:cNvPr id="11" name="Text Placeholder 6">
            <a:extLst>
              <a:ext uri="{FF2B5EF4-FFF2-40B4-BE49-F238E27FC236}">
                <a16:creationId xmlns:a16="http://schemas.microsoft.com/office/drawing/2014/main" id="{B9E14222-B752-3148-A2D1-5DCE3005971F}"/>
              </a:ext>
            </a:extLst>
          </p:cNvPr>
          <p:cNvSpPr txBox="1">
            <a:spLocks/>
          </p:cNvSpPr>
          <p:nvPr/>
        </p:nvSpPr>
        <p:spPr>
          <a:xfrm>
            <a:off x="4307814" y="5051434"/>
            <a:ext cx="4216254" cy="1672324"/>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 typeface="Arial" panose="020B0604020202020204" pitchFamily="34" charset="0"/>
              <a:buAutoNum type="alphaLcParenBoth"/>
            </a:pPr>
            <a:r>
              <a:rPr lang="en-US" sz="950" dirty="0">
                <a:solidFill>
                  <a:srgbClr val="000066"/>
                </a:solidFill>
              </a:rPr>
              <a:t>We analyze two-dimensional projectile motion by breaking it into two independent one-dimensional motions along the vertical and horizontal axes.</a:t>
            </a:r>
          </a:p>
          <a:p>
            <a:pPr>
              <a:buFont typeface="Arial" panose="020B0604020202020204" pitchFamily="34" charset="0"/>
              <a:buAutoNum type="alphaLcParenBoth"/>
            </a:pPr>
            <a:r>
              <a:rPr lang="en-US" sz="950" dirty="0">
                <a:solidFill>
                  <a:srgbClr val="000066"/>
                </a:solidFill>
              </a:rPr>
              <a:t>The horizontal motion is simple, because </a:t>
            </a:r>
            <a:r>
              <a:rPr lang="en-US" sz="950" i="1" dirty="0">
                <a:solidFill>
                  <a:srgbClr val="000066"/>
                </a:solidFill>
              </a:rPr>
              <a:t>a</a:t>
            </a:r>
            <a:r>
              <a:rPr lang="en-US" sz="950" i="1" baseline="-25000" dirty="0">
                <a:solidFill>
                  <a:srgbClr val="000066"/>
                </a:solidFill>
              </a:rPr>
              <a:t>x</a:t>
            </a:r>
            <a:r>
              <a:rPr lang="en-US" sz="950" dirty="0">
                <a:solidFill>
                  <a:srgbClr val="000066"/>
                </a:solidFill>
              </a:rPr>
              <a:t> = 0 and </a:t>
            </a:r>
            <a:r>
              <a:rPr lang="en-US" sz="950" i="1" dirty="0" err="1">
                <a:solidFill>
                  <a:srgbClr val="000066"/>
                </a:solidFill>
              </a:rPr>
              <a:t>v</a:t>
            </a:r>
            <a:r>
              <a:rPr lang="en-US" sz="950" i="1" baseline="-25000" dirty="0" err="1">
                <a:solidFill>
                  <a:srgbClr val="000066"/>
                </a:solidFill>
              </a:rPr>
              <a:t>x</a:t>
            </a:r>
            <a:r>
              <a:rPr lang="en-US" sz="950" i="1" dirty="0">
                <a:solidFill>
                  <a:srgbClr val="000066"/>
                </a:solidFill>
              </a:rPr>
              <a:t> </a:t>
            </a:r>
            <a:r>
              <a:rPr lang="en-US" sz="950" dirty="0">
                <a:solidFill>
                  <a:srgbClr val="000066"/>
                </a:solidFill>
              </a:rPr>
              <a:t>is a constant.</a:t>
            </a:r>
          </a:p>
          <a:p>
            <a:pPr>
              <a:buFont typeface="Arial" panose="020B0604020202020204" pitchFamily="34" charset="0"/>
              <a:buAutoNum type="alphaLcParenBoth"/>
            </a:pPr>
            <a:r>
              <a:rPr lang="en-US" sz="950" dirty="0">
                <a:solidFill>
                  <a:srgbClr val="000066"/>
                </a:solidFill>
              </a:rPr>
              <a:t>The velocity in the vertical direction begins to decrease as the object rises. At its highest point, the vertical velocity is zero. As the object falls toward Earth again, the vertical velocity increases again in magnitude but points in the opposite direction to the initial vertical velocity.</a:t>
            </a:r>
          </a:p>
          <a:p>
            <a:pPr>
              <a:buFont typeface="Arial" panose="020B0604020202020204" pitchFamily="34" charset="0"/>
              <a:buAutoNum type="alphaLcParenBoth"/>
            </a:pPr>
            <a:r>
              <a:rPr lang="en-US" sz="950" dirty="0">
                <a:solidFill>
                  <a:srgbClr val="000066"/>
                </a:solidFill>
              </a:rPr>
              <a:t>The </a:t>
            </a:r>
            <a:r>
              <a:rPr lang="en-US" sz="950" i="1" dirty="0">
                <a:solidFill>
                  <a:srgbClr val="000066"/>
                </a:solidFill>
              </a:rPr>
              <a:t>x</a:t>
            </a:r>
            <a:r>
              <a:rPr lang="en-US" sz="950" dirty="0">
                <a:solidFill>
                  <a:srgbClr val="000066"/>
                </a:solidFill>
              </a:rPr>
              <a:t> and </a:t>
            </a:r>
            <a:r>
              <a:rPr lang="en-US" sz="950" i="1" dirty="0">
                <a:solidFill>
                  <a:srgbClr val="000066"/>
                </a:solidFill>
              </a:rPr>
              <a:t>y</a:t>
            </a:r>
            <a:r>
              <a:rPr lang="en-US" sz="950" dirty="0">
                <a:solidFill>
                  <a:srgbClr val="000066"/>
                </a:solidFill>
              </a:rPr>
              <a:t> motions are recombined to give the total velocity at any given point on the trajectory.</a:t>
            </a:r>
          </a:p>
        </p:txBody>
      </p:sp>
    </p:spTree>
    <p:extLst>
      <p:ext uri="{BB962C8B-B14F-4D97-AF65-F5344CB8AC3E}">
        <p14:creationId xmlns:p14="http://schemas.microsoft.com/office/powerpoint/2010/main" val="4180743738"/>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2" descr="L:\Clients\Connexions\01_CNX_ Admin\00_OSC_Project_Resources\14_OSC_Production\PowerPoints\OSX-Stacked-TM-CMYK-300dp1-2016.jpg">
            <a:extLst>
              <a:ext uri="{FF2B5EF4-FFF2-40B4-BE49-F238E27FC236}">
                <a16:creationId xmlns:a16="http://schemas.microsoft.com/office/drawing/2014/main" id="{B8FFED19-C635-4D44-83B4-B18507ECDDF8}"/>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11074549" y="89044"/>
            <a:ext cx="1049775" cy="713232"/>
          </a:xfrm>
          <a:prstGeom prst="rect">
            <a:avLst/>
          </a:prstGeom>
          <a:noFill/>
          <a:extLst>
            <a:ext uri="{909E8E84-426E-40dd-AFC4-6F175D3DCCD1}">
              <a14:hiddenFill xmlns:a14="http://schemas.microsoft.com/office/drawing/2010/main" xmlns="">
                <a:solidFill>
                  <a:srgbClr val="FFFFFF"/>
                </a:solidFill>
              </a14:hiddenFill>
            </a:ext>
          </a:extLst>
        </p:spPr>
      </p:pic>
      <p:sp>
        <p:nvSpPr>
          <p:cNvPr id="10" name="Rectangle 9">
            <a:extLst>
              <a:ext uri="{FF2B5EF4-FFF2-40B4-BE49-F238E27FC236}">
                <a16:creationId xmlns:a16="http://schemas.microsoft.com/office/drawing/2014/main" id="{EF14CD54-D60A-1E45-8292-95068A5F3960}"/>
              </a:ext>
            </a:extLst>
          </p:cNvPr>
          <p:cNvSpPr/>
          <p:nvPr/>
        </p:nvSpPr>
        <p:spPr>
          <a:xfrm>
            <a:off x="3750590" y="89044"/>
            <a:ext cx="6593565" cy="523220"/>
          </a:xfrm>
          <a:prstGeom prst="rect">
            <a:avLst/>
          </a:prstGeom>
        </p:spPr>
        <p:txBody>
          <a:bodyPr wrap="square">
            <a:spAutoFit/>
          </a:bodyPr>
          <a:lstStyle/>
          <a:p>
            <a:r>
              <a:rPr lang="en-US" sz="2800" dirty="0">
                <a:solidFill>
                  <a:srgbClr val="C00000"/>
                </a:solidFill>
                <a:latin typeface="NewBaskervilleStd-Roman"/>
              </a:rPr>
              <a:t>Projectile Motion </a:t>
            </a:r>
          </a:p>
        </p:txBody>
      </p:sp>
      <p:pic>
        <p:nvPicPr>
          <p:cNvPr id="7" name="Picture 6" descr="Chart, scatter chart&#10;&#10;Description automatically generated">
            <a:extLst>
              <a:ext uri="{FF2B5EF4-FFF2-40B4-BE49-F238E27FC236}">
                <a16:creationId xmlns:a16="http://schemas.microsoft.com/office/drawing/2014/main" id="{021BEA23-7652-6946-A59A-50A4C950B8A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307814" y="1237358"/>
            <a:ext cx="7666426" cy="5486400"/>
          </a:xfrm>
          <a:prstGeom prst="rect">
            <a:avLst/>
          </a:prstGeom>
        </p:spPr>
      </p:pic>
      <p:sp>
        <p:nvSpPr>
          <p:cNvPr id="11" name="Text Placeholder 6">
            <a:extLst>
              <a:ext uri="{FF2B5EF4-FFF2-40B4-BE49-F238E27FC236}">
                <a16:creationId xmlns:a16="http://schemas.microsoft.com/office/drawing/2014/main" id="{B9E14222-B752-3148-A2D1-5DCE3005971F}"/>
              </a:ext>
            </a:extLst>
          </p:cNvPr>
          <p:cNvSpPr txBox="1">
            <a:spLocks/>
          </p:cNvSpPr>
          <p:nvPr/>
        </p:nvSpPr>
        <p:spPr>
          <a:xfrm>
            <a:off x="4307814" y="5051434"/>
            <a:ext cx="4216254" cy="1672324"/>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 typeface="Arial" panose="020B0604020202020204" pitchFamily="34" charset="0"/>
              <a:buAutoNum type="alphaLcParenBoth"/>
            </a:pPr>
            <a:r>
              <a:rPr lang="en-US" sz="950" dirty="0">
                <a:solidFill>
                  <a:srgbClr val="000066"/>
                </a:solidFill>
              </a:rPr>
              <a:t>We analyze two-dimensional projectile motion by breaking it into two independent one-dimensional motions along the vertical and horizontal axes.</a:t>
            </a:r>
          </a:p>
          <a:p>
            <a:pPr>
              <a:buFont typeface="Arial" panose="020B0604020202020204" pitchFamily="34" charset="0"/>
              <a:buAutoNum type="alphaLcParenBoth"/>
            </a:pPr>
            <a:r>
              <a:rPr lang="en-US" sz="950" dirty="0">
                <a:solidFill>
                  <a:srgbClr val="000066"/>
                </a:solidFill>
              </a:rPr>
              <a:t>The horizontal motion is simple, because </a:t>
            </a:r>
            <a:r>
              <a:rPr lang="en-US" sz="950" i="1" dirty="0">
                <a:solidFill>
                  <a:srgbClr val="000066"/>
                </a:solidFill>
              </a:rPr>
              <a:t>a</a:t>
            </a:r>
            <a:r>
              <a:rPr lang="en-US" sz="950" i="1" baseline="-25000" dirty="0">
                <a:solidFill>
                  <a:srgbClr val="000066"/>
                </a:solidFill>
              </a:rPr>
              <a:t>x</a:t>
            </a:r>
            <a:r>
              <a:rPr lang="en-US" sz="950" dirty="0">
                <a:solidFill>
                  <a:srgbClr val="000066"/>
                </a:solidFill>
              </a:rPr>
              <a:t> = 0 and </a:t>
            </a:r>
            <a:r>
              <a:rPr lang="en-US" sz="950" i="1" dirty="0" err="1">
                <a:solidFill>
                  <a:srgbClr val="000066"/>
                </a:solidFill>
              </a:rPr>
              <a:t>v</a:t>
            </a:r>
            <a:r>
              <a:rPr lang="en-US" sz="950" i="1" baseline="-25000" dirty="0" err="1">
                <a:solidFill>
                  <a:srgbClr val="000066"/>
                </a:solidFill>
              </a:rPr>
              <a:t>x</a:t>
            </a:r>
            <a:r>
              <a:rPr lang="en-US" sz="950" i="1" dirty="0">
                <a:solidFill>
                  <a:srgbClr val="000066"/>
                </a:solidFill>
              </a:rPr>
              <a:t> </a:t>
            </a:r>
            <a:r>
              <a:rPr lang="en-US" sz="950" dirty="0">
                <a:solidFill>
                  <a:srgbClr val="000066"/>
                </a:solidFill>
              </a:rPr>
              <a:t>is a constant.</a:t>
            </a:r>
          </a:p>
          <a:p>
            <a:pPr>
              <a:buFont typeface="Arial" panose="020B0604020202020204" pitchFamily="34" charset="0"/>
              <a:buAutoNum type="alphaLcParenBoth"/>
            </a:pPr>
            <a:r>
              <a:rPr lang="en-US" sz="950" dirty="0">
                <a:solidFill>
                  <a:srgbClr val="000066"/>
                </a:solidFill>
              </a:rPr>
              <a:t>The velocity in the vertical direction begins to decrease as the object rises. At its highest point, the vertical velocity is zero. As the object falls toward Earth again, the vertical velocity increases again in magnitude but points in the opposite direction to the initial vertical velocity.</a:t>
            </a:r>
          </a:p>
          <a:p>
            <a:pPr>
              <a:buFont typeface="Arial" panose="020B0604020202020204" pitchFamily="34" charset="0"/>
              <a:buAutoNum type="alphaLcParenBoth"/>
            </a:pPr>
            <a:r>
              <a:rPr lang="en-US" sz="950" dirty="0">
                <a:solidFill>
                  <a:srgbClr val="000066"/>
                </a:solidFill>
              </a:rPr>
              <a:t>The </a:t>
            </a:r>
            <a:r>
              <a:rPr lang="en-US" sz="950" i="1" dirty="0">
                <a:solidFill>
                  <a:srgbClr val="000066"/>
                </a:solidFill>
              </a:rPr>
              <a:t>x</a:t>
            </a:r>
            <a:r>
              <a:rPr lang="en-US" sz="950" dirty="0">
                <a:solidFill>
                  <a:srgbClr val="000066"/>
                </a:solidFill>
              </a:rPr>
              <a:t> and </a:t>
            </a:r>
            <a:r>
              <a:rPr lang="en-US" sz="950" i="1" dirty="0">
                <a:solidFill>
                  <a:srgbClr val="000066"/>
                </a:solidFill>
              </a:rPr>
              <a:t>y</a:t>
            </a:r>
            <a:r>
              <a:rPr lang="en-US" sz="950" dirty="0">
                <a:solidFill>
                  <a:srgbClr val="000066"/>
                </a:solidFill>
              </a:rPr>
              <a:t> motions are recombined to give the total velocity at any given point on the trajectory.</a:t>
            </a:r>
          </a:p>
        </p:txBody>
      </p:sp>
      <p:sp>
        <p:nvSpPr>
          <p:cNvPr id="3" name="Rectangle 2">
            <a:extLst>
              <a:ext uri="{FF2B5EF4-FFF2-40B4-BE49-F238E27FC236}">
                <a16:creationId xmlns:a16="http://schemas.microsoft.com/office/drawing/2014/main" id="{1F9CA516-C53C-594A-B2B9-41A16E984E2B}"/>
              </a:ext>
            </a:extLst>
          </p:cNvPr>
          <p:cNvSpPr/>
          <p:nvPr/>
        </p:nvSpPr>
        <p:spPr>
          <a:xfrm>
            <a:off x="363706" y="597017"/>
            <a:ext cx="4980966" cy="707886"/>
          </a:xfrm>
          <a:prstGeom prst="rect">
            <a:avLst/>
          </a:prstGeom>
        </p:spPr>
        <p:txBody>
          <a:bodyPr wrap="square">
            <a:spAutoFit/>
          </a:bodyPr>
          <a:lstStyle/>
          <a:p>
            <a:r>
              <a:rPr lang="en-US" sz="2000" dirty="0">
                <a:solidFill>
                  <a:srgbClr val="000066"/>
                </a:solidFill>
                <a:latin typeface="LiberationSerif"/>
              </a:rPr>
              <a:t>Defining the positive direction to be upward, the components of acceleration are </a:t>
            </a:r>
            <a:endParaRPr lang="en-US" sz="2000" dirty="0">
              <a:solidFill>
                <a:srgbClr val="000066"/>
              </a:solidFill>
            </a:endParaRPr>
          </a:p>
        </p:txBody>
      </p:sp>
      <p:sp>
        <p:nvSpPr>
          <p:cNvPr id="4" name="Rectangle 3">
            <a:extLst>
              <a:ext uri="{FF2B5EF4-FFF2-40B4-BE49-F238E27FC236}">
                <a16:creationId xmlns:a16="http://schemas.microsoft.com/office/drawing/2014/main" id="{BDE15A33-C35E-304F-9638-C860B5FCADBD}"/>
              </a:ext>
            </a:extLst>
          </p:cNvPr>
          <p:cNvSpPr/>
          <p:nvPr/>
        </p:nvSpPr>
        <p:spPr>
          <a:xfrm>
            <a:off x="673516" y="1811519"/>
            <a:ext cx="3162789" cy="646331"/>
          </a:xfrm>
          <a:prstGeom prst="rect">
            <a:avLst/>
          </a:prstGeom>
        </p:spPr>
        <p:txBody>
          <a:bodyPr wrap="none">
            <a:spAutoFit/>
          </a:bodyPr>
          <a:lstStyle/>
          <a:p>
            <a:r>
              <a:rPr lang="en-US" dirty="0">
                <a:solidFill>
                  <a:srgbClr val="000066"/>
                </a:solidFill>
                <a:latin typeface="LiberationSerif"/>
              </a:rPr>
              <a:t>Because gravity is vertical, </a:t>
            </a:r>
            <a:r>
              <a:rPr lang="en-US" i="1" dirty="0">
                <a:solidFill>
                  <a:srgbClr val="000066"/>
                </a:solidFill>
                <a:latin typeface="LiberationSerif"/>
              </a:rPr>
              <a:t>a</a:t>
            </a:r>
            <a:r>
              <a:rPr lang="en-US" i="1" baseline="-25000" dirty="0">
                <a:solidFill>
                  <a:srgbClr val="000066"/>
                </a:solidFill>
                <a:latin typeface="LiberationSerif"/>
              </a:rPr>
              <a:t>x</a:t>
            </a:r>
            <a:r>
              <a:rPr lang="en-US" i="1" dirty="0">
                <a:solidFill>
                  <a:srgbClr val="000066"/>
                </a:solidFill>
                <a:latin typeface="LiberationSerif"/>
              </a:rPr>
              <a:t>=0.</a:t>
            </a:r>
          </a:p>
          <a:p>
            <a:r>
              <a:rPr lang="en-US" dirty="0">
                <a:latin typeface="LiberationSerif"/>
              </a:rPr>
              <a:t>Kinematic equations become </a:t>
            </a:r>
            <a:endParaRPr lang="en-US" dirty="0"/>
          </a:p>
        </p:txBody>
      </p:sp>
      <p:pic>
        <p:nvPicPr>
          <p:cNvPr id="8" name="Picture 7" descr="A picture containing text&#10;&#10;Description automatically generated">
            <a:extLst>
              <a:ext uri="{FF2B5EF4-FFF2-40B4-BE49-F238E27FC236}">
                <a16:creationId xmlns:a16="http://schemas.microsoft.com/office/drawing/2014/main" id="{42B140DD-9336-DB4B-9052-4D17497DB4A0}"/>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83027" y="1294178"/>
            <a:ext cx="2428385" cy="502920"/>
          </a:xfrm>
          <a:prstGeom prst="rect">
            <a:avLst/>
          </a:prstGeom>
        </p:spPr>
      </p:pic>
      <p:sp>
        <p:nvSpPr>
          <p:cNvPr id="12" name="Rectangle 11">
            <a:extLst>
              <a:ext uri="{FF2B5EF4-FFF2-40B4-BE49-F238E27FC236}">
                <a16:creationId xmlns:a16="http://schemas.microsoft.com/office/drawing/2014/main" id="{BCAA854C-62EB-B246-ACB3-4448DBFA654B}"/>
              </a:ext>
            </a:extLst>
          </p:cNvPr>
          <p:cNvSpPr/>
          <p:nvPr/>
        </p:nvSpPr>
        <p:spPr>
          <a:xfrm>
            <a:off x="307326" y="2484708"/>
            <a:ext cx="1947584" cy="369332"/>
          </a:xfrm>
          <a:prstGeom prst="rect">
            <a:avLst/>
          </a:prstGeom>
        </p:spPr>
        <p:txBody>
          <a:bodyPr wrap="none">
            <a:spAutoFit/>
          </a:bodyPr>
          <a:lstStyle/>
          <a:p>
            <a:r>
              <a:rPr lang="en-US" dirty="0">
                <a:solidFill>
                  <a:srgbClr val="C00000"/>
                </a:solidFill>
                <a:latin typeface="LiberationSerif"/>
              </a:rPr>
              <a:t>Horizontal Motion </a:t>
            </a:r>
            <a:endParaRPr lang="en-US" dirty="0">
              <a:solidFill>
                <a:srgbClr val="C00000"/>
              </a:solidFill>
            </a:endParaRPr>
          </a:p>
        </p:txBody>
      </p:sp>
      <p:sp>
        <p:nvSpPr>
          <p:cNvPr id="13" name="Rectangle 12">
            <a:extLst>
              <a:ext uri="{FF2B5EF4-FFF2-40B4-BE49-F238E27FC236}">
                <a16:creationId xmlns:a16="http://schemas.microsoft.com/office/drawing/2014/main" id="{FB8FCCE8-E375-1743-996C-361650A827C7}"/>
              </a:ext>
            </a:extLst>
          </p:cNvPr>
          <p:cNvSpPr/>
          <p:nvPr/>
        </p:nvSpPr>
        <p:spPr>
          <a:xfrm>
            <a:off x="307326" y="3353058"/>
            <a:ext cx="1687706" cy="369332"/>
          </a:xfrm>
          <a:prstGeom prst="rect">
            <a:avLst/>
          </a:prstGeom>
        </p:spPr>
        <p:txBody>
          <a:bodyPr wrap="none">
            <a:spAutoFit/>
          </a:bodyPr>
          <a:lstStyle/>
          <a:p>
            <a:r>
              <a:rPr lang="en-US" dirty="0">
                <a:solidFill>
                  <a:srgbClr val="C00000"/>
                </a:solidFill>
                <a:latin typeface="LiberationSerif"/>
              </a:rPr>
              <a:t>Vertical Motion </a:t>
            </a:r>
            <a:endParaRPr lang="en-US" dirty="0">
              <a:solidFill>
                <a:srgbClr val="C00000"/>
              </a:solidFill>
            </a:endParaRPr>
          </a:p>
        </p:txBody>
      </p:sp>
      <p:pic>
        <p:nvPicPr>
          <p:cNvPr id="15" name="Picture 14" descr="Text&#10;&#10;Description automatically generated">
            <a:extLst>
              <a:ext uri="{FF2B5EF4-FFF2-40B4-BE49-F238E27FC236}">
                <a16:creationId xmlns:a16="http://schemas.microsoft.com/office/drawing/2014/main" id="{123DF085-F220-1042-83E5-46C88440EB0B}"/>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03822" y="2840443"/>
            <a:ext cx="2557463" cy="457200"/>
          </a:xfrm>
          <a:prstGeom prst="rect">
            <a:avLst/>
          </a:prstGeom>
        </p:spPr>
      </p:pic>
      <p:pic>
        <p:nvPicPr>
          <p:cNvPr id="17" name="Picture 16" descr="Text&#10;&#10;Description automatically generated">
            <a:extLst>
              <a:ext uri="{FF2B5EF4-FFF2-40B4-BE49-F238E27FC236}">
                <a16:creationId xmlns:a16="http://schemas.microsoft.com/office/drawing/2014/main" id="{7EB65271-0C65-1446-9DEB-1531BF3F15D9}"/>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703822" y="3752800"/>
            <a:ext cx="2597727" cy="2286000"/>
          </a:xfrm>
          <a:prstGeom prst="rect">
            <a:avLst/>
          </a:prstGeom>
        </p:spPr>
      </p:pic>
      <p:sp>
        <p:nvSpPr>
          <p:cNvPr id="18" name="Rectangle 17">
            <a:extLst>
              <a:ext uri="{FF2B5EF4-FFF2-40B4-BE49-F238E27FC236}">
                <a16:creationId xmlns:a16="http://schemas.microsoft.com/office/drawing/2014/main" id="{946D75A6-40D4-2841-867C-DC6907B13AD0}"/>
              </a:ext>
            </a:extLst>
          </p:cNvPr>
          <p:cNvSpPr/>
          <p:nvPr/>
        </p:nvSpPr>
        <p:spPr>
          <a:xfrm>
            <a:off x="606281" y="6038800"/>
            <a:ext cx="3375190" cy="646331"/>
          </a:xfrm>
          <a:prstGeom prst="rect">
            <a:avLst/>
          </a:prstGeom>
        </p:spPr>
        <p:txBody>
          <a:bodyPr wrap="square">
            <a:spAutoFit/>
          </a:bodyPr>
          <a:lstStyle/>
          <a:p>
            <a:r>
              <a:rPr lang="en-US" dirty="0">
                <a:solidFill>
                  <a:srgbClr val="C00000"/>
                </a:solidFill>
                <a:latin typeface="LiberationSerif"/>
              </a:rPr>
              <a:t>The only common variable between the motions is time </a:t>
            </a:r>
            <a:r>
              <a:rPr lang="en-US" i="1" dirty="0">
                <a:solidFill>
                  <a:srgbClr val="C00000"/>
                </a:solidFill>
                <a:latin typeface="LiberationSerif"/>
              </a:rPr>
              <a:t>t </a:t>
            </a:r>
            <a:endParaRPr lang="en-US" dirty="0">
              <a:solidFill>
                <a:srgbClr val="C00000"/>
              </a:solidFill>
              <a:latin typeface="LiberationSans"/>
            </a:endParaRPr>
          </a:p>
        </p:txBody>
      </p:sp>
    </p:spTree>
    <p:extLst>
      <p:ext uri="{BB962C8B-B14F-4D97-AF65-F5344CB8AC3E}">
        <p14:creationId xmlns:p14="http://schemas.microsoft.com/office/powerpoint/2010/main" val="1151760930"/>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2" descr="L:\Clients\Connexions\01_CNX_ Admin\00_OSC_Project_Resources\14_OSC_Production\PowerPoints\OSX-Stacked-TM-CMYK-300dp1-2016.jpg">
            <a:extLst>
              <a:ext uri="{FF2B5EF4-FFF2-40B4-BE49-F238E27FC236}">
                <a16:creationId xmlns:a16="http://schemas.microsoft.com/office/drawing/2014/main" id="{B8FFED19-C635-4D44-83B4-B18507ECDDF8}"/>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11074549" y="89044"/>
            <a:ext cx="1049775" cy="713232"/>
          </a:xfrm>
          <a:prstGeom prst="rect">
            <a:avLst/>
          </a:prstGeom>
          <a:noFill/>
          <a:extLst>
            <a:ext uri="{909E8E84-426E-40dd-AFC4-6F175D3DCCD1}">
              <a14:hiddenFill xmlns:a14="http://schemas.microsoft.com/office/drawing/2010/main" xmlns="">
                <a:solidFill>
                  <a:srgbClr val="FFFFFF"/>
                </a:solidFill>
              </a14:hiddenFill>
            </a:ext>
          </a:extLst>
        </p:spPr>
      </p:pic>
      <p:sp>
        <p:nvSpPr>
          <p:cNvPr id="10" name="Rectangle 9">
            <a:extLst>
              <a:ext uri="{FF2B5EF4-FFF2-40B4-BE49-F238E27FC236}">
                <a16:creationId xmlns:a16="http://schemas.microsoft.com/office/drawing/2014/main" id="{EF14CD54-D60A-1E45-8292-95068A5F3960}"/>
              </a:ext>
            </a:extLst>
          </p:cNvPr>
          <p:cNvSpPr/>
          <p:nvPr/>
        </p:nvSpPr>
        <p:spPr>
          <a:xfrm>
            <a:off x="3750590" y="89044"/>
            <a:ext cx="6593565" cy="523220"/>
          </a:xfrm>
          <a:prstGeom prst="rect">
            <a:avLst/>
          </a:prstGeom>
        </p:spPr>
        <p:txBody>
          <a:bodyPr wrap="square">
            <a:spAutoFit/>
          </a:bodyPr>
          <a:lstStyle/>
          <a:p>
            <a:r>
              <a:rPr lang="en-US" sz="2800" dirty="0">
                <a:solidFill>
                  <a:srgbClr val="C00000"/>
                </a:solidFill>
                <a:latin typeface="NewBaskervilleStd-Roman"/>
              </a:rPr>
              <a:t>Projectile Motion </a:t>
            </a:r>
          </a:p>
        </p:txBody>
      </p:sp>
      <p:sp>
        <p:nvSpPr>
          <p:cNvPr id="3" name="Rectangle 2">
            <a:extLst>
              <a:ext uri="{FF2B5EF4-FFF2-40B4-BE49-F238E27FC236}">
                <a16:creationId xmlns:a16="http://schemas.microsoft.com/office/drawing/2014/main" id="{1F9CA516-C53C-594A-B2B9-41A16E984E2B}"/>
              </a:ext>
            </a:extLst>
          </p:cNvPr>
          <p:cNvSpPr/>
          <p:nvPr/>
        </p:nvSpPr>
        <p:spPr>
          <a:xfrm>
            <a:off x="363706" y="597017"/>
            <a:ext cx="4980966" cy="707886"/>
          </a:xfrm>
          <a:prstGeom prst="rect">
            <a:avLst/>
          </a:prstGeom>
        </p:spPr>
        <p:txBody>
          <a:bodyPr wrap="square">
            <a:spAutoFit/>
          </a:bodyPr>
          <a:lstStyle/>
          <a:p>
            <a:r>
              <a:rPr lang="en-US" sz="2000" dirty="0">
                <a:solidFill>
                  <a:srgbClr val="000066"/>
                </a:solidFill>
                <a:latin typeface="LiberationSerif"/>
              </a:rPr>
              <a:t>Defining the positive direction to be upward, the components of acceleration are </a:t>
            </a:r>
            <a:endParaRPr lang="en-US" sz="2000" dirty="0">
              <a:solidFill>
                <a:srgbClr val="000066"/>
              </a:solidFill>
            </a:endParaRPr>
          </a:p>
        </p:txBody>
      </p:sp>
      <p:sp>
        <p:nvSpPr>
          <p:cNvPr id="4" name="Rectangle 3">
            <a:extLst>
              <a:ext uri="{FF2B5EF4-FFF2-40B4-BE49-F238E27FC236}">
                <a16:creationId xmlns:a16="http://schemas.microsoft.com/office/drawing/2014/main" id="{BDE15A33-C35E-304F-9638-C860B5FCADBD}"/>
              </a:ext>
            </a:extLst>
          </p:cNvPr>
          <p:cNvSpPr/>
          <p:nvPr/>
        </p:nvSpPr>
        <p:spPr>
          <a:xfrm>
            <a:off x="673516" y="1811519"/>
            <a:ext cx="3162789" cy="646331"/>
          </a:xfrm>
          <a:prstGeom prst="rect">
            <a:avLst/>
          </a:prstGeom>
        </p:spPr>
        <p:txBody>
          <a:bodyPr wrap="none">
            <a:spAutoFit/>
          </a:bodyPr>
          <a:lstStyle/>
          <a:p>
            <a:r>
              <a:rPr lang="en-US" dirty="0">
                <a:solidFill>
                  <a:srgbClr val="000066"/>
                </a:solidFill>
                <a:latin typeface="LiberationSerif"/>
              </a:rPr>
              <a:t>Because gravity is vertical, </a:t>
            </a:r>
            <a:r>
              <a:rPr lang="en-US" i="1" dirty="0">
                <a:solidFill>
                  <a:srgbClr val="000066"/>
                </a:solidFill>
                <a:latin typeface="LiberationSerif"/>
              </a:rPr>
              <a:t>a</a:t>
            </a:r>
            <a:r>
              <a:rPr lang="en-US" i="1" baseline="-25000" dirty="0">
                <a:solidFill>
                  <a:srgbClr val="000066"/>
                </a:solidFill>
                <a:latin typeface="LiberationSerif"/>
              </a:rPr>
              <a:t>x</a:t>
            </a:r>
            <a:r>
              <a:rPr lang="en-US" i="1" dirty="0">
                <a:solidFill>
                  <a:srgbClr val="000066"/>
                </a:solidFill>
                <a:latin typeface="LiberationSerif"/>
              </a:rPr>
              <a:t>=0.</a:t>
            </a:r>
          </a:p>
          <a:p>
            <a:r>
              <a:rPr lang="en-US" dirty="0">
                <a:latin typeface="LiberationSerif"/>
              </a:rPr>
              <a:t>Kinematic equations become </a:t>
            </a:r>
            <a:endParaRPr lang="en-US" dirty="0"/>
          </a:p>
        </p:txBody>
      </p:sp>
      <p:pic>
        <p:nvPicPr>
          <p:cNvPr id="8" name="Picture 7" descr="A picture containing text&#10;&#10;Description automatically generated">
            <a:extLst>
              <a:ext uri="{FF2B5EF4-FFF2-40B4-BE49-F238E27FC236}">
                <a16:creationId xmlns:a16="http://schemas.microsoft.com/office/drawing/2014/main" id="{42B140DD-9336-DB4B-9052-4D17497DB4A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83027" y="1294178"/>
            <a:ext cx="2428385" cy="502920"/>
          </a:xfrm>
          <a:prstGeom prst="rect">
            <a:avLst/>
          </a:prstGeom>
        </p:spPr>
      </p:pic>
      <p:sp>
        <p:nvSpPr>
          <p:cNvPr id="12" name="Rectangle 11">
            <a:extLst>
              <a:ext uri="{FF2B5EF4-FFF2-40B4-BE49-F238E27FC236}">
                <a16:creationId xmlns:a16="http://schemas.microsoft.com/office/drawing/2014/main" id="{BCAA854C-62EB-B246-ACB3-4448DBFA654B}"/>
              </a:ext>
            </a:extLst>
          </p:cNvPr>
          <p:cNvSpPr/>
          <p:nvPr/>
        </p:nvSpPr>
        <p:spPr>
          <a:xfrm>
            <a:off x="307326" y="2484708"/>
            <a:ext cx="1947584" cy="369332"/>
          </a:xfrm>
          <a:prstGeom prst="rect">
            <a:avLst/>
          </a:prstGeom>
        </p:spPr>
        <p:txBody>
          <a:bodyPr wrap="none">
            <a:spAutoFit/>
          </a:bodyPr>
          <a:lstStyle/>
          <a:p>
            <a:r>
              <a:rPr lang="en-US" dirty="0">
                <a:solidFill>
                  <a:srgbClr val="C00000"/>
                </a:solidFill>
                <a:latin typeface="LiberationSerif"/>
              </a:rPr>
              <a:t>Horizontal Motion </a:t>
            </a:r>
            <a:endParaRPr lang="en-US" dirty="0">
              <a:solidFill>
                <a:srgbClr val="C00000"/>
              </a:solidFill>
            </a:endParaRPr>
          </a:p>
        </p:txBody>
      </p:sp>
      <p:sp>
        <p:nvSpPr>
          <p:cNvPr id="13" name="Rectangle 12">
            <a:extLst>
              <a:ext uri="{FF2B5EF4-FFF2-40B4-BE49-F238E27FC236}">
                <a16:creationId xmlns:a16="http://schemas.microsoft.com/office/drawing/2014/main" id="{FB8FCCE8-E375-1743-996C-361650A827C7}"/>
              </a:ext>
            </a:extLst>
          </p:cNvPr>
          <p:cNvSpPr/>
          <p:nvPr/>
        </p:nvSpPr>
        <p:spPr>
          <a:xfrm>
            <a:off x="307326" y="3353058"/>
            <a:ext cx="1687706" cy="369332"/>
          </a:xfrm>
          <a:prstGeom prst="rect">
            <a:avLst/>
          </a:prstGeom>
        </p:spPr>
        <p:txBody>
          <a:bodyPr wrap="none">
            <a:spAutoFit/>
          </a:bodyPr>
          <a:lstStyle/>
          <a:p>
            <a:r>
              <a:rPr lang="en-US" dirty="0">
                <a:solidFill>
                  <a:srgbClr val="C00000"/>
                </a:solidFill>
                <a:latin typeface="LiberationSerif"/>
              </a:rPr>
              <a:t>Vertical Motion </a:t>
            </a:r>
            <a:endParaRPr lang="en-US" dirty="0">
              <a:solidFill>
                <a:srgbClr val="C00000"/>
              </a:solidFill>
            </a:endParaRPr>
          </a:p>
        </p:txBody>
      </p:sp>
      <p:pic>
        <p:nvPicPr>
          <p:cNvPr id="15" name="Picture 14" descr="Text&#10;&#10;Description automatically generated">
            <a:extLst>
              <a:ext uri="{FF2B5EF4-FFF2-40B4-BE49-F238E27FC236}">
                <a16:creationId xmlns:a16="http://schemas.microsoft.com/office/drawing/2014/main" id="{123DF085-F220-1042-83E5-46C88440EB0B}"/>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03822" y="2840443"/>
            <a:ext cx="2557463" cy="457200"/>
          </a:xfrm>
          <a:prstGeom prst="rect">
            <a:avLst/>
          </a:prstGeom>
        </p:spPr>
      </p:pic>
      <p:pic>
        <p:nvPicPr>
          <p:cNvPr id="17" name="Picture 16" descr="Text&#10;&#10;Description automatically generated">
            <a:extLst>
              <a:ext uri="{FF2B5EF4-FFF2-40B4-BE49-F238E27FC236}">
                <a16:creationId xmlns:a16="http://schemas.microsoft.com/office/drawing/2014/main" id="{7EB65271-0C65-1446-9DEB-1531BF3F15D9}"/>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03822" y="3752800"/>
            <a:ext cx="2597727" cy="2286000"/>
          </a:xfrm>
          <a:prstGeom prst="rect">
            <a:avLst/>
          </a:prstGeom>
        </p:spPr>
      </p:pic>
      <p:sp>
        <p:nvSpPr>
          <p:cNvPr id="18" name="Rectangle 17">
            <a:extLst>
              <a:ext uri="{FF2B5EF4-FFF2-40B4-BE49-F238E27FC236}">
                <a16:creationId xmlns:a16="http://schemas.microsoft.com/office/drawing/2014/main" id="{946D75A6-40D4-2841-867C-DC6907B13AD0}"/>
              </a:ext>
            </a:extLst>
          </p:cNvPr>
          <p:cNvSpPr/>
          <p:nvPr/>
        </p:nvSpPr>
        <p:spPr>
          <a:xfrm>
            <a:off x="606281" y="6038800"/>
            <a:ext cx="3375190" cy="646331"/>
          </a:xfrm>
          <a:prstGeom prst="rect">
            <a:avLst/>
          </a:prstGeom>
        </p:spPr>
        <p:txBody>
          <a:bodyPr wrap="square">
            <a:spAutoFit/>
          </a:bodyPr>
          <a:lstStyle/>
          <a:p>
            <a:r>
              <a:rPr lang="en-US" dirty="0">
                <a:solidFill>
                  <a:srgbClr val="C00000"/>
                </a:solidFill>
                <a:latin typeface="LiberationSerif"/>
              </a:rPr>
              <a:t>The only common variable between the motions is time </a:t>
            </a:r>
            <a:r>
              <a:rPr lang="en-US" i="1" dirty="0">
                <a:solidFill>
                  <a:srgbClr val="C00000"/>
                </a:solidFill>
                <a:latin typeface="LiberationSerif"/>
              </a:rPr>
              <a:t>t </a:t>
            </a:r>
            <a:endParaRPr lang="en-US" dirty="0">
              <a:solidFill>
                <a:srgbClr val="C00000"/>
              </a:solidFill>
              <a:latin typeface="LiberationSans"/>
            </a:endParaRPr>
          </a:p>
        </p:txBody>
      </p:sp>
      <p:sp>
        <p:nvSpPr>
          <p:cNvPr id="2" name="Rectangle 1">
            <a:extLst>
              <a:ext uri="{FF2B5EF4-FFF2-40B4-BE49-F238E27FC236}">
                <a16:creationId xmlns:a16="http://schemas.microsoft.com/office/drawing/2014/main" id="{3B135872-5F2F-3E4A-9E35-AA39E7A06E77}"/>
              </a:ext>
            </a:extLst>
          </p:cNvPr>
          <p:cNvSpPr/>
          <p:nvPr/>
        </p:nvSpPr>
        <p:spPr>
          <a:xfrm>
            <a:off x="4423847" y="1409120"/>
            <a:ext cx="7651873" cy="1477328"/>
          </a:xfrm>
          <a:prstGeom prst="rect">
            <a:avLst/>
          </a:prstGeom>
        </p:spPr>
        <p:txBody>
          <a:bodyPr wrap="square">
            <a:spAutoFit/>
          </a:bodyPr>
          <a:lstStyle/>
          <a:p>
            <a:r>
              <a:rPr lang="en-US" dirty="0">
                <a:solidFill>
                  <a:srgbClr val="000066"/>
                </a:solidFill>
                <a:latin typeface="LiberationSerif"/>
              </a:rPr>
              <a:t>A tennis player wins a match at Arthur Ashe stadium and hits a ball into the stands at 30.0 m/s and at an angle </a:t>
            </a:r>
            <a:r>
              <a:rPr lang="en-US" dirty="0">
                <a:solidFill>
                  <a:srgbClr val="000066"/>
                </a:solidFill>
                <a:latin typeface="STIXGeneral" pitchFamily="2" charset="2"/>
              </a:rPr>
              <a:t>45.0° </a:t>
            </a:r>
            <a:r>
              <a:rPr lang="en-US" dirty="0">
                <a:solidFill>
                  <a:srgbClr val="000066"/>
                </a:solidFill>
                <a:latin typeface="LiberationSerif"/>
              </a:rPr>
              <a:t>above the horizontal. On its way down, the ball is caught by a spectator 10.0 m above the point where the ball was hit. (a) Calculate the time it takes the tennis ball to reach the spectator. (b) What are the magnitude and direction of the ball’s velocity at impact? </a:t>
            </a:r>
            <a:endParaRPr lang="en-US" dirty="0">
              <a:solidFill>
                <a:srgbClr val="000066"/>
              </a:solidFill>
            </a:endParaRPr>
          </a:p>
        </p:txBody>
      </p:sp>
      <p:pic>
        <p:nvPicPr>
          <p:cNvPr id="9" name="Picture 8" descr="Chart, arrow&#10;&#10;Description automatically generated">
            <a:extLst>
              <a:ext uri="{FF2B5EF4-FFF2-40B4-BE49-F238E27FC236}">
                <a16:creationId xmlns:a16="http://schemas.microsoft.com/office/drawing/2014/main" id="{115A5A04-EB30-9C49-91F3-BC6C9110980C}"/>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3657781" y="2928674"/>
            <a:ext cx="8417939" cy="3657600"/>
          </a:xfrm>
          <a:prstGeom prst="rect">
            <a:avLst/>
          </a:prstGeom>
        </p:spPr>
      </p:pic>
      <p:sp>
        <p:nvSpPr>
          <p:cNvPr id="19" name="Rectangle 18">
            <a:extLst>
              <a:ext uri="{FF2B5EF4-FFF2-40B4-BE49-F238E27FC236}">
                <a16:creationId xmlns:a16="http://schemas.microsoft.com/office/drawing/2014/main" id="{F04D9A18-B544-F447-98FE-1045796F29B7}"/>
              </a:ext>
            </a:extLst>
          </p:cNvPr>
          <p:cNvSpPr/>
          <p:nvPr/>
        </p:nvSpPr>
        <p:spPr>
          <a:xfrm>
            <a:off x="4427726" y="1078734"/>
            <a:ext cx="1152623" cy="430887"/>
          </a:xfrm>
          <a:prstGeom prst="rect">
            <a:avLst/>
          </a:prstGeom>
        </p:spPr>
        <p:txBody>
          <a:bodyPr wrap="none">
            <a:spAutoFit/>
          </a:bodyPr>
          <a:lstStyle/>
          <a:p>
            <a:r>
              <a:rPr lang="en-US" sz="2200" dirty="0">
                <a:solidFill>
                  <a:srgbClr val="008000"/>
                </a:solidFill>
              </a:rPr>
              <a:t>Example</a:t>
            </a:r>
            <a:endParaRPr lang="en-US" sz="2200" dirty="0"/>
          </a:p>
        </p:txBody>
      </p:sp>
    </p:spTree>
    <p:extLst>
      <p:ext uri="{BB962C8B-B14F-4D97-AF65-F5344CB8AC3E}">
        <p14:creationId xmlns:p14="http://schemas.microsoft.com/office/powerpoint/2010/main" val="2632266143"/>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2" descr="L:\Clients\Connexions\01_CNX_ Admin\00_OSC_Project_Resources\14_OSC_Production\PowerPoints\OSX-Stacked-TM-CMYK-300dp1-2016.jpg">
            <a:extLst>
              <a:ext uri="{FF2B5EF4-FFF2-40B4-BE49-F238E27FC236}">
                <a16:creationId xmlns:a16="http://schemas.microsoft.com/office/drawing/2014/main" id="{B8FFED19-C635-4D44-83B4-B18507ECDDF8}"/>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11074549" y="89044"/>
            <a:ext cx="1049775" cy="713232"/>
          </a:xfrm>
          <a:prstGeom prst="rect">
            <a:avLst/>
          </a:prstGeom>
          <a:noFill/>
          <a:extLst>
            <a:ext uri="{909E8E84-426E-40dd-AFC4-6F175D3DCCD1}">
              <a14:hiddenFill xmlns:a14="http://schemas.microsoft.com/office/drawing/2010/main" xmlns="">
                <a:solidFill>
                  <a:srgbClr val="FFFFFF"/>
                </a:solidFill>
              </a14:hiddenFill>
            </a:ext>
          </a:extLst>
        </p:spPr>
      </p:pic>
      <p:sp>
        <p:nvSpPr>
          <p:cNvPr id="10" name="Rectangle 9">
            <a:extLst>
              <a:ext uri="{FF2B5EF4-FFF2-40B4-BE49-F238E27FC236}">
                <a16:creationId xmlns:a16="http://schemas.microsoft.com/office/drawing/2014/main" id="{EF14CD54-D60A-1E45-8292-95068A5F3960}"/>
              </a:ext>
            </a:extLst>
          </p:cNvPr>
          <p:cNvSpPr/>
          <p:nvPr/>
        </p:nvSpPr>
        <p:spPr>
          <a:xfrm>
            <a:off x="2799217" y="89044"/>
            <a:ext cx="6593565" cy="523220"/>
          </a:xfrm>
          <a:prstGeom prst="rect">
            <a:avLst/>
          </a:prstGeom>
        </p:spPr>
        <p:txBody>
          <a:bodyPr wrap="square">
            <a:spAutoFit/>
          </a:bodyPr>
          <a:lstStyle/>
          <a:p>
            <a:r>
              <a:rPr lang="en-US" sz="2800" dirty="0">
                <a:solidFill>
                  <a:srgbClr val="C00000"/>
                </a:solidFill>
                <a:latin typeface="NewBaskervilleStd-Roman"/>
              </a:rPr>
              <a:t>Time of Flight, Trajectory, and Range </a:t>
            </a:r>
          </a:p>
        </p:txBody>
      </p:sp>
      <p:sp>
        <p:nvSpPr>
          <p:cNvPr id="2" name="Rectangle 1">
            <a:extLst>
              <a:ext uri="{FF2B5EF4-FFF2-40B4-BE49-F238E27FC236}">
                <a16:creationId xmlns:a16="http://schemas.microsoft.com/office/drawing/2014/main" id="{29E5A02F-01D8-C343-B526-3D02F0203F96}"/>
              </a:ext>
            </a:extLst>
          </p:cNvPr>
          <p:cNvSpPr/>
          <p:nvPr/>
        </p:nvSpPr>
        <p:spPr>
          <a:xfrm>
            <a:off x="334224" y="690145"/>
            <a:ext cx="10740325" cy="769441"/>
          </a:xfrm>
          <a:prstGeom prst="rect">
            <a:avLst/>
          </a:prstGeom>
        </p:spPr>
        <p:txBody>
          <a:bodyPr wrap="square">
            <a:spAutoFit/>
          </a:bodyPr>
          <a:lstStyle/>
          <a:p>
            <a:r>
              <a:rPr lang="en-US" sz="2200" dirty="0">
                <a:solidFill>
                  <a:srgbClr val="000066"/>
                </a:solidFill>
                <a:latin typeface="LiberationSerif"/>
              </a:rPr>
              <a:t>The </a:t>
            </a:r>
            <a:r>
              <a:rPr lang="en-US" sz="2200" dirty="0">
                <a:solidFill>
                  <a:srgbClr val="C00000"/>
                </a:solidFill>
                <a:latin typeface="LiberationSerif"/>
              </a:rPr>
              <a:t>time of flight </a:t>
            </a:r>
            <a:r>
              <a:rPr lang="en-US" sz="2200" dirty="0">
                <a:solidFill>
                  <a:srgbClr val="000066"/>
                </a:solidFill>
                <a:latin typeface="LiberationSerif"/>
              </a:rPr>
              <a:t>of a projectile that is </a:t>
            </a:r>
            <a:r>
              <a:rPr lang="en-US" sz="2200" dirty="0">
                <a:solidFill>
                  <a:srgbClr val="C00000"/>
                </a:solidFill>
                <a:latin typeface="LiberationSerif"/>
              </a:rPr>
              <a:t>both launched and impacts </a:t>
            </a:r>
            <a:r>
              <a:rPr lang="en-US" sz="2200" dirty="0">
                <a:solidFill>
                  <a:srgbClr val="000066"/>
                </a:solidFill>
                <a:latin typeface="LiberationSerif"/>
              </a:rPr>
              <a:t>on a flat horizontal surface: </a:t>
            </a:r>
            <a:endParaRPr lang="en-US" sz="2200" dirty="0">
              <a:solidFill>
                <a:srgbClr val="000066"/>
              </a:solidFill>
            </a:endParaRPr>
          </a:p>
        </p:txBody>
      </p:sp>
      <p:pic>
        <p:nvPicPr>
          <p:cNvPr id="4" name="Picture 3" descr="Chart&#10;&#10;Description automatically generated">
            <a:extLst>
              <a:ext uri="{FF2B5EF4-FFF2-40B4-BE49-F238E27FC236}">
                <a16:creationId xmlns:a16="http://schemas.microsoft.com/office/drawing/2014/main" id="{681E4108-6DD1-EA42-A063-ADDAE841666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849497" y="1146287"/>
            <a:ext cx="3293076" cy="1828800"/>
          </a:xfrm>
          <a:prstGeom prst="rect">
            <a:avLst/>
          </a:prstGeom>
        </p:spPr>
      </p:pic>
      <p:pic>
        <p:nvPicPr>
          <p:cNvPr id="7" name="Picture 6" descr="Text&#10;&#10;Description automatically generated with low confidence">
            <a:extLst>
              <a:ext uri="{FF2B5EF4-FFF2-40B4-BE49-F238E27FC236}">
                <a16:creationId xmlns:a16="http://schemas.microsoft.com/office/drawing/2014/main" id="{5A15C077-CFB4-614A-B75F-A05E6D476DA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384981" y="1537467"/>
            <a:ext cx="1854200" cy="762000"/>
          </a:xfrm>
          <a:prstGeom prst="rect">
            <a:avLst/>
          </a:prstGeom>
        </p:spPr>
      </p:pic>
      <p:sp>
        <p:nvSpPr>
          <p:cNvPr id="8" name="Rectangle 7">
            <a:extLst>
              <a:ext uri="{FF2B5EF4-FFF2-40B4-BE49-F238E27FC236}">
                <a16:creationId xmlns:a16="http://schemas.microsoft.com/office/drawing/2014/main" id="{FC88D734-2ED9-B44B-A5B8-FEFB7779E507}"/>
              </a:ext>
            </a:extLst>
          </p:cNvPr>
          <p:cNvSpPr/>
          <p:nvPr/>
        </p:nvSpPr>
        <p:spPr>
          <a:xfrm>
            <a:off x="336980" y="3072342"/>
            <a:ext cx="11038775" cy="1107996"/>
          </a:xfrm>
          <a:prstGeom prst="rect">
            <a:avLst/>
          </a:prstGeom>
        </p:spPr>
        <p:txBody>
          <a:bodyPr wrap="square">
            <a:spAutoFit/>
          </a:bodyPr>
          <a:lstStyle/>
          <a:p>
            <a:r>
              <a:rPr lang="en-US" sz="2200" dirty="0">
                <a:latin typeface="LiberationSerif"/>
              </a:rPr>
              <a:t>The </a:t>
            </a:r>
            <a:r>
              <a:rPr lang="en-US" sz="2200" dirty="0">
                <a:solidFill>
                  <a:srgbClr val="C00000"/>
                </a:solidFill>
                <a:latin typeface="LiberationSerif"/>
              </a:rPr>
              <a:t>trajectory </a:t>
            </a:r>
            <a:r>
              <a:rPr lang="en-US" sz="2200" dirty="0">
                <a:latin typeface="LiberationSerif"/>
              </a:rPr>
              <a:t>of a projectile can be found by eliminating the time variable </a:t>
            </a:r>
            <a:r>
              <a:rPr lang="en-US" sz="2200" i="1" dirty="0">
                <a:latin typeface="LiberationSerif"/>
              </a:rPr>
              <a:t>t </a:t>
            </a:r>
            <a:r>
              <a:rPr lang="en-US" sz="2200" dirty="0">
                <a:latin typeface="LiberationSerif"/>
              </a:rPr>
              <a:t>from the kinematic equations:									</a:t>
            </a:r>
          </a:p>
          <a:p>
            <a:r>
              <a:rPr lang="en-US" sz="2200" dirty="0">
                <a:latin typeface="LiberationSerif"/>
              </a:rPr>
              <a:t> </a:t>
            </a:r>
            <a:endParaRPr lang="en-US" sz="2200" dirty="0"/>
          </a:p>
        </p:txBody>
      </p:sp>
      <p:pic>
        <p:nvPicPr>
          <p:cNvPr id="11" name="Picture 10" descr="Diagram&#10;&#10;Description automatically generated">
            <a:extLst>
              <a:ext uri="{FF2B5EF4-FFF2-40B4-BE49-F238E27FC236}">
                <a16:creationId xmlns:a16="http://schemas.microsoft.com/office/drawing/2014/main" id="{37C4B104-B878-9E4B-B413-B32FC58BAC6D}"/>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765731" y="3526288"/>
            <a:ext cx="3238500" cy="825500"/>
          </a:xfrm>
          <a:prstGeom prst="rect">
            <a:avLst/>
          </a:prstGeom>
        </p:spPr>
      </p:pic>
      <p:sp>
        <p:nvSpPr>
          <p:cNvPr id="12" name="Rectangle 11">
            <a:extLst>
              <a:ext uri="{FF2B5EF4-FFF2-40B4-BE49-F238E27FC236}">
                <a16:creationId xmlns:a16="http://schemas.microsoft.com/office/drawing/2014/main" id="{CAD4015C-954A-4840-AC2C-D3EE284EF8FB}"/>
              </a:ext>
            </a:extLst>
          </p:cNvPr>
          <p:cNvSpPr/>
          <p:nvPr/>
        </p:nvSpPr>
        <p:spPr>
          <a:xfrm>
            <a:off x="5156826" y="3626340"/>
            <a:ext cx="4694538" cy="646331"/>
          </a:xfrm>
          <a:prstGeom prst="rect">
            <a:avLst/>
          </a:prstGeom>
        </p:spPr>
        <p:txBody>
          <a:bodyPr wrap="square">
            <a:spAutoFit/>
          </a:bodyPr>
          <a:lstStyle/>
          <a:p>
            <a:r>
              <a:rPr lang="en-US" dirty="0">
                <a:solidFill>
                  <a:srgbClr val="000066"/>
                </a:solidFill>
              </a:rPr>
              <a:t>This is of the </a:t>
            </a:r>
            <a:r>
              <a:rPr lang="en-US" dirty="0"/>
              <a:t>form </a:t>
            </a:r>
            <a:r>
              <a:rPr lang="en-US" i="1" dirty="0"/>
              <a:t>y </a:t>
            </a:r>
            <a:r>
              <a:rPr lang="en-US" dirty="0"/>
              <a:t>= </a:t>
            </a:r>
            <a:r>
              <a:rPr lang="en-US" i="1" dirty="0"/>
              <a:t>ax </a:t>
            </a:r>
            <a:r>
              <a:rPr lang="en-US" dirty="0"/>
              <a:t>+ </a:t>
            </a:r>
            <a:r>
              <a:rPr lang="en-US" i="1" dirty="0"/>
              <a:t>bx</a:t>
            </a:r>
            <a:r>
              <a:rPr lang="en-US" baseline="30000" dirty="0"/>
              <a:t>2</a:t>
            </a:r>
            <a:r>
              <a:rPr lang="en-US" dirty="0">
                <a:solidFill>
                  <a:srgbClr val="000066"/>
                </a:solidFill>
              </a:rPr>
              <a:t>, which is an equation of a parabola with coefficients </a:t>
            </a:r>
            <a:endParaRPr lang="en-US" sz="2400" dirty="0">
              <a:solidFill>
                <a:srgbClr val="000066"/>
              </a:solidFill>
            </a:endParaRPr>
          </a:p>
        </p:txBody>
      </p:sp>
      <p:pic>
        <p:nvPicPr>
          <p:cNvPr id="14" name="Picture 13" descr="A picture containing text&#10;&#10;Description automatically generated">
            <a:extLst>
              <a:ext uri="{FF2B5EF4-FFF2-40B4-BE49-F238E27FC236}">
                <a16:creationId xmlns:a16="http://schemas.microsoft.com/office/drawing/2014/main" id="{F57C44B4-D34B-9247-A9E1-73D80CAF94CF}"/>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9371726" y="3644383"/>
            <a:ext cx="1155700" cy="457200"/>
          </a:xfrm>
          <a:prstGeom prst="rect">
            <a:avLst/>
          </a:prstGeom>
        </p:spPr>
      </p:pic>
      <p:pic>
        <p:nvPicPr>
          <p:cNvPr id="16" name="Picture 15" descr="Shape&#10;&#10;Description automatically generated">
            <a:extLst>
              <a:ext uri="{FF2B5EF4-FFF2-40B4-BE49-F238E27FC236}">
                <a16:creationId xmlns:a16="http://schemas.microsoft.com/office/drawing/2014/main" id="{69C6AC11-853F-544F-867A-40A1F2CD4BEA}"/>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9371726" y="4029710"/>
            <a:ext cx="1968500" cy="622300"/>
          </a:xfrm>
          <a:prstGeom prst="rect">
            <a:avLst/>
          </a:prstGeom>
        </p:spPr>
      </p:pic>
      <p:sp>
        <p:nvSpPr>
          <p:cNvPr id="17" name="Rectangle 16">
            <a:extLst>
              <a:ext uri="{FF2B5EF4-FFF2-40B4-BE49-F238E27FC236}">
                <a16:creationId xmlns:a16="http://schemas.microsoft.com/office/drawing/2014/main" id="{CCD4EDB6-DC85-DB4E-B0EC-59A2FE36C547}"/>
              </a:ext>
            </a:extLst>
          </p:cNvPr>
          <p:cNvSpPr/>
          <p:nvPr/>
        </p:nvSpPr>
        <p:spPr>
          <a:xfrm>
            <a:off x="334224" y="4911332"/>
            <a:ext cx="7439344" cy="1107996"/>
          </a:xfrm>
          <a:prstGeom prst="rect">
            <a:avLst/>
          </a:prstGeom>
        </p:spPr>
        <p:txBody>
          <a:bodyPr wrap="none">
            <a:spAutoFit/>
          </a:bodyPr>
          <a:lstStyle/>
          <a:p>
            <a:r>
              <a:rPr lang="en-US" sz="2200" dirty="0">
                <a:solidFill>
                  <a:srgbClr val="000066"/>
                </a:solidFill>
                <a:latin typeface="LiberationSerif"/>
              </a:rPr>
              <a:t>From the trajectory equation we can also find the </a:t>
            </a:r>
            <a:r>
              <a:rPr lang="en-US" sz="2200" b="1" dirty="0">
                <a:solidFill>
                  <a:srgbClr val="C00000"/>
                </a:solidFill>
                <a:latin typeface="LiberationSerif"/>
              </a:rPr>
              <a:t>range:</a:t>
            </a:r>
          </a:p>
          <a:p>
            <a:endParaRPr lang="en-US" sz="2200" dirty="0">
              <a:solidFill>
                <a:srgbClr val="000066"/>
              </a:solidFill>
              <a:latin typeface="LiberationSerif"/>
            </a:endParaRPr>
          </a:p>
          <a:p>
            <a:r>
              <a:rPr lang="en-US" sz="2200" dirty="0">
                <a:solidFill>
                  <a:srgbClr val="000066"/>
                </a:solidFill>
                <a:latin typeface="LiberationSerif"/>
              </a:rPr>
              <a:t>The range is the horizontal distance from launch to impact site.</a:t>
            </a:r>
            <a:r>
              <a:rPr lang="en-US" sz="2200" b="1" dirty="0">
                <a:solidFill>
                  <a:srgbClr val="C00000"/>
                </a:solidFill>
                <a:latin typeface="LiberationSerif"/>
              </a:rPr>
              <a:t> </a:t>
            </a:r>
            <a:endParaRPr lang="en-US" sz="2200" dirty="0">
              <a:solidFill>
                <a:srgbClr val="C00000"/>
              </a:solidFill>
            </a:endParaRPr>
          </a:p>
        </p:txBody>
      </p:sp>
      <p:pic>
        <p:nvPicPr>
          <p:cNvPr id="19" name="Picture 18" descr="Text&#10;&#10;Description automatically generated with low confidence">
            <a:extLst>
              <a:ext uri="{FF2B5EF4-FFF2-40B4-BE49-F238E27FC236}">
                <a16:creationId xmlns:a16="http://schemas.microsoft.com/office/drawing/2014/main" id="{460BD4F4-2251-B346-8E40-FEC6E0DFB46C}"/>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6852692" y="4749834"/>
            <a:ext cx="1673352" cy="685800"/>
          </a:xfrm>
          <a:prstGeom prst="rect">
            <a:avLst/>
          </a:prstGeom>
        </p:spPr>
      </p:pic>
    </p:spTree>
    <p:extLst>
      <p:ext uri="{BB962C8B-B14F-4D97-AF65-F5344CB8AC3E}">
        <p14:creationId xmlns:p14="http://schemas.microsoft.com/office/powerpoint/2010/main" val="3476767284"/>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2" descr="L:\Clients\Connexions\01_CNX_ Admin\00_OSC_Project_Resources\14_OSC_Production\PowerPoints\OSX-Stacked-TM-CMYK-300dp1-2016.jpg">
            <a:extLst>
              <a:ext uri="{FF2B5EF4-FFF2-40B4-BE49-F238E27FC236}">
                <a16:creationId xmlns:a16="http://schemas.microsoft.com/office/drawing/2014/main" id="{B8FFED19-C635-4D44-83B4-B18507ECDDF8}"/>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11074549" y="89044"/>
            <a:ext cx="1049775" cy="713232"/>
          </a:xfrm>
          <a:prstGeom prst="rect">
            <a:avLst/>
          </a:prstGeom>
          <a:noFill/>
          <a:extLst>
            <a:ext uri="{909E8E84-426E-40dd-AFC4-6F175D3DCCD1}">
              <a14:hiddenFill xmlns:a14="http://schemas.microsoft.com/office/drawing/2010/main" xmlns="">
                <a:solidFill>
                  <a:srgbClr val="FFFFFF"/>
                </a:solidFill>
              </a14:hiddenFill>
            </a:ext>
          </a:extLst>
        </p:spPr>
      </p:pic>
      <p:sp>
        <p:nvSpPr>
          <p:cNvPr id="10" name="Rectangle 9">
            <a:extLst>
              <a:ext uri="{FF2B5EF4-FFF2-40B4-BE49-F238E27FC236}">
                <a16:creationId xmlns:a16="http://schemas.microsoft.com/office/drawing/2014/main" id="{EF14CD54-D60A-1E45-8292-95068A5F3960}"/>
              </a:ext>
            </a:extLst>
          </p:cNvPr>
          <p:cNvSpPr/>
          <p:nvPr/>
        </p:nvSpPr>
        <p:spPr>
          <a:xfrm>
            <a:off x="2799217" y="89044"/>
            <a:ext cx="6593565" cy="523220"/>
          </a:xfrm>
          <a:prstGeom prst="rect">
            <a:avLst/>
          </a:prstGeom>
        </p:spPr>
        <p:txBody>
          <a:bodyPr wrap="square">
            <a:spAutoFit/>
          </a:bodyPr>
          <a:lstStyle/>
          <a:p>
            <a:r>
              <a:rPr lang="en-US" sz="2800" dirty="0">
                <a:solidFill>
                  <a:srgbClr val="C00000"/>
                </a:solidFill>
                <a:latin typeface="NewBaskervilleStd-Roman"/>
              </a:rPr>
              <a:t>Time of Flight, Trajectory, and Range </a:t>
            </a:r>
          </a:p>
        </p:txBody>
      </p:sp>
      <p:pic>
        <p:nvPicPr>
          <p:cNvPr id="19" name="Picture 18" descr="Text&#10;&#10;Description automatically generated with low confidence">
            <a:extLst>
              <a:ext uri="{FF2B5EF4-FFF2-40B4-BE49-F238E27FC236}">
                <a16:creationId xmlns:a16="http://schemas.microsoft.com/office/drawing/2014/main" id="{460BD4F4-2251-B346-8E40-FEC6E0DFB46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008394" y="795547"/>
            <a:ext cx="1673352" cy="685800"/>
          </a:xfrm>
          <a:prstGeom prst="rect">
            <a:avLst/>
          </a:prstGeom>
        </p:spPr>
      </p:pic>
      <p:pic>
        <p:nvPicPr>
          <p:cNvPr id="6" name="Picture 5" descr="Diagram&#10;&#10;Description automatically generated">
            <a:extLst>
              <a:ext uri="{FF2B5EF4-FFF2-40B4-BE49-F238E27FC236}">
                <a16:creationId xmlns:a16="http://schemas.microsoft.com/office/drawing/2014/main" id="{083EA286-FA80-B84B-A9BC-296DDE978A6D}"/>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66698" y="1625491"/>
            <a:ext cx="5138994" cy="3200400"/>
          </a:xfrm>
          <a:prstGeom prst="rect">
            <a:avLst/>
          </a:prstGeom>
        </p:spPr>
      </p:pic>
      <p:pic>
        <p:nvPicPr>
          <p:cNvPr id="13" name="Picture 12" descr="Diagram&#10;&#10;Description automatically generated">
            <a:extLst>
              <a:ext uri="{FF2B5EF4-FFF2-40B4-BE49-F238E27FC236}">
                <a16:creationId xmlns:a16="http://schemas.microsoft.com/office/drawing/2014/main" id="{F6B79D8C-2CC2-334A-BAFE-44013AF8BFF1}"/>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705692" y="1630936"/>
            <a:ext cx="6030506" cy="3200400"/>
          </a:xfrm>
          <a:prstGeom prst="rect">
            <a:avLst/>
          </a:prstGeom>
        </p:spPr>
      </p:pic>
      <mc:AlternateContent xmlns:mc="http://schemas.openxmlformats.org/markup-compatibility/2006" xmlns:a14="http://schemas.microsoft.com/office/drawing/2010/main">
        <mc:Choice Requires="a14">
          <p:sp>
            <p:nvSpPr>
              <p:cNvPr id="18" name="Text Placeholder 13">
                <a:extLst>
                  <a:ext uri="{FF2B5EF4-FFF2-40B4-BE49-F238E27FC236}">
                    <a16:creationId xmlns:a16="http://schemas.microsoft.com/office/drawing/2014/main" id="{3CE58831-2D36-C744-8FC5-4090EE3F03B4}"/>
                  </a:ext>
                </a:extLst>
              </p:cNvPr>
              <p:cNvSpPr txBox="1">
                <a:spLocks/>
              </p:cNvSpPr>
              <p:nvPr/>
            </p:nvSpPr>
            <p:spPr>
              <a:xfrm>
                <a:off x="566698" y="4914275"/>
                <a:ext cx="11400576" cy="1657006"/>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2000" dirty="0">
                    <a:solidFill>
                      <a:srgbClr val="000066"/>
                    </a:solidFill>
                  </a:rPr>
                  <a:t>Trajectories of projectiles on level ground.</a:t>
                </a:r>
              </a:p>
              <a:p>
                <a:pPr marL="342900" indent="-342900">
                  <a:buFont typeface="Arial" panose="020B0604020202020204" pitchFamily="34" charset="0"/>
                  <a:buAutoNum type="alphaLcParenBoth"/>
                </a:pPr>
                <a:r>
                  <a:rPr lang="en-US" sz="2000" dirty="0">
                    <a:solidFill>
                      <a:srgbClr val="000066"/>
                    </a:solidFill>
                  </a:rPr>
                  <a:t>The greater the initial speed </a:t>
                </a:r>
                <a:r>
                  <a:rPr lang="en-US" sz="2000" i="1" dirty="0">
                    <a:solidFill>
                      <a:srgbClr val="000066"/>
                    </a:solidFill>
                  </a:rPr>
                  <a:t>v</a:t>
                </a:r>
                <a:r>
                  <a:rPr lang="en-US" sz="2000" baseline="-25000" dirty="0">
                    <a:solidFill>
                      <a:srgbClr val="000066"/>
                    </a:solidFill>
                  </a:rPr>
                  <a:t>0</a:t>
                </a:r>
                <a:r>
                  <a:rPr lang="en-US" sz="2000" b="1" dirty="0">
                    <a:solidFill>
                      <a:srgbClr val="000066"/>
                    </a:solidFill>
                  </a:rPr>
                  <a:t>, </a:t>
                </a:r>
                <a:r>
                  <a:rPr lang="en-US" sz="2000" dirty="0">
                    <a:solidFill>
                      <a:srgbClr val="000066"/>
                    </a:solidFill>
                  </a:rPr>
                  <a:t>the greater the range for a given initial angle.</a:t>
                </a:r>
              </a:p>
              <a:p>
                <a:pPr marL="342900" indent="-342900">
                  <a:buFont typeface="Arial" panose="020B0604020202020204" pitchFamily="34" charset="0"/>
                  <a:buAutoNum type="alphaLcParenBoth"/>
                </a:pPr>
                <a:r>
                  <a:rPr lang="en-US" sz="2000" dirty="0">
                    <a:solidFill>
                      <a:srgbClr val="000066"/>
                    </a:solidFill>
                  </a:rPr>
                  <a:t>The effect of initial angle </a:t>
                </a:r>
                <a14:m>
                  <m:oMath xmlns:m="http://schemas.openxmlformats.org/officeDocument/2006/math">
                    <m:r>
                      <a:rPr lang="en-US" sz="2000" i="1" dirty="0" smtClean="0">
                        <a:solidFill>
                          <a:srgbClr val="000066"/>
                        </a:solidFill>
                        <a:latin typeface="Cambria Math"/>
                      </a:rPr>
                      <m:t>𝜃</m:t>
                    </m:r>
                  </m:oMath>
                </a14:m>
                <a:r>
                  <a:rPr lang="en-US" sz="2000" baseline="-25000" dirty="0">
                    <a:solidFill>
                      <a:srgbClr val="000066"/>
                    </a:solidFill>
                  </a:rPr>
                  <a:t>0</a:t>
                </a:r>
                <a:r>
                  <a:rPr lang="en-US" sz="2000" b="1" dirty="0">
                    <a:solidFill>
                      <a:srgbClr val="000066"/>
                    </a:solidFill>
                  </a:rPr>
                  <a:t> </a:t>
                </a:r>
                <a:r>
                  <a:rPr lang="en-US" sz="2000" dirty="0">
                    <a:solidFill>
                      <a:srgbClr val="000066"/>
                    </a:solidFill>
                  </a:rPr>
                  <a:t>on the range of a projectile with a given initial speed. </a:t>
                </a:r>
                <a:r>
                  <a:rPr lang="en-US" sz="2000" dirty="0">
                    <a:solidFill>
                      <a:srgbClr val="C00000"/>
                    </a:solidFill>
                  </a:rPr>
                  <a:t>Note that the range is the same for initial angles of 15°</a:t>
                </a:r>
                <a:r>
                  <a:rPr lang="en-US" sz="2000" b="1" dirty="0">
                    <a:solidFill>
                      <a:srgbClr val="C00000"/>
                    </a:solidFill>
                  </a:rPr>
                  <a:t> </a:t>
                </a:r>
                <a:r>
                  <a:rPr lang="en-US" sz="2000" dirty="0">
                    <a:solidFill>
                      <a:srgbClr val="C00000"/>
                    </a:solidFill>
                  </a:rPr>
                  <a:t>and 75°</a:t>
                </a:r>
                <a:r>
                  <a:rPr lang="en-US" sz="2000" b="1" dirty="0">
                    <a:solidFill>
                      <a:srgbClr val="C00000"/>
                    </a:solidFill>
                  </a:rPr>
                  <a:t>, </a:t>
                </a:r>
                <a:r>
                  <a:rPr lang="en-US" sz="2000" dirty="0">
                    <a:solidFill>
                      <a:srgbClr val="C00000"/>
                    </a:solidFill>
                  </a:rPr>
                  <a:t>although the maximum heights of those paths are different. The same happens for 30°</a:t>
                </a:r>
                <a:r>
                  <a:rPr lang="en-US" sz="2000" b="1" dirty="0">
                    <a:solidFill>
                      <a:srgbClr val="C00000"/>
                    </a:solidFill>
                  </a:rPr>
                  <a:t> </a:t>
                </a:r>
                <a:r>
                  <a:rPr lang="en-US" sz="2000" dirty="0">
                    <a:solidFill>
                      <a:srgbClr val="C00000"/>
                    </a:solidFill>
                  </a:rPr>
                  <a:t>and 60°</a:t>
                </a:r>
                <a:r>
                  <a:rPr lang="en-US" sz="2000" b="1" dirty="0">
                    <a:solidFill>
                      <a:srgbClr val="C00000"/>
                    </a:solidFill>
                  </a:rPr>
                  <a:t>, </a:t>
                </a:r>
                <a:r>
                  <a:rPr lang="en-US" sz="2000" dirty="0">
                    <a:solidFill>
                      <a:srgbClr val="C00000"/>
                    </a:solidFill>
                  </a:rPr>
                  <a:t>these are called complementary values of initial angle.</a:t>
                </a:r>
              </a:p>
            </p:txBody>
          </p:sp>
        </mc:Choice>
        <mc:Fallback xmlns="">
          <p:sp>
            <p:nvSpPr>
              <p:cNvPr id="18" name="Text Placeholder 13">
                <a:extLst>
                  <a:ext uri="{FF2B5EF4-FFF2-40B4-BE49-F238E27FC236}">
                    <a16:creationId xmlns:a16="http://schemas.microsoft.com/office/drawing/2014/main" id="{3CE58831-2D36-C744-8FC5-4090EE3F03B4}"/>
                  </a:ext>
                </a:extLst>
              </p:cNvPr>
              <p:cNvSpPr txBox="1">
                <a:spLocks noRot="1" noChangeAspect="1" noMove="1" noResize="1" noEditPoints="1" noAdjustHandles="1" noChangeArrowheads="1" noChangeShapeType="1" noTextEdit="1"/>
              </p:cNvSpPr>
              <p:nvPr/>
            </p:nvSpPr>
            <p:spPr>
              <a:xfrm>
                <a:off x="566698" y="4914275"/>
                <a:ext cx="11400576" cy="1657006"/>
              </a:xfrm>
              <a:prstGeom prst="rect">
                <a:avLst/>
              </a:prstGeom>
              <a:blipFill>
                <a:blip r:embed="rId6"/>
                <a:stretch>
                  <a:fillRect l="-556" t="-3788" b="-9848"/>
                </a:stretch>
              </a:blipFill>
            </p:spPr>
            <p:txBody>
              <a:bodyPr/>
              <a:lstStyle/>
              <a:p>
                <a:r>
                  <a:rPr lang="en-US">
                    <a:noFill/>
                  </a:rPr>
                  <a:t> </a:t>
                </a:r>
              </a:p>
            </p:txBody>
          </p:sp>
        </mc:Fallback>
      </mc:AlternateContent>
    </p:spTree>
    <p:extLst>
      <p:ext uri="{BB962C8B-B14F-4D97-AF65-F5344CB8AC3E}">
        <p14:creationId xmlns:p14="http://schemas.microsoft.com/office/powerpoint/2010/main" val="133381968"/>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2" descr="L:\Clients\Connexions\01_CNX_ Admin\00_OSC_Project_Resources\14_OSC_Production\PowerPoints\OSX-Stacked-TM-CMYK-300dp1-2016.jpg">
            <a:extLst>
              <a:ext uri="{FF2B5EF4-FFF2-40B4-BE49-F238E27FC236}">
                <a16:creationId xmlns:a16="http://schemas.microsoft.com/office/drawing/2014/main" id="{B8FFED19-C635-4D44-83B4-B18507ECDDF8}"/>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11074549" y="89044"/>
            <a:ext cx="1049775" cy="713232"/>
          </a:xfrm>
          <a:prstGeom prst="rect">
            <a:avLst/>
          </a:prstGeom>
          <a:noFill/>
          <a:extLst>
            <a:ext uri="{909E8E84-426E-40dd-AFC4-6F175D3DCCD1}">
              <a14:hiddenFill xmlns:a14="http://schemas.microsoft.com/office/drawing/2010/main" xmlns="">
                <a:solidFill>
                  <a:srgbClr val="FFFFFF"/>
                </a:solidFill>
              </a14:hiddenFill>
            </a:ext>
          </a:extLst>
        </p:spPr>
      </p:pic>
      <p:sp>
        <p:nvSpPr>
          <p:cNvPr id="2" name="Rectangle 1">
            <a:extLst>
              <a:ext uri="{FF2B5EF4-FFF2-40B4-BE49-F238E27FC236}">
                <a16:creationId xmlns:a16="http://schemas.microsoft.com/office/drawing/2014/main" id="{6062EB2E-6B32-C248-A420-2B146CEC3FB5}"/>
              </a:ext>
            </a:extLst>
          </p:cNvPr>
          <p:cNvSpPr/>
          <p:nvPr/>
        </p:nvSpPr>
        <p:spPr>
          <a:xfrm>
            <a:off x="2799217" y="3618361"/>
            <a:ext cx="8963187" cy="1107996"/>
          </a:xfrm>
          <a:prstGeom prst="rect">
            <a:avLst/>
          </a:prstGeom>
        </p:spPr>
        <p:txBody>
          <a:bodyPr wrap="square">
            <a:spAutoFit/>
          </a:bodyPr>
          <a:lstStyle/>
          <a:p>
            <a:r>
              <a:rPr lang="en-US" sz="2200" dirty="0">
                <a:solidFill>
                  <a:srgbClr val="000000"/>
                </a:solidFill>
                <a:latin typeface="Calibri" panose="020F0502020204030204" pitchFamily="34" charset="0"/>
                <a:ea typeface="Calibri" panose="020F0502020204030204" pitchFamily="34" charset="0"/>
                <a:cs typeface="Times New Roman" panose="02020603050405020304" pitchFamily="18" charset="0"/>
              </a:rPr>
              <a:t>An astronaut on a strange planet finds that she can jump a horizontal distance of 10 m if her initial speed is 2.5 m/s and the angle of take-off is 30</a:t>
            </a:r>
            <a:r>
              <a:rPr lang="en-US" sz="2200" dirty="0">
                <a:solidFill>
                  <a:srgbClr val="000000"/>
                </a:solidFill>
                <a:latin typeface="Calibri" panose="020F0502020204030204" pitchFamily="34" charset="0"/>
                <a:ea typeface="Calibri" panose="020F0502020204030204" pitchFamily="34" charset="0"/>
              </a:rPr>
              <a:t>⁰</a:t>
            </a:r>
            <a:r>
              <a:rPr lang="en-US" sz="2200" dirty="0">
                <a:solidFill>
                  <a:srgbClr val="000000"/>
                </a:solidFill>
                <a:latin typeface="Calibri" panose="020F0502020204030204" pitchFamily="34" charset="0"/>
                <a:ea typeface="Calibri" panose="020F0502020204030204" pitchFamily="34" charset="0"/>
                <a:cs typeface="Times New Roman" panose="02020603050405020304" pitchFamily="18" charset="0"/>
              </a:rPr>
              <a:t>. What is the free fall acceleration on that planet? </a:t>
            </a:r>
            <a:endParaRPr lang="en-US" sz="2200" dirty="0"/>
          </a:p>
        </p:txBody>
      </p:sp>
      <p:pic>
        <p:nvPicPr>
          <p:cNvPr id="6" name="Picture 5" descr="Text&#10;&#10;Description automatically generated with low confidence">
            <a:extLst>
              <a:ext uri="{FF2B5EF4-FFF2-40B4-BE49-F238E27FC236}">
                <a16:creationId xmlns:a16="http://schemas.microsoft.com/office/drawing/2014/main" id="{B1599528-1736-A749-A7FA-3CAF9BD7EA8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008394" y="795547"/>
            <a:ext cx="1673352" cy="685800"/>
          </a:xfrm>
          <a:prstGeom prst="rect">
            <a:avLst/>
          </a:prstGeom>
        </p:spPr>
      </p:pic>
      <p:sp>
        <p:nvSpPr>
          <p:cNvPr id="7" name="Rectangle 6">
            <a:extLst>
              <a:ext uri="{FF2B5EF4-FFF2-40B4-BE49-F238E27FC236}">
                <a16:creationId xmlns:a16="http://schemas.microsoft.com/office/drawing/2014/main" id="{99FCA857-BF4B-C747-883D-44752C56C37F}"/>
              </a:ext>
            </a:extLst>
          </p:cNvPr>
          <p:cNvSpPr/>
          <p:nvPr/>
        </p:nvSpPr>
        <p:spPr>
          <a:xfrm>
            <a:off x="2799217" y="89044"/>
            <a:ext cx="6593565" cy="523220"/>
          </a:xfrm>
          <a:prstGeom prst="rect">
            <a:avLst/>
          </a:prstGeom>
        </p:spPr>
        <p:txBody>
          <a:bodyPr wrap="square">
            <a:spAutoFit/>
          </a:bodyPr>
          <a:lstStyle/>
          <a:p>
            <a:r>
              <a:rPr lang="en-US" sz="2800" dirty="0">
                <a:solidFill>
                  <a:srgbClr val="C00000"/>
                </a:solidFill>
                <a:latin typeface="NewBaskervilleStd-Roman"/>
              </a:rPr>
              <a:t>Time of Flight, Trajectory, and Range </a:t>
            </a:r>
          </a:p>
        </p:txBody>
      </p:sp>
      <p:sp>
        <p:nvSpPr>
          <p:cNvPr id="8" name="Rectangle 7">
            <a:extLst>
              <a:ext uri="{FF2B5EF4-FFF2-40B4-BE49-F238E27FC236}">
                <a16:creationId xmlns:a16="http://schemas.microsoft.com/office/drawing/2014/main" id="{A697B4FC-BD24-0344-BC37-0E7EBC7C455C}"/>
              </a:ext>
            </a:extLst>
          </p:cNvPr>
          <p:cNvSpPr/>
          <p:nvPr/>
        </p:nvSpPr>
        <p:spPr>
          <a:xfrm>
            <a:off x="2799217" y="3271129"/>
            <a:ext cx="5195886" cy="430887"/>
          </a:xfrm>
          <a:prstGeom prst="rect">
            <a:avLst/>
          </a:prstGeom>
        </p:spPr>
        <p:txBody>
          <a:bodyPr wrap="square">
            <a:spAutoFit/>
          </a:bodyPr>
          <a:lstStyle/>
          <a:p>
            <a:r>
              <a:rPr lang="en-US" sz="2200" dirty="0">
                <a:solidFill>
                  <a:srgbClr val="0000CC"/>
                </a:solidFill>
              </a:rPr>
              <a:t>Assignment 3</a:t>
            </a:r>
          </a:p>
        </p:txBody>
      </p:sp>
      <p:pic>
        <p:nvPicPr>
          <p:cNvPr id="9" name="Picture Placeholder 1" descr="A photograph of a student’s hand, working on a problem with an open textbook, a calculator, and an eraser.">
            <a:extLst>
              <a:ext uri="{FF2B5EF4-FFF2-40B4-BE49-F238E27FC236}">
                <a16:creationId xmlns:a16="http://schemas.microsoft.com/office/drawing/2014/main" id="{7A6E105A-33BD-624F-BE05-CE7D47C08C51}"/>
              </a:ext>
            </a:extLst>
          </p:cNvPr>
          <p:cNvPicPr>
            <a:picLocks noChangeAspect="1"/>
          </p:cNvPicPr>
          <p:nvPr/>
        </p:nvPicPr>
        <p:blipFill>
          <a:blip r:embed="rId4" cstate="email">
            <a:extLst>
              <a:ext uri="{28A0092B-C50C-407E-A947-70E740481C1C}">
                <a14:useLocalDpi xmlns:a14="http://schemas.microsoft.com/office/drawing/2010/main" val="0"/>
              </a:ext>
            </a:extLst>
          </a:blip>
          <a:srcRect l="-26893" r="-26893"/>
          <a:stretch>
            <a:fillRect/>
          </a:stretch>
        </p:blipFill>
        <p:spPr>
          <a:xfrm>
            <a:off x="0" y="1295919"/>
            <a:ext cx="4212903" cy="1828800"/>
          </a:xfrm>
          <a:prstGeom prst="rect">
            <a:avLst/>
          </a:prstGeom>
        </p:spPr>
      </p:pic>
    </p:spTree>
    <p:extLst>
      <p:ext uri="{BB962C8B-B14F-4D97-AF65-F5344CB8AC3E}">
        <p14:creationId xmlns:p14="http://schemas.microsoft.com/office/powerpoint/2010/main" val="379664087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2" descr="L:\Clients\Connexions\01_CNX_ Admin\00_OSC_Project_Resources\14_OSC_Production\PowerPoints\OSX-Stacked-TM-CMYK-300dp1-2016.jpg">
            <a:extLst>
              <a:ext uri="{FF2B5EF4-FFF2-40B4-BE49-F238E27FC236}">
                <a16:creationId xmlns:a16="http://schemas.microsoft.com/office/drawing/2014/main" id="{B8FFED19-C635-4D44-83B4-B18507ECDDF8}"/>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11074549" y="89044"/>
            <a:ext cx="1049775" cy="713232"/>
          </a:xfrm>
          <a:prstGeom prst="rect">
            <a:avLst/>
          </a:prstGeom>
          <a:noFill/>
          <a:extLst>
            <a:ext uri="{909E8E84-426E-40dd-AFC4-6F175D3DCCD1}">
              <a14:hiddenFill xmlns:a14="http://schemas.microsoft.com/office/drawing/2010/main" xmlns="">
                <a:solidFill>
                  <a:srgbClr val="FFFFFF"/>
                </a:solidFill>
              </a14:hiddenFill>
            </a:ext>
          </a:extLst>
        </p:spPr>
      </p:pic>
      <p:sp>
        <p:nvSpPr>
          <p:cNvPr id="10" name="Rectangle 9">
            <a:extLst>
              <a:ext uri="{FF2B5EF4-FFF2-40B4-BE49-F238E27FC236}">
                <a16:creationId xmlns:a16="http://schemas.microsoft.com/office/drawing/2014/main" id="{EF14CD54-D60A-1E45-8292-95068A5F3960}"/>
              </a:ext>
            </a:extLst>
          </p:cNvPr>
          <p:cNvSpPr/>
          <p:nvPr/>
        </p:nvSpPr>
        <p:spPr>
          <a:xfrm>
            <a:off x="3750590" y="89044"/>
            <a:ext cx="6593565" cy="523220"/>
          </a:xfrm>
          <a:prstGeom prst="rect">
            <a:avLst/>
          </a:prstGeom>
        </p:spPr>
        <p:txBody>
          <a:bodyPr wrap="square">
            <a:spAutoFit/>
          </a:bodyPr>
          <a:lstStyle/>
          <a:p>
            <a:r>
              <a:rPr lang="en-US" sz="2800" dirty="0">
                <a:solidFill>
                  <a:srgbClr val="C00000"/>
                </a:solidFill>
                <a:latin typeface="NewBaskervilleStd-Roman"/>
              </a:rPr>
              <a:t>Acceleration Vector </a:t>
            </a:r>
          </a:p>
        </p:txBody>
      </p:sp>
      <p:sp>
        <p:nvSpPr>
          <p:cNvPr id="4" name="Rectangle 3">
            <a:extLst>
              <a:ext uri="{FF2B5EF4-FFF2-40B4-BE49-F238E27FC236}">
                <a16:creationId xmlns:a16="http://schemas.microsoft.com/office/drawing/2014/main" id="{8F0FE8DA-6B3B-144A-8AF4-58A2A5023250}"/>
              </a:ext>
            </a:extLst>
          </p:cNvPr>
          <p:cNvSpPr/>
          <p:nvPr/>
        </p:nvSpPr>
        <p:spPr>
          <a:xfrm>
            <a:off x="5950833" y="2467115"/>
            <a:ext cx="1152623" cy="430887"/>
          </a:xfrm>
          <a:prstGeom prst="rect">
            <a:avLst/>
          </a:prstGeom>
        </p:spPr>
        <p:txBody>
          <a:bodyPr wrap="none">
            <a:spAutoFit/>
          </a:bodyPr>
          <a:lstStyle/>
          <a:p>
            <a:r>
              <a:rPr lang="en-US" sz="2200" dirty="0">
                <a:solidFill>
                  <a:srgbClr val="008000"/>
                </a:solidFill>
              </a:rPr>
              <a:t>Example</a:t>
            </a:r>
            <a:endParaRPr lang="en-US" sz="2200" dirty="0"/>
          </a:p>
        </p:txBody>
      </p:sp>
      <p:pic>
        <p:nvPicPr>
          <p:cNvPr id="3" name="Picture 2" descr="Chart&#10;&#10;Description automatically generated">
            <a:extLst>
              <a:ext uri="{FF2B5EF4-FFF2-40B4-BE49-F238E27FC236}">
                <a16:creationId xmlns:a16="http://schemas.microsoft.com/office/drawing/2014/main" id="{B4818B63-4664-3E48-A0AF-6D090C6A33C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37920" y="612264"/>
            <a:ext cx="5257800" cy="5803900"/>
          </a:xfrm>
          <a:prstGeom prst="rect">
            <a:avLst/>
          </a:prstGeom>
        </p:spPr>
      </p:pic>
      <p:sp>
        <p:nvSpPr>
          <p:cNvPr id="6" name="Rectangle 5">
            <a:extLst>
              <a:ext uri="{FF2B5EF4-FFF2-40B4-BE49-F238E27FC236}">
                <a16:creationId xmlns:a16="http://schemas.microsoft.com/office/drawing/2014/main" id="{70F0F8EC-C024-054A-AFFB-2B6F6E8817E4}"/>
              </a:ext>
            </a:extLst>
          </p:cNvPr>
          <p:cNvSpPr/>
          <p:nvPr/>
        </p:nvSpPr>
        <p:spPr>
          <a:xfrm>
            <a:off x="5950833" y="2810579"/>
            <a:ext cx="5998360" cy="2462213"/>
          </a:xfrm>
          <a:prstGeom prst="rect">
            <a:avLst/>
          </a:prstGeom>
        </p:spPr>
        <p:txBody>
          <a:bodyPr wrap="square">
            <a:spAutoFit/>
          </a:bodyPr>
          <a:lstStyle/>
          <a:p>
            <a:r>
              <a:rPr lang="en-US" sz="2200" dirty="0">
                <a:latin typeface="LiberationSerif"/>
              </a:rPr>
              <a:t>A dart is thrown horizontally at a speed of 10 m/s at the bull’s-eye of a dartboard 2.4 m away, as in the figure. </a:t>
            </a:r>
          </a:p>
          <a:p>
            <a:pPr marL="457200" indent="-457200">
              <a:buAutoNum type="alphaLcParenBoth"/>
            </a:pPr>
            <a:r>
              <a:rPr lang="en-US" sz="2200" dirty="0">
                <a:latin typeface="LiberationSerif"/>
              </a:rPr>
              <a:t>How far below the intended target does the dart hit? </a:t>
            </a:r>
          </a:p>
          <a:p>
            <a:pPr marL="457200" indent="-457200">
              <a:buAutoNum type="alphaLcParenBoth"/>
            </a:pPr>
            <a:r>
              <a:rPr lang="en-US" sz="2200" dirty="0">
                <a:latin typeface="LiberationSerif"/>
              </a:rPr>
              <a:t>What does your answer tell you about how proficient dart players throw their darts? </a:t>
            </a:r>
            <a:endParaRPr lang="en-US" sz="2200" dirty="0"/>
          </a:p>
        </p:txBody>
      </p:sp>
    </p:spTree>
    <p:extLst>
      <p:ext uri="{BB962C8B-B14F-4D97-AF65-F5344CB8AC3E}">
        <p14:creationId xmlns:p14="http://schemas.microsoft.com/office/powerpoint/2010/main" val="21849056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2" descr="L:\Clients\Connexions\01_CNX_ Admin\00_OSC_Project_Resources\14_OSC_Production\PowerPoints\OSX-Stacked-TM-CMYK-300dp1-2016.jpg">
            <a:extLst>
              <a:ext uri="{FF2B5EF4-FFF2-40B4-BE49-F238E27FC236}">
                <a16:creationId xmlns:a16="http://schemas.microsoft.com/office/drawing/2014/main" id="{B8FFED19-C635-4D44-83B4-B18507ECDDF8}"/>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11074549" y="89044"/>
            <a:ext cx="1049775" cy="713232"/>
          </a:xfrm>
          <a:prstGeom prst="rect">
            <a:avLst/>
          </a:prstGeom>
          <a:noFill/>
          <a:extLst>
            <a:ext uri="{909E8E84-426E-40dd-AFC4-6F175D3DCCD1}">
              <a14:hiddenFill xmlns:a14="http://schemas.microsoft.com/office/drawing/2010/main" xmlns="">
                <a:solidFill>
                  <a:srgbClr val="FFFFFF"/>
                </a:solidFill>
              </a14:hiddenFill>
            </a:ext>
          </a:extLst>
        </p:spPr>
      </p:pic>
      <p:sp>
        <p:nvSpPr>
          <p:cNvPr id="2" name="Rectangle 1">
            <a:extLst>
              <a:ext uri="{FF2B5EF4-FFF2-40B4-BE49-F238E27FC236}">
                <a16:creationId xmlns:a16="http://schemas.microsoft.com/office/drawing/2014/main" id="{6062EB2E-6B32-C248-A420-2B146CEC3FB5}"/>
              </a:ext>
            </a:extLst>
          </p:cNvPr>
          <p:cNvSpPr/>
          <p:nvPr/>
        </p:nvSpPr>
        <p:spPr>
          <a:xfrm>
            <a:off x="1616765" y="4029178"/>
            <a:ext cx="10145639" cy="1107996"/>
          </a:xfrm>
          <a:prstGeom prst="rect">
            <a:avLst/>
          </a:prstGeom>
        </p:spPr>
        <p:txBody>
          <a:bodyPr wrap="square">
            <a:spAutoFit/>
          </a:bodyPr>
          <a:lstStyle/>
          <a:p>
            <a:r>
              <a:rPr lang="en-US" sz="2200" dirty="0"/>
              <a:t>A bullet is shot horizontally from shoulder height (1.5 m) with an initial speed 200 m/s. </a:t>
            </a:r>
          </a:p>
          <a:p>
            <a:r>
              <a:rPr lang="en-US" sz="2200" dirty="0"/>
              <a:t>(a) How much time elapses before the bullet hits the ground? </a:t>
            </a:r>
          </a:p>
          <a:p>
            <a:r>
              <a:rPr lang="en-US" sz="2200" dirty="0"/>
              <a:t>(b) How far does the bullet travel horizontally? </a:t>
            </a:r>
          </a:p>
        </p:txBody>
      </p:sp>
      <p:sp>
        <p:nvSpPr>
          <p:cNvPr id="7" name="Rectangle 6">
            <a:extLst>
              <a:ext uri="{FF2B5EF4-FFF2-40B4-BE49-F238E27FC236}">
                <a16:creationId xmlns:a16="http://schemas.microsoft.com/office/drawing/2014/main" id="{99FCA857-BF4B-C747-883D-44752C56C37F}"/>
              </a:ext>
            </a:extLst>
          </p:cNvPr>
          <p:cNvSpPr/>
          <p:nvPr/>
        </p:nvSpPr>
        <p:spPr>
          <a:xfrm>
            <a:off x="2799217" y="89044"/>
            <a:ext cx="6593565" cy="523220"/>
          </a:xfrm>
          <a:prstGeom prst="rect">
            <a:avLst/>
          </a:prstGeom>
        </p:spPr>
        <p:txBody>
          <a:bodyPr wrap="square">
            <a:spAutoFit/>
          </a:bodyPr>
          <a:lstStyle/>
          <a:p>
            <a:r>
              <a:rPr lang="en-US" sz="2800" dirty="0">
                <a:solidFill>
                  <a:srgbClr val="C00000"/>
                </a:solidFill>
                <a:latin typeface="NewBaskervilleStd-Roman"/>
              </a:rPr>
              <a:t>Time of Flight, Trajectory, and Range </a:t>
            </a:r>
          </a:p>
        </p:txBody>
      </p:sp>
      <p:sp>
        <p:nvSpPr>
          <p:cNvPr id="8" name="Rectangle 7">
            <a:extLst>
              <a:ext uri="{FF2B5EF4-FFF2-40B4-BE49-F238E27FC236}">
                <a16:creationId xmlns:a16="http://schemas.microsoft.com/office/drawing/2014/main" id="{A697B4FC-BD24-0344-BC37-0E7EBC7C455C}"/>
              </a:ext>
            </a:extLst>
          </p:cNvPr>
          <p:cNvSpPr/>
          <p:nvPr/>
        </p:nvSpPr>
        <p:spPr>
          <a:xfrm>
            <a:off x="1616765" y="3623722"/>
            <a:ext cx="5195886" cy="430887"/>
          </a:xfrm>
          <a:prstGeom prst="rect">
            <a:avLst/>
          </a:prstGeom>
        </p:spPr>
        <p:txBody>
          <a:bodyPr wrap="square">
            <a:spAutoFit/>
          </a:bodyPr>
          <a:lstStyle/>
          <a:p>
            <a:r>
              <a:rPr lang="en-US" sz="2200" dirty="0">
                <a:solidFill>
                  <a:srgbClr val="0000CC"/>
                </a:solidFill>
              </a:rPr>
              <a:t>Assignment 4</a:t>
            </a:r>
          </a:p>
        </p:txBody>
      </p:sp>
      <p:pic>
        <p:nvPicPr>
          <p:cNvPr id="9" name="Picture Placeholder 1" descr="A photograph of a student’s hand, working on a problem with an open textbook, a calculator, and an eraser.">
            <a:extLst>
              <a:ext uri="{FF2B5EF4-FFF2-40B4-BE49-F238E27FC236}">
                <a16:creationId xmlns:a16="http://schemas.microsoft.com/office/drawing/2014/main" id="{7A6E105A-33BD-624F-BE05-CE7D47C08C51}"/>
              </a:ext>
            </a:extLst>
          </p:cNvPr>
          <p:cNvPicPr>
            <a:picLocks noChangeAspect="1"/>
          </p:cNvPicPr>
          <p:nvPr/>
        </p:nvPicPr>
        <p:blipFill>
          <a:blip r:embed="rId3" cstate="email">
            <a:extLst>
              <a:ext uri="{28A0092B-C50C-407E-A947-70E740481C1C}">
                <a14:useLocalDpi xmlns:a14="http://schemas.microsoft.com/office/drawing/2010/main" val="0"/>
              </a:ext>
            </a:extLst>
          </a:blip>
          <a:srcRect l="-26893" r="-26893"/>
          <a:stretch>
            <a:fillRect/>
          </a:stretch>
        </p:blipFill>
        <p:spPr>
          <a:xfrm>
            <a:off x="0" y="1295919"/>
            <a:ext cx="4212903" cy="1828800"/>
          </a:xfrm>
          <a:prstGeom prst="rect">
            <a:avLst/>
          </a:prstGeom>
        </p:spPr>
      </p:pic>
    </p:spTree>
    <p:extLst>
      <p:ext uri="{BB962C8B-B14F-4D97-AF65-F5344CB8AC3E}">
        <p14:creationId xmlns:p14="http://schemas.microsoft.com/office/powerpoint/2010/main" val="3055976538"/>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2" descr="L:\Clients\Connexions\01_CNX_ Admin\00_OSC_Project_Resources\14_OSC_Production\PowerPoints\OSX-Stacked-TM-CMYK-300dp1-2016.jpg">
            <a:extLst>
              <a:ext uri="{FF2B5EF4-FFF2-40B4-BE49-F238E27FC236}">
                <a16:creationId xmlns:a16="http://schemas.microsoft.com/office/drawing/2014/main" id="{B8FFED19-C635-4D44-83B4-B18507ECDDF8}"/>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11074549" y="89044"/>
            <a:ext cx="1049775" cy="713232"/>
          </a:xfrm>
          <a:prstGeom prst="rect">
            <a:avLst/>
          </a:prstGeom>
          <a:noFill/>
          <a:extLst>
            <a:ext uri="{909E8E84-426E-40dd-AFC4-6F175D3DCCD1}">
              <a14:hiddenFill xmlns:a14="http://schemas.microsoft.com/office/drawing/2010/main" xmlns="">
                <a:solidFill>
                  <a:srgbClr val="FFFFFF"/>
                </a:solidFill>
              </a14:hiddenFill>
            </a:ext>
          </a:extLst>
        </p:spPr>
      </p:pic>
      <p:pic>
        <p:nvPicPr>
          <p:cNvPr id="6" name="Picture 5" descr="Text&#10;&#10;Description automatically generated with low confidence">
            <a:extLst>
              <a:ext uri="{FF2B5EF4-FFF2-40B4-BE49-F238E27FC236}">
                <a16:creationId xmlns:a16="http://schemas.microsoft.com/office/drawing/2014/main" id="{B1599528-1736-A749-A7FA-3CAF9BD7EA8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008394" y="795547"/>
            <a:ext cx="1673352" cy="685800"/>
          </a:xfrm>
          <a:prstGeom prst="rect">
            <a:avLst/>
          </a:prstGeom>
        </p:spPr>
      </p:pic>
      <p:sp>
        <p:nvSpPr>
          <p:cNvPr id="7" name="Rectangle 6">
            <a:extLst>
              <a:ext uri="{FF2B5EF4-FFF2-40B4-BE49-F238E27FC236}">
                <a16:creationId xmlns:a16="http://schemas.microsoft.com/office/drawing/2014/main" id="{99FCA857-BF4B-C747-883D-44752C56C37F}"/>
              </a:ext>
            </a:extLst>
          </p:cNvPr>
          <p:cNvSpPr/>
          <p:nvPr/>
        </p:nvSpPr>
        <p:spPr>
          <a:xfrm>
            <a:off x="2799217" y="89044"/>
            <a:ext cx="6593565" cy="523220"/>
          </a:xfrm>
          <a:prstGeom prst="rect">
            <a:avLst/>
          </a:prstGeom>
        </p:spPr>
        <p:txBody>
          <a:bodyPr wrap="square">
            <a:spAutoFit/>
          </a:bodyPr>
          <a:lstStyle/>
          <a:p>
            <a:r>
              <a:rPr lang="en-US" sz="2800" dirty="0">
                <a:solidFill>
                  <a:srgbClr val="C00000"/>
                </a:solidFill>
                <a:latin typeface="NewBaskervilleStd-Roman"/>
              </a:rPr>
              <a:t>Time of Flight, Trajectory, and Range </a:t>
            </a:r>
          </a:p>
        </p:txBody>
      </p:sp>
      <p:sp>
        <p:nvSpPr>
          <p:cNvPr id="8" name="Rectangle 7">
            <a:extLst>
              <a:ext uri="{FF2B5EF4-FFF2-40B4-BE49-F238E27FC236}">
                <a16:creationId xmlns:a16="http://schemas.microsoft.com/office/drawing/2014/main" id="{A697B4FC-BD24-0344-BC37-0E7EBC7C455C}"/>
              </a:ext>
            </a:extLst>
          </p:cNvPr>
          <p:cNvSpPr/>
          <p:nvPr/>
        </p:nvSpPr>
        <p:spPr>
          <a:xfrm>
            <a:off x="2799217" y="3271129"/>
            <a:ext cx="5195886" cy="430887"/>
          </a:xfrm>
          <a:prstGeom prst="rect">
            <a:avLst/>
          </a:prstGeom>
        </p:spPr>
        <p:txBody>
          <a:bodyPr wrap="square">
            <a:spAutoFit/>
          </a:bodyPr>
          <a:lstStyle/>
          <a:p>
            <a:r>
              <a:rPr lang="en-US" sz="2200" dirty="0">
                <a:solidFill>
                  <a:srgbClr val="008000"/>
                </a:solidFill>
              </a:rPr>
              <a:t>Example</a:t>
            </a:r>
          </a:p>
        </p:txBody>
      </p:sp>
      <p:pic>
        <p:nvPicPr>
          <p:cNvPr id="9" name="Picture Placeholder 1" descr="A photograph of a student’s hand, working on a problem with an open textbook, a calculator, and an eraser.">
            <a:extLst>
              <a:ext uri="{FF2B5EF4-FFF2-40B4-BE49-F238E27FC236}">
                <a16:creationId xmlns:a16="http://schemas.microsoft.com/office/drawing/2014/main" id="{7A6E105A-33BD-624F-BE05-CE7D47C08C51}"/>
              </a:ext>
            </a:extLst>
          </p:cNvPr>
          <p:cNvPicPr>
            <a:picLocks noChangeAspect="1"/>
          </p:cNvPicPr>
          <p:nvPr/>
        </p:nvPicPr>
        <p:blipFill>
          <a:blip r:embed="rId4" cstate="email">
            <a:extLst>
              <a:ext uri="{28A0092B-C50C-407E-A947-70E740481C1C}">
                <a14:useLocalDpi xmlns:a14="http://schemas.microsoft.com/office/drawing/2010/main" val="0"/>
              </a:ext>
            </a:extLst>
          </a:blip>
          <a:srcRect l="-26893" r="-26893"/>
          <a:stretch>
            <a:fillRect/>
          </a:stretch>
        </p:blipFill>
        <p:spPr>
          <a:xfrm>
            <a:off x="0" y="1295919"/>
            <a:ext cx="4212903" cy="1828800"/>
          </a:xfrm>
          <a:prstGeom prst="rect">
            <a:avLst/>
          </a:prstGeom>
        </p:spPr>
      </p:pic>
      <p:pic>
        <p:nvPicPr>
          <p:cNvPr id="4" name="Picture 3" descr="A screenshot of a computer&#10;&#10;Description automatically generated with medium confidence">
            <a:extLst>
              <a:ext uri="{FF2B5EF4-FFF2-40B4-BE49-F238E27FC236}">
                <a16:creationId xmlns:a16="http://schemas.microsoft.com/office/drawing/2014/main" id="{41271A06-85C3-ED44-A573-376C4402C180}"/>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866919" y="3702015"/>
            <a:ext cx="7930641" cy="1860065"/>
          </a:xfrm>
          <a:prstGeom prst="rect">
            <a:avLst/>
          </a:prstGeom>
        </p:spPr>
      </p:pic>
      <p:pic>
        <p:nvPicPr>
          <p:cNvPr id="10" name="Picture 9" descr="Text&#10;&#10;Description automatically generated">
            <a:extLst>
              <a:ext uri="{FF2B5EF4-FFF2-40B4-BE49-F238E27FC236}">
                <a16:creationId xmlns:a16="http://schemas.microsoft.com/office/drawing/2014/main" id="{6800C64B-9BA5-F24A-BAFD-5AD1A5E3461B}"/>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7635938" y="652858"/>
            <a:ext cx="2597727" cy="2286000"/>
          </a:xfrm>
          <a:prstGeom prst="rect">
            <a:avLst/>
          </a:prstGeom>
        </p:spPr>
      </p:pic>
    </p:spTree>
    <p:extLst>
      <p:ext uri="{BB962C8B-B14F-4D97-AF65-F5344CB8AC3E}">
        <p14:creationId xmlns:p14="http://schemas.microsoft.com/office/powerpoint/2010/main" val="125239166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2" descr="L:\Clients\Connexions\01_CNX_ Admin\00_OSC_Project_Resources\14_OSC_Production\PowerPoints\OSX-Stacked-TM-CMYK-300dp1-2016.jpg">
            <a:extLst>
              <a:ext uri="{FF2B5EF4-FFF2-40B4-BE49-F238E27FC236}">
                <a16:creationId xmlns:a16="http://schemas.microsoft.com/office/drawing/2014/main" id="{B8FFED19-C635-4D44-83B4-B18507ECDDF8}"/>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11074549" y="89044"/>
            <a:ext cx="1049775" cy="713232"/>
          </a:xfrm>
          <a:prstGeom prst="rect">
            <a:avLst/>
          </a:prstGeom>
          <a:noFill/>
          <a:extLst>
            <a:ext uri="{909E8E84-426E-40dd-AFC4-6F175D3DCCD1}">
              <a14:hiddenFill xmlns:a14="http://schemas.microsoft.com/office/drawing/2010/main" xmlns="">
                <a:solidFill>
                  <a:srgbClr val="FFFFFF"/>
                </a:solidFill>
              </a14:hiddenFill>
            </a:ext>
          </a:extLst>
        </p:spPr>
      </p:pic>
      <p:sp>
        <p:nvSpPr>
          <p:cNvPr id="10" name="Rectangle 9">
            <a:extLst>
              <a:ext uri="{FF2B5EF4-FFF2-40B4-BE49-F238E27FC236}">
                <a16:creationId xmlns:a16="http://schemas.microsoft.com/office/drawing/2014/main" id="{EF14CD54-D60A-1E45-8292-95068A5F3960}"/>
              </a:ext>
            </a:extLst>
          </p:cNvPr>
          <p:cNvSpPr/>
          <p:nvPr/>
        </p:nvSpPr>
        <p:spPr>
          <a:xfrm>
            <a:off x="3750590" y="89044"/>
            <a:ext cx="6593565" cy="523220"/>
          </a:xfrm>
          <a:prstGeom prst="rect">
            <a:avLst/>
          </a:prstGeom>
        </p:spPr>
        <p:txBody>
          <a:bodyPr wrap="square">
            <a:spAutoFit/>
          </a:bodyPr>
          <a:lstStyle/>
          <a:p>
            <a:r>
              <a:rPr lang="en-US" sz="2800" dirty="0">
                <a:solidFill>
                  <a:srgbClr val="C00000"/>
                </a:solidFill>
                <a:latin typeface="NewBaskervilleStd-Roman"/>
              </a:rPr>
              <a:t>Uniform Circular Motion </a:t>
            </a:r>
          </a:p>
        </p:txBody>
      </p:sp>
      <p:sp>
        <p:nvSpPr>
          <p:cNvPr id="2" name="Rectangle 1">
            <a:extLst>
              <a:ext uri="{FF2B5EF4-FFF2-40B4-BE49-F238E27FC236}">
                <a16:creationId xmlns:a16="http://schemas.microsoft.com/office/drawing/2014/main" id="{D8ECDC03-75AB-BA48-8EE3-7BAF0C8EB374}"/>
              </a:ext>
            </a:extLst>
          </p:cNvPr>
          <p:cNvSpPr/>
          <p:nvPr/>
        </p:nvSpPr>
        <p:spPr>
          <a:xfrm>
            <a:off x="6923386" y="600799"/>
            <a:ext cx="4487769" cy="1785104"/>
          </a:xfrm>
          <a:prstGeom prst="rect">
            <a:avLst/>
          </a:prstGeom>
        </p:spPr>
        <p:txBody>
          <a:bodyPr wrap="square">
            <a:spAutoFit/>
          </a:bodyPr>
          <a:lstStyle/>
          <a:p>
            <a:r>
              <a:rPr lang="en-US" sz="2200" dirty="0">
                <a:solidFill>
                  <a:srgbClr val="000066"/>
                </a:solidFill>
              </a:rPr>
              <a:t>An object moving in circular path experiences </a:t>
            </a:r>
            <a:r>
              <a:rPr lang="en-US" sz="2200" dirty="0">
                <a:solidFill>
                  <a:srgbClr val="C00000"/>
                </a:solidFill>
              </a:rPr>
              <a:t>centripetal acceleration </a:t>
            </a:r>
            <a:r>
              <a:rPr lang="en-US" sz="2200" dirty="0">
                <a:solidFill>
                  <a:srgbClr val="000066"/>
                </a:solidFill>
              </a:rPr>
              <a:t>even if it moves with constant speed. The reason is due to the change in </a:t>
            </a:r>
            <a:r>
              <a:rPr lang="en-US" sz="2200" dirty="0">
                <a:solidFill>
                  <a:srgbClr val="C00000"/>
                </a:solidFill>
              </a:rPr>
              <a:t>direction </a:t>
            </a:r>
            <a:r>
              <a:rPr lang="en-US" sz="2200" dirty="0">
                <a:solidFill>
                  <a:srgbClr val="000066"/>
                </a:solidFill>
              </a:rPr>
              <a:t>of velocity vector. </a:t>
            </a:r>
          </a:p>
        </p:txBody>
      </p:sp>
      <p:pic>
        <p:nvPicPr>
          <p:cNvPr id="4" name="Picture 3" descr="Chart, diagram, pie chart&#10;&#10;Description automatically generated">
            <a:extLst>
              <a:ext uri="{FF2B5EF4-FFF2-40B4-BE49-F238E27FC236}">
                <a16:creationId xmlns:a16="http://schemas.microsoft.com/office/drawing/2014/main" id="{3D85279B-752B-A240-8A4D-DE8C98688C3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00450" y="550272"/>
            <a:ext cx="6369886" cy="4572000"/>
          </a:xfrm>
          <a:prstGeom prst="rect">
            <a:avLst/>
          </a:prstGeom>
        </p:spPr>
      </p:pic>
      <mc:AlternateContent xmlns:mc="http://schemas.openxmlformats.org/markup-compatibility/2006" xmlns:a14="http://schemas.microsoft.com/office/drawing/2010/main">
        <mc:Choice Requires="a14">
          <p:sp>
            <p:nvSpPr>
              <p:cNvPr id="7" name="Text Placeholder 6">
                <a:extLst>
                  <a:ext uri="{FF2B5EF4-FFF2-40B4-BE49-F238E27FC236}">
                    <a16:creationId xmlns:a16="http://schemas.microsoft.com/office/drawing/2014/main" id="{5006160D-B700-C84B-830D-EBB8BF84E6EE}"/>
                  </a:ext>
                </a:extLst>
              </p:cNvPr>
              <p:cNvSpPr txBox="1">
                <a:spLocks/>
              </p:cNvSpPr>
              <p:nvPr/>
            </p:nvSpPr>
            <p:spPr>
              <a:xfrm>
                <a:off x="-13089" y="5114452"/>
                <a:ext cx="6897983" cy="1654390"/>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900" indent="-342900">
                  <a:buFont typeface="Arial" panose="020B0604020202020204" pitchFamily="34" charset="0"/>
                  <a:buAutoNum type="alphaLcParenBoth"/>
                </a:pPr>
                <a:r>
                  <a:rPr lang="en-US" sz="1900" dirty="0">
                    <a:solidFill>
                      <a:srgbClr val="000066"/>
                    </a:solidFill>
                  </a:rPr>
                  <a:t>A particle is moving in a circle at a constant speed, with position and velocity vectors at times </a:t>
                </a:r>
                <a14:m>
                  <m:oMath xmlns:m="http://schemas.openxmlformats.org/officeDocument/2006/math">
                    <m:r>
                      <a:rPr lang="en-US" sz="1900" i="1" smtClean="0">
                        <a:solidFill>
                          <a:srgbClr val="000066"/>
                        </a:solidFill>
                        <a:latin typeface="Cambria Math"/>
                      </a:rPr>
                      <m:t>𝑡</m:t>
                    </m:r>
                  </m:oMath>
                </a14:m>
                <a:r>
                  <a:rPr lang="en-US" sz="1900" dirty="0">
                    <a:solidFill>
                      <a:srgbClr val="000066"/>
                    </a:solidFill>
                  </a:rPr>
                  <a:t> and </a:t>
                </a:r>
                <a14:m>
                  <m:oMath xmlns:m="http://schemas.openxmlformats.org/officeDocument/2006/math">
                    <m:r>
                      <a:rPr lang="en-US" sz="1900" i="1" smtClean="0">
                        <a:solidFill>
                          <a:srgbClr val="000066"/>
                        </a:solidFill>
                        <a:latin typeface="Cambria Math"/>
                      </a:rPr>
                      <m:t>𝑡</m:t>
                    </m:r>
                    <m:r>
                      <a:rPr lang="en-US" sz="1900" i="1" smtClean="0">
                        <a:solidFill>
                          <a:srgbClr val="000066"/>
                        </a:solidFill>
                        <a:latin typeface="Cambria Math"/>
                      </a:rPr>
                      <m:t>+ ∆</m:t>
                    </m:r>
                    <m:r>
                      <a:rPr lang="en-US" sz="1900" i="1" smtClean="0">
                        <a:solidFill>
                          <a:srgbClr val="000066"/>
                        </a:solidFill>
                        <a:latin typeface="Cambria Math"/>
                        <a:ea typeface="Cambria Math"/>
                      </a:rPr>
                      <m:t>𝑡</m:t>
                    </m:r>
                  </m:oMath>
                </a14:m>
                <a:r>
                  <a:rPr lang="en-US" sz="1900" dirty="0">
                    <a:solidFill>
                      <a:srgbClr val="000066"/>
                    </a:solidFill>
                  </a:rPr>
                  <a:t>.</a:t>
                </a:r>
              </a:p>
              <a:p>
                <a:pPr marL="342900" indent="-342900">
                  <a:buFont typeface="Arial" panose="020B0604020202020204" pitchFamily="34" charset="0"/>
                  <a:buAutoNum type="alphaLcParenBoth"/>
                </a:pPr>
                <a:r>
                  <a:rPr lang="en-US" sz="1900" dirty="0">
                    <a:solidFill>
                      <a:srgbClr val="000066"/>
                    </a:solidFill>
                  </a:rPr>
                  <a:t>Velocity vectors forming a triangle. The two triangles in the figure are similar: </a:t>
                </a:r>
              </a:p>
              <a:p>
                <a:pPr marL="0" indent="0">
                  <a:buNone/>
                </a:pPr>
                <a:r>
                  <a:rPr lang="en-US" sz="1900" dirty="0">
                    <a:solidFill>
                      <a:srgbClr val="000066"/>
                    </a:solidFill>
                  </a:rPr>
                  <a:t>Vector </a:t>
                </a:r>
                <a14:m>
                  <m:oMath xmlns:m="http://schemas.openxmlformats.org/officeDocument/2006/math">
                    <m:r>
                      <a:rPr lang="en-US" sz="1900" i="1" smtClean="0">
                        <a:solidFill>
                          <a:srgbClr val="000066"/>
                        </a:solidFill>
                        <a:latin typeface="Cambria Math"/>
                        <a:ea typeface="Cambria Math"/>
                      </a:rPr>
                      <m:t>∆</m:t>
                    </m:r>
                    <m:acc>
                      <m:accPr>
                        <m:chr m:val="⃗"/>
                        <m:ctrlPr>
                          <a:rPr lang="en-US" sz="1900" i="1" smtClean="0">
                            <a:solidFill>
                              <a:srgbClr val="000066"/>
                            </a:solidFill>
                            <a:latin typeface="Cambria Math" panose="02040503050406030204" pitchFamily="18" charset="0"/>
                            <a:ea typeface="Cambria Math"/>
                          </a:rPr>
                        </m:ctrlPr>
                      </m:accPr>
                      <m:e>
                        <m:r>
                          <a:rPr lang="en-US" sz="1900" b="1" i="1" smtClean="0">
                            <a:solidFill>
                              <a:srgbClr val="000066"/>
                            </a:solidFill>
                            <a:latin typeface="Cambria Math"/>
                            <a:ea typeface="Cambria Math"/>
                          </a:rPr>
                          <m:t>𝒗</m:t>
                        </m:r>
                      </m:e>
                    </m:acc>
                  </m:oMath>
                </a14:m>
                <a:r>
                  <a:rPr lang="en-US" sz="1900" dirty="0">
                    <a:solidFill>
                      <a:srgbClr val="000066"/>
                    </a:solidFill>
                  </a:rPr>
                  <a:t> points toward the center of the circle in the limit </a:t>
                </a:r>
                <a14:m>
                  <m:oMath xmlns:m="http://schemas.openxmlformats.org/officeDocument/2006/math">
                    <m:r>
                      <a:rPr lang="en-US" sz="1900" i="1" smtClean="0">
                        <a:solidFill>
                          <a:srgbClr val="000066"/>
                        </a:solidFill>
                        <a:latin typeface="Cambria Math"/>
                        <a:ea typeface="Cambria Math"/>
                      </a:rPr>
                      <m:t>∆</m:t>
                    </m:r>
                    <m:r>
                      <a:rPr lang="en-US" sz="1900" i="1" smtClean="0">
                        <a:solidFill>
                          <a:srgbClr val="000066"/>
                        </a:solidFill>
                        <a:latin typeface="Cambria Math"/>
                        <a:ea typeface="Cambria Math"/>
                      </a:rPr>
                      <m:t>𝑡</m:t>
                    </m:r>
                    <m:r>
                      <a:rPr lang="en-US" sz="1900" i="1" smtClean="0">
                        <a:solidFill>
                          <a:srgbClr val="000066"/>
                        </a:solidFill>
                        <a:latin typeface="Cambria Math"/>
                        <a:ea typeface="Cambria Math"/>
                      </a:rPr>
                      <m:t>→0</m:t>
                    </m:r>
                  </m:oMath>
                </a14:m>
                <a:r>
                  <a:rPr lang="en-US" sz="1900" dirty="0">
                    <a:solidFill>
                      <a:srgbClr val="000066"/>
                    </a:solidFill>
                  </a:rPr>
                  <a:t>.</a:t>
                </a:r>
              </a:p>
            </p:txBody>
          </p:sp>
        </mc:Choice>
        <mc:Fallback xmlns="">
          <p:sp>
            <p:nvSpPr>
              <p:cNvPr id="7" name="Text Placeholder 6">
                <a:extLst>
                  <a:ext uri="{FF2B5EF4-FFF2-40B4-BE49-F238E27FC236}">
                    <a16:creationId xmlns:a16="http://schemas.microsoft.com/office/drawing/2014/main" id="{5006160D-B700-C84B-830D-EBB8BF84E6EE}"/>
                  </a:ext>
                </a:extLst>
              </p:cNvPr>
              <p:cNvSpPr txBox="1">
                <a:spLocks noRot="1" noChangeAspect="1" noMove="1" noResize="1" noEditPoints="1" noAdjustHandles="1" noChangeArrowheads="1" noChangeShapeType="1" noTextEdit="1"/>
              </p:cNvSpPr>
              <p:nvPr/>
            </p:nvSpPr>
            <p:spPr>
              <a:xfrm>
                <a:off x="-13089" y="5114452"/>
                <a:ext cx="6897983" cy="1654390"/>
              </a:xfrm>
              <a:prstGeom prst="rect">
                <a:avLst/>
              </a:prstGeom>
              <a:blipFill>
                <a:blip r:embed="rId4"/>
                <a:stretch>
                  <a:fillRect l="-921" t="-3053" b="-6107"/>
                </a:stretch>
              </a:blipFill>
            </p:spPr>
            <p:txBody>
              <a:bodyPr/>
              <a:lstStyle/>
              <a:p>
                <a:r>
                  <a:rPr lang="en-US">
                    <a:noFill/>
                  </a:rPr>
                  <a:t> </a:t>
                </a:r>
              </a:p>
            </p:txBody>
          </p:sp>
        </mc:Fallback>
      </mc:AlternateContent>
      <p:sp>
        <p:nvSpPr>
          <p:cNvPr id="6" name="Rectangle 5">
            <a:extLst>
              <a:ext uri="{FF2B5EF4-FFF2-40B4-BE49-F238E27FC236}">
                <a16:creationId xmlns:a16="http://schemas.microsoft.com/office/drawing/2014/main" id="{6D5B4AA3-8727-A440-A69B-F341231E1AFD}"/>
              </a:ext>
            </a:extLst>
          </p:cNvPr>
          <p:cNvSpPr/>
          <p:nvPr/>
        </p:nvSpPr>
        <p:spPr>
          <a:xfrm>
            <a:off x="6887396" y="2308410"/>
            <a:ext cx="5104154" cy="369332"/>
          </a:xfrm>
          <a:prstGeom prst="rect">
            <a:avLst/>
          </a:prstGeom>
        </p:spPr>
        <p:txBody>
          <a:bodyPr wrap="square">
            <a:spAutoFit/>
          </a:bodyPr>
          <a:lstStyle/>
          <a:p>
            <a:r>
              <a:rPr lang="en-US" dirty="0">
                <a:latin typeface="LiberationSerif"/>
              </a:rPr>
              <a:t>We can find the magnitude of the acceleration from </a:t>
            </a:r>
            <a:endParaRPr lang="en-US" dirty="0"/>
          </a:p>
        </p:txBody>
      </p:sp>
      <p:pic>
        <p:nvPicPr>
          <p:cNvPr id="9" name="Picture 8" descr="Diagram, text&#10;&#10;Description automatically generated">
            <a:extLst>
              <a:ext uri="{FF2B5EF4-FFF2-40B4-BE49-F238E27FC236}">
                <a16:creationId xmlns:a16="http://schemas.microsoft.com/office/drawing/2014/main" id="{6C2FA300-C647-E048-A7A1-6CDAF1860A00}"/>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518089" y="2647747"/>
            <a:ext cx="3811772" cy="685800"/>
          </a:xfrm>
          <a:prstGeom prst="rect">
            <a:avLst/>
          </a:prstGeom>
        </p:spPr>
      </p:pic>
      <p:sp>
        <p:nvSpPr>
          <p:cNvPr id="11" name="Rectangle 10">
            <a:extLst>
              <a:ext uri="{FF2B5EF4-FFF2-40B4-BE49-F238E27FC236}">
                <a16:creationId xmlns:a16="http://schemas.microsoft.com/office/drawing/2014/main" id="{C62BCAED-F9B2-AF4D-AFAF-A867E0F5A3BC}"/>
              </a:ext>
            </a:extLst>
          </p:cNvPr>
          <p:cNvSpPr/>
          <p:nvPr/>
        </p:nvSpPr>
        <p:spPr>
          <a:xfrm>
            <a:off x="6887396" y="3299344"/>
            <a:ext cx="5104153" cy="707886"/>
          </a:xfrm>
          <a:prstGeom prst="rect">
            <a:avLst/>
          </a:prstGeom>
        </p:spPr>
        <p:txBody>
          <a:bodyPr wrap="square">
            <a:spAutoFit/>
          </a:bodyPr>
          <a:lstStyle/>
          <a:p>
            <a:r>
              <a:rPr lang="en-US" sz="2000" dirty="0">
                <a:solidFill>
                  <a:srgbClr val="C00000"/>
                </a:solidFill>
                <a:latin typeface="LiberationSerif"/>
              </a:rPr>
              <a:t>Thus, a particle moving in a circle at a constant speed has an acceleration with magnitude </a:t>
            </a:r>
            <a:endParaRPr lang="en-US" sz="2000" dirty="0">
              <a:solidFill>
                <a:srgbClr val="C00000"/>
              </a:solidFill>
            </a:endParaRPr>
          </a:p>
        </p:txBody>
      </p:sp>
      <p:pic>
        <p:nvPicPr>
          <p:cNvPr id="13" name="Picture 12" descr="A picture containing text, clock, watch&#10;&#10;Description automatically generated">
            <a:extLst>
              <a:ext uri="{FF2B5EF4-FFF2-40B4-BE49-F238E27FC236}">
                <a16:creationId xmlns:a16="http://schemas.microsoft.com/office/drawing/2014/main" id="{092AF0F3-47FC-F74B-9BB2-F2297BC54AC7}"/>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8244560" y="4049016"/>
            <a:ext cx="1389185" cy="685800"/>
          </a:xfrm>
          <a:prstGeom prst="rect">
            <a:avLst/>
          </a:prstGeom>
        </p:spPr>
      </p:pic>
      <p:sp>
        <p:nvSpPr>
          <p:cNvPr id="14" name="Rectangle 13">
            <a:extLst>
              <a:ext uri="{FF2B5EF4-FFF2-40B4-BE49-F238E27FC236}">
                <a16:creationId xmlns:a16="http://schemas.microsoft.com/office/drawing/2014/main" id="{17B140BF-437F-024F-A53E-072F5791F232}"/>
              </a:ext>
            </a:extLst>
          </p:cNvPr>
          <p:cNvSpPr/>
          <p:nvPr/>
        </p:nvSpPr>
        <p:spPr>
          <a:xfrm>
            <a:off x="6716953" y="4893376"/>
            <a:ext cx="5407371" cy="1754326"/>
          </a:xfrm>
          <a:prstGeom prst="rect">
            <a:avLst/>
          </a:prstGeom>
        </p:spPr>
        <p:txBody>
          <a:bodyPr wrap="square">
            <a:spAutoFit/>
          </a:bodyPr>
          <a:lstStyle/>
          <a:p>
            <a:r>
              <a:rPr lang="en-US" dirty="0">
                <a:latin typeface="LiberationSerif"/>
              </a:rPr>
              <a:t>The direction of the acceleration vector is toward the center of the circle (</a:t>
            </a:r>
            <a:r>
              <a:rPr lang="en-US" b="1" dirty="0">
                <a:solidFill>
                  <a:srgbClr val="C00000"/>
                </a:solidFill>
                <a:latin typeface="LiberationSerif"/>
              </a:rPr>
              <a:t>centripetal acceleration</a:t>
            </a:r>
            <a:r>
              <a:rPr lang="en-US" dirty="0">
                <a:latin typeface="LiberationSerif"/>
              </a:rPr>
              <a:t>, which is why we give it the subscript c). The word </a:t>
            </a:r>
            <a:r>
              <a:rPr lang="en-US" i="1" dirty="0">
                <a:latin typeface="LiberationSerif"/>
              </a:rPr>
              <a:t>centripetal </a:t>
            </a:r>
            <a:r>
              <a:rPr lang="en-US" dirty="0">
                <a:latin typeface="LiberationSerif"/>
              </a:rPr>
              <a:t>comes from the Latin words </a:t>
            </a:r>
            <a:r>
              <a:rPr lang="en-US" i="1" dirty="0">
                <a:latin typeface="LiberationSerif"/>
              </a:rPr>
              <a:t>centrum </a:t>
            </a:r>
            <a:r>
              <a:rPr lang="en-US" dirty="0">
                <a:latin typeface="LiberationSerif"/>
              </a:rPr>
              <a:t>(meaning “center”) and </a:t>
            </a:r>
            <a:r>
              <a:rPr lang="en-US" i="1" dirty="0" err="1">
                <a:latin typeface="LiberationSerif"/>
              </a:rPr>
              <a:t>petere</a:t>
            </a:r>
            <a:r>
              <a:rPr lang="en-US" i="1" dirty="0">
                <a:latin typeface="LiberationSerif"/>
              </a:rPr>
              <a:t> </a:t>
            </a:r>
            <a:r>
              <a:rPr lang="en-US" dirty="0">
                <a:latin typeface="LiberationSerif"/>
              </a:rPr>
              <a:t>(meaning “to seek”), and thus takes the meaning “center seeking.” </a:t>
            </a:r>
            <a:endParaRPr lang="en-US" dirty="0"/>
          </a:p>
        </p:txBody>
      </p:sp>
      <p:pic>
        <p:nvPicPr>
          <p:cNvPr id="16" name="Picture 15" descr="A picture containing diagram&#10;&#10;Description automatically generated">
            <a:extLst>
              <a:ext uri="{FF2B5EF4-FFF2-40B4-BE49-F238E27FC236}">
                <a16:creationId xmlns:a16="http://schemas.microsoft.com/office/drawing/2014/main" id="{D994B1B3-5581-4244-89E9-3B794EF220B8}"/>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4991284" y="600799"/>
            <a:ext cx="1579052" cy="1828800"/>
          </a:xfrm>
          <a:prstGeom prst="rect">
            <a:avLst/>
          </a:prstGeom>
        </p:spPr>
      </p:pic>
      <p:pic>
        <p:nvPicPr>
          <p:cNvPr id="8" name="Picture 7" descr="A picture containing text&#10;&#10;Description automatically generated">
            <a:extLst>
              <a:ext uri="{FF2B5EF4-FFF2-40B4-BE49-F238E27FC236}">
                <a16:creationId xmlns:a16="http://schemas.microsoft.com/office/drawing/2014/main" id="{C36F6BD7-DD87-3645-875A-F48CED6686E1}"/>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2223690" y="6076118"/>
            <a:ext cx="1634476" cy="382537"/>
          </a:xfrm>
          <a:prstGeom prst="rect">
            <a:avLst/>
          </a:prstGeom>
        </p:spPr>
      </p:pic>
    </p:spTree>
    <p:extLst>
      <p:ext uri="{BB962C8B-B14F-4D97-AF65-F5344CB8AC3E}">
        <p14:creationId xmlns:p14="http://schemas.microsoft.com/office/powerpoint/2010/main" val="2037090080"/>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2" descr="L:\Clients\Connexions\01_CNX_ Admin\00_OSC_Project_Resources\14_OSC_Production\PowerPoints\OSX-Stacked-TM-CMYK-300dp1-2016.jpg">
            <a:extLst>
              <a:ext uri="{FF2B5EF4-FFF2-40B4-BE49-F238E27FC236}">
                <a16:creationId xmlns:a16="http://schemas.microsoft.com/office/drawing/2014/main" id="{B8FFED19-C635-4D44-83B4-B18507ECDDF8}"/>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11074549" y="89044"/>
            <a:ext cx="1049775" cy="713232"/>
          </a:xfrm>
          <a:prstGeom prst="rect">
            <a:avLst/>
          </a:prstGeom>
          <a:noFill/>
          <a:extLst>
            <a:ext uri="{909E8E84-426E-40dd-AFC4-6F175D3DCCD1}">
              <a14:hiddenFill xmlns:a14="http://schemas.microsoft.com/office/drawing/2010/main" xmlns="">
                <a:solidFill>
                  <a:srgbClr val="FFFFFF"/>
                </a:solidFill>
              </a14:hiddenFill>
            </a:ext>
          </a:extLst>
        </p:spPr>
      </p:pic>
      <p:sp>
        <p:nvSpPr>
          <p:cNvPr id="10" name="Rectangle 9">
            <a:extLst>
              <a:ext uri="{FF2B5EF4-FFF2-40B4-BE49-F238E27FC236}">
                <a16:creationId xmlns:a16="http://schemas.microsoft.com/office/drawing/2014/main" id="{EF14CD54-D60A-1E45-8292-95068A5F3960}"/>
              </a:ext>
            </a:extLst>
          </p:cNvPr>
          <p:cNvSpPr/>
          <p:nvPr/>
        </p:nvSpPr>
        <p:spPr>
          <a:xfrm>
            <a:off x="3750590" y="89044"/>
            <a:ext cx="6593565" cy="523220"/>
          </a:xfrm>
          <a:prstGeom prst="rect">
            <a:avLst/>
          </a:prstGeom>
        </p:spPr>
        <p:txBody>
          <a:bodyPr wrap="square">
            <a:spAutoFit/>
          </a:bodyPr>
          <a:lstStyle/>
          <a:p>
            <a:r>
              <a:rPr lang="en-US" sz="2800" dirty="0">
                <a:solidFill>
                  <a:srgbClr val="C00000"/>
                </a:solidFill>
                <a:latin typeface="NewBaskervilleStd-Roman"/>
              </a:rPr>
              <a:t>Uniform Circular Motion </a:t>
            </a:r>
          </a:p>
        </p:txBody>
      </p:sp>
      <p:sp>
        <p:nvSpPr>
          <p:cNvPr id="2" name="Rectangle 1">
            <a:extLst>
              <a:ext uri="{FF2B5EF4-FFF2-40B4-BE49-F238E27FC236}">
                <a16:creationId xmlns:a16="http://schemas.microsoft.com/office/drawing/2014/main" id="{D8ECDC03-75AB-BA48-8EE3-7BAF0C8EB374}"/>
              </a:ext>
            </a:extLst>
          </p:cNvPr>
          <p:cNvSpPr/>
          <p:nvPr/>
        </p:nvSpPr>
        <p:spPr>
          <a:xfrm>
            <a:off x="6923386" y="600799"/>
            <a:ext cx="4487769" cy="1785104"/>
          </a:xfrm>
          <a:prstGeom prst="rect">
            <a:avLst/>
          </a:prstGeom>
        </p:spPr>
        <p:txBody>
          <a:bodyPr wrap="square">
            <a:spAutoFit/>
          </a:bodyPr>
          <a:lstStyle/>
          <a:p>
            <a:r>
              <a:rPr lang="en-US" sz="2200" dirty="0">
                <a:solidFill>
                  <a:srgbClr val="000066"/>
                </a:solidFill>
              </a:rPr>
              <a:t>An object moving in circular path experiences </a:t>
            </a:r>
            <a:r>
              <a:rPr lang="en-US" sz="2200" dirty="0">
                <a:solidFill>
                  <a:srgbClr val="C00000"/>
                </a:solidFill>
              </a:rPr>
              <a:t>centripetal acceleration </a:t>
            </a:r>
            <a:r>
              <a:rPr lang="en-US" sz="2200" dirty="0">
                <a:solidFill>
                  <a:srgbClr val="000066"/>
                </a:solidFill>
              </a:rPr>
              <a:t>even if it moves with constant speed. The reason is due to the change in </a:t>
            </a:r>
            <a:r>
              <a:rPr lang="en-US" sz="2200" dirty="0">
                <a:solidFill>
                  <a:srgbClr val="C00000"/>
                </a:solidFill>
              </a:rPr>
              <a:t>direction </a:t>
            </a:r>
            <a:r>
              <a:rPr lang="en-US" sz="2200" dirty="0">
                <a:solidFill>
                  <a:srgbClr val="000066"/>
                </a:solidFill>
              </a:rPr>
              <a:t>of velocity vector. </a:t>
            </a:r>
          </a:p>
        </p:txBody>
      </p:sp>
      <p:sp>
        <p:nvSpPr>
          <p:cNvPr id="6" name="Rectangle 5">
            <a:extLst>
              <a:ext uri="{FF2B5EF4-FFF2-40B4-BE49-F238E27FC236}">
                <a16:creationId xmlns:a16="http://schemas.microsoft.com/office/drawing/2014/main" id="{6D5B4AA3-8727-A440-A69B-F341231E1AFD}"/>
              </a:ext>
            </a:extLst>
          </p:cNvPr>
          <p:cNvSpPr/>
          <p:nvPr/>
        </p:nvSpPr>
        <p:spPr>
          <a:xfrm>
            <a:off x="6887396" y="2308410"/>
            <a:ext cx="5104154" cy="369332"/>
          </a:xfrm>
          <a:prstGeom prst="rect">
            <a:avLst/>
          </a:prstGeom>
        </p:spPr>
        <p:txBody>
          <a:bodyPr wrap="square">
            <a:spAutoFit/>
          </a:bodyPr>
          <a:lstStyle/>
          <a:p>
            <a:r>
              <a:rPr lang="en-US" dirty="0">
                <a:latin typeface="LiberationSerif"/>
              </a:rPr>
              <a:t>We can find the magnitude of the acceleration from </a:t>
            </a:r>
            <a:endParaRPr lang="en-US" dirty="0"/>
          </a:p>
        </p:txBody>
      </p:sp>
      <p:pic>
        <p:nvPicPr>
          <p:cNvPr id="9" name="Picture 8" descr="Diagram, text&#10;&#10;Description automatically generated">
            <a:extLst>
              <a:ext uri="{FF2B5EF4-FFF2-40B4-BE49-F238E27FC236}">
                <a16:creationId xmlns:a16="http://schemas.microsoft.com/office/drawing/2014/main" id="{6C2FA300-C647-E048-A7A1-6CDAF1860A0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518089" y="2647747"/>
            <a:ext cx="3811772" cy="685800"/>
          </a:xfrm>
          <a:prstGeom prst="rect">
            <a:avLst/>
          </a:prstGeom>
        </p:spPr>
      </p:pic>
      <p:sp>
        <p:nvSpPr>
          <p:cNvPr id="11" name="Rectangle 10">
            <a:extLst>
              <a:ext uri="{FF2B5EF4-FFF2-40B4-BE49-F238E27FC236}">
                <a16:creationId xmlns:a16="http://schemas.microsoft.com/office/drawing/2014/main" id="{C62BCAED-F9B2-AF4D-AFAF-A867E0F5A3BC}"/>
              </a:ext>
            </a:extLst>
          </p:cNvPr>
          <p:cNvSpPr/>
          <p:nvPr/>
        </p:nvSpPr>
        <p:spPr>
          <a:xfrm>
            <a:off x="6887396" y="3299344"/>
            <a:ext cx="5104153" cy="707886"/>
          </a:xfrm>
          <a:prstGeom prst="rect">
            <a:avLst/>
          </a:prstGeom>
        </p:spPr>
        <p:txBody>
          <a:bodyPr wrap="square">
            <a:spAutoFit/>
          </a:bodyPr>
          <a:lstStyle/>
          <a:p>
            <a:r>
              <a:rPr lang="en-US" sz="2000" dirty="0">
                <a:solidFill>
                  <a:srgbClr val="C00000"/>
                </a:solidFill>
                <a:latin typeface="LiberationSerif"/>
              </a:rPr>
              <a:t>Thus, a particle moving in a circle at a constant speed has an acceleration with magnitude </a:t>
            </a:r>
            <a:endParaRPr lang="en-US" sz="2000" dirty="0">
              <a:solidFill>
                <a:srgbClr val="C00000"/>
              </a:solidFill>
            </a:endParaRPr>
          </a:p>
        </p:txBody>
      </p:sp>
      <p:pic>
        <p:nvPicPr>
          <p:cNvPr id="13" name="Picture 12" descr="A picture containing text, clock, watch&#10;&#10;Description automatically generated">
            <a:extLst>
              <a:ext uri="{FF2B5EF4-FFF2-40B4-BE49-F238E27FC236}">
                <a16:creationId xmlns:a16="http://schemas.microsoft.com/office/drawing/2014/main" id="{092AF0F3-47FC-F74B-9BB2-F2297BC54AC7}"/>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244560" y="4049016"/>
            <a:ext cx="1389185" cy="685800"/>
          </a:xfrm>
          <a:prstGeom prst="rect">
            <a:avLst/>
          </a:prstGeom>
        </p:spPr>
      </p:pic>
      <p:sp>
        <p:nvSpPr>
          <p:cNvPr id="14" name="Rectangle 13">
            <a:extLst>
              <a:ext uri="{FF2B5EF4-FFF2-40B4-BE49-F238E27FC236}">
                <a16:creationId xmlns:a16="http://schemas.microsoft.com/office/drawing/2014/main" id="{17B140BF-437F-024F-A53E-072F5791F232}"/>
              </a:ext>
            </a:extLst>
          </p:cNvPr>
          <p:cNvSpPr/>
          <p:nvPr/>
        </p:nvSpPr>
        <p:spPr>
          <a:xfrm>
            <a:off x="6716953" y="4893376"/>
            <a:ext cx="5407371" cy="1754326"/>
          </a:xfrm>
          <a:prstGeom prst="rect">
            <a:avLst/>
          </a:prstGeom>
        </p:spPr>
        <p:txBody>
          <a:bodyPr wrap="square">
            <a:spAutoFit/>
          </a:bodyPr>
          <a:lstStyle/>
          <a:p>
            <a:r>
              <a:rPr lang="en-US" dirty="0">
                <a:latin typeface="LiberationSerif"/>
              </a:rPr>
              <a:t>The direction of the acceleration vector is toward the center of the circle (</a:t>
            </a:r>
            <a:r>
              <a:rPr lang="en-US" b="1" dirty="0">
                <a:solidFill>
                  <a:srgbClr val="C00000"/>
                </a:solidFill>
                <a:latin typeface="LiberationSerif"/>
              </a:rPr>
              <a:t>centripetal acceleration</a:t>
            </a:r>
            <a:r>
              <a:rPr lang="en-US" dirty="0">
                <a:latin typeface="LiberationSerif"/>
              </a:rPr>
              <a:t>, which is why we give it the subscript c). The word </a:t>
            </a:r>
            <a:r>
              <a:rPr lang="en-US" i="1" dirty="0">
                <a:latin typeface="LiberationSerif"/>
              </a:rPr>
              <a:t>centripetal </a:t>
            </a:r>
            <a:r>
              <a:rPr lang="en-US" dirty="0">
                <a:latin typeface="LiberationSerif"/>
              </a:rPr>
              <a:t>comes from the Latin words </a:t>
            </a:r>
            <a:r>
              <a:rPr lang="en-US" i="1" dirty="0">
                <a:latin typeface="LiberationSerif"/>
              </a:rPr>
              <a:t>centrum </a:t>
            </a:r>
            <a:r>
              <a:rPr lang="en-US" dirty="0">
                <a:latin typeface="LiberationSerif"/>
              </a:rPr>
              <a:t>(meaning “center”) and </a:t>
            </a:r>
            <a:r>
              <a:rPr lang="en-US" i="1" dirty="0" err="1">
                <a:latin typeface="LiberationSerif"/>
              </a:rPr>
              <a:t>petere</a:t>
            </a:r>
            <a:r>
              <a:rPr lang="en-US" i="1" dirty="0">
                <a:latin typeface="LiberationSerif"/>
              </a:rPr>
              <a:t> </a:t>
            </a:r>
            <a:r>
              <a:rPr lang="en-US" dirty="0">
                <a:latin typeface="LiberationSerif"/>
              </a:rPr>
              <a:t>(meaning “to seek”), and thus takes the meaning “center seeking.” </a:t>
            </a:r>
            <a:endParaRPr lang="en-US" dirty="0"/>
          </a:p>
        </p:txBody>
      </p:sp>
      <p:pic>
        <p:nvPicPr>
          <p:cNvPr id="16" name="Picture 15" descr="A picture containing diagram&#10;&#10;Description automatically generated">
            <a:extLst>
              <a:ext uri="{FF2B5EF4-FFF2-40B4-BE49-F238E27FC236}">
                <a16:creationId xmlns:a16="http://schemas.microsoft.com/office/drawing/2014/main" id="{D994B1B3-5581-4244-89E9-3B794EF220B8}"/>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991284" y="600799"/>
            <a:ext cx="1579052" cy="1828800"/>
          </a:xfrm>
          <a:prstGeom prst="rect">
            <a:avLst/>
          </a:prstGeom>
        </p:spPr>
      </p:pic>
      <p:sp>
        <p:nvSpPr>
          <p:cNvPr id="15" name="Rectangle 14">
            <a:extLst>
              <a:ext uri="{FF2B5EF4-FFF2-40B4-BE49-F238E27FC236}">
                <a16:creationId xmlns:a16="http://schemas.microsoft.com/office/drawing/2014/main" id="{C49397AC-25D3-6A41-BAFC-7E2189C3C1AB}"/>
              </a:ext>
            </a:extLst>
          </p:cNvPr>
          <p:cNvSpPr/>
          <p:nvPr/>
        </p:nvSpPr>
        <p:spPr>
          <a:xfrm>
            <a:off x="605115" y="2277632"/>
            <a:ext cx="1152623" cy="430887"/>
          </a:xfrm>
          <a:prstGeom prst="rect">
            <a:avLst/>
          </a:prstGeom>
        </p:spPr>
        <p:txBody>
          <a:bodyPr wrap="none">
            <a:spAutoFit/>
          </a:bodyPr>
          <a:lstStyle/>
          <a:p>
            <a:r>
              <a:rPr lang="en-US" sz="2200" dirty="0">
                <a:solidFill>
                  <a:srgbClr val="008000"/>
                </a:solidFill>
              </a:rPr>
              <a:t>Example</a:t>
            </a:r>
            <a:endParaRPr lang="en-US" sz="2200" dirty="0"/>
          </a:p>
        </p:txBody>
      </p:sp>
      <p:sp>
        <p:nvSpPr>
          <p:cNvPr id="3" name="Rectangle 2">
            <a:extLst>
              <a:ext uri="{FF2B5EF4-FFF2-40B4-BE49-F238E27FC236}">
                <a16:creationId xmlns:a16="http://schemas.microsoft.com/office/drawing/2014/main" id="{BA985C39-B216-8945-9990-F94C0A7F6CE5}"/>
              </a:ext>
            </a:extLst>
          </p:cNvPr>
          <p:cNvSpPr/>
          <p:nvPr/>
        </p:nvSpPr>
        <p:spPr>
          <a:xfrm>
            <a:off x="605115" y="2658962"/>
            <a:ext cx="5842180" cy="1477328"/>
          </a:xfrm>
          <a:prstGeom prst="rect">
            <a:avLst/>
          </a:prstGeom>
        </p:spPr>
        <p:txBody>
          <a:bodyPr wrap="square">
            <a:spAutoFit/>
          </a:bodyPr>
          <a:lstStyle/>
          <a:p>
            <a:r>
              <a:rPr lang="en-US" dirty="0">
                <a:solidFill>
                  <a:srgbClr val="000066"/>
                </a:solidFill>
                <a:latin typeface="LiberationSerif"/>
              </a:rPr>
              <a:t>A jet is flying at 134.1 m/s along a straight line and makes a turn along a circular path level with the ground. What does the radius of the circle have to be to produce a centripetal acceleration of 1 </a:t>
            </a:r>
            <a:r>
              <a:rPr lang="en-US" i="1" dirty="0">
                <a:solidFill>
                  <a:srgbClr val="000066"/>
                </a:solidFill>
                <a:latin typeface="LiberationSerif"/>
              </a:rPr>
              <a:t>g </a:t>
            </a:r>
            <a:r>
              <a:rPr lang="en-US" dirty="0">
                <a:solidFill>
                  <a:srgbClr val="000066"/>
                </a:solidFill>
                <a:latin typeface="LiberationSerif"/>
              </a:rPr>
              <a:t>on the pilot and jet toward the center of the circular trajectory? </a:t>
            </a:r>
            <a:endParaRPr lang="en-US" dirty="0">
              <a:solidFill>
                <a:srgbClr val="000066"/>
              </a:solidFill>
            </a:endParaRPr>
          </a:p>
        </p:txBody>
      </p:sp>
      <p:sp>
        <p:nvSpPr>
          <p:cNvPr id="8" name="Rectangle 7">
            <a:extLst>
              <a:ext uri="{FF2B5EF4-FFF2-40B4-BE49-F238E27FC236}">
                <a16:creationId xmlns:a16="http://schemas.microsoft.com/office/drawing/2014/main" id="{7878C7B1-80A0-7E40-B8CC-9989CEA15811}"/>
              </a:ext>
            </a:extLst>
          </p:cNvPr>
          <p:cNvSpPr/>
          <p:nvPr/>
        </p:nvSpPr>
        <p:spPr>
          <a:xfrm>
            <a:off x="605115" y="4431711"/>
            <a:ext cx="5407371" cy="923330"/>
          </a:xfrm>
          <a:prstGeom prst="rect">
            <a:avLst/>
          </a:prstGeom>
        </p:spPr>
        <p:txBody>
          <a:bodyPr wrap="square">
            <a:spAutoFit/>
          </a:bodyPr>
          <a:lstStyle/>
          <a:p>
            <a:r>
              <a:rPr lang="en-US" b="1" dirty="0">
                <a:solidFill>
                  <a:srgbClr val="213866"/>
                </a:solidFill>
                <a:latin typeface="LiberationSans"/>
              </a:rPr>
              <a:t>Solution </a:t>
            </a:r>
            <a:endParaRPr lang="en-US" dirty="0"/>
          </a:p>
          <a:p>
            <a:r>
              <a:rPr lang="en-US" dirty="0">
                <a:latin typeface="LiberationSerif"/>
              </a:rPr>
              <a:t>Set the centripetal acceleration equal to the acceleration of gravity: </a:t>
            </a:r>
            <a:r>
              <a:rPr lang="en-US" dirty="0">
                <a:latin typeface="STIXGeneral" pitchFamily="2" charset="2"/>
              </a:rPr>
              <a:t>9.8 m/s</a:t>
            </a:r>
            <a:r>
              <a:rPr lang="en-US" baseline="30000" dirty="0">
                <a:latin typeface="STIXGeneral" pitchFamily="2" charset="2"/>
              </a:rPr>
              <a:t>2</a:t>
            </a:r>
            <a:r>
              <a:rPr lang="en-US" sz="1400" dirty="0">
                <a:latin typeface="STIXGeneral" pitchFamily="2" charset="2"/>
              </a:rPr>
              <a:t> </a:t>
            </a:r>
            <a:r>
              <a:rPr lang="en-US" dirty="0">
                <a:latin typeface="STIXGeneral" pitchFamily="2" charset="2"/>
              </a:rPr>
              <a:t>= </a:t>
            </a:r>
            <a:r>
              <a:rPr lang="en-US" i="1" dirty="0">
                <a:latin typeface="STIXGeneral" pitchFamily="2" charset="2"/>
              </a:rPr>
              <a:t>v</a:t>
            </a:r>
            <a:r>
              <a:rPr lang="en-US" i="1" baseline="30000" dirty="0">
                <a:latin typeface="STIXGeneral" pitchFamily="2" charset="2"/>
              </a:rPr>
              <a:t>2</a:t>
            </a:r>
            <a:r>
              <a:rPr lang="en-US" dirty="0">
                <a:latin typeface="STIXGeneral" pitchFamily="2" charset="2"/>
              </a:rPr>
              <a:t>/</a:t>
            </a:r>
            <a:r>
              <a:rPr lang="en-US" i="1" dirty="0">
                <a:latin typeface="STIXGeneral" pitchFamily="2" charset="2"/>
              </a:rPr>
              <a:t>r</a:t>
            </a:r>
            <a:r>
              <a:rPr lang="en-US" dirty="0">
                <a:latin typeface="STIXGeneral" pitchFamily="2" charset="2"/>
              </a:rPr>
              <a:t>. </a:t>
            </a:r>
            <a:endParaRPr lang="en-US" dirty="0"/>
          </a:p>
        </p:txBody>
      </p:sp>
      <p:sp>
        <p:nvSpPr>
          <p:cNvPr id="12" name="Rectangle 11">
            <a:extLst>
              <a:ext uri="{FF2B5EF4-FFF2-40B4-BE49-F238E27FC236}">
                <a16:creationId xmlns:a16="http://schemas.microsoft.com/office/drawing/2014/main" id="{83201BB2-4E81-DA43-BDF7-EF545A8D5355}"/>
              </a:ext>
            </a:extLst>
          </p:cNvPr>
          <p:cNvSpPr/>
          <p:nvPr/>
        </p:nvSpPr>
        <p:spPr>
          <a:xfrm>
            <a:off x="605115" y="5281130"/>
            <a:ext cx="3027945" cy="369332"/>
          </a:xfrm>
          <a:prstGeom prst="rect">
            <a:avLst/>
          </a:prstGeom>
        </p:spPr>
        <p:txBody>
          <a:bodyPr wrap="none">
            <a:spAutoFit/>
          </a:bodyPr>
          <a:lstStyle/>
          <a:p>
            <a:r>
              <a:rPr lang="en-US" dirty="0">
                <a:latin typeface="LiberationSerif"/>
              </a:rPr>
              <a:t>Solving for the radius, we find </a:t>
            </a:r>
            <a:endParaRPr lang="en-US" dirty="0"/>
          </a:p>
        </p:txBody>
      </p:sp>
      <p:pic>
        <p:nvPicPr>
          <p:cNvPr id="18" name="Picture 17" descr="A picture containing text&#10;&#10;Description automatically generated">
            <a:extLst>
              <a:ext uri="{FF2B5EF4-FFF2-40B4-BE49-F238E27FC236}">
                <a16:creationId xmlns:a16="http://schemas.microsoft.com/office/drawing/2014/main" id="{11F2FDA3-FE12-A444-A58F-7E8120403E2C}"/>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938829" y="5650462"/>
            <a:ext cx="4052455" cy="685800"/>
          </a:xfrm>
          <a:prstGeom prst="rect">
            <a:avLst/>
          </a:prstGeom>
        </p:spPr>
      </p:pic>
    </p:spTree>
    <p:extLst>
      <p:ext uri="{BB962C8B-B14F-4D97-AF65-F5344CB8AC3E}">
        <p14:creationId xmlns:p14="http://schemas.microsoft.com/office/powerpoint/2010/main" val="3437112180"/>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2" descr="L:\Clients\Connexions\01_CNX_ Admin\00_OSC_Project_Resources\14_OSC_Production\PowerPoints\OSX-Stacked-TM-CMYK-300dp1-2016.jpg">
            <a:extLst>
              <a:ext uri="{FF2B5EF4-FFF2-40B4-BE49-F238E27FC236}">
                <a16:creationId xmlns:a16="http://schemas.microsoft.com/office/drawing/2014/main" id="{B8FFED19-C635-4D44-83B4-B18507ECDDF8}"/>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11074549" y="89044"/>
            <a:ext cx="1049775" cy="713232"/>
          </a:xfrm>
          <a:prstGeom prst="rect">
            <a:avLst/>
          </a:prstGeom>
          <a:noFill/>
          <a:extLst>
            <a:ext uri="{909E8E84-426E-40dd-AFC4-6F175D3DCCD1}">
              <a14:hiddenFill xmlns:a14="http://schemas.microsoft.com/office/drawing/2010/main" xmlns="">
                <a:solidFill>
                  <a:srgbClr val="FFFFFF"/>
                </a:solidFill>
              </a14:hiddenFill>
            </a:ext>
          </a:extLst>
        </p:spPr>
      </p:pic>
      <p:sp>
        <p:nvSpPr>
          <p:cNvPr id="10" name="Rectangle 9">
            <a:extLst>
              <a:ext uri="{FF2B5EF4-FFF2-40B4-BE49-F238E27FC236}">
                <a16:creationId xmlns:a16="http://schemas.microsoft.com/office/drawing/2014/main" id="{EF14CD54-D60A-1E45-8292-95068A5F3960}"/>
              </a:ext>
            </a:extLst>
          </p:cNvPr>
          <p:cNvSpPr/>
          <p:nvPr/>
        </p:nvSpPr>
        <p:spPr>
          <a:xfrm>
            <a:off x="2346545" y="89044"/>
            <a:ext cx="7858125" cy="523220"/>
          </a:xfrm>
          <a:prstGeom prst="rect">
            <a:avLst/>
          </a:prstGeom>
        </p:spPr>
        <p:txBody>
          <a:bodyPr wrap="square">
            <a:spAutoFit/>
          </a:bodyPr>
          <a:lstStyle/>
          <a:p>
            <a:r>
              <a:rPr lang="en-US" sz="2800" dirty="0">
                <a:solidFill>
                  <a:srgbClr val="C00000"/>
                </a:solidFill>
                <a:latin typeface="NewBaskervilleStd-Roman"/>
              </a:rPr>
              <a:t>Equations of Motion for Uniform Circular Motion </a:t>
            </a:r>
          </a:p>
        </p:txBody>
      </p:sp>
      <p:sp>
        <p:nvSpPr>
          <p:cNvPr id="2" name="Rectangle 1">
            <a:extLst>
              <a:ext uri="{FF2B5EF4-FFF2-40B4-BE49-F238E27FC236}">
                <a16:creationId xmlns:a16="http://schemas.microsoft.com/office/drawing/2014/main" id="{F1716667-F6CA-A741-AB9A-AA130E656EFA}"/>
              </a:ext>
            </a:extLst>
          </p:cNvPr>
          <p:cNvSpPr/>
          <p:nvPr/>
        </p:nvSpPr>
        <p:spPr>
          <a:xfrm>
            <a:off x="542439" y="728659"/>
            <a:ext cx="8834035" cy="430887"/>
          </a:xfrm>
          <a:prstGeom prst="rect">
            <a:avLst/>
          </a:prstGeom>
        </p:spPr>
        <p:txBody>
          <a:bodyPr wrap="square">
            <a:spAutoFit/>
          </a:bodyPr>
          <a:lstStyle/>
          <a:p>
            <a:r>
              <a:rPr lang="en-US" sz="2200" dirty="0">
                <a:solidFill>
                  <a:srgbClr val="000066"/>
                </a:solidFill>
                <a:latin typeface="LiberationSerif"/>
                <a:hlinkClick r:id="rId3"/>
              </a:rPr>
              <a:t>A particle executing circular motion </a:t>
            </a:r>
            <a:r>
              <a:rPr lang="en-US" sz="2200" dirty="0">
                <a:solidFill>
                  <a:srgbClr val="000066"/>
                </a:solidFill>
                <a:latin typeface="LiberationSerif"/>
              </a:rPr>
              <a:t>can be described by its position vector </a:t>
            </a:r>
            <a:endParaRPr lang="en-US" sz="2200" dirty="0">
              <a:solidFill>
                <a:srgbClr val="000066"/>
              </a:solidFill>
            </a:endParaRPr>
          </a:p>
        </p:txBody>
      </p:sp>
      <p:pic>
        <p:nvPicPr>
          <p:cNvPr id="4" name="Picture 3" descr="A picture containing shape&#10;&#10;Description automatically generated">
            <a:extLst>
              <a:ext uri="{FF2B5EF4-FFF2-40B4-BE49-F238E27FC236}">
                <a16:creationId xmlns:a16="http://schemas.microsoft.com/office/drawing/2014/main" id="{9A7A3DCF-D363-E440-B6C6-8CFE563CA225}"/>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082975" y="700838"/>
            <a:ext cx="769434" cy="457200"/>
          </a:xfrm>
          <a:prstGeom prst="rect">
            <a:avLst/>
          </a:prstGeom>
        </p:spPr>
      </p:pic>
      <p:pic>
        <p:nvPicPr>
          <p:cNvPr id="7" name="Picture 6" descr="Diagram&#10;&#10;Description automatically generated">
            <a:extLst>
              <a:ext uri="{FF2B5EF4-FFF2-40B4-BE49-F238E27FC236}">
                <a16:creationId xmlns:a16="http://schemas.microsoft.com/office/drawing/2014/main" id="{A07507F8-15FE-1249-8667-6B7CA4A80841}"/>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42439" y="1263114"/>
            <a:ext cx="4645058" cy="4114800"/>
          </a:xfrm>
          <a:prstGeom prst="rect">
            <a:avLst/>
          </a:prstGeom>
        </p:spPr>
      </p:pic>
      <p:pic>
        <p:nvPicPr>
          <p:cNvPr id="9" name="Picture 8" descr="Diagram&#10;&#10;Description automatically generated with medium confidence">
            <a:extLst>
              <a:ext uri="{FF2B5EF4-FFF2-40B4-BE49-F238E27FC236}">
                <a16:creationId xmlns:a16="http://schemas.microsoft.com/office/drawing/2014/main" id="{13953F9F-FFBE-574C-A92A-DCD2718B30B9}"/>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6614864" y="2145089"/>
            <a:ext cx="3740727" cy="685800"/>
          </a:xfrm>
          <a:prstGeom prst="rect">
            <a:avLst/>
          </a:prstGeom>
        </p:spPr>
      </p:pic>
      <p:sp>
        <p:nvSpPr>
          <p:cNvPr id="11" name="Rectangle 10">
            <a:extLst>
              <a:ext uri="{FF2B5EF4-FFF2-40B4-BE49-F238E27FC236}">
                <a16:creationId xmlns:a16="http://schemas.microsoft.com/office/drawing/2014/main" id="{4B13CF64-6ABF-2142-AE21-40D76D4802A7}"/>
              </a:ext>
            </a:extLst>
          </p:cNvPr>
          <p:cNvSpPr/>
          <p:nvPr/>
        </p:nvSpPr>
        <p:spPr>
          <a:xfrm>
            <a:off x="5332503" y="1336007"/>
            <a:ext cx="3919984" cy="369332"/>
          </a:xfrm>
          <a:prstGeom prst="rect">
            <a:avLst/>
          </a:prstGeom>
        </p:spPr>
        <p:txBody>
          <a:bodyPr wrap="none">
            <a:spAutoFit/>
          </a:bodyPr>
          <a:lstStyle/>
          <a:p>
            <a:r>
              <a:rPr lang="en-US" dirty="0">
                <a:latin typeface="LiberationSerif"/>
              </a:rPr>
              <a:t>The magnitude of the position vector is </a:t>
            </a:r>
            <a:endParaRPr lang="en-US" dirty="0"/>
          </a:p>
        </p:txBody>
      </p:sp>
      <p:pic>
        <p:nvPicPr>
          <p:cNvPr id="13" name="Picture 12" descr="Text&#10;&#10;Description automatically generated with medium confidence">
            <a:extLst>
              <a:ext uri="{FF2B5EF4-FFF2-40B4-BE49-F238E27FC236}">
                <a16:creationId xmlns:a16="http://schemas.microsoft.com/office/drawing/2014/main" id="{39AC0DBC-BCBB-F54F-922B-B933CF1CBA0C}"/>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9162521" y="1258935"/>
            <a:ext cx="1193800" cy="457200"/>
          </a:xfrm>
          <a:prstGeom prst="rect">
            <a:avLst/>
          </a:prstGeom>
        </p:spPr>
      </p:pic>
      <p:sp>
        <p:nvSpPr>
          <p:cNvPr id="14" name="Rectangle 13">
            <a:extLst>
              <a:ext uri="{FF2B5EF4-FFF2-40B4-BE49-F238E27FC236}">
                <a16:creationId xmlns:a16="http://schemas.microsoft.com/office/drawing/2014/main" id="{64444DBD-F858-C749-9A80-218BCBCA38E1}"/>
              </a:ext>
            </a:extLst>
          </p:cNvPr>
          <p:cNvSpPr/>
          <p:nvPr/>
        </p:nvSpPr>
        <p:spPr>
          <a:xfrm>
            <a:off x="5332503" y="1740548"/>
            <a:ext cx="6735510" cy="369332"/>
          </a:xfrm>
          <a:prstGeom prst="rect">
            <a:avLst/>
          </a:prstGeom>
        </p:spPr>
        <p:txBody>
          <a:bodyPr wrap="square">
            <a:spAutoFit/>
          </a:bodyPr>
          <a:lstStyle/>
          <a:p>
            <a:r>
              <a:rPr lang="en-US" dirty="0">
                <a:solidFill>
                  <a:srgbClr val="000066"/>
                </a:solidFill>
                <a:latin typeface="LiberationSerif"/>
              </a:rPr>
              <a:t>This is also the radius of the circle, so that in terms of its components </a:t>
            </a:r>
            <a:endParaRPr lang="en-US" dirty="0">
              <a:solidFill>
                <a:srgbClr val="000066"/>
              </a:solidFill>
            </a:endParaRPr>
          </a:p>
        </p:txBody>
      </p:sp>
      <p:sp>
        <p:nvSpPr>
          <p:cNvPr id="15" name="Rectangle 14">
            <a:extLst>
              <a:ext uri="{FF2B5EF4-FFF2-40B4-BE49-F238E27FC236}">
                <a16:creationId xmlns:a16="http://schemas.microsoft.com/office/drawing/2014/main" id="{5A68D60A-9E21-9D46-85D1-4DA4D14BDB29}"/>
              </a:ext>
            </a:extLst>
          </p:cNvPr>
          <p:cNvSpPr/>
          <p:nvPr/>
        </p:nvSpPr>
        <p:spPr>
          <a:xfrm>
            <a:off x="5332503" y="3048152"/>
            <a:ext cx="5750805" cy="369332"/>
          </a:xfrm>
          <a:prstGeom prst="rect">
            <a:avLst/>
          </a:prstGeom>
        </p:spPr>
        <p:txBody>
          <a:bodyPr wrap="none">
            <a:spAutoFit/>
          </a:bodyPr>
          <a:lstStyle/>
          <a:p>
            <a:r>
              <a:rPr lang="el-GR" i="1" dirty="0">
                <a:latin typeface="STIXGeneral" pitchFamily="2" charset="2"/>
              </a:rPr>
              <a:t>ω </a:t>
            </a:r>
            <a:r>
              <a:rPr lang="en-US" dirty="0">
                <a:latin typeface="LiberationSerif"/>
              </a:rPr>
              <a:t>is a constant called the </a:t>
            </a:r>
            <a:r>
              <a:rPr lang="en-US" b="1" dirty="0">
                <a:solidFill>
                  <a:srgbClr val="000066"/>
                </a:solidFill>
                <a:latin typeface="LiberationSerif"/>
              </a:rPr>
              <a:t>angular frequency </a:t>
            </a:r>
            <a:r>
              <a:rPr lang="en-US" dirty="0">
                <a:latin typeface="LiberationSerif"/>
              </a:rPr>
              <a:t>of the particle </a:t>
            </a:r>
            <a:endParaRPr lang="en-US" dirty="0"/>
          </a:p>
        </p:txBody>
      </p:sp>
      <p:sp>
        <p:nvSpPr>
          <p:cNvPr id="16" name="Rectangle 15">
            <a:extLst>
              <a:ext uri="{FF2B5EF4-FFF2-40B4-BE49-F238E27FC236}">
                <a16:creationId xmlns:a16="http://schemas.microsoft.com/office/drawing/2014/main" id="{20253928-CF6A-7B4F-BE30-647B9A50FC62}"/>
              </a:ext>
            </a:extLst>
          </p:cNvPr>
          <p:cNvSpPr/>
          <p:nvPr/>
        </p:nvSpPr>
        <p:spPr>
          <a:xfrm>
            <a:off x="5332503" y="4056871"/>
            <a:ext cx="6554697" cy="369332"/>
          </a:xfrm>
          <a:prstGeom prst="rect">
            <a:avLst/>
          </a:prstGeom>
        </p:spPr>
        <p:txBody>
          <a:bodyPr wrap="square">
            <a:spAutoFit/>
          </a:bodyPr>
          <a:lstStyle/>
          <a:p>
            <a:r>
              <a:rPr lang="en-US" dirty="0">
                <a:latin typeface="LiberationSerif"/>
              </a:rPr>
              <a:t>The angle </a:t>
            </a:r>
            <a:r>
              <a:rPr lang="el-GR" i="1" dirty="0">
                <a:latin typeface="STIXGeneral" pitchFamily="2" charset="2"/>
              </a:rPr>
              <a:t>θ </a:t>
            </a:r>
            <a:r>
              <a:rPr lang="en-US" dirty="0">
                <a:latin typeface="LiberationSerif"/>
              </a:rPr>
              <a:t>that the position vector has at any particular time is </a:t>
            </a:r>
            <a:r>
              <a:rPr lang="el-GR" i="1" dirty="0">
                <a:latin typeface="STIXGeneral" pitchFamily="2" charset="2"/>
              </a:rPr>
              <a:t>ω</a:t>
            </a:r>
            <a:r>
              <a:rPr lang="en-US" i="1" dirty="0">
                <a:latin typeface="STIXGeneral" pitchFamily="2" charset="2"/>
              </a:rPr>
              <a:t>t </a:t>
            </a:r>
            <a:r>
              <a:rPr lang="en-US" dirty="0">
                <a:latin typeface="LiberationSerif"/>
              </a:rPr>
              <a:t>. </a:t>
            </a:r>
            <a:endParaRPr lang="en-US" dirty="0"/>
          </a:p>
        </p:txBody>
      </p:sp>
      <p:pic>
        <p:nvPicPr>
          <p:cNvPr id="18" name="Picture 17" descr="Text&#10;&#10;Description automatically generated">
            <a:extLst>
              <a:ext uri="{FF2B5EF4-FFF2-40B4-BE49-F238E27FC236}">
                <a16:creationId xmlns:a16="http://schemas.microsoft.com/office/drawing/2014/main" id="{F659A9FA-F835-7F4C-91E9-97625A3F5D9B}"/>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7769754" y="3431882"/>
            <a:ext cx="1000264" cy="594360"/>
          </a:xfrm>
          <a:prstGeom prst="rect">
            <a:avLst/>
          </a:prstGeom>
        </p:spPr>
      </p:pic>
      <p:sp>
        <p:nvSpPr>
          <p:cNvPr id="19" name="Rectangle 18">
            <a:extLst>
              <a:ext uri="{FF2B5EF4-FFF2-40B4-BE49-F238E27FC236}">
                <a16:creationId xmlns:a16="http://schemas.microsoft.com/office/drawing/2014/main" id="{9BDBDC87-E3D6-6D4B-BC65-FD5C24BD2EB0}"/>
              </a:ext>
            </a:extLst>
          </p:cNvPr>
          <p:cNvSpPr/>
          <p:nvPr/>
        </p:nvSpPr>
        <p:spPr>
          <a:xfrm>
            <a:off x="5221886" y="4456832"/>
            <a:ext cx="6096000" cy="707886"/>
          </a:xfrm>
          <a:prstGeom prst="rect">
            <a:avLst/>
          </a:prstGeom>
        </p:spPr>
        <p:txBody>
          <a:bodyPr>
            <a:spAutoFit/>
          </a:bodyPr>
          <a:lstStyle/>
          <a:p>
            <a:r>
              <a:rPr lang="en-US" sz="2000" dirty="0">
                <a:solidFill>
                  <a:srgbClr val="000066"/>
                </a:solidFill>
                <a:latin typeface="LiberationSerif"/>
              </a:rPr>
              <a:t>Velocity and acceleration can be obtained from the position function by differentiation: </a:t>
            </a:r>
            <a:endParaRPr lang="en-US" sz="2000" dirty="0">
              <a:solidFill>
                <a:srgbClr val="000066"/>
              </a:solidFill>
            </a:endParaRPr>
          </a:p>
        </p:txBody>
      </p:sp>
      <p:pic>
        <p:nvPicPr>
          <p:cNvPr id="21" name="Picture 20" descr="Logo, company name&#10;&#10;Description automatically generated">
            <a:extLst>
              <a:ext uri="{FF2B5EF4-FFF2-40B4-BE49-F238E27FC236}">
                <a16:creationId xmlns:a16="http://schemas.microsoft.com/office/drawing/2014/main" id="{9512ADBC-9087-4248-837E-7AB3583E777F}"/>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6618043" y="5137150"/>
            <a:ext cx="4483100" cy="698500"/>
          </a:xfrm>
          <a:prstGeom prst="rect">
            <a:avLst/>
          </a:prstGeom>
        </p:spPr>
      </p:pic>
      <p:pic>
        <p:nvPicPr>
          <p:cNvPr id="23" name="Picture 22" descr="Text&#10;&#10;Description automatically generated">
            <a:extLst>
              <a:ext uri="{FF2B5EF4-FFF2-40B4-BE49-F238E27FC236}">
                <a16:creationId xmlns:a16="http://schemas.microsoft.com/office/drawing/2014/main" id="{03EB436A-A3DD-2D45-8C99-0A6145C242C9}"/>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6614864" y="6000072"/>
            <a:ext cx="4762500" cy="609600"/>
          </a:xfrm>
          <a:prstGeom prst="rect">
            <a:avLst/>
          </a:prstGeom>
        </p:spPr>
      </p:pic>
      <p:sp>
        <p:nvSpPr>
          <p:cNvPr id="24" name="Rectangle 23">
            <a:extLst>
              <a:ext uri="{FF2B5EF4-FFF2-40B4-BE49-F238E27FC236}">
                <a16:creationId xmlns:a16="http://schemas.microsoft.com/office/drawing/2014/main" id="{2D33573B-C863-3E48-9C18-0C7F9DEBD341}"/>
              </a:ext>
            </a:extLst>
          </p:cNvPr>
          <p:cNvSpPr/>
          <p:nvPr/>
        </p:nvSpPr>
        <p:spPr>
          <a:xfrm>
            <a:off x="518864" y="5504892"/>
            <a:ext cx="5577136" cy="923330"/>
          </a:xfrm>
          <a:prstGeom prst="rect">
            <a:avLst/>
          </a:prstGeom>
        </p:spPr>
        <p:txBody>
          <a:bodyPr wrap="square">
            <a:spAutoFit/>
          </a:bodyPr>
          <a:lstStyle/>
          <a:p>
            <a:r>
              <a:rPr lang="en-US" dirty="0">
                <a:solidFill>
                  <a:srgbClr val="000066"/>
                </a:solidFill>
                <a:latin typeface="LiberationSerif"/>
              </a:rPr>
              <a:t>We see that the acceleration vector has magnitude </a:t>
            </a:r>
            <a:r>
              <a:rPr lang="en-US" i="1" dirty="0">
                <a:latin typeface="STIXGeneral" pitchFamily="2" charset="2"/>
              </a:rPr>
              <a:t>A</a:t>
            </a:r>
            <a:r>
              <a:rPr lang="el-GR" i="1" dirty="0">
                <a:latin typeface="STIXGeneral" pitchFamily="2" charset="2"/>
              </a:rPr>
              <a:t>ω</a:t>
            </a:r>
            <a:r>
              <a:rPr lang="en-US" i="1" baseline="30000" dirty="0">
                <a:latin typeface="STIXGeneral" pitchFamily="2" charset="2"/>
              </a:rPr>
              <a:t>2</a:t>
            </a:r>
            <a:r>
              <a:rPr lang="el-GR" sz="1400" dirty="0">
                <a:solidFill>
                  <a:srgbClr val="000066"/>
                </a:solidFill>
                <a:latin typeface="STIXGeneral" pitchFamily="2" charset="2"/>
              </a:rPr>
              <a:t> </a:t>
            </a:r>
            <a:r>
              <a:rPr lang="en-US" dirty="0">
                <a:solidFill>
                  <a:srgbClr val="000066"/>
                </a:solidFill>
                <a:latin typeface="LiberationSerif"/>
              </a:rPr>
              <a:t>and is directed opposite the position vector,</a:t>
            </a:r>
            <a:r>
              <a:rPr lang="en-US" dirty="0">
                <a:solidFill>
                  <a:srgbClr val="C00000"/>
                </a:solidFill>
                <a:latin typeface="LiberationSerif"/>
              </a:rPr>
              <a:t> toward the origin</a:t>
            </a:r>
            <a:r>
              <a:rPr lang="en-US" dirty="0">
                <a:solidFill>
                  <a:srgbClr val="000066"/>
                </a:solidFill>
                <a:latin typeface="LiberationSerif"/>
              </a:rPr>
              <a:t>, because </a:t>
            </a:r>
            <a:endParaRPr lang="en-US" dirty="0">
              <a:solidFill>
                <a:srgbClr val="000066"/>
              </a:solidFill>
            </a:endParaRPr>
          </a:p>
        </p:txBody>
      </p:sp>
      <p:pic>
        <p:nvPicPr>
          <p:cNvPr id="26" name="Picture 25" descr="A picture containing logo&#10;&#10;Description automatically generated">
            <a:extLst>
              <a:ext uri="{FF2B5EF4-FFF2-40B4-BE49-F238E27FC236}">
                <a16:creationId xmlns:a16="http://schemas.microsoft.com/office/drawing/2014/main" id="{0A0109C8-3CF0-3240-8BE9-673B8E03DDFC}"/>
              </a:ext>
            </a:extLst>
          </p:cNvPr>
          <p:cNvPicPr>
            <a:picLocks noChangeAspect="1"/>
          </p:cNvPicPr>
          <p:nvPr/>
        </p:nvPicPr>
        <p:blipFill>
          <a:blip r:embed="rId11">
            <a:extLst>
              <a:ext uri="{28A0092B-C50C-407E-A947-70E740481C1C}">
                <a14:useLocalDpi xmlns:a14="http://schemas.microsoft.com/office/drawing/2010/main" val="0"/>
              </a:ext>
            </a:extLst>
          </a:blip>
          <a:stretch>
            <a:fillRect/>
          </a:stretch>
        </p:blipFill>
        <p:spPr>
          <a:xfrm>
            <a:off x="2207294" y="6148897"/>
            <a:ext cx="2200275" cy="457200"/>
          </a:xfrm>
          <a:prstGeom prst="rect">
            <a:avLst/>
          </a:prstGeom>
        </p:spPr>
      </p:pic>
    </p:spTree>
    <p:extLst>
      <p:ext uri="{BB962C8B-B14F-4D97-AF65-F5344CB8AC3E}">
        <p14:creationId xmlns:p14="http://schemas.microsoft.com/office/powerpoint/2010/main" val="83466833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2" descr="L:\Clients\Connexions\01_CNX_ Admin\00_OSC_Project_Resources\14_OSC_Production\PowerPoints\OSX-Stacked-TM-CMYK-300dp1-2016.jpg">
            <a:extLst>
              <a:ext uri="{FF2B5EF4-FFF2-40B4-BE49-F238E27FC236}">
                <a16:creationId xmlns:a16="http://schemas.microsoft.com/office/drawing/2014/main" id="{B8FFED19-C635-4D44-83B4-B18507ECDDF8}"/>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11074549" y="89044"/>
            <a:ext cx="1049775" cy="713232"/>
          </a:xfrm>
          <a:prstGeom prst="rect">
            <a:avLst/>
          </a:prstGeom>
          <a:noFill/>
          <a:extLst>
            <a:ext uri="{909E8E84-426E-40dd-AFC4-6F175D3DCCD1}">
              <a14:hiddenFill xmlns:a14="http://schemas.microsoft.com/office/drawing/2010/main" xmlns="">
                <a:solidFill>
                  <a:srgbClr val="FFFFFF"/>
                </a:solidFill>
              </a14:hiddenFill>
            </a:ext>
          </a:extLst>
        </p:spPr>
      </p:pic>
      <p:sp>
        <p:nvSpPr>
          <p:cNvPr id="10" name="Rectangle 9">
            <a:extLst>
              <a:ext uri="{FF2B5EF4-FFF2-40B4-BE49-F238E27FC236}">
                <a16:creationId xmlns:a16="http://schemas.microsoft.com/office/drawing/2014/main" id="{EF14CD54-D60A-1E45-8292-95068A5F3960}"/>
              </a:ext>
            </a:extLst>
          </p:cNvPr>
          <p:cNvSpPr/>
          <p:nvPr/>
        </p:nvSpPr>
        <p:spPr>
          <a:xfrm>
            <a:off x="2346545" y="89044"/>
            <a:ext cx="7858125" cy="523220"/>
          </a:xfrm>
          <a:prstGeom prst="rect">
            <a:avLst/>
          </a:prstGeom>
        </p:spPr>
        <p:txBody>
          <a:bodyPr wrap="square">
            <a:spAutoFit/>
          </a:bodyPr>
          <a:lstStyle/>
          <a:p>
            <a:r>
              <a:rPr lang="en-US" sz="2800" dirty="0">
                <a:solidFill>
                  <a:srgbClr val="C00000"/>
                </a:solidFill>
                <a:latin typeface="NewBaskervilleStd-Roman"/>
              </a:rPr>
              <a:t>Equations of Motion for Uniform Circular Motion </a:t>
            </a:r>
          </a:p>
        </p:txBody>
      </p:sp>
      <p:sp>
        <p:nvSpPr>
          <p:cNvPr id="2" name="Rectangle 1">
            <a:extLst>
              <a:ext uri="{FF2B5EF4-FFF2-40B4-BE49-F238E27FC236}">
                <a16:creationId xmlns:a16="http://schemas.microsoft.com/office/drawing/2014/main" id="{F1716667-F6CA-A741-AB9A-AA130E656EFA}"/>
              </a:ext>
            </a:extLst>
          </p:cNvPr>
          <p:cNvSpPr/>
          <p:nvPr/>
        </p:nvSpPr>
        <p:spPr>
          <a:xfrm>
            <a:off x="542439" y="728659"/>
            <a:ext cx="8834035" cy="430887"/>
          </a:xfrm>
          <a:prstGeom prst="rect">
            <a:avLst/>
          </a:prstGeom>
        </p:spPr>
        <p:txBody>
          <a:bodyPr wrap="square">
            <a:spAutoFit/>
          </a:bodyPr>
          <a:lstStyle/>
          <a:p>
            <a:r>
              <a:rPr lang="en-US" sz="2200" dirty="0">
                <a:solidFill>
                  <a:srgbClr val="000066"/>
                </a:solidFill>
                <a:latin typeface="LiberationSerif"/>
              </a:rPr>
              <a:t>A particle executing circular motion can be described by its position vector </a:t>
            </a:r>
            <a:endParaRPr lang="en-US" sz="2200" dirty="0">
              <a:solidFill>
                <a:srgbClr val="000066"/>
              </a:solidFill>
            </a:endParaRPr>
          </a:p>
        </p:txBody>
      </p:sp>
      <p:pic>
        <p:nvPicPr>
          <p:cNvPr id="4" name="Picture 3" descr="A picture containing shape&#10;&#10;Description automatically generated">
            <a:extLst>
              <a:ext uri="{FF2B5EF4-FFF2-40B4-BE49-F238E27FC236}">
                <a16:creationId xmlns:a16="http://schemas.microsoft.com/office/drawing/2014/main" id="{9A7A3DCF-D363-E440-B6C6-8CFE563CA22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082975" y="700838"/>
            <a:ext cx="769434" cy="457200"/>
          </a:xfrm>
          <a:prstGeom prst="rect">
            <a:avLst/>
          </a:prstGeom>
        </p:spPr>
      </p:pic>
      <p:pic>
        <p:nvPicPr>
          <p:cNvPr id="9" name="Picture 8" descr="Diagram&#10;&#10;Description automatically generated with medium confidence">
            <a:extLst>
              <a:ext uri="{FF2B5EF4-FFF2-40B4-BE49-F238E27FC236}">
                <a16:creationId xmlns:a16="http://schemas.microsoft.com/office/drawing/2014/main" id="{13953F9F-FFBE-574C-A92A-DCD2718B30B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614864" y="2145089"/>
            <a:ext cx="3740727" cy="685800"/>
          </a:xfrm>
          <a:prstGeom prst="rect">
            <a:avLst/>
          </a:prstGeom>
        </p:spPr>
      </p:pic>
      <p:sp>
        <p:nvSpPr>
          <p:cNvPr id="11" name="Rectangle 10">
            <a:extLst>
              <a:ext uri="{FF2B5EF4-FFF2-40B4-BE49-F238E27FC236}">
                <a16:creationId xmlns:a16="http://schemas.microsoft.com/office/drawing/2014/main" id="{4B13CF64-6ABF-2142-AE21-40D76D4802A7}"/>
              </a:ext>
            </a:extLst>
          </p:cNvPr>
          <p:cNvSpPr/>
          <p:nvPr/>
        </p:nvSpPr>
        <p:spPr>
          <a:xfrm>
            <a:off x="5332503" y="1336007"/>
            <a:ext cx="3919984" cy="369332"/>
          </a:xfrm>
          <a:prstGeom prst="rect">
            <a:avLst/>
          </a:prstGeom>
        </p:spPr>
        <p:txBody>
          <a:bodyPr wrap="none">
            <a:spAutoFit/>
          </a:bodyPr>
          <a:lstStyle/>
          <a:p>
            <a:r>
              <a:rPr lang="en-US" dirty="0">
                <a:latin typeface="LiberationSerif"/>
              </a:rPr>
              <a:t>The magnitude of the position vector is </a:t>
            </a:r>
            <a:endParaRPr lang="en-US" dirty="0"/>
          </a:p>
        </p:txBody>
      </p:sp>
      <p:pic>
        <p:nvPicPr>
          <p:cNvPr id="13" name="Picture 12" descr="Text&#10;&#10;Description automatically generated with medium confidence">
            <a:extLst>
              <a:ext uri="{FF2B5EF4-FFF2-40B4-BE49-F238E27FC236}">
                <a16:creationId xmlns:a16="http://schemas.microsoft.com/office/drawing/2014/main" id="{39AC0DBC-BCBB-F54F-922B-B933CF1CBA0C}"/>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9162521" y="1258935"/>
            <a:ext cx="1193800" cy="457200"/>
          </a:xfrm>
          <a:prstGeom prst="rect">
            <a:avLst/>
          </a:prstGeom>
        </p:spPr>
      </p:pic>
      <p:sp>
        <p:nvSpPr>
          <p:cNvPr id="14" name="Rectangle 13">
            <a:extLst>
              <a:ext uri="{FF2B5EF4-FFF2-40B4-BE49-F238E27FC236}">
                <a16:creationId xmlns:a16="http://schemas.microsoft.com/office/drawing/2014/main" id="{64444DBD-F858-C749-9A80-218BCBCA38E1}"/>
              </a:ext>
            </a:extLst>
          </p:cNvPr>
          <p:cNvSpPr/>
          <p:nvPr/>
        </p:nvSpPr>
        <p:spPr>
          <a:xfrm>
            <a:off x="5332503" y="1740548"/>
            <a:ext cx="6735510" cy="369332"/>
          </a:xfrm>
          <a:prstGeom prst="rect">
            <a:avLst/>
          </a:prstGeom>
        </p:spPr>
        <p:txBody>
          <a:bodyPr wrap="square">
            <a:spAutoFit/>
          </a:bodyPr>
          <a:lstStyle/>
          <a:p>
            <a:r>
              <a:rPr lang="en-US" dirty="0">
                <a:solidFill>
                  <a:srgbClr val="000066"/>
                </a:solidFill>
                <a:latin typeface="LiberationSerif"/>
              </a:rPr>
              <a:t>This is also the radius of the circle, so that in terms of its components </a:t>
            </a:r>
            <a:endParaRPr lang="en-US" dirty="0">
              <a:solidFill>
                <a:srgbClr val="000066"/>
              </a:solidFill>
            </a:endParaRPr>
          </a:p>
        </p:txBody>
      </p:sp>
      <p:sp>
        <p:nvSpPr>
          <p:cNvPr id="15" name="Rectangle 14">
            <a:extLst>
              <a:ext uri="{FF2B5EF4-FFF2-40B4-BE49-F238E27FC236}">
                <a16:creationId xmlns:a16="http://schemas.microsoft.com/office/drawing/2014/main" id="{5A68D60A-9E21-9D46-85D1-4DA4D14BDB29}"/>
              </a:ext>
            </a:extLst>
          </p:cNvPr>
          <p:cNvSpPr/>
          <p:nvPr/>
        </p:nvSpPr>
        <p:spPr>
          <a:xfrm>
            <a:off x="5332503" y="3048152"/>
            <a:ext cx="5750805" cy="369332"/>
          </a:xfrm>
          <a:prstGeom prst="rect">
            <a:avLst/>
          </a:prstGeom>
        </p:spPr>
        <p:txBody>
          <a:bodyPr wrap="none">
            <a:spAutoFit/>
          </a:bodyPr>
          <a:lstStyle/>
          <a:p>
            <a:r>
              <a:rPr lang="el-GR" i="1" dirty="0">
                <a:latin typeface="STIXGeneral" pitchFamily="2" charset="2"/>
              </a:rPr>
              <a:t>ω </a:t>
            </a:r>
            <a:r>
              <a:rPr lang="en-US" dirty="0">
                <a:latin typeface="LiberationSerif"/>
              </a:rPr>
              <a:t>is a constant called the </a:t>
            </a:r>
            <a:r>
              <a:rPr lang="en-US" b="1" dirty="0">
                <a:solidFill>
                  <a:srgbClr val="000066"/>
                </a:solidFill>
                <a:latin typeface="LiberationSerif"/>
              </a:rPr>
              <a:t>angular frequency </a:t>
            </a:r>
            <a:r>
              <a:rPr lang="en-US" dirty="0">
                <a:latin typeface="LiberationSerif"/>
              </a:rPr>
              <a:t>of the particle </a:t>
            </a:r>
            <a:endParaRPr lang="en-US" dirty="0"/>
          </a:p>
        </p:txBody>
      </p:sp>
      <p:sp>
        <p:nvSpPr>
          <p:cNvPr id="16" name="Rectangle 15">
            <a:extLst>
              <a:ext uri="{FF2B5EF4-FFF2-40B4-BE49-F238E27FC236}">
                <a16:creationId xmlns:a16="http://schemas.microsoft.com/office/drawing/2014/main" id="{20253928-CF6A-7B4F-BE30-647B9A50FC62}"/>
              </a:ext>
            </a:extLst>
          </p:cNvPr>
          <p:cNvSpPr/>
          <p:nvPr/>
        </p:nvSpPr>
        <p:spPr>
          <a:xfrm>
            <a:off x="5332503" y="4056871"/>
            <a:ext cx="6554697" cy="369332"/>
          </a:xfrm>
          <a:prstGeom prst="rect">
            <a:avLst/>
          </a:prstGeom>
        </p:spPr>
        <p:txBody>
          <a:bodyPr wrap="square">
            <a:spAutoFit/>
          </a:bodyPr>
          <a:lstStyle/>
          <a:p>
            <a:r>
              <a:rPr lang="en-US" dirty="0">
                <a:latin typeface="LiberationSerif"/>
              </a:rPr>
              <a:t>The angle </a:t>
            </a:r>
            <a:r>
              <a:rPr lang="el-GR" i="1" dirty="0">
                <a:latin typeface="STIXGeneral" pitchFamily="2" charset="2"/>
              </a:rPr>
              <a:t>θ </a:t>
            </a:r>
            <a:r>
              <a:rPr lang="en-US" dirty="0">
                <a:latin typeface="LiberationSerif"/>
              </a:rPr>
              <a:t>that the position vector has at any particular time is </a:t>
            </a:r>
            <a:r>
              <a:rPr lang="el-GR" i="1" dirty="0">
                <a:latin typeface="STIXGeneral" pitchFamily="2" charset="2"/>
              </a:rPr>
              <a:t>ω</a:t>
            </a:r>
            <a:r>
              <a:rPr lang="en-US" i="1" dirty="0">
                <a:latin typeface="STIXGeneral" pitchFamily="2" charset="2"/>
              </a:rPr>
              <a:t>t </a:t>
            </a:r>
            <a:r>
              <a:rPr lang="en-US" dirty="0">
                <a:latin typeface="LiberationSerif"/>
              </a:rPr>
              <a:t>. </a:t>
            </a:r>
            <a:endParaRPr lang="en-US" dirty="0"/>
          </a:p>
        </p:txBody>
      </p:sp>
      <p:pic>
        <p:nvPicPr>
          <p:cNvPr id="18" name="Picture 17" descr="Text&#10;&#10;Description automatically generated">
            <a:extLst>
              <a:ext uri="{FF2B5EF4-FFF2-40B4-BE49-F238E27FC236}">
                <a16:creationId xmlns:a16="http://schemas.microsoft.com/office/drawing/2014/main" id="{F659A9FA-F835-7F4C-91E9-97625A3F5D9B}"/>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7769754" y="3431882"/>
            <a:ext cx="1000264" cy="594360"/>
          </a:xfrm>
          <a:prstGeom prst="rect">
            <a:avLst/>
          </a:prstGeom>
        </p:spPr>
      </p:pic>
      <p:sp>
        <p:nvSpPr>
          <p:cNvPr id="19" name="Rectangle 18">
            <a:extLst>
              <a:ext uri="{FF2B5EF4-FFF2-40B4-BE49-F238E27FC236}">
                <a16:creationId xmlns:a16="http://schemas.microsoft.com/office/drawing/2014/main" id="{9BDBDC87-E3D6-6D4B-BC65-FD5C24BD2EB0}"/>
              </a:ext>
            </a:extLst>
          </p:cNvPr>
          <p:cNvSpPr/>
          <p:nvPr/>
        </p:nvSpPr>
        <p:spPr>
          <a:xfrm>
            <a:off x="5221886" y="4456832"/>
            <a:ext cx="6096000" cy="707886"/>
          </a:xfrm>
          <a:prstGeom prst="rect">
            <a:avLst/>
          </a:prstGeom>
        </p:spPr>
        <p:txBody>
          <a:bodyPr>
            <a:spAutoFit/>
          </a:bodyPr>
          <a:lstStyle/>
          <a:p>
            <a:r>
              <a:rPr lang="en-US" sz="2000" dirty="0">
                <a:solidFill>
                  <a:srgbClr val="000066"/>
                </a:solidFill>
                <a:latin typeface="LiberationSerif"/>
              </a:rPr>
              <a:t>Velocity and acceleration can be obtained from the position function by differentiation: </a:t>
            </a:r>
            <a:endParaRPr lang="en-US" sz="2000" dirty="0">
              <a:solidFill>
                <a:srgbClr val="000066"/>
              </a:solidFill>
            </a:endParaRPr>
          </a:p>
        </p:txBody>
      </p:sp>
      <p:pic>
        <p:nvPicPr>
          <p:cNvPr id="21" name="Picture 20" descr="Logo, company name&#10;&#10;Description automatically generated">
            <a:extLst>
              <a:ext uri="{FF2B5EF4-FFF2-40B4-BE49-F238E27FC236}">
                <a16:creationId xmlns:a16="http://schemas.microsoft.com/office/drawing/2014/main" id="{9512ADBC-9087-4248-837E-7AB3583E777F}"/>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6618043" y="5137150"/>
            <a:ext cx="4483100" cy="698500"/>
          </a:xfrm>
          <a:prstGeom prst="rect">
            <a:avLst/>
          </a:prstGeom>
        </p:spPr>
      </p:pic>
      <p:pic>
        <p:nvPicPr>
          <p:cNvPr id="23" name="Picture 22" descr="Text&#10;&#10;Description automatically generated">
            <a:extLst>
              <a:ext uri="{FF2B5EF4-FFF2-40B4-BE49-F238E27FC236}">
                <a16:creationId xmlns:a16="http://schemas.microsoft.com/office/drawing/2014/main" id="{03EB436A-A3DD-2D45-8C99-0A6145C242C9}"/>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6614864" y="6000072"/>
            <a:ext cx="4762500" cy="609600"/>
          </a:xfrm>
          <a:prstGeom prst="rect">
            <a:avLst/>
          </a:prstGeom>
        </p:spPr>
      </p:pic>
      <p:sp>
        <p:nvSpPr>
          <p:cNvPr id="24" name="Rectangle 23">
            <a:extLst>
              <a:ext uri="{FF2B5EF4-FFF2-40B4-BE49-F238E27FC236}">
                <a16:creationId xmlns:a16="http://schemas.microsoft.com/office/drawing/2014/main" id="{2D33573B-C863-3E48-9C18-0C7F9DEBD341}"/>
              </a:ext>
            </a:extLst>
          </p:cNvPr>
          <p:cNvSpPr/>
          <p:nvPr/>
        </p:nvSpPr>
        <p:spPr>
          <a:xfrm>
            <a:off x="518864" y="5504892"/>
            <a:ext cx="5577136" cy="923330"/>
          </a:xfrm>
          <a:prstGeom prst="rect">
            <a:avLst/>
          </a:prstGeom>
        </p:spPr>
        <p:txBody>
          <a:bodyPr wrap="square">
            <a:spAutoFit/>
          </a:bodyPr>
          <a:lstStyle/>
          <a:p>
            <a:r>
              <a:rPr lang="en-US" dirty="0">
                <a:solidFill>
                  <a:srgbClr val="000066"/>
                </a:solidFill>
                <a:latin typeface="LiberationSerif"/>
              </a:rPr>
              <a:t>We see that the acceleration vector has magnitude </a:t>
            </a:r>
            <a:r>
              <a:rPr lang="en-US" i="1" dirty="0">
                <a:latin typeface="STIXGeneral" pitchFamily="2" charset="2"/>
              </a:rPr>
              <a:t>A</a:t>
            </a:r>
            <a:r>
              <a:rPr lang="el-GR" i="1" dirty="0">
                <a:latin typeface="STIXGeneral" pitchFamily="2" charset="2"/>
              </a:rPr>
              <a:t>ω</a:t>
            </a:r>
            <a:r>
              <a:rPr lang="en-US" i="1" baseline="30000" dirty="0">
                <a:latin typeface="STIXGeneral" pitchFamily="2" charset="2"/>
              </a:rPr>
              <a:t>2</a:t>
            </a:r>
            <a:r>
              <a:rPr lang="el-GR" sz="1400" dirty="0">
                <a:solidFill>
                  <a:srgbClr val="000066"/>
                </a:solidFill>
                <a:latin typeface="STIXGeneral" pitchFamily="2" charset="2"/>
              </a:rPr>
              <a:t> </a:t>
            </a:r>
            <a:r>
              <a:rPr lang="en-US" dirty="0">
                <a:solidFill>
                  <a:srgbClr val="000066"/>
                </a:solidFill>
                <a:latin typeface="LiberationSerif"/>
              </a:rPr>
              <a:t>and is directed opposite the position vector,</a:t>
            </a:r>
            <a:r>
              <a:rPr lang="en-US" dirty="0">
                <a:solidFill>
                  <a:srgbClr val="C00000"/>
                </a:solidFill>
                <a:latin typeface="LiberationSerif"/>
              </a:rPr>
              <a:t> toward the origin</a:t>
            </a:r>
            <a:r>
              <a:rPr lang="en-US" dirty="0">
                <a:solidFill>
                  <a:srgbClr val="000066"/>
                </a:solidFill>
                <a:latin typeface="LiberationSerif"/>
              </a:rPr>
              <a:t>, because </a:t>
            </a:r>
            <a:endParaRPr lang="en-US" dirty="0">
              <a:solidFill>
                <a:srgbClr val="000066"/>
              </a:solidFill>
            </a:endParaRPr>
          </a:p>
        </p:txBody>
      </p:sp>
      <p:pic>
        <p:nvPicPr>
          <p:cNvPr id="26" name="Picture 25" descr="A picture containing logo&#10;&#10;Description automatically generated">
            <a:extLst>
              <a:ext uri="{FF2B5EF4-FFF2-40B4-BE49-F238E27FC236}">
                <a16:creationId xmlns:a16="http://schemas.microsoft.com/office/drawing/2014/main" id="{0A0109C8-3CF0-3240-8BE9-673B8E03DDFC}"/>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2207294" y="6148897"/>
            <a:ext cx="2200275" cy="457200"/>
          </a:xfrm>
          <a:prstGeom prst="rect">
            <a:avLst/>
          </a:prstGeom>
        </p:spPr>
      </p:pic>
      <p:sp>
        <p:nvSpPr>
          <p:cNvPr id="3" name="Rectangle 2">
            <a:extLst>
              <a:ext uri="{FF2B5EF4-FFF2-40B4-BE49-F238E27FC236}">
                <a16:creationId xmlns:a16="http://schemas.microsoft.com/office/drawing/2014/main" id="{AE9CF171-8C35-8D43-9B58-ACEB974DBBB9}"/>
              </a:ext>
            </a:extLst>
          </p:cNvPr>
          <p:cNvSpPr/>
          <p:nvPr/>
        </p:nvSpPr>
        <p:spPr>
          <a:xfrm>
            <a:off x="542439" y="2390234"/>
            <a:ext cx="4281736" cy="2677656"/>
          </a:xfrm>
          <a:prstGeom prst="rect">
            <a:avLst/>
          </a:prstGeom>
        </p:spPr>
        <p:txBody>
          <a:bodyPr wrap="square">
            <a:spAutoFit/>
          </a:bodyPr>
          <a:lstStyle/>
          <a:p>
            <a:r>
              <a:rPr lang="en-US" sz="2800" dirty="0">
                <a:latin typeface="LiberationSerif"/>
              </a:rPr>
              <a:t>A fan is rotating at a constant 360.0 rev/min. What is the magnitude of the acceleration of a point on one of its blades 10.0 cm from the axis of rotation? </a:t>
            </a:r>
            <a:endParaRPr lang="en-US" sz="2800" dirty="0"/>
          </a:p>
        </p:txBody>
      </p:sp>
      <p:sp>
        <p:nvSpPr>
          <p:cNvPr id="20" name="Rectangle 19">
            <a:extLst>
              <a:ext uri="{FF2B5EF4-FFF2-40B4-BE49-F238E27FC236}">
                <a16:creationId xmlns:a16="http://schemas.microsoft.com/office/drawing/2014/main" id="{47AAC52F-78A4-EB4A-B68E-8AD7A8051DFF}"/>
              </a:ext>
            </a:extLst>
          </p:cNvPr>
          <p:cNvSpPr/>
          <p:nvPr/>
        </p:nvSpPr>
        <p:spPr>
          <a:xfrm>
            <a:off x="542439" y="2025221"/>
            <a:ext cx="5195886" cy="492443"/>
          </a:xfrm>
          <a:prstGeom prst="rect">
            <a:avLst/>
          </a:prstGeom>
        </p:spPr>
        <p:txBody>
          <a:bodyPr wrap="square">
            <a:spAutoFit/>
          </a:bodyPr>
          <a:lstStyle/>
          <a:p>
            <a:r>
              <a:rPr lang="en-US" sz="2600" dirty="0">
                <a:solidFill>
                  <a:srgbClr val="0000CC"/>
                </a:solidFill>
              </a:rPr>
              <a:t>Assignment 5</a:t>
            </a:r>
          </a:p>
        </p:txBody>
      </p:sp>
      <p:pic>
        <p:nvPicPr>
          <p:cNvPr id="22" name="Picture 21" descr="A picture containing text, clock, watch&#10;&#10;Description automatically generated">
            <a:extLst>
              <a:ext uri="{FF2B5EF4-FFF2-40B4-BE49-F238E27FC236}">
                <a16:creationId xmlns:a16="http://schemas.microsoft.com/office/drawing/2014/main" id="{6FFCD228-0A9D-134C-9F27-C51205FCCD89}"/>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2994562" y="1706275"/>
            <a:ext cx="1389185" cy="685800"/>
          </a:xfrm>
          <a:prstGeom prst="rect">
            <a:avLst/>
          </a:prstGeom>
        </p:spPr>
      </p:pic>
    </p:spTree>
    <p:extLst>
      <p:ext uri="{BB962C8B-B14F-4D97-AF65-F5344CB8AC3E}">
        <p14:creationId xmlns:p14="http://schemas.microsoft.com/office/powerpoint/2010/main" val="75303444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2" descr="L:\Clients\Connexions\01_CNX_ Admin\00_OSC_Project_Resources\14_OSC_Production\PowerPoints\OSX-Stacked-TM-CMYK-300dp1-2016.jpg">
            <a:extLst>
              <a:ext uri="{FF2B5EF4-FFF2-40B4-BE49-F238E27FC236}">
                <a16:creationId xmlns:a16="http://schemas.microsoft.com/office/drawing/2014/main" id="{B8FFED19-C635-4D44-83B4-B18507ECDDF8}"/>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11074549" y="89044"/>
            <a:ext cx="1049775" cy="713232"/>
          </a:xfrm>
          <a:prstGeom prst="rect">
            <a:avLst/>
          </a:prstGeom>
          <a:noFill/>
          <a:extLst>
            <a:ext uri="{909E8E84-426E-40dd-AFC4-6F175D3DCCD1}">
              <a14:hiddenFill xmlns:a14="http://schemas.microsoft.com/office/drawing/2010/main" xmlns="">
                <a:solidFill>
                  <a:srgbClr val="FFFFFF"/>
                </a:solidFill>
              </a14:hiddenFill>
            </a:ext>
          </a:extLst>
        </p:spPr>
      </p:pic>
      <p:sp>
        <p:nvSpPr>
          <p:cNvPr id="6" name="Rectangle 5">
            <a:extLst>
              <a:ext uri="{FF2B5EF4-FFF2-40B4-BE49-F238E27FC236}">
                <a16:creationId xmlns:a16="http://schemas.microsoft.com/office/drawing/2014/main" id="{13D5ABE3-1F99-A54F-9CA7-9B9BEBED40E2}"/>
              </a:ext>
            </a:extLst>
          </p:cNvPr>
          <p:cNvSpPr/>
          <p:nvPr/>
        </p:nvSpPr>
        <p:spPr>
          <a:xfrm>
            <a:off x="2346545" y="89044"/>
            <a:ext cx="7858125" cy="523220"/>
          </a:xfrm>
          <a:prstGeom prst="rect">
            <a:avLst/>
          </a:prstGeom>
        </p:spPr>
        <p:txBody>
          <a:bodyPr wrap="square">
            <a:spAutoFit/>
          </a:bodyPr>
          <a:lstStyle/>
          <a:p>
            <a:r>
              <a:rPr lang="en-US" sz="2800" dirty="0">
                <a:solidFill>
                  <a:srgbClr val="C00000"/>
                </a:solidFill>
                <a:latin typeface="NewBaskervilleStd-Roman"/>
              </a:rPr>
              <a:t>Equations of Motion for Uniform Circular Motion </a:t>
            </a:r>
          </a:p>
        </p:txBody>
      </p:sp>
      <p:sp>
        <p:nvSpPr>
          <p:cNvPr id="7" name="Rectangle 6">
            <a:extLst>
              <a:ext uri="{FF2B5EF4-FFF2-40B4-BE49-F238E27FC236}">
                <a16:creationId xmlns:a16="http://schemas.microsoft.com/office/drawing/2014/main" id="{47C27926-873B-0D4A-9E5C-AA3F4BE33F78}"/>
              </a:ext>
            </a:extLst>
          </p:cNvPr>
          <p:cNvSpPr/>
          <p:nvPr/>
        </p:nvSpPr>
        <p:spPr>
          <a:xfrm>
            <a:off x="758211" y="581268"/>
            <a:ext cx="1152623" cy="430887"/>
          </a:xfrm>
          <a:prstGeom prst="rect">
            <a:avLst/>
          </a:prstGeom>
        </p:spPr>
        <p:txBody>
          <a:bodyPr wrap="none">
            <a:spAutoFit/>
          </a:bodyPr>
          <a:lstStyle/>
          <a:p>
            <a:r>
              <a:rPr lang="en-US" sz="2200" dirty="0">
                <a:solidFill>
                  <a:srgbClr val="008000"/>
                </a:solidFill>
              </a:rPr>
              <a:t>Example</a:t>
            </a:r>
            <a:endParaRPr lang="en-US" sz="2200" dirty="0"/>
          </a:p>
        </p:txBody>
      </p:sp>
      <p:pic>
        <p:nvPicPr>
          <p:cNvPr id="3" name="Picture 2" descr="Text, letter&#10;&#10;Description automatically generated">
            <a:extLst>
              <a:ext uri="{FF2B5EF4-FFF2-40B4-BE49-F238E27FC236}">
                <a16:creationId xmlns:a16="http://schemas.microsoft.com/office/drawing/2014/main" id="{F847A500-A2FB-7942-9A0B-1F3B3B078DD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58211" y="934665"/>
            <a:ext cx="10972800" cy="1779373"/>
          </a:xfrm>
          <a:prstGeom prst="rect">
            <a:avLst/>
          </a:prstGeom>
        </p:spPr>
      </p:pic>
      <p:sp>
        <p:nvSpPr>
          <p:cNvPr id="8" name="Rectangle 7">
            <a:extLst>
              <a:ext uri="{FF2B5EF4-FFF2-40B4-BE49-F238E27FC236}">
                <a16:creationId xmlns:a16="http://schemas.microsoft.com/office/drawing/2014/main" id="{C4A71156-D737-FC4F-AFC0-0BF4F6F9017A}"/>
              </a:ext>
            </a:extLst>
          </p:cNvPr>
          <p:cNvSpPr/>
          <p:nvPr/>
        </p:nvSpPr>
        <p:spPr>
          <a:xfrm>
            <a:off x="758211" y="2775593"/>
            <a:ext cx="8354793" cy="369332"/>
          </a:xfrm>
          <a:prstGeom prst="rect">
            <a:avLst/>
          </a:prstGeom>
        </p:spPr>
        <p:txBody>
          <a:bodyPr wrap="square">
            <a:spAutoFit/>
          </a:bodyPr>
          <a:lstStyle/>
          <a:p>
            <a:r>
              <a:rPr lang="en-US" dirty="0">
                <a:solidFill>
                  <a:srgbClr val="000066"/>
                </a:solidFill>
                <a:latin typeface="LiberationSerif"/>
              </a:rPr>
              <a:t>From the given data, the proton has period and angular frequency: </a:t>
            </a:r>
            <a:endParaRPr lang="en-US" dirty="0">
              <a:solidFill>
                <a:srgbClr val="000066"/>
              </a:solidFill>
            </a:endParaRPr>
          </a:p>
        </p:txBody>
      </p:sp>
      <p:pic>
        <p:nvPicPr>
          <p:cNvPr id="11" name="Picture 10" descr="A picture containing diagram&#10;&#10;Description automatically generated">
            <a:extLst>
              <a:ext uri="{FF2B5EF4-FFF2-40B4-BE49-F238E27FC236}">
                <a16:creationId xmlns:a16="http://schemas.microsoft.com/office/drawing/2014/main" id="{0E757A64-6B41-A745-BA2D-A6349E309955}"/>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250440" y="2714038"/>
            <a:ext cx="4318000" cy="1219200"/>
          </a:xfrm>
          <a:prstGeom prst="rect">
            <a:avLst/>
          </a:prstGeom>
        </p:spPr>
      </p:pic>
      <p:pic>
        <p:nvPicPr>
          <p:cNvPr id="13" name="Picture 12" descr="Text, letter&#10;&#10;Description automatically generated">
            <a:extLst>
              <a:ext uri="{FF2B5EF4-FFF2-40B4-BE49-F238E27FC236}">
                <a16:creationId xmlns:a16="http://schemas.microsoft.com/office/drawing/2014/main" id="{238A9E1A-9EE6-394F-A2AD-8A02C69DF498}"/>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53045" y="4048505"/>
            <a:ext cx="9534079" cy="2468880"/>
          </a:xfrm>
          <a:prstGeom prst="rect">
            <a:avLst/>
          </a:prstGeom>
        </p:spPr>
      </p:pic>
      <p:pic>
        <p:nvPicPr>
          <p:cNvPr id="15" name="Picture 14" descr="Chart, scatter chart&#10;&#10;Description automatically generated">
            <a:extLst>
              <a:ext uri="{FF2B5EF4-FFF2-40B4-BE49-F238E27FC236}">
                <a16:creationId xmlns:a16="http://schemas.microsoft.com/office/drawing/2014/main" id="{DE287930-D646-324A-A4B5-927F5C1BCEC3}"/>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9715931" y="4048505"/>
            <a:ext cx="2372533" cy="2468880"/>
          </a:xfrm>
          <a:prstGeom prst="rect">
            <a:avLst/>
          </a:prstGeom>
        </p:spPr>
      </p:pic>
    </p:spTree>
    <p:extLst>
      <p:ext uri="{BB962C8B-B14F-4D97-AF65-F5344CB8AC3E}">
        <p14:creationId xmlns:p14="http://schemas.microsoft.com/office/powerpoint/2010/main" val="791867952"/>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2" descr="L:\Clients\Connexions\01_CNX_ Admin\00_OSC_Project_Resources\14_OSC_Production\PowerPoints\OSX-Stacked-TM-CMYK-300dp1-2016.jpg">
            <a:extLst>
              <a:ext uri="{FF2B5EF4-FFF2-40B4-BE49-F238E27FC236}">
                <a16:creationId xmlns:a16="http://schemas.microsoft.com/office/drawing/2014/main" id="{B8FFED19-C635-4D44-83B4-B18507ECDDF8}"/>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11074549" y="89044"/>
            <a:ext cx="1049775" cy="713232"/>
          </a:xfrm>
          <a:prstGeom prst="rect">
            <a:avLst/>
          </a:prstGeom>
          <a:noFill/>
          <a:extLst>
            <a:ext uri="{909E8E84-426E-40dd-AFC4-6F175D3DCCD1}">
              <a14:hiddenFill xmlns:a14="http://schemas.microsoft.com/office/drawing/2010/main" xmlns="">
                <a:solidFill>
                  <a:srgbClr val="FFFFFF"/>
                </a:solidFill>
              </a14:hiddenFill>
            </a:ext>
          </a:extLst>
        </p:spPr>
      </p:pic>
      <p:sp>
        <p:nvSpPr>
          <p:cNvPr id="10" name="Rectangle 9">
            <a:extLst>
              <a:ext uri="{FF2B5EF4-FFF2-40B4-BE49-F238E27FC236}">
                <a16:creationId xmlns:a16="http://schemas.microsoft.com/office/drawing/2014/main" id="{EF14CD54-D60A-1E45-8292-95068A5F3960}"/>
              </a:ext>
            </a:extLst>
          </p:cNvPr>
          <p:cNvSpPr/>
          <p:nvPr/>
        </p:nvSpPr>
        <p:spPr>
          <a:xfrm>
            <a:off x="2944678" y="89044"/>
            <a:ext cx="7399477" cy="523220"/>
          </a:xfrm>
          <a:prstGeom prst="rect">
            <a:avLst/>
          </a:prstGeom>
        </p:spPr>
        <p:txBody>
          <a:bodyPr wrap="square">
            <a:spAutoFit/>
          </a:bodyPr>
          <a:lstStyle/>
          <a:p>
            <a:r>
              <a:rPr lang="en-US" sz="2800" dirty="0">
                <a:solidFill>
                  <a:srgbClr val="C00000"/>
                </a:solidFill>
                <a:latin typeface="NewBaskervilleStd-Roman"/>
              </a:rPr>
              <a:t>Nonuniform Circular Motion </a:t>
            </a:r>
          </a:p>
        </p:txBody>
      </p:sp>
      <p:sp>
        <p:nvSpPr>
          <p:cNvPr id="2" name="Rectangle 1">
            <a:extLst>
              <a:ext uri="{FF2B5EF4-FFF2-40B4-BE49-F238E27FC236}">
                <a16:creationId xmlns:a16="http://schemas.microsoft.com/office/drawing/2014/main" id="{5DEDA044-1A0B-8349-A206-CFDB7D14E112}"/>
              </a:ext>
            </a:extLst>
          </p:cNvPr>
          <p:cNvSpPr/>
          <p:nvPr/>
        </p:nvSpPr>
        <p:spPr>
          <a:xfrm>
            <a:off x="411715" y="612264"/>
            <a:ext cx="10662834" cy="769441"/>
          </a:xfrm>
          <a:prstGeom prst="rect">
            <a:avLst/>
          </a:prstGeom>
        </p:spPr>
        <p:txBody>
          <a:bodyPr wrap="square">
            <a:spAutoFit/>
          </a:bodyPr>
          <a:lstStyle/>
          <a:p>
            <a:r>
              <a:rPr lang="en-US" sz="2200" dirty="0">
                <a:solidFill>
                  <a:srgbClr val="000066"/>
                </a:solidFill>
                <a:latin typeface="LiberationSerif"/>
              </a:rPr>
              <a:t>Circular motion does not have to be at a constant speed. A particle can travel in a circle and speed up or slow down, showing an acceleration in the direction of the motion. </a:t>
            </a:r>
            <a:endParaRPr lang="en-US" sz="2200" dirty="0">
              <a:solidFill>
                <a:srgbClr val="000066"/>
              </a:solidFill>
            </a:endParaRPr>
          </a:p>
        </p:txBody>
      </p:sp>
      <p:sp>
        <p:nvSpPr>
          <p:cNvPr id="3" name="Rectangle 2">
            <a:extLst>
              <a:ext uri="{FF2B5EF4-FFF2-40B4-BE49-F238E27FC236}">
                <a16:creationId xmlns:a16="http://schemas.microsoft.com/office/drawing/2014/main" id="{0773A397-C1BA-704D-9D62-E0D24C9EE0A5}"/>
              </a:ext>
            </a:extLst>
          </p:cNvPr>
          <p:cNvSpPr/>
          <p:nvPr/>
        </p:nvSpPr>
        <p:spPr>
          <a:xfrm>
            <a:off x="411715" y="1520204"/>
            <a:ext cx="10972800" cy="769441"/>
          </a:xfrm>
          <a:prstGeom prst="rect">
            <a:avLst/>
          </a:prstGeom>
        </p:spPr>
        <p:txBody>
          <a:bodyPr wrap="square">
            <a:spAutoFit/>
          </a:bodyPr>
          <a:lstStyle/>
          <a:p>
            <a:r>
              <a:rPr lang="en-US" sz="2200" dirty="0">
                <a:latin typeface="LiberationSerif"/>
              </a:rPr>
              <a:t>If the speed of the particle is changing, then it has a </a:t>
            </a:r>
            <a:r>
              <a:rPr lang="en-US" sz="2200" b="1" dirty="0">
                <a:solidFill>
                  <a:srgbClr val="C00000"/>
                </a:solidFill>
                <a:latin typeface="LiberationSerif"/>
              </a:rPr>
              <a:t>tangential acceleration </a:t>
            </a:r>
            <a:r>
              <a:rPr lang="en-US" sz="2200" dirty="0">
                <a:latin typeface="LiberationSerif"/>
              </a:rPr>
              <a:t>that is the time rate of change of the magnitude of the velocity: </a:t>
            </a:r>
            <a:endParaRPr lang="en-US" sz="2200" dirty="0"/>
          </a:p>
        </p:txBody>
      </p:sp>
      <p:pic>
        <p:nvPicPr>
          <p:cNvPr id="6" name="Picture 5" descr="Diagram, schematic&#10;&#10;Description automatically generated">
            <a:extLst>
              <a:ext uri="{FF2B5EF4-FFF2-40B4-BE49-F238E27FC236}">
                <a16:creationId xmlns:a16="http://schemas.microsoft.com/office/drawing/2014/main" id="{08F76F06-B17B-4C4B-891E-00CC1B8FE08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180142" y="2309018"/>
            <a:ext cx="1435946" cy="731520"/>
          </a:xfrm>
          <a:prstGeom prst="rect">
            <a:avLst/>
          </a:prstGeom>
        </p:spPr>
      </p:pic>
      <p:sp>
        <p:nvSpPr>
          <p:cNvPr id="7" name="Rectangle 6">
            <a:extLst>
              <a:ext uri="{FF2B5EF4-FFF2-40B4-BE49-F238E27FC236}">
                <a16:creationId xmlns:a16="http://schemas.microsoft.com/office/drawing/2014/main" id="{8DB83D3E-0933-D540-9786-62A937450CF8}"/>
              </a:ext>
            </a:extLst>
          </p:cNvPr>
          <p:cNvSpPr/>
          <p:nvPr/>
        </p:nvSpPr>
        <p:spPr>
          <a:xfrm>
            <a:off x="433917" y="3121806"/>
            <a:ext cx="11165519" cy="769441"/>
          </a:xfrm>
          <a:prstGeom prst="rect">
            <a:avLst/>
          </a:prstGeom>
        </p:spPr>
        <p:txBody>
          <a:bodyPr wrap="square">
            <a:spAutoFit/>
          </a:bodyPr>
          <a:lstStyle/>
          <a:p>
            <a:r>
              <a:rPr lang="en-US" sz="2200" dirty="0">
                <a:latin typeface="LiberationSerif"/>
              </a:rPr>
              <a:t>Thus, a particle in circular motion with a tangential acceleration has a </a:t>
            </a:r>
            <a:r>
              <a:rPr lang="en-US" sz="2200" b="1" dirty="0">
                <a:solidFill>
                  <a:srgbClr val="C00000"/>
                </a:solidFill>
                <a:latin typeface="LiberationSerif"/>
              </a:rPr>
              <a:t>total acceleration </a:t>
            </a:r>
            <a:r>
              <a:rPr lang="en-US" sz="2200" dirty="0">
                <a:latin typeface="LiberationSerif"/>
              </a:rPr>
              <a:t>that is the vector sum of the centripetal and tangential accelerations: </a:t>
            </a:r>
            <a:endParaRPr lang="en-US" sz="2200" dirty="0"/>
          </a:p>
        </p:txBody>
      </p:sp>
      <p:pic>
        <p:nvPicPr>
          <p:cNvPr id="9" name="Picture 8" descr="A picture containing diagram&#10;&#10;Description automatically generated">
            <a:extLst>
              <a:ext uri="{FF2B5EF4-FFF2-40B4-BE49-F238E27FC236}">
                <a16:creationId xmlns:a16="http://schemas.microsoft.com/office/drawing/2014/main" id="{B8077C6E-BED8-7C44-82DC-CB13A0A42F7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950770" y="3972515"/>
            <a:ext cx="2290460" cy="594360"/>
          </a:xfrm>
          <a:prstGeom prst="rect">
            <a:avLst/>
          </a:prstGeom>
        </p:spPr>
      </p:pic>
      <p:pic>
        <p:nvPicPr>
          <p:cNvPr id="12" name="Picture 11" descr="A picture containing diagram&#10;&#10;Description automatically generated">
            <a:extLst>
              <a:ext uri="{FF2B5EF4-FFF2-40B4-BE49-F238E27FC236}">
                <a16:creationId xmlns:a16="http://schemas.microsoft.com/office/drawing/2014/main" id="{8DACF60C-6A9C-C54F-A3C9-2E1D0B0C7976}"/>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793644" y="3593956"/>
            <a:ext cx="3022600" cy="3175000"/>
          </a:xfrm>
          <a:prstGeom prst="rect">
            <a:avLst/>
          </a:prstGeom>
        </p:spPr>
      </p:pic>
      <p:sp>
        <p:nvSpPr>
          <p:cNvPr id="13" name="Rectangle 12">
            <a:extLst>
              <a:ext uri="{FF2B5EF4-FFF2-40B4-BE49-F238E27FC236}">
                <a16:creationId xmlns:a16="http://schemas.microsoft.com/office/drawing/2014/main" id="{7719B46E-7B5F-B64C-9680-3C6BEEC199DA}"/>
              </a:ext>
            </a:extLst>
          </p:cNvPr>
          <p:cNvSpPr/>
          <p:nvPr/>
        </p:nvSpPr>
        <p:spPr>
          <a:xfrm>
            <a:off x="2603712" y="4886989"/>
            <a:ext cx="5313915" cy="1477328"/>
          </a:xfrm>
          <a:prstGeom prst="rect">
            <a:avLst/>
          </a:prstGeom>
        </p:spPr>
        <p:txBody>
          <a:bodyPr wrap="square">
            <a:spAutoFit/>
          </a:bodyPr>
          <a:lstStyle/>
          <a:p>
            <a:r>
              <a:rPr lang="en-US" dirty="0">
                <a:solidFill>
                  <a:srgbClr val="000066"/>
                </a:solidFill>
              </a:rPr>
              <a:t>The centripetal acceleration points toward the center of the circle. The tangential acceleration is tangential to the circle at the particle’s position. The total acceleration is the vector sum of the tangential and centripetal accelerations, which are perpendicular.</a:t>
            </a:r>
          </a:p>
        </p:txBody>
      </p:sp>
    </p:spTree>
    <p:extLst>
      <p:ext uri="{BB962C8B-B14F-4D97-AF65-F5344CB8AC3E}">
        <p14:creationId xmlns:p14="http://schemas.microsoft.com/office/powerpoint/2010/main" val="164530298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2" descr="L:\Clients\Connexions\01_CNX_ Admin\00_OSC_Project_Resources\14_OSC_Production\PowerPoints\OSX-Stacked-TM-CMYK-300dp1-2016.jpg">
            <a:extLst>
              <a:ext uri="{FF2B5EF4-FFF2-40B4-BE49-F238E27FC236}">
                <a16:creationId xmlns:a16="http://schemas.microsoft.com/office/drawing/2014/main" id="{B8FFED19-C635-4D44-83B4-B18507ECDDF8}"/>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11074549" y="89044"/>
            <a:ext cx="1049775" cy="713232"/>
          </a:xfrm>
          <a:prstGeom prst="rect">
            <a:avLst/>
          </a:prstGeom>
          <a:noFill/>
          <a:extLst>
            <a:ext uri="{909E8E84-426E-40dd-AFC4-6F175D3DCCD1}">
              <a14:hiddenFill xmlns:a14="http://schemas.microsoft.com/office/drawing/2010/main" xmlns="">
                <a:solidFill>
                  <a:srgbClr val="FFFFFF"/>
                </a:solidFill>
              </a14:hiddenFill>
            </a:ext>
          </a:extLst>
        </p:spPr>
      </p:pic>
      <p:sp>
        <p:nvSpPr>
          <p:cNvPr id="10" name="Rectangle 9">
            <a:extLst>
              <a:ext uri="{FF2B5EF4-FFF2-40B4-BE49-F238E27FC236}">
                <a16:creationId xmlns:a16="http://schemas.microsoft.com/office/drawing/2014/main" id="{EF14CD54-D60A-1E45-8292-95068A5F3960}"/>
              </a:ext>
            </a:extLst>
          </p:cNvPr>
          <p:cNvSpPr/>
          <p:nvPr/>
        </p:nvSpPr>
        <p:spPr>
          <a:xfrm>
            <a:off x="2944678" y="89044"/>
            <a:ext cx="7399477" cy="523220"/>
          </a:xfrm>
          <a:prstGeom prst="rect">
            <a:avLst/>
          </a:prstGeom>
        </p:spPr>
        <p:txBody>
          <a:bodyPr wrap="square">
            <a:spAutoFit/>
          </a:bodyPr>
          <a:lstStyle/>
          <a:p>
            <a:r>
              <a:rPr lang="en-US" sz="2800" dirty="0">
                <a:solidFill>
                  <a:srgbClr val="C00000"/>
                </a:solidFill>
                <a:latin typeface="NewBaskervilleStd-Roman"/>
              </a:rPr>
              <a:t>Nonuniform Circular Motion </a:t>
            </a:r>
          </a:p>
        </p:txBody>
      </p:sp>
      <p:pic>
        <p:nvPicPr>
          <p:cNvPr id="9" name="Picture 8" descr="A picture containing diagram&#10;&#10;Description automatically generated">
            <a:extLst>
              <a:ext uri="{FF2B5EF4-FFF2-40B4-BE49-F238E27FC236}">
                <a16:creationId xmlns:a16="http://schemas.microsoft.com/office/drawing/2014/main" id="{B8077C6E-BED8-7C44-82DC-CB13A0A42F7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950770" y="3972515"/>
            <a:ext cx="2290460" cy="594360"/>
          </a:xfrm>
          <a:prstGeom prst="rect">
            <a:avLst/>
          </a:prstGeom>
        </p:spPr>
      </p:pic>
      <p:pic>
        <p:nvPicPr>
          <p:cNvPr id="12" name="Picture 11" descr="A picture containing diagram&#10;&#10;Description automatically generated">
            <a:extLst>
              <a:ext uri="{FF2B5EF4-FFF2-40B4-BE49-F238E27FC236}">
                <a16:creationId xmlns:a16="http://schemas.microsoft.com/office/drawing/2014/main" id="{8DACF60C-6A9C-C54F-A3C9-2E1D0B0C7976}"/>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793644" y="3593956"/>
            <a:ext cx="3022600" cy="3175000"/>
          </a:xfrm>
          <a:prstGeom prst="rect">
            <a:avLst/>
          </a:prstGeom>
        </p:spPr>
      </p:pic>
      <p:sp>
        <p:nvSpPr>
          <p:cNvPr id="13" name="Rectangle 12">
            <a:extLst>
              <a:ext uri="{FF2B5EF4-FFF2-40B4-BE49-F238E27FC236}">
                <a16:creationId xmlns:a16="http://schemas.microsoft.com/office/drawing/2014/main" id="{7719B46E-7B5F-B64C-9680-3C6BEEC199DA}"/>
              </a:ext>
            </a:extLst>
          </p:cNvPr>
          <p:cNvSpPr/>
          <p:nvPr/>
        </p:nvSpPr>
        <p:spPr>
          <a:xfrm>
            <a:off x="2603712" y="4886989"/>
            <a:ext cx="5313915" cy="1477328"/>
          </a:xfrm>
          <a:prstGeom prst="rect">
            <a:avLst/>
          </a:prstGeom>
        </p:spPr>
        <p:txBody>
          <a:bodyPr wrap="square">
            <a:spAutoFit/>
          </a:bodyPr>
          <a:lstStyle/>
          <a:p>
            <a:r>
              <a:rPr lang="en-US" dirty="0">
                <a:solidFill>
                  <a:srgbClr val="000066"/>
                </a:solidFill>
              </a:rPr>
              <a:t>The centripetal acceleration points toward the center of the circle. The tangential acceleration is tangential to the circle at the particle’s position. The total acceleration is the vector sum of the tangential and centripetal accelerations, which are perpendicular.</a:t>
            </a:r>
          </a:p>
        </p:txBody>
      </p:sp>
      <p:sp>
        <p:nvSpPr>
          <p:cNvPr id="8" name="Rectangle 7">
            <a:extLst>
              <a:ext uri="{FF2B5EF4-FFF2-40B4-BE49-F238E27FC236}">
                <a16:creationId xmlns:a16="http://schemas.microsoft.com/office/drawing/2014/main" id="{6A3BEA91-371F-7B48-A3CA-2D20F398C121}"/>
              </a:ext>
            </a:extLst>
          </p:cNvPr>
          <p:cNvSpPr/>
          <p:nvPr/>
        </p:nvSpPr>
        <p:spPr>
          <a:xfrm>
            <a:off x="444739" y="1111681"/>
            <a:ext cx="7035421" cy="2361416"/>
          </a:xfrm>
          <a:prstGeom prst="rect">
            <a:avLst/>
          </a:prstGeom>
        </p:spPr>
        <p:txBody>
          <a:bodyPr wrap="square">
            <a:spAutoFit/>
          </a:bodyPr>
          <a:lstStyle/>
          <a:p>
            <a:pPr>
              <a:lnSpc>
                <a:spcPct val="107000"/>
              </a:lnSpc>
              <a:spcAft>
                <a:spcPts val="800"/>
              </a:spcAft>
            </a:pPr>
            <a:r>
              <a:rPr lang="en-US" sz="2000" dirty="0">
                <a:solidFill>
                  <a:srgbClr val="000066"/>
                </a:solidFill>
                <a:latin typeface="Calibri" panose="020F0502020204030204" pitchFamily="34" charset="0"/>
                <a:ea typeface="Calibri" panose="020F0502020204030204" pitchFamily="34" charset="0"/>
                <a:cs typeface="Times New Roman" panose="02020603050405020304" pitchFamily="18" charset="0"/>
              </a:rPr>
              <a:t>The figure on the right represents the total acceleration of a particle moving clockwise in a circle of radius 3.20 m at a certain instant of time. For that instant, for the particle find its</a:t>
            </a:r>
          </a:p>
          <a:p>
            <a:pPr marL="457200" indent="-457200">
              <a:lnSpc>
                <a:spcPct val="107000"/>
              </a:lnSpc>
              <a:spcAft>
                <a:spcPts val="800"/>
              </a:spcAft>
              <a:buAutoNum type="alphaLcParenR"/>
            </a:pPr>
            <a:r>
              <a:rPr lang="en-US" sz="2000" dirty="0">
                <a:solidFill>
                  <a:srgbClr val="000066"/>
                </a:solidFill>
                <a:latin typeface="Calibri" panose="020F0502020204030204" pitchFamily="34" charset="0"/>
                <a:ea typeface="Calibri" panose="020F0502020204030204" pitchFamily="34" charset="0"/>
                <a:cs typeface="Times New Roman" panose="02020603050405020304" pitchFamily="18" charset="0"/>
              </a:rPr>
              <a:t>radial acceleration</a:t>
            </a:r>
          </a:p>
          <a:p>
            <a:pPr marL="457200" indent="-457200">
              <a:lnSpc>
                <a:spcPct val="107000"/>
              </a:lnSpc>
              <a:spcAft>
                <a:spcPts val="800"/>
              </a:spcAft>
              <a:buAutoNum type="alphaLcParenR"/>
            </a:pPr>
            <a:r>
              <a:rPr lang="en-US" sz="2000" dirty="0">
                <a:solidFill>
                  <a:srgbClr val="000066"/>
                </a:solidFill>
                <a:latin typeface="Calibri" panose="020F0502020204030204" pitchFamily="34" charset="0"/>
                <a:ea typeface="Calibri" panose="020F0502020204030204" pitchFamily="34" charset="0"/>
                <a:cs typeface="Times New Roman" panose="02020603050405020304" pitchFamily="18" charset="0"/>
              </a:rPr>
              <a:t>the speed</a:t>
            </a:r>
          </a:p>
          <a:p>
            <a:pPr marL="457200" indent="-457200">
              <a:lnSpc>
                <a:spcPct val="107000"/>
              </a:lnSpc>
              <a:spcAft>
                <a:spcPts val="800"/>
              </a:spcAft>
              <a:buAutoNum type="alphaLcParenR"/>
            </a:pPr>
            <a:r>
              <a:rPr lang="en-US" sz="2000" dirty="0">
                <a:solidFill>
                  <a:srgbClr val="000066"/>
                </a:solidFill>
                <a:latin typeface="Calibri" panose="020F0502020204030204" pitchFamily="34" charset="0"/>
                <a:ea typeface="Calibri" panose="020F0502020204030204" pitchFamily="34" charset="0"/>
                <a:cs typeface="Times New Roman" panose="02020603050405020304" pitchFamily="18" charset="0"/>
              </a:rPr>
              <a:t>tangential acceleration.</a:t>
            </a:r>
          </a:p>
        </p:txBody>
      </p:sp>
      <p:pic>
        <p:nvPicPr>
          <p:cNvPr id="14" name="Picture 13">
            <a:extLst>
              <a:ext uri="{FF2B5EF4-FFF2-40B4-BE49-F238E27FC236}">
                <a16:creationId xmlns:a16="http://schemas.microsoft.com/office/drawing/2014/main" id="{D7ADAA98-4E7F-D342-B350-7B3A52B23DA8}"/>
              </a:ext>
            </a:extLst>
          </p:cNvPr>
          <p:cNvPicPr>
            <a:picLocks noChangeAspect="1"/>
          </p:cNvPicPr>
          <p:nvPr/>
        </p:nvPicPr>
        <p:blipFill>
          <a:blip r:embed="rId5">
            <a:extLst>
              <a:ext uri="{28A0092B-C50C-407E-A947-70E740481C1C}">
                <a14:useLocalDpi xmlns:a14="http://schemas.microsoft.com/office/drawing/2010/main" val="0"/>
              </a:ext>
            </a:extLst>
          </a:blip>
          <a:srcRect/>
          <a:stretch>
            <a:fillRect/>
          </a:stretch>
        </p:blipFill>
        <p:spPr bwMode="auto">
          <a:xfrm>
            <a:off x="7793644" y="660617"/>
            <a:ext cx="2805248" cy="2743200"/>
          </a:xfrm>
          <a:prstGeom prst="rect">
            <a:avLst/>
          </a:prstGeom>
          <a:noFill/>
          <a:ln>
            <a:noFill/>
          </a:ln>
        </p:spPr>
      </p:pic>
      <p:sp>
        <p:nvSpPr>
          <p:cNvPr id="15" name="Rectangle 14">
            <a:extLst>
              <a:ext uri="{FF2B5EF4-FFF2-40B4-BE49-F238E27FC236}">
                <a16:creationId xmlns:a16="http://schemas.microsoft.com/office/drawing/2014/main" id="{B78A3026-46A1-5548-9B25-A0AAE46F218F}"/>
              </a:ext>
            </a:extLst>
          </p:cNvPr>
          <p:cNvSpPr/>
          <p:nvPr/>
        </p:nvSpPr>
        <p:spPr>
          <a:xfrm>
            <a:off x="444739" y="680794"/>
            <a:ext cx="5195886" cy="430887"/>
          </a:xfrm>
          <a:prstGeom prst="rect">
            <a:avLst/>
          </a:prstGeom>
        </p:spPr>
        <p:txBody>
          <a:bodyPr wrap="square">
            <a:spAutoFit/>
          </a:bodyPr>
          <a:lstStyle/>
          <a:p>
            <a:r>
              <a:rPr lang="en-US" sz="2200" dirty="0">
                <a:solidFill>
                  <a:srgbClr val="0000CC"/>
                </a:solidFill>
              </a:rPr>
              <a:t>Assignment 6</a:t>
            </a:r>
          </a:p>
        </p:txBody>
      </p:sp>
      <p:pic>
        <p:nvPicPr>
          <p:cNvPr id="11" name="Picture 10" descr="A picture containing text, clock, watch&#10;&#10;Description automatically generated">
            <a:extLst>
              <a:ext uri="{FF2B5EF4-FFF2-40B4-BE49-F238E27FC236}">
                <a16:creationId xmlns:a16="http://schemas.microsoft.com/office/drawing/2014/main" id="{61790057-D9CC-E547-B6CD-CFC9D1685009}"/>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444739" y="3837143"/>
            <a:ext cx="1389185" cy="685800"/>
          </a:xfrm>
          <a:prstGeom prst="rect">
            <a:avLst/>
          </a:prstGeom>
        </p:spPr>
      </p:pic>
    </p:spTree>
    <p:extLst>
      <p:ext uri="{BB962C8B-B14F-4D97-AF65-F5344CB8AC3E}">
        <p14:creationId xmlns:p14="http://schemas.microsoft.com/office/powerpoint/2010/main" val="289206143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8710733-338A-9A45-A77B-9B015AFDC0F8}"/>
              </a:ext>
            </a:extLst>
          </p:cNvPr>
          <p:cNvSpPr/>
          <p:nvPr/>
        </p:nvSpPr>
        <p:spPr>
          <a:xfrm>
            <a:off x="2486030" y="89044"/>
            <a:ext cx="7858125" cy="523220"/>
          </a:xfrm>
          <a:prstGeom prst="rect">
            <a:avLst/>
          </a:prstGeom>
        </p:spPr>
        <p:txBody>
          <a:bodyPr wrap="square">
            <a:spAutoFit/>
          </a:bodyPr>
          <a:lstStyle/>
          <a:p>
            <a:r>
              <a:rPr lang="en-US" sz="2800" dirty="0">
                <a:solidFill>
                  <a:srgbClr val="C00000"/>
                </a:solidFill>
                <a:latin typeface="NewBaskervilleStd-Roman"/>
              </a:rPr>
              <a:t>Relative Motion in One and Two Dimensions </a:t>
            </a:r>
          </a:p>
        </p:txBody>
      </p:sp>
      <p:pic>
        <p:nvPicPr>
          <p:cNvPr id="5" name="Picture 2" descr="L:\Clients\Connexions\01_CNX_ Admin\00_OSC_Project_Resources\14_OSC_Production\PowerPoints\OSX-Stacked-TM-CMYK-300dp1-2016.jpg">
            <a:extLst>
              <a:ext uri="{FF2B5EF4-FFF2-40B4-BE49-F238E27FC236}">
                <a16:creationId xmlns:a16="http://schemas.microsoft.com/office/drawing/2014/main" id="{B8FFED19-C635-4D44-83B4-B18507ECDDF8}"/>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11074549" y="89044"/>
            <a:ext cx="1049775" cy="713232"/>
          </a:xfrm>
          <a:prstGeom prst="rect">
            <a:avLst/>
          </a:prstGeom>
          <a:noFill/>
          <a:extLst>
            <a:ext uri="{909E8E84-426E-40dd-AFC4-6F175D3DCCD1}">
              <a14:hiddenFill xmlns:a14="http://schemas.microsoft.com/office/drawing/2010/main" xmlns="">
                <a:solidFill>
                  <a:srgbClr val="FFFFFF"/>
                </a:solidFill>
              </a14:hiddenFill>
            </a:ext>
          </a:extLst>
        </p:spPr>
      </p:pic>
      <p:sp>
        <p:nvSpPr>
          <p:cNvPr id="4" name="Rectangle 3">
            <a:extLst>
              <a:ext uri="{FF2B5EF4-FFF2-40B4-BE49-F238E27FC236}">
                <a16:creationId xmlns:a16="http://schemas.microsoft.com/office/drawing/2014/main" id="{F95FF628-1C78-584E-A9AD-B4092CDB2714}"/>
              </a:ext>
            </a:extLst>
          </p:cNvPr>
          <p:cNvSpPr/>
          <p:nvPr/>
        </p:nvSpPr>
        <p:spPr>
          <a:xfrm>
            <a:off x="595193" y="666265"/>
            <a:ext cx="2604944" cy="430887"/>
          </a:xfrm>
          <a:prstGeom prst="rect">
            <a:avLst/>
          </a:prstGeom>
        </p:spPr>
        <p:txBody>
          <a:bodyPr wrap="none">
            <a:spAutoFit/>
          </a:bodyPr>
          <a:lstStyle/>
          <a:p>
            <a:r>
              <a:rPr lang="en-US" sz="2200" b="1" dirty="0">
                <a:solidFill>
                  <a:srgbClr val="000066"/>
                </a:solidFill>
                <a:latin typeface="NewBaskervilleStd-Roman"/>
              </a:rPr>
              <a:t>A frame of reference</a:t>
            </a:r>
            <a:endParaRPr lang="en-US" sz="2200" b="1" dirty="0">
              <a:solidFill>
                <a:srgbClr val="000066"/>
              </a:solidFill>
            </a:endParaRPr>
          </a:p>
        </p:txBody>
      </p:sp>
      <p:sp>
        <p:nvSpPr>
          <p:cNvPr id="6" name="Rectangle 5">
            <a:extLst>
              <a:ext uri="{FF2B5EF4-FFF2-40B4-BE49-F238E27FC236}">
                <a16:creationId xmlns:a16="http://schemas.microsoft.com/office/drawing/2014/main" id="{534E66ED-CD80-4E4C-A505-EC2FC6A1CBA3}"/>
              </a:ext>
            </a:extLst>
          </p:cNvPr>
          <p:cNvSpPr/>
          <p:nvPr/>
        </p:nvSpPr>
        <p:spPr>
          <a:xfrm>
            <a:off x="595193" y="997492"/>
            <a:ext cx="5739829" cy="769441"/>
          </a:xfrm>
          <a:prstGeom prst="rect">
            <a:avLst/>
          </a:prstGeom>
        </p:spPr>
        <p:txBody>
          <a:bodyPr wrap="square">
            <a:spAutoFit/>
          </a:bodyPr>
          <a:lstStyle/>
          <a:p>
            <a:r>
              <a:rPr lang="en-US" sz="2200" dirty="0">
                <a:latin typeface="NewBaskervilleStd-Roman"/>
              </a:rPr>
              <a:t>a Cartesian coordinate system for which an observer is at rest with respect to the origin</a:t>
            </a:r>
            <a:endParaRPr lang="en-US" sz="2200" dirty="0"/>
          </a:p>
        </p:txBody>
      </p:sp>
      <p:pic>
        <p:nvPicPr>
          <p:cNvPr id="1026" name="Picture 2" descr="Is it possible to run along the top of a moving train? © Getty Images">
            <a:extLst>
              <a:ext uri="{FF2B5EF4-FFF2-40B4-BE49-F238E27FC236}">
                <a16:creationId xmlns:a16="http://schemas.microsoft.com/office/drawing/2014/main" id="{4FA85F46-40B9-EC4A-A930-18FCBD1D424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6227336" y="4251072"/>
            <a:ext cx="5554710" cy="2286000"/>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2">
            <a:extLst>
              <a:ext uri="{FF2B5EF4-FFF2-40B4-BE49-F238E27FC236}">
                <a16:creationId xmlns:a16="http://schemas.microsoft.com/office/drawing/2014/main" id="{FA5BADCC-EA0D-B84D-8B81-6F4BAE7C6FB7}"/>
              </a:ext>
            </a:extLst>
          </p:cNvPr>
          <p:cNvSpPr/>
          <p:nvPr/>
        </p:nvSpPr>
        <p:spPr>
          <a:xfrm>
            <a:off x="6100447" y="6522735"/>
            <a:ext cx="6091553" cy="246221"/>
          </a:xfrm>
          <a:prstGeom prst="rect">
            <a:avLst/>
          </a:prstGeom>
        </p:spPr>
        <p:txBody>
          <a:bodyPr wrap="square">
            <a:spAutoFit/>
          </a:bodyPr>
          <a:lstStyle/>
          <a:p>
            <a:r>
              <a:rPr lang="en-US" sz="1000" dirty="0"/>
              <a:t>Image credit: https://</a:t>
            </a:r>
            <a:r>
              <a:rPr lang="en-US" sz="1000" dirty="0" err="1"/>
              <a:t>www.sciencefocus.com</a:t>
            </a:r>
            <a:r>
              <a:rPr lang="en-US" sz="1000" dirty="0"/>
              <a:t>/science/is-it-possible-to-run-along-the-top-of-a-moving-train/</a:t>
            </a:r>
          </a:p>
        </p:txBody>
      </p:sp>
      <p:pic>
        <p:nvPicPr>
          <p:cNvPr id="1028" name="Picture 4">
            <a:extLst>
              <a:ext uri="{FF2B5EF4-FFF2-40B4-BE49-F238E27FC236}">
                <a16:creationId xmlns:a16="http://schemas.microsoft.com/office/drawing/2014/main" id="{6A0ED3D4-893D-BE4F-88B8-DEBFE558AF9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227336" y="1436576"/>
            <a:ext cx="4551527" cy="2514600"/>
          </a:xfrm>
          <a:prstGeom prst="rect">
            <a:avLst/>
          </a:prstGeom>
          <a:noFill/>
          <a:extLst>
            <a:ext uri="{909E8E84-426E-40DD-AFC4-6F175D3DCCD1}">
              <a14:hiddenFill xmlns:a14="http://schemas.microsoft.com/office/drawing/2010/main">
                <a:solidFill>
                  <a:srgbClr val="FFFFFF"/>
                </a:solidFill>
              </a14:hiddenFill>
            </a:ext>
          </a:extLst>
        </p:spPr>
      </p:pic>
      <p:sp>
        <p:nvSpPr>
          <p:cNvPr id="8" name="Rectangle 7">
            <a:extLst>
              <a:ext uri="{FF2B5EF4-FFF2-40B4-BE49-F238E27FC236}">
                <a16:creationId xmlns:a16="http://schemas.microsoft.com/office/drawing/2014/main" id="{D43D836B-B369-9C41-B3BD-AC9F1A057294}"/>
              </a:ext>
            </a:extLst>
          </p:cNvPr>
          <p:cNvSpPr/>
          <p:nvPr/>
        </p:nvSpPr>
        <p:spPr>
          <a:xfrm>
            <a:off x="6558778" y="3969754"/>
            <a:ext cx="4616957" cy="246221"/>
          </a:xfrm>
          <a:prstGeom prst="rect">
            <a:avLst/>
          </a:prstGeom>
        </p:spPr>
        <p:txBody>
          <a:bodyPr wrap="square">
            <a:spAutoFit/>
          </a:bodyPr>
          <a:lstStyle/>
          <a:p>
            <a:r>
              <a:rPr lang="en-US" sz="1000" dirty="0"/>
              <a:t>Image credit: https://</a:t>
            </a:r>
            <a:r>
              <a:rPr lang="en-US" sz="1000" dirty="0" err="1"/>
              <a:t>www.britannica.com</a:t>
            </a:r>
            <a:r>
              <a:rPr lang="en-US" sz="1000" dirty="0"/>
              <a:t>/science/relativity/Special-relativity</a:t>
            </a:r>
          </a:p>
        </p:txBody>
      </p:sp>
      <p:cxnSp>
        <p:nvCxnSpPr>
          <p:cNvPr id="11" name="Straight Arrow Connector 10">
            <a:extLst>
              <a:ext uri="{FF2B5EF4-FFF2-40B4-BE49-F238E27FC236}">
                <a16:creationId xmlns:a16="http://schemas.microsoft.com/office/drawing/2014/main" id="{175FC096-0D32-A044-B563-3AB0131FB88F}"/>
              </a:ext>
            </a:extLst>
          </p:cNvPr>
          <p:cNvCxnSpPr/>
          <p:nvPr/>
        </p:nvCxnSpPr>
        <p:spPr>
          <a:xfrm>
            <a:off x="6227336" y="3970162"/>
            <a:ext cx="808895"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13" name="Straight Arrow Connector 12">
            <a:extLst>
              <a:ext uri="{FF2B5EF4-FFF2-40B4-BE49-F238E27FC236}">
                <a16:creationId xmlns:a16="http://schemas.microsoft.com/office/drawing/2014/main" id="{91AD1860-579F-CF47-9CF0-D366CBC843E7}"/>
              </a:ext>
            </a:extLst>
          </p:cNvPr>
          <p:cNvCxnSpPr/>
          <p:nvPr/>
        </p:nvCxnSpPr>
        <p:spPr>
          <a:xfrm flipV="1">
            <a:off x="6227336" y="2867186"/>
            <a:ext cx="0" cy="1102976"/>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sp>
        <p:nvSpPr>
          <p:cNvPr id="14" name="Rectangle 13">
            <a:extLst>
              <a:ext uri="{FF2B5EF4-FFF2-40B4-BE49-F238E27FC236}">
                <a16:creationId xmlns:a16="http://schemas.microsoft.com/office/drawing/2014/main" id="{9A79D6B0-B505-864D-BE46-7EC4312FE74B}"/>
              </a:ext>
            </a:extLst>
          </p:cNvPr>
          <p:cNvSpPr/>
          <p:nvPr/>
        </p:nvSpPr>
        <p:spPr>
          <a:xfrm>
            <a:off x="397756" y="1921464"/>
            <a:ext cx="5937266" cy="369332"/>
          </a:xfrm>
          <a:prstGeom prst="rect">
            <a:avLst/>
          </a:prstGeom>
        </p:spPr>
        <p:txBody>
          <a:bodyPr wrap="none">
            <a:spAutoFit/>
          </a:bodyPr>
          <a:lstStyle/>
          <a:p>
            <a:r>
              <a:rPr lang="en-US" dirty="0">
                <a:solidFill>
                  <a:srgbClr val="000066"/>
                </a:solidFill>
                <a:latin typeface="LiberationSerif"/>
              </a:rPr>
              <a:t>Take the example of the person sitting in a train moving east. </a:t>
            </a:r>
            <a:endParaRPr lang="en-US" dirty="0">
              <a:solidFill>
                <a:srgbClr val="000066"/>
              </a:solidFill>
            </a:endParaRPr>
          </a:p>
        </p:txBody>
      </p:sp>
      <p:pic>
        <p:nvPicPr>
          <p:cNvPr id="16" name="Picture 15" descr="Black text on a white background&#10;&#10;Description automatically generated">
            <a:extLst>
              <a:ext uri="{FF2B5EF4-FFF2-40B4-BE49-F238E27FC236}">
                <a16:creationId xmlns:a16="http://schemas.microsoft.com/office/drawing/2014/main" id="{D9EA7D92-0A0F-B245-9E0E-66054DA103D1}"/>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413137" y="2319206"/>
            <a:ext cx="3036055" cy="594360"/>
          </a:xfrm>
          <a:prstGeom prst="rect">
            <a:avLst/>
          </a:prstGeom>
        </p:spPr>
      </p:pic>
      <p:sp>
        <p:nvSpPr>
          <p:cNvPr id="17" name="Rectangle 16">
            <a:extLst>
              <a:ext uri="{FF2B5EF4-FFF2-40B4-BE49-F238E27FC236}">
                <a16:creationId xmlns:a16="http://schemas.microsoft.com/office/drawing/2014/main" id="{89E8EE58-3455-B845-986F-E6AD5AD1754C}"/>
              </a:ext>
            </a:extLst>
          </p:cNvPr>
          <p:cNvSpPr/>
          <p:nvPr/>
        </p:nvSpPr>
        <p:spPr>
          <a:xfrm>
            <a:off x="949370" y="2941976"/>
            <a:ext cx="4388894" cy="461665"/>
          </a:xfrm>
          <a:prstGeom prst="rect">
            <a:avLst/>
          </a:prstGeom>
        </p:spPr>
        <p:txBody>
          <a:bodyPr wrap="none">
            <a:spAutoFit/>
          </a:bodyPr>
          <a:lstStyle/>
          <a:p>
            <a:r>
              <a:rPr lang="en-US" sz="2400" b="1" dirty="0">
                <a:solidFill>
                  <a:srgbClr val="C00000"/>
                </a:solidFill>
                <a:latin typeface="LiberationSerif"/>
              </a:rPr>
              <a:t>V</a:t>
            </a:r>
            <a:r>
              <a:rPr lang="en-US" sz="2400" baseline="-25000" dirty="0">
                <a:solidFill>
                  <a:srgbClr val="C00000"/>
                </a:solidFill>
                <a:latin typeface="LiberationSerif"/>
              </a:rPr>
              <a:t>AB</a:t>
            </a:r>
            <a:r>
              <a:rPr lang="en-US" sz="2400" dirty="0">
                <a:solidFill>
                  <a:srgbClr val="C00000"/>
                </a:solidFill>
                <a:latin typeface="LiberationSerif"/>
              </a:rPr>
              <a:t> velocity of A with respect to B</a:t>
            </a:r>
            <a:endParaRPr lang="en-US" sz="2400" dirty="0">
              <a:solidFill>
                <a:srgbClr val="C00000"/>
              </a:solidFill>
            </a:endParaRPr>
          </a:p>
        </p:txBody>
      </p:sp>
      <p:pic>
        <p:nvPicPr>
          <p:cNvPr id="20" name="Picture 2" descr="Velocity vectors of the train with respect to Earth, person with respect to the train, and person with respect to Earth. V sub T E is the velocity vector of the train with respect to Earth. It has value 10 meters per second and is represented as a long green arrow pointing to the right. V sub P T is the velocity vector of the person with respect to the train. It has value -2 meters per second and is represented as a short green arrow pointing to the left. V sub P E is the velocity vector of the person with respect to Earth. It has value 8 meters per second and is represented as a medium length green arrow pointing to the right.">
            <a:extLst>
              <a:ext uri="{FF2B5EF4-FFF2-40B4-BE49-F238E27FC236}">
                <a16:creationId xmlns:a16="http://schemas.microsoft.com/office/drawing/2014/main" id="{FB6E138B-0439-E643-8BB6-A3FBACB1B845}"/>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60918" y="4494604"/>
            <a:ext cx="5965798" cy="1143000"/>
          </a:xfrm>
          <a:prstGeom prst="rect">
            <a:avLst/>
          </a:prstGeom>
          <a:noFill/>
          <a:extLst>
            <a:ext uri="{909E8E84-426E-40DD-AFC4-6F175D3DCCD1}">
              <a14:hiddenFill xmlns:a14="http://schemas.microsoft.com/office/drawing/2010/main">
                <a:solidFill>
                  <a:srgbClr val="FFFFFF"/>
                </a:solidFill>
              </a14:hiddenFill>
            </a:ext>
          </a:extLst>
        </p:spPr>
      </p:pic>
      <p:sp>
        <p:nvSpPr>
          <p:cNvPr id="21" name="Text Placeholder 6">
            <a:extLst>
              <a:ext uri="{FF2B5EF4-FFF2-40B4-BE49-F238E27FC236}">
                <a16:creationId xmlns:a16="http://schemas.microsoft.com/office/drawing/2014/main" id="{E2930CFE-0EA9-F548-89C6-F3F3712C7E38}"/>
              </a:ext>
            </a:extLst>
          </p:cNvPr>
          <p:cNvSpPr txBox="1">
            <a:spLocks/>
          </p:cNvSpPr>
          <p:nvPr/>
        </p:nvSpPr>
        <p:spPr>
          <a:xfrm>
            <a:off x="285349" y="5779489"/>
            <a:ext cx="5829575" cy="601360"/>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800" dirty="0">
                <a:solidFill>
                  <a:srgbClr val="000066"/>
                </a:solidFill>
              </a:rPr>
              <a:t>Velocity vectors of the train with respect to Earth, person with respect to the train, and person with respect to Earth.</a:t>
            </a:r>
          </a:p>
        </p:txBody>
      </p:sp>
    </p:spTree>
    <p:extLst>
      <p:ext uri="{BB962C8B-B14F-4D97-AF65-F5344CB8AC3E}">
        <p14:creationId xmlns:p14="http://schemas.microsoft.com/office/powerpoint/2010/main" val="3924402480"/>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2" descr="L:\Clients\Connexions\01_CNX_ Admin\00_OSC_Project_Resources\14_OSC_Production\PowerPoints\OSX-Stacked-TM-CMYK-300dp1-2016.jpg">
            <a:extLst>
              <a:ext uri="{FF2B5EF4-FFF2-40B4-BE49-F238E27FC236}">
                <a16:creationId xmlns:a16="http://schemas.microsoft.com/office/drawing/2014/main" id="{B8FFED19-C635-4D44-83B4-B18507ECDDF8}"/>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11074549" y="89044"/>
            <a:ext cx="1049775" cy="713232"/>
          </a:xfrm>
          <a:prstGeom prst="rect">
            <a:avLst/>
          </a:prstGeom>
          <a:noFill/>
          <a:extLst>
            <a:ext uri="{909E8E84-426E-40dd-AFC4-6F175D3DCCD1}">
              <a14:hiddenFill xmlns:a14="http://schemas.microsoft.com/office/drawing/2010/main" xmlns="">
                <a:solidFill>
                  <a:srgbClr val="FFFFFF"/>
                </a:solidFill>
              </a14:hiddenFill>
            </a:ext>
          </a:extLst>
        </p:spPr>
      </p:pic>
      <p:sp>
        <p:nvSpPr>
          <p:cNvPr id="4" name="Rectangle 3">
            <a:extLst>
              <a:ext uri="{FF2B5EF4-FFF2-40B4-BE49-F238E27FC236}">
                <a16:creationId xmlns:a16="http://schemas.microsoft.com/office/drawing/2014/main" id="{5C7BC111-C002-E041-ADD7-6B728004E95B}"/>
              </a:ext>
            </a:extLst>
          </p:cNvPr>
          <p:cNvSpPr/>
          <p:nvPr/>
        </p:nvSpPr>
        <p:spPr>
          <a:xfrm>
            <a:off x="2486030" y="89044"/>
            <a:ext cx="7858125" cy="523220"/>
          </a:xfrm>
          <a:prstGeom prst="rect">
            <a:avLst/>
          </a:prstGeom>
        </p:spPr>
        <p:txBody>
          <a:bodyPr wrap="square">
            <a:spAutoFit/>
          </a:bodyPr>
          <a:lstStyle/>
          <a:p>
            <a:r>
              <a:rPr lang="en-US" sz="2800" dirty="0">
                <a:solidFill>
                  <a:srgbClr val="C00000"/>
                </a:solidFill>
                <a:latin typeface="NewBaskervilleStd-Roman"/>
              </a:rPr>
              <a:t>Relative Motion in One and Two Dimensions </a:t>
            </a:r>
          </a:p>
        </p:txBody>
      </p:sp>
      <p:pic>
        <p:nvPicPr>
          <p:cNvPr id="6" name="Picture 5" descr="Diagram&#10;&#10;Description automatically generated">
            <a:extLst>
              <a:ext uri="{FF2B5EF4-FFF2-40B4-BE49-F238E27FC236}">
                <a16:creationId xmlns:a16="http://schemas.microsoft.com/office/drawing/2014/main" id="{231CD147-C0A8-444F-A7D2-EDDCBDA6BBA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41365" y="802276"/>
            <a:ext cx="4445000" cy="4254500"/>
          </a:xfrm>
          <a:prstGeom prst="rect">
            <a:avLst/>
          </a:prstGeom>
        </p:spPr>
      </p:pic>
      <mc:AlternateContent xmlns:mc="http://schemas.openxmlformats.org/markup-compatibility/2006" xmlns:a14="http://schemas.microsoft.com/office/drawing/2010/main">
        <mc:Choice Requires="a14">
          <p:sp>
            <p:nvSpPr>
              <p:cNvPr id="7" name="Text Placeholder 13">
                <a:extLst>
                  <a:ext uri="{FF2B5EF4-FFF2-40B4-BE49-F238E27FC236}">
                    <a16:creationId xmlns:a16="http://schemas.microsoft.com/office/drawing/2014/main" id="{DA897CAA-B579-324F-97AF-76BBEE0B0C71}"/>
                  </a:ext>
                </a:extLst>
              </p:cNvPr>
              <p:cNvSpPr txBox="1">
                <a:spLocks/>
              </p:cNvSpPr>
              <p:nvPr/>
            </p:nvSpPr>
            <p:spPr>
              <a:xfrm>
                <a:off x="5178032" y="802276"/>
                <a:ext cx="5704850" cy="844155"/>
              </a:xfrm>
              <a:prstGeom prst="rect">
                <a:avLst/>
              </a:prstGeom>
            </p:spPr>
            <p:txBody>
              <a:bodyPr vert="horz" lIns="91440" tIns="45720" rIns="91440" bIns="45720" rtlCol="0">
                <a:noAutofit/>
              </a:bodyPr>
              <a:lstStyle>
                <a:lvl1pPr marL="0" indent="0" algn="l" defTabSz="914400" rtl="0" eaLnBrk="1" latinLnBrk="0" hangingPunct="1">
                  <a:spcBef>
                    <a:spcPct val="20000"/>
                  </a:spcBef>
                  <a:spcAft>
                    <a:spcPts val="600"/>
                  </a:spcAft>
                  <a:buClr>
                    <a:srgbClr val="6CB255"/>
                  </a:buClr>
                  <a:buFont typeface="Arial" pitchFamily="34" charset="0"/>
                  <a:buNone/>
                  <a:defRPr sz="2000" b="0" kern="1200">
                    <a:solidFill>
                      <a:srgbClr val="212F62"/>
                    </a:solidFill>
                    <a:latin typeface="+mn-lt"/>
                    <a:ea typeface="+mn-ea"/>
                    <a:cs typeface="+mn-cs"/>
                  </a:defRPr>
                </a:lvl1pPr>
                <a:lvl2pPr marL="731520" indent="-457200" algn="l" defTabSz="914400" rtl="0" eaLnBrk="1" latinLnBrk="0" hangingPunct="1">
                  <a:spcBef>
                    <a:spcPct val="20000"/>
                  </a:spcBef>
                  <a:buClr>
                    <a:srgbClr val="6CB255"/>
                  </a:buClr>
                  <a:buFont typeface="+mj-lt"/>
                  <a:buAutoNum type="alphaLcParenR"/>
                  <a:defRPr sz="2000" kern="1200">
                    <a:solidFill>
                      <a:schemeClr val="tx1"/>
                    </a:solidFill>
                    <a:latin typeface="+mn-lt"/>
                    <a:ea typeface="+mn-ea"/>
                    <a:cs typeface="+mn-cs"/>
                  </a:defRPr>
                </a:lvl2pPr>
                <a:lvl3pPr marL="1257300" indent="-342900" algn="l" defTabSz="914400" rtl="0" eaLnBrk="1" latinLnBrk="0" hangingPunct="1">
                  <a:spcBef>
                    <a:spcPct val="20000"/>
                  </a:spcBef>
                  <a:buClr>
                    <a:srgbClr val="6CB255"/>
                  </a:buClr>
                  <a:buFont typeface="+mj-lt"/>
                  <a:buAutoNum type="alphaLcParenR"/>
                  <a:defRPr sz="1800" kern="1200">
                    <a:solidFill>
                      <a:schemeClr val="tx1"/>
                    </a:solidFill>
                    <a:latin typeface="+mn-lt"/>
                    <a:ea typeface="+mn-ea"/>
                    <a:cs typeface="+mn-cs"/>
                  </a:defRPr>
                </a:lvl3pPr>
                <a:lvl4pPr marL="1714500" indent="-342900" algn="l" defTabSz="914400" rtl="0" eaLnBrk="1" latinLnBrk="0" hangingPunct="1">
                  <a:spcBef>
                    <a:spcPct val="20000"/>
                  </a:spcBef>
                  <a:buClr>
                    <a:srgbClr val="6CB255"/>
                  </a:buClr>
                  <a:buFont typeface="+mj-lt"/>
                  <a:buAutoNum type="alphaLcParenR"/>
                  <a:defRPr sz="1800" kern="1200">
                    <a:solidFill>
                      <a:schemeClr val="tx1"/>
                    </a:solidFill>
                    <a:latin typeface="+mn-lt"/>
                    <a:ea typeface="+mn-ea"/>
                    <a:cs typeface="+mn-cs"/>
                  </a:defRPr>
                </a:lvl4pPr>
                <a:lvl5pPr marL="2171700" indent="-342900" algn="l" defTabSz="914400" rtl="0" eaLnBrk="1" latinLnBrk="0" hangingPunct="1">
                  <a:spcBef>
                    <a:spcPct val="20000"/>
                  </a:spcBef>
                  <a:buClr>
                    <a:srgbClr val="6CB255"/>
                  </a:buClr>
                  <a:buFont typeface="+mj-lt"/>
                  <a:buAutoNum type="alphaLcParenR"/>
                  <a:defRPr sz="1800" kern="1200" baseline="0">
                    <a:solidFill>
                      <a:schemeClr val="tx1"/>
                    </a:solidFill>
                    <a:latin typeface="+mn-lt"/>
                    <a:ea typeface="+mn-ea"/>
                    <a:cs typeface="+mn-cs"/>
                  </a:defRPr>
                </a:lvl5pPr>
                <a:lvl6pPr marL="2514600" indent="-228600" algn="l" defTabSz="914400" rtl="0" eaLnBrk="1" latinLnBrk="0" hangingPunct="1">
                  <a:spcBef>
                    <a:spcPct val="20000"/>
                  </a:spcBef>
                  <a:buClr>
                    <a:schemeClr val="tx2"/>
                  </a:buClr>
                  <a:buFont typeface="Arial" pitchFamily="34" charset="0"/>
                  <a:buChar char="•"/>
                  <a:defRPr sz="1600" kern="1200">
                    <a:solidFill>
                      <a:schemeClr val="tx1"/>
                    </a:solidFill>
                    <a:latin typeface="+mn-lt"/>
                    <a:ea typeface="+mn-ea"/>
                    <a:cs typeface="+mn-cs"/>
                  </a:defRPr>
                </a:lvl6pPr>
                <a:lvl7pPr marL="2971800" indent="-228600" algn="l" defTabSz="914400" rtl="0" eaLnBrk="1" latinLnBrk="0" hangingPunct="1">
                  <a:spcBef>
                    <a:spcPct val="20000"/>
                  </a:spcBef>
                  <a:buClr>
                    <a:schemeClr val="tx2"/>
                  </a:buClr>
                  <a:buFont typeface="Arial" pitchFamily="34" charset="0"/>
                  <a:buChar char="•"/>
                  <a:defRPr sz="1600" kern="1200">
                    <a:solidFill>
                      <a:schemeClr val="tx1"/>
                    </a:solidFill>
                    <a:latin typeface="+mn-lt"/>
                    <a:ea typeface="+mn-ea"/>
                    <a:cs typeface="+mn-cs"/>
                  </a:defRPr>
                </a:lvl7pPr>
                <a:lvl8pPr marL="3429000" indent="-228600" algn="l" defTabSz="914400" rtl="0" eaLnBrk="1" latinLnBrk="0" hangingPunct="1">
                  <a:spcBef>
                    <a:spcPct val="20000"/>
                  </a:spcBef>
                  <a:buClr>
                    <a:schemeClr val="tx2"/>
                  </a:buClr>
                  <a:buFont typeface="Arial" pitchFamily="34" charset="0"/>
                  <a:buChar char="•"/>
                  <a:defRPr sz="1600" kern="1200">
                    <a:solidFill>
                      <a:schemeClr val="tx1"/>
                    </a:solidFill>
                    <a:latin typeface="+mn-lt"/>
                    <a:ea typeface="+mn-ea"/>
                    <a:cs typeface="+mn-cs"/>
                  </a:defRPr>
                </a:lvl8pPr>
                <a:lvl9pPr marL="3886200" indent="-228600" algn="l" defTabSz="914400" rtl="0" eaLnBrk="1" latinLnBrk="0" hangingPunct="1">
                  <a:spcBef>
                    <a:spcPct val="20000"/>
                  </a:spcBef>
                  <a:buClr>
                    <a:schemeClr val="tx2"/>
                  </a:buClr>
                  <a:buFont typeface="Arial" pitchFamily="34" charset="0"/>
                  <a:buChar char="•"/>
                  <a:defRPr sz="1600" kern="1200">
                    <a:solidFill>
                      <a:schemeClr val="tx1"/>
                    </a:solidFill>
                    <a:latin typeface="+mn-lt"/>
                    <a:ea typeface="+mn-ea"/>
                    <a:cs typeface="+mn-cs"/>
                  </a:defRPr>
                </a:lvl9pPr>
              </a:lstStyle>
              <a:p>
                <a:r>
                  <a:rPr lang="en-US" sz="2400" dirty="0">
                    <a:solidFill>
                      <a:srgbClr val="000000"/>
                    </a:solidFill>
                  </a:rPr>
                  <a:t>The positions of particle </a:t>
                </a:r>
                <a:r>
                  <a:rPr lang="en-US" sz="2400" i="1" dirty="0">
                    <a:solidFill>
                      <a:srgbClr val="000000"/>
                    </a:solidFill>
                  </a:rPr>
                  <a:t>P</a:t>
                </a:r>
                <a:r>
                  <a:rPr lang="en-US" sz="2400" dirty="0">
                    <a:solidFill>
                      <a:srgbClr val="000000"/>
                    </a:solidFill>
                  </a:rPr>
                  <a:t> relative to frames </a:t>
                </a:r>
                <a:r>
                  <a:rPr lang="en-US" sz="2400" i="1" dirty="0">
                    <a:solidFill>
                      <a:srgbClr val="000000"/>
                    </a:solidFill>
                  </a:rPr>
                  <a:t>S </a:t>
                </a:r>
                <a:r>
                  <a:rPr lang="en-US" sz="2400" dirty="0">
                    <a:solidFill>
                      <a:srgbClr val="000000"/>
                    </a:solidFill>
                  </a:rPr>
                  <a:t>and </a:t>
                </a:r>
                <a:r>
                  <a:rPr lang="en-US" sz="2400" i="1" dirty="0">
                    <a:solidFill>
                      <a:srgbClr val="000000"/>
                    </a:solidFill>
                  </a:rPr>
                  <a:t>S</a:t>
                </a:r>
                <a:r>
                  <a:rPr lang="en-US" sz="2400" dirty="0">
                    <a:solidFill>
                      <a:srgbClr val="000000"/>
                    </a:solidFill>
                  </a:rPr>
                  <a:t>′ are </a:t>
                </a:r>
                <a14:m>
                  <m:oMath xmlns:m="http://schemas.openxmlformats.org/officeDocument/2006/math">
                    <m:sSub>
                      <m:sSubPr>
                        <m:ctrlPr>
                          <a:rPr lang="en-US" sz="2400" i="1" smtClean="0">
                            <a:solidFill>
                              <a:srgbClr val="000000"/>
                            </a:solidFill>
                            <a:latin typeface="Cambria Math" panose="02040503050406030204" pitchFamily="18" charset="0"/>
                          </a:rPr>
                        </m:ctrlPr>
                      </m:sSubPr>
                      <m:e>
                        <m:acc>
                          <m:accPr>
                            <m:chr m:val="⃗"/>
                            <m:ctrlPr>
                              <a:rPr lang="en-US" sz="2400" i="1" smtClean="0">
                                <a:solidFill>
                                  <a:srgbClr val="000000"/>
                                </a:solidFill>
                                <a:latin typeface="Cambria Math" panose="02040503050406030204" pitchFamily="18" charset="0"/>
                              </a:rPr>
                            </m:ctrlPr>
                          </m:accPr>
                          <m:e>
                            <m:r>
                              <a:rPr lang="en-US" sz="2400" b="1" i="0" smtClean="0">
                                <a:solidFill>
                                  <a:srgbClr val="000000"/>
                                </a:solidFill>
                                <a:latin typeface="Cambria Math"/>
                              </a:rPr>
                              <m:t>𝐫</m:t>
                            </m:r>
                          </m:e>
                        </m:acc>
                      </m:e>
                      <m:sub>
                        <m:r>
                          <a:rPr lang="en-US" sz="2400" b="0" i="1" smtClean="0">
                            <a:solidFill>
                              <a:srgbClr val="000000"/>
                            </a:solidFill>
                            <a:latin typeface="Cambria Math"/>
                          </a:rPr>
                          <m:t>𝑃𝑆</m:t>
                        </m:r>
                      </m:sub>
                    </m:sSub>
                  </m:oMath>
                </a14:m>
                <a:r>
                  <a:rPr lang="en-US" sz="2400" dirty="0">
                    <a:solidFill>
                      <a:srgbClr val="000000"/>
                    </a:solidFill>
                  </a:rPr>
                  <a:t> and </a:t>
                </a:r>
                <a14:m>
                  <m:oMath xmlns:m="http://schemas.openxmlformats.org/officeDocument/2006/math">
                    <m:sSub>
                      <m:sSubPr>
                        <m:ctrlPr>
                          <a:rPr lang="en-US" sz="2400" i="1" smtClean="0">
                            <a:solidFill>
                              <a:srgbClr val="000000"/>
                            </a:solidFill>
                            <a:latin typeface="Cambria Math" panose="02040503050406030204" pitchFamily="18" charset="0"/>
                          </a:rPr>
                        </m:ctrlPr>
                      </m:sSubPr>
                      <m:e>
                        <m:acc>
                          <m:accPr>
                            <m:chr m:val="⃗"/>
                            <m:ctrlPr>
                              <a:rPr lang="en-US" sz="2400" i="1" smtClean="0">
                                <a:solidFill>
                                  <a:srgbClr val="000000"/>
                                </a:solidFill>
                                <a:latin typeface="Cambria Math" panose="02040503050406030204" pitchFamily="18" charset="0"/>
                              </a:rPr>
                            </m:ctrlPr>
                          </m:accPr>
                          <m:e>
                            <m:r>
                              <a:rPr lang="en-US" sz="2400" b="1" i="0" smtClean="0">
                                <a:solidFill>
                                  <a:srgbClr val="000000"/>
                                </a:solidFill>
                                <a:latin typeface="Cambria Math"/>
                              </a:rPr>
                              <m:t>𝐫</m:t>
                            </m:r>
                          </m:e>
                        </m:acc>
                      </m:e>
                      <m:sub>
                        <m:sSup>
                          <m:sSupPr>
                            <m:ctrlPr>
                              <a:rPr lang="en-US" sz="2400" b="0" i="1" smtClean="0">
                                <a:solidFill>
                                  <a:srgbClr val="000000"/>
                                </a:solidFill>
                                <a:latin typeface="Cambria Math" panose="02040503050406030204" pitchFamily="18" charset="0"/>
                              </a:rPr>
                            </m:ctrlPr>
                          </m:sSupPr>
                          <m:e>
                            <m:r>
                              <a:rPr lang="en-US" sz="2400" b="0" i="1" smtClean="0">
                                <a:solidFill>
                                  <a:srgbClr val="000000"/>
                                </a:solidFill>
                                <a:latin typeface="Cambria Math"/>
                              </a:rPr>
                              <m:t>𝑃𝑆</m:t>
                            </m:r>
                          </m:e>
                          <m:sup>
                            <m:r>
                              <a:rPr lang="en-US" sz="2400" b="0" i="1" smtClean="0">
                                <a:solidFill>
                                  <a:srgbClr val="000000"/>
                                </a:solidFill>
                                <a:latin typeface="Cambria Math"/>
                              </a:rPr>
                              <m:t>′</m:t>
                            </m:r>
                          </m:sup>
                        </m:sSup>
                      </m:sub>
                    </m:sSub>
                  </m:oMath>
                </a14:m>
                <a:r>
                  <a:rPr lang="en-US" sz="2400" dirty="0">
                    <a:solidFill>
                      <a:srgbClr val="000000"/>
                    </a:solidFill>
                  </a:rPr>
                  <a:t>, respectively.</a:t>
                </a:r>
              </a:p>
            </p:txBody>
          </p:sp>
        </mc:Choice>
        <mc:Fallback xmlns="">
          <p:sp>
            <p:nvSpPr>
              <p:cNvPr id="7" name="Text Placeholder 13">
                <a:extLst>
                  <a:ext uri="{FF2B5EF4-FFF2-40B4-BE49-F238E27FC236}">
                    <a16:creationId xmlns:a16="http://schemas.microsoft.com/office/drawing/2014/main" id="{DA897CAA-B579-324F-97AF-76BBEE0B0C71}"/>
                  </a:ext>
                </a:extLst>
              </p:cNvPr>
              <p:cNvSpPr txBox="1">
                <a:spLocks noRot="1" noChangeAspect="1" noMove="1" noResize="1" noEditPoints="1" noAdjustHandles="1" noChangeArrowheads="1" noChangeShapeType="1" noTextEdit="1"/>
              </p:cNvSpPr>
              <p:nvPr/>
            </p:nvSpPr>
            <p:spPr>
              <a:xfrm>
                <a:off x="5178032" y="802276"/>
                <a:ext cx="5704850" cy="844155"/>
              </a:xfrm>
              <a:prstGeom prst="rect">
                <a:avLst/>
              </a:prstGeom>
              <a:blipFill>
                <a:blip r:embed="rId4"/>
                <a:stretch>
                  <a:fillRect l="-1556" t="-5970" r="-1778" b="-14925"/>
                </a:stretch>
              </a:blipFill>
            </p:spPr>
            <p:txBody>
              <a:bodyPr/>
              <a:lstStyle/>
              <a:p>
                <a:r>
                  <a:rPr lang="en-US">
                    <a:noFill/>
                  </a:rPr>
                  <a:t> </a:t>
                </a:r>
              </a:p>
            </p:txBody>
          </p:sp>
        </mc:Fallback>
      </mc:AlternateContent>
      <p:sp>
        <p:nvSpPr>
          <p:cNvPr id="8" name="Rectangle 7">
            <a:extLst>
              <a:ext uri="{FF2B5EF4-FFF2-40B4-BE49-F238E27FC236}">
                <a16:creationId xmlns:a16="http://schemas.microsoft.com/office/drawing/2014/main" id="{5080095D-7F36-4441-B1E3-DE8D39516DDF}"/>
              </a:ext>
            </a:extLst>
          </p:cNvPr>
          <p:cNvSpPr/>
          <p:nvPr/>
        </p:nvSpPr>
        <p:spPr>
          <a:xfrm>
            <a:off x="5178032" y="2544805"/>
            <a:ext cx="6096000" cy="769441"/>
          </a:xfrm>
          <a:prstGeom prst="rect">
            <a:avLst/>
          </a:prstGeom>
        </p:spPr>
        <p:txBody>
          <a:bodyPr>
            <a:spAutoFit/>
          </a:bodyPr>
          <a:lstStyle/>
          <a:p>
            <a:r>
              <a:rPr lang="en-US" sz="2200" dirty="0">
                <a:solidFill>
                  <a:srgbClr val="000066"/>
                </a:solidFill>
                <a:latin typeface="LiberationSerif"/>
              </a:rPr>
              <a:t>The relative velocities are the time derivatives of the position vectors. Therefore, </a:t>
            </a:r>
            <a:endParaRPr lang="en-US" sz="2200" dirty="0">
              <a:solidFill>
                <a:srgbClr val="000066"/>
              </a:solidFill>
            </a:endParaRPr>
          </a:p>
        </p:txBody>
      </p:sp>
      <p:pic>
        <p:nvPicPr>
          <p:cNvPr id="10" name="Picture 9" descr="A picture containing text, clock&#10;&#10;Description automatically generated">
            <a:extLst>
              <a:ext uri="{FF2B5EF4-FFF2-40B4-BE49-F238E27FC236}">
                <a16:creationId xmlns:a16="http://schemas.microsoft.com/office/drawing/2014/main" id="{31484A34-7220-CE44-AFF5-6EDA7F850893}"/>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415092" y="1760433"/>
            <a:ext cx="2956941" cy="594360"/>
          </a:xfrm>
          <a:prstGeom prst="rect">
            <a:avLst/>
          </a:prstGeom>
        </p:spPr>
      </p:pic>
      <p:pic>
        <p:nvPicPr>
          <p:cNvPr id="12" name="Picture 11" descr="Text&#10;&#10;Description automatically generated with low confidence">
            <a:extLst>
              <a:ext uri="{FF2B5EF4-FFF2-40B4-BE49-F238E27FC236}">
                <a16:creationId xmlns:a16="http://schemas.microsoft.com/office/drawing/2014/main" id="{99C8A31E-1CFE-7440-93D0-13A2205D1CFB}"/>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6415092" y="3388960"/>
            <a:ext cx="2884820" cy="594360"/>
          </a:xfrm>
          <a:prstGeom prst="rect">
            <a:avLst/>
          </a:prstGeom>
        </p:spPr>
      </p:pic>
      <p:sp>
        <p:nvSpPr>
          <p:cNvPr id="13" name="Rectangle 12">
            <a:extLst>
              <a:ext uri="{FF2B5EF4-FFF2-40B4-BE49-F238E27FC236}">
                <a16:creationId xmlns:a16="http://schemas.microsoft.com/office/drawing/2014/main" id="{D7EF1118-6E1A-8B49-9889-0FF9A559F76F}"/>
              </a:ext>
            </a:extLst>
          </p:cNvPr>
          <p:cNvSpPr/>
          <p:nvPr/>
        </p:nvSpPr>
        <p:spPr>
          <a:xfrm>
            <a:off x="5178032" y="4097322"/>
            <a:ext cx="6724666" cy="1107996"/>
          </a:xfrm>
          <a:prstGeom prst="rect">
            <a:avLst/>
          </a:prstGeom>
        </p:spPr>
        <p:txBody>
          <a:bodyPr wrap="square">
            <a:spAutoFit/>
          </a:bodyPr>
          <a:lstStyle/>
          <a:p>
            <a:r>
              <a:rPr lang="en-US" sz="2200" i="1" dirty="0">
                <a:latin typeface="LiberationSerif"/>
              </a:rPr>
              <a:t>The velocity of a particle relative to S is equal to its velocity relative to </a:t>
            </a:r>
            <a:r>
              <a:rPr lang="en-US" sz="2200" i="1" dirty="0">
                <a:latin typeface="STIXGeneral" pitchFamily="2" charset="2"/>
              </a:rPr>
              <a:t>S</a:t>
            </a:r>
            <a:r>
              <a:rPr lang="en-US" sz="2200" dirty="0">
                <a:latin typeface="STIXGeneral" pitchFamily="2" charset="2"/>
              </a:rPr>
              <a:t>′ </a:t>
            </a:r>
            <a:r>
              <a:rPr lang="en-US" sz="2200" i="1" dirty="0">
                <a:latin typeface="LiberationSerif"/>
              </a:rPr>
              <a:t>plus the velocity of </a:t>
            </a:r>
            <a:r>
              <a:rPr lang="en-US" sz="2200" i="1" dirty="0">
                <a:latin typeface="STIXGeneral" pitchFamily="2" charset="2"/>
              </a:rPr>
              <a:t>S</a:t>
            </a:r>
            <a:r>
              <a:rPr lang="en-US" sz="2200" dirty="0">
                <a:latin typeface="STIXGeneral" pitchFamily="2" charset="2"/>
              </a:rPr>
              <a:t>′ </a:t>
            </a:r>
            <a:r>
              <a:rPr lang="en-US" sz="2200" i="1" dirty="0">
                <a:latin typeface="LiberationSerif"/>
              </a:rPr>
              <a:t>relative to S</a:t>
            </a:r>
            <a:r>
              <a:rPr lang="en-US" sz="2200" dirty="0">
                <a:latin typeface="LiberationSerif"/>
              </a:rPr>
              <a:t>.</a:t>
            </a:r>
            <a:br>
              <a:rPr lang="en-US" sz="2200" dirty="0">
                <a:latin typeface="LiberationSerif"/>
              </a:rPr>
            </a:br>
            <a:endParaRPr lang="en-US" sz="2200" dirty="0"/>
          </a:p>
        </p:txBody>
      </p:sp>
      <p:sp>
        <p:nvSpPr>
          <p:cNvPr id="14" name="Rectangle 13">
            <a:extLst>
              <a:ext uri="{FF2B5EF4-FFF2-40B4-BE49-F238E27FC236}">
                <a16:creationId xmlns:a16="http://schemas.microsoft.com/office/drawing/2014/main" id="{D0A0E283-EBA5-4A4D-B38C-760885D4D7DB}"/>
              </a:ext>
            </a:extLst>
          </p:cNvPr>
          <p:cNvSpPr/>
          <p:nvPr/>
        </p:nvSpPr>
        <p:spPr>
          <a:xfrm>
            <a:off x="3493810" y="5056775"/>
            <a:ext cx="9073294" cy="430887"/>
          </a:xfrm>
          <a:prstGeom prst="rect">
            <a:avLst/>
          </a:prstGeom>
        </p:spPr>
        <p:txBody>
          <a:bodyPr wrap="square">
            <a:spAutoFit/>
          </a:bodyPr>
          <a:lstStyle/>
          <a:p>
            <a:r>
              <a:rPr lang="en-US" sz="2200" dirty="0">
                <a:solidFill>
                  <a:srgbClr val="000066"/>
                </a:solidFill>
                <a:latin typeface="LiberationSerif"/>
              </a:rPr>
              <a:t>The accelerations are also related as observed in two reference frames </a:t>
            </a:r>
            <a:endParaRPr lang="en-US" sz="2200" dirty="0">
              <a:solidFill>
                <a:srgbClr val="000066"/>
              </a:solidFill>
            </a:endParaRPr>
          </a:p>
        </p:txBody>
      </p:sp>
      <p:pic>
        <p:nvPicPr>
          <p:cNvPr id="16" name="Picture 15" descr="Text&#10;&#10;Description automatically generated with medium confidence">
            <a:extLst>
              <a:ext uri="{FF2B5EF4-FFF2-40B4-BE49-F238E27FC236}">
                <a16:creationId xmlns:a16="http://schemas.microsoft.com/office/drawing/2014/main" id="{312134E9-8C80-A944-BDCF-2B1032564ADC}"/>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6415092" y="5603750"/>
            <a:ext cx="2841331" cy="594360"/>
          </a:xfrm>
          <a:prstGeom prst="rect">
            <a:avLst/>
          </a:prstGeom>
        </p:spPr>
      </p:pic>
    </p:spTree>
    <p:extLst>
      <p:ext uri="{BB962C8B-B14F-4D97-AF65-F5344CB8AC3E}">
        <p14:creationId xmlns:p14="http://schemas.microsoft.com/office/powerpoint/2010/main" val="1801789922"/>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2" descr="L:\Clients\Connexions\01_CNX_ Admin\00_OSC_Project_Resources\14_OSC_Production\PowerPoints\OSX-Stacked-TM-CMYK-300dp1-2016.jpg">
            <a:extLst>
              <a:ext uri="{FF2B5EF4-FFF2-40B4-BE49-F238E27FC236}">
                <a16:creationId xmlns:a16="http://schemas.microsoft.com/office/drawing/2014/main" id="{B8FFED19-C635-4D44-83B4-B18507ECDDF8}"/>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11074549" y="89044"/>
            <a:ext cx="1049775" cy="713232"/>
          </a:xfrm>
          <a:prstGeom prst="rect">
            <a:avLst/>
          </a:prstGeom>
          <a:noFill/>
          <a:extLst>
            <a:ext uri="{909E8E84-426E-40dd-AFC4-6F175D3DCCD1}">
              <a14:hiddenFill xmlns:a14="http://schemas.microsoft.com/office/drawing/2010/main" xmlns="">
                <a:solidFill>
                  <a:srgbClr val="FFFFFF"/>
                </a:solidFill>
              </a14:hiddenFill>
            </a:ext>
          </a:extLst>
        </p:spPr>
      </p:pic>
      <p:sp>
        <p:nvSpPr>
          <p:cNvPr id="4" name="Rectangle 3">
            <a:extLst>
              <a:ext uri="{FF2B5EF4-FFF2-40B4-BE49-F238E27FC236}">
                <a16:creationId xmlns:a16="http://schemas.microsoft.com/office/drawing/2014/main" id="{CD6FC3D3-83EB-FC44-B391-C9552DDDB8F2}"/>
              </a:ext>
            </a:extLst>
          </p:cNvPr>
          <p:cNvSpPr/>
          <p:nvPr/>
        </p:nvSpPr>
        <p:spPr>
          <a:xfrm>
            <a:off x="2486030" y="89044"/>
            <a:ext cx="7858125" cy="523220"/>
          </a:xfrm>
          <a:prstGeom prst="rect">
            <a:avLst/>
          </a:prstGeom>
        </p:spPr>
        <p:txBody>
          <a:bodyPr wrap="square">
            <a:spAutoFit/>
          </a:bodyPr>
          <a:lstStyle/>
          <a:p>
            <a:r>
              <a:rPr lang="en-US" sz="2800" dirty="0">
                <a:solidFill>
                  <a:srgbClr val="C00000"/>
                </a:solidFill>
                <a:latin typeface="NewBaskervilleStd-Roman"/>
              </a:rPr>
              <a:t>Relative Motion in One and Two Dimensions </a:t>
            </a:r>
          </a:p>
        </p:txBody>
      </p:sp>
      <p:sp>
        <p:nvSpPr>
          <p:cNvPr id="3" name="Rectangle 2">
            <a:extLst>
              <a:ext uri="{FF2B5EF4-FFF2-40B4-BE49-F238E27FC236}">
                <a16:creationId xmlns:a16="http://schemas.microsoft.com/office/drawing/2014/main" id="{85BCABC0-058E-2545-8C97-62480F89616E}"/>
              </a:ext>
            </a:extLst>
          </p:cNvPr>
          <p:cNvSpPr/>
          <p:nvPr/>
        </p:nvSpPr>
        <p:spPr>
          <a:xfrm>
            <a:off x="431369" y="864268"/>
            <a:ext cx="11329261" cy="1015663"/>
          </a:xfrm>
          <a:prstGeom prst="rect">
            <a:avLst/>
          </a:prstGeom>
        </p:spPr>
        <p:txBody>
          <a:bodyPr wrap="square">
            <a:spAutoFit/>
          </a:bodyPr>
          <a:lstStyle/>
          <a:p>
            <a:r>
              <a:rPr lang="en-US" sz="2000" b="1" dirty="0">
                <a:solidFill>
                  <a:srgbClr val="213866"/>
                </a:solidFill>
                <a:latin typeface="LiberationSans"/>
              </a:rPr>
              <a:t>Motion of a Car Relative to a Truck </a:t>
            </a:r>
            <a:endParaRPr lang="en-US" sz="2000" dirty="0"/>
          </a:p>
          <a:p>
            <a:r>
              <a:rPr lang="en-US" sz="2000" dirty="0">
                <a:latin typeface="LiberationSerif"/>
              </a:rPr>
              <a:t>A truck is traveling south at a speed of 70 km/h toward an intersection. A car is traveling east toward the intersection at a speed of 80 km/h. What is the velocity of the car relative to the truck? </a:t>
            </a:r>
            <a:endParaRPr lang="en-US" sz="2000" dirty="0"/>
          </a:p>
        </p:txBody>
      </p:sp>
      <p:sp>
        <p:nvSpPr>
          <p:cNvPr id="6" name="Rectangle 5">
            <a:extLst>
              <a:ext uri="{FF2B5EF4-FFF2-40B4-BE49-F238E27FC236}">
                <a16:creationId xmlns:a16="http://schemas.microsoft.com/office/drawing/2014/main" id="{F57968BF-8CB0-6846-ABE8-FEDA438D60F5}"/>
              </a:ext>
            </a:extLst>
          </p:cNvPr>
          <p:cNvSpPr/>
          <p:nvPr/>
        </p:nvSpPr>
        <p:spPr>
          <a:xfrm>
            <a:off x="431369" y="546152"/>
            <a:ext cx="1152623" cy="430887"/>
          </a:xfrm>
          <a:prstGeom prst="rect">
            <a:avLst/>
          </a:prstGeom>
        </p:spPr>
        <p:txBody>
          <a:bodyPr wrap="none">
            <a:spAutoFit/>
          </a:bodyPr>
          <a:lstStyle/>
          <a:p>
            <a:r>
              <a:rPr lang="en-US" sz="2200" dirty="0">
                <a:solidFill>
                  <a:srgbClr val="008000"/>
                </a:solidFill>
              </a:rPr>
              <a:t>Example</a:t>
            </a:r>
            <a:endParaRPr lang="en-US" sz="2200" dirty="0"/>
          </a:p>
        </p:txBody>
      </p:sp>
      <p:pic>
        <p:nvPicPr>
          <p:cNvPr id="8" name="Picture 7" descr="Diagram&#10;&#10;Description automatically generated">
            <a:extLst>
              <a:ext uri="{FF2B5EF4-FFF2-40B4-BE49-F238E27FC236}">
                <a16:creationId xmlns:a16="http://schemas.microsoft.com/office/drawing/2014/main" id="{C7729594-8387-B849-9CF9-7069DB1A7E7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31369" y="1879931"/>
            <a:ext cx="4846320" cy="4572000"/>
          </a:xfrm>
          <a:prstGeom prst="rect">
            <a:avLst/>
          </a:prstGeom>
        </p:spPr>
      </p:pic>
      <p:sp>
        <p:nvSpPr>
          <p:cNvPr id="9" name="Text Placeholder 6">
            <a:extLst>
              <a:ext uri="{FF2B5EF4-FFF2-40B4-BE49-F238E27FC236}">
                <a16:creationId xmlns:a16="http://schemas.microsoft.com/office/drawing/2014/main" id="{50040578-BAEF-BF47-8474-C0B4D8E46EF0}"/>
              </a:ext>
            </a:extLst>
          </p:cNvPr>
          <p:cNvSpPr txBox="1">
            <a:spLocks/>
          </p:cNvSpPr>
          <p:nvPr/>
        </p:nvSpPr>
        <p:spPr>
          <a:xfrm>
            <a:off x="5327025" y="2003236"/>
            <a:ext cx="4846320" cy="895027"/>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800" dirty="0">
                <a:solidFill>
                  <a:srgbClr val="000066"/>
                </a:solidFill>
              </a:rPr>
              <a:t>A car travels east toward an intersection while a truck travels south toward the same intersection.</a:t>
            </a:r>
          </a:p>
        </p:txBody>
      </p:sp>
      <p:pic>
        <p:nvPicPr>
          <p:cNvPr id="11" name="Picture 10" descr="Chart&#10;&#10;Description automatically generated with medium confidence">
            <a:extLst>
              <a:ext uri="{FF2B5EF4-FFF2-40B4-BE49-F238E27FC236}">
                <a16:creationId xmlns:a16="http://schemas.microsoft.com/office/drawing/2014/main" id="{A896255F-6A1C-4C42-BB1D-EA0B1DBDAA1D}"/>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804844" y="2588138"/>
            <a:ext cx="3890682" cy="2743200"/>
          </a:xfrm>
          <a:prstGeom prst="rect">
            <a:avLst/>
          </a:prstGeom>
        </p:spPr>
      </p:pic>
      <p:pic>
        <p:nvPicPr>
          <p:cNvPr id="13" name="Picture 12" descr="A picture containing text&#10;&#10;Description automatically generated">
            <a:extLst>
              <a:ext uri="{FF2B5EF4-FFF2-40B4-BE49-F238E27FC236}">
                <a16:creationId xmlns:a16="http://schemas.microsoft.com/office/drawing/2014/main" id="{97F0072E-A94C-DB49-8A12-E316CA5A106F}"/>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9919130" y="3021568"/>
            <a:ext cx="1841500" cy="457200"/>
          </a:xfrm>
          <a:prstGeom prst="rect">
            <a:avLst/>
          </a:prstGeom>
        </p:spPr>
      </p:pic>
      <p:pic>
        <p:nvPicPr>
          <p:cNvPr id="15" name="Picture 14" descr="Logo&#10;&#10;Description automatically generated">
            <a:extLst>
              <a:ext uri="{FF2B5EF4-FFF2-40B4-BE49-F238E27FC236}">
                <a16:creationId xmlns:a16="http://schemas.microsoft.com/office/drawing/2014/main" id="{0CF2AC85-25B7-1C40-9DEE-F0FB4117BFE1}"/>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9919130" y="3657931"/>
            <a:ext cx="1955800" cy="508000"/>
          </a:xfrm>
          <a:prstGeom prst="rect">
            <a:avLst/>
          </a:prstGeom>
        </p:spPr>
      </p:pic>
      <p:pic>
        <p:nvPicPr>
          <p:cNvPr id="17" name="Picture 16" descr="A picture containing text&#10;&#10;Description automatically generated">
            <a:extLst>
              <a:ext uri="{FF2B5EF4-FFF2-40B4-BE49-F238E27FC236}">
                <a16:creationId xmlns:a16="http://schemas.microsoft.com/office/drawing/2014/main" id="{2209A999-B66C-0D41-A735-92ECC7D390A6}"/>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9919130" y="4295263"/>
            <a:ext cx="1676400" cy="381000"/>
          </a:xfrm>
          <a:prstGeom prst="rect">
            <a:avLst/>
          </a:prstGeom>
        </p:spPr>
      </p:pic>
      <p:sp>
        <p:nvSpPr>
          <p:cNvPr id="18" name="Rectangle 17">
            <a:extLst>
              <a:ext uri="{FF2B5EF4-FFF2-40B4-BE49-F238E27FC236}">
                <a16:creationId xmlns:a16="http://schemas.microsoft.com/office/drawing/2014/main" id="{68B8A5E6-3631-E541-B01E-A4769687B7E2}"/>
              </a:ext>
            </a:extLst>
          </p:cNvPr>
          <p:cNvSpPr/>
          <p:nvPr/>
        </p:nvSpPr>
        <p:spPr>
          <a:xfrm>
            <a:off x="5737168" y="5373135"/>
            <a:ext cx="6387156" cy="369332"/>
          </a:xfrm>
          <a:prstGeom prst="rect">
            <a:avLst/>
          </a:prstGeom>
        </p:spPr>
        <p:txBody>
          <a:bodyPr wrap="square">
            <a:spAutoFit/>
          </a:bodyPr>
          <a:lstStyle/>
          <a:p>
            <a:r>
              <a:rPr lang="en-US" dirty="0">
                <a:solidFill>
                  <a:srgbClr val="000066"/>
                </a:solidFill>
                <a:latin typeface="LiberationSerif"/>
              </a:rPr>
              <a:t>We can solve for the velocity of the car with respect to the truck: </a:t>
            </a:r>
            <a:endParaRPr lang="en-US" dirty="0">
              <a:solidFill>
                <a:srgbClr val="000066"/>
              </a:solidFill>
            </a:endParaRPr>
          </a:p>
        </p:txBody>
      </p:sp>
      <p:pic>
        <p:nvPicPr>
          <p:cNvPr id="20" name="Picture 19">
            <a:extLst>
              <a:ext uri="{FF2B5EF4-FFF2-40B4-BE49-F238E27FC236}">
                <a16:creationId xmlns:a16="http://schemas.microsoft.com/office/drawing/2014/main" id="{24CC09C9-442A-F24C-81FE-C4164BF7B37F}"/>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5829878" y="5734116"/>
            <a:ext cx="4978400" cy="469900"/>
          </a:xfrm>
          <a:prstGeom prst="rect">
            <a:avLst/>
          </a:prstGeom>
        </p:spPr>
      </p:pic>
      <p:pic>
        <p:nvPicPr>
          <p:cNvPr id="22" name="Picture 21" descr="A picture containing text, clipart&#10;&#10;Description automatically generated">
            <a:extLst>
              <a:ext uri="{FF2B5EF4-FFF2-40B4-BE49-F238E27FC236}">
                <a16:creationId xmlns:a16="http://schemas.microsoft.com/office/drawing/2014/main" id="{3D5E2326-BBDE-3548-9CBA-1C1FEA8EAE04}"/>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6549472" y="6207187"/>
            <a:ext cx="3632200" cy="495300"/>
          </a:xfrm>
          <a:prstGeom prst="rect">
            <a:avLst/>
          </a:prstGeom>
        </p:spPr>
      </p:pic>
      <p:sp>
        <p:nvSpPr>
          <p:cNvPr id="2" name="Rectangle 1">
            <a:extLst>
              <a:ext uri="{FF2B5EF4-FFF2-40B4-BE49-F238E27FC236}">
                <a16:creationId xmlns:a16="http://schemas.microsoft.com/office/drawing/2014/main" id="{5C708F9F-C4E4-E043-901B-21420E0D592F}"/>
              </a:ext>
            </a:extLst>
          </p:cNvPr>
          <p:cNvSpPr/>
          <p:nvPr/>
        </p:nvSpPr>
        <p:spPr>
          <a:xfrm>
            <a:off x="2776039" y="6488668"/>
            <a:ext cx="2866490" cy="369332"/>
          </a:xfrm>
          <a:prstGeom prst="rect">
            <a:avLst/>
          </a:prstGeom>
        </p:spPr>
        <p:txBody>
          <a:bodyPr wrap="none">
            <a:spAutoFit/>
          </a:bodyPr>
          <a:lstStyle/>
          <a:p>
            <a:r>
              <a:rPr lang="en-US" dirty="0">
                <a:latin typeface="Roboto" panose="02000000000000000000" pitchFamily="2" charset="0"/>
                <a:hlinkClick r:id="rId10"/>
              </a:rPr>
              <a:t>What Is Relative Velocity? </a:t>
            </a:r>
            <a:endParaRPr lang="en-US" b="0" i="0" dirty="0">
              <a:effectLst/>
              <a:latin typeface="Roboto" panose="02000000000000000000" pitchFamily="2" charset="0"/>
            </a:endParaRPr>
          </a:p>
        </p:txBody>
      </p:sp>
    </p:spTree>
    <p:extLst>
      <p:ext uri="{BB962C8B-B14F-4D97-AF65-F5344CB8AC3E}">
        <p14:creationId xmlns:p14="http://schemas.microsoft.com/office/powerpoint/2010/main" val="120418884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2" descr="L:\Clients\Connexions\01_CNX_ Admin\00_OSC_Project_Resources\14_OSC_Production\PowerPoints\OSX-Stacked-TM-CMYK-300dp1-2016.jpg">
            <a:extLst>
              <a:ext uri="{FF2B5EF4-FFF2-40B4-BE49-F238E27FC236}">
                <a16:creationId xmlns:a16="http://schemas.microsoft.com/office/drawing/2014/main" id="{B8FFED19-C635-4D44-83B4-B18507ECDDF8}"/>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11074549" y="89044"/>
            <a:ext cx="1049775" cy="713232"/>
          </a:xfrm>
          <a:prstGeom prst="rect">
            <a:avLst/>
          </a:prstGeom>
          <a:noFill/>
          <a:extLst>
            <a:ext uri="{909E8E84-426E-40dd-AFC4-6F175D3DCCD1}">
              <a14:hiddenFill xmlns:a14="http://schemas.microsoft.com/office/drawing/2010/main" xmlns="">
                <a:solidFill>
                  <a:srgbClr val="FFFFFF"/>
                </a:solidFill>
              </a14:hiddenFill>
            </a:ext>
          </a:extLst>
        </p:spPr>
      </p:pic>
      <p:sp>
        <p:nvSpPr>
          <p:cNvPr id="4" name="Rectangle 3">
            <a:extLst>
              <a:ext uri="{FF2B5EF4-FFF2-40B4-BE49-F238E27FC236}">
                <a16:creationId xmlns:a16="http://schemas.microsoft.com/office/drawing/2014/main" id="{72CFF401-32B5-5A41-B5F1-C357309A5160}"/>
              </a:ext>
            </a:extLst>
          </p:cNvPr>
          <p:cNvSpPr/>
          <p:nvPr/>
        </p:nvSpPr>
        <p:spPr>
          <a:xfrm>
            <a:off x="4263247" y="3155600"/>
            <a:ext cx="5195886" cy="430887"/>
          </a:xfrm>
          <a:prstGeom prst="rect">
            <a:avLst/>
          </a:prstGeom>
        </p:spPr>
        <p:txBody>
          <a:bodyPr wrap="square">
            <a:spAutoFit/>
          </a:bodyPr>
          <a:lstStyle/>
          <a:p>
            <a:r>
              <a:rPr lang="en-US" sz="2200" dirty="0">
                <a:solidFill>
                  <a:srgbClr val="0000CC"/>
                </a:solidFill>
              </a:rPr>
              <a:t>Assignment 6</a:t>
            </a:r>
          </a:p>
        </p:txBody>
      </p:sp>
      <p:sp>
        <p:nvSpPr>
          <p:cNvPr id="6" name="Rectangle 5">
            <a:extLst>
              <a:ext uri="{FF2B5EF4-FFF2-40B4-BE49-F238E27FC236}">
                <a16:creationId xmlns:a16="http://schemas.microsoft.com/office/drawing/2014/main" id="{4E528959-BF27-A04D-AFB5-3B03C5A69075}"/>
              </a:ext>
            </a:extLst>
          </p:cNvPr>
          <p:cNvSpPr/>
          <p:nvPr/>
        </p:nvSpPr>
        <p:spPr>
          <a:xfrm>
            <a:off x="2486030" y="89044"/>
            <a:ext cx="7858125" cy="523220"/>
          </a:xfrm>
          <a:prstGeom prst="rect">
            <a:avLst/>
          </a:prstGeom>
        </p:spPr>
        <p:txBody>
          <a:bodyPr wrap="square">
            <a:spAutoFit/>
          </a:bodyPr>
          <a:lstStyle/>
          <a:p>
            <a:r>
              <a:rPr lang="en-US" sz="2800" dirty="0">
                <a:solidFill>
                  <a:srgbClr val="C00000"/>
                </a:solidFill>
                <a:latin typeface="NewBaskervilleStd-Roman"/>
              </a:rPr>
              <a:t>Relative Motion in One and Two Dimensions </a:t>
            </a:r>
          </a:p>
        </p:txBody>
      </p:sp>
      <p:pic>
        <p:nvPicPr>
          <p:cNvPr id="7" name="Picture Placeholder 1" descr="A photograph of a student’s hand, working on a problem with an open textbook, a calculator, and an eraser.">
            <a:extLst>
              <a:ext uri="{FF2B5EF4-FFF2-40B4-BE49-F238E27FC236}">
                <a16:creationId xmlns:a16="http://schemas.microsoft.com/office/drawing/2014/main" id="{E0893FF4-77FD-5D4E-BBF4-E4F692D92B54}"/>
              </a:ext>
            </a:extLst>
          </p:cNvPr>
          <p:cNvPicPr>
            <a:picLocks noChangeAspect="1"/>
          </p:cNvPicPr>
          <p:nvPr/>
        </p:nvPicPr>
        <p:blipFill>
          <a:blip r:embed="rId3" cstate="email">
            <a:extLst>
              <a:ext uri="{28A0092B-C50C-407E-A947-70E740481C1C}">
                <a14:useLocalDpi xmlns:a14="http://schemas.microsoft.com/office/drawing/2010/main" val="0"/>
              </a:ext>
            </a:extLst>
          </a:blip>
          <a:srcRect l="-26893" r="-26893"/>
          <a:stretch>
            <a:fillRect/>
          </a:stretch>
        </p:blipFill>
        <p:spPr>
          <a:xfrm>
            <a:off x="329313" y="969532"/>
            <a:ext cx="4212903" cy="1828800"/>
          </a:xfrm>
          <a:prstGeom prst="rect">
            <a:avLst/>
          </a:prstGeom>
        </p:spPr>
      </p:pic>
      <p:sp>
        <p:nvSpPr>
          <p:cNvPr id="8" name="Text Placeholder 13">
            <a:extLst>
              <a:ext uri="{FF2B5EF4-FFF2-40B4-BE49-F238E27FC236}">
                <a16:creationId xmlns:a16="http://schemas.microsoft.com/office/drawing/2014/main" id="{B57A54B5-75D1-194A-B36B-279225BCCF27}"/>
              </a:ext>
            </a:extLst>
          </p:cNvPr>
          <p:cNvSpPr txBox="1">
            <a:spLocks/>
          </p:cNvSpPr>
          <p:nvPr/>
        </p:nvSpPr>
        <p:spPr>
          <a:xfrm>
            <a:off x="4263246" y="3586487"/>
            <a:ext cx="7406977" cy="1496957"/>
          </a:xfrm>
          <a:prstGeom prst="rect">
            <a:avLst/>
          </a:prstGeom>
        </p:spPr>
        <p:txBody>
          <a:bodyPr vert="horz" lIns="91440" tIns="45720" rIns="91440" bIns="45720" rtlCol="0">
            <a:noAutofit/>
          </a:bodyPr>
          <a:lstStyle>
            <a:lvl1pPr marL="0" indent="0" algn="l" defTabSz="914400" rtl="0" eaLnBrk="1" latinLnBrk="0" hangingPunct="1">
              <a:spcBef>
                <a:spcPct val="20000"/>
              </a:spcBef>
              <a:spcAft>
                <a:spcPts val="600"/>
              </a:spcAft>
              <a:buClr>
                <a:srgbClr val="6CB255"/>
              </a:buClr>
              <a:buFont typeface="Arial" pitchFamily="34" charset="0"/>
              <a:buNone/>
              <a:defRPr sz="2000" b="0" kern="1200">
                <a:solidFill>
                  <a:srgbClr val="212F62"/>
                </a:solidFill>
                <a:latin typeface="+mn-lt"/>
                <a:ea typeface="+mn-ea"/>
                <a:cs typeface="+mn-cs"/>
              </a:defRPr>
            </a:lvl1pPr>
            <a:lvl2pPr marL="731520" indent="-457200" algn="l" defTabSz="914400" rtl="0" eaLnBrk="1" latinLnBrk="0" hangingPunct="1">
              <a:spcBef>
                <a:spcPct val="20000"/>
              </a:spcBef>
              <a:buClr>
                <a:srgbClr val="6CB255"/>
              </a:buClr>
              <a:buFont typeface="+mj-lt"/>
              <a:buAutoNum type="alphaLcParenR"/>
              <a:defRPr sz="2000" kern="1200">
                <a:solidFill>
                  <a:schemeClr val="tx1"/>
                </a:solidFill>
                <a:latin typeface="+mn-lt"/>
                <a:ea typeface="+mn-ea"/>
                <a:cs typeface="+mn-cs"/>
              </a:defRPr>
            </a:lvl2pPr>
            <a:lvl3pPr marL="1257300" indent="-342900" algn="l" defTabSz="914400" rtl="0" eaLnBrk="1" latinLnBrk="0" hangingPunct="1">
              <a:spcBef>
                <a:spcPct val="20000"/>
              </a:spcBef>
              <a:buClr>
                <a:srgbClr val="6CB255"/>
              </a:buClr>
              <a:buFont typeface="+mj-lt"/>
              <a:buAutoNum type="alphaLcParenR"/>
              <a:defRPr sz="1800" kern="1200">
                <a:solidFill>
                  <a:schemeClr val="tx1"/>
                </a:solidFill>
                <a:latin typeface="+mn-lt"/>
                <a:ea typeface="+mn-ea"/>
                <a:cs typeface="+mn-cs"/>
              </a:defRPr>
            </a:lvl3pPr>
            <a:lvl4pPr marL="1714500" indent="-342900" algn="l" defTabSz="914400" rtl="0" eaLnBrk="1" latinLnBrk="0" hangingPunct="1">
              <a:spcBef>
                <a:spcPct val="20000"/>
              </a:spcBef>
              <a:buClr>
                <a:srgbClr val="6CB255"/>
              </a:buClr>
              <a:buFont typeface="+mj-lt"/>
              <a:buAutoNum type="alphaLcParenR"/>
              <a:defRPr sz="1800" kern="1200">
                <a:solidFill>
                  <a:schemeClr val="tx1"/>
                </a:solidFill>
                <a:latin typeface="+mn-lt"/>
                <a:ea typeface="+mn-ea"/>
                <a:cs typeface="+mn-cs"/>
              </a:defRPr>
            </a:lvl4pPr>
            <a:lvl5pPr marL="2171700" indent="-342900" algn="l" defTabSz="914400" rtl="0" eaLnBrk="1" latinLnBrk="0" hangingPunct="1">
              <a:spcBef>
                <a:spcPct val="20000"/>
              </a:spcBef>
              <a:buClr>
                <a:srgbClr val="6CB255"/>
              </a:buClr>
              <a:buFont typeface="+mj-lt"/>
              <a:buAutoNum type="alphaLcParenR"/>
              <a:defRPr sz="1800" kern="1200" baseline="0">
                <a:solidFill>
                  <a:schemeClr val="tx1"/>
                </a:solidFill>
                <a:latin typeface="+mn-lt"/>
                <a:ea typeface="+mn-ea"/>
                <a:cs typeface="+mn-cs"/>
              </a:defRPr>
            </a:lvl5pPr>
            <a:lvl6pPr marL="2514600" indent="-228600" algn="l" defTabSz="914400" rtl="0" eaLnBrk="1" latinLnBrk="0" hangingPunct="1">
              <a:spcBef>
                <a:spcPct val="20000"/>
              </a:spcBef>
              <a:buClr>
                <a:schemeClr val="tx2"/>
              </a:buClr>
              <a:buFont typeface="Arial" pitchFamily="34" charset="0"/>
              <a:buChar char="•"/>
              <a:defRPr sz="1600" kern="1200">
                <a:solidFill>
                  <a:schemeClr val="tx1"/>
                </a:solidFill>
                <a:latin typeface="+mn-lt"/>
                <a:ea typeface="+mn-ea"/>
                <a:cs typeface="+mn-cs"/>
              </a:defRPr>
            </a:lvl6pPr>
            <a:lvl7pPr marL="2971800" indent="-228600" algn="l" defTabSz="914400" rtl="0" eaLnBrk="1" latinLnBrk="0" hangingPunct="1">
              <a:spcBef>
                <a:spcPct val="20000"/>
              </a:spcBef>
              <a:buClr>
                <a:schemeClr val="tx2"/>
              </a:buClr>
              <a:buFont typeface="Arial" pitchFamily="34" charset="0"/>
              <a:buChar char="•"/>
              <a:defRPr sz="1600" kern="1200">
                <a:solidFill>
                  <a:schemeClr val="tx1"/>
                </a:solidFill>
                <a:latin typeface="+mn-lt"/>
                <a:ea typeface="+mn-ea"/>
                <a:cs typeface="+mn-cs"/>
              </a:defRPr>
            </a:lvl7pPr>
            <a:lvl8pPr marL="3429000" indent="-228600" algn="l" defTabSz="914400" rtl="0" eaLnBrk="1" latinLnBrk="0" hangingPunct="1">
              <a:spcBef>
                <a:spcPct val="20000"/>
              </a:spcBef>
              <a:buClr>
                <a:schemeClr val="tx2"/>
              </a:buClr>
              <a:buFont typeface="Arial" pitchFamily="34" charset="0"/>
              <a:buChar char="•"/>
              <a:defRPr sz="1600" kern="1200">
                <a:solidFill>
                  <a:schemeClr val="tx1"/>
                </a:solidFill>
                <a:latin typeface="+mn-lt"/>
                <a:ea typeface="+mn-ea"/>
                <a:cs typeface="+mn-cs"/>
              </a:defRPr>
            </a:lvl8pPr>
            <a:lvl9pPr marL="3886200" indent="-228600" algn="l" defTabSz="914400" rtl="0" eaLnBrk="1" latinLnBrk="0" hangingPunct="1">
              <a:spcBef>
                <a:spcPct val="20000"/>
              </a:spcBef>
              <a:buClr>
                <a:schemeClr val="tx2"/>
              </a:buClr>
              <a:buFont typeface="Arial" pitchFamily="34" charset="0"/>
              <a:buChar char="•"/>
              <a:defRPr sz="1600" kern="1200">
                <a:solidFill>
                  <a:schemeClr val="tx1"/>
                </a:solidFill>
                <a:latin typeface="+mn-lt"/>
                <a:ea typeface="+mn-ea"/>
                <a:cs typeface="+mn-cs"/>
              </a:defRPr>
            </a:lvl9pPr>
          </a:lstStyle>
          <a:p>
            <a:r>
              <a:rPr lang="en-US" sz="2200" dirty="0">
                <a:solidFill>
                  <a:srgbClr val="000000"/>
                </a:solidFill>
              </a:rPr>
              <a:t>A helicopter is flying at 160 mph in the northeast direction relative to the earth, and a plane is flying at 520 mph in the north direction relative to the earth. What is the speed of the plane as observed by the helicopter pilot? </a:t>
            </a:r>
          </a:p>
        </p:txBody>
      </p:sp>
    </p:spTree>
    <p:extLst>
      <p:ext uri="{BB962C8B-B14F-4D97-AF65-F5344CB8AC3E}">
        <p14:creationId xmlns:p14="http://schemas.microsoft.com/office/powerpoint/2010/main" val="3527465513"/>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le 11">
            <a:extLst>
              <a:ext uri="{FF2B5EF4-FFF2-40B4-BE49-F238E27FC236}">
                <a16:creationId xmlns:a16="http://schemas.microsoft.com/office/drawing/2014/main" id="{89BB3579-A34D-462C-BD05-B0BFCC66F7F5}"/>
              </a:ext>
            </a:extLst>
          </p:cNvPr>
          <p:cNvSpPr>
            <a:spLocks noGrp="1"/>
          </p:cNvSpPr>
          <p:nvPr>
            <p:ph type="title"/>
          </p:nvPr>
        </p:nvSpPr>
        <p:spPr/>
        <p:txBody>
          <a:bodyPr>
            <a:normAutofit/>
          </a:bodyPr>
          <a:lstStyle/>
          <a:p>
            <a:r>
              <a:rPr lang="en-US" dirty="0"/>
              <a:t>Attribution</a:t>
            </a:r>
          </a:p>
        </p:txBody>
      </p:sp>
      <p:sp>
        <p:nvSpPr>
          <p:cNvPr id="13" name="Text Placeholder 12">
            <a:extLst>
              <a:ext uri="{FF2B5EF4-FFF2-40B4-BE49-F238E27FC236}">
                <a16:creationId xmlns:a16="http://schemas.microsoft.com/office/drawing/2014/main" id="{1D300BD5-7725-41CA-8827-BBF2FEBB4465}"/>
              </a:ext>
            </a:extLst>
          </p:cNvPr>
          <p:cNvSpPr>
            <a:spLocks noGrp="1"/>
          </p:cNvSpPr>
          <p:nvPr>
            <p:ph type="body" idx="1"/>
          </p:nvPr>
        </p:nvSpPr>
        <p:spPr/>
        <p:txBody>
          <a:bodyPr/>
          <a:lstStyle/>
          <a:p>
            <a:r>
              <a:rPr lang="en-US" dirty="0"/>
              <a:t>These slides are a derivative of the “</a:t>
            </a:r>
            <a:r>
              <a:rPr lang="en-US" dirty="0">
                <a:hlinkClick r:id="rId2"/>
              </a:rPr>
              <a:t>University Physics Vol. 1</a:t>
            </a:r>
            <a:r>
              <a:rPr lang="en-US" dirty="0"/>
              <a:t>” slides by </a:t>
            </a:r>
            <a:r>
              <a:rPr lang="en-US" dirty="0">
                <a:hlinkClick r:id="rId3"/>
              </a:rPr>
              <a:t>OpenStax</a:t>
            </a:r>
            <a:r>
              <a:rPr lang="en-US" dirty="0"/>
              <a:t>, used under a </a:t>
            </a:r>
            <a:r>
              <a:rPr lang="en-US" dirty="0">
                <a:hlinkClick r:id="rId4"/>
              </a:rPr>
              <a:t>Creative Commons Attribution 4.0 </a:t>
            </a:r>
            <a:r>
              <a:rPr lang="en-US" dirty="0"/>
              <a:t>license by Mkhitar Hobosyan.</a:t>
            </a:r>
          </a:p>
        </p:txBody>
      </p:sp>
    </p:spTree>
    <p:extLst>
      <p:ext uri="{BB962C8B-B14F-4D97-AF65-F5344CB8AC3E}">
        <p14:creationId xmlns:p14="http://schemas.microsoft.com/office/powerpoint/2010/main" val="232264548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29AF8C"/>
      </a:accent1>
      <a:accent2>
        <a:srgbClr val="97BE49"/>
      </a:accent2>
      <a:accent3>
        <a:srgbClr val="3D9CCC"/>
      </a:accent3>
      <a:accent4>
        <a:srgbClr val="7C60C6"/>
      </a:accent4>
      <a:accent5>
        <a:srgbClr val="C9492C"/>
      </a:accent5>
      <a:accent6>
        <a:srgbClr val="D58C2E"/>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3E4F19A7-A959-40BB-972C-4880BAF8EB09}"/>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5347</TotalTime>
  <Words>2764</Words>
  <Application>Microsoft Office PowerPoint</Application>
  <PresentationFormat>Widescreen</PresentationFormat>
  <Paragraphs>211</Paragraphs>
  <Slides>31</Slides>
  <Notes>0</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31</vt:i4>
      </vt:variant>
    </vt:vector>
  </HeadingPairs>
  <TitlesOfParts>
    <vt:vector size="41" baseType="lpstr">
      <vt:lpstr>Arial</vt:lpstr>
      <vt:lpstr>Calibri</vt:lpstr>
      <vt:lpstr>Calibri Light</vt:lpstr>
      <vt:lpstr>Cambria Math</vt:lpstr>
      <vt:lpstr>LiberationSans</vt:lpstr>
      <vt:lpstr>LiberationSerif</vt:lpstr>
      <vt:lpstr>NewBaskervilleStd-Roman</vt:lpstr>
      <vt:lpstr>Roboto</vt:lpstr>
      <vt:lpstr>STIXGeneral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Attribution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1</dc:title>
  <dc:creator>Mkhitar Hobosyan</dc:creator>
  <cp:lastModifiedBy>Justin White</cp:lastModifiedBy>
  <cp:revision>202</cp:revision>
  <dcterms:created xsi:type="dcterms:W3CDTF">2020-07-24T02:56:39Z</dcterms:created>
  <dcterms:modified xsi:type="dcterms:W3CDTF">2021-12-15T17:52:57Z</dcterms:modified>
</cp:coreProperties>
</file>