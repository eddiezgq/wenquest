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开场问题：机器人怎样知道自己跑多快、往哪里走？引出位置矢量。
Opening question: how does a robot know how fast it is moving and where it is heading?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物理学通过建立模型来观察和描述世界。本章每节课都从一个机器人实际问题出发，最后回到这个问题，用本节的模型解决它。
Physics describes the world through models. Each lesson starts from a robot problem and returns to solve it with that lesson’s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先让学生猜一猜、讨论 2 分钟，不急于给答案。本节最后回到这一页。
Let students guess and discuss for two minutes; do not give the answer yet. Return to this problem at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讲清公式的物理意义，再进入动画。
Explain the physical meaning of each formula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课堂投屏演示一遍机器人场景，其余任务课后完成，并按实验指导书写实验报告。
Demonstrate the robot scene in class; students finish the tasks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
Walk through the five steps and stress step ⑤, where the model fails. Section 6 of the lab report follows the same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先让学生猜一猜、讨论 2 分钟，不急于给答案。本节最后回到这一页。
Let students guess and discuss for two minutes; do not give the answer yet. Return to this problem at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讲清公式的物理意义，再进入动画。
Explain the physical meaning of each formula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课堂投屏演示一遍机器人场景，其余任务课后完成，并按实验指导书写实验报告。
Demonstrate the robot scene in class; students finish the tasks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
Walk through the five steps and stress step ⑤, where the model fails. Section 6 of the lab report follows the same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先让学生猜一猜、讨论 2 分钟，不急于给答案。本节最后回到这一页。
Let students guess and discuss for two minutes; do not give the answer yet. Return to this problem at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讲清公式的物理意义，再进入动画。
Explain the physical meaning of each formula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课堂投屏演示一遍机器人场景，其余任务课后完成，并按实验指导书写实验报告。
Demonstrate the robot scene in class; students finish the tasks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
Walk through the five steps and stress step ⑤, where the model fails. Section 6 of the lab report follows the same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先让学生猜一猜、讨论 2 分钟，不急于给答案。本节最后回到这一页。
Let students guess and discuss for two minutes; do not give the answer yet. Return to this problem at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讲清公式的物理意义，再进入动画。
Explain the physical meaning of each formula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课堂投屏演示一遍机器人场景，其余任务课后完成，并按实验指导书写实验报告。
Demonstrate the robot scene in class; students finish the tasks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
Walk through the five steps and stress step ⑤, where the model fails. Section 6 of the lab report follows the same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先让学生猜一猜、讨论 2 分钟，不急于给答案。本节最后回到这一页。
Let students guess and discuss for two minutes; do not give the answer yet. Return to this problem at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讲清公式的物理意义，再进入动画。
Explain the physical meaning of each formula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课堂投屏演示一遍机器人场景，其余任务课后完成，并按实验指导书写实验报告。
Demonstrate the robot scene in class; students finish the tasks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
Walk through the five steps and stress step ⑤, where the model fails. Section 6 of the lab report follows the same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先让学生独立做 3 分钟，再展开解答；最后打开虚拟实验 1.4 的“例1-3”模式对照。
Give students three minutes, then work through it and check with lab 1.4.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回顾本章知识结构，提醒作业与实验报告的截止时间，预告下一章。
Review the chapter, remind students of the deadlines, and preview Chapter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Nfs4nPpLHhp3S1mGAXUQKp#lab-1-1" TargetMode="External"/><Relationship Id="rId3" Type="http://schemas.openxmlformats.org/officeDocument/2006/relationships/hyperlink" Target="https://claude.ai/artifact/Nfs4nPpLHhp3S1mGAXUQKp#lab-1-1" TargetMode="External"/><Relationship Id="rId4" Type="http://schemas.openxmlformats.org/officeDocument/2006/relationships/hyperlink" Target="https://claude.ai/artifact/Nfs4nPpLHhp3S1mGAXUQKp#lab-1-1" TargetMode="External"/><Relationship Id="rId1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Nfs4nPpLHhp3S1mGAXUQKp#lab-1-2" TargetMode="External"/><Relationship Id="rId3" Type="http://schemas.openxmlformats.org/officeDocument/2006/relationships/hyperlink" Target="https://claude.ai/artifact/Nfs4nPpLHhp3S1mGAXUQKp#lab-1-2" TargetMode="External"/><Relationship Id="rId4" Type="http://schemas.openxmlformats.org/officeDocument/2006/relationships/hyperlink" Target="https://claude.ai/artifact/Nfs4nPpLHhp3S1mGAXUQKp#lab-1-2" TargetMode="External"/><Relationship Id="rId1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Nfs4nPpLHhp3S1mGAXUQKp#lab-1-3" TargetMode="External"/><Relationship Id="rId3" Type="http://schemas.openxmlformats.org/officeDocument/2006/relationships/hyperlink" Target="https://claude.ai/artifact/Nfs4nPpLHhp3S1mGAXUQKp#lab-1-3" TargetMode="External"/><Relationship Id="rId4" Type="http://schemas.openxmlformats.org/officeDocument/2006/relationships/hyperlink" Target="https://claude.ai/artifact/Nfs4nPpLHhp3S1mGAXUQKp#lab-1-3" TargetMode="External"/><Relationship Id="rId1" Type="http://schemas.openxmlformats.org/officeDocument/2006/relationships/image" Target="../media/image-1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0-1.mp4"/><Relationship Id="rId2" Type="http://schemas.microsoft.com/office/2007/relationships/media" Target="../media/media-20-1.mp4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Nfs4nPpLHhp3S1mGAXUQKp#lab-1-4" TargetMode="External"/><Relationship Id="rId3" Type="http://schemas.openxmlformats.org/officeDocument/2006/relationships/hyperlink" Target="https://claude.ai/artifact/Nfs4nPpLHhp3S1mGAXUQKp#lab-1-4" TargetMode="External"/><Relationship Id="rId4" Type="http://schemas.openxmlformats.org/officeDocument/2006/relationships/hyperlink" Target="https://claude.ai/artifact/Nfs4nPpLHhp3S1mGAXUQKp#lab-1-4" TargetMode="External"/><Relationship Id="rId1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5-1.mp4"/><Relationship Id="rId2" Type="http://schemas.microsoft.com/office/2007/relationships/media" Target="../media/media-25-1.mp4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Nfs4nPpLHhp3S1mGAXUQKp#lab-1-5" TargetMode="External"/><Relationship Id="rId3" Type="http://schemas.openxmlformats.org/officeDocument/2006/relationships/hyperlink" Target="https://claude.ai/artifact/Nfs4nPpLHhp3S1mGAXUQKp#lab-1-5" TargetMode="External"/><Relationship Id="rId4" Type="http://schemas.openxmlformats.org/officeDocument/2006/relationships/hyperlink" Target="https://claude.ai/artifact/Nfs4nPpLHhp3S1mGAXUQKp#lab-1-5" TargetMode="External"/><Relationship Id="rId1" Type="http://schemas.openxmlformats.org/officeDocument/2006/relationships/image" Target="../media/image-2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  Chapter 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质点运动学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of a Particle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用矢量和微积分描述运动，用模型解决机器人中的实际问题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motion with vectors and calculus, and modelling real robot problems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大学物理A（上） University Physics A (I)  ·  2026 秋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本章内容与每节课的结构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map and how each lesson works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636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参考系、坐标系与质点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frames, coordinates and particles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56362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机器人问题：传送带跟踪抓取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Grasping from a moving conveyor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3230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位矢、位移、速度、加速度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displacement, velocity, acceleration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43230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机器人问题：移动机器人的里程计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Odometry of a mobile robot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3009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抛体运动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Projectile motion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30098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机器人问题：投篮机器人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A basketball-shooting robot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1696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圆周运动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motion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416966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机器人问题：AGV 转弯限速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AGV cornering speed limit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3834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相对运动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motion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503834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机器人问题：无人机侧风航线修正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Drone crosswind correction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9893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每节课：实际问题 → 概念 → 动画 → 虚拟实验 → 建模求解    Each lesson: problem → concept → animation → virtual lab → modelling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传送带跟踪抓取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Grasping from a moving conveyor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工件在传送带上以 0.50 m/s 运动，机械臂要在运动中抓住它。在哪个参考系里规划抓取最简单？末端对地速度应是多少？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 rides the belt at 0.50 m/s and the arm must grab it on the move. In which frame is the grasp easiest to plan, and what must the gripper’s ground velocity be?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传送带速度 u = 0.50 m/s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speed u = 0.50 m/s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末端相对传送带竖直下降 0.25 m/s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 descends at 0.25 m/s relative to the belt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下降距离 0.50 m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 0.50 m</a:t>
            </a:r>
            <a:endParaRPr lang="en-US" sz="1400" dirty="0"/>
          </a:p>
        </p:txBody>
      </p:sp>
      <p:pic>
        <p:nvPicPr>
          <p:cNvPr id="8" name="Image 0" descr="fig/media/robot_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参考系：运动是相对的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frames: motion is relative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描述运动必须先选定参考系；同一运动在不同参考系中看来不同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frame first; one motion looks different in different frames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在参考系上建立坐标系：直角坐标系、自然坐标系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coordinates: Cartesian or path (natural) coordinates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质点：形状和大小可以忽略时，把物体看成有质量的点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Particle: ignore size and shape when they do not matter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速度叠加：v(对地) = v(相对) + v(牵连)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addition: v(ground) = v(relative) + v(frame)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描述运动 = 参考系 + 坐标系 + 研究对象（质点）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Motion = frame + coordinates + object (particle)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车厢里的人和地面上的人，看到的小球轨迹为什么不同？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the passenger and the person on the ground see different paths?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动手试一试：参考系、坐标系与质点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Reference frames, coordinates and particles</a:t>
            </a:r>
            <a:endParaRPr lang="en-US" sz="1400" dirty="0"/>
          </a:p>
        </p:txBody>
      </p:sp>
      <p:pic>
        <p:nvPicPr>
          <p:cNvPr id="5" name="Image 0" descr="fig/media/lab_1-1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传送带参考系：末端竖直落到工件上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frame: gripper comes straight down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地面参考系：读出末端对地速度和方向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frame: read the gripper’s ground velocity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列车：找一个观察者看到小球向后抛出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find an observer who sees the ball go backwards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课后按实验指导书完成实验报告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建模求解：传送带跟踪抓取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Grasping from a moving conveyor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工件在传送带上以 0.50 m/s 运动，机械臂要在运动中抓住它。在哪个参考系里规划抓取最简单？末端对地速度应是多少？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 rides the belt at 0.50 m/s and the arm must grab it on the move. In which frame is the grasp easiest to plan, and what must the gripper’s ground velocity be?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工件、末端看成质点；传送带匀速；末端相对传送带竖直下降 0.25 m/s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and gripper as particles; belt at constant speed; gripper descends 0.25 m/s relative to the belt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v(对地) = (0.50, −0.25) m/s，大小 0.56 m/s，向下偏 26.6°。若只对地竖直下降，2.0 s 内工件滑过 1.0 m，抓不到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v(ground) = (0.50, −0.25) m/s: 0.56 m/s, 26.6° below horizontal. Descending straight down relative to the ground, the part slides 1.0 m past in 2.0 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1.1“传送带抓取”：两个参考系中分别观察轨迹、读对地速度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1.1 “conveyor grasp”: compare the path in both frames and read the ground velocity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传送带速度有波动，要用编码器或视觉实时跟踪；抓取前后的加减速也要规划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Belt speed varies, so track it with an encoder or camera; plan the acceleration before and after the grasp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雨天车窗上的雨痕：雨滴下落 7 m/s、车速 20 m/s，雨痕与竖直方向约成 71°（tanα = 20/7）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streaks on a car window: raindrops at 7 m/s, car at 20 m/s, streaks about 71° from vertical (tanα = 20/7)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物理学通过建立模型来观察和描述世界：先简化，再求解，再用实验检验，最后找出模型的局限。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describes the world through models: simplify, solve, test, then find where the model breaks.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移动机器人的里程计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 of a mobile robot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仓储机器人每隔 T 记录一次自己的位置，用相邻两点的位移除以 T 算速度。采样间隔 T 该怎么选？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warehouse robot logs its position every T seconds and divides the displacement between samples by T to get speed. How should T be chosen?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定位误差 σ ≈ 1 cm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error σ ≈ 1 cm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行驶速度约 0.5 m/s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about 0.5 m/s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要求速率误差 &lt; 5%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error must be &lt; 5%</a:t>
            </a:r>
            <a:endParaRPr lang="en-US" sz="1400" dirty="0"/>
          </a:p>
        </p:txBody>
      </p:sp>
      <p:pic>
        <p:nvPicPr>
          <p:cNvPr id="8" name="Image 0" descr="fig/media/robot_1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速度与加速度：对位矢求导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and acceleration: derivatives of position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位矢 r(t) 完整描述质点的位置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vector r(t) fully describes where the particle is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Δr 是矢量，路程 Δs 是标量，一般 |Δr| ≠ Δs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Δr is a vector, path length Δs a scalar; in general |Δr| ≠ Δs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速度沿轨迹切线方向，速率是 ds/dt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is tangent to the path; speed is ds/dt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已知加速度求运动方程：积分 + 初始条件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acceleration to motion: integrate with initial conditions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dr/dt        a = dv/dt = d²r/dt²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Δt 越来越小时，弦 Δr 怎样变成切线方向的速度？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Δt shrinks, how does the chord Δr turn into the tangent velocity?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动手试一试：位矢、位移、速度、加速度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Position, displacement, velocity, acceleration</a:t>
            </a:r>
            <a:endParaRPr lang="en-US" sz="1400" dirty="0"/>
          </a:p>
        </p:txBody>
      </p:sp>
      <p:pic>
        <p:nvPicPr>
          <p:cNvPr id="5" name="Image 0" descr="fig/media/lab_1-2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里程计：σ = 1 cm 时，找出误差 &lt; 5% 的采样间隔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Odometry: find an interval with &lt; 5% error at σ = 1 cm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里程计：T &lt; 0.05 s，观察噪声放大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Odometry: T &lt; 0.05 s, watch the noise grow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例1-1：t = 1 s 时验证 v = 2i − 4j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1-1: check v = 2i − 4j at t = 1 s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课后按实验指导书完成实验报告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建模求解：移动机器人的里程计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Odometry of a mobile robot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仓储机器人每隔 T 记录一次自己的位置，用相邻两点的位移除以 T 算速度。采样间隔 T 该怎么选？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warehouse robot logs its position every T seconds and divides the displacement between samples by T to get speed. How should T be chosen?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机器人为质点；定位误差 σ ≈ 1 cm，各次独立；v ≈ |Δr| / T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as a particle; independent position errors σ ≈ 1 cm; v ≈ |Δr| / T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噪声引起的速率误差 ≈ √2·σ/T；要小于 5% × 0.5 m/s，得 T ≥ 0.57 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error ≈ √2·σ/T; below 5% of 0.5 m/s requires T ≥ 0.57 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1.2“里程计数据”：T 从 0.02 s 调到 1.5 s，误差先降后升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1.2 “odometry”: sweep T from 0.02 s to 1.5 s; the error falls, then rises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 太大时以弦代弧、速度滞后；实际用滤波融合轮速计和惯性测量单元，得到又稳又快的速度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T cuts corners and lags; real robots filter and fuse wheel encoders with an IMU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手机导航每秒一个 GPS 点、误差几米，显示的车速经过平滑滤波，所以比定位点稳定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navigation gets one GPS fix per second with metres of error; the speed shown is filtered, so it is steadier than the fixes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物理学通过建立模型来观察和描述世界：先简化，再求解，再用实验检验，最后找出模型的局限。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describes the world through models: simplify, solve, test, then find where the model breaks.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投篮机器人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basketball-shooting robot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比赛用投篮机器人：出手点高 0.8 m，篮筐高 2.43 m、水平距离 4 m。给定出手角度，出手速度应是多少？角度大一些好还是小一些好？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competition robot releases the ball at 0.8 m; the hoop is 2.43 m high and 4 m away. For a given angle, what launch speed is needed? Is a steeper or flatter shot better?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出手高 0.8 m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height 0.8 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篮筐高 2.43 m、距离 4 m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hoop 2.43 m high, 4 m away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发射速度误差 ±0.1 m/s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launcher speed error ±0.1 m/s</a:t>
            </a:r>
            <a:endParaRPr lang="en-US" sz="1400" dirty="0"/>
          </a:p>
        </p:txBody>
      </p:sp>
      <p:pic>
        <p:nvPicPr>
          <p:cNvPr id="8" name="Image 0" descr="fig/media/robot_1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抛体运动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Projectile motion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只受重力：a = −g j（忽略空气阻力）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only: a = −g j (no air drag)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水平方向匀速，竖直方向匀加速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horizontally, uniformly accelerated vertically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轨迹是抛物线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is a parabola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h₀ = 0 时 45° 射程最大；互余角射程相同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h₀ = 0, 45° goes farthest; complementary angles give equal range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576072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v₀cosθ·t    y = h₀ + v₀sinθ·t − ½gt²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= v₀² sin2θ / g   (h₀ = 0)</a:t>
            </a:r>
            <a:endParaRPr lang="en-US" sz="1800" dirty="0"/>
          </a:p>
        </p:txBody>
      </p:sp>
      <p:pic>
        <p:nvPicPr>
          <p:cNvPr id="8" name="Image 0" descr="fig/抛体运动轨迹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4937760" cy="28215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把抛体运动投影到两个坐标轴上，你看到了哪两种运动？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 motion onto the two axes: which two motions do you see?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动手试一试：抛体运动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Projectile motion</a:t>
            </a:r>
            <a:endParaRPr lang="en-US" sz="1400" dirty="0"/>
          </a:p>
        </p:txBody>
      </p:sp>
      <p:pic>
        <p:nvPicPr>
          <p:cNvPr id="5" name="Image 0" descr="fig/media/lab_1-3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投篮：让球从上方落入篮筐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Basket: drop the ball through the hoop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投篮：两个角度都投进，比较所需速度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Basket: score at two angles, compare speeds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打开空气阻力：最佳角度还是 45° 吗？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drag on: is 45° still best?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课后按实验指导书完成实验报告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建模求解：投篮机器人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A basketball-shooting robot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比赛用投篮机器人：出手点高 0.8 m，篮筐高 2.43 m、水平距离 4 m。给定出手角度，出手速度应是多少？角度大一些好还是小一些好？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competition robot releases the ball at 0.8 m; the hoop is 2.43 m high and 4 m away. For a given angle, what launch speed is needed? Is a steeper or flatter shot better?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球为质点，忽略空气阻力和旋转；出手点 (0, 0.8 m)，篮筐 (4 m, 2.43 m)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 as a particle, no drag or spin; release (0, 0.8 m), hoop (4 m, 2.43 m)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v₀ = (X/cosθ)·√[g / (2(X tanθ − Δy))]：45° → 8.13 m/s，55° → 7.64 m/s，65° → 7.95 m/s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v₀ = (X/cosθ)·√[g / (2(X tanθ − Δy))]: 45° → 8.13, 55° → 7.64, 65° → 7.95 m/s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1.3“投篮”：按计算值发射；用 v₀ ± 0.1 m/s 再发射，45° 偏差约 ±0.3 m，65° 约 ±0.13 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1.3 “basket”: launch at the computed speed; with v₀ ± 0.1 m/s the miss is about ±0.3 m at 45° but ±0.13 m at 65°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高抛对速度误差不敏感、入射角大；还要考虑空气阻力、球的旋转和篮板反弹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steep shot tolerates speed error and enters more steeply; drag, spin and the backboard also matter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铅球：出手高 2 m、速度 13.5 m/s 时，最佳出手角约 42°，射程约 20.5 m，不是 45°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put: released at 2 m and 13.5 m/s, the best angle is about 42° (range about 20.5 m), not 45°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物理学通过建立模型来观察和描述世界：先简化，再求解，再用实验检验，最后找出模型的局限。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describes the world through models: simplify, solve, test, then find where the model breaks.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 转弯限速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cornering speed limit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仓储搬运机器人（AGV）载货后在通道拐弯。最快能开多快，才不会侧翻、不会打滑？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loaded warehouse AGV turns a corner in an aisle. How fast can it go without tipping over or sliding?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转弯半径 1.5 m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radius 1.5 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质心高 0.6 m，轮距 0.5 m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mass 0.6 m high, track 0.5 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摩擦因数 μ = 0.6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coefficient μ = 0.6</a:t>
            </a:r>
            <a:endParaRPr lang="en-US" sz="1400" dirty="0"/>
          </a:p>
        </p:txBody>
      </p:sp>
      <p:pic>
        <p:nvPicPr>
          <p:cNvPr id="8" name="Image 0" descr="fig/media/robot_1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圆周运动：两个加速度分量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motion: two components of acceleration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切向加速度改变速率的大小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Tangential acceleration changes the speed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法向加速度指向圆心，改变速度的方向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acceleration points to the centre and changes the direction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匀速圆周运动：aₜ = 0，aₙ ≠ 0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circular motion: aₜ = 0 but aₙ ≠ 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角量与线量：v = Rω，aₜ = Rα，aₙ = Rω²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and linear: v = Rω, aₜ = Rα, aₙ = Rω²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576072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aₜ = dv/dt        aₙ = v²/R</a:t>
            </a:r>
            <a:endParaRPr lang="en-US" sz="1800" dirty="0"/>
          </a:p>
        </p:txBody>
      </p:sp>
      <p:pic>
        <p:nvPicPr>
          <p:cNvPr id="8" name="Image 0" descr="fig/圆周运动加速度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45920"/>
            <a:ext cx="44805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速率不变，为什么还有加速度？Δv 最后指向哪里？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is constant, so why is there an acceleration? Where does Δv point?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动手试一试：圆周运动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Circular motion</a:t>
            </a:r>
            <a:endParaRPr lang="en-US" sz="1400" dirty="0"/>
          </a:p>
        </p:txBody>
      </p:sp>
      <p:pic>
        <p:nvPicPr>
          <p:cNvPr id="5" name="Image 0" descr="fig/media/lab_1-4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AGV：R = 1.5 m 时不侧翻的最大速度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AGV: highest speed without tipping at R = 1.5 m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AGV：再加速，先侧翻还是先打滑？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AGV: faster still—tip or slide first?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例1-3：读出 t = 2 s 时的 aₜ、aₙ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1-3: read aₜ and aₙ at t = 2 s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课后按实验指导书完成实验报告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建模求解：AGV 转弯限速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AGV cornering speed limit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仓储搬运机器人（AGV）载货后在通道拐弯。最快能开多快，才不会侧翻、不会打滑？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loaded warehouse AGV turns a corner in an aisle. How fast can it go without tipping over or sliding?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AGV 看成刚体做匀速圆周运动；地面摩擦提供向心力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AGV as a rigid body in uniform circular motion; friction provides the centripetal force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不打滑 v ≤ √(μgR) = 2.97 m/s；不侧翻 v ≤ √(g·b/(2h)·R) = 2.47 m/s，先侧翻；若限 0.3g，v ≤ 2.10 m/s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sliding: v ≤ √(μgR) = 2.97 m/s; no tipping: v ≤ √(g·b/(2h)·R) = 2.47 m/s, so it tips first; at 0.3g, v ≤ 2.10 m/s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1.4“AGV 转弯”：R = 1.5 m 逐渐加速，约 2.47 m/s 时出现“侧翻”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1.4 “AGV turning”: at R = 1.5 m, speed up until it shows “tipping” at about 2.47 m/s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货物晃动、制动时的切向加速度、地面湿滑都会降低限速；可降低质心、加宽轮距、弯道自动减速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sway, braking and wet floors lower the limit; lower the centre of mass, widen the track, slow down in curves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高速公路弯道按侧向加速度 ≤ 0.2g 设计：R = 500 m 时 v ≈ 31 m/s ≈ 113 km/h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curves are designed for ≤ 0.2g sideways: at R = 500 m, v ≈ 31 m/s ≈ 113 km/h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物理学通过建立模型来观察和描述世界：先简化，再求解，再用实验检验，最后找出模型的局限。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describes the world through models: simplify, solve, test, then find where the model breaks.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无人机侧风航线修正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crosswind correction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巡检无人机要沿直线飞到正北 1 km 的目标，途中遇到东风侧风。机头要偏多少？要飞多久？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inspection drone must fly straight to a target 1 km north through an easterly crosswind. How far must it turn into the wind, and how long will it take?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空速 12 m/s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airspeed 12 m/s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侧风 5 m/s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crosswind 5 m/s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航程 1 km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1 km</a:t>
            </a:r>
            <a:endParaRPr lang="en-US" sz="1400" dirty="0"/>
          </a:p>
        </p:txBody>
      </p:sp>
      <p:pic>
        <p:nvPicPr>
          <p:cNvPr id="8" name="Image 0" descr="fig/media/robot_1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相对运动：伽利略速度变换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motion: Galilean velocity addition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同一质点在两个相对平动的参考系中速度不同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particle has different velocities in two frames moving relative to each other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相对 C 的速度 = A 相对 B + B 相对 C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rel. C = A rel. B + B rel. 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速度是矢量，按平行四边形（三角形）法则相加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Velocities add as vectors (parallelogram or triangle rule)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只适用于低速情况（远小于光速）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only at speeds far below the speed of light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v_AC = v_AB + v_BC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船头垂直河岸，船为什么会被冲到下游？想正对岸靠岸该怎么办？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boat drift downstream, and how can it land straight across?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动手试一试：相对运动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Relative motion</a:t>
            </a:r>
            <a:endParaRPr lang="en-US" sz="1400" dirty="0"/>
          </a:p>
        </p:txBody>
      </p:sp>
      <p:pic>
        <p:nvPicPr>
          <p:cNvPr id="5" name="Image 0" descr="fig/media/lab_1-5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无人机：侧风 5 m/s 直线飞到目标（偏差 ≤ 10 m）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Drone: fly straight to the target in a 5 m/s wind (within 10 m)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小船：正对岸靠岸（偏差 ≤ 2 m）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Boat: land straight across (within 2 m)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小船：水速 &gt; 船速时能正对岸吗？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Boat: current faster than the boat—possible?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课后按实验指导书完成实验报告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建模求解：无人机侧风航线修正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Drone crosswind correction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巡检无人机要沿直线飞到正北 1 km 的目标，途中遇到东风侧风。机头要偏多少？要飞多久？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inspection drone must fly straight to a target 1 km north through an easterly crosswind. How far must it turn into the wind, and how long will it take?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无人机相对空气 12 m/s；风均匀恒定 5 m/s 向东；v(对地) = v(对空气) + v(风)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 at 12 m/s relative to the air; steady 5 m/s wind to the east; v(ground) = v(air) + v(wind)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sinφ = 5/12，φ ≈ 24.6°；地速 √(12² − 5²) ≈ 10.9 m/s；用时 ≈ 91.7 s，比无风多 8.4 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sinφ = 5/12, φ ≈ 24.6°; ground speed √(12² − 5²) ≈ 10.9 m/s; time ≈ 91.7 s, 8.4 s longer than in still air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1.5“无人机侧风”：φ = 25° 时到达点偏差约 6 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1.5 “drone crosswind”: at φ = 25° the miss is about 6 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风会变化，飞控要实时估计风速并修正航向；风速 15 m/s 大于空速时无法保持航线，应返航或改航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changes, so the flight controller estimates it and corrects continuously; a 15 m/s wind exceeds the airspeed and the drone must return or reroute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飞机侧风着陆时机头斜对跑道（“蟹行”），和小船过河是同一个速度三角形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land in a crosswind with the nose angled off the runway (“crabbing”): the same velocity triangle as the river crossing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物理学通过建立模型来观察和描述世界：先简化，再求解，再用实验检验，最后找出模型的局限。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describes the world through models: simplify, solve, test, then find where the model breaks.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  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质点沿半径 R = 0.10 m 的圆周运动，θ = 2 + 4t³（rad）。求 t = 2 s 时的切向加速度和法向加速度。</a:t>
            </a:r>
            <a:endParaRPr lang="en-US" sz="2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particle moves on a circle of radius R = 0.10 m with θ = 2 + 4t³ (rad). Find aₜ and aₙ at t = 2 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72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42316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ω = dθ/dt = 12t²，α = dω/dt = 24t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= dθ/dt = 12t², α = dω/dt = 24t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2 s：ω = 48 rad/s，α = 48 rad/s²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2 s: ω = 48 rad/s, α = 48 rad/s²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aₜ = Rα = 0.10 × 48 = 4.8 m/s²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aₜ = Rα = 4.8 m/s²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aₙ = Rω² = 0.10 × 48² ≈ 230 m/s²（可在虚拟实验 1.4 中验证）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aₙ = Rω² ≈ 230 m/s² (check it in lab 1.4)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summary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求导：r → v → a；积分：a → v → r（需要初始条件）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r → v → a; integrate a → v → r with initial conditions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|Δr| ≠ Δs，速率 = ds/dt；采样定速度要权衡噪声与间隔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|Δr| ≠ Δs, speed = ds/dt; sampled speed trades noise against interval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抛体：x、y 分解；过定点求出手速度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Projectiles: split into x and y; solve for the launch speed through a point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圆周：aₙ = v²/R 决定转弯限速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Circles: aₙ = v²/R sets the cornering speed limit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相对运动：v_AC = v_AB + v_BC，用于跟踪抓取和航向修正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motion: v_AC = v_AB + v_BC, for conveyor tracking and heading correction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课后作业：习题1 第1–6题 ＋ 5 个虚拟实验任务 ＋ 实验报告（任选一个机器人问题）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Homework: Problems 1–6 + the five virtual labs + one lab report on a robot problem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质点运动学 Chapter 1 Kinematics of a Particle</dc:title>
  <dc:subject>PptxGenJS Presentation</dc:subject>
  <dc:creator>PptxGenJS</dc:creator>
  <cp:lastModifiedBy>PptxGenJS</cp:lastModifiedBy>
  <cp:revision>1</cp:revision>
  <dcterms:created xsi:type="dcterms:W3CDTF">2026-09-28T14:26:17Z</dcterms:created>
  <dcterms:modified xsi:type="dcterms:W3CDTF">2026-09-28T14:26:17Z</dcterms:modified>
</cp:coreProperties>
</file>